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63" r:id="rId6"/>
    <p:sldId id="264" r:id="rId7"/>
    <p:sldId id="266" r:id="rId8"/>
    <p:sldId id="268" r:id="rId9"/>
    <p:sldId id="269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49E45-218D-4736-A94E-DBABC206C7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2CFE85-4FC5-4F32-B48F-682DC11D6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A8075-68C4-433B-9488-C7C1C743F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CC761-36B0-423D-ABCC-A11E10D11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36D7-8F25-49FE-A4CF-E13E849C5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430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8A93E-CBBF-4B5F-BA8B-204A5810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CCE6D-5D95-448E-B0C3-4300400C6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E22B0-3ECE-4B17-98D6-665B445A1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F7A4A-1F35-4B9E-BB9D-5B372E103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F1D89-4E58-43DE-B2F6-ECEB476CE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756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8ADA2-D1BD-47CF-BC16-DF9D56802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665E9-A983-41A5-93B0-A8506D8CC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EC31C-803C-48A0-908A-2EC3107F3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19A9A-9E8E-4054-9846-F8E1037F3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CE04D-2F90-4B26-B823-FC0220A70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43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67691-08DC-41C0-B0B7-49FBA34AF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AF8EA-A217-4D71-B986-C3B8CCE8BE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34FF8B-9B70-4E46-BBD0-1B5ECB92E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CAADD-9479-447F-9E57-A7C3E85B8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45A16-0488-4F5C-94B2-60A8E9B81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CA3EB-C7C0-44CA-8ADA-72317DA3B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96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DF38-2D55-4FA9-A87A-F435CEA81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0982F-8524-429A-BF6B-19A27F256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BF808-F5E4-440C-95D4-B5FB33DBED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2A862D-1154-4578-9674-98515B6330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D3109F-5BDA-4C4F-AC10-49C87F939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D93F01-373D-40FB-A7D9-D54E83233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B14C2E-F303-4215-B726-A874E2EC4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E11589-3689-4645-AD08-1BEE8352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189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5E01D-6704-4B70-A8E8-230790E35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548BE0-AA72-4A69-896A-944308D27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C2BC1-F65C-4288-9BB3-3311001B3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BBC957-2294-4B3E-BE15-2BDF9CCC6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752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7BAA3-BF2B-494D-9EA5-A023EAA7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3437D4-0171-4CFB-912C-47559486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E9517-341F-4076-8F07-CA1D99176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397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139F4-94A0-4EB1-A7A4-F911C2109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7A968-F639-47D5-BCD1-140926916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AEEE2F-AF9F-4283-A655-6FE82835E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A53CA-D7DB-40A5-B599-BC6F7C457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509B2-7F8B-4131-96B5-6B45BE93F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854B3-69E0-4747-931D-0EB8EE9BE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02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0C60-CB91-4BEF-8F49-E4C2360E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D4881-5995-4FF8-A07B-FBA9931DC2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D09ED-D391-4C81-9919-ABAB92D43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DA1D6-62AD-470A-9975-E937A9E7B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BCB70-198D-4E26-99CC-548BD0D3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D43D5-2D40-4046-9CB4-DF287F129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726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C50E-CA58-41EC-BE14-8EF4B3FFB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1936E3-5659-41BB-A14A-8FE9D4EB5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EC035-6D1E-497F-A752-E8ABE190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09921-C523-453C-B901-83F7F1F47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200AC-24A8-4F87-9F88-C0A7ADB23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298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926549-A4DF-4E9E-AE22-DA1C279856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C957C-9BAB-47CD-A966-65C0E11E1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41042-9FFD-45D8-AA0D-BF5E36A05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5232B-7227-4F05-A02A-DC973BE7F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B945B-BB9C-4C58-8935-F96B3F0CC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952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FB3BF1-BEF8-4446-BC16-E2D452462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4B4E3-60E0-4FCE-AE34-3B0AF08C9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ED4E0-364C-4F2F-B7A7-A45EB6ED3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0407-A62C-4F9F-81B0-AD88C14A10BA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13F30-644B-428A-AA93-62E9DB5EA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D493C-868C-4536-A04C-0D2A18B2A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076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E926B-510D-4EEF-8CB0-72FAA5095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4482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Unit 5</a:t>
            </a:r>
            <a:br>
              <a:rPr lang="en-GB" b="1" dirty="0"/>
            </a:br>
            <a:r>
              <a:rPr lang="en-GB" b="1" dirty="0"/>
              <a:t>IMAGE COMPRESSION(6hrs)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685328-794F-4222-B84E-CD1271172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92570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GB" dirty="0">
                <a:solidFill>
                  <a:srgbClr val="FF0000"/>
                </a:solidFill>
              </a:rPr>
              <a:t>Presented By</a:t>
            </a:r>
          </a:p>
          <a:p>
            <a:r>
              <a:rPr lang="en-GB" dirty="0">
                <a:solidFill>
                  <a:srgbClr val="FF0000"/>
                </a:solidFill>
              </a:rPr>
              <a:t>Er.Harendra Bikram Shah</a:t>
            </a:r>
          </a:p>
          <a:p>
            <a:r>
              <a:rPr lang="en-GB" dirty="0">
                <a:solidFill>
                  <a:srgbClr val="FF0000"/>
                </a:solidFill>
              </a:rPr>
              <a:t>(Lecturer)</a:t>
            </a:r>
          </a:p>
          <a:p>
            <a:r>
              <a:rPr lang="en-GB" dirty="0">
                <a:solidFill>
                  <a:srgbClr val="FF0000"/>
                </a:solidFill>
              </a:rPr>
              <a:t>Department of Computer Engineering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521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600" b="1" dirty="0"/>
              <a:t>OUTLINES</a:t>
            </a:r>
            <a:endParaRPr lang="en-IN" sz="6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8E1A1-9C72-43A1-8B12-1D16A8287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524" y="1690688"/>
            <a:ext cx="10515600" cy="4518904"/>
          </a:xfrm>
        </p:spPr>
        <p:txBody>
          <a:bodyPr>
            <a:normAutofit/>
          </a:bodyPr>
          <a:lstStyle/>
          <a:p>
            <a:r>
              <a:rPr lang="en-IN" dirty="0"/>
              <a:t>5.1. Coding Redundancy </a:t>
            </a:r>
          </a:p>
          <a:p>
            <a:r>
              <a:rPr lang="en-IN" dirty="0"/>
              <a:t>5.1.1. Huffman Coding </a:t>
            </a:r>
          </a:p>
          <a:p>
            <a:r>
              <a:rPr lang="en-IN" dirty="0"/>
              <a:t>5.2. Interpixel Redundancy </a:t>
            </a:r>
          </a:p>
          <a:p>
            <a:r>
              <a:rPr lang="en-IN" dirty="0"/>
              <a:t>5.2.1. Run length Coding </a:t>
            </a:r>
          </a:p>
          <a:p>
            <a:r>
              <a:rPr lang="en-IN" dirty="0"/>
              <a:t>5.3. Psychovisual Redundancy </a:t>
            </a:r>
          </a:p>
          <a:p>
            <a:r>
              <a:rPr lang="en-IN" dirty="0"/>
              <a:t>5.4. Image Compression Models </a:t>
            </a:r>
          </a:p>
          <a:p>
            <a:r>
              <a:rPr lang="en-IN" dirty="0"/>
              <a:t>5.5. Lossless and Lossy Compressions </a:t>
            </a:r>
          </a:p>
          <a:p>
            <a:r>
              <a:rPr lang="en-IN" dirty="0"/>
              <a:t>5.5.1. Predictive Coding </a:t>
            </a:r>
          </a:p>
        </p:txBody>
      </p:sp>
    </p:spTree>
    <p:extLst>
      <p:ext uri="{BB962C8B-B14F-4D97-AF65-F5344CB8AC3E}">
        <p14:creationId xmlns:p14="http://schemas.microsoft.com/office/powerpoint/2010/main" val="3675384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/>
          <a:lstStyle/>
          <a:p>
            <a:pPr algn="ctr"/>
            <a:r>
              <a:rPr lang="en-GB" b="1" dirty="0"/>
              <a:t>Introduction to Image Compression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B37F1-5806-27CD-6949-312CCC7E3C0B}"/>
              </a:ext>
            </a:extLst>
          </p:cNvPr>
          <p:cNvSpPr txBox="1"/>
          <p:nvPr/>
        </p:nvSpPr>
        <p:spPr>
          <a:xfrm>
            <a:off x="728003" y="928468"/>
            <a:ext cx="111310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/>
              <a:t>process of reducing the size of an image file while retaining as much visual quality as possible.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/>
              <a:t>This is important for efficient storage, transmission, and processing of images.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/>
              <a:t>There are two main types of image compression: lossless and lossy.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3DE9C0-2937-9762-B070-B5B7BF9F3083}"/>
              </a:ext>
            </a:extLst>
          </p:cNvPr>
          <p:cNvSpPr txBox="1"/>
          <p:nvPr/>
        </p:nvSpPr>
        <p:spPr>
          <a:xfrm>
            <a:off x="3787727" y="4562176"/>
            <a:ext cx="39424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Applications of Image Compression:</a:t>
            </a:r>
          </a:p>
          <a:p>
            <a:r>
              <a:rPr lang="en-IN" dirty="0"/>
              <a:t>Medical Imaging:</a:t>
            </a:r>
          </a:p>
          <a:p>
            <a:r>
              <a:rPr lang="en-IN" dirty="0"/>
              <a:t>Video Conferencing:</a:t>
            </a:r>
          </a:p>
          <a:p>
            <a:r>
              <a:rPr lang="en-IN" dirty="0"/>
              <a:t>Satellite imagery:</a:t>
            </a:r>
          </a:p>
          <a:p>
            <a:r>
              <a:rPr lang="en-IN" dirty="0"/>
              <a:t>Social Media:</a:t>
            </a:r>
          </a:p>
          <a:p>
            <a:r>
              <a:rPr lang="en-IN" dirty="0"/>
              <a:t>Digital Photography: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E1891F-7241-ADB8-023C-9069BD401CCC}"/>
              </a:ext>
            </a:extLst>
          </p:cNvPr>
          <p:cNvSpPr txBox="1"/>
          <p:nvPr/>
        </p:nvSpPr>
        <p:spPr>
          <a:xfrm>
            <a:off x="3049172" y="2956784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b="0" i="0" dirty="0">
                <a:solidFill>
                  <a:srgbClr val="D1D5DB"/>
                </a:solidFill>
                <a:effectLst/>
                <a:latin typeface="Söhne"/>
              </a:rPr>
            </a:b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6F1F11-91BE-D3D1-B646-1CF0D2650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03" y="2239222"/>
            <a:ext cx="10765302" cy="203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58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0E1891F-7241-ADB8-023C-9069BD401CCC}"/>
              </a:ext>
            </a:extLst>
          </p:cNvPr>
          <p:cNvSpPr txBox="1"/>
          <p:nvPr/>
        </p:nvSpPr>
        <p:spPr>
          <a:xfrm>
            <a:off x="3049172" y="2956784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b="0" i="0" dirty="0">
                <a:solidFill>
                  <a:srgbClr val="D1D5DB"/>
                </a:solidFill>
                <a:effectLst/>
                <a:latin typeface="Söhne"/>
              </a:rPr>
            </a:b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F04C48-DEB3-34C3-35A4-A6090854C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972" y="778728"/>
            <a:ext cx="9692640" cy="21780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49A78BE-8F16-03DD-2AA7-A1AF46AAA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663" y="3251422"/>
            <a:ext cx="9101797" cy="24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129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/>
          <a:lstStyle/>
          <a:p>
            <a:pPr algn="ctr"/>
            <a:r>
              <a:rPr lang="en-GB" b="1" dirty="0"/>
              <a:t>Redundancies in Image Compression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2ACF0D-B7EA-26D9-C5CF-28A54048A462}"/>
              </a:ext>
            </a:extLst>
          </p:cNvPr>
          <p:cNvSpPr txBox="1"/>
          <p:nvPr/>
        </p:nvSpPr>
        <p:spPr>
          <a:xfrm>
            <a:off x="284284" y="928468"/>
            <a:ext cx="1162343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GB" b="1" dirty="0"/>
              <a:t>Spatial Redundancy/Inter-Pixel Redundancy/Intraframe Coding: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dirty="0"/>
              <a:t>refers to similarities or patterns in pixel values within the same image.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Compression techniques </a:t>
            </a:r>
            <a:r>
              <a:rPr lang="en-GB" dirty="0"/>
              <a:t>Used are  Run-Length Encoding (RLE) or predictive coding.</a:t>
            </a:r>
          </a:p>
          <a:p>
            <a:pPr algn="just">
              <a:buFont typeface="+mj-lt"/>
              <a:buAutoNum type="arabicPeriod"/>
            </a:pPr>
            <a:r>
              <a:rPr lang="en-GB" b="1" dirty="0"/>
              <a:t>Temporal Redundancy/Interframe Coding(in Video Compression):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dirty="0"/>
              <a:t>occurs when consecutive frames in a video sequence share similarities.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Compression Technique: </a:t>
            </a:r>
            <a:r>
              <a:rPr lang="en-GB" dirty="0"/>
              <a:t>inter-frame prediction and motion compensation.</a:t>
            </a:r>
          </a:p>
          <a:p>
            <a:pPr algn="just">
              <a:buFont typeface="+mj-lt"/>
              <a:buAutoNum type="arabicPeriod"/>
            </a:pPr>
            <a:r>
              <a:rPr lang="en-GB" b="1" dirty="0"/>
              <a:t>Color Redundancy: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dirty="0"/>
              <a:t>arises when there are correlations among Color components in an image.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Compression Technique: </a:t>
            </a:r>
            <a:r>
              <a:rPr lang="en-GB" dirty="0"/>
              <a:t>Color space transformations and chroma subsampling(Less resolution Technique)</a:t>
            </a:r>
          </a:p>
          <a:p>
            <a:pPr algn="just">
              <a:buFont typeface="+mj-lt"/>
              <a:buAutoNum type="arabicPeriod"/>
            </a:pPr>
            <a:r>
              <a:rPr lang="en-GB" b="1" dirty="0"/>
              <a:t>Psychovisual Redundancy: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dirty="0"/>
              <a:t>based on the limitations of the human visual system.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Compression Technique: </a:t>
            </a:r>
            <a:r>
              <a:rPr lang="en-GB" dirty="0"/>
              <a:t>JPEG compression.</a:t>
            </a:r>
          </a:p>
          <a:p>
            <a:pPr algn="just">
              <a:buFont typeface="+mj-lt"/>
              <a:buAutoNum type="arabicPeriod"/>
            </a:pPr>
            <a:r>
              <a:rPr lang="en-GB" b="1" dirty="0"/>
              <a:t>Statistical Redundancy: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dirty="0"/>
              <a:t>related to the probability distribution of pixel values in an image.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Compression Technique: </a:t>
            </a:r>
            <a:r>
              <a:rPr lang="en-GB" dirty="0"/>
              <a:t>Huffman coding</a:t>
            </a:r>
          </a:p>
          <a:p>
            <a:pPr algn="just">
              <a:buFont typeface="+mj-lt"/>
              <a:buAutoNum type="arabicPeriod"/>
            </a:pPr>
            <a:r>
              <a:rPr lang="en-GB" b="1" dirty="0"/>
              <a:t>Transform Redundancy: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dirty="0"/>
              <a:t>arises when there are correlations in the spatial domain that can be better represented in a transformed domain.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Compression Technique: </a:t>
            </a:r>
            <a:r>
              <a:rPr lang="en-GB" dirty="0"/>
              <a:t>JPEG compression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854573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Compression Techniques with LZW method">
            <a:extLst>
              <a:ext uri="{FF2B5EF4-FFF2-40B4-BE49-F238E27FC236}">
                <a16:creationId xmlns:a16="http://schemas.microsoft.com/office/drawing/2014/main" id="{FE14E2FE-CB62-D7BF-3DC7-F9EFFB2DB9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13"/>
          <a:stretch/>
        </p:blipFill>
        <p:spPr bwMode="auto">
          <a:xfrm>
            <a:off x="872197" y="939018"/>
            <a:ext cx="10170942" cy="497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9580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CE6F2-1A49-5357-9DEF-0B03B52F8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/>
          <a:lstStyle/>
          <a:p>
            <a:pPr algn="ctr"/>
            <a:r>
              <a:rPr lang="en-GB" b="1" dirty="0"/>
              <a:t>Lossy Predictive Coding</a:t>
            </a:r>
          </a:p>
        </p:txBody>
      </p:sp>
      <p:pic>
        <p:nvPicPr>
          <p:cNvPr id="2052" name="Picture 4" descr="Explain about lossy predictive coding. - Bench Partner">
            <a:extLst>
              <a:ext uri="{FF2B5EF4-FFF2-40B4-BE49-F238E27FC236}">
                <a16:creationId xmlns:a16="http://schemas.microsoft.com/office/drawing/2014/main" id="{3C754662-3078-6474-3D90-3F8C7FDB2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81" y="928468"/>
            <a:ext cx="11245948" cy="540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551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CE6F2-1A49-5357-9DEF-0B03B52F8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/>
          <a:lstStyle/>
          <a:p>
            <a:pPr algn="ctr"/>
            <a:r>
              <a:rPr lang="en-GB" b="1" dirty="0"/>
              <a:t>Lossless Predictive Coding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5DB6F9A-95D9-FDE0-7FA8-71BABA4D9A5E}"/>
              </a:ext>
            </a:extLst>
          </p:cNvPr>
          <p:cNvGrpSpPr/>
          <p:nvPr/>
        </p:nvGrpSpPr>
        <p:grpSpPr>
          <a:xfrm>
            <a:off x="193614" y="1392704"/>
            <a:ext cx="11804771" cy="5143500"/>
            <a:chOff x="387229" y="928468"/>
            <a:chExt cx="11804771" cy="5143500"/>
          </a:xfrm>
        </p:grpSpPr>
        <p:pic>
          <p:nvPicPr>
            <p:cNvPr id="4098" name="Picture 2" descr="Lossless predictive coding model: a Encoder; b Decoder | Download  Scientific Diagram">
              <a:extLst>
                <a:ext uri="{FF2B5EF4-FFF2-40B4-BE49-F238E27FC236}">
                  <a16:creationId xmlns:a16="http://schemas.microsoft.com/office/drawing/2014/main" id="{08AE4D89-B4F1-213C-4C90-E721D98E35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5340" y="928468"/>
              <a:ext cx="7686968" cy="5143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AEB6524-6F03-25AB-8382-A25115075423}"/>
                </a:ext>
              </a:extLst>
            </p:cNvPr>
            <p:cNvSpPr/>
            <p:nvPr/>
          </p:nvSpPr>
          <p:spPr>
            <a:xfrm>
              <a:off x="8792308" y="1005132"/>
              <a:ext cx="1436222" cy="80249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b="1" dirty="0"/>
                <a:t>Symbol Encoder</a:t>
              </a:r>
              <a:endParaRPr lang="en-IN" b="1" dirty="0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C5BDD64-0767-E91B-816C-6C4F22FE6B16}"/>
                </a:ext>
              </a:extLst>
            </p:cNvPr>
            <p:cNvCxnSpPr>
              <a:cxnSpLocks/>
            </p:cNvCxnSpPr>
            <p:nvPr/>
          </p:nvCxnSpPr>
          <p:spPr>
            <a:xfrm>
              <a:off x="10228530" y="1406378"/>
              <a:ext cx="565138" cy="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7EF2B76-2F98-846B-622B-16B844297A7F}"/>
                </a:ext>
              </a:extLst>
            </p:cNvPr>
            <p:cNvSpPr txBox="1"/>
            <p:nvPr/>
          </p:nvSpPr>
          <p:spPr>
            <a:xfrm>
              <a:off x="10793668" y="1083212"/>
              <a:ext cx="139833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/>
                <a:t>Compressed </a:t>
              </a:r>
            </a:p>
            <a:p>
              <a:pPr algn="ctr"/>
              <a:r>
                <a:rPr lang="en-GB" b="1" dirty="0"/>
                <a:t>Image</a:t>
              </a:r>
              <a:endParaRPr lang="en-IN" b="1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8812027-A74A-BE7E-8BC6-0E52E81D594D}"/>
                </a:ext>
              </a:extLst>
            </p:cNvPr>
            <p:cNvSpPr/>
            <p:nvPr/>
          </p:nvSpPr>
          <p:spPr>
            <a:xfrm>
              <a:off x="387229" y="3647513"/>
              <a:ext cx="1436222" cy="80249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b="1" dirty="0"/>
                <a:t>Symbol Decoder</a:t>
              </a:r>
              <a:endParaRPr lang="en-IN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28EB90-8FED-C528-08B7-128AEA4D4FEA}"/>
                </a:ext>
              </a:extLst>
            </p:cNvPr>
            <p:cNvSpPr txBox="1"/>
            <p:nvPr/>
          </p:nvSpPr>
          <p:spPr>
            <a:xfrm>
              <a:off x="425119" y="2782669"/>
              <a:ext cx="139833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/>
                <a:t>Compressed </a:t>
              </a:r>
            </a:p>
            <a:p>
              <a:pPr algn="ctr"/>
              <a:r>
                <a:rPr lang="en-GB" b="1" dirty="0"/>
                <a:t>Image</a:t>
              </a:r>
              <a:endParaRPr lang="en-IN" b="1" dirty="0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0C441C2-D0AF-2F0F-7507-2453EA846C38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911725" y="3893236"/>
            <a:ext cx="18945" cy="21851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827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CE6F2-1A49-5357-9DEF-0B03B52F8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90875"/>
            <a:ext cx="10515600" cy="802492"/>
          </a:xfrm>
        </p:spPr>
        <p:txBody>
          <a:bodyPr/>
          <a:lstStyle/>
          <a:p>
            <a:pPr algn="ctr"/>
            <a:r>
              <a:rPr lang="en-GB" b="1" dirty="0"/>
              <a:t>Numerical of Huffman Coding</a:t>
            </a:r>
          </a:p>
        </p:txBody>
      </p:sp>
    </p:spTree>
    <p:extLst>
      <p:ext uri="{BB962C8B-B14F-4D97-AF65-F5344CB8AC3E}">
        <p14:creationId xmlns:p14="http://schemas.microsoft.com/office/powerpoint/2010/main" val="1434891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E78036-C53D-48F0-A6B6-12FD98A8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b="1" dirty="0"/>
              <a:t>End of UNIT 5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47762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E78036-C53D-48F0-A6B6-12FD98A8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b="1" dirty="0"/>
              <a:t>THANK YOU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02690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319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Söhne</vt:lpstr>
      <vt:lpstr>Wingdings</vt:lpstr>
      <vt:lpstr>Office Theme</vt:lpstr>
      <vt:lpstr>Unit 5 IMAGE COMPRESSION(6hrs)</vt:lpstr>
      <vt:lpstr>OUTLINES</vt:lpstr>
      <vt:lpstr>Introduction to Image Compression Model</vt:lpstr>
      <vt:lpstr>PowerPoint Presentation</vt:lpstr>
      <vt:lpstr>Redundancies in Image Compression</vt:lpstr>
      <vt:lpstr>PowerPoint Presentation</vt:lpstr>
      <vt:lpstr>Lossy Predictive Coding</vt:lpstr>
      <vt:lpstr>Lossless Predictive Coding</vt:lpstr>
      <vt:lpstr>Numerical of Huffman Coding</vt:lpstr>
      <vt:lpstr>End of UNIT 5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10 Pattern Recognition</dc:title>
  <dc:creator>Harendra Bikram Shah</dc:creator>
  <cp:lastModifiedBy>Harandra Bikram Shah</cp:lastModifiedBy>
  <cp:revision>64</cp:revision>
  <dcterms:created xsi:type="dcterms:W3CDTF">2022-01-26T11:06:20Z</dcterms:created>
  <dcterms:modified xsi:type="dcterms:W3CDTF">2024-01-03T13:49:04Z</dcterms:modified>
</cp:coreProperties>
</file>