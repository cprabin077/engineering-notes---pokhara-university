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80" r:id="rId12"/>
    <p:sldId id="278" r:id="rId13"/>
    <p:sldId id="279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90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291" r:id="rId36"/>
    <p:sldId id="304" r:id="rId37"/>
    <p:sldId id="305" r:id="rId38"/>
    <p:sldId id="306" r:id="rId39"/>
    <p:sldId id="307" r:id="rId40"/>
    <p:sldId id="308" r:id="rId41"/>
    <p:sldId id="309" r:id="rId42"/>
    <p:sldId id="28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E54E-9BFD-4C77-914F-0F6321E65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1D69B-7E24-40D2-89B1-6591DAAC3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6DAF6-A9BC-497F-AAB6-FBD2194F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193E-03F1-4574-A010-2C58D407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3B0A-EC7C-43C6-AC82-C542FD7D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32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0AC7-B37E-4AE8-8D7D-D677B34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19DD5-67DF-4796-A2FB-6B3BF15FE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F817C-B9C2-46F5-8D77-B910E325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F6D41-40AE-49C9-9A0D-F5F6C2A62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85C4C-ED3F-4F98-9ACD-1EFADE3D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50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1E16D-E286-41F9-B9DB-217A88CD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21B97-402E-40C1-B983-24BCEF058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9D06-4311-4E72-A11E-CE6BE70B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3F1E4-430D-4510-BB5A-D46B2F7C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C6C2E-E5C1-4449-84A9-65242A9F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02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83E3-7C61-44B7-A1C6-839FF816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832C-DEE4-4659-9DAB-94E878A56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95EBB-3F26-4E28-9D1F-1EEC5C395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3A128-338E-438A-BED3-877D3624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F8363-4D7F-44D0-8641-B62A472D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6CFED-2774-44B4-9733-52214FED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88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BE35-F790-424D-A935-1798D9FE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8C24E-3524-449B-A5AA-0F4095D82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055FB-F580-4701-AD32-FDC244C1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FC59A-C545-499F-9ED1-7C21AFA6F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472C3-052A-4CEE-A072-5E87D9AEC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C6FDC-8BB6-4C18-9C8B-39158F317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7EB24-3276-45B7-B7CA-C567E8BE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3B62D-4E32-4547-9244-F090D857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84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B42A-2E03-4712-AEC7-9B8397A8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770E7-3650-4ABF-81A2-DD215166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D6EC3-9243-4CFA-869F-6F039345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A9C60-2DB0-4647-9764-93CC44B3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26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492244-8084-4697-8951-8CCD0114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472E2-1140-4D57-8044-1175A41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2292D-E55B-4A03-90E1-D5A1CD69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5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5973-8B41-462B-98E7-19480E6A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2700-92C7-4F1A-ACAA-156A4135D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33B9B-E678-4D8A-9EA2-65543CD9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399E7-C519-4650-B108-2D916B59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8747D-2AED-46AE-BC7E-6A6930A3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68569-5A02-4364-9D33-BE8D2F22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2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2011-2545-46D4-8DB9-FA282B198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798FD-1D43-428C-BD48-5125F1E77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36335-39AA-46F8-98BE-298E69835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7BDDE-6760-48C4-B991-8EE54818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6B4B-1B2C-47A0-88E4-99614B5A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F7B3E-4684-41DC-A143-BF35B605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24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78AB-0EE5-40A3-AA55-95E1B845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63A86-ACD5-413F-B04F-C19C3205F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4087-8978-449F-B79F-17541BC0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B38CA-B36E-4E58-8568-A4DDFE81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F9366-D088-43B1-B4F1-71C32AD9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5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A80E2-DA13-4C61-A3F8-073E51EEE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E89EC-A66E-4BA9-B0DB-C00B60A3A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7947C-4F56-4A62-87C5-1DD94BDF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47EF-ED3A-4C8B-9826-F3F203940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28EE4-13CA-4C08-A6CF-D93EE8BE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9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B9D6D-0892-4F47-B0DC-1723959F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CC6DF-17CF-47E3-B991-8F35E14B1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9639D-4676-41F6-B097-F0CE17137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089E-0190-4CF6-BAC1-3486C5D59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8AB15-5745-4A02-A8A3-3B10B8CF7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7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90E3-F29D-4806-AA42-C09B319D6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18" y="203453"/>
            <a:ext cx="12067082" cy="948129"/>
          </a:xfrm>
        </p:spPr>
        <p:txBody>
          <a:bodyPr>
            <a:normAutofit fontScale="90000"/>
          </a:bodyPr>
          <a:lstStyle/>
          <a:p>
            <a:r>
              <a:rPr lang="en-GB" sz="4800" b="1" dirty="0"/>
              <a:t>UNIT 3 Image Enhancement in Frequency Domain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35CE5-F987-46AC-A655-C3E453E50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459" y="2409342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FF0000"/>
                </a:solidFill>
              </a:rPr>
              <a:t>Prepared by 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	Er.Harendra Bikram Shah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				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Department of Computer Engineering </a:t>
            </a:r>
          </a:p>
          <a:p>
            <a:pPr algn="l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43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46"/>
            <a:ext cx="10515600" cy="867327"/>
          </a:xfrm>
        </p:spPr>
        <p:txBody>
          <a:bodyPr/>
          <a:lstStyle/>
          <a:p>
            <a:pPr algn="ctr"/>
            <a:r>
              <a:rPr lang="en-GB" b="1" dirty="0"/>
              <a:t>OUTLINES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DEBA-93BB-425C-ADE3-F6C80521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00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 </a:t>
            </a:r>
            <a:r>
              <a:rPr lang="en-IN" dirty="0"/>
              <a:t>3.1. Introduction to Fourier Transform and the frequency Domain </a:t>
            </a:r>
          </a:p>
          <a:p>
            <a:pPr marL="0" indent="0">
              <a:buNone/>
            </a:pPr>
            <a:r>
              <a:rPr lang="en-IN" dirty="0"/>
              <a:t>3.2. Computing and Visualizing the 2D DFT </a:t>
            </a:r>
          </a:p>
          <a:p>
            <a:pPr marL="0" indent="0">
              <a:buNone/>
            </a:pPr>
            <a:r>
              <a:rPr lang="en-IN" dirty="0"/>
              <a:t>3.3. Smoothening Frequency Domain Filters </a:t>
            </a:r>
          </a:p>
          <a:p>
            <a:pPr marL="0" indent="0">
              <a:buNone/>
            </a:pPr>
            <a:r>
              <a:rPr lang="en-IN" dirty="0"/>
              <a:t>3.4. Sharpening Frequency Domain Filters </a:t>
            </a:r>
          </a:p>
          <a:p>
            <a:pPr marL="0" indent="0">
              <a:buNone/>
            </a:pPr>
            <a:r>
              <a:rPr lang="en-IN" dirty="0"/>
              <a:t>3.5. Other Image Transforms </a:t>
            </a:r>
          </a:p>
          <a:p>
            <a:pPr marL="0" indent="0">
              <a:buNone/>
            </a:pPr>
            <a:r>
              <a:rPr lang="en-IN" dirty="0"/>
              <a:t>	3.5.1. Hadamard Transform </a:t>
            </a:r>
          </a:p>
          <a:p>
            <a:pPr marL="0" indent="0">
              <a:buNone/>
            </a:pPr>
            <a:r>
              <a:rPr lang="en-IN" dirty="0"/>
              <a:t>	3.5.2. Haar Transform </a:t>
            </a:r>
          </a:p>
          <a:p>
            <a:pPr marL="0" indent="0">
              <a:buNone/>
            </a:pPr>
            <a:r>
              <a:rPr lang="en-IN" dirty="0"/>
              <a:t>	3.5.3. Discrete Cosine Transform </a:t>
            </a:r>
          </a:p>
          <a:p>
            <a:pPr marL="0" indent="0">
              <a:buNone/>
            </a:pPr>
            <a:r>
              <a:rPr lang="en-IN" dirty="0"/>
              <a:t>3.6. Fast Fourier Transform </a:t>
            </a:r>
          </a:p>
        </p:txBody>
      </p:sp>
    </p:spTree>
    <p:extLst>
      <p:ext uri="{BB962C8B-B14F-4D97-AF65-F5344CB8AC3E}">
        <p14:creationId xmlns:p14="http://schemas.microsoft.com/office/powerpoint/2010/main" val="129442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0"/>
            <a:ext cx="10515600" cy="99984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Introduction to Fourier Transform and the frequency Domain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761B0-4B50-1143-BB01-DF87F9CE29CA}"/>
              </a:ext>
            </a:extLst>
          </p:cNvPr>
          <p:cNvSpPr txBox="1"/>
          <p:nvPr/>
        </p:nvSpPr>
        <p:spPr>
          <a:xfrm>
            <a:off x="1272207" y="1007165"/>
            <a:ext cx="103101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In the frequency domain, a digital image is converted from spatial domain to frequency domain and image filtering is used for image enhancement for a specific application.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There are two types of filters: </a:t>
            </a:r>
            <a:r>
              <a:rPr lang="en-GB" b="1" dirty="0"/>
              <a:t>High pass filters and low pass filters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C780B-E84C-5829-AE65-A11B709AA133}"/>
              </a:ext>
            </a:extLst>
          </p:cNvPr>
          <p:cNvSpPr txBox="1"/>
          <p:nvPr/>
        </p:nvSpPr>
        <p:spPr>
          <a:xfrm>
            <a:off x="1470991" y="20070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For smoothing an image: low filter</a:t>
            </a:r>
          </a:p>
          <a:p>
            <a:r>
              <a:rPr lang="en-GB" dirty="0"/>
              <a:t>For Sharpening an image: High Filter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B6CED-5FD4-4FF9-02B4-D6A26B9B05BC}"/>
              </a:ext>
            </a:extLst>
          </p:cNvPr>
          <p:cNvSpPr txBox="1"/>
          <p:nvPr/>
        </p:nvSpPr>
        <p:spPr>
          <a:xfrm>
            <a:off x="1470991" y="278457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low pass filters and high pass filters have sub categorized </a:t>
            </a:r>
            <a:r>
              <a:rPr lang="en-GB" dirty="0" err="1"/>
              <a:t>i</a:t>
            </a:r>
            <a:r>
              <a:rPr lang="en-GB" dirty="0"/>
              <a:t>. e. </a:t>
            </a:r>
            <a:r>
              <a:rPr lang="en-GB" b="1" dirty="0"/>
              <a:t>ideal filter</a:t>
            </a:r>
          </a:p>
          <a:p>
            <a:r>
              <a:rPr lang="en-GB" b="1" dirty="0"/>
              <a:t>Butterworth filter</a:t>
            </a:r>
          </a:p>
          <a:p>
            <a:r>
              <a:rPr lang="en-GB" b="1" dirty="0"/>
              <a:t>Gaussian filter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091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0"/>
            <a:ext cx="10515600" cy="999849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 ENHANCEMENT IN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DOMAIN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1CCC6D-98C8-2C9F-2D10-306AE57D8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739" y="1351722"/>
            <a:ext cx="9448800" cy="4412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805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0"/>
            <a:ext cx="10515600" cy="999849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FOURIER TRANSFORMATION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B1BAE-4A4A-2587-D12F-B5E7ACF04792}"/>
              </a:ext>
            </a:extLst>
          </p:cNvPr>
          <p:cNvSpPr txBox="1"/>
          <p:nvPr/>
        </p:nvSpPr>
        <p:spPr>
          <a:xfrm>
            <a:off x="838200" y="829773"/>
            <a:ext cx="107044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 is a mathematical model which helps to transform the signals between two different domains, such as transforming signal from frequency domain to time domain or vice versa.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Fourier transformation is a tool for image processing. it is used for decomposing an image into sine and cosine components.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inverse Fourier transform brings back the image in spatial domain from frequency domain.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Fourier transformation is used in a wide range of application such as image filtering, image compression. Image analysis and image reconstruction etc.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Frequency domain">
            <a:extLst>
              <a:ext uri="{FF2B5EF4-FFF2-40B4-BE49-F238E27FC236}">
                <a16:creationId xmlns:a16="http://schemas.microsoft.com/office/drawing/2014/main" id="{D1BB6E7E-7AF8-5AAC-EEB8-07A90B7B2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52" y="3839816"/>
            <a:ext cx="7898296" cy="25992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38127-5EE9-7D2E-8B55-6DB3C57BC77E}"/>
              </a:ext>
            </a:extLst>
          </p:cNvPr>
          <p:cNvSpPr txBox="1"/>
          <p:nvPr/>
        </p:nvSpPr>
        <p:spPr>
          <a:xfrm>
            <a:off x="1086678" y="3180330"/>
            <a:ext cx="10704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formula for 1-D Fourier transformation and 1-D Inverse Fourier Transformation is given below: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58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0"/>
            <a:ext cx="10515600" cy="999849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FOURIER TRANSFORMATION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2E078-6488-BEA2-A9A5-F3A0CB245489}"/>
              </a:ext>
            </a:extLst>
          </p:cNvPr>
          <p:cNvSpPr txBox="1"/>
          <p:nvPr/>
        </p:nvSpPr>
        <p:spPr>
          <a:xfrm>
            <a:off x="1258957" y="1152939"/>
            <a:ext cx="10094843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2D Fourier transform and 2D Inverse Fourier Transform: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5EA51-FD1C-1F49-3C93-9805DAF85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65" y="2526865"/>
            <a:ext cx="8388625" cy="2999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541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 Fourier Transformation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46931-3709-7E9F-8D23-73BD784D3DCF}"/>
              </a:ext>
            </a:extLst>
          </p:cNvPr>
          <p:cNvSpPr txBox="1"/>
          <p:nvPr/>
        </p:nvSpPr>
        <p:spPr>
          <a:xfrm>
            <a:off x="2160104" y="7951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Duality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87247-F84E-F6AA-3C93-24AEE48AAE37}"/>
              </a:ext>
            </a:extLst>
          </p:cNvPr>
          <p:cNvSpPr txBox="1"/>
          <p:nvPr/>
        </p:nvSpPr>
        <p:spPr>
          <a:xfrm>
            <a:off x="2160104" y="14371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Linear transform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716AC-4DE9-41F8-813A-C5F7ED59A425}"/>
              </a:ext>
            </a:extLst>
          </p:cNvPr>
          <p:cNvSpPr txBox="1"/>
          <p:nvPr/>
        </p:nvSpPr>
        <p:spPr>
          <a:xfrm>
            <a:off x="2160104" y="20792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Modulation property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97DD9-646F-B1B1-DFF1-D85FF194F846}"/>
              </a:ext>
            </a:extLst>
          </p:cNvPr>
          <p:cNvSpPr txBox="1"/>
          <p:nvPr/>
        </p:nvSpPr>
        <p:spPr>
          <a:xfrm>
            <a:off x="2160104" y="25539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Parseval’s theorem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B0003D-9DA8-F941-744B-CBBAC4D21B8F}"/>
              </a:ext>
            </a:extLst>
          </p:cNvPr>
          <p:cNvSpPr txBox="1"/>
          <p:nvPr/>
        </p:nvSpPr>
        <p:spPr>
          <a:xfrm>
            <a:off x="2160104" y="30142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Linearity: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3C7BCC-A6D8-4AF6-8617-99BC5CAB11B9}"/>
              </a:ext>
            </a:extLst>
          </p:cNvPr>
          <p:cNvSpPr txBox="1"/>
          <p:nvPr/>
        </p:nvSpPr>
        <p:spPr>
          <a:xfrm>
            <a:off x="2160104" y="34743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Scaling: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03E564-DBCB-3191-B8AF-E62C1BE16862}"/>
              </a:ext>
            </a:extLst>
          </p:cNvPr>
          <p:cNvSpPr txBox="1"/>
          <p:nvPr/>
        </p:nvSpPr>
        <p:spPr>
          <a:xfrm>
            <a:off x="2160104" y="39824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Differentiation: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7C845-32A6-93FD-B8F1-1A8439ED6B82}"/>
              </a:ext>
            </a:extLst>
          </p:cNvPr>
          <p:cNvSpPr txBox="1"/>
          <p:nvPr/>
        </p:nvSpPr>
        <p:spPr>
          <a:xfrm>
            <a:off x="2160104" y="44202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Convolution: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64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3193A-81CF-F3D4-2CFF-9BBDCCA225F7}"/>
              </a:ext>
            </a:extLst>
          </p:cNvPr>
          <p:cNvSpPr txBox="1"/>
          <p:nvPr/>
        </p:nvSpPr>
        <p:spPr>
          <a:xfrm>
            <a:off x="838200" y="795131"/>
            <a:ext cx="1074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Discrete Fourier Transform (DFT) is a specific kind of discrete transform, used in Fourier analysis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7303F1-55B8-B33C-6DBE-E89547111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843" y="1806503"/>
            <a:ext cx="8428383" cy="3547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427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3193A-81CF-F3D4-2CFF-9BBDCCA225F7}"/>
              </a:ext>
            </a:extLst>
          </p:cNvPr>
          <p:cNvSpPr txBox="1"/>
          <p:nvPr/>
        </p:nvSpPr>
        <p:spPr>
          <a:xfrm>
            <a:off x="838200" y="795131"/>
            <a:ext cx="1074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Discrete Fourier Transform (DFT) is a specific kind of discrete transform, used in Fourier analysis</a:t>
            </a:r>
            <a:endParaRPr lang="en-IN" dirty="0"/>
          </a:p>
        </p:txBody>
      </p:sp>
      <p:pic>
        <p:nvPicPr>
          <p:cNvPr id="1026" name="Picture 10">
            <a:extLst>
              <a:ext uri="{FF2B5EF4-FFF2-40B4-BE49-F238E27FC236}">
                <a16:creationId xmlns:a16="http://schemas.microsoft.com/office/drawing/2014/main" id="{9B4A194B-3861-F0A8-2440-D3086E842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322" y="2128040"/>
            <a:ext cx="6745355" cy="142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1">
            <a:extLst>
              <a:ext uri="{FF2B5EF4-FFF2-40B4-BE49-F238E27FC236}">
                <a16:creationId xmlns:a16="http://schemas.microsoft.com/office/drawing/2014/main" id="{2F70A43C-9C22-C3ED-D0D9-5D2321281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91" y="3981530"/>
            <a:ext cx="6473686" cy="144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08A52873-8B14-4342-81AB-E5C95010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31006"/>
            <a:ext cx="56337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It is defined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The 1D Discrete Fourier Transform of an image is given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C814FC-66C3-58F0-B19C-1C11992D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99253"/>
            <a:ext cx="63610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Where k is 0.1.2…. N-1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Here u is 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The 1D Inverse Discrete Fourier Transform of an image is given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37604D-145F-2C1B-6C33-4A8123BC1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768" y="5529746"/>
            <a:ext cx="78753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Where n is 0,2., 3…N-1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Here x is n according to our class lecturers.</a:t>
            </a:r>
          </a:p>
        </p:txBody>
      </p:sp>
    </p:spTree>
    <p:extLst>
      <p:ext uri="{BB962C8B-B14F-4D97-AF65-F5344CB8AC3E}">
        <p14:creationId xmlns:p14="http://schemas.microsoft.com/office/powerpoint/2010/main" val="3669724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7">
            <a:extLst>
              <a:ext uri="{FF2B5EF4-FFF2-40B4-BE49-F238E27FC236}">
                <a16:creationId xmlns:a16="http://schemas.microsoft.com/office/drawing/2014/main" id="{03D3445A-0710-0263-2CB5-A1056CA86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436" y="1530016"/>
            <a:ext cx="8393068" cy="133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8">
            <a:extLst>
              <a:ext uri="{FF2B5EF4-FFF2-40B4-BE49-F238E27FC236}">
                <a16:creationId xmlns:a16="http://schemas.microsoft.com/office/drawing/2014/main" id="{D1E957CF-19B1-8CD1-052E-E7CC70FE9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974" y="3513320"/>
            <a:ext cx="7513983" cy="13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B283931-D394-988E-0CB0-4FEDF918D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71627"/>
            <a:ext cx="114633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/>
              <a:t>The 2D discrete Fourier transform (DFT) of an image f of size M×N is an image F of same size defined as: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08DEB45-54FB-357F-468F-1884D1B0C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731" y="2866990"/>
            <a:ext cx="38747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for u = 0, 1, 2…M-1 and v = 0, 1, 2…N-1.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• The inverse 2D-DFT is given by: 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1A0477B-21EB-5DCC-7B15-0C1E0CCDD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435" y="5009716"/>
            <a:ext cx="37945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for x = 0, 1, 2…M-1 and y = 0, 1, 2…N-1</a:t>
            </a:r>
          </a:p>
        </p:txBody>
      </p:sp>
    </p:spTree>
    <p:extLst>
      <p:ext uri="{BB962C8B-B14F-4D97-AF65-F5344CB8AC3E}">
        <p14:creationId xmlns:p14="http://schemas.microsoft.com/office/powerpoint/2010/main" val="224486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BD7144-616F-B40E-33E2-89C581CBE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695" y="1076021"/>
            <a:ext cx="8282609" cy="5271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893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4" y="0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5F2F989F-B64A-8BF1-D646-54977EFD40FE}"/>
              </a:ext>
            </a:extLst>
          </p:cNvPr>
          <p:cNvSpPr/>
          <p:nvPr/>
        </p:nvSpPr>
        <p:spPr>
          <a:xfrm>
            <a:off x="1186483" y="1083780"/>
            <a:ext cx="190500" cy="1152525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7448DB5F-3E62-98F7-B8A9-14FEDC7FAB4A}"/>
              </a:ext>
            </a:extLst>
          </p:cNvPr>
          <p:cNvSpPr/>
          <p:nvPr/>
        </p:nvSpPr>
        <p:spPr>
          <a:xfrm>
            <a:off x="2765562" y="1083780"/>
            <a:ext cx="133350" cy="1143000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668B7B-F596-09C7-5861-DDE637145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91" y="2018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BD16F24-A8B4-41F9-D1D4-E75177221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91" y="521142"/>
            <a:ext cx="730194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The Transform matrix of DFT is given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 1	 1	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-j	-1	  j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-1	 1	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 j	-1	 -j	4x4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To calculate the DFT using matrix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b="1" dirty="0"/>
              <a:t>For 1D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b="1" dirty="0"/>
              <a:t>F=</a:t>
            </a:r>
            <a:r>
              <a:rPr lang="en-US" altLang="en-US" b="1" dirty="0" err="1"/>
              <a:t>M.f</a:t>
            </a: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b="1" dirty="0"/>
              <a:t>For 2D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F=M.f.MT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Since the </a:t>
            </a:r>
            <a:r>
              <a:rPr lang="en-US" altLang="en-US" dirty="0" err="1"/>
              <a:t>dft</a:t>
            </a:r>
            <a:r>
              <a:rPr lang="en-US" altLang="en-US" dirty="0"/>
              <a:t> is symmetric the M and MT are same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Here M is the DFT transform matrix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0E76C2-80BF-C9DB-4EB7-92252776F8C4}"/>
              </a:ext>
            </a:extLst>
          </p:cNvPr>
          <p:cNvGrpSpPr/>
          <p:nvPr/>
        </p:nvGrpSpPr>
        <p:grpSpPr>
          <a:xfrm>
            <a:off x="8488431" y="1872314"/>
            <a:ext cx="2859985" cy="661720"/>
            <a:chOff x="8150086" y="1672342"/>
            <a:chExt cx="2859985" cy="6617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8A6BD9-9B65-97CB-2491-451E1C8ED826}"/>
                </a:ext>
              </a:extLst>
            </p:cNvPr>
            <p:cNvSpPr txBox="1"/>
            <p:nvPr/>
          </p:nvSpPr>
          <p:spPr>
            <a:xfrm>
              <a:off x="8150086" y="1749287"/>
              <a:ext cx="12763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/>
                <a:t>W</a:t>
              </a:r>
              <a:r>
                <a:rPr lang="en-GB" dirty="0"/>
                <a:t>N</a:t>
              </a:r>
              <a:r>
                <a:rPr lang="en-GB" sz="3200" dirty="0"/>
                <a:t>=e</a:t>
              </a:r>
              <a:endParaRPr lang="en-IN" sz="3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D37C5B-6191-64A1-74A6-686573E9648C}"/>
                </a:ext>
              </a:extLst>
            </p:cNvPr>
            <p:cNvSpPr txBox="1"/>
            <p:nvPr/>
          </p:nvSpPr>
          <p:spPr>
            <a:xfrm>
              <a:off x="9035497" y="1749287"/>
              <a:ext cx="1974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(-j2</a:t>
              </a:r>
              <a:r>
                <a:rPr lang="el-GR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π</a:t>
              </a:r>
              <a:r>
                <a:rPr lang="en-GB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/N)*n</a:t>
              </a:r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498573-FD4A-AFF7-F44B-2F0A4BEBA32B}"/>
                </a:ext>
              </a:extLst>
            </p:cNvPr>
            <p:cNvSpPr txBox="1"/>
            <p:nvPr/>
          </p:nvSpPr>
          <p:spPr>
            <a:xfrm>
              <a:off x="8488431" y="167234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688084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4" y="0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Properties of 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668B7B-F596-09C7-5861-DDE637145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91" y="2018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286CF-1740-C8F2-0A3D-4C6483563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027" y="1352550"/>
            <a:ext cx="4254747" cy="3643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045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4" y="0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Application of 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668B7B-F596-09C7-5861-DDE637145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91" y="2018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3628C-08FF-657C-B2E2-B5A997BEFF93}"/>
              </a:ext>
            </a:extLst>
          </p:cNvPr>
          <p:cNvSpPr txBox="1"/>
          <p:nvPr/>
        </p:nvSpPr>
        <p:spPr>
          <a:xfrm>
            <a:off x="1524000" y="794198"/>
            <a:ext cx="5210503" cy="2448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Signal analysis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Sound filtering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Data compression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Cross correlation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Matched filtering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System identification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Power spectrum estimation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Display signal and spectrum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152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Questions on DFT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437135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4A8B0-3C6A-05F9-3BF7-065DF323B1AD}"/>
              </a:ext>
            </a:extLst>
          </p:cNvPr>
          <p:cNvSpPr txBox="1"/>
          <p:nvPr/>
        </p:nvSpPr>
        <p:spPr>
          <a:xfrm>
            <a:off x="1073426" y="835190"/>
            <a:ext cx="10800522" cy="106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DCT is similar to the discrete Fourier transform: it transforms a signal or image from the spatial domain to the frequency domain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 only deals with Real values.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A2A48-6DF5-DB79-34FF-B5C3516B9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96" y="2486025"/>
            <a:ext cx="8733182" cy="26823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89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03BF4-B534-2DF5-BA57-005749BAD489}"/>
              </a:ext>
            </a:extLst>
          </p:cNvPr>
          <p:cNvSpPr txBox="1"/>
          <p:nvPr/>
        </p:nvSpPr>
        <p:spPr>
          <a:xfrm>
            <a:off x="1285459" y="642934"/>
            <a:ext cx="10641497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One-Dimensional DCT If we have one-D sequence of signal value of length N then its equivalent 1D-DCT can be expressed as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F97B3-FA9B-74D8-7A36-7B1398535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278" y="1081963"/>
            <a:ext cx="7169424" cy="25415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991636-585C-2D73-8F7A-6564726F125A}"/>
              </a:ext>
            </a:extLst>
          </p:cNvPr>
          <p:cNvSpPr txBox="1"/>
          <p:nvPr/>
        </p:nvSpPr>
        <p:spPr>
          <a:xfrm>
            <a:off x="1173024" y="3623464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1D-IDCT can be expressed as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33994F-184B-FE42-4CC5-FD4BC651B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70" y="3974006"/>
            <a:ext cx="6838121" cy="2541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0433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91636-585C-2D73-8F7A-6564726F125A}"/>
              </a:ext>
            </a:extLst>
          </p:cNvPr>
          <p:cNvSpPr txBox="1"/>
          <p:nvPr/>
        </p:nvSpPr>
        <p:spPr>
          <a:xfrm>
            <a:off x="430902" y="3517446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D-IDCT can be expressed as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008C8-24ED-349D-11DA-BF71B4D8A79A}"/>
              </a:ext>
            </a:extLst>
          </p:cNvPr>
          <p:cNvSpPr txBox="1"/>
          <p:nvPr/>
        </p:nvSpPr>
        <p:spPr>
          <a:xfrm>
            <a:off x="987493" y="601868"/>
            <a:ext cx="10343116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two-dimensional DCT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of an M-by-N matrix A is defined as follows: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FA0C2-A567-FC82-2085-2F23D2E4E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983" y="975945"/>
            <a:ext cx="9501807" cy="2647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819BB0-956C-B407-598C-8928A400C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380" y="3833899"/>
            <a:ext cx="7811856" cy="30241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083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4A1A-182F-1F37-2F15-6D97A59F4F09}"/>
              </a:ext>
            </a:extLst>
          </p:cNvPr>
          <p:cNvSpPr txBox="1"/>
          <p:nvPr/>
        </p:nvSpPr>
        <p:spPr>
          <a:xfrm>
            <a:off x="914400" y="707886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DCT Transform Matrix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D5E09D-2D14-729B-EBBE-16ED4BD34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52" y="992153"/>
            <a:ext cx="8017565" cy="3212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9CDB963-311B-7CB6-0D3B-47C51A77021F}"/>
              </a:ext>
            </a:extLst>
          </p:cNvPr>
          <p:cNvGrpSpPr/>
          <p:nvPr/>
        </p:nvGrpSpPr>
        <p:grpSpPr>
          <a:xfrm>
            <a:off x="4535867" y="4579170"/>
            <a:ext cx="4949066" cy="1570944"/>
            <a:chOff x="1457739" y="3918452"/>
            <a:chExt cx="4949066" cy="157094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0B3ABB-7B11-A72F-FE60-D3D3DABCC253}"/>
                </a:ext>
              </a:extLst>
            </p:cNvPr>
            <p:cNvSpPr txBox="1"/>
            <p:nvPr/>
          </p:nvSpPr>
          <p:spPr>
            <a:xfrm>
              <a:off x="1596266" y="3918452"/>
              <a:ext cx="4810539" cy="1570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0.5	   0.5	   0.5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0.653	0.2705	-0.2705  -0.653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-0.5	-0.5	   0.5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0.2705	-0.653	0.653	 -0.2705    4x4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1AB92C6E-CF3F-DAB6-C1EE-6F3CDE10E668}"/>
                </a:ext>
              </a:extLst>
            </p:cNvPr>
            <p:cNvSpPr/>
            <p:nvPr/>
          </p:nvSpPr>
          <p:spPr>
            <a:xfrm>
              <a:off x="1457739" y="3918453"/>
              <a:ext cx="277054" cy="157094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3" name="Right Bracket 12">
              <a:extLst>
                <a:ext uri="{FF2B5EF4-FFF2-40B4-BE49-F238E27FC236}">
                  <a16:creationId xmlns:a16="http://schemas.microsoft.com/office/drawing/2014/main" id="{1B2D7D9D-D498-F59A-6E8F-3312D8BDC8AE}"/>
                </a:ext>
              </a:extLst>
            </p:cNvPr>
            <p:cNvSpPr/>
            <p:nvPr/>
          </p:nvSpPr>
          <p:spPr>
            <a:xfrm>
              <a:off x="5062538" y="3918452"/>
              <a:ext cx="172071" cy="1570943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57227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4A1A-182F-1F37-2F15-6D97A59F4F09}"/>
              </a:ext>
            </a:extLst>
          </p:cNvPr>
          <p:cNvSpPr txBox="1"/>
          <p:nvPr/>
        </p:nvSpPr>
        <p:spPr>
          <a:xfrm>
            <a:off x="914400" y="707886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DCT Transform Matrix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D5E09D-2D14-729B-EBBE-16ED4BD34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52" y="992153"/>
            <a:ext cx="8017565" cy="3212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9CDB963-311B-7CB6-0D3B-47C51A77021F}"/>
              </a:ext>
            </a:extLst>
          </p:cNvPr>
          <p:cNvGrpSpPr/>
          <p:nvPr/>
        </p:nvGrpSpPr>
        <p:grpSpPr>
          <a:xfrm>
            <a:off x="914400" y="4205093"/>
            <a:ext cx="4949066" cy="1570944"/>
            <a:chOff x="1457739" y="3918452"/>
            <a:chExt cx="4949066" cy="157094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0B3ABB-7B11-A72F-FE60-D3D3DABCC253}"/>
                </a:ext>
              </a:extLst>
            </p:cNvPr>
            <p:cNvSpPr txBox="1"/>
            <p:nvPr/>
          </p:nvSpPr>
          <p:spPr>
            <a:xfrm>
              <a:off x="1596266" y="3918452"/>
              <a:ext cx="4810539" cy="1570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0.5	   0.5	   0.5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0.653	0.2705	-0.2705  -0.653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-0.5	-0.5	   0.5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0.2705	-0.653	0.653	 -0.2705    4x4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1AB92C6E-CF3F-DAB6-C1EE-6F3CDE10E668}"/>
                </a:ext>
              </a:extLst>
            </p:cNvPr>
            <p:cNvSpPr/>
            <p:nvPr/>
          </p:nvSpPr>
          <p:spPr>
            <a:xfrm>
              <a:off x="1457739" y="3918453"/>
              <a:ext cx="277054" cy="157094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3" name="Right Bracket 12">
              <a:extLst>
                <a:ext uri="{FF2B5EF4-FFF2-40B4-BE49-F238E27FC236}">
                  <a16:creationId xmlns:a16="http://schemas.microsoft.com/office/drawing/2014/main" id="{1B2D7D9D-D498-F59A-6E8F-3312D8BDC8AE}"/>
                </a:ext>
              </a:extLst>
            </p:cNvPr>
            <p:cNvSpPr/>
            <p:nvPr/>
          </p:nvSpPr>
          <p:spPr>
            <a:xfrm>
              <a:off x="5062538" y="3918452"/>
              <a:ext cx="172071" cy="1570943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D026F8C-A930-9C81-1739-0AF8BA6D9B29}"/>
              </a:ext>
            </a:extLst>
          </p:cNvPr>
          <p:cNvSpPr txBox="1"/>
          <p:nvPr/>
        </p:nvSpPr>
        <p:spPr>
          <a:xfrm>
            <a:off x="6155634" y="4205093"/>
            <a:ext cx="2409722" cy="1566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For 1D image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F=C.f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For 2D Image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F=C.f. C</a:t>
            </a:r>
            <a:r>
              <a:rPr lang="en-US" sz="1800" b="1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C8798-AB62-3410-060E-F90DC9A7C116}"/>
              </a:ext>
            </a:extLst>
          </p:cNvPr>
          <p:cNvSpPr txBox="1"/>
          <p:nvPr/>
        </p:nvSpPr>
        <p:spPr>
          <a:xfrm>
            <a:off x="6076121" y="56811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Since the DCT is not symmetric the C and C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not same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767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DC30C-DF63-3E5A-315E-077A515C0009}"/>
              </a:ext>
            </a:extLst>
          </p:cNvPr>
          <p:cNvSpPr txBox="1"/>
          <p:nvPr/>
        </p:nvSpPr>
        <p:spPr>
          <a:xfrm>
            <a:off x="1232452" y="822440"/>
            <a:ext cx="10469218" cy="136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Applications of DCT: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DCTs are widely used in encoding, decoding, video, audio, multiplexing and analog to digital conversion.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DCTs are also commonly used for High-definition Television (HDTV) encoder/decoder chips.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 is widely used in JPEG compression as well.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3E92C-D5B3-F2A9-F89D-B59CA60A4551}"/>
              </a:ext>
            </a:extLst>
          </p:cNvPr>
          <p:cNvSpPr txBox="1"/>
          <p:nvPr/>
        </p:nvSpPr>
        <p:spPr>
          <a:xfrm>
            <a:off x="1232452" y="2302752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Properties of DCT: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6C6791-04B6-7171-5D3F-90FF21246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287" y="2841079"/>
            <a:ext cx="3816626" cy="3453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4271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Questions on DCT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604925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351055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Hadamard Transform</a:t>
            </a:r>
            <a:endParaRPr lang="en-IN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99948-6B45-C1BE-C903-861311FC03C2}"/>
              </a:ext>
            </a:extLst>
          </p:cNvPr>
          <p:cNvSpPr txBox="1"/>
          <p:nvPr/>
        </p:nvSpPr>
        <p:spPr>
          <a:xfrm>
            <a:off x="861390" y="707886"/>
            <a:ext cx="111715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The Hadamard transform, named after the French mathematician Jacques Hadamard, is a mathematical operation that transforms a set of data into a different representation.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is 1D non sinusoidal signal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is transform for the complete set of orthogonal square functions.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Its coefficient are real and lies between -1 to +1.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31B63-EB77-2C9B-7DDA-BE488CFBF5F2}"/>
              </a:ext>
            </a:extLst>
          </p:cNvPr>
          <p:cNvSpPr txBox="1"/>
          <p:nvPr/>
        </p:nvSpPr>
        <p:spPr>
          <a:xfrm>
            <a:off x="1019145" y="2185214"/>
            <a:ext cx="90909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Application of Hadamard in Image processing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Image Compression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Denoising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Image Watermarking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Pattern Recognition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Image Encryption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Image Equalization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C011E-A3CA-AFBB-2015-C9168316A494}"/>
              </a:ext>
            </a:extLst>
          </p:cNvPr>
          <p:cNvSpPr txBox="1"/>
          <p:nvPr/>
        </p:nvSpPr>
        <p:spPr>
          <a:xfrm>
            <a:off x="1019145" y="4216539"/>
            <a:ext cx="43479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Properties of Hadamard Transform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Orthogonality: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Symmetry: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Self-Invertibility: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Binary Nature: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Efficiency in Matrix Multiplication: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Good Spread of Values:</a:t>
            </a:r>
          </a:p>
        </p:txBody>
      </p:sp>
    </p:spTree>
    <p:extLst>
      <p:ext uri="{BB962C8B-B14F-4D97-AF65-F5344CB8AC3E}">
        <p14:creationId xmlns:p14="http://schemas.microsoft.com/office/powerpoint/2010/main" val="385839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8672E-6986-5E50-826B-BE2AC48ACD1B}"/>
              </a:ext>
            </a:extLst>
          </p:cNvPr>
          <p:cNvSpPr txBox="1"/>
          <p:nvPr/>
        </p:nvSpPr>
        <p:spPr>
          <a:xfrm>
            <a:off x="927652" y="371061"/>
            <a:ext cx="4018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The 1D Hadamard transform is given by:</a:t>
            </a:r>
          </a:p>
          <a:p>
            <a:pPr algn="ctr"/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8CC68-6C99-E887-3F56-1451CD68D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991" y="1007427"/>
            <a:ext cx="9647583" cy="5260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2985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8672E-6986-5E50-826B-BE2AC48ACD1B}"/>
              </a:ext>
            </a:extLst>
          </p:cNvPr>
          <p:cNvSpPr txBox="1"/>
          <p:nvPr/>
        </p:nvSpPr>
        <p:spPr>
          <a:xfrm>
            <a:off x="602983" y="371061"/>
            <a:ext cx="4667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The 1D Hadamard transform kernel is given by:</a:t>
            </a:r>
          </a:p>
          <a:p>
            <a:pPr algn="ctr"/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AEFC7-F50D-D15A-C54E-F32B7C00C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278" y="1113183"/>
            <a:ext cx="9435548" cy="4426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8957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8672E-6986-5E50-826B-BE2AC48ACD1B}"/>
              </a:ext>
            </a:extLst>
          </p:cNvPr>
          <p:cNvSpPr txBox="1"/>
          <p:nvPr/>
        </p:nvSpPr>
        <p:spPr>
          <a:xfrm>
            <a:off x="602983" y="371061"/>
            <a:ext cx="4667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The 2D Hadamard transform kernel is given by:</a:t>
            </a:r>
          </a:p>
          <a:p>
            <a:pPr algn="ctr"/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5C86E-5771-868F-D813-274A1BA96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3" y="1017392"/>
            <a:ext cx="10124660" cy="5356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2326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8672E-6986-5E50-826B-BE2AC48ACD1B}"/>
              </a:ext>
            </a:extLst>
          </p:cNvPr>
          <p:cNvSpPr txBox="1"/>
          <p:nvPr/>
        </p:nvSpPr>
        <p:spPr>
          <a:xfrm>
            <a:off x="3525078" y="26504"/>
            <a:ext cx="558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Deriving the Hadamard transform kernel of order N=2:</a:t>
            </a:r>
          </a:p>
          <a:p>
            <a:pPr algn="ctr"/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F83D8-2C93-3E67-33E1-4CD4123A0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09" y="349669"/>
            <a:ext cx="10495721" cy="2947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D77DFB-5980-62AE-32AB-7128C2CD5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09" y="3429000"/>
            <a:ext cx="10495721" cy="28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73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0959D2-D141-16F4-FD07-EA2A3FC2E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52" y="596349"/>
            <a:ext cx="10349948" cy="454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99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B1713-1E38-96D3-C8F0-B1DB0D683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91" y="409153"/>
            <a:ext cx="10681251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10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72F0D7-C414-64EC-5E87-44982BAD2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97565"/>
            <a:ext cx="10681251" cy="583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32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9E061-73B2-735B-5F7B-F83302404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69" y="349669"/>
            <a:ext cx="10429461" cy="4744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2E987A-E3E0-D5B4-36B7-61B50EC494C2}"/>
              </a:ext>
            </a:extLst>
          </p:cNvPr>
          <p:cNvSpPr txBox="1"/>
          <p:nvPr/>
        </p:nvSpPr>
        <p:spPr>
          <a:xfrm>
            <a:off x="3625265" y="26504"/>
            <a:ext cx="5383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Deriving the Hadamard transform kernel of order N=4:</a:t>
            </a:r>
          </a:p>
          <a:p>
            <a:pPr algn="ctr"/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DC957-F90F-A62A-DD41-9D0FA4BB9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69" y="5119880"/>
            <a:ext cx="10429461" cy="171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78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2E987A-E3E0-D5B4-36B7-61B50EC494C2}"/>
              </a:ext>
            </a:extLst>
          </p:cNvPr>
          <p:cNvSpPr txBox="1"/>
          <p:nvPr/>
        </p:nvSpPr>
        <p:spPr>
          <a:xfrm>
            <a:off x="3625265" y="26504"/>
            <a:ext cx="5383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Deriving the Hadamard transform kernel of order N=4:</a:t>
            </a:r>
          </a:p>
          <a:p>
            <a:pPr algn="ctr"/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CB9FC-05EE-DDC9-A219-0CD43B8FB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02" y="1277321"/>
            <a:ext cx="11047795" cy="275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45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2E987A-E3E0-D5B4-36B7-61B50EC494C2}"/>
              </a:ext>
            </a:extLst>
          </p:cNvPr>
          <p:cNvSpPr txBox="1"/>
          <p:nvPr/>
        </p:nvSpPr>
        <p:spPr>
          <a:xfrm>
            <a:off x="3625265" y="26504"/>
            <a:ext cx="5383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Deriving the Hadamard transform kernel of order N=4:</a:t>
            </a:r>
          </a:p>
          <a:p>
            <a:pPr algn="ctr"/>
            <a:endParaRPr lang="en-I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553688-F063-CCC9-C4F7-D57BF3FE5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02" y="382925"/>
            <a:ext cx="11275341" cy="60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92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2E987A-E3E0-D5B4-36B7-61B50EC494C2}"/>
              </a:ext>
            </a:extLst>
          </p:cNvPr>
          <p:cNvSpPr txBox="1"/>
          <p:nvPr/>
        </p:nvSpPr>
        <p:spPr>
          <a:xfrm>
            <a:off x="3625265" y="26504"/>
            <a:ext cx="5383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Deriving the Hadamard transform kernel of order N=4:</a:t>
            </a:r>
          </a:p>
          <a:p>
            <a:pPr algn="ctr"/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94221-FEB7-90F1-B461-257CF9FB1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83" y="503583"/>
            <a:ext cx="10774017" cy="613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6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17698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Hadamard Transform</a:t>
            </a:r>
            <a:endParaRPr lang="en-IN" sz="40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790C21-4D96-C1E7-3E71-9D197423EE40}"/>
              </a:ext>
            </a:extLst>
          </p:cNvPr>
          <p:cNvGrpSpPr/>
          <p:nvPr/>
        </p:nvGrpSpPr>
        <p:grpSpPr>
          <a:xfrm>
            <a:off x="4054129" y="1325338"/>
            <a:ext cx="2611714" cy="1185341"/>
            <a:chOff x="1562721" y="3887915"/>
            <a:chExt cx="2611714" cy="11853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38847A-1FDF-C6F6-A271-64C679AFF305}"/>
                </a:ext>
              </a:extLst>
            </p:cNvPr>
            <p:cNvSpPr txBox="1"/>
            <p:nvPr/>
          </p:nvSpPr>
          <p:spPr>
            <a:xfrm>
              <a:off x="1596266" y="3918452"/>
              <a:ext cx="2578169" cy="1069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	</a:t>
              </a:r>
            </a:p>
            <a:p>
              <a:pPr marL="342900" indent="-342900">
                <a:lnSpc>
                  <a:spcPct val="107000"/>
                </a:lnSpc>
                <a:spcAft>
                  <a:spcPts val="800"/>
                </a:spcAft>
                <a:buAutoNum type="arabicPlain"/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      -1       2</a:t>
              </a:r>
              <a:r>
                <a: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x2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5" name="Left Bracket 4">
              <a:extLst>
                <a:ext uri="{FF2B5EF4-FFF2-40B4-BE49-F238E27FC236}">
                  <a16:creationId xmlns:a16="http://schemas.microsoft.com/office/drawing/2014/main" id="{DC02ADA5-7A10-98A2-8F3E-035571BFC4A8}"/>
                </a:ext>
              </a:extLst>
            </p:cNvPr>
            <p:cNvSpPr/>
            <p:nvPr/>
          </p:nvSpPr>
          <p:spPr>
            <a:xfrm>
              <a:off x="1562721" y="3918454"/>
              <a:ext cx="172072" cy="1154802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6" name="Right Bracket 5">
              <a:extLst>
                <a:ext uri="{FF2B5EF4-FFF2-40B4-BE49-F238E27FC236}">
                  <a16:creationId xmlns:a16="http://schemas.microsoft.com/office/drawing/2014/main" id="{0ECE5215-E0A3-0698-6195-D95FD8F5332C}"/>
                </a:ext>
              </a:extLst>
            </p:cNvPr>
            <p:cNvSpPr/>
            <p:nvPr/>
          </p:nvSpPr>
          <p:spPr>
            <a:xfrm>
              <a:off x="2885350" y="3887915"/>
              <a:ext cx="172072" cy="1185341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559EEF0-44E8-4852-822D-E128E8C90665}"/>
              </a:ext>
            </a:extLst>
          </p:cNvPr>
          <p:cNvSpPr txBox="1"/>
          <p:nvPr/>
        </p:nvSpPr>
        <p:spPr>
          <a:xfrm>
            <a:off x="1452152" y="1789372"/>
            <a:ext cx="2060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Order of N=2 i.e. H=</a:t>
            </a:r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85BCA5-B1A3-A879-676D-7C36416FEFC3}"/>
              </a:ext>
            </a:extLst>
          </p:cNvPr>
          <p:cNvGrpSpPr/>
          <p:nvPr/>
        </p:nvGrpSpPr>
        <p:grpSpPr>
          <a:xfrm>
            <a:off x="4087674" y="2985841"/>
            <a:ext cx="2611714" cy="1185341"/>
            <a:chOff x="1562721" y="3887915"/>
            <a:chExt cx="2611714" cy="11853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51F119-53E1-D9C7-0805-BED1CE8AEB1A}"/>
                </a:ext>
              </a:extLst>
            </p:cNvPr>
            <p:cNvSpPr txBox="1"/>
            <p:nvPr/>
          </p:nvSpPr>
          <p:spPr>
            <a:xfrm>
              <a:off x="1596266" y="3918452"/>
              <a:ext cx="2578169" cy="1069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H2	H2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H2          -H2    2</a:t>
              </a:r>
              <a:r>
                <a: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x2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0" name="Left Bracket 9">
              <a:extLst>
                <a:ext uri="{FF2B5EF4-FFF2-40B4-BE49-F238E27FC236}">
                  <a16:creationId xmlns:a16="http://schemas.microsoft.com/office/drawing/2014/main" id="{4B536577-0EF6-3D9E-00A7-27D632D25642}"/>
                </a:ext>
              </a:extLst>
            </p:cNvPr>
            <p:cNvSpPr/>
            <p:nvPr/>
          </p:nvSpPr>
          <p:spPr>
            <a:xfrm>
              <a:off x="1562721" y="3918454"/>
              <a:ext cx="172072" cy="1154802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1" name="Right Bracket 10">
              <a:extLst>
                <a:ext uri="{FF2B5EF4-FFF2-40B4-BE49-F238E27FC236}">
                  <a16:creationId xmlns:a16="http://schemas.microsoft.com/office/drawing/2014/main" id="{BFCE2F89-F61E-09BE-F7AB-8B131BE02580}"/>
                </a:ext>
              </a:extLst>
            </p:cNvPr>
            <p:cNvSpPr/>
            <p:nvPr/>
          </p:nvSpPr>
          <p:spPr>
            <a:xfrm>
              <a:off x="2885350" y="3887915"/>
              <a:ext cx="172072" cy="1185341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AF41E1D-BDAF-A0FD-7A70-16C8ACD6C412}"/>
              </a:ext>
            </a:extLst>
          </p:cNvPr>
          <p:cNvSpPr txBox="1"/>
          <p:nvPr/>
        </p:nvSpPr>
        <p:spPr>
          <a:xfrm>
            <a:off x="1452152" y="3429000"/>
            <a:ext cx="2060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Order of N=4 i.e. H=</a:t>
            </a: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408284-A1F4-74EA-69D1-D92D78FEED84}"/>
              </a:ext>
            </a:extLst>
          </p:cNvPr>
          <p:cNvGrpSpPr/>
          <p:nvPr/>
        </p:nvGrpSpPr>
        <p:grpSpPr>
          <a:xfrm>
            <a:off x="7209722" y="2828194"/>
            <a:ext cx="4949066" cy="1570944"/>
            <a:chOff x="1457739" y="3918452"/>
            <a:chExt cx="4949066" cy="157094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D75EC9-98EF-9F74-367B-5238F05D096F}"/>
                </a:ext>
              </a:extLst>
            </p:cNvPr>
            <p:cNvSpPr txBox="1"/>
            <p:nvPr/>
          </p:nvSpPr>
          <p:spPr>
            <a:xfrm>
              <a:off x="1596266" y="3918452"/>
              <a:ext cx="4810539" cy="1570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-1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        -1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-1	  -1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-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-1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      4x4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4C6F8F79-18A9-92DF-3F49-B8AE1A925AB0}"/>
                </a:ext>
              </a:extLst>
            </p:cNvPr>
            <p:cNvSpPr/>
            <p:nvPr/>
          </p:nvSpPr>
          <p:spPr>
            <a:xfrm>
              <a:off x="1457739" y="3918453"/>
              <a:ext cx="277054" cy="157094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6" name="Right Bracket 15">
              <a:extLst>
                <a:ext uri="{FF2B5EF4-FFF2-40B4-BE49-F238E27FC236}">
                  <a16:creationId xmlns:a16="http://schemas.microsoft.com/office/drawing/2014/main" id="{4DC9FB94-920A-820F-1586-1B9CC7CFF70A}"/>
                </a:ext>
              </a:extLst>
            </p:cNvPr>
            <p:cNvSpPr/>
            <p:nvPr/>
          </p:nvSpPr>
          <p:spPr>
            <a:xfrm>
              <a:off x="5062538" y="3918452"/>
              <a:ext cx="172071" cy="1570943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47C98F7-5940-B026-4217-B4DDF7B1C874}"/>
              </a:ext>
            </a:extLst>
          </p:cNvPr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78CCBF-0FF6-8C79-A70C-1E9F5E6C0AE9}"/>
              </a:ext>
            </a:extLst>
          </p:cNvPr>
          <p:cNvSpPr txBox="1"/>
          <p:nvPr/>
        </p:nvSpPr>
        <p:spPr>
          <a:xfrm>
            <a:off x="3360438" y="1789360"/>
            <a:ext cx="98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</a:t>
            </a:r>
            <a:r>
              <a:rPr lang="en-IN" dirty="0"/>
              <a:t>√2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98D0C8-6F9A-9A11-3319-EAE3A359053D}"/>
              </a:ext>
            </a:extLst>
          </p:cNvPr>
          <p:cNvSpPr txBox="1"/>
          <p:nvPr/>
        </p:nvSpPr>
        <p:spPr>
          <a:xfrm>
            <a:off x="3389603" y="3429000"/>
            <a:ext cx="623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1/</a:t>
            </a:r>
            <a:r>
              <a:rPr lang="en-IN" dirty="0"/>
              <a:t>√4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7CDD7E-08EB-0069-6E66-8859349DA041}"/>
              </a:ext>
            </a:extLst>
          </p:cNvPr>
          <p:cNvSpPr txBox="1"/>
          <p:nvPr/>
        </p:nvSpPr>
        <p:spPr>
          <a:xfrm>
            <a:off x="6462372" y="3578935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1/</a:t>
            </a:r>
            <a:r>
              <a:rPr lang="en-IN" dirty="0"/>
              <a:t>√4</a:t>
            </a:r>
          </a:p>
        </p:txBody>
      </p:sp>
    </p:spTree>
    <p:extLst>
      <p:ext uri="{BB962C8B-B14F-4D97-AF65-F5344CB8AC3E}">
        <p14:creationId xmlns:p14="http://schemas.microsoft.com/office/powerpoint/2010/main" val="220931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445327" y="17698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Haar Transform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7C98F7-5940-B026-4217-B4DDF7B1C874}"/>
              </a:ext>
            </a:extLst>
          </p:cNvPr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E94F6D-CC6B-5BEE-7BE1-7F60C359BF99}"/>
              </a:ext>
            </a:extLst>
          </p:cNvPr>
          <p:cNvSpPr txBox="1"/>
          <p:nvPr/>
        </p:nvSpPr>
        <p:spPr>
          <a:xfrm>
            <a:off x="861392" y="884866"/>
            <a:ext cx="109065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The Haar transform is a mathematical transformation technique used in signal processing and image analysis.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is a type of wavelet transform that represents a signal or an image in terms of its local variations, allowing for a multi-resolution analysis.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was proposed by Haar in 1910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The Haar matrix or kernel is consist of +1,-1,0 and multiplied by </a:t>
            </a:r>
            <a:r>
              <a:rPr lang="en-IN" dirty="0"/>
              <a:t>√2 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DDF4F-168D-FF8E-6191-235F344FCB14}"/>
              </a:ext>
            </a:extLst>
          </p:cNvPr>
          <p:cNvSpPr txBox="1"/>
          <p:nvPr/>
        </p:nvSpPr>
        <p:spPr>
          <a:xfrm>
            <a:off x="861392" y="257811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Properties of Haar transform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Orthogonality: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Simple Basis Functions: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Localization in Time and Frequency: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Energy Compaction: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Fast Implementation: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 Non Sinusoidal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0781A8-8ADA-6F6E-93B3-3639C618906E}"/>
              </a:ext>
            </a:extLst>
          </p:cNvPr>
          <p:cNvSpPr txBox="1"/>
          <p:nvPr/>
        </p:nvSpPr>
        <p:spPr>
          <a:xfrm>
            <a:off x="7182679" y="2639192"/>
            <a:ext cx="42539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Applications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Image Compression: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Signal Compression: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Edge Detection: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Biometric Authentication: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Data Denoising: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Medical Imaging: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Video Compression:</a:t>
            </a:r>
          </a:p>
        </p:txBody>
      </p:sp>
    </p:spTree>
    <p:extLst>
      <p:ext uri="{BB962C8B-B14F-4D97-AF65-F5344CB8AC3E}">
        <p14:creationId xmlns:p14="http://schemas.microsoft.com/office/powerpoint/2010/main" val="4221850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47C98F7-5940-B026-4217-B4DDF7B1C874}"/>
              </a:ext>
            </a:extLst>
          </p:cNvPr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9CB9D-B017-F914-0AD0-4A973E530E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9" t="1957" r="3212" b="6956"/>
          <a:stretch/>
        </p:blipFill>
        <p:spPr>
          <a:xfrm>
            <a:off x="945170" y="556592"/>
            <a:ext cx="10787271" cy="555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63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47C98F7-5940-B026-4217-B4DDF7B1C874}"/>
              </a:ext>
            </a:extLst>
          </p:cNvPr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A28C3-6653-B512-AFAC-603F7A0C92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" t="6548" r="4456" b="9739"/>
          <a:stretch/>
        </p:blipFill>
        <p:spPr>
          <a:xfrm>
            <a:off x="424070" y="450574"/>
            <a:ext cx="11224591" cy="573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416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47C98F7-5940-B026-4217-B4DDF7B1C874}"/>
              </a:ext>
            </a:extLst>
          </p:cNvPr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16062-E0AC-1B1C-B164-0E2D565569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" t="10995" r="4782" b="16312"/>
          <a:stretch/>
        </p:blipFill>
        <p:spPr>
          <a:xfrm>
            <a:off x="636104" y="755374"/>
            <a:ext cx="10972800" cy="498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6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47C98F7-5940-B026-4217-B4DDF7B1C874}"/>
              </a:ext>
            </a:extLst>
          </p:cNvPr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C49F2-1B47-C97F-D264-F75C09338B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" t="6742" r="3261" b="8773"/>
          <a:stretch/>
        </p:blipFill>
        <p:spPr>
          <a:xfrm>
            <a:off x="483704" y="291548"/>
            <a:ext cx="1141012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70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9EFB5-C5EE-E5F9-FF6C-D77A24F88E12}"/>
              </a:ext>
            </a:extLst>
          </p:cNvPr>
          <p:cNvSpPr txBox="1"/>
          <p:nvPr/>
        </p:nvSpPr>
        <p:spPr>
          <a:xfrm>
            <a:off x="404299" y="661169"/>
            <a:ext cx="114763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/>
              <a:t>The Fast Fourier Transform (FFT) is an algorithm for efficiently computing the discrete Fourier transform (DFT) and its inverse.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/>
              <a:t>The FFT algorithm was developed to significantly reduce the computation time required for the DFT, especially for large input sizes.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/>
              <a:t>FFT is a DFT which reduces the number of computations needed for points </a:t>
            </a:r>
            <a:r>
              <a:rPr lang="en-US" altLang="en-US"/>
              <a:t>from 2N     </a:t>
            </a:r>
            <a:r>
              <a:rPr lang="en-US" altLang="en-US" dirty="0"/>
              <a:t>to 2NlogN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693C2-9680-CFDA-DFE5-09CBA5103EC3}"/>
              </a:ext>
            </a:extLst>
          </p:cNvPr>
          <p:cNvSpPr txBox="1"/>
          <p:nvPr/>
        </p:nvSpPr>
        <p:spPr>
          <a:xfrm>
            <a:off x="4568662" y="92765"/>
            <a:ext cx="3147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Fast Fourier Transform (FFT)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CACEB-6A18-6DF9-E16F-66833D289995}"/>
              </a:ext>
            </a:extLst>
          </p:cNvPr>
          <p:cNvSpPr txBox="1"/>
          <p:nvPr/>
        </p:nvSpPr>
        <p:spPr>
          <a:xfrm>
            <a:off x="765734" y="2608896"/>
            <a:ext cx="533026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dirty="0"/>
              <a:t>Properties of FFT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Computational Efficiency: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Divide-and-Conquer Strategy: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Orthogonality: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Linearity: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Efficiency Across Multiple Platforms: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Applications in Real and Complex Domains: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Applications in Signal and Image Processing: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63D886-7729-BDFB-2588-20EAB4C2CFFB}"/>
              </a:ext>
            </a:extLst>
          </p:cNvPr>
          <p:cNvSpPr txBox="1"/>
          <p:nvPr/>
        </p:nvSpPr>
        <p:spPr>
          <a:xfrm>
            <a:off x="7076662" y="2686627"/>
            <a:ext cx="37238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dirty="0"/>
              <a:t>Application of FFT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Signal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Audio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Image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Communication Systems: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Control Systems: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Vibration Analysis: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Speech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/>
              <a:t>Scientific Research:</a:t>
            </a:r>
          </a:p>
        </p:txBody>
      </p:sp>
      <p:sp>
        <p:nvSpPr>
          <p:cNvPr id="11" name="AutoShape 2" descr="N">
            <a:extLst>
              <a:ext uri="{FF2B5EF4-FFF2-40B4-BE49-F238E27FC236}">
                <a16:creationId xmlns:a16="http://schemas.microsoft.com/office/drawing/2014/main" id="{E71DB726-2EF9-8B76-D109-E60593FBA9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26425" y="132522"/>
            <a:ext cx="1333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3" descr="2N^2">
            <a:extLst>
              <a:ext uri="{FF2B5EF4-FFF2-40B4-BE49-F238E27FC236}">
                <a16:creationId xmlns:a16="http://schemas.microsoft.com/office/drawing/2014/main" id="{A1483B57-2B99-80D7-06B8-B2C3EEF80E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74175" y="132522"/>
            <a:ext cx="3238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4" descr="2NlgN">
            <a:extLst>
              <a:ext uri="{FF2B5EF4-FFF2-40B4-BE49-F238E27FC236}">
                <a16:creationId xmlns:a16="http://schemas.microsoft.com/office/drawing/2014/main" id="{39A49115-C4D3-55A6-C110-B6FCD731A7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86950" y="132522"/>
            <a:ext cx="6000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AutoShape 7" descr="2NlgN">
            <a:extLst>
              <a:ext uri="{FF2B5EF4-FFF2-40B4-BE49-F238E27FC236}">
                <a16:creationId xmlns:a16="http://schemas.microsoft.com/office/drawing/2014/main" id="{BDD2BC60-F050-8D2A-4331-8F0CBDACE9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6366" y="594954"/>
            <a:ext cx="6000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87D5AD-A42D-4FB0-DC53-7216D752C786}"/>
              </a:ext>
            </a:extLst>
          </p:cNvPr>
          <p:cNvSpPr txBox="1"/>
          <p:nvPr/>
        </p:nvSpPr>
        <p:spPr>
          <a:xfrm>
            <a:off x="8452540" y="1658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059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End of UNIT 3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955559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1454</Words>
  <Application>Microsoft Office PowerPoint</Application>
  <PresentationFormat>Widescreen</PresentationFormat>
  <Paragraphs>209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UNIT 3 Image Enhancement in Frequency Domain</vt:lpstr>
      <vt:lpstr>OUTLINES</vt:lpstr>
      <vt:lpstr>Introduction to Fourier Transform and the frequency Domain</vt:lpstr>
      <vt:lpstr>IMAGE ENHANCEMENT IN FREQUENCY DOMAIN</vt:lpstr>
      <vt:lpstr>FOURIER TRANSFORMATION</vt:lpstr>
      <vt:lpstr>FOURIER TRANSFORMATION</vt:lpstr>
      <vt:lpstr>Properties Fourier Transformation</vt:lpstr>
      <vt:lpstr>Discrete Fourier Transform</vt:lpstr>
      <vt:lpstr>Discrete Fourier Transform</vt:lpstr>
      <vt:lpstr>Discrete Fourier Transform</vt:lpstr>
      <vt:lpstr>Discrete Fourier Transform</vt:lpstr>
      <vt:lpstr>Discrete Fourier Transform</vt:lpstr>
      <vt:lpstr>Properties of Discrete Fourier Transform</vt:lpstr>
      <vt:lpstr>Application of Discrete Fourier Transform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Harandra Bikram Shah</cp:lastModifiedBy>
  <cp:revision>106</cp:revision>
  <dcterms:created xsi:type="dcterms:W3CDTF">2022-01-19T17:25:10Z</dcterms:created>
  <dcterms:modified xsi:type="dcterms:W3CDTF">2023-12-11T16:02:53Z</dcterms:modified>
</cp:coreProperties>
</file>