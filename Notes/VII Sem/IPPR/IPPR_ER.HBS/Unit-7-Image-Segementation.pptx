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5" r:id="rId9"/>
    <p:sldId id="274" r:id="rId10"/>
    <p:sldId id="276" r:id="rId11"/>
    <p:sldId id="277" r:id="rId12"/>
    <p:sldId id="279" r:id="rId13"/>
    <p:sldId id="278" r:id="rId14"/>
    <p:sldId id="261" r:id="rId15"/>
    <p:sldId id="280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9E45-218D-4736-A94E-DBABC206C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CFE85-4FC5-4F32-B48F-682DC11D6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A8075-68C4-433B-9488-C7C1C743F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CC761-36B0-423D-ABCC-A11E10D1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36D7-8F25-49FE-A4CF-E13E849C5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43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A93E-CBBF-4B5F-BA8B-204A5810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CE6D-5D95-448E-B0C3-4300400C6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E22B0-3ECE-4B17-98D6-665B445A1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F7A4A-1F35-4B9E-BB9D-5B372E10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F1D89-4E58-43DE-B2F6-ECEB476C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75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ADA2-D1BD-47CF-BC16-DF9D5680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665E9-A983-41A5-93B0-A8506D8CC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EC31C-803C-48A0-908A-2EC3107F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9A9A-9E8E-4054-9846-F8E1037F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CE04D-2F90-4B26-B823-FC0220A7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43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7691-08DC-41C0-B0B7-49FBA34AF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AF8EA-A217-4D71-B986-C3B8CCE8B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4FF8B-9B70-4E46-BBD0-1B5ECB92E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CAADD-9479-447F-9E57-A7C3E85B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45A16-0488-4F5C-94B2-60A8E9B81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CA3EB-C7C0-44CA-8ADA-72317DA3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96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DF38-2D55-4FA9-A87A-F435CEA8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0982F-8524-429A-BF6B-19A27F256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BF808-F5E4-440C-95D4-B5FB33DBE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2A862D-1154-4578-9674-98515B633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D3109F-5BDA-4C4F-AC10-49C87F939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93F01-373D-40FB-A7D9-D54E8323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B14C2E-F303-4215-B726-A874E2EC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E11589-3689-4645-AD08-1BEE8352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18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E01D-6704-4B70-A8E8-230790E35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48BE0-AA72-4A69-896A-944308D2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C2BC1-F65C-4288-9BB3-3311001B3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BC957-2294-4B3E-BE15-2BDF9CCC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5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7BAA3-BF2B-494D-9EA5-A023EAA7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437D4-0171-4CFB-912C-47559486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E9517-341F-4076-8F07-CA1D9917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3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39F4-94A0-4EB1-A7A4-F911C210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7A968-F639-47D5-BCD1-140926916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EEE2F-AF9F-4283-A655-6FE82835E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A53CA-D7DB-40A5-B599-BC6F7C45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509B2-7F8B-4131-96B5-6B45BE93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854B3-69E0-4747-931D-0EB8EE9B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02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0C60-CB91-4BEF-8F49-E4C2360E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D4881-5995-4FF8-A07B-FBA9931DC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D09ED-D391-4C81-9919-ABAB92D43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DA1D6-62AD-470A-9975-E937A9E7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BCB70-198D-4E26-99CC-548BD0D3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D43D5-2D40-4046-9CB4-DF287F12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726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C50E-CA58-41EC-BE14-8EF4B3FF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936E3-5659-41BB-A14A-8FE9D4EB5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EC035-6D1E-497F-A752-E8ABE190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09921-C523-453C-B901-83F7F1F4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200AC-24A8-4F87-9F88-C0A7ADB2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29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26549-A4DF-4E9E-AE22-DA1C27985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C957C-9BAB-47CD-A966-65C0E11E1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41042-9FFD-45D8-AA0D-BF5E36A0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5232B-7227-4F05-A02A-DC973BE7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B945B-BB9C-4C58-8935-F96B3F0C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952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FB3BF1-BEF8-4446-BC16-E2D45246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4B4E3-60E0-4FCE-AE34-3B0AF08C9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D4E0-364C-4F2F-B7A7-A45EB6ED3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0407-A62C-4F9F-81B0-AD88C14A10BA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13F30-644B-428A-AA93-62E9DB5EA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D493C-868C-4536-A04C-0D2A18B2A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76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926B-510D-4EEF-8CB0-72FAA5095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482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Unit 7</a:t>
            </a:r>
            <a:br>
              <a:rPr lang="en-GB" b="1" dirty="0"/>
            </a:br>
            <a:r>
              <a:rPr lang="en-GB" b="1" dirty="0"/>
              <a:t>IMAGE SEGMENTATION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85328-794F-4222-B84E-CD1271172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92570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rgbClr val="FF0000"/>
                </a:solidFill>
              </a:rPr>
              <a:t>Presented By</a:t>
            </a:r>
          </a:p>
          <a:p>
            <a:r>
              <a:rPr lang="en-GB" dirty="0">
                <a:solidFill>
                  <a:srgbClr val="FF0000"/>
                </a:solidFill>
              </a:rPr>
              <a:t>Er.Harendra Bikram Shah</a:t>
            </a:r>
          </a:p>
          <a:p>
            <a:r>
              <a:rPr lang="en-GB" dirty="0">
                <a:solidFill>
                  <a:srgbClr val="FF0000"/>
                </a:solidFill>
              </a:rPr>
              <a:t>(Lecturer)</a:t>
            </a:r>
          </a:p>
          <a:p>
            <a:r>
              <a:rPr lang="en-GB" dirty="0">
                <a:solidFill>
                  <a:srgbClr val="FF0000"/>
                </a:solidFill>
              </a:rPr>
              <a:t>Department of Computer Engineering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52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b="1" dirty="0"/>
              <a:t>OUTLINES</a:t>
            </a:r>
            <a:endParaRPr lang="en-IN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8E1A1-9C72-43A1-8B12-1D16A8287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24" y="1825625"/>
            <a:ext cx="10515600" cy="1603375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 Introduction to Image Segmentation</a:t>
            </a:r>
          </a:p>
          <a:p>
            <a:r>
              <a:rPr lang="en-GB" dirty="0"/>
              <a:t>Types of Image Segmentation</a:t>
            </a:r>
          </a:p>
          <a:p>
            <a:r>
              <a:rPr lang="en-GB" dirty="0"/>
              <a:t>Edge or Boundary Linking and Detection</a:t>
            </a:r>
          </a:p>
          <a:p>
            <a:r>
              <a:rPr lang="en-GB" dirty="0"/>
              <a:t>Spot and Line Detection </a:t>
            </a:r>
          </a:p>
        </p:txBody>
      </p:sp>
    </p:spTree>
    <p:extLst>
      <p:ext uri="{BB962C8B-B14F-4D97-AF65-F5344CB8AC3E}">
        <p14:creationId xmlns:p14="http://schemas.microsoft.com/office/powerpoint/2010/main" val="3675384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/>
              <a:t>Introduction to Image Segmentation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D391A-F1CB-3275-6513-0DF3C9C20267}"/>
              </a:ext>
            </a:extLst>
          </p:cNvPr>
          <p:cNvSpPr txBox="1"/>
          <p:nvPr/>
        </p:nvSpPr>
        <p:spPr>
          <a:xfrm>
            <a:off x="1012873" y="928468"/>
            <a:ext cx="108461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/>
              <a:t>Image segmentation is a task that involves dividing an image into meaningful and distinct regions or segments.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/>
              <a:t>The goal is to simplify or change the representation of an image into something that is more meaningful and easier to analyze.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dirty="0"/>
              <a:t>Image segmentation on the basis of two properties:</a:t>
            </a:r>
          </a:p>
          <a:p>
            <a:pPr algn="just"/>
            <a:r>
              <a:rPr lang="en-IN" b="1" dirty="0"/>
              <a:t>discontinuity </a:t>
            </a:r>
          </a:p>
          <a:p>
            <a:pPr algn="just"/>
            <a:r>
              <a:rPr lang="en-IN" b="1" dirty="0"/>
              <a:t>similarity</a:t>
            </a:r>
          </a:p>
        </p:txBody>
      </p:sp>
      <p:pic>
        <p:nvPicPr>
          <p:cNvPr id="1026" name="Picture 2" descr="Segmentation (Image Processing)">
            <a:extLst>
              <a:ext uri="{FF2B5EF4-FFF2-40B4-BE49-F238E27FC236}">
                <a16:creationId xmlns:a16="http://schemas.microsoft.com/office/drawing/2014/main" id="{C54B8749-5ECB-7A27-4974-581C4D688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02" y="2405796"/>
            <a:ext cx="6165898" cy="336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DF0DC6-97AC-EF9E-46A4-D1190B4DC5F4}"/>
              </a:ext>
            </a:extLst>
          </p:cNvPr>
          <p:cNvSpPr txBox="1"/>
          <p:nvPr/>
        </p:nvSpPr>
        <p:spPr>
          <a:xfrm>
            <a:off x="1012873" y="3344209"/>
            <a:ext cx="28135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 Analysis: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Surveillance: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Biometrics: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Agriculture:</a:t>
            </a:r>
          </a:p>
          <a:p>
            <a:pPr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Sensing:</a:t>
            </a:r>
          </a:p>
        </p:txBody>
      </p:sp>
    </p:spTree>
    <p:extLst>
      <p:ext uri="{BB962C8B-B14F-4D97-AF65-F5344CB8AC3E}">
        <p14:creationId xmlns:p14="http://schemas.microsoft.com/office/powerpoint/2010/main" val="55412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Image Segmentation Based on Similarity Properties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C69C0C-77A3-60B6-6690-8858CC02B6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971"/>
          <a:stretch/>
        </p:blipFill>
        <p:spPr>
          <a:xfrm>
            <a:off x="1429555" y="977705"/>
            <a:ext cx="9233756" cy="2553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38DBAD-BA16-4255-9E27-6B82F7F955A6}"/>
              </a:ext>
            </a:extLst>
          </p:cNvPr>
          <p:cNvSpPr txBox="1"/>
          <p:nvPr/>
        </p:nvSpPr>
        <p:spPr>
          <a:xfrm>
            <a:off x="32495" y="4536831"/>
            <a:ext cx="120278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separate objects or regions.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Region-Based Segmentation: Groups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pixels based on their similar properties, like intensity, Color, or texture.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Segmentation: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boundaries (edges) between different regions in an image.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Clustering-Based Segmentation: Groups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pixels into clusters based on their similarity in feature space.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Watershed Segmentation: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topographic information to divide an image into multiple segments or regions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835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Image Segmentation Based on Dissimilar Properties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3D03DD-0F3B-A48D-58D0-A6EA4E149CFA}"/>
              </a:ext>
            </a:extLst>
          </p:cNvPr>
          <p:cNvGrpSpPr/>
          <p:nvPr/>
        </p:nvGrpSpPr>
        <p:grpSpPr>
          <a:xfrm>
            <a:off x="2700997" y="1518676"/>
            <a:ext cx="7326922" cy="3405015"/>
            <a:chOff x="1697501" y="1997612"/>
            <a:chExt cx="5938910" cy="2457084"/>
          </a:xfrm>
        </p:grpSpPr>
        <p:pic>
          <p:nvPicPr>
            <p:cNvPr id="5" name="Picture 2" descr="007 OpenCV projects - Image segmentation with Watershed algorithm">
              <a:extLst>
                <a:ext uri="{FF2B5EF4-FFF2-40B4-BE49-F238E27FC236}">
                  <a16:creationId xmlns:a16="http://schemas.microsoft.com/office/drawing/2014/main" id="{0B9E1EC4-5BE8-7217-4A84-5BFC6D06BC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40149" r="57693" b="-1"/>
            <a:stretch/>
          </p:blipFill>
          <p:spPr bwMode="auto">
            <a:xfrm>
              <a:off x="1697501" y="1997612"/>
              <a:ext cx="4126524" cy="24570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007 OpenCV projects - Image segmentation with Watershed algorithm">
              <a:extLst>
                <a:ext uri="{FF2B5EF4-FFF2-40B4-BE49-F238E27FC236}">
                  <a16:creationId xmlns:a16="http://schemas.microsoft.com/office/drawing/2014/main" id="{E5112F8A-96B6-D7DB-D046-2E7E5CBDE2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889" t="62536" r="40529" b="-1"/>
            <a:stretch/>
          </p:blipFill>
          <p:spPr bwMode="auto">
            <a:xfrm>
              <a:off x="5824025" y="2921000"/>
              <a:ext cx="1812386" cy="15336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50248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Image Segmentation Based on Dissimilar Properties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918DC-E1BA-EA3D-6182-3941A731F848}"/>
              </a:ext>
            </a:extLst>
          </p:cNvPr>
          <p:cNvSpPr txBox="1"/>
          <p:nvPr/>
        </p:nvSpPr>
        <p:spPr>
          <a:xfrm>
            <a:off x="953085" y="928468"/>
            <a:ext cx="1108885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information about edges in an image to sketch boundaries between different regions or objects.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are areas where there are significant changes in intensity or Color, and identifying them is crucial for image segmentation.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algorithms to highlight areas of rapid intensity changes.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edge detection methods include: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Mask(Operator):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Sobel Operator: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Prewitt Operator: </a:t>
            </a:r>
          </a:p>
          <a:p>
            <a:pPr marL="1143000" lvl="2" indent="-22860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Operator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Matching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Compass Operator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Linking: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detected edge points to form continuous curves or contours. 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edge linking include Hough Transform, region-growing, and chain codes.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Hough Transform, for example, can be used to link edge points into lines or curves by identifying common parameters.</a:t>
            </a:r>
          </a:p>
        </p:txBody>
      </p:sp>
    </p:spTree>
    <p:extLst>
      <p:ext uri="{BB962C8B-B14F-4D97-AF65-F5344CB8AC3E}">
        <p14:creationId xmlns:p14="http://schemas.microsoft.com/office/powerpoint/2010/main" val="250731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Prewitt operator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BC5ED-7FF6-87E5-0FD6-9D28D30E301F}"/>
              </a:ext>
            </a:extLst>
          </p:cNvPr>
          <p:cNvSpPr txBox="1"/>
          <p:nvPr/>
        </p:nvSpPr>
        <p:spPr>
          <a:xfrm>
            <a:off x="587326" y="1043077"/>
            <a:ext cx="11046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Prewitt operator is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edge detection in an image.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two types of edges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edges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Edges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are calculated by using difference between corresponding pixel intensities of an image.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6E55A9-019E-0403-4FFF-4BEF9019A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640652"/>
              </p:ext>
            </p:extLst>
          </p:nvPr>
        </p:nvGraphicFramePr>
        <p:xfrm>
          <a:off x="838201" y="3057436"/>
          <a:ext cx="2931942" cy="1280160"/>
        </p:xfrm>
        <a:graphic>
          <a:graphicData uri="http://schemas.openxmlformats.org/drawingml/2006/table">
            <a:tbl>
              <a:tblPr/>
              <a:tblGrid>
                <a:gridCol w="977314">
                  <a:extLst>
                    <a:ext uri="{9D8B030D-6E8A-4147-A177-3AD203B41FA5}">
                      <a16:colId xmlns:a16="http://schemas.microsoft.com/office/drawing/2014/main" val="863393190"/>
                    </a:ext>
                  </a:extLst>
                </a:gridCol>
                <a:gridCol w="977314">
                  <a:extLst>
                    <a:ext uri="{9D8B030D-6E8A-4147-A177-3AD203B41FA5}">
                      <a16:colId xmlns:a16="http://schemas.microsoft.com/office/drawing/2014/main" val="1162512426"/>
                    </a:ext>
                  </a:extLst>
                </a:gridCol>
                <a:gridCol w="977314">
                  <a:extLst>
                    <a:ext uri="{9D8B030D-6E8A-4147-A177-3AD203B41FA5}">
                      <a16:colId xmlns:a16="http://schemas.microsoft.com/office/drawing/2014/main" val="235758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950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756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691536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2DC949A-D93B-3E33-8EB6-BDEE1465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12" y="2635014"/>
            <a:ext cx="20442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Vertical direction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7DC5C3-7950-20F7-4ACD-69081B425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257891"/>
              </p:ext>
            </p:extLst>
          </p:nvPr>
        </p:nvGraphicFramePr>
        <p:xfrm>
          <a:off x="8193322" y="2962143"/>
          <a:ext cx="2991666" cy="1280160"/>
        </p:xfrm>
        <a:graphic>
          <a:graphicData uri="http://schemas.openxmlformats.org/drawingml/2006/table">
            <a:tbl>
              <a:tblPr/>
              <a:tblGrid>
                <a:gridCol w="997222">
                  <a:extLst>
                    <a:ext uri="{9D8B030D-6E8A-4147-A177-3AD203B41FA5}">
                      <a16:colId xmlns:a16="http://schemas.microsoft.com/office/drawing/2014/main" val="4120820035"/>
                    </a:ext>
                  </a:extLst>
                </a:gridCol>
                <a:gridCol w="997222">
                  <a:extLst>
                    <a:ext uri="{9D8B030D-6E8A-4147-A177-3AD203B41FA5}">
                      <a16:colId xmlns:a16="http://schemas.microsoft.com/office/drawing/2014/main" val="1979152742"/>
                    </a:ext>
                  </a:extLst>
                </a:gridCol>
                <a:gridCol w="997222">
                  <a:extLst>
                    <a:ext uri="{9D8B030D-6E8A-4147-A177-3AD203B41FA5}">
                      <a16:colId xmlns:a16="http://schemas.microsoft.com/office/drawing/2014/main" val="592556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918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 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 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945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 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52347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1026779D-AEE3-7937-1BE1-F3CD87DFA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557" y="2524761"/>
            <a:ext cx="23775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Horizontal Direction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pic>
        <p:nvPicPr>
          <p:cNvPr id="10" name="Picture 2" descr="Prewitt Operator">
            <a:extLst>
              <a:ext uri="{FF2B5EF4-FFF2-40B4-BE49-F238E27FC236}">
                <a16:creationId xmlns:a16="http://schemas.microsoft.com/office/drawing/2014/main" id="{39B62022-51C8-FE8A-CC2A-AA86061D9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44" y="4337596"/>
            <a:ext cx="235267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witt Operator">
            <a:extLst>
              <a:ext uri="{FF2B5EF4-FFF2-40B4-BE49-F238E27FC236}">
                <a16:creationId xmlns:a16="http://schemas.microsoft.com/office/drawing/2014/main" id="{0203F936-A955-3F1D-D29B-A371309F6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882" y="4337596"/>
            <a:ext cx="2352675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ewitt Operator">
            <a:extLst>
              <a:ext uri="{FF2B5EF4-FFF2-40B4-BE49-F238E27FC236}">
                <a16:creationId xmlns:a16="http://schemas.microsoft.com/office/drawing/2014/main" id="{6B7E25E6-B59B-0CDC-FA46-620E4B063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322" y="4242303"/>
            <a:ext cx="2603401" cy="230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478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IN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Sobel operator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BC5ED-7FF6-87E5-0FD6-9D28D30E301F}"/>
              </a:ext>
            </a:extLst>
          </p:cNvPr>
          <p:cNvSpPr txBox="1"/>
          <p:nvPr/>
        </p:nvSpPr>
        <p:spPr>
          <a:xfrm>
            <a:off x="572671" y="970734"/>
            <a:ext cx="114692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/>
              <a:t>The Sobel operator the coefficients of masks are not fixed and they can be adjusted according to our requirement unless they do not violate any property of derivative masks. 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two types of edges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edges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Edges</a:t>
            </a: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are calculated by using difference between corresponding pixel intensities of an image.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130441D-FA3D-9215-0C8C-C22237C0E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394" y="2767326"/>
            <a:ext cx="666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AB9E271-726B-04D9-13C5-E423DBA94E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28"/>
          <a:stretch/>
        </p:blipFill>
        <p:spPr bwMode="auto">
          <a:xfrm>
            <a:off x="6513342" y="4825219"/>
            <a:ext cx="5387926" cy="190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76125A-F422-25E4-3EE2-6372FCE24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24"/>
          <a:stretch/>
        </p:blipFill>
        <p:spPr bwMode="auto">
          <a:xfrm>
            <a:off x="1025683" y="4826384"/>
            <a:ext cx="5220372" cy="181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09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Operator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03923-C20F-D35B-076B-054B05F0E234}"/>
              </a:ext>
            </a:extLst>
          </p:cNvPr>
          <p:cNvSpPr txBox="1"/>
          <p:nvPr/>
        </p:nvSpPr>
        <p:spPr>
          <a:xfrm>
            <a:off x="0" y="928468"/>
            <a:ext cx="11859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Robert Operator is a simple edge detection operator used in image processing and computer vision.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named after Lawrence Roberts, who introduced it in the 1960s.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Robert Operator is designed to detect edges by approximating the gradient of the image intensity.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918384-6034-C78C-A23C-6618CF8A638B}"/>
              </a:ext>
            </a:extLst>
          </p:cNvPr>
          <p:cNvSpPr txBox="1"/>
          <p:nvPr/>
        </p:nvSpPr>
        <p:spPr>
          <a:xfrm>
            <a:off x="1301262" y="2331124"/>
            <a:ext cx="7526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+1  0</a:t>
            </a:r>
          </a:p>
          <a:p>
            <a:r>
              <a:rPr lang="en-IN" dirty="0"/>
              <a:t> 0  -1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740752-C968-3B9F-9828-3565FEA5FC45}"/>
              </a:ext>
            </a:extLst>
          </p:cNvPr>
          <p:cNvSpPr txBox="1"/>
          <p:nvPr/>
        </p:nvSpPr>
        <p:spPr>
          <a:xfrm>
            <a:off x="5712655" y="2331124"/>
            <a:ext cx="766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0 +1</a:t>
            </a:r>
          </a:p>
          <a:p>
            <a:r>
              <a:rPr lang="en-IN" dirty="0"/>
              <a:t>-1   0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5842B05-A203-F743-752F-5A80CFA8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089" y="2007958"/>
            <a:ext cx="38524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Vertical Mask of Robert Operator: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294AA3F8-4CB4-C81D-4885-E8EA184C4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743" y="2007958"/>
            <a:ext cx="408316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Horizontal Mask of Robert Operator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D2987E-EBFB-BD9F-629E-9B6EA94F2A6D}"/>
              </a:ext>
            </a:extLst>
          </p:cNvPr>
          <p:cNvSpPr txBox="1"/>
          <p:nvPr/>
        </p:nvSpPr>
        <p:spPr>
          <a:xfrm>
            <a:off x="427880" y="3344209"/>
            <a:ext cx="114311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Advantages: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/>
              <a:t>simple and efficient.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/>
              <a:t>detecting edges with a clear diagonal orientation.</a:t>
            </a:r>
          </a:p>
          <a:p>
            <a:pPr algn="just"/>
            <a:r>
              <a:rPr lang="en-GB" b="1" dirty="0"/>
              <a:t>Disadvantages: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/>
              <a:t>It is sensitive to noise due to the small size of the convolution kernels.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/>
              <a:t>may not perform well in the presence of diagonal edges in multiple directions.</a:t>
            </a:r>
          </a:p>
        </p:txBody>
      </p:sp>
    </p:spTree>
    <p:extLst>
      <p:ext uri="{BB962C8B-B14F-4D97-AF65-F5344CB8AC3E}">
        <p14:creationId xmlns:p14="http://schemas.microsoft.com/office/powerpoint/2010/main" val="2953497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Matching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43DBA-54BB-9ECB-E10E-A6AAC9D81681}"/>
              </a:ext>
            </a:extLst>
          </p:cNvPr>
          <p:cNvSpPr txBox="1"/>
          <p:nvPr/>
        </p:nvSpPr>
        <p:spPr>
          <a:xfrm>
            <a:off x="221566" y="928468"/>
            <a:ext cx="11496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Template matching is used for detecting patterns or objects within an image.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template matching can be used to identify specific patterns or structures that represent edges.</a:t>
            </a:r>
            <a:endParaRPr lang="en-I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D4302BA-3889-CBB4-EA4A-A7F29D364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292" y="1882213"/>
            <a:ext cx="7282083" cy="4265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249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III.COMPASS OPERATOR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36B5B-0F67-2268-7581-B4944FF71355}"/>
              </a:ext>
            </a:extLst>
          </p:cNvPr>
          <p:cNvSpPr txBox="1"/>
          <p:nvPr/>
        </p:nvSpPr>
        <p:spPr>
          <a:xfrm>
            <a:off x="570913" y="928468"/>
            <a:ext cx="11353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Compass Operator, also known as the Compass Edge Detector, is an edge detection technique that employs a set of masks or filters based on different compass directions (cardinal and intercardinal directions, like north, northeast, east, etc.).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filter is designed to capture information about intensity changes in a specific direction.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Compass Operator is especially useful for detecting edges that have different orientations.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A35CCC5-4D8A-D0A7-E700-D8FAFA260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759658"/>
              </p:ext>
            </p:extLst>
          </p:nvPr>
        </p:nvGraphicFramePr>
        <p:xfrm>
          <a:off x="456006" y="3265147"/>
          <a:ext cx="3018714" cy="1280160"/>
        </p:xfrm>
        <a:graphic>
          <a:graphicData uri="http://schemas.openxmlformats.org/drawingml/2006/table">
            <a:tbl>
              <a:tblPr/>
              <a:tblGrid>
                <a:gridCol w="1006238">
                  <a:extLst>
                    <a:ext uri="{9D8B030D-6E8A-4147-A177-3AD203B41FA5}">
                      <a16:colId xmlns:a16="http://schemas.microsoft.com/office/drawing/2014/main" val="2031559675"/>
                    </a:ext>
                  </a:extLst>
                </a:gridCol>
                <a:gridCol w="1006238">
                  <a:extLst>
                    <a:ext uri="{9D8B030D-6E8A-4147-A177-3AD203B41FA5}">
                      <a16:colId xmlns:a16="http://schemas.microsoft.com/office/drawing/2014/main" val="820868769"/>
                    </a:ext>
                  </a:extLst>
                </a:gridCol>
                <a:gridCol w="1006238">
                  <a:extLst>
                    <a:ext uri="{9D8B030D-6E8A-4147-A177-3AD203B41FA5}">
                      <a16:colId xmlns:a16="http://schemas.microsoft.com/office/drawing/2014/main" val="3180665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44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460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308721"/>
                  </a:ext>
                </a:extLst>
              </a:tr>
            </a:tbl>
          </a:graphicData>
        </a:graphic>
      </p:graphicFrame>
      <p:sp>
        <p:nvSpPr>
          <p:cNvPr id="18" name="Rectangle 4">
            <a:extLst>
              <a:ext uri="{FF2B5EF4-FFF2-40B4-BE49-F238E27FC236}">
                <a16:creationId xmlns:a16="http://schemas.microsoft.com/office/drawing/2014/main" id="{13069AC1-0CDB-EFB3-14DB-F6CC39D83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04" y="2786199"/>
            <a:ext cx="250581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North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DA2C9AA-C1DC-951B-C74A-60A037B86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905650"/>
              </p:ext>
            </p:extLst>
          </p:nvPr>
        </p:nvGraphicFramePr>
        <p:xfrm>
          <a:off x="5646983" y="3188997"/>
          <a:ext cx="3229731" cy="1280160"/>
        </p:xfrm>
        <a:graphic>
          <a:graphicData uri="http://schemas.openxmlformats.org/drawingml/2006/table">
            <a:tbl>
              <a:tblPr/>
              <a:tblGrid>
                <a:gridCol w="1076577">
                  <a:extLst>
                    <a:ext uri="{9D8B030D-6E8A-4147-A177-3AD203B41FA5}">
                      <a16:colId xmlns:a16="http://schemas.microsoft.com/office/drawing/2014/main" val="1470030138"/>
                    </a:ext>
                  </a:extLst>
                </a:gridCol>
                <a:gridCol w="1076577">
                  <a:extLst>
                    <a:ext uri="{9D8B030D-6E8A-4147-A177-3AD203B41FA5}">
                      <a16:colId xmlns:a16="http://schemas.microsoft.com/office/drawing/2014/main" val="2844297040"/>
                    </a:ext>
                  </a:extLst>
                </a:gridCol>
                <a:gridCol w="1076577">
                  <a:extLst>
                    <a:ext uri="{9D8B030D-6E8A-4147-A177-3AD203B41FA5}">
                      <a16:colId xmlns:a16="http://schemas.microsoft.com/office/drawing/2014/main" val="24395736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92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69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219433"/>
                  </a:ext>
                </a:extLst>
              </a:tr>
            </a:tbl>
          </a:graphicData>
        </a:graphic>
      </p:graphicFrame>
      <p:sp>
        <p:nvSpPr>
          <p:cNvPr id="20" name="Rectangle 5">
            <a:extLst>
              <a:ext uri="{FF2B5EF4-FFF2-40B4-BE49-F238E27FC236}">
                <a16:creationId xmlns:a16="http://schemas.microsoft.com/office/drawing/2014/main" id="{D9935966-6F0C-D6E5-3964-7BEC33B2C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103" y="2786199"/>
            <a:ext cx="3117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North West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279183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III.COMPASS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523C6A-7106-5C23-3C21-C5ADA7C93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622821"/>
              </p:ext>
            </p:extLst>
          </p:nvPr>
        </p:nvGraphicFramePr>
        <p:xfrm>
          <a:off x="385665" y="1252025"/>
          <a:ext cx="2624547" cy="1280160"/>
        </p:xfrm>
        <a:graphic>
          <a:graphicData uri="http://schemas.openxmlformats.org/drawingml/2006/table">
            <a:tbl>
              <a:tblPr/>
              <a:tblGrid>
                <a:gridCol w="874849">
                  <a:extLst>
                    <a:ext uri="{9D8B030D-6E8A-4147-A177-3AD203B41FA5}">
                      <a16:colId xmlns:a16="http://schemas.microsoft.com/office/drawing/2014/main" val="3244958738"/>
                    </a:ext>
                  </a:extLst>
                </a:gridCol>
                <a:gridCol w="874849">
                  <a:extLst>
                    <a:ext uri="{9D8B030D-6E8A-4147-A177-3AD203B41FA5}">
                      <a16:colId xmlns:a16="http://schemas.microsoft.com/office/drawing/2014/main" val="2000160634"/>
                    </a:ext>
                  </a:extLst>
                </a:gridCol>
                <a:gridCol w="874849">
                  <a:extLst>
                    <a:ext uri="{9D8B030D-6E8A-4147-A177-3AD203B41FA5}">
                      <a16:colId xmlns:a16="http://schemas.microsoft.com/office/drawing/2014/main" val="583444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96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556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80801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BF300D1-5794-7606-7D70-6DB5FFBF4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65" y="928860"/>
            <a:ext cx="2437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West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51865B-F3FF-1523-DE5B-49AC66842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74173"/>
              </p:ext>
            </p:extLst>
          </p:nvPr>
        </p:nvGraphicFramePr>
        <p:xfrm>
          <a:off x="3760136" y="1266093"/>
          <a:ext cx="2544831" cy="1280160"/>
        </p:xfrm>
        <a:graphic>
          <a:graphicData uri="http://schemas.openxmlformats.org/drawingml/2006/table">
            <a:tbl>
              <a:tblPr/>
              <a:tblGrid>
                <a:gridCol w="848277">
                  <a:extLst>
                    <a:ext uri="{9D8B030D-6E8A-4147-A177-3AD203B41FA5}">
                      <a16:colId xmlns:a16="http://schemas.microsoft.com/office/drawing/2014/main" val="3132170686"/>
                    </a:ext>
                  </a:extLst>
                </a:gridCol>
                <a:gridCol w="848277">
                  <a:extLst>
                    <a:ext uri="{9D8B030D-6E8A-4147-A177-3AD203B41FA5}">
                      <a16:colId xmlns:a16="http://schemas.microsoft.com/office/drawing/2014/main" val="1440673974"/>
                    </a:ext>
                  </a:extLst>
                </a:gridCol>
                <a:gridCol w="848277">
                  <a:extLst>
                    <a:ext uri="{9D8B030D-6E8A-4147-A177-3AD203B41FA5}">
                      <a16:colId xmlns:a16="http://schemas.microsoft.com/office/drawing/2014/main" val="3403099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119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867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608266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78249389-13A2-E64B-7BAB-CE57E9AE9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895" y="942927"/>
            <a:ext cx="315567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South West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6B31BB-67C4-45E2-8C62-9A509BDFD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543415"/>
              </p:ext>
            </p:extLst>
          </p:nvPr>
        </p:nvGraphicFramePr>
        <p:xfrm>
          <a:off x="7271780" y="1252025"/>
          <a:ext cx="2712402" cy="1280160"/>
        </p:xfrm>
        <a:graphic>
          <a:graphicData uri="http://schemas.openxmlformats.org/drawingml/2006/table">
            <a:tbl>
              <a:tblPr/>
              <a:tblGrid>
                <a:gridCol w="904134">
                  <a:extLst>
                    <a:ext uri="{9D8B030D-6E8A-4147-A177-3AD203B41FA5}">
                      <a16:colId xmlns:a16="http://schemas.microsoft.com/office/drawing/2014/main" val="2172450717"/>
                    </a:ext>
                  </a:extLst>
                </a:gridCol>
                <a:gridCol w="904134">
                  <a:extLst>
                    <a:ext uri="{9D8B030D-6E8A-4147-A177-3AD203B41FA5}">
                      <a16:colId xmlns:a16="http://schemas.microsoft.com/office/drawing/2014/main" val="2320854996"/>
                    </a:ext>
                  </a:extLst>
                </a:gridCol>
                <a:gridCol w="904134">
                  <a:extLst>
                    <a:ext uri="{9D8B030D-6E8A-4147-A177-3AD203B41FA5}">
                      <a16:colId xmlns:a16="http://schemas.microsoft.com/office/drawing/2014/main" val="2437861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04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74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18317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556C5450-552E-2567-9323-DDCFD495E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102" y="928468"/>
            <a:ext cx="29377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South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6105C60-1075-EC18-1DF5-5C6C3F068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81593"/>
              </p:ext>
            </p:extLst>
          </p:nvPr>
        </p:nvGraphicFramePr>
        <p:xfrm>
          <a:off x="328535" y="3488005"/>
          <a:ext cx="2352297" cy="1280160"/>
        </p:xfrm>
        <a:graphic>
          <a:graphicData uri="http://schemas.openxmlformats.org/drawingml/2006/table">
            <a:tbl>
              <a:tblPr/>
              <a:tblGrid>
                <a:gridCol w="784099">
                  <a:extLst>
                    <a:ext uri="{9D8B030D-6E8A-4147-A177-3AD203B41FA5}">
                      <a16:colId xmlns:a16="http://schemas.microsoft.com/office/drawing/2014/main" val="1220258769"/>
                    </a:ext>
                  </a:extLst>
                </a:gridCol>
                <a:gridCol w="784099">
                  <a:extLst>
                    <a:ext uri="{9D8B030D-6E8A-4147-A177-3AD203B41FA5}">
                      <a16:colId xmlns:a16="http://schemas.microsoft.com/office/drawing/2014/main" val="3898512588"/>
                    </a:ext>
                  </a:extLst>
                </a:gridCol>
                <a:gridCol w="784099">
                  <a:extLst>
                    <a:ext uri="{9D8B030D-6E8A-4147-A177-3AD203B41FA5}">
                      <a16:colId xmlns:a16="http://schemas.microsoft.com/office/drawing/2014/main" val="642362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710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401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930121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0A40C846-DF07-6E68-A980-438A88964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48" y="3046829"/>
            <a:ext cx="30957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South East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2DC9409-9054-6103-A22E-2F893A3FA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153662"/>
              </p:ext>
            </p:extLst>
          </p:nvPr>
        </p:nvGraphicFramePr>
        <p:xfrm>
          <a:off x="3891681" y="3429000"/>
          <a:ext cx="2031063" cy="1280160"/>
        </p:xfrm>
        <a:graphic>
          <a:graphicData uri="http://schemas.openxmlformats.org/drawingml/2006/table">
            <a:tbl>
              <a:tblPr/>
              <a:tblGrid>
                <a:gridCol w="677021">
                  <a:extLst>
                    <a:ext uri="{9D8B030D-6E8A-4147-A177-3AD203B41FA5}">
                      <a16:colId xmlns:a16="http://schemas.microsoft.com/office/drawing/2014/main" val="2576817422"/>
                    </a:ext>
                  </a:extLst>
                </a:gridCol>
                <a:gridCol w="677021">
                  <a:extLst>
                    <a:ext uri="{9D8B030D-6E8A-4147-A177-3AD203B41FA5}">
                      <a16:colId xmlns:a16="http://schemas.microsoft.com/office/drawing/2014/main" val="1950829942"/>
                    </a:ext>
                  </a:extLst>
                </a:gridCol>
                <a:gridCol w="677021">
                  <a:extLst>
                    <a:ext uri="{9D8B030D-6E8A-4147-A177-3AD203B41FA5}">
                      <a16:colId xmlns:a16="http://schemas.microsoft.com/office/drawing/2014/main" val="32642826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18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473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687213"/>
                  </a:ext>
                </a:extLst>
              </a:tr>
            </a:tbl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4E9DAD62-6920-3983-F4C2-638AC25F4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8426" y="3046828"/>
            <a:ext cx="237757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East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FD70BDD-376B-C043-7D95-62B442045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562252"/>
              </p:ext>
            </p:extLst>
          </p:nvPr>
        </p:nvGraphicFramePr>
        <p:xfrm>
          <a:off x="7583819" y="3297447"/>
          <a:ext cx="2203857" cy="1280160"/>
        </p:xfrm>
        <a:graphic>
          <a:graphicData uri="http://schemas.openxmlformats.org/drawingml/2006/table">
            <a:tbl>
              <a:tblPr/>
              <a:tblGrid>
                <a:gridCol w="734619">
                  <a:extLst>
                    <a:ext uri="{9D8B030D-6E8A-4147-A177-3AD203B41FA5}">
                      <a16:colId xmlns:a16="http://schemas.microsoft.com/office/drawing/2014/main" val="1078396838"/>
                    </a:ext>
                  </a:extLst>
                </a:gridCol>
                <a:gridCol w="734619">
                  <a:extLst>
                    <a:ext uri="{9D8B030D-6E8A-4147-A177-3AD203B41FA5}">
                      <a16:colId xmlns:a16="http://schemas.microsoft.com/office/drawing/2014/main" val="2625247535"/>
                    </a:ext>
                  </a:extLst>
                </a:gridCol>
                <a:gridCol w="734619">
                  <a:extLst>
                    <a:ext uri="{9D8B030D-6E8A-4147-A177-3AD203B41FA5}">
                      <a16:colId xmlns:a16="http://schemas.microsoft.com/office/drawing/2014/main" val="1837814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63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675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7242751"/>
                  </a:ext>
                </a:extLst>
              </a:tr>
            </a:tbl>
          </a:graphicData>
        </a:graphic>
      </p:graphicFrame>
      <p:sp>
        <p:nvSpPr>
          <p:cNvPr id="15" name="Rectangle 6">
            <a:extLst>
              <a:ext uri="{FF2B5EF4-FFF2-40B4-BE49-F238E27FC236}">
                <a16:creationId xmlns:a16="http://schemas.microsoft.com/office/drawing/2014/main" id="{81D46646-3CD6-90B9-37DA-290F6C57B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143" y="2936448"/>
            <a:ext cx="30572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North East Direction Mask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739171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Line/Curve and Spot/Point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69885-DD6B-E8C4-B7E9-42E2C094F64B}"/>
              </a:ext>
            </a:extLst>
          </p:cNvPr>
          <p:cNvSpPr txBox="1"/>
          <p:nvPr/>
        </p:nvSpPr>
        <p:spPr>
          <a:xfrm>
            <a:off x="621909" y="928468"/>
            <a:ext cx="10948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Line detection in image processing involves identifying and extracting straight lines from an image.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It is Detected by Using Second Order Derivative Filter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B3675-FE13-575B-2285-810940B11EB8}"/>
              </a:ext>
            </a:extLst>
          </p:cNvPr>
          <p:cNvSpPr txBox="1"/>
          <p:nvPr/>
        </p:nvSpPr>
        <p:spPr>
          <a:xfrm>
            <a:off x="5170176" y="4913869"/>
            <a:ext cx="14097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-1  -1  -1</a:t>
            </a:r>
          </a:p>
          <a:p>
            <a:r>
              <a:rPr lang="en-IN" sz="2000" dirty="0"/>
              <a:t>-1   8  -1</a:t>
            </a:r>
          </a:p>
          <a:p>
            <a:r>
              <a:rPr lang="en-IN" sz="2000" dirty="0"/>
              <a:t>-1  -1  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525B5-581F-E333-A49C-9113A4D21BD3}"/>
              </a:ext>
            </a:extLst>
          </p:cNvPr>
          <p:cNvSpPr txBox="1"/>
          <p:nvPr/>
        </p:nvSpPr>
        <p:spPr>
          <a:xfrm>
            <a:off x="950742" y="3936018"/>
            <a:ext cx="6098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Spot/Point Detection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DF1850-59A2-A2FE-1776-76D9F548957C}"/>
              </a:ext>
            </a:extLst>
          </p:cNvPr>
          <p:cNvSpPr txBox="1"/>
          <p:nvPr/>
        </p:nvSpPr>
        <p:spPr>
          <a:xfrm>
            <a:off x="621909" y="4352579"/>
            <a:ext cx="1129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Spot detection in image processing refers to identifying small, well-defined regions or points within an image.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B9606A-1DCA-A847-C399-A41A30A39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183366"/>
              </p:ext>
            </p:extLst>
          </p:nvPr>
        </p:nvGraphicFramePr>
        <p:xfrm>
          <a:off x="1517715" y="2011388"/>
          <a:ext cx="2338503" cy="1280160"/>
        </p:xfrm>
        <a:graphic>
          <a:graphicData uri="http://schemas.openxmlformats.org/drawingml/2006/table">
            <a:tbl>
              <a:tblPr/>
              <a:tblGrid>
                <a:gridCol w="779501">
                  <a:extLst>
                    <a:ext uri="{9D8B030D-6E8A-4147-A177-3AD203B41FA5}">
                      <a16:colId xmlns:a16="http://schemas.microsoft.com/office/drawing/2014/main" val="3244958738"/>
                    </a:ext>
                  </a:extLst>
                </a:gridCol>
                <a:gridCol w="779501">
                  <a:extLst>
                    <a:ext uri="{9D8B030D-6E8A-4147-A177-3AD203B41FA5}">
                      <a16:colId xmlns:a16="http://schemas.microsoft.com/office/drawing/2014/main" val="2000160634"/>
                    </a:ext>
                  </a:extLst>
                </a:gridCol>
                <a:gridCol w="779501">
                  <a:extLst>
                    <a:ext uri="{9D8B030D-6E8A-4147-A177-3AD203B41FA5}">
                      <a16:colId xmlns:a16="http://schemas.microsoft.com/office/drawing/2014/main" val="583444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964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556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808011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C9EC5F68-B1BB-B01F-8B7A-7E8D37BCA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715" y="1704425"/>
            <a:ext cx="19415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Horizontal Filter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7DBB4B-4EA4-BFD1-6100-1C910C04D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018496"/>
              </p:ext>
            </p:extLst>
          </p:nvPr>
        </p:nvGraphicFramePr>
        <p:xfrm>
          <a:off x="3918334" y="1922958"/>
          <a:ext cx="2204538" cy="1280160"/>
        </p:xfrm>
        <a:graphic>
          <a:graphicData uri="http://schemas.openxmlformats.org/drawingml/2006/table">
            <a:tbl>
              <a:tblPr/>
              <a:tblGrid>
                <a:gridCol w="734846">
                  <a:extLst>
                    <a:ext uri="{9D8B030D-6E8A-4147-A177-3AD203B41FA5}">
                      <a16:colId xmlns:a16="http://schemas.microsoft.com/office/drawing/2014/main" val="1470030138"/>
                    </a:ext>
                  </a:extLst>
                </a:gridCol>
                <a:gridCol w="734846">
                  <a:extLst>
                    <a:ext uri="{9D8B030D-6E8A-4147-A177-3AD203B41FA5}">
                      <a16:colId xmlns:a16="http://schemas.microsoft.com/office/drawing/2014/main" val="2844297040"/>
                    </a:ext>
                  </a:extLst>
                </a:gridCol>
                <a:gridCol w="734846">
                  <a:extLst>
                    <a:ext uri="{9D8B030D-6E8A-4147-A177-3AD203B41FA5}">
                      <a16:colId xmlns:a16="http://schemas.microsoft.com/office/drawing/2014/main" val="24395736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-1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92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 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69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 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219433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E1CFF763-4180-D151-337A-7FB57958C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3030" y="1624032"/>
            <a:ext cx="807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+45</a:t>
            </a:r>
            <a:r>
              <a:rPr lang="en-US" altLang="en-US" b="1" baseline="30000" dirty="0"/>
              <a:t>0</a:t>
            </a:r>
            <a:endParaRPr lang="en-US" altLang="en-US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E4F96ED-076E-71DF-839B-AF1D8F4DD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256945"/>
              </p:ext>
            </p:extLst>
          </p:nvPr>
        </p:nvGraphicFramePr>
        <p:xfrm>
          <a:off x="6581934" y="1922958"/>
          <a:ext cx="2027493" cy="1280160"/>
        </p:xfrm>
        <a:graphic>
          <a:graphicData uri="http://schemas.openxmlformats.org/drawingml/2006/table">
            <a:tbl>
              <a:tblPr/>
              <a:tblGrid>
                <a:gridCol w="675831">
                  <a:extLst>
                    <a:ext uri="{9D8B030D-6E8A-4147-A177-3AD203B41FA5}">
                      <a16:colId xmlns:a16="http://schemas.microsoft.com/office/drawing/2014/main" val="2172450717"/>
                    </a:ext>
                  </a:extLst>
                </a:gridCol>
                <a:gridCol w="675831">
                  <a:extLst>
                    <a:ext uri="{9D8B030D-6E8A-4147-A177-3AD203B41FA5}">
                      <a16:colId xmlns:a16="http://schemas.microsoft.com/office/drawing/2014/main" val="2320854996"/>
                    </a:ext>
                  </a:extLst>
                </a:gridCol>
                <a:gridCol w="675831">
                  <a:extLst>
                    <a:ext uri="{9D8B030D-6E8A-4147-A177-3AD203B41FA5}">
                      <a16:colId xmlns:a16="http://schemas.microsoft.com/office/drawing/2014/main" val="2437861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04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-1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74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618317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CEA7D9DD-0ABE-1BAF-F8CB-24C562D7B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982" y="1618083"/>
            <a:ext cx="16209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Vertical Filter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D96EE1E-E612-EC46-5468-634340681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789793"/>
              </p:ext>
            </p:extLst>
          </p:nvPr>
        </p:nvGraphicFramePr>
        <p:xfrm>
          <a:off x="9068489" y="1941248"/>
          <a:ext cx="2204538" cy="1280160"/>
        </p:xfrm>
        <a:graphic>
          <a:graphicData uri="http://schemas.openxmlformats.org/drawingml/2006/table">
            <a:tbl>
              <a:tblPr/>
              <a:tblGrid>
                <a:gridCol w="734846">
                  <a:extLst>
                    <a:ext uri="{9D8B030D-6E8A-4147-A177-3AD203B41FA5}">
                      <a16:colId xmlns:a16="http://schemas.microsoft.com/office/drawing/2014/main" val="1470030138"/>
                    </a:ext>
                  </a:extLst>
                </a:gridCol>
                <a:gridCol w="734846">
                  <a:extLst>
                    <a:ext uri="{9D8B030D-6E8A-4147-A177-3AD203B41FA5}">
                      <a16:colId xmlns:a16="http://schemas.microsoft.com/office/drawing/2014/main" val="2844297040"/>
                    </a:ext>
                  </a:extLst>
                </a:gridCol>
                <a:gridCol w="734846">
                  <a:extLst>
                    <a:ext uri="{9D8B030D-6E8A-4147-A177-3AD203B41FA5}">
                      <a16:colId xmlns:a16="http://schemas.microsoft.com/office/drawing/2014/main" val="24395736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-1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-2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92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 2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699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  2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-1</a:t>
                      </a: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 -1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219433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8490C776-BC82-D014-D320-91BFFC9BE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7943" y="1508213"/>
            <a:ext cx="8071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/>
              <a:t>-45</a:t>
            </a:r>
            <a:r>
              <a:rPr lang="en-US" altLang="en-US" b="1" baseline="30000" dirty="0"/>
              <a:t>0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48436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78036-C53D-48F0-A6B6-12FD98A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00332"/>
          </a:xfrm>
        </p:spPr>
        <p:txBody>
          <a:bodyPr/>
          <a:lstStyle/>
          <a:p>
            <a:pPr algn="ctr"/>
            <a:r>
              <a:rPr lang="en-GB" b="1" dirty="0"/>
              <a:t>Hough Transform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73FA7-49B0-8403-1E45-56E8D07FD02B}"/>
              </a:ext>
            </a:extLst>
          </p:cNvPr>
          <p:cNvSpPr txBox="1"/>
          <p:nvPr/>
        </p:nvSpPr>
        <p:spPr>
          <a:xfrm>
            <a:off x="235634" y="900333"/>
            <a:ext cx="119563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The Hough Transform is a technique used for detecting shapes, particularly in image analysis.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It was originally developed by Paul Hough in 1962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Used for detecting lines in binary images, other shapes such as circles and ellipses.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A807B8-78C3-D9DE-AA83-9976D87710E1}"/>
              </a:ext>
            </a:extLst>
          </p:cNvPr>
          <p:cNvSpPr txBox="1"/>
          <p:nvPr/>
        </p:nvSpPr>
        <p:spPr>
          <a:xfrm>
            <a:off x="446649" y="1941183"/>
            <a:ext cx="1073716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1" dirty="0"/>
              <a:t>Use of Hough Transform: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Edge Detection: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Object Recognition: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Medical Imaging: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Robotics and Computer Graphics:</a:t>
            </a:r>
          </a:p>
          <a:p>
            <a:pPr algn="l">
              <a:buFont typeface="+mj-lt"/>
              <a:buAutoNum type="arabicPeriod"/>
            </a:pPr>
            <a:r>
              <a:rPr lang="en-GB" dirty="0"/>
              <a:t>Lane Detection in Autonomous Vehicles:</a:t>
            </a:r>
          </a:p>
        </p:txBody>
      </p:sp>
    </p:spTree>
    <p:extLst>
      <p:ext uri="{BB962C8B-B14F-4D97-AF65-F5344CB8AC3E}">
        <p14:creationId xmlns:p14="http://schemas.microsoft.com/office/powerpoint/2010/main" val="3347762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78036-C53D-48F0-A6B6-12FD98A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End of UNIT 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06841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78036-C53D-48F0-A6B6-12FD98A8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0269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1039</Words>
  <Application>Microsoft Office PowerPoint</Application>
  <PresentationFormat>Widescreen</PresentationFormat>
  <Paragraphs>247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Nunito</vt:lpstr>
      <vt:lpstr>Times New Roman</vt:lpstr>
      <vt:lpstr>Verdana</vt:lpstr>
      <vt:lpstr>Wingdings</vt:lpstr>
      <vt:lpstr>Office Theme</vt:lpstr>
      <vt:lpstr>Unit 7 IMAGE SEGMENTATION</vt:lpstr>
      <vt:lpstr>OUTLINES</vt:lpstr>
      <vt:lpstr>Introduction to Image Segmentation</vt:lpstr>
      <vt:lpstr>Image Segmentation Based on Similarity Properties</vt:lpstr>
      <vt:lpstr>Image Segmentation Based on Dissimilar Properties</vt:lpstr>
      <vt:lpstr>Image Segmentation Based on Dissimilar Properties</vt:lpstr>
      <vt:lpstr>Prewitt operator</vt:lpstr>
      <vt:lpstr>The Sobel operator</vt:lpstr>
      <vt:lpstr>Robert Operator</vt:lpstr>
      <vt:lpstr>Template Matching</vt:lpstr>
      <vt:lpstr>III.COMPASS OPERATOR</vt:lpstr>
      <vt:lpstr>III.COMPASS OPERATOR</vt:lpstr>
      <vt:lpstr>Line/Curve and Spot/Point Detection</vt:lpstr>
      <vt:lpstr>Hough Transform</vt:lpstr>
      <vt:lpstr>End of UNIT 7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10 Pattern Recognition</dc:title>
  <dc:creator>Harendra Bikram Shah</dc:creator>
  <cp:lastModifiedBy>Harandra Bikram Shah</cp:lastModifiedBy>
  <cp:revision>130</cp:revision>
  <dcterms:created xsi:type="dcterms:W3CDTF">2022-01-26T11:06:20Z</dcterms:created>
  <dcterms:modified xsi:type="dcterms:W3CDTF">2024-01-16T06:48:36Z</dcterms:modified>
</cp:coreProperties>
</file>