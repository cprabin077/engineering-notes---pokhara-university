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5" r:id="rId5"/>
    <p:sldId id="264" r:id="rId6"/>
    <p:sldId id="268" r:id="rId7"/>
    <p:sldId id="266" r:id="rId8"/>
    <p:sldId id="267" r:id="rId9"/>
    <p:sldId id="261" r:id="rId10"/>
    <p:sldId id="262"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49E45-218D-4736-A94E-DBABC206C7C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B2CFE85-4FC5-4F32-B48F-682DC11D60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6CA8075-68C4-433B-9488-C7C1C743FC57}"/>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5" name="Footer Placeholder 4">
            <a:extLst>
              <a:ext uri="{FF2B5EF4-FFF2-40B4-BE49-F238E27FC236}">
                <a16:creationId xmlns:a16="http://schemas.microsoft.com/office/drawing/2014/main" id="{C54CC761-36B0-423D-ABCC-A11E10D11E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6436D7-8F25-49FE-A4CF-E13E849C5732}"/>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34184304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8A93E-CBBF-4B5F-BA8B-204A5810CC7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ECCE6D-5D95-448E-B0C3-4300400C66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BCE22B0-3ECE-4B17-98D6-665B445A13BE}"/>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5" name="Footer Placeholder 4">
            <a:extLst>
              <a:ext uri="{FF2B5EF4-FFF2-40B4-BE49-F238E27FC236}">
                <a16:creationId xmlns:a16="http://schemas.microsoft.com/office/drawing/2014/main" id="{01AF7A4A-1F35-4B9E-BB9D-5B372E103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1F1D89-4E58-43DE-B2F6-ECEB476CE2BD}"/>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5277565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38ADA2-D1BD-47CF-BC16-DF9D56802A4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8665E9-A983-41A5-93B0-A8506D8CCE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C0EC31C-803C-48A0-908A-2EC3107F3869}"/>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5" name="Footer Placeholder 4">
            <a:extLst>
              <a:ext uri="{FF2B5EF4-FFF2-40B4-BE49-F238E27FC236}">
                <a16:creationId xmlns:a16="http://schemas.microsoft.com/office/drawing/2014/main" id="{43419A9A-9E8E-4054-9846-F8E1037F391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DBCE04D-2F90-4B26-B823-FC0220A70833}"/>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11664394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67691-08DC-41C0-B0B7-49FBA34AF8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9EAF8EA-A217-4D71-B986-C3B8CCE8BE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734FF8B-9B70-4E46-BBD0-1B5ECB92E0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70CAADD-9479-447F-9E57-A7C3E85B87F0}"/>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6" name="Footer Placeholder 5">
            <a:extLst>
              <a:ext uri="{FF2B5EF4-FFF2-40B4-BE49-F238E27FC236}">
                <a16:creationId xmlns:a16="http://schemas.microsoft.com/office/drawing/2014/main" id="{50745A16-0488-4F5C-94B2-60A8E9B817F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1CA3EB-C7C0-44CA-8ADA-72317DA3B82A}"/>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2565968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9DF38-2D55-4FA9-A87A-F435CEA8173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A0982F-8524-429A-BF6B-19A27F256B6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ABF808-F5E4-440C-95D4-B5FB33DBEDE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32A862D-1154-4578-9674-98515B6330D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DD3109F-5BDA-4C4F-AC10-49C87F9393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3D93F01-373D-40FB-A7D9-D54E832337B6}"/>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8" name="Footer Placeholder 7">
            <a:extLst>
              <a:ext uri="{FF2B5EF4-FFF2-40B4-BE49-F238E27FC236}">
                <a16:creationId xmlns:a16="http://schemas.microsoft.com/office/drawing/2014/main" id="{53B14C2E-F303-4215-B726-A874E2EC42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6E11589-3689-4645-AD08-1BEE83525445}"/>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28601892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B5E01D-6704-4B70-A8E8-230790E3502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548BE0-AA72-4A69-896A-944308D2795A}"/>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4" name="Footer Placeholder 3">
            <a:extLst>
              <a:ext uri="{FF2B5EF4-FFF2-40B4-BE49-F238E27FC236}">
                <a16:creationId xmlns:a16="http://schemas.microsoft.com/office/drawing/2014/main" id="{866C2BC1-F65C-4288-9BB3-3311001B38F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BBBC957-2294-4B3E-BE15-2BDF9CCC60ED}"/>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42537525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E7BAA3-BF2B-494D-9EA5-A023EAA71FF9}"/>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3" name="Footer Placeholder 2">
            <a:extLst>
              <a:ext uri="{FF2B5EF4-FFF2-40B4-BE49-F238E27FC236}">
                <a16:creationId xmlns:a16="http://schemas.microsoft.com/office/drawing/2014/main" id="{CD3437D4-0171-4CFB-912C-47559486206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32E9517-341F-4076-8F07-CA1D99176F85}"/>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39293973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139F4-94A0-4EB1-A7A4-F911C21098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127A968-F639-47D5-BCD1-140926916B0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9AEEE2F-AF9F-4283-A655-6FE82835E7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0A53CA-D7DB-40A5-B599-BC6F7C45769A}"/>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6" name="Footer Placeholder 5">
            <a:extLst>
              <a:ext uri="{FF2B5EF4-FFF2-40B4-BE49-F238E27FC236}">
                <a16:creationId xmlns:a16="http://schemas.microsoft.com/office/drawing/2014/main" id="{8E2509B2-7F8B-4131-96B5-6B45BE93F27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1C854B3-69E0-4747-931D-0EB8EE9BE4EF}"/>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30900246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10C60-CB91-4BEF-8F49-E4C2360EA2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12D4881-5995-4FF8-A07B-FBA9931DC2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E8D09ED-D391-4C81-9919-ABAB92D43E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42DA1D6-62AD-470A-9975-E937A9E7BB60}"/>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6" name="Footer Placeholder 5">
            <a:extLst>
              <a:ext uri="{FF2B5EF4-FFF2-40B4-BE49-F238E27FC236}">
                <a16:creationId xmlns:a16="http://schemas.microsoft.com/office/drawing/2014/main" id="{670BCB70-198D-4E26-99CC-548BD0D37CA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AD43D5-2D40-4046-9CB4-DF287F129B33}"/>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14877260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DBC50E-CA58-41EC-BE14-8EF4B3FFB14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01936E3-5659-41BB-A14A-8FE9D4EB5F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03EC035-6D1E-497F-A752-E8ABE1904C6B}"/>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5" name="Footer Placeholder 4">
            <a:extLst>
              <a:ext uri="{FF2B5EF4-FFF2-40B4-BE49-F238E27FC236}">
                <a16:creationId xmlns:a16="http://schemas.microsoft.com/office/drawing/2014/main" id="{72609921-C523-453C-B901-83F7F1F4744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1200AC-24A8-4F87-9F88-C0A7ADB23E0A}"/>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41022987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926549-A4DF-4E9E-AE22-DA1C2798562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57C957C-9BAB-47CD-A966-65C0E11E17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B541042-9FFD-45D8-AA0D-BF5E36A050E5}"/>
              </a:ext>
            </a:extLst>
          </p:cNvPr>
          <p:cNvSpPr>
            <a:spLocks noGrp="1"/>
          </p:cNvSpPr>
          <p:nvPr>
            <p:ph type="dt" sz="half" idx="10"/>
          </p:nvPr>
        </p:nvSpPr>
        <p:spPr/>
        <p:txBody>
          <a:bodyPr/>
          <a:lstStyle/>
          <a:p>
            <a:fld id="{EE020407-A62C-4F9F-81B0-AD88C14A10BA}" type="datetimeFigureOut">
              <a:rPr lang="en-IN" smtClean="0"/>
              <a:t>31-12-2023</a:t>
            </a:fld>
            <a:endParaRPr lang="en-IN"/>
          </a:p>
        </p:txBody>
      </p:sp>
      <p:sp>
        <p:nvSpPr>
          <p:cNvPr id="5" name="Footer Placeholder 4">
            <a:extLst>
              <a:ext uri="{FF2B5EF4-FFF2-40B4-BE49-F238E27FC236}">
                <a16:creationId xmlns:a16="http://schemas.microsoft.com/office/drawing/2014/main" id="{9935232B-7227-4F05-A02A-DC973BE7FB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6DB945B-BB9C-4C58-8935-F96B3F0CC7E9}"/>
              </a:ext>
            </a:extLst>
          </p:cNvPr>
          <p:cNvSpPr>
            <a:spLocks noGrp="1"/>
          </p:cNvSpPr>
          <p:nvPr>
            <p:ph type="sldNum" sz="quarter" idx="12"/>
          </p:nvPr>
        </p:nvSpPr>
        <p:spPr/>
        <p:txBody>
          <a:bodyPr/>
          <a:lstStyle/>
          <a:p>
            <a:fld id="{A0FEFEAC-E1F7-40A1-9B2A-BEEB0E79DBA7}" type="slidenum">
              <a:rPr lang="en-IN" smtClean="0"/>
              <a:t>‹#›</a:t>
            </a:fld>
            <a:endParaRPr lang="en-IN"/>
          </a:p>
        </p:txBody>
      </p:sp>
    </p:spTree>
    <p:extLst>
      <p:ext uri="{BB962C8B-B14F-4D97-AF65-F5344CB8AC3E}">
        <p14:creationId xmlns:p14="http://schemas.microsoft.com/office/powerpoint/2010/main" val="2069952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FB3BF1-BEF8-4446-BC16-E2D452462A8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94B4E3-60E0-4FCE-AE34-3B0AF08C91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F2ED4E0-364C-4F2F-B7A7-A45EB6ED31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20407-A62C-4F9F-81B0-AD88C14A10BA}" type="datetimeFigureOut">
              <a:rPr lang="en-IN" smtClean="0"/>
              <a:t>31-12-2023</a:t>
            </a:fld>
            <a:endParaRPr lang="en-IN"/>
          </a:p>
        </p:txBody>
      </p:sp>
      <p:sp>
        <p:nvSpPr>
          <p:cNvPr id="5" name="Footer Placeholder 4">
            <a:extLst>
              <a:ext uri="{FF2B5EF4-FFF2-40B4-BE49-F238E27FC236}">
                <a16:creationId xmlns:a16="http://schemas.microsoft.com/office/drawing/2014/main" id="{B0213F30-644B-428A-AA93-62E9DB5EA3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3CD493C-868C-4536-A04C-0D2A18B2A9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EFEAC-E1F7-40A1-9B2A-BEEB0E79DBA7}" type="slidenum">
              <a:rPr lang="en-IN" smtClean="0"/>
              <a:t>‹#›</a:t>
            </a:fld>
            <a:endParaRPr lang="en-IN"/>
          </a:p>
        </p:txBody>
      </p:sp>
    </p:spTree>
    <p:extLst>
      <p:ext uri="{BB962C8B-B14F-4D97-AF65-F5344CB8AC3E}">
        <p14:creationId xmlns:p14="http://schemas.microsoft.com/office/powerpoint/2010/main" val="9570768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E926B-510D-4EEF-8CB0-72FAA5095BDB}"/>
              </a:ext>
            </a:extLst>
          </p:cNvPr>
          <p:cNvSpPr>
            <a:spLocks noGrp="1"/>
          </p:cNvSpPr>
          <p:nvPr>
            <p:ph type="ctrTitle"/>
          </p:nvPr>
        </p:nvSpPr>
        <p:spPr>
          <a:xfrm>
            <a:off x="1524000" y="294482"/>
            <a:ext cx="9144000" cy="1655762"/>
          </a:xfrm>
        </p:spPr>
        <p:txBody>
          <a:bodyPr>
            <a:normAutofit fontScale="90000"/>
          </a:bodyPr>
          <a:lstStyle/>
          <a:p>
            <a:r>
              <a:rPr lang="en-GB" b="1" dirty="0"/>
              <a:t>Unit 4</a:t>
            </a:r>
            <a:br>
              <a:rPr lang="en-GB" b="1" dirty="0"/>
            </a:br>
            <a:r>
              <a:rPr lang="en-GB" b="1" dirty="0"/>
              <a:t>IMAGE RESTORATION</a:t>
            </a:r>
            <a:endParaRPr lang="en-IN" b="1" dirty="0"/>
          </a:p>
        </p:txBody>
      </p:sp>
      <p:sp>
        <p:nvSpPr>
          <p:cNvPr id="3" name="Subtitle 2">
            <a:extLst>
              <a:ext uri="{FF2B5EF4-FFF2-40B4-BE49-F238E27FC236}">
                <a16:creationId xmlns:a16="http://schemas.microsoft.com/office/drawing/2014/main" id="{26685328-794F-4222-B84E-CD12711729CD}"/>
              </a:ext>
            </a:extLst>
          </p:cNvPr>
          <p:cNvSpPr>
            <a:spLocks noGrp="1"/>
          </p:cNvSpPr>
          <p:nvPr>
            <p:ph type="subTitle" idx="1"/>
          </p:nvPr>
        </p:nvSpPr>
        <p:spPr>
          <a:xfrm>
            <a:off x="1524000" y="2792570"/>
            <a:ext cx="9144000" cy="1655762"/>
          </a:xfrm>
        </p:spPr>
        <p:txBody>
          <a:bodyPr>
            <a:normAutofit lnSpcReduction="10000"/>
          </a:bodyPr>
          <a:lstStyle/>
          <a:p>
            <a:pPr algn="l"/>
            <a:r>
              <a:rPr lang="en-GB" dirty="0">
                <a:solidFill>
                  <a:srgbClr val="FF0000"/>
                </a:solidFill>
              </a:rPr>
              <a:t>Presented By</a:t>
            </a:r>
          </a:p>
          <a:p>
            <a:r>
              <a:rPr lang="en-GB" dirty="0">
                <a:solidFill>
                  <a:srgbClr val="FF0000"/>
                </a:solidFill>
              </a:rPr>
              <a:t>Er.Harendra Bikram Shah</a:t>
            </a:r>
          </a:p>
          <a:p>
            <a:r>
              <a:rPr lang="en-GB" dirty="0">
                <a:solidFill>
                  <a:srgbClr val="FF0000"/>
                </a:solidFill>
              </a:rPr>
              <a:t>(Lecturer)</a:t>
            </a:r>
          </a:p>
          <a:p>
            <a:r>
              <a:rPr lang="en-GB" dirty="0">
                <a:solidFill>
                  <a:srgbClr val="FF0000"/>
                </a:solidFill>
              </a:rPr>
              <a:t>Department of Computer Engineering</a:t>
            </a:r>
            <a:endParaRPr lang="en-IN" dirty="0">
              <a:solidFill>
                <a:srgbClr val="FF0000"/>
              </a:solidFill>
            </a:endParaRPr>
          </a:p>
        </p:txBody>
      </p:sp>
    </p:spTree>
    <p:extLst>
      <p:ext uri="{BB962C8B-B14F-4D97-AF65-F5344CB8AC3E}">
        <p14:creationId xmlns:p14="http://schemas.microsoft.com/office/powerpoint/2010/main" val="3013521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4DBF-C6E7-4A5D-A63C-F0788FB8A0A4}"/>
              </a:ext>
            </a:extLst>
          </p:cNvPr>
          <p:cNvSpPr>
            <a:spLocks noGrp="1"/>
          </p:cNvSpPr>
          <p:nvPr>
            <p:ph type="title"/>
          </p:nvPr>
        </p:nvSpPr>
        <p:spPr/>
        <p:txBody>
          <a:bodyPr>
            <a:normAutofit/>
          </a:bodyPr>
          <a:lstStyle/>
          <a:p>
            <a:pPr algn="ctr"/>
            <a:r>
              <a:rPr lang="en-GB" sz="6600" b="1" dirty="0"/>
              <a:t>OUTLINES</a:t>
            </a:r>
            <a:endParaRPr lang="en-IN" sz="6600" b="1" dirty="0"/>
          </a:p>
        </p:txBody>
      </p:sp>
      <p:sp>
        <p:nvSpPr>
          <p:cNvPr id="3" name="Content Placeholder 2">
            <a:extLst>
              <a:ext uri="{FF2B5EF4-FFF2-40B4-BE49-F238E27FC236}">
                <a16:creationId xmlns:a16="http://schemas.microsoft.com/office/drawing/2014/main" id="{7738E1A1-9C72-43A1-8B12-1D16A8287865}"/>
              </a:ext>
            </a:extLst>
          </p:cNvPr>
          <p:cNvSpPr>
            <a:spLocks noGrp="1"/>
          </p:cNvSpPr>
          <p:nvPr>
            <p:ph idx="1"/>
          </p:nvPr>
        </p:nvSpPr>
        <p:spPr>
          <a:xfrm>
            <a:off x="697524" y="1825625"/>
            <a:ext cx="10515600" cy="1603375"/>
          </a:xfrm>
        </p:spPr>
        <p:txBody>
          <a:bodyPr>
            <a:normAutofit fontScale="92500"/>
          </a:bodyPr>
          <a:lstStyle/>
          <a:p>
            <a:r>
              <a:rPr lang="en-GB" dirty="0"/>
              <a:t> Introduction to Image Restoration</a:t>
            </a:r>
          </a:p>
          <a:p>
            <a:r>
              <a:rPr lang="en-GB" dirty="0"/>
              <a:t>Noise Models Restoration in the Presence of Noise only Spatial Filtering</a:t>
            </a:r>
          </a:p>
          <a:p>
            <a:r>
              <a:rPr lang="en-GB" dirty="0"/>
              <a:t>Periodic Noise Reduction by Frequency Domain Filtering  </a:t>
            </a:r>
            <a:endParaRPr lang="en-IN" dirty="0"/>
          </a:p>
        </p:txBody>
      </p:sp>
    </p:spTree>
    <p:extLst>
      <p:ext uri="{BB962C8B-B14F-4D97-AF65-F5344CB8AC3E}">
        <p14:creationId xmlns:p14="http://schemas.microsoft.com/office/powerpoint/2010/main" val="36753848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4DBF-C6E7-4A5D-A63C-F0788FB8A0A4}"/>
              </a:ext>
            </a:extLst>
          </p:cNvPr>
          <p:cNvSpPr>
            <a:spLocks noGrp="1"/>
          </p:cNvSpPr>
          <p:nvPr>
            <p:ph type="title"/>
          </p:nvPr>
        </p:nvSpPr>
        <p:spPr>
          <a:xfrm>
            <a:off x="838200" y="125976"/>
            <a:ext cx="10515600" cy="802492"/>
          </a:xfrm>
        </p:spPr>
        <p:txBody>
          <a:bodyPr/>
          <a:lstStyle/>
          <a:p>
            <a:pPr algn="ctr"/>
            <a:r>
              <a:rPr lang="en-GB" b="1" dirty="0"/>
              <a:t>Introduction to Image Restoration</a:t>
            </a:r>
          </a:p>
        </p:txBody>
      </p:sp>
      <p:sp>
        <p:nvSpPr>
          <p:cNvPr id="7" name="TextBox 6">
            <a:extLst>
              <a:ext uri="{FF2B5EF4-FFF2-40B4-BE49-F238E27FC236}">
                <a16:creationId xmlns:a16="http://schemas.microsoft.com/office/drawing/2014/main" id="{72CDDBA7-473D-6DF9-3D03-6F4E8FC336DC}"/>
              </a:ext>
            </a:extLst>
          </p:cNvPr>
          <p:cNvSpPr txBox="1"/>
          <p:nvPr/>
        </p:nvSpPr>
        <p:spPr>
          <a:xfrm>
            <a:off x="368690" y="928468"/>
            <a:ext cx="11454619" cy="1754326"/>
          </a:xfrm>
          <a:prstGeom prst="rect">
            <a:avLst/>
          </a:prstGeom>
          <a:noFill/>
        </p:spPr>
        <p:txBody>
          <a:bodyPr wrap="square">
            <a:spAutoFit/>
          </a:bodyPr>
          <a:lstStyle/>
          <a:p>
            <a:pPr marL="285750" indent="-285750" algn="just">
              <a:buFont typeface="Arial" panose="020B0604020202020204" pitchFamily="34" charset="0"/>
              <a:buChar char="•"/>
            </a:pPr>
            <a:r>
              <a:rPr lang="en-GB" dirty="0"/>
              <a:t>Image restoration refers to the process of enhancing or recovering the quality of a digital image that has been degraded or damaged. </a:t>
            </a:r>
          </a:p>
          <a:p>
            <a:pPr marL="285750" indent="-285750" algn="just">
              <a:buFont typeface="Arial" panose="020B0604020202020204" pitchFamily="34" charset="0"/>
              <a:buChar char="•"/>
            </a:pPr>
            <a:r>
              <a:rPr lang="en-GB" dirty="0"/>
              <a:t>The degradation of images can occur due to various factors such as noise, blurring, compression artifacts, or other distortions during acquisition, transmission, or storage. </a:t>
            </a:r>
          </a:p>
          <a:p>
            <a:pPr marL="285750" indent="-285750" algn="just">
              <a:buFont typeface="Arial" panose="020B0604020202020204" pitchFamily="34" charset="0"/>
              <a:buChar char="•"/>
            </a:pPr>
            <a:r>
              <a:rPr lang="en-GB" dirty="0"/>
              <a:t>The goal of image restoration is to improve the visual appearance of the image, making it closer to its original or desired state.</a:t>
            </a:r>
            <a:endParaRPr lang="en-IN" dirty="0"/>
          </a:p>
        </p:txBody>
      </p:sp>
      <p:pic>
        <p:nvPicPr>
          <p:cNvPr id="2050" name="Picture 2" descr="Old Photo restoration columbia south carolina">
            <a:extLst>
              <a:ext uri="{FF2B5EF4-FFF2-40B4-BE49-F238E27FC236}">
                <a16:creationId xmlns:a16="http://schemas.microsoft.com/office/drawing/2014/main" id="{CC43DA58-D0E1-6592-1614-7D2801CF0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5742" y="2682794"/>
            <a:ext cx="6428935" cy="39290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41294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4DBF-C6E7-4A5D-A63C-F0788FB8A0A4}"/>
              </a:ext>
            </a:extLst>
          </p:cNvPr>
          <p:cNvSpPr>
            <a:spLocks noGrp="1"/>
          </p:cNvSpPr>
          <p:nvPr>
            <p:ph type="title"/>
          </p:nvPr>
        </p:nvSpPr>
        <p:spPr>
          <a:xfrm>
            <a:off x="838200" y="125976"/>
            <a:ext cx="10515600" cy="802492"/>
          </a:xfrm>
        </p:spPr>
        <p:txBody>
          <a:bodyPr/>
          <a:lstStyle/>
          <a:p>
            <a:pPr algn="ctr"/>
            <a:r>
              <a:rPr lang="en-GB" b="1" dirty="0"/>
              <a:t>Introduction to Image Restoration</a:t>
            </a:r>
          </a:p>
        </p:txBody>
      </p:sp>
      <p:sp>
        <p:nvSpPr>
          <p:cNvPr id="4" name="TextBox 3">
            <a:extLst>
              <a:ext uri="{FF2B5EF4-FFF2-40B4-BE49-F238E27FC236}">
                <a16:creationId xmlns:a16="http://schemas.microsoft.com/office/drawing/2014/main" id="{709E974E-DFFE-F063-EFE2-E2EA252E097E}"/>
              </a:ext>
            </a:extLst>
          </p:cNvPr>
          <p:cNvSpPr txBox="1"/>
          <p:nvPr/>
        </p:nvSpPr>
        <p:spPr>
          <a:xfrm>
            <a:off x="564466" y="928468"/>
            <a:ext cx="11063068" cy="1754326"/>
          </a:xfrm>
          <a:prstGeom prst="rect">
            <a:avLst/>
          </a:prstGeom>
          <a:noFill/>
        </p:spPr>
        <p:txBody>
          <a:bodyPr wrap="square">
            <a:spAutoFit/>
          </a:bodyPr>
          <a:lstStyle/>
          <a:p>
            <a:pPr algn="just"/>
            <a:r>
              <a:rPr lang="en-GB" dirty="0"/>
              <a:t>Common methods include:</a:t>
            </a:r>
          </a:p>
          <a:p>
            <a:pPr algn="just">
              <a:buFont typeface="+mj-lt"/>
              <a:buAutoNum type="arabicPeriod"/>
            </a:pPr>
            <a:r>
              <a:rPr lang="en-GB" b="1" dirty="0"/>
              <a:t>Noise Reduction: </a:t>
            </a:r>
          </a:p>
          <a:p>
            <a:pPr algn="just">
              <a:buFont typeface="+mj-lt"/>
              <a:buAutoNum type="arabicPeriod"/>
            </a:pPr>
            <a:r>
              <a:rPr lang="en-GB" b="1" dirty="0"/>
              <a:t>Deblurring: </a:t>
            </a:r>
          </a:p>
          <a:p>
            <a:pPr algn="just">
              <a:buFont typeface="+mj-lt"/>
              <a:buAutoNum type="arabicPeriod"/>
            </a:pPr>
            <a:r>
              <a:rPr lang="en-GB" b="1" dirty="0"/>
              <a:t>Artifact Removal:</a:t>
            </a:r>
            <a:endParaRPr lang="en-GB" dirty="0"/>
          </a:p>
          <a:p>
            <a:pPr algn="just">
              <a:buFont typeface="+mj-lt"/>
              <a:buAutoNum type="arabicPeriod"/>
            </a:pPr>
            <a:r>
              <a:rPr lang="en-GB" b="1" dirty="0"/>
              <a:t>Resolution Enhancement: </a:t>
            </a:r>
          </a:p>
          <a:p>
            <a:pPr algn="just">
              <a:buFont typeface="+mj-lt"/>
              <a:buAutoNum type="arabicPeriod"/>
            </a:pPr>
            <a:r>
              <a:rPr lang="en-GB" b="1" dirty="0"/>
              <a:t>Color Correction</a:t>
            </a:r>
            <a:r>
              <a:rPr lang="en-GB" dirty="0"/>
              <a:t>:</a:t>
            </a:r>
          </a:p>
        </p:txBody>
      </p:sp>
      <p:sp>
        <p:nvSpPr>
          <p:cNvPr id="6" name="TextBox 5">
            <a:extLst>
              <a:ext uri="{FF2B5EF4-FFF2-40B4-BE49-F238E27FC236}">
                <a16:creationId xmlns:a16="http://schemas.microsoft.com/office/drawing/2014/main" id="{4BA5AA50-6962-274B-555E-400D291C608A}"/>
              </a:ext>
            </a:extLst>
          </p:cNvPr>
          <p:cNvSpPr txBox="1"/>
          <p:nvPr/>
        </p:nvSpPr>
        <p:spPr>
          <a:xfrm>
            <a:off x="564466" y="3148037"/>
            <a:ext cx="11063068" cy="1754326"/>
          </a:xfrm>
          <a:prstGeom prst="rect">
            <a:avLst/>
          </a:prstGeom>
          <a:noFill/>
        </p:spPr>
        <p:txBody>
          <a:bodyPr wrap="square">
            <a:spAutoFit/>
          </a:bodyPr>
          <a:lstStyle/>
          <a:p>
            <a:pPr algn="just"/>
            <a:r>
              <a:rPr lang="en-GB" dirty="0"/>
              <a:t>Image restoration is widely used in various fields, </a:t>
            </a:r>
          </a:p>
          <a:p>
            <a:pPr marL="285750" indent="-285750" algn="just">
              <a:buFont typeface="Wingdings" panose="05000000000000000000" pitchFamily="2" charset="2"/>
              <a:buChar char="Ø"/>
            </a:pPr>
            <a:r>
              <a:rPr lang="en-GB" b="1" dirty="0"/>
              <a:t>medical imaging</a:t>
            </a:r>
          </a:p>
          <a:p>
            <a:pPr marL="285750" indent="-285750" algn="just">
              <a:buFont typeface="Wingdings" panose="05000000000000000000" pitchFamily="2" charset="2"/>
              <a:buChar char="Ø"/>
            </a:pPr>
            <a:r>
              <a:rPr lang="en-GB" b="1" dirty="0"/>
              <a:t>satellite imagery</a:t>
            </a:r>
          </a:p>
          <a:p>
            <a:pPr marL="285750" indent="-285750" algn="just">
              <a:buFont typeface="Wingdings" panose="05000000000000000000" pitchFamily="2" charset="2"/>
              <a:buChar char="Ø"/>
            </a:pPr>
            <a:r>
              <a:rPr lang="en-GB" b="1" dirty="0"/>
              <a:t>Surveillance</a:t>
            </a:r>
          </a:p>
          <a:p>
            <a:pPr marL="285750" indent="-285750" algn="just">
              <a:buFont typeface="Wingdings" panose="05000000000000000000" pitchFamily="2" charset="2"/>
              <a:buChar char="Ø"/>
            </a:pPr>
            <a:r>
              <a:rPr lang="en-GB" b="1" dirty="0"/>
              <a:t>Photography</a:t>
            </a:r>
          </a:p>
          <a:p>
            <a:pPr marL="285750" indent="-285750" algn="just">
              <a:buFont typeface="Wingdings" panose="05000000000000000000" pitchFamily="2" charset="2"/>
              <a:buChar char="Ø"/>
            </a:pPr>
            <a:r>
              <a:rPr lang="en-GB" b="1" dirty="0"/>
              <a:t>video processing</a:t>
            </a:r>
            <a:endParaRPr lang="en-IN" b="1" dirty="0"/>
          </a:p>
        </p:txBody>
      </p:sp>
    </p:spTree>
    <p:extLst>
      <p:ext uri="{BB962C8B-B14F-4D97-AF65-F5344CB8AC3E}">
        <p14:creationId xmlns:p14="http://schemas.microsoft.com/office/powerpoint/2010/main" val="7642281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4DBF-C6E7-4A5D-A63C-F0788FB8A0A4}"/>
              </a:ext>
            </a:extLst>
          </p:cNvPr>
          <p:cNvSpPr>
            <a:spLocks noGrp="1"/>
          </p:cNvSpPr>
          <p:nvPr>
            <p:ph type="title"/>
          </p:nvPr>
        </p:nvSpPr>
        <p:spPr>
          <a:xfrm>
            <a:off x="838200" y="125976"/>
            <a:ext cx="10515600" cy="802492"/>
          </a:xfrm>
        </p:spPr>
        <p:txBody>
          <a:bodyPr/>
          <a:lstStyle/>
          <a:p>
            <a:pPr algn="ctr"/>
            <a:r>
              <a:rPr lang="en-GB" b="1" dirty="0"/>
              <a:t>Image Degradation /Restoration Process</a:t>
            </a:r>
          </a:p>
        </p:txBody>
      </p:sp>
      <p:pic>
        <p:nvPicPr>
          <p:cNvPr id="1026" name="Picture 2" descr="A model of the image degradation/restoration process. | Download Scientific  Diagram">
            <a:extLst>
              <a:ext uri="{FF2B5EF4-FFF2-40B4-BE49-F238E27FC236}">
                <a16:creationId xmlns:a16="http://schemas.microsoft.com/office/drawing/2014/main" id="{C5A39BBF-6D2E-4512-E42B-A8122879AD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2702" y="1322363"/>
            <a:ext cx="9748910" cy="42906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497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RESTORATION Outline A model of the image degradation / restoration  process Noise models Restoration in the presence of noise only – spatial  filtering. - ppt download">
            <a:extLst>
              <a:ext uri="{FF2B5EF4-FFF2-40B4-BE49-F238E27FC236}">
                <a16:creationId xmlns:a16="http://schemas.microsoft.com/office/drawing/2014/main" id="{E1654966-98E1-DA00-0EC0-CAB5714D5C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45" y="0"/>
            <a:ext cx="11746523" cy="64922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79748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4DBF-C6E7-4A5D-A63C-F0788FB8A0A4}"/>
              </a:ext>
            </a:extLst>
          </p:cNvPr>
          <p:cNvSpPr>
            <a:spLocks noGrp="1"/>
          </p:cNvSpPr>
          <p:nvPr>
            <p:ph type="title"/>
          </p:nvPr>
        </p:nvSpPr>
        <p:spPr>
          <a:xfrm>
            <a:off x="838200" y="125976"/>
            <a:ext cx="10515600" cy="802492"/>
          </a:xfrm>
        </p:spPr>
        <p:txBody>
          <a:bodyPr>
            <a:noAutofit/>
          </a:bodyPr>
          <a:lstStyle/>
          <a:p>
            <a:pPr algn="ctr"/>
            <a:r>
              <a:rPr lang="en-GB" sz="2800" b="1" dirty="0"/>
              <a:t>Noise Models Restoration in the Presence of Noise only Spatial Filtering </a:t>
            </a:r>
          </a:p>
        </p:txBody>
      </p:sp>
      <p:sp>
        <p:nvSpPr>
          <p:cNvPr id="4" name="TextBox 3">
            <a:extLst>
              <a:ext uri="{FF2B5EF4-FFF2-40B4-BE49-F238E27FC236}">
                <a16:creationId xmlns:a16="http://schemas.microsoft.com/office/drawing/2014/main" id="{15C32991-0D8E-1812-65AF-59D7633186D1}"/>
              </a:ext>
            </a:extLst>
          </p:cNvPr>
          <p:cNvSpPr txBox="1"/>
          <p:nvPr/>
        </p:nvSpPr>
        <p:spPr>
          <a:xfrm>
            <a:off x="531054" y="1236858"/>
            <a:ext cx="11539025" cy="3477875"/>
          </a:xfrm>
          <a:prstGeom prst="rect">
            <a:avLst/>
          </a:prstGeom>
          <a:noFill/>
        </p:spPr>
        <p:txBody>
          <a:bodyPr wrap="square">
            <a:spAutoFit/>
          </a:bodyPr>
          <a:lstStyle/>
          <a:p>
            <a:pPr marL="285750" indent="-285750" algn="l">
              <a:buFont typeface="Wingdings" panose="05000000000000000000" pitchFamily="2" charset="2"/>
              <a:buChar char="Ø"/>
            </a:pPr>
            <a:r>
              <a:rPr lang="en-GB" sz="2000" dirty="0"/>
              <a:t>Spatial filtering involves manipulating the pixel values of an image based on their spatial arrangement. </a:t>
            </a:r>
          </a:p>
          <a:p>
            <a:pPr marL="285750" indent="-285750" algn="l">
              <a:buFont typeface="Wingdings" panose="05000000000000000000" pitchFamily="2" charset="2"/>
              <a:buChar char="Ø"/>
            </a:pPr>
            <a:r>
              <a:rPr lang="en-GB" sz="2000" dirty="0"/>
              <a:t>In the context of noise reduction, spatial filters are designed to preserve image details while reducing the impact of noise.</a:t>
            </a:r>
          </a:p>
          <a:p>
            <a:pPr algn="l"/>
            <a:r>
              <a:rPr lang="en-GB" sz="2000" b="1" dirty="0"/>
              <a:t>process of noise reduction using spatial filtering:</a:t>
            </a:r>
          </a:p>
          <a:p>
            <a:pPr algn="l">
              <a:buFont typeface="+mj-lt"/>
              <a:buAutoNum type="arabicPeriod"/>
            </a:pPr>
            <a:r>
              <a:rPr lang="en-GB" sz="2000" dirty="0"/>
              <a:t>Understanding Noise Models:</a:t>
            </a:r>
          </a:p>
          <a:p>
            <a:pPr algn="l">
              <a:buFont typeface="+mj-lt"/>
              <a:buAutoNum type="arabicPeriod"/>
            </a:pPr>
            <a:r>
              <a:rPr lang="en-GB" sz="2000" dirty="0"/>
              <a:t>Spatial Filtering:</a:t>
            </a:r>
          </a:p>
          <a:p>
            <a:pPr algn="l">
              <a:buFont typeface="+mj-lt"/>
              <a:buAutoNum type="arabicPeriod"/>
            </a:pPr>
            <a:r>
              <a:rPr lang="en-GB" sz="2000" dirty="0"/>
              <a:t>Mean Filter:</a:t>
            </a:r>
          </a:p>
          <a:p>
            <a:pPr algn="l">
              <a:buFont typeface="+mj-lt"/>
              <a:buAutoNum type="arabicPeriod"/>
            </a:pPr>
            <a:r>
              <a:rPr lang="en-GB" sz="2000" dirty="0"/>
              <a:t>Median Filter:</a:t>
            </a:r>
          </a:p>
          <a:p>
            <a:pPr algn="l">
              <a:buFont typeface="+mj-lt"/>
              <a:buAutoNum type="arabicPeriod"/>
            </a:pPr>
            <a:r>
              <a:rPr lang="en-GB" sz="2000" dirty="0"/>
              <a:t>Gaussian Filter:</a:t>
            </a:r>
          </a:p>
          <a:p>
            <a:pPr algn="l">
              <a:buFont typeface="+mj-lt"/>
              <a:buAutoNum type="arabicPeriod"/>
            </a:pPr>
            <a:r>
              <a:rPr lang="en-GB" sz="2000" dirty="0"/>
              <a:t>Adaptive Filters:</a:t>
            </a:r>
          </a:p>
          <a:p>
            <a:pPr algn="l">
              <a:buFont typeface="+mj-lt"/>
              <a:buAutoNum type="arabicPeriod"/>
            </a:pPr>
            <a:r>
              <a:rPr lang="en-GB" sz="2000" dirty="0"/>
              <a:t>Thresholding Techniques:</a:t>
            </a:r>
          </a:p>
        </p:txBody>
      </p:sp>
    </p:spTree>
    <p:extLst>
      <p:ext uri="{BB962C8B-B14F-4D97-AF65-F5344CB8AC3E}">
        <p14:creationId xmlns:p14="http://schemas.microsoft.com/office/powerpoint/2010/main" val="2158609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04DBF-C6E7-4A5D-A63C-F0788FB8A0A4}"/>
              </a:ext>
            </a:extLst>
          </p:cNvPr>
          <p:cNvSpPr>
            <a:spLocks noGrp="1"/>
          </p:cNvSpPr>
          <p:nvPr>
            <p:ph type="title"/>
          </p:nvPr>
        </p:nvSpPr>
        <p:spPr>
          <a:xfrm>
            <a:off x="838200" y="125976"/>
            <a:ext cx="10515600" cy="802492"/>
          </a:xfrm>
        </p:spPr>
        <p:txBody>
          <a:bodyPr>
            <a:noAutofit/>
          </a:bodyPr>
          <a:lstStyle/>
          <a:p>
            <a:pPr algn="ctr"/>
            <a:r>
              <a:rPr lang="en-GB" sz="3600" b="1" dirty="0"/>
              <a:t>Periodic Noise Reduction by Frequency Domain Filtering</a:t>
            </a:r>
          </a:p>
        </p:txBody>
      </p:sp>
      <p:sp>
        <p:nvSpPr>
          <p:cNvPr id="5" name="TextBox 4">
            <a:extLst>
              <a:ext uri="{FF2B5EF4-FFF2-40B4-BE49-F238E27FC236}">
                <a16:creationId xmlns:a16="http://schemas.microsoft.com/office/drawing/2014/main" id="{76C89EB6-960C-0DDD-72C8-97ED160ED15C}"/>
              </a:ext>
            </a:extLst>
          </p:cNvPr>
          <p:cNvSpPr txBox="1"/>
          <p:nvPr/>
        </p:nvSpPr>
        <p:spPr>
          <a:xfrm>
            <a:off x="838200" y="928468"/>
            <a:ext cx="11119338" cy="2862322"/>
          </a:xfrm>
          <a:prstGeom prst="rect">
            <a:avLst/>
          </a:prstGeom>
          <a:noFill/>
        </p:spPr>
        <p:txBody>
          <a:bodyPr wrap="square">
            <a:spAutoFit/>
          </a:bodyPr>
          <a:lstStyle/>
          <a:p>
            <a:pPr marL="285750" indent="-285750" algn="just">
              <a:buFont typeface="Wingdings" panose="05000000000000000000" pitchFamily="2" charset="2"/>
              <a:buChar char="Ø"/>
            </a:pPr>
            <a:r>
              <a:rPr lang="en-GB" dirty="0"/>
              <a:t>Transforming the image from the spatial domain to the frequency domain using techniques such as the Fourier Transform, applying filtering in the frequency domain, and then transforming the image back to the spatial domain.</a:t>
            </a:r>
          </a:p>
          <a:p>
            <a:pPr algn="just"/>
            <a:r>
              <a:rPr lang="en-GB" dirty="0"/>
              <a:t>steps for periodic noise reduction by frequency domain filtering:</a:t>
            </a:r>
          </a:p>
          <a:p>
            <a:pPr algn="just">
              <a:buFont typeface="+mj-lt"/>
              <a:buAutoNum type="arabicPeriod"/>
            </a:pPr>
            <a:r>
              <a:rPr lang="en-GB" dirty="0"/>
              <a:t>Fourier Transform:</a:t>
            </a:r>
          </a:p>
          <a:p>
            <a:pPr algn="just">
              <a:buFont typeface="+mj-lt"/>
              <a:buAutoNum type="arabicPeriod"/>
            </a:pPr>
            <a:r>
              <a:rPr lang="en-GB" dirty="0"/>
              <a:t>Frequency Spectrum Analysis:</a:t>
            </a:r>
          </a:p>
          <a:p>
            <a:pPr algn="just">
              <a:buFont typeface="+mj-lt"/>
              <a:buAutoNum type="arabicPeriod"/>
            </a:pPr>
            <a:r>
              <a:rPr lang="en-GB" dirty="0"/>
              <a:t>Filter Design:</a:t>
            </a:r>
          </a:p>
          <a:p>
            <a:pPr algn="just">
              <a:buFont typeface="+mj-lt"/>
              <a:buAutoNum type="arabicPeriod"/>
            </a:pPr>
            <a:r>
              <a:rPr lang="en-GB" dirty="0"/>
              <a:t>Filtering Operation:</a:t>
            </a:r>
          </a:p>
          <a:p>
            <a:pPr algn="just">
              <a:buFont typeface="+mj-lt"/>
              <a:buAutoNum type="arabicPeriod"/>
            </a:pPr>
            <a:r>
              <a:rPr lang="en-GB" dirty="0"/>
              <a:t>Inverse Fourier Transform</a:t>
            </a:r>
          </a:p>
          <a:p>
            <a:pPr algn="just">
              <a:buFont typeface="+mj-lt"/>
              <a:buAutoNum type="arabicPeriod"/>
            </a:pPr>
            <a:r>
              <a:rPr lang="en-GB" dirty="0"/>
              <a:t>Post-Processing</a:t>
            </a:r>
          </a:p>
        </p:txBody>
      </p:sp>
    </p:spTree>
    <p:extLst>
      <p:ext uri="{BB962C8B-B14F-4D97-AF65-F5344CB8AC3E}">
        <p14:creationId xmlns:p14="http://schemas.microsoft.com/office/powerpoint/2010/main" val="1090919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E78036-C53D-48F0-A6B6-12FD98A8E116}"/>
              </a:ext>
            </a:extLst>
          </p:cNvPr>
          <p:cNvSpPr>
            <a:spLocks noGrp="1"/>
          </p:cNvSpPr>
          <p:nvPr>
            <p:ph type="title"/>
          </p:nvPr>
        </p:nvSpPr>
        <p:spPr>
          <a:xfrm>
            <a:off x="838200" y="2766218"/>
            <a:ext cx="10515600" cy="1325563"/>
          </a:xfrm>
        </p:spPr>
        <p:txBody>
          <a:bodyPr/>
          <a:lstStyle/>
          <a:p>
            <a:pPr algn="ctr"/>
            <a:r>
              <a:rPr lang="en-GB" b="1" dirty="0"/>
              <a:t>End of UNIT 4</a:t>
            </a:r>
            <a:endParaRPr lang="en-IN" b="1" dirty="0"/>
          </a:p>
        </p:txBody>
      </p:sp>
    </p:spTree>
    <p:extLst>
      <p:ext uri="{BB962C8B-B14F-4D97-AF65-F5344CB8AC3E}">
        <p14:creationId xmlns:p14="http://schemas.microsoft.com/office/powerpoint/2010/main" val="33477628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BE78036-C53D-48F0-A6B6-12FD98A8E116}"/>
              </a:ext>
            </a:extLst>
          </p:cNvPr>
          <p:cNvSpPr>
            <a:spLocks noGrp="1"/>
          </p:cNvSpPr>
          <p:nvPr>
            <p:ph type="title"/>
          </p:nvPr>
        </p:nvSpPr>
        <p:spPr>
          <a:xfrm>
            <a:off x="838200" y="2766218"/>
            <a:ext cx="10515600" cy="1325563"/>
          </a:xfrm>
        </p:spPr>
        <p:txBody>
          <a:bodyPr/>
          <a:lstStyle/>
          <a:p>
            <a:pPr algn="ctr"/>
            <a:r>
              <a:rPr lang="en-GB" b="1" dirty="0"/>
              <a:t>THANK YOU</a:t>
            </a:r>
            <a:endParaRPr lang="en-IN" b="1" dirty="0"/>
          </a:p>
        </p:txBody>
      </p:sp>
    </p:spTree>
    <p:extLst>
      <p:ext uri="{BB962C8B-B14F-4D97-AF65-F5344CB8AC3E}">
        <p14:creationId xmlns:p14="http://schemas.microsoft.com/office/powerpoint/2010/main" val="28026906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250</TotalTime>
  <Words>325</Words>
  <Application>Microsoft Office PowerPoint</Application>
  <PresentationFormat>Widescreen</PresentationFormat>
  <Paragraphs>49</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Office Theme</vt:lpstr>
      <vt:lpstr>Unit 4 IMAGE RESTORATION</vt:lpstr>
      <vt:lpstr>OUTLINES</vt:lpstr>
      <vt:lpstr>Introduction to Image Restoration</vt:lpstr>
      <vt:lpstr>Introduction to Image Restoration</vt:lpstr>
      <vt:lpstr>Image Degradation /Restoration Process</vt:lpstr>
      <vt:lpstr>PowerPoint Presentation</vt:lpstr>
      <vt:lpstr>Noise Models Restoration in the Presence of Noise only Spatial Filtering </vt:lpstr>
      <vt:lpstr>Periodic Noise Reduction by Frequency Domain Filtering</vt:lpstr>
      <vt:lpstr>End of UNIT 4</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10 Pattern Recognition</dc:title>
  <dc:creator>Harendra Bikram Shah</dc:creator>
  <cp:lastModifiedBy>Harandra Bikram Shah</cp:lastModifiedBy>
  <cp:revision>29</cp:revision>
  <dcterms:created xsi:type="dcterms:W3CDTF">2022-01-26T11:06:20Z</dcterms:created>
  <dcterms:modified xsi:type="dcterms:W3CDTF">2023-12-31T14:51:06Z</dcterms:modified>
</cp:coreProperties>
</file>