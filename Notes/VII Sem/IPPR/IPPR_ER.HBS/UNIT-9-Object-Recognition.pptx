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9" r:id="rId15"/>
    <p:sldId id="272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5C58-A043-442C-B422-6E593E0D1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B19D9F-C0D5-45F2-94E8-A376721CA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1831D-BD2B-4119-B766-65CE55968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04E49-A29C-4CC1-BE01-53A4C57CD123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DF189-B89C-4302-A262-4A67ABECC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D3D27-B82D-4E9A-A624-E27D9801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02CD-E475-45E8-B263-A8618CA17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999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07AAC-D38D-4F6A-9EFE-77A2235CD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3A872-6DA9-4DDD-8C51-FA95033A1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4C2A2-673F-453A-99F8-75606B190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04E49-A29C-4CC1-BE01-53A4C57CD123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BD915-6595-4E34-A7D3-F21D381D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40635-19F8-4D96-92D0-0111351DD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02CD-E475-45E8-B263-A8618CA17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889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8680C-412E-4797-941B-0A53B3EAA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1C50C-A52C-4F3E-AE53-890030AD4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4FA37-6990-412C-9898-974B3144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04E49-A29C-4CC1-BE01-53A4C57CD123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01640-F716-4DCF-9304-93465D5D6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CA7D1-00A8-4DD8-B8AD-0569BA3A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02CD-E475-45E8-B263-A8618CA17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665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6B258-0DB2-41B4-B949-8D788414A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54551-DBF9-447A-947C-E2A7BB73DC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49005-2519-4780-AED8-6951A68E2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CFB6A-ADC9-46B3-B73F-E50A8B153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04E49-A29C-4CC1-BE01-53A4C57CD123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AF6F6-CABC-4ED9-93A2-A11674536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44C41-8128-413D-A4F1-ABD960BE7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02CD-E475-45E8-B263-A8618CA17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17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E70A9-EBF4-4371-9DC5-4A7965675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D43C9-68E1-42CF-8A21-E1D839C8A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4F964-E63D-402A-90FC-DF6FB338D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5F543-4DB5-4F80-8431-E458C72C24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5EB69E-85E5-4C90-822B-B0DBC49304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1A474A-4915-47E1-BAB4-127D36FC3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04E49-A29C-4CC1-BE01-53A4C57CD123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7EF097-F411-4CF3-B34B-291212535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AAFC5E-9C0F-42F6-84B8-32A2A5C47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02CD-E475-45E8-B263-A8618CA17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671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3810E-FEB5-4E2F-81B1-820826426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CF937B-C83A-44CA-A849-90A28A05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04E49-A29C-4CC1-BE01-53A4C57CD123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D5A548-32B9-47EB-89C1-ACACBEEDB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2C0297-0A4D-4928-A415-C74F7C950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02CD-E475-45E8-B263-A8618CA17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03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1C7CB2-2F57-48A9-BF6D-45FBCB564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04E49-A29C-4CC1-BE01-53A4C57CD123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C0403-CC3C-43FD-B2FA-B4289C48F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BC5C3-34C8-445B-A786-0AE972773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02CD-E475-45E8-B263-A8618CA17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291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9E4A-DB84-4557-9FCD-CE694CE40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AA561-8999-4E5A-B2D1-BB4684B21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EC1D3-3E55-4DF2-9276-6F11C97E5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9CBEB-4025-4D7A-97EC-6ABBD3025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04E49-A29C-4CC1-BE01-53A4C57CD123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29315-9B8F-41DD-BA6E-07927409A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A31FA-A300-4926-B73C-CA36F7D05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02CD-E475-45E8-B263-A8618CA17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932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E7DE1-4880-417F-AEF7-C4603366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B04C94-80B6-45E0-82A1-B8129396F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7FEE3-BDE9-4BAB-AE30-F4E7A4E28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33297-634B-46E0-AE6A-16F6E5A45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04E49-A29C-4CC1-BE01-53A4C57CD123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55EC6-8A25-454D-AC2F-DC41BB70E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8F3CF-A5C2-4E52-AF8A-EB0BCA965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02CD-E475-45E8-B263-A8618CA17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76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EE9B0-C21C-4703-94EB-15EEBB8F7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0CA1C-50C6-4147-877F-392E115C6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18ACC-636E-4949-ADEE-C3715AC63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04E49-A29C-4CC1-BE01-53A4C57CD123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31634-304B-44AC-9408-61667521C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D916E-7087-4D18-8385-D3D3F6F8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02CD-E475-45E8-B263-A8618CA17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77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E7F030-B96F-454E-80EA-063F040DE1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29CD1-831A-4EB8-9A95-DA7F20438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8B28D-6FD0-46D7-AC29-C700A863F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04E49-A29C-4CC1-BE01-53A4C57CD123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A7692-8303-4C66-81DC-B7CA7A779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A410C-76E0-4B43-92ED-9094D75E7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02CD-E475-45E8-B263-A8618CA17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011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D57DED-AABB-4C21-9884-4F47C629A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50591-5F81-4656-B352-4B316CE2A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122F4-A31F-4DDC-AC73-7CC36B8CC8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04E49-A29C-4CC1-BE01-53A4C57CD123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E379B-5C0D-4224-8DC6-281BEE38E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4BB2E-A583-40D0-87EF-519867B42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102CD-E475-45E8-B263-A8618CA17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09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907BB-DE89-4007-8DC3-91581B1AD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875"/>
            <a:ext cx="9144000" cy="1036221"/>
          </a:xfrm>
        </p:spPr>
        <p:txBody>
          <a:bodyPr/>
          <a:lstStyle/>
          <a:p>
            <a:r>
              <a:rPr lang="en-GB" b="1" dirty="0"/>
              <a:t>UNIT :9 Object Recognition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893925-C099-4D6D-ABD2-9F6151DE9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4158" y="2477776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rgbClr val="FF0000"/>
                </a:solidFill>
              </a:rPr>
              <a:t>Prepared By </a:t>
            </a:r>
          </a:p>
          <a:p>
            <a:r>
              <a:rPr lang="en-GB" dirty="0">
                <a:solidFill>
                  <a:srgbClr val="FF0000"/>
                </a:solidFill>
              </a:rPr>
              <a:t>Er.Harendra Bikram Shah</a:t>
            </a:r>
          </a:p>
          <a:p>
            <a:r>
              <a:rPr lang="en-GB" dirty="0">
                <a:solidFill>
                  <a:srgbClr val="FF0000"/>
                </a:solidFill>
              </a:rPr>
              <a:t>(Lecturer)</a:t>
            </a:r>
          </a:p>
          <a:p>
            <a:r>
              <a:rPr lang="en-GB" dirty="0">
                <a:solidFill>
                  <a:srgbClr val="FF0000"/>
                </a:solidFill>
              </a:rPr>
              <a:t>Department of Computer Engineering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106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62B7-56A3-40A2-9EC7-02283F0B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877" y="0"/>
            <a:ext cx="10515600" cy="1325563"/>
          </a:xfrm>
        </p:spPr>
        <p:txBody>
          <a:bodyPr/>
          <a:lstStyle/>
          <a:p>
            <a:pPr algn="ctr"/>
            <a:r>
              <a:rPr lang="en-GB" b="1" dirty="0"/>
              <a:t>OUTLINES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95D99-9B7C-4D28-9DCB-0F7049FDE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831"/>
            <a:ext cx="10515600" cy="4351338"/>
          </a:xfrm>
        </p:spPr>
        <p:txBody>
          <a:bodyPr/>
          <a:lstStyle/>
          <a:p>
            <a:r>
              <a:rPr lang="en-GB" dirty="0"/>
              <a:t> Introduction to object recognition</a:t>
            </a:r>
          </a:p>
          <a:p>
            <a:r>
              <a:rPr lang="en-GB" dirty="0"/>
              <a:t> Classification of Object Recognition </a:t>
            </a:r>
          </a:p>
          <a:p>
            <a:r>
              <a:rPr lang="en-GB" dirty="0"/>
              <a:t> Neuron ,Neural Network and ANN</a:t>
            </a:r>
          </a:p>
          <a:p>
            <a:r>
              <a:rPr lang="en-GB" dirty="0"/>
              <a:t> Application of NN in Image Processing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5931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62B7-56A3-40A2-9EC7-02283F0B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4049"/>
          </a:xfrm>
        </p:spPr>
        <p:txBody>
          <a:bodyPr/>
          <a:lstStyle/>
          <a:p>
            <a:pPr algn="ctr"/>
            <a:r>
              <a:rPr lang="en-GB" b="1" dirty="0"/>
              <a:t>Introduction to object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95D99-9B7C-4D28-9DCB-0F7049FDE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831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 Object recognition is the task of finding and identifying  the object in images or sequence of images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The main goal is to identify or recognize the specific object instantly.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Application of Object Recognition in Real Life:</a:t>
            </a:r>
          </a:p>
          <a:p>
            <a:pPr marL="514350" indent="-514350"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Tracking </a:t>
            </a:r>
          </a:p>
          <a:p>
            <a:pPr marL="514350" indent="-514350"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Counting objects </a:t>
            </a:r>
          </a:p>
          <a:p>
            <a:pPr marL="514350" indent="-514350"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CCTV surveillance</a:t>
            </a:r>
          </a:p>
          <a:p>
            <a:pPr marL="514350" indent="-514350"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 and Vehicle Detection </a:t>
            </a:r>
          </a:p>
        </p:txBody>
      </p:sp>
    </p:spTree>
    <p:extLst>
      <p:ext uri="{BB962C8B-B14F-4D97-AF65-F5344CB8AC3E}">
        <p14:creationId xmlns:p14="http://schemas.microsoft.com/office/powerpoint/2010/main" val="540238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62B7-56A3-40A2-9EC7-02283F0B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4049"/>
          </a:xfrm>
        </p:spPr>
        <p:txBody>
          <a:bodyPr/>
          <a:lstStyle/>
          <a:p>
            <a:pPr algn="ctr"/>
            <a:r>
              <a:rPr lang="en-GB" b="1" dirty="0"/>
              <a:t>Classification of object recognition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ADAADD-1B48-4A69-BE0B-4E6B1F059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8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major types of classification:</a:t>
            </a:r>
          </a:p>
          <a:p>
            <a:pPr marL="457200" indent="-457200"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Classification (no target ,no teacher, NO training set) Example Clustering and Association </a:t>
            </a:r>
          </a:p>
          <a:p>
            <a:pPr marL="457200" indent="-457200"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Supervised Classification</a:t>
            </a:r>
          </a:p>
          <a:p>
            <a:pPr marL="457200" indent="-457200">
              <a:buAutoNum type="alphaU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Supervised Classification (Bayesian Classifier ) Based on probability and hypothesis</a:t>
            </a:r>
          </a:p>
          <a:p>
            <a:pPr marL="457200" indent="-457200">
              <a:buAutoNum type="alphaU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 free Supervised Classification (Nearest Neighbourhood classification) based on query given to system.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619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62B7-56A3-40A2-9EC7-02283F0B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921"/>
            <a:ext cx="10515600" cy="449705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Classification</a:t>
            </a:r>
            <a:endParaRPr lang="en-GB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ADAADD-1B48-4A69-BE0B-4E6B1F059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9626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target ,No teacher, No training set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Clustering and Association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Clustering Unsupervised Classification works by making the cluster of some features in the given items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026" name="Picture 2" descr="What is Clustering">
            <a:extLst>
              <a:ext uri="{FF2B5EF4-FFF2-40B4-BE49-F238E27FC236}">
                <a16:creationId xmlns:a16="http://schemas.microsoft.com/office/drawing/2014/main" id="{75F011C7-7F56-4520-B807-0CD167759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2247185"/>
            <a:ext cx="10925175" cy="416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6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62B7-56A3-40A2-9EC7-02283F0B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921"/>
            <a:ext cx="10515600" cy="449705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Classification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11BD05-3D6C-4D92-BB9B-2502694BBF9D}"/>
              </a:ext>
            </a:extLst>
          </p:cNvPr>
          <p:cNvSpPr txBox="1"/>
          <p:nvPr/>
        </p:nvSpPr>
        <p:spPr>
          <a:xfrm>
            <a:off x="138658" y="764498"/>
            <a:ext cx="119134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works on large dataset by finding interesting relationships between variables in large databases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Unsupervised Classification: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Anomaly Detection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2400" dirty="0"/>
              <a:t>automatic splitting the dataset into groups base on their similarities.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2400" dirty="0"/>
              <a:t>Data pre-processing for reducing no of data items or values.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041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62B7-56A3-40A2-9EC7-02283F0B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921"/>
            <a:ext cx="10515600" cy="449705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upervised Classification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11BD05-3D6C-4D92-BB9B-2502694BBF9D}"/>
              </a:ext>
            </a:extLst>
          </p:cNvPr>
          <p:cNvSpPr txBox="1"/>
          <p:nvPr/>
        </p:nvSpPr>
        <p:spPr>
          <a:xfrm>
            <a:off x="138657" y="3616094"/>
            <a:ext cx="1191343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Teacher, Training Set, Target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Types </a:t>
            </a:r>
          </a:p>
          <a:p>
            <a:pPr marL="457200" indent="-457200">
              <a:buAutoNum type="alphaU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Supervised Classification: Based on Hypothesis or probability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:Bayesian Classifier  Based on Bayesian Theorem 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lphaU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 Free Supervised Classification: Based on Query given to System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Nearest Neighbourhood Classification  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624F7E3-2D73-432C-9F41-DF15FB6AB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393" y="664110"/>
            <a:ext cx="920396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8549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B58D3-236B-4DB4-A137-4150C50FE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8960"/>
          </a:xfrm>
        </p:spPr>
        <p:txBody>
          <a:bodyPr/>
          <a:lstStyle/>
          <a:p>
            <a:r>
              <a:rPr lang="en-GB" b="1" dirty="0"/>
              <a:t>Applications of Supervised Classification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2B4C5-93E5-49E9-A948-DE66B420E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  <a:r>
              <a:rPr lang="en-IN" dirty="0"/>
              <a:t>Bioinformatics</a:t>
            </a:r>
            <a:endParaRPr lang="en-GB" dirty="0"/>
          </a:p>
          <a:p>
            <a:r>
              <a:rPr lang="en-GB" dirty="0"/>
              <a:t> Speech Recognition </a:t>
            </a:r>
          </a:p>
          <a:p>
            <a:r>
              <a:rPr lang="en-GB" dirty="0"/>
              <a:t> </a:t>
            </a:r>
            <a:r>
              <a:rPr lang="en-IN" dirty="0"/>
              <a:t>Spam Detection</a:t>
            </a:r>
            <a:endParaRPr lang="en-GB" dirty="0"/>
          </a:p>
          <a:p>
            <a:r>
              <a:rPr lang="en-GB" dirty="0"/>
              <a:t> </a:t>
            </a:r>
            <a:r>
              <a:rPr lang="en-IN" dirty="0"/>
              <a:t>Object-Recognition for Vision</a:t>
            </a:r>
          </a:p>
        </p:txBody>
      </p:sp>
    </p:spTree>
    <p:extLst>
      <p:ext uri="{BB962C8B-B14F-4D97-AF65-F5344CB8AC3E}">
        <p14:creationId xmlns:p14="http://schemas.microsoft.com/office/powerpoint/2010/main" val="1075546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B58D3-236B-4DB4-A137-4150C50FE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8960"/>
          </a:xfrm>
        </p:spPr>
        <p:txBody>
          <a:bodyPr/>
          <a:lstStyle/>
          <a:p>
            <a:pPr algn="ctr"/>
            <a:r>
              <a:rPr lang="en-GB" b="1" dirty="0"/>
              <a:t>Neuron ,Neural Network and ANN</a:t>
            </a:r>
          </a:p>
        </p:txBody>
      </p:sp>
      <p:pic>
        <p:nvPicPr>
          <p:cNvPr id="3074" name="Picture 2" descr="Neural_Network_Brain_Mimic">
            <a:extLst>
              <a:ext uri="{FF2B5EF4-FFF2-40B4-BE49-F238E27FC236}">
                <a16:creationId xmlns:a16="http://schemas.microsoft.com/office/drawing/2014/main" id="{C67082DE-E90F-4EB4-BBA2-49D9ECEBD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29194"/>
            <a:ext cx="10287000" cy="482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D510A5-00B5-4C09-B580-BBF6608447EA}"/>
              </a:ext>
            </a:extLst>
          </p:cNvPr>
          <p:cNvSpPr txBox="1"/>
          <p:nvPr/>
        </p:nvSpPr>
        <p:spPr>
          <a:xfrm>
            <a:off x="2312232" y="6169708"/>
            <a:ext cx="8510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 biological neuron graph                                           The artificial neural network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0992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B58D3-236B-4DB4-A137-4150C50FE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002"/>
            <a:ext cx="10515600" cy="563566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Neuron ,Neural Network and 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D510A5-00B5-4C09-B580-BBF6608447EA}"/>
              </a:ext>
            </a:extLst>
          </p:cNvPr>
          <p:cNvSpPr txBox="1"/>
          <p:nvPr/>
        </p:nvSpPr>
        <p:spPr>
          <a:xfrm>
            <a:off x="219855" y="659568"/>
            <a:ext cx="11752291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/>
              <a:t> </a:t>
            </a:r>
            <a:r>
              <a:rPr lang="en-GB" sz="2000" dirty="0"/>
              <a:t>A </a:t>
            </a:r>
            <a:r>
              <a:rPr lang="en-GB" sz="2000" b="1" dirty="0"/>
              <a:t>neuron</a:t>
            </a:r>
            <a:r>
              <a:rPr lang="en-GB" sz="2000" dirty="0"/>
              <a:t> is nothing but a cell that collects the information's and disseminate the electrical signal in a brain.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2000" dirty="0"/>
              <a:t> </a:t>
            </a:r>
            <a:r>
              <a:rPr lang="en-GB" sz="2000" b="0" i="0" dirty="0">
                <a:solidFill>
                  <a:srgbClr val="424242"/>
                </a:solidFill>
                <a:effectLst/>
                <a:latin typeface="proxima-nova"/>
              </a:rPr>
              <a:t>A </a:t>
            </a:r>
            <a:r>
              <a:rPr lang="en-GB" sz="2000" b="1" i="0" dirty="0">
                <a:solidFill>
                  <a:srgbClr val="424242"/>
                </a:solidFill>
                <a:effectLst/>
                <a:latin typeface="proxima-nova"/>
              </a:rPr>
              <a:t>neural network  or </a:t>
            </a:r>
            <a:r>
              <a:rPr lang="en-GB" sz="2000" dirty="0">
                <a:solidFill>
                  <a:srgbClr val="424242"/>
                </a:solidFill>
                <a:latin typeface="proxima-nova"/>
              </a:rPr>
              <a:t> </a:t>
            </a:r>
            <a:r>
              <a:rPr lang="en-GB" sz="2000" b="1" dirty="0">
                <a:solidFill>
                  <a:srgbClr val="424242"/>
                </a:solidFill>
                <a:latin typeface="proxima-nova"/>
              </a:rPr>
              <a:t>ANN</a:t>
            </a:r>
            <a:r>
              <a:rPr lang="en-GB" sz="2000" dirty="0">
                <a:solidFill>
                  <a:srgbClr val="424242"/>
                </a:solidFill>
                <a:latin typeface="proxima-nova"/>
              </a:rPr>
              <a:t> is type of neural </a:t>
            </a:r>
            <a:r>
              <a:rPr lang="en-GB" sz="2000" b="0" i="0" dirty="0">
                <a:solidFill>
                  <a:srgbClr val="424242"/>
                </a:solidFill>
                <a:effectLst/>
                <a:latin typeface="proxima-nova"/>
              </a:rPr>
              <a:t>networks try to mimic the biological neural network.</a:t>
            </a:r>
          </a:p>
          <a:p>
            <a:pPr algn="ctr"/>
            <a:r>
              <a:rPr lang="en-GB" sz="2800" b="1" dirty="0"/>
              <a:t>Application of Neural Network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GB" sz="2400" b="1" dirty="0">
                <a:solidFill>
                  <a:srgbClr val="424242"/>
                </a:solidFill>
                <a:latin typeface="proxima-nova"/>
              </a:rPr>
              <a:t> </a:t>
            </a:r>
            <a:r>
              <a:rPr lang="en-IN" sz="2400" b="0" i="0" dirty="0">
                <a:effectLst/>
                <a:latin typeface="Arial" panose="020B0604020202020204" pitchFamily="34" charset="0"/>
              </a:rPr>
              <a:t>Speech Recognition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400" b="0" i="0" dirty="0">
                <a:effectLst/>
                <a:latin typeface="Arial" panose="020B0604020202020204" pitchFamily="34" charset="0"/>
              </a:rPr>
              <a:t>Character Recognition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400" b="0" i="0" dirty="0">
                <a:effectLst/>
                <a:latin typeface="Arial" panose="020B0604020202020204" pitchFamily="34" charset="0"/>
              </a:rPr>
              <a:t>Signature Verification Application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400" b="0" i="0" dirty="0">
                <a:effectLst/>
                <a:latin typeface="Arial" panose="020B0604020202020204" pitchFamily="34" charset="0"/>
              </a:rPr>
              <a:t>Human Face Recognition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400" dirty="0">
                <a:latin typeface="Arial" panose="020B0604020202020204" pitchFamily="34" charset="0"/>
              </a:rPr>
              <a:t> Robotics Field </a:t>
            </a:r>
            <a:endParaRPr lang="en-IN" sz="24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en-IN" sz="2400" b="0" i="0" dirty="0"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AF3B47-2866-4795-A49F-AF542EDCE39B}"/>
              </a:ext>
            </a:extLst>
          </p:cNvPr>
          <p:cNvSpPr txBox="1"/>
          <p:nvPr/>
        </p:nvSpPr>
        <p:spPr>
          <a:xfrm>
            <a:off x="219854" y="4014333"/>
            <a:ext cx="1197214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800" b="1" dirty="0"/>
              <a:t>Why Neural Networks?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sz="2000" dirty="0"/>
              <a:t>To find the solution of such problems for which algorithmic method is expensive or does not exist.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sz="2000" dirty="0"/>
              <a:t>Neural networks can learn by example, hence we do not need to program it at much extent.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sz="2000" dirty="0"/>
              <a:t>Neural networks have the accuracy and significantly fast speed than conventional speed.</a:t>
            </a:r>
          </a:p>
        </p:txBody>
      </p:sp>
    </p:spTree>
    <p:extLst>
      <p:ext uri="{BB962C8B-B14F-4D97-AF65-F5344CB8AC3E}">
        <p14:creationId xmlns:p14="http://schemas.microsoft.com/office/powerpoint/2010/main" val="1060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B58D3-236B-4DB4-A137-4150C50FE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002"/>
            <a:ext cx="10515600" cy="563566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Applications of NN in Image Processing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D510A5-00B5-4C09-B580-BBF6608447EA}"/>
              </a:ext>
            </a:extLst>
          </p:cNvPr>
          <p:cNvSpPr txBox="1"/>
          <p:nvPr/>
        </p:nvSpPr>
        <p:spPr>
          <a:xfrm>
            <a:off x="219855" y="659568"/>
            <a:ext cx="1175229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l">
              <a:buAutoNum type="arabicPeriod"/>
            </a:pPr>
            <a:r>
              <a:rPr lang="en-GB" sz="2800" b="1" i="0" dirty="0">
                <a:effectLst/>
                <a:latin typeface="Arial" panose="020B0604020202020204" pitchFamily="34" charset="0"/>
              </a:rPr>
              <a:t>NN for Image Compression</a:t>
            </a:r>
          </a:p>
          <a:p>
            <a:pPr marL="514350" indent="-514350" algn="l">
              <a:buAutoNum type="arabicPeriod"/>
            </a:pPr>
            <a:r>
              <a:rPr lang="en-GB" sz="2800" b="1" dirty="0">
                <a:latin typeface="Arial" panose="020B0604020202020204" pitchFamily="34" charset="0"/>
              </a:rPr>
              <a:t>NN for Pattern Recognition </a:t>
            </a:r>
          </a:p>
          <a:p>
            <a:pPr marL="514350" indent="-514350" algn="l">
              <a:buAutoNum type="arabicPeriod"/>
            </a:pPr>
            <a:r>
              <a:rPr lang="en-GB" sz="2800" b="1" i="0" dirty="0">
                <a:effectLst/>
                <a:latin typeface="Arial" panose="020B0604020202020204" pitchFamily="34" charset="0"/>
              </a:rPr>
              <a:t>NN for Perceptron  </a:t>
            </a:r>
            <a:endParaRPr lang="en-IN" sz="2400" b="1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FCA6AB-54B9-49D0-BE10-3AEEBADD5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40226"/>
            <a:ext cx="10283252" cy="2128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7F20E6-82C7-402B-AFA5-ADD182DC92DF}"/>
              </a:ext>
            </a:extLst>
          </p:cNvPr>
          <p:cNvSpPr txBox="1"/>
          <p:nvPr/>
        </p:nvSpPr>
        <p:spPr>
          <a:xfrm>
            <a:off x="1244183" y="2261562"/>
            <a:ext cx="8694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l">
              <a:buAutoNum type="arabicPeriod"/>
            </a:pPr>
            <a:r>
              <a:rPr lang="en-GB" sz="2400" b="1" i="0" dirty="0">
                <a:effectLst/>
                <a:latin typeface="Arial" panose="020B0604020202020204" pitchFamily="34" charset="0"/>
              </a:rPr>
              <a:t>NN for Image Compression</a:t>
            </a:r>
          </a:p>
        </p:txBody>
      </p:sp>
    </p:spTree>
    <p:extLst>
      <p:ext uri="{BB962C8B-B14F-4D97-AF65-F5344CB8AC3E}">
        <p14:creationId xmlns:p14="http://schemas.microsoft.com/office/powerpoint/2010/main" val="1903729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B58D3-236B-4DB4-A137-4150C50FE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002"/>
            <a:ext cx="10515600" cy="563566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b="1" dirty="0">
                <a:latin typeface="Arial" panose="020B0604020202020204" pitchFamily="34" charset="0"/>
              </a:rPr>
              <a:t>NN for Pattern Recognition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DB332E-2C34-4271-BEFA-EA6AD0A0F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07767"/>
            <a:ext cx="9932962" cy="2246269"/>
          </a:xfrm>
          <a:prstGeom prst="rect">
            <a:avLst/>
          </a:prstGeom>
        </p:spPr>
      </p:pic>
      <p:pic>
        <p:nvPicPr>
          <p:cNvPr id="3074" name="Picture 2" descr="pattern recognition - fig 2">
            <a:extLst>
              <a:ext uri="{FF2B5EF4-FFF2-40B4-BE49-F238E27FC236}">
                <a16:creationId xmlns:a16="http://schemas.microsoft.com/office/drawing/2014/main" id="{AEA73051-7677-441D-95CF-9E6009008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948" y="503964"/>
            <a:ext cx="10775852" cy="3603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4913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BA6526-9140-48FE-82EC-0AA85F20A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126"/>
            <a:ext cx="10515600" cy="573372"/>
          </a:xfrm>
        </p:spPr>
        <p:txBody>
          <a:bodyPr>
            <a:noAutofit/>
          </a:bodyPr>
          <a:lstStyle/>
          <a:p>
            <a:pPr algn="ctr"/>
            <a:r>
              <a:rPr lang="en-GB" sz="3200" b="1" i="0" dirty="0">
                <a:effectLst/>
                <a:latin typeface="Arial" panose="020B0604020202020204" pitchFamily="34" charset="0"/>
              </a:rPr>
              <a:t>NN for Perceptron  </a:t>
            </a:r>
            <a:endParaRPr lang="en-IN" sz="3200" dirty="0"/>
          </a:p>
        </p:txBody>
      </p:sp>
      <p:pic>
        <p:nvPicPr>
          <p:cNvPr id="1028" name="Picture 4" descr="Multilayer perceptron Machine learning Statistical classification Deep  learning, others, angle, text, neuron png | PNGWing">
            <a:extLst>
              <a:ext uri="{FF2B5EF4-FFF2-40B4-BE49-F238E27FC236}">
                <a16:creationId xmlns:a16="http://schemas.microsoft.com/office/drawing/2014/main" id="{337002FE-140A-4027-AB2B-E4493A9CB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736" y="1679290"/>
            <a:ext cx="8763000" cy="463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662E4451-B7FB-4ADB-B74D-41533FFE2525}"/>
              </a:ext>
            </a:extLst>
          </p:cNvPr>
          <p:cNvSpPr txBox="1">
            <a:spLocks/>
          </p:cNvSpPr>
          <p:nvPr/>
        </p:nvSpPr>
        <p:spPr>
          <a:xfrm>
            <a:off x="720777" y="935208"/>
            <a:ext cx="10986542" cy="5733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/>
              <a:t>Perceptron is a type of ANN that is computerized model which performs functions like human brain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56841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BA6526-9140-48FE-82EC-0AA85F20A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69" y="5469537"/>
            <a:ext cx="10515600" cy="573372"/>
          </a:xfrm>
        </p:spPr>
        <p:txBody>
          <a:bodyPr>
            <a:noAutofit/>
          </a:bodyPr>
          <a:lstStyle/>
          <a:p>
            <a:pPr algn="ctr"/>
            <a:r>
              <a:rPr lang="en-GB" sz="3200" b="1" i="0" dirty="0">
                <a:effectLst/>
                <a:latin typeface="Arial" panose="020B0604020202020204" pitchFamily="34" charset="0"/>
              </a:rPr>
              <a:t>OUTPUT formation by perceptron i.e. MLP</a:t>
            </a:r>
            <a:endParaRPr lang="en-IN" sz="3200" dirty="0"/>
          </a:p>
        </p:txBody>
      </p:sp>
      <p:pic>
        <p:nvPicPr>
          <p:cNvPr id="1026" name="Picture 2" descr="Multi layer Perceptron (MLP) Models on Real World Banking Data | by Awhan  Mohanty | Becoming Human: Artificial Intelligence Magazine">
            <a:extLst>
              <a:ext uri="{FF2B5EF4-FFF2-40B4-BE49-F238E27FC236}">
                <a16:creationId xmlns:a16="http://schemas.microsoft.com/office/drawing/2014/main" id="{2F2A5DCC-7700-40C8-9DB8-FE538839F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955" y="584616"/>
            <a:ext cx="9115269" cy="4631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319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CF98FF-7DED-4B10-B453-B7EE12EFC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92" y="604076"/>
            <a:ext cx="10598986" cy="4917253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777DDE5A-325A-4D93-9A14-35B514482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201" y="5680552"/>
            <a:ext cx="10515600" cy="573372"/>
          </a:xfrm>
        </p:spPr>
        <p:txBody>
          <a:bodyPr>
            <a:noAutofit/>
          </a:bodyPr>
          <a:lstStyle/>
          <a:p>
            <a:pPr algn="ctr"/>
            <a:r>
              <a:rPr lang="en-IN" sz="2400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Back propagation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1804129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BA6526-9140-48FE-82EC-0AA85F20A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69" y="5469537"/>
            <a:ext cx="10515600" cy="573372"/>
          </a:xfrm>
        </p:spPr>
        <p:txBody>
          <a:bodyPr>
            <a:noAutofit/>
          </a:bodyPr>
          <a:lstStyle/>
          <a:p>
            <a:pPr algn="ctr"/>
            <a:r>
              <a:rPr lang="en-IN" sz="2400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Backpropagation Network</a:t>
            </a:r>
            <a:endParaRPr lang="en-IN" sz="5400" b="1" dirty="0"/>
          </a:p>
        </p:txBody>
      </p:sp>
      <p:pic>
        <p:nvPicPr>
          <p:cNvPr id="2050" name="Picture 2" descr="How Backpropagation Algorithm Works">
            <a:extLst>
              <a:ext uri="{FF2B5EF4-FFF2-40B4-BE49-F238E27FC236}">
                <a16:creationId xmlns:a16="http://schemas.microsoft.com/office/drawing/2014/main" id="{C4F7CCF8-058A-4453-BA65-ED3700A51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871" y="815091"/>
            <a:ext cx="8410575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315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490</Words>
  <Application>Microsoft Office PowerPoint</Application>
  <PresentationFormat>Widescreen</PresentationFormat>
  <Paragraphs>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proxima-nova</vt:lpstr>
      <vt:lpstr>Source Sans Pro</vt:lpstr>
      <vt:lpstr>Times New Roman</vt:lpstr>
      <vt:lpstr>Wingdings</vt:lpstr>
      <vt:lpstr>Office Theme</vt:lpstr>
      <vt:lpstr>UNIT :9 Object Recognition</vt:lpstr>
      <vt:lpstr>OUTLINES</vt:lpstr>
      <vt:lpstr>Introduction to object recognition</vt:lpstr>
      <vt:lpstr>Classification of object recognition</vt:lpstr>
      <vt:lpstr>Unsupervised Classification</vt:lpstr>
      <vt:lpstr>Unsupervised Classification</vt:lpstr>
      <vt:lpstr>Supervised Classification</vt:lpstr>
      <vt:lpstr>Applications of Supervised Classification</vt:lpstr>
      <vt:lpstr>Neuron ,Neural Network and ANN</vt:lpstr>
      <vt:lpstr>Neuron ,Neural Network and ANN</vt:lpstr>
      <vt:lpstr>Applications of NN in Image Processing </vt:lpstr>
      <vt:lpstr>NN for Pattern Recognition </vt:lpstr>
      <vt:lpstr>NN for Perceptron  </vt:lpstr>
      <vt:lpstr>OUTPUT formation by perceptron i.e. MLP</vt:lpstr>
      <vt:lpstr>Back propagation</vt:lpstr>
      <vt:lpstr>Backpropagation Network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:9 Object Recognition</dc:title>
  <dc:creator>Harendra Bikram Shah</dc:creator>
  <cp:lastModifiedBy>Harandra Bikram Shah</cp:lastModifiedBy>
  <cp:revision>35</cp:revision>
  <dcterms:created xsi:type="dcterms:W3CDTF">2022-01-24T13:11:51Z</dcterms:created>
  <dcterms:modified xsi:type="dcterms:W3CDTF">2024-01-15T16:08:28Z</dcterms:modified>
</cp:coreProperties>
</file>