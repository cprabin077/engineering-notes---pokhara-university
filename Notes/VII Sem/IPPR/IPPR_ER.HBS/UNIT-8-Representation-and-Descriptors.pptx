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3" r:id="rId7"/>
    <p:sldId id="265" r:id="rId8"/>
    <p:sldId id="260" r:id="rId9"/>
    <p:sldId id="262" r:id="rId10"/>
    <p:sldId id="266" r:id="rId11"/>
    <p:sldId id="269" r:id="rId12"/>
    <p:sldId id="267" r:id="rId13"/>
    <p:sldId id="261" r:id="rId14"/>
    <p:sldId id="268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69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E54E-9BFD-4C77-914F-0F6321E65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1D69B-7E24-40D2-89B1-6591DAAC3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6DAF6-A9BC-497F-AAB6-FBD2194F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1193E-03F1-4574-A010-2C58D407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3B0A-EC7C-43C6-AC82-C542FD7D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32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0AC7-B37E-4AE8-8D7D-D677B34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19DD5-67DF-4796-A2FB-6B3BF15FE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F817C-B9C2-46F5-8D77-B910E325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F6D41-40AE-49C9-9A0D-F5F6C2A62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85C4C-ED3F-4F98-9ACD-1EFADE3DA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50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1E16D-E286-41F9-B9DB-217A88CD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21B97-402E-40C1-B983-24BCEF058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9D06-4311-4E72-A11E-CE6BE70B6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3F1E4-430D-4510-BB5A-D46B2F7C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C6C2E-E5C1-4449-84A9-65242A9F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02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83E3-7C61-44B7-A1C6-839FF816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D832C-DEE4-4659-9DAB-94E878A56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95EBB-3F26-4E28-9D1F-1EEC5C395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3A128-338E-438A-BED3-877D3624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F8363-4D7F-44D0-8641-B62A472D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6CFED-2774-44B4-9733-52214FED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88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BE35-F790-424D-A935-1798D9FE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8C24E-3524-449B-A5AA-0F4095D82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055FB-F580-4701-AD32-FDC244C1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FC59A-C545-499F-9ED1-7C21AFA6F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472C3-052A-4CEE-A072-5E87D9AEC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FC6FDC-8BB6-4C18-9C8B-39158F317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7EB24-3276-45B7-B7CA-C567E8BE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3B62D-4E32-4547-9244-F090D857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84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B42A-2E03-4712-AEC7-9B8397A8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770E7-3650-4ABF-81A2-DD215166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D6EC3-9243-4CFA-869F-6F039345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A9C60-2DB0-4647-9764-93CC44B3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26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492244-8084-4697-8951-8CCD0114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472E2-1140-4D57-8044-1175A413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2292D-E55B-4A03-90E1-D5A1CD69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5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5973-8B41-462B-98E7-19480E6A7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2700-92C7-4F1A-ACAA-156A4135D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33B9B-E678-4D8A-9EA2-65543CD9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399E7-C519-4650-B108-2D916B59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8747D-2AED-46AE-BC7E-6A6930A3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68569-5A02-4364-9D33-BE8D2F22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2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2011-2545-46D4-8DB9-FA282B198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2798FD-1D43-428C-BD48-5125F1E77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36335-39AA-46F8-98BE-298E69835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7BDDE-6760-48C4-B991-8EE54818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76B4B-1B2C-47A0-88E4-99614B5A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F7B3E-4684-41DC-A143-BF35B605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24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78AB-0EE5-40A3-AA55-95E1B845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63A86-ACD5-413F-B04F-C19C3205F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4087-8978-449F-B79F-17541BC0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B38CA-B36E-4E58-8568-A4DDFE81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F9366-D088-43B1-B4F1-71C32AD9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65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A80E2-DA13-4C61-A3F8-073E51EEE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E89EC-A66E-4BA9-B0DB-C00B60A3A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7947C-4F56-4A62-87C5-1DD94BDF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47EF-ED3A-4C8B-9826-F3F203940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28EE4-13CA-4C08-A6CF-D93EE8BE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9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B9D6D-0892-4F47-B0DC-1723959F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CC6DF-17CF-47E3-B991-8F35E14B1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9639D-4676-41F6-B097-F0CE17137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089E-0190-4CF6-BAC1-3486C5D59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8AB15-5745-4A02-A8A3-3B10B8CF7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7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90E3-F29D-4806-AA42-C09B319D6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18" y="203453"/>
            <a:ext cx="12067082" cy="1655762"/>
          </a:xfrm>
        </p:spPr>
        <p:txBody>
          <a:bodyPr>
            <a:normAutofit/>
          </a:bodyPr>
          <a:lstStyle/>
          <a:p>
            <a:r>
              <a:rPr lang="en-GB" sz="4800" b="1" dirty="0"/>
              <a:t>UNIT 8 </a:t>
            </a:r>
            <a:br>
              <a:rPr lang="en-GB" sz="4800" b="1" dirty="0"/>
            </a:br>
            <a:r>
              <a:rPr lang="en-GB" sz="4800" b="1" dirty="0"/>
              <a:t>Representation and Descriptors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35CE5-F987-46AC-A655-C3E453E50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721" y="3944857"/>
            <a:ext cx="7235687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rgbClr val="FF0000"/>
                </a:solidFill>
              </a:rPr>
              <a:t>Prepared by 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	Er.Harendra Bikram Shah 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				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Department of Computer Engineering </a:t>
            </a:r>
          </a:p>
          <a:p>
            <a:pPr algn="l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436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OUTLINES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DEBA-93BB-425C-ADE3-F6C80521A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Representation and Its Techniques </a:t>
            </a:r>
          </a:p>
          <a:p>
            <a:r>
              <a:rPr lang="en-GB" dirty="0"/>
              <a:t> Descriptors and Its Techniques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42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7814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REPRESENTATION AND ITS TECHNIQUES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DEBA-93BB-425C-ADE3-F6C80521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73" y="884720"/>
            <a:ext cx="12138992" cy="597328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GB" dirty="0"/>
              <a:t> </a:t>
            </a:r>
            <a:r>
              <a:rPr lang="en-IN" b="1" dirty="0"/>
              <a:t>Introduction to Representation: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This steps comes after the image segmentation.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Image segmentation turns the image into raw data and pixels deposited along the boundary or region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 Representation is a naming process in simple word.</a:t>
            </a:r>
          </a:p>
          <a:p>
            <a:pPr marL="0" indent="0" algn="just">
              <a:buNone/>
            </a:pPr>
            <a:r>
              <a:rPr lang="en-IN" b="1" dirty="0"/>
              <a:t>Applications of Representation :</a:t>
            </a:r>
          </a:p>
          <a:p>
            <a:pPr algn="just">
              <a:buFont typeface="+mj-lt"/>
              <a:buAutoNum type="arabicPeriod"/>
            </a:pPr>
            <a:r>
              <a:rPr lang="en-GB" dirty="0"/>
              <a:t>Medical Imaging:</a:t>
            </a:r>
          </a:p>
          <a:p>
            <a:pPr algn="just">
              <a:buFont typeface="+mj-lt"/>
              <a:buAutoNum type="arabicPeriod"/>
            </a:pPr>
            <a:r>
              <a:rPr lang="en-GB" dirty="0"/>
              <a:t>Object Recognition:</a:t>
            </a:r>
          </a:p>
          <a:p>
            <a:pPr algn="just">
              <a:buFont typeface="+mj-lt"/>
              <a:buAutoNum type="arabicPeriod"/>
            </a:pPr>
            <a:r>
              <a:rPr lang="en-GB" dirty="0"/>
              <a:t>Remote Sensing:</a:t>
            </a:r>
          </a:p>
          <a:p>
            <a:pPr algn="just">
              <a:buFont typeface="+mj-lt"/>
              <a:buAutoNum type="arabicPeriod"/>
            </a:pPr>
            <a:r>
              <a:rPr lang="en-GB" dirty="0"/>
              <a:t>Computer Vision and Robotics:</a:t>
            </a:r>
          </a:p>
          <a:p>
            <a:pPr algn="just">
              <a:buFont typeface="+mj-lt"/>
              <a:buAutoNum type="arabicPeriod"/>
            </a:pPr>
            <a:r>
              <a:rPr lang="en-GB" dirty="0"/>
              <a:t>Image Compression:</a:t>
            </a:r>
          </a:p>
          <a:p>
            <a:pPr algn="just">
              <a:buFont typeface="+mj-lt"/>
              <a:buAutoNum type="arabicPeriod"/>
            </a:pPr>
            <a:r>
              <a:rPr lang="en-GB" dirty="0"/>
              <a:t>Biometrics:</a:t>
            </a:r>
          </a:p>
          <a:p>
            <a:pPr algn="just">
              <a:buFont typeface="+mj-lt"/>
              <a:buAutoNum type="arabicPeriod"/>
            </a:pPr>
            <a:r>
              <a:rPr lang="en-GB" dirty="0"/>
              <a:t>Computer Graphics:</a:t>
            </a:r>
          </a:p>
          <a:p>
            <a:pPr algn="just">
              <a:buFont typeface="+mj-lt"/>
              <a:buAutoNum type="arabicPeriod"/>
            </a:pPr>
            <a:r>
              <a:rPr lang="en-GB" dirty="0"/>
              <a:t>Image Segmentation:</a:t>
            </a:r>
          </a:p>
          <a:p>
            <a:pPr marL="0" indent="0" algn="just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914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DEBA-93BB-425C-ADE3-F6C80521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740" y="1240347"/>
            <a:ext cx="10515600" cy="4351338"/>
          </a:xfrm>
        </p:spPr>
        <p:txBody>
          <a:bodyPr/>
          <a:lstStyle/>
          <a:p>
            <a:r>
              <a:rPr lang="en-GB" dirty="0"/>
              <a:t> </a:t>
            </a:r>
            <a:r>
              <a:rPr lang="en-IN" dirty="0"/>
              <a:t>Chain Codes </a:t>
            </a:r>
          </a:p>
          <a:p>
            <a:r>
              <a:rPr lang="en-IN" dirty="0"/>
              <a:t> Signatures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Chain Codes: </a:t>
            </a:r>
            <a:endParaRPr lang="en-GB" b="1" u="sng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EA6B20-865F-42FB-ADC3-C5C63552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36"/>
            <a:ext cx="10515600" cy="894049"/>
          </a:xfrm>
        </p:spPr>
        <p:txBody>
          <a:bodyPr/>
          <a:lstStyle/>
          <a:p>
            <a:pPr algn="ctr"/>
            <a:r>
              <a:rPr lang="en-GB" b="1" dirty="0"/>
              <a:t>METHODS OF REPRESENTATION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DC7EA-529F-4E28-A65F-78D6901F0FEF}"/>
              </a:ext>
            </a:extLst>
          </p:cNvPr>
          <p:cNvSpPr txBox="1"/>
          <p:nvPr/>
        </p:nvSpPr>
        <p:spPr>
          <a:xfrm>
            <a:off x="838200" y="3215961"/>
            <a:ext cx="100696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000" dirty="0"/>
              <a:t>Chain code is a method of describing the shape of the boundary of an object in an image 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7B9D87-1FB1-4153-8083-7DB9F55FAE78}"/>
              </a:ext>
            </a:extLst>
          </p:cNvPr>
          <p:cNvSpPr txBox="1"/>
          <p:nvPr/>
        </p:nvSpPr>
        <p:spPr>
          <a:xfrm>
            <a:off x="838200" y="3589277"/>
            <a:ext cx="10729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000" dirty="0"/>
              <a:t>It is denoted by either a 4-connected neighbourhood or a 8-connected neighbourhood</a:t>
            </a:r>
            <a:endParaRPr lang="en-IN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56B30B-38C4-40A6-935B-69E8C7370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808" y="4160559"/>
            <a:ext cx="7629994" cy="2104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763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20C0E0-425F-48D5-818C-83CC18A01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26" y="150415"/>
            <a:ext cx="10919548" cy="3620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B2D36B-403F-44B9-BEA4-6DA7447E8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25" y="3896840"/>
            <a:ext cx="10919547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7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81E6F-4F3A-4FDE-B211-EA5F22D44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78716"/>
            <a:ext cx="11088757" cy="52679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/>
              <a:t> </a:t>
            </a:r>
            <a:r>
              <a:rPr lang="en-GB" sz="3200" b="1" dirty="0"/>
              <a:t>PROBLEMS WITH CHAIN CODES AND ITS REMEDY</a:t>
            </a:r>
            <a:endParaRPr lang="en-GB" b="1" dirty="0"/>
          </a:p>
          <a:p>
            <a:pPr marL="0" indent="0">
              <a:buNone/>
            </a:pPr>
            <a:r>
              <a:rPr lang="en-GB" b="1" u="sng" dirty="0"/>
              <a:t>Problems :</a:t>
            </a:r>
          </a:p>
          <a:p>
            <a:pPr marL="514350" indent="-514350">
              <a:buAutoNum type="arabicPeriod"/>
            </a:pPr>
            <a:r>
              <a:rPr lang="en-GB" dirty="0"/>
              <a:t>IF we change starting point the whole CC changes</a:t>
            </a:r>
          </a:p>
          <a:p>
            <a:pPr marL="514350" indent="-514350">
              <a:buAutoNum type="arabicPeriod"/>
            </a:pPr>
            <a:r>
              <a:rPr lang="en-GB" dirty="0"/>
              <a:t> If we use reflex Image then also the whole CC Changes </a:t>
            </a:r>
          </a:p>
          <a:p>
            <a:pPr marL="514350" indent="-514350">
              <a:buAutoNum type="arabicPeriod"/>
            </a:pPr>
            <a:r>
              <a:rPr lang="en-GB" dirty="0"/>
              <a:t> IF we rotate the image then also the whole CC changes </a:t>
            </a:r>
          </a:p>
          <a:p>
            <a:pPr marL="0" indent="0">
              <a:buNone/>
            </a:pPr>
            <a:r>
              <a:rPr lang="en-GB" b="1" u="sng" dirty="0"/>
              <a:t>Solution:</a:t>
            </a:r>
          </a:p>
          <a:p>
            <a:pPr marL="0" indent="0">
              <a:buNone/>
            </a:pPr>
            <a:r>
              <a:rPr lang="en-GB" dirty="0"/>
              <a:t>1. Finding cc</a:t>
            </a:r>
          </a:p>
          <a:p>
            <a:pPr marL="0" indent="0">
              <a:buNone/>
            </a:pPr>
            <a:r>
              <a:rPr lang="en-GB" dirty="0"/>
              <a:t>2. Finding the Circular First Difference [CFD]</a:t>
            </a:r>
          </a:p>
          <a:p>
            <a:pPr marL="0" indent="0">
              <a:buNone/>
            </a:pPr>
            <a:r>
              <a:rPr lang="en-GB" dirty="0"/>
              <a:t>3. Finally finding Normalize CC from CFD.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75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3D5C65-9339-405D-BBE1-3ACA5480D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035" y="340921"/>
            <a:ext cx="8224456" cy="1705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53C99E-2FCB-40BC-9459-0A5F6BC7C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035" y="2509709"/>
            <a:ext cx="8224456" cy="1838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3D6A9D-3854-4F61-B729-4926F1DDE7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844" y="4774643"/>
            <a:ext cx="822445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7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C2EDA4C-8A4F-4727-BB5D-67677AC09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91" y="534385"/>
            <a:ext cx="9282545" cy="581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87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T2 Chapter 9 Descriptions">
            <a:extLst>
              <a:ext uri="{FF2B5EF4-FFF2-40B4-BE49-F238E27FC236}">
                <a16:creationId xmlns:a16="http://schemas.microsoft.com/office/drawing/2014/main" id="{18996BE6-5643-4BA5-9653-C50EF71D0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97" y="1540937"/>
            <a:ext cx="10658006" cy="293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843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5AD3C2-9408-4AA7-B5DD-8716D9C565E7}"/>
              </a:ext>
            </a:extLst>
          </p:cNvPr>
          <p:cNvSpPr txBox="1"/>
          <p:nvPr/>
        </p:nvSpPr>
        <p:spPr>
          <a:xfrm>
            <a:off x="360217" y="751305"/>
            <a:ext cx="105065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A 1‐D functional representation of a 2-D closed curved boundary of an object.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Signature is  a plot of distance from the centroid to the boundary as function of angle.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CCC96-D64A-4607-9122-1BC8EB434E58}"/>
              </a:ext>
            </a:extLst>
          </p:cNvPr>
          <p:cNvSpPr txBox="1"/>
          <p:nvPr/>
        </p:nvSpPr>
        <p:spPr>
          <a:xfrm>
            <a:off x="3047999" y="16653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SIGNATURE</a:t>
            </a:r>
            <a:endParaRPr lang="en-IN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5E673D-5986-4389-AF2B-4D8BBAE08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47" y="1674635"/>
            <a:ext cx="8666922" cy="464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78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5AD3C2-9408-4AA7-B5DD-8716D9C565E7}"/>
              </a:ext>
            </a:extLst>
          </p:cNvPr>
          <p:cNvSpPr txBox="1"/>
          <p:nvPr/>
        </p:nvSpPr>
        <p:spPr>
          <a:xfrm>
            <a:off x="4308764" y="0"/>
            <a:ext cx="4132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b="1" dirty="0"/>
              <a:t>Irregular objects Signature's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C68409-C9B2-4D58-8D4C-C95AC1B43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935" y="778133"/>
            <a:ext cx="5721928" cy="53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87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5AD3C2-9408-4AA7-B5DD-8716D9C565E7}"/>
              </a:ext>
            </a:extLst>
          </p:cNvPr>
          <p:cNvSpPr txBox="1"/>
          <p:nvPr/>
        </p:nvSpPr>
        <p:spPr>
          <a:xfrm>
            <a:off x="3408218" y="16048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first difference circular chain code.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CCC96-D64A-4607-9122-1BC8EB434E58}"/>
              </a:ext>
            </a:extLst>
          </p:cNvPr>
          <p:cNvSpPr txBox="1"/>
          <p:nvPr/>
        </p:nvSpPr>
        <p:spPr>
          <a:xfrm>
            <a:off x="3664829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DESCRIPTORS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B5AAB-7F8E-4E16-B66F-D64A3F9F31DE}"/>
              </a:ext>
            </a:extLst>
          </p:cNvPr>
          <p:cNvSpPr txBox="1"/>
          <p:nvPr/>
        </p:nvSpPr>
        <p:spPr>
          <a:xfrm>
            <a:off x="360218" y="118481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Two types of Boundary Descriptors:</a:t>
            </a:r>
          </a:p>
          <a:p>
            <a:pPr marL="457200" indent="-457200">
              <a:buAutoNum type="arabicPeriod"/>
            </a:pPr>
            <a:r>
              <a:rPr lang="en-GB" sz="2400" b="1" dirty="0"/>
              <a:t>Shape Numbers</a:t>
            </a:r>
          </a:p>
          <a:p>
            <a:pPr marL="457200" indent="-457200">
              <a:buAutoNum type="arabicPeriod"/>
            </a:pPr>
            <a:r>
              <a:rPr lang="en-GB" sz="2400" b="1" dirty="0"/>
              <a:t> Fourier Descriptors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8F170-0358-41A2-9270-7CF3EB79C290}"/>
              </a:ext>
            </a:extLst>
          </p:cNvPr>
          <p:cNvSpPr txBox="1"/>
          <p:nvPr/>
        </p:nvSpPr>
        <p:spPr>
          <a:xfrm>
            <a:off x="3408218" y="20158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Fourier Transformation of Complex Coefficient  values. </a:t>
            </a:r>
          </a:p>
        </p:txBody>
      </p:sp>
    </p:spTree>
    <p:extLst>
      <p:ext uri="{BB962C8B-B14F-4D97-AF65-F5344CB8AC3E}">
        <p14:creationId xmlns:p14="http://schemas.microsoft.com/office/powerpoint/2010/main" val="979513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igital Image Processing - ppt video online download">
            <a:extLst>
              <a:ext uri="{FF2B5EF4-FFF2-40B4-BE49-F238E27FC236}">
                <a16:creationId xmlns:a16="http://schemas.microsoft.com/office/drawing/2014/main" id="{0B86C658-9237-4DB0-A8D4-483AD7B3D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9"/>
          <a:stretch/>
        </p:blipFill>
        <p:spPr bwMode="auto">
          <a:xfrm>
            <a:off x="1319134" y="185531"/>
            <a:ext cx="9553731" cy="605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278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0D7276-7BCF-4664-829B-C1D883B6D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54" y="863065"/>
            <a:ext cx="9781309" cy="39998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1690255" y="2426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Fourier Descriptors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BCE5A-84E5-4CAA-A2FD-BB1613A655A2}"/>
              </a:ext>
            </a:extLst>
          </p:cNvPr>
          <p:cNvSpPr txBox="1"/>
          <p:nvPr/>
        </p:nvSpPr>
        <p:spPr>
          <a:xfrm>
            <a:off x="845127" y="4920779"/>
            <a:ext cx="74537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Where P is preceding equation for a(u)</a:t>
            </a:r>
          </a:p>
          <a:p>
            <a:pPr algn="ctr"/>
            <a:r>
              <a:rPr lang="en-GB" sz="2400" b="1" dirty="0"/>
              <a:t>=Approximation to S(k)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47AE6-EEE4-4983-BBE8-1202E1E0D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127" y="5351670"/>
            <a:ext cx="687614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8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790185" y="62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FOURIER DESCRIPTORS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7A844-11AC-9EEB-8723-06E8474D7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240" y="689113"/>
            <a:ext cx="9123519" cy="570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27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563090" y="2694892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End of UNIT 8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94991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309</Words>
  <Application>Microsoft Office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UNIT 8  Representation and Descriptors</vt:lpstr>
      <vt:lpstr>OUTLINES</vt:lpstr>
      <vt:lpstr>REPRESENTATION AND ITS TECHNIQUES</vt:lpstr>
      <vt:lpstr>METHODS OF REPRESENTATION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Harandra Bikram Shah</cp:lastModifiedBy>
  <cp:revision>53</cp:revision>
  <dcterms:created xsi:type="dcterms:W3CDTF">2022-01-19T17:25:10Z</dcterms:created>
  <dcterms:modified xsi:type="dcterms:W3CDTF">2024-01-16T07:29:00Z</dcterms:modified>
</cp:coreProperties>
</file>