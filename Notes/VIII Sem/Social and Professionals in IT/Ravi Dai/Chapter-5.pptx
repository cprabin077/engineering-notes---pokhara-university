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0" roundtripDataSignature="AMtx7mjYMrGCUx8nTSY7w4gUj0P6Txmp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0" name="Google Shape;23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4" name="Google Shape;244;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26"/>
          <p:cNvGrpSpPr/>
          <p:nvPr/>
        </p:nvGrpSpPr>
        <p:grpSpPr>
          <a:xfrm>
            <a:off x="0" y="-8467"/>
            <a:ext cx="12192000" cy="6866467"/>
            <a:chOff x="0" y="-8467"/>
            <a:chExt cx="12192000" cy="6866467"/>
          </a:xfrm>
        </p:grpSpPr>
        <p:cxnSp>
          <p:nvCxnSpPr>
            <p:cNvPr id="28" name="Google Shape;28;p26"/>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29" name="Google Shape;29;p26"/>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30" name="Google Shape;30;p26"/>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31" name="Google Shape;31;p26"/>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2" name="Google Shape;32;p26"/>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6"/>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F49C00">
                <a:alpha val="69803"/>
              </a:srgbClr>
            </a:solidFill>
            <a:ln>
              <a:noFill/>
            </a:ln>
          </p:spPr>
        </p:sp>
        <p:sp>
          <p:nvSpPr>
            <p:cNvPr id="34" name="Google Shape;34;p26"/>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F19279">
                <a:alpha val="69803"/>
              </a:srgbClr>
            </a:solidFill>
            <a:ln>
              <a:noFill/>
            </a:ln>
          </p:spPr>
        </p:sp>
        <p:sp>
          <p:nvSpPr>
            <p:cNvPr id="35" name="Google Shape;35;p26"/>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36" name="Google Shape;36;p26"/>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6"/>
            <p:cNvSpPr/>
            <p:nvPr/>
          </p:nvSpPr>
          <p:spPr>
            <a:xfrm rot="10800000">
              <a:off x="0" y="0"/>
              <a:ext cx="842596" cy="5666154"/>
            </a:xfrm>
            <a:prstGeom prst="triangle">
              <a:avLst>
                <a:gd fmla="val 10000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26"/>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6"/>
          <p:cNvSpPr txBox="1"/>
          <p:nvPr>
            <p:ph idx="1" type="subTitle"/>
          </p:nvPr>
        </p:nvSpPr>
        <p:spPr>
          <a:xfrm>
            <a:off x="1507067" y="4050837"/>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40" name="Google Shape;40;p26"/>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6"/>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6"/>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27"/>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7"/>
          <p:cNvSpPr txBox="1"/>
          <p:nvPr>
            <p:ph idx="1" type="body"/>
          </p:nvPr>
        </p:nvSpPr>
        <p:spPr>
          <a:xfrm>
            <a:off x="677335" y="2160590"/>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6" name="Google Shape;46;p27"/>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28"/>
          <p:cNvSpPr txBox="1"/>
          <p:nvPr>
            <p:ph type="title"/>
          </p:nvPr>
        </p:nvSpPr>
        <p:spPr>
          <a:xfrm>
            <a:off x="677335" y="2700871"/>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8"/>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2" name="Google Shape;52;p28"/>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8"/>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8"/>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29"/>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9"/>
          <p:cNvSpPr txBox="1"/>
          <p:nvPr>
            <p:ph idx="1" type="body"/>
          </p:nvPr>
        </p:nvSpPr>
        <p:spPr>
          <a:xfrm>
            <a:off x="677336"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8" name="Google Shape;58;p29"/>
          <p:cNvSpPr txBox="1"/>
          <p:nvPr>
            <p:ph idx="2" type="body"/>
          </p:nvPr>
        </p:nvSpPr>
        <p:spPr>
          <a:xfrm>
            <a:off x="5089969" y="2160590"/>
            <a:ext cx="4184035"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9" name="Google Shape;59;p29"/>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9"/>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9"/>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30"/>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0"/>
          <p:cNvSpPr txBox="1"/>
          <p:nvPr>
            <p:ph idx="1" type="body"/>
          </p:nvPr>
        </p:nvSpPr>
        <p:spPr>
          <a:xfrm>
            <a:off x="675747"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5" name="Google Shape;65;p30"/>
          <p:cNvSpPr txBox="1"/>
          <p:nvPr>
            <p:ph idx="2" type="body"/>
          </p:nvPr>
        </p:nvSpPr>
        <p:spPr>
          <a:xfrm>
            <a:off x="675747" y="2737249"/>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30"/>
          <p:cNvSpPr txBox="1"/>
          <p:nvPr>
            <p:ph idx="3" type="body"/>
          </p:nvPr>
        </p:nvSpPr>
        <p:spPr>
          <a:xfrm>
            <a:off x="5088384" y="2160983"/>
            <a:ext cx="418561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7" name="Google Shape;67;p30"/>
          <p:cNvSpPr txBox="1"/>
          <p:nvPr>
            <p:ph idx="4" type="body"/>
          </p:nvPr>
        </p:nvSpPr>
        <p:spPr>
          <a:xfrm>
            <a:off x="5088386" y="2737249"/>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30"/>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0"/>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0"/>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31"/>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1"/>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1"/>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32"/>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33"/>
          <p:cNvSpPr txBox="1"/>
          <p:nvPr>
            <p:ph type="title"/>
          </p:nvPr>
        </p:nvSpPr>
        <p:spPr>
          <a:xfrm>
            <a:off x="677335"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3"/>
          <p:cNvSpPr txBox="1"/>
          <p:nvPr>
            <p:ph idx="1" type="body"/>
          </p:nvPr>
        </p:nvSpPr>
        <p:spPr>
          <a:xfrm>
            <a:off x="4760463" y="514928"/>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3" name="Google Shape;83;p33"/>
          <p:cNvSpPr txBox="1"/>
          <p:nvPr>
            <p:ph idx="2" type="body"/>
          </p:nvPr>
        </p:nvSpPr>
        <p:spPr>
          <a:xfrm>
            <a:off x="677335"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4" name="Google Shape;84;p33"/>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3"/>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3"/>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34"/>
          <p:cNvSpPr txBox="1"/>
          <p:nvPr>
            <p:ph type="title"/>
          </p:nvPr>
        </p:nvSpPr>
        <p:spPr>
          <a:xfrm>
            <a:off x="677336"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4"/>
          <p:cNvSpPr/>
          <p:nvPr>
            <p:ph idx="2" type="pic"/>
          </p:nvPr>
        </p:nvSpPr>
        <p:spPr>
          <a:xfrm>
            <a:off x="677335" y="609600"/>
            <a:ext cx="8596668" cy="3845718"/>
          </a:xfrm>
          <a:prstGeom prst="rect">
            <a:avLst/>
          </a:prstGeom>
          <a:noFill/>
          <a:ln>
            <a:noFill/>
          </a:ln>
        </p:spPr>
      </p:sp>
      <p:sp>
        <p:nvSpPr>
          <p:cNvPr id="90" name="Google Shape;90;p34"/>
          <p:cNvSpPr txBox="1"/>
          <p:nvPr>
            <p:ph idx="1" type="body"/>
          </p:nvPr>
        </p:nvSpPr>
        <p:spPr>
          <a:xfrm>
            <a:off x="677336"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34"/>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4"/>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4"/>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4" name="Shape 94"/>
        <p:cNvGrpSpPr/>
        <p:nvPr/>
      </p:nvGrpSpPr>
      <p:grpSpPr>
        <a:xfrm>
          <a:off x="0" y="0"/>
          <a:ext cx="0" cy="0"/>
          <a:chOff x="0" y="0"/>
          <a:chExt cx="0" cy="0"/>
        </a:xfrm>
      </p:grpSpPr>
      <p:sp>
        <p:nvSpPr>
          <p:cNvPr id="95" name="Google Shape;95;p35"/>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5"/>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35"/>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5"/>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35"/>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0" name="Shape 100"/>
        <p:cNvGrpSpPr/>
        <p:nvPr/>
      </p:nvGrpSpPr>
      <p:grpSpPr>
        <a:xfrm>
          <a:off x="0" y="0"/>
          <a:ext cx="0" cy="0"/>
          <a:chOff x="0" y="0"/>
          <a:chExt cx="0" cy="0"/>
        </a:xfrm>
      </p:grpSpPr>
      <p:sp>
        <p:nvSpPr>
          <p:cNvPr id="101" name="Google Shape;101;p36"/>
          <p:cNvSpPr txBox="1"/>
          <p:nvPr>
            <p:ph type="title"/>
          </p:nvPr>
        </p:nvSpPr>
        <p:spPr>
          <a:xfrm>
            <a:off x="931335" y="609600"/>
            <a:ext cx="8094135"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6"/>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36"/>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36"/>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36"/>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36"/>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36"/>
          <p:cNvSpPr txBox="1"/>
          <p:nvPr/>
        </p:nvSpPr>
        <p:spPr>
          <a:xfrm>
            <a:off x="541871"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F19279"/>
                </a:solidFill>
                <a:latin typeface="Arial"/>
                <a:ea typeface="Arial"/>
                <a:cs typeface="Arial"/>
                <a:sym typeface="Arial"/>
              </a:rPr>
              <a:t>“</a:t>
            </a:r>
            <a:endParaRPr/>
          </a:p>
        </p:txBody>
      </p:sp>
      <p:sp>
        <p:nvSpPr>
          <p:cNvPr id="108" name="Google Shape;108;p36"/>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F19279"/>
                </a:solidFill>
                <a:latin typeface="Arial"/>
                <a:ea typeface="Arial"/>
                <a:cs typeface="Arial"/>
                <a:sym typeface="Arial"/>
              </a:rPr>
              <a:t>”</a:t>
            </a:r>
            <a:endParaRPr sz="1800">
              <a:solidFill>
                <a:srgbClr val="F19279"/>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37"/>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7"/>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37"/>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37"/>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37"/>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38"/>
          <p:cNvSpPr txBox="1"/>
          <p:nvPr>
            <p:ph type="title"/>
          </p:nvPr>
        </p:nvSpPr>
        <p:spPr>
          <a:xfrm>
            <a:off x="931335" y="609600"/>
            <a:ext cx="8094135"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38"/>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38"/>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38"/>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38"/>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38"/>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38"/>
          <p:cNvSpPr txBox="1"/>
          <p:nvPr/>
        </p:nvSpPr>
        <p:spPr>
          <a:xfrm>
            <a:off x="541871"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F19279"/>
                </a:solidFill>
                <a:latin typeface="Arial"/>
                <a:ea typeface="Arial"/>
                <a:cs typeface="Arial"/>
                <a:sym typeface="Arial"/>
              </a:rPr>
              <a:t>“</a:t>
            </a:r>
            <a:endParaRPr/>
          </a:p>
        </p:txBody>
      </p:sp>
      <p:sp>
        <p:nvSpPr>
          <p:cNvPr id="123" name="Google Shape;123;p3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F19279"/>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39"/>
          <p:cNvSpPr txBox="1"/>
          <p:nvPr>
            <p:ph type="title"/>
          </p:nvPr>
        </p:nvSpPr>
        <p:spPr>
          <a:xfrm>
            <a:off x="685801"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39"/>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39"/>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39"/>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9"/>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9"/>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40"/>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40"/>
          <p:cNvSpPr txBox="1"/>
          <p:nvPr>
            <p:ph idx="1" type="body"/>
          </p:nvPr>
        </p:nvSpPr>
        <p:spPr>
          <a:xfrm rot="5400000">
            <a:off x="3035283" y="-197357"/>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40"/>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40"/>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40"/>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41"/>
          <p:cNvSpPr txBox="1"/>
          <p:nvPr>
            <p:ph type="title"/>
          </p:nvPr>
        </p:nvSpPr>
        <p:spPr>
          <a:xfrm rot="5400000">
            <a:off x="5994321" y="2582957"/>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41"/>
          <p:cNvSpPr txBox="1"/>
          <p:nvPr>
            <p:ph idx="1" type="body"/>
          </p:nvPr>
        </p:nvSpPr>
        <p:spPr>
          <a:xfrm rot="5400000">
            <a:off x="1581687" y="-294750"/>
            <a:ext cx="5251450" cy="706015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41"/>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41"/>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41"/>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25"/>
          <p:cNvGrpSpPr/>
          <p:nvPr/>
        </p:nvGrpSpPr>
        <p:grpSpPr>
          <a:xfrm>
            <a:off x="0" y="-8467"/>
            <a:ext cx="12192000" cy="6866467"/>
            <a:chOff x="0" y="-8467"/>
            <a:chExt cx="12192000" cy="6866467"/>
          </a:xfrm>
        </p:grpSpPr>
        <p:cxnSp>
          <p:nvCxnSpPr>
            <p:cNvPr id="11" name="Google Shape;11;p25"/>
            <p:cNvCxnSpPr/>
            <p:nvPr/>
          </p:nvCxnSpPr>
          <p:spPr>
            <a:xfrm>
              <a:off x="9371012" y="0"/>
              <a:ext cx="1219200" cy="6858000"/>
            </a:xfrm>
            <a:prstGeom prst="straightConnector1">
              <a:avLst/>
            </a:prstGeom>
            <a:noFill/>
            <a:ln cap="flat" cmpd="sng" w="9525">
              <a:solidFill>
                <a:srgbClr val="BFBFBF"/>
              </a:solidFill>
              <a:prstDash val="solid"/>
              <a:round/>
              <a:headEnd len="sm" w="sm" type="none"/>
              <a:tailEnd len="sm" w="sm" type="none"/>
            </a:ln>
          </p:spPr>
        </p:cxnSp>
        <p:cxnSp>
          <p:nvCxnSpPr>
            <p:cNvPr id="12" name="Google Shape;12;p25"/>
            <p:cNvCxnSpPr/>
            <p:nvPr/>
          </p:nvCxnSpPr>
          <p:spPr>
            <a:xfrm flipH="1">
              <a:off x="7425267" y="3681413"/>
              <a:ext cx="4763558" cy="3176587"/>
            </a:xfrm>
            <a:prstGeom prst="straightConnector1">
              <a:avLst/>
            </a:prstGeom>
            <a:noFill/>
            <a:ln cap="flat" cmpd="sng" w="9525">
              <a:solidFill>
                <a:srgbClr val="D8D8D8"/>
              </a:solidFill>
              <a:prstDash val="solid"/>
              <a:round/>
              <a:headEnd len="sm" w="sm" type="none"/>
              <a:tailEnd len="sm" w="sm" type="none"/>
            </a:ln>
          </p:spPr>
        </p:cxnSp>
        <p:sp>
          <p:nvSpPr>
            <p:cNvPr id="13" name="Google Shape;13;p25"/>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29803"/>
              </a:schemeClr>
            </a:solidFill>
            <a:ln>
              <a:noFill/>
            </a:ln>
          </p:spPr>
        </p:sp>
        <p:sp>
          <p:nvSpPr>
            <p:cNvPr id="14" name="Google Shape;14;p25"/>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25"/>
            <p:cNvSpPr/>
            <p:nvPr/>
          </p:nvSpPr>
          <p:spPr>
            <a:xfrm>
              <a:off x="8932333" y="3048000"/>
              <a:ext cx="3259667" cy="3810000"/>
            </a:xfrm>
            <a:prstGeom prst="triangle">
              <a:avLst>
                <a:gd fmla="val 100000" name="adj"/>
              </a:avLst>
            </a:prstGeom>
            <a:solidFill>
              <a:schemeClr val="accent2">
                <a:alpha val="71764"/>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5"/>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F49C00">
                <a:alpha val="69803"/>
              </a:srgbClr>
            </a:solidFill>
            <a:ln>
              <a:noFill/>
            </a:ln>
          </p:spPr>
        </p:sp>
        <p:sp>
          <p:nvSpPr>
            <p:cNvPr id="17" name="Google Shape;17;p25"/>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rgbClr val="F19279">
                <a:alpha val="69803"/>
              </a:srgbClr>
            </a:solidFill>
            <a:ln>
              <a:noFill/>
            </a:ln>
          </p:spPr>
        </p:sp>
        <p:sp>
          <p:nvSpPr>
            <p:cNvPr id="18" name="Google Shape;18;p25"/>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chemeClr val="accent1">
                <a:alpha val="64705"/>
              </a:schemeClr>
            </a:solidFill>
            <a:ln>
              <a:noFill/>
            </a:ln>
          </p:spPr>
        </p:sp>
        <p:sp>
          <p:nvSpPr>
            <p:cNvPr id="19" name="Google Shape;19;p25"/>
            <p:cNvSpPr/>
            <p:nvPr/>
          </p:nvSpPr>
          <p:spPr>
            <a:xfrm>
              <a:off x="10371666" y="3589867"/>
              <a:ext cx="1817159" cy="3268133"/>
            </a:xfrm>
            <a:prstGeom prst="triangle">
              <a:avLst>
                <a:gd fmla="val 100000" name="adj"/>
              </a:avLst>
            </a:prstGeom>
            <a:solidFill>
              <a:schemeClr val="accent1">
                <a:alpha val="8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5"/>
            <p:cNvSpPr/>
            <p:nvPr/>
          </p:nvSpPr>
          <p:spPr>
            <a:xfrm>
              <a:off x="0" y="4013200"/>
              <a:ext cx="448733" cy="2844800"/>
            </a:xfrm>
            <a:prstGeom prst="triangle">
              <a:avLst>
                <a:gd fmla="val 0" name="adj"/>
              </a:avLst>
            </a:prstGeom>
            <a:solidFill>
              <a:schemeClr val="accent1">
                <a:alpha val="84705"/>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25"/>
          <p:cNvSpPr txBox="1"/>
          <p:nvPr>
            <p:ph type="title"/>
          </p:nvPr>
        </p:nvSpPr>
        <p:spPr>
          <a:xfrm>
            <a:off x="677335"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25"/>
          <p:cNvSpPr txBox="1"/>
          <p:nvPr>
            <p:ph idx="1" type="body"/>
          </p:nvPr>
        </p:nvSpPr>
        <p:spPr>
          <a:xfrm>
            <a:off x="677335" y="2160590"/>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25"/>
          <p:cNvSpPr txBox="1"/>
          <p:nvPr>
            <p:ph idx="10" type="dt"/>
          </p:nvPr>
        </p:nvSpPr>
        <p:spPr>
          <a:xfrm>
            <a:off x="7205133" y="6041366"/>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25"/>
          <p:cNvSpPr txBox="1"/>
          <p:nvPr>
            <p:ph idx="11" type="ftr"/>
          </p:nvPr>
        </p:nvSpPr>
        <p:spPr>
          <a:xfrm>
            <a:off x="677335" y="6041366"/>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25"/>
          <p:cNvSpPr txBox="1"/>
          <p:nvPr>
            <p:ph idx="12" type="sldNum"/>
          </p:nvPr>
        </p:nvSpPr>
        <p:spPr>
          <a:xfrm>
            <a:off x="8590665" y="6041366"/>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
          <p:cNvSpPr txBox="1"/>
          <p:nvPr>
            <p:ph type="ctrTitle"/>
          </p:nvPr>
        </p:nvSpPr>
        <p:spPr>
          <a:xfrm>
            <a:off x="1281567" y="357622"/>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Chapter 5 : Risk and Responsibilities</a:t>
            </a:r>
            <a:endParaRPr/>
          </a:p>
        </p:txBody>
      </p:sp>
      <p:sp>
        <p:nvSpPr>
          <p:cNvPr id="149" name="Google Shape;149;p1"/>
          <p:cNvSpPr txBox="1"/>
          <p:nvPr>
            <p:ph idx="1" type="subTitle"/>
          </p:nvPr>
        </p:nvSpPr>
        <p:spPr>
          <a:xfrm>
            <a:off x="1281567" y="1139687"/>
            <a:ext cx="8094254" cy="4903303"/>
          </a:xfrm>
          <a:prstGeom prst="rect">
            <a:avLst/>
          </a:prstGeom>
          <a:noFill/>
          <a:ln>
            <a:noFill/>
          </a:ln>
        </p:spPr>
        <p:txBody>
          <a:bodyPr anchorCtr="0" anchor="t" bIns="45700" lIns="91425" spcFirstLastPara="1" rIns="91425" wrap="square" tIns="45700">
            <a:normAutofit fontScale="92500" lnSpcReduction="10000"/>
          </a:bodyPr>
          <a:lstStyle/>
          <a:p>
            <a:pPr indent="-457200" lvl="0" marL="457200" rtl="0" algn="l">
              <a:spcBef>
                <a:spcPts val="0"/>
              </a:spcBef>
              <a:spcAft>
                <a:spcPts val="0"/>
              </a:spcAft>
              <a:buClr>
                <a:schemeClr val="dk1"/>
              </a:buClr>
              <a:buSzPct val="71000"/>
              <a:buFont typeface="Noto Sans Symbols"/>
              <a:buChar char="❑"/>
            </a:pPr>
            <a:r>
              <a:rPr lang="en-US" sz="2800">
                <a:solidFill>
                  <a:schemeClr val="dk1"/>
                </a:solidFill>
              </a:rPr>
              <a:t>Computer Liability</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Malfunction of Computer</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Safety in Critical Systems</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Accuracy vs Democracy in Internet</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Misinterpretation of Information and its Liability</a:t>
            </a:r>
            <a:endParaRPr/>
          </a:p>
          <a:p>
            <a:pPr indent="-457200" lvl="0" marL="457200" rtl="0" algn="l">
              <a:spcBef>
                <a:spcPts val="1000"/>
              </a:spcBef>
              <a:spcAft>
                <a:spcPts val="0"/>
              </a:spcAft>
              <a:buClr>
                <a:schemeClr val="dk1"/>
              </a:buClr>
              <a:buSzPct val="71000"/>
              <a:buFont typeface="Noto Sans Symbols"/>
              <a:buChar char="❑"/>
            </a:pPr>
            <a:r>
              <a:rPr lang="en-US" sz="2800">
                <a:solidFill>
                  <a:schemeClr val="dk1"/>
                </a:solidFill>
              </a:rPr>
              <a:t>Values in Design</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Software and Design Problems</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Hardware Design Issues</a:t>
            </a:r>
            <a:endParaRPr/>
          </a:p>
          <a:p>
            <a:pPr indent="-457200" lvl="0" marL="457200" rtl="0" algn="l">
              <a:spcBef>
                <a:spcPts val="1000"/>
              </a:spcBef>
              <a:spcAft>
                <a:spcPts val="0"/>
              </a:spcAft>
              <a:buClr>
                <a:schemeClr val="dk1"/>
              </a:buClr>
              <a:buSzPct val="71000"/>
              <a:buFont typeface="Noto Sans Symbols"/>
              <a:buChar char="❑"/>
            </a:pPr>
            <a:r>
              <a:rPr lang="en-US" sz="2800">
                <a:solidFill>
                  <a:schemeClr val="dk1"/>
                </a:solidFill>
              </a:rPr>
              <a:t>Professional Responsibilities of Computer Users</a:t>
            </a:r>
            <a:endParaRPr/>
          </a:p>
          <a:p>
            <a:pPr indent="-457199" lvl="1" marL="914388" rtl="0" algn="l">
              <a:spcBef>
                <a:spcPts val="1000"/>
              </a:spcBef>
              <a:spcAft>
                <a:spcPts val="0"/>
              </a:spcAft>
              <a:buClr>
                <a:schemeClr val="dk1"/>
              </a:buClr>
              <a:buSzPct val="71000"/>
              <a:buFont typeface="Noto Sans Symbols"/>
              <a:buChar char="⮚"/>
            </a:pPr>
            <a:r>
              <a:rPr lang="en-US" sz="2600">
                <a:solidFill>
                  <a:schemeClr val="dk1"/>
                </a:solidFill>
              </a:rPr>
              <a:t>Responsibility and Accountability</a:t>
            </a:r>
            <a:endParaRPr/>
          </a:p>
          <a:p>
            <a:pPr indent="0" lvl="0" marL="0" rtl="0" algn="l">
              <a:spcBef>
                <a:spcPts val="1000"/>
              </a:spcBef>
              <a:spcAft>
                <a:spcPts val="0"/>
              </a:spcAft>
              <a:buClr>
                <a:schemeClr val="dk1"/>
              </a:buClr>
              <a:buSzPct val="71000"/>
              <a:buNone/>
            </a:pPr>
            <a:r>
              <a:t/>
            </a:r>
            <a:endParaRPr sz="2800">
              <a:solidFill>
                <a:schemeClr val="dk1"/>
              </a:solidFill>
            </a:endParaRPr>
          </a:p>
          <a:p>
            <a:pPr indent="-340429" lvl="0" marL="457200" rtl="0" algn="l">
              <a:spcBef>
                <a:spcPts val="1000"/>
              </a:spcBef>
              <a:spcAft>
                <a:spcPts val="0"/>
              </a:spcAft>
              <a:buClr>
                <a:schemeClr val="dk1"/>
              </a:buClr>
              <a:buSzPct val="71000"/>
              <a:buFont typeface="Noto Sans Symbols"/>
              <a:buNone/>
            </a:pPr>
            <a:r>
              <a:t/>
            </a:r>
            <a:endParaRPr sz="2800">
              <a:solidFill>
                <a:schemeClr val="dk1"/>
              </a:solidFill>
            </a:endParaRPr>
          </a:p>
          <a:p>
            <a:pPr indent="-340429" lvl="0" marL="457200" rtl="0" algn="l">
              <a:spcBef>
                <a:spcPts val="1000"/>
              </a:spcBef>
              <a:spcAft>
                <a:spcPts val="0"/>
              </a:spcAft>
              <a:buClr>
                <a:schemeClr val="dk1"/>
              </a:buClr>
              <a:buSzPct val="71000"/>
              <a:buFont typeface="Noto Sans Symbols"/>
              <a:buNone/>
            </a:pPr>
            <a:r>
              <a:t/>
            </a:r>
            <a:endParaRPr sz="2800">
              <a:solidFill>
                <a:schemeClr val="dk1"/>
              </a:solidFill>
            </a:endParaRPr>
          </a:p>
          <a:p>
            <a:pPr indent="0" lvl="0" marL="0" rtl="0" algn="l">
              <a:spcBef>
                <a:spcPts val="1000"/>
              </a:spcBef>
              <a:spcAft>
                <a:spcPts val="0"/>
              </a:spcAft>
              <a:buClr>
                <a:schemeClr val="dk1"/>
              </a:buClr>
              <a:buSzPct val="71000"/>
              <a:buNone/>
            </a:pPr>
            <a:r>
              <a:t/>
            </a:r>
            <a:endParaRPr sz="2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Introduction</a:t>
            </a:r>
            <a:endParaRPr/>
          </a:p>
        </p:txBody>
      </p:sp>
      <p:sp>
        <p:nvSpPr>
          <p:cNvPr id="156" name="Google Shape;156;p2"/>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1988"/>
              <a:buFont typeface="Noto Sans Symbols"/>
              <a:buChar char="❖"/>
            </a:pPr>
            <a:r>
              <a:rPr lang="en-US" sz="2800">
                <a:solidFill>
                  <a:schemeClr val="dk1"/>
                </a:solidFill>
              </a:rPr>
              <a:t>A </a:t>
            </a:r>
            <a:r>
              <a:rPr lang="en-US" sz="2800">
                <a:solidFill>
                  <a:schemeClr val="dk1"/>
                </a:solidFill>
                <a:highlight>
                  <a:srgbClr val="FFFF00"/>
                </a:highlight>
              </a:rPr>
              <a:t>risk</a:t>
            </a:r>
            <a:r>
              <a:rPr lang="en-US" sz="2800">
                <a:solidFill>
                  <a:schemeClr val="dk1"/>
                </a:solidFill>
              </a:rPr>
              <a:t> is a potential problem that might or might not happen.</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It is necessary to identify risk so that potential problems can be avoided.</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Two characteristics of risk:</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Uncertainty</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Loss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highlight>
                  <a:srgbClr val="FFFF00"/>
                </a:highlight>
              </a:rPr>
              <a:t>Responsibility</a:t>
            </a:r>
            <a:r>
              <a:rPr lang="en-US" sz="2800">
                <a:solidFill>
                  <a:schemeClr val="dk1"/>
                </a:solidFill>
              </a:rPr>
              <a:t> refers to an obligation to perform certain functions in order to achieve certain results.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Computer Liability</a:t>
            </a:r>
            <a:endParaRPr/>
          </a:p>
        </p:txBody>
      </p:sp>
      <p:sp>
        <p:nvSpPr>
          <p:cNvPr id="163" name="Google Shape;163;p3"/>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1988"/>
              <a:buFont typeface="Noto Sans Symbols"/>
              <a:buChar char="❖"/>
            </a:pPr>
            <a:r>
              <a:rPr lang="en-US" sz="2800">
                <a:solidFill>
                  <a:schemeClr val="dk1"/>
                </a:solidFill>
              </a:rPr>
              <a:t>The state of being legally responsible for something.</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Who would be responsible for hardware or software flaws?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Computer liability defines that the person or owner or the company should be responsible for the security flaws, error or defects in products( hardware or software).</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Who Will Pay the Price for Flawed Software?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Computer Liability</a:t>
            </a:r>
            <a:endParaRPr/>
          </a:p>
        </p:txBody>
      </p:sp>
      <p:sp>
        <p:nvSpPr>
          <p:cNvPr id="170" name="Google Shape;170;p4"/>
          <p:cNvSpPr txBox="1"/>
          <p:nvPr>
            <p:ph idx="1" type="subTitle"/>
          </p:nvPr>
        </p:nvSpPr>
        <p:spPr>
          <a:xfrm>
            <a:off x="1281567" y="1139689"/>
            <a:ext cx="8094254" cy="5267924"/>
          </a:xfrm>
          <a:prstGeom prst="rect">
            <a:avLst/>
          </a:prstGeom>
          <a:noFill/>
          <a:ln>
            <a:noFill/>
          </a:ln>
        </p:spPr>
        <p:txBody>
          <a:bodyPr anchorCtr="0" anchor="t" bIns="45700" lIns="91425" spcFirstLastPara="1" rIns="91425" wrap="square" tIns="45700">
            <a:normAutofit fontScale="62500" lnSpcReduction="20000"/>
          </a:bodyPr>
          <a:lstStyle/>
          <a:p>
            <a:pPr indent="0" lvl="0" marL="0" rtl="0" algn="just">
              <a:spcBef>
                <a:spcPts val="0"/>
              </a:spcBef>
              <a:spcAft>
                <a:spcPts val="0"/>
              </a:spcAft>
              <a:buClr>
                <a:schemeClr val="dk1"/>
              </a:buClr>
              <a:buSzPct val="71000"/>
              <a:buNone/>
            </a:pPr>
            <a:r>
              <a:rPr lang="en-US" sz="2800">
                <a:solidFill>
                  <a:srgbClr val="FF0000"/>
                </a:solidFill>
              </a:rPr>
              <a:t>Computer liability includes:</a:t>
            </a:r>
            <a:endParaRPr/>
          </a:p>
          <a:p>
            <a:pPr indent="-457200" lvl="0" marL="457200" rtl="0" algn="just">
              <a:lnSpc>
                <a:spcPct val="120000"/>
              </a:lnSpc>
              <a:spcBef>
                <a:spcPts val="1000"/>
              </a:spcBef>
              <a:spcAft>
                <a:spcPts val="0"/>
              </a:spcAft>
              <a:buClr>
                <a:schemeClr val="dk1"/>
              </a:buClr>
              <a:buSzPct val="71000"/>
              <a:buFont typeface="Noto Sans Symbols"/>
              <a:buChar char="❖"/>
            </a:pPr>
            <a:r>
              <a:rPr lang="en-US" sz="2800">
                <a:solidFill>
                  <a:schemeClr val="dk1"/>
                </a:solidFill>
              </a:rPr>
              <a:t>Complex application software defects</a:t>
            </a:r>
            <a:endParaRPr/>
          </a:p>
          <a:p>
            <a:pPr indent="-457200" lvl="0" marL="457200" rtl="0" algn="just">
              <a:lnSpc>
                <a:spcPct val="120000"/>
              </a:lnSpc>
              <a:spcBef>
                <a:spcPts val="1000"/>
              </a:spcBef>
              <a:spcAft>
                <a:spcPts val="0"/>
              </a:spcAft>
              <a:buClr>
                <a:schemeClr val="dk1"/>
              </a:buClr>
              <a:buSzPct val="71000"/>
              <a:buFont typeface="Noto Sans Symbols"/>
              <a:buChar char="❖"/>
            </a:pPr>
            <a:r>
              <a:rPr lang="en-US" sz="2800">
                <a:solidFill>
                  <a:schemeClr val="dk1"/>
                </a:solidFill>
              </a:rPr>
              <a:t>Operating system failures</a:t>
            </a:r>
            <a:endParaRPr/>
          </a:p>
          <a:p>
            <a:pPr indent="-457200" lvl="0" marL="457200" rtl="0" algn="just">
              <a:lnSpc>
                <a:spcPct val="120000"/>
              </a:lnSpc>
              <a:spcBef>
                <a:spcPts val="1000"/>
              </a:spcBef>
              <a:spcAft>
                <a:spcPts val="0"/>
              </a:spcAft>
              <a:buClr>
                <a:schemeClr val="dk1"/>
              </a:buClr>
              <a:buSzPct val="71000"/>
              <a:buFont typeface="Noto Sans Symbols"/>
              <a:buChar char="❖"/>
            </a:pPr>
            <a:r>
              <a:rPr lang="en-US" sz="2800">
                <a:solidFill>
                  <a:schemeClr val="dk1"/>
                </a:solidFill>
              </a:rPr>
              <a:t>On-line transaction processing performance issues</a:t>
            </a:r>
            <a:endParaRPr/>
          </a:p>
          <a:p>
            <a:pPr indent="-457200" lvl="0" marL="457200" rtl="0" algn="just">
              <a:lnSpc>
                <a:spcPct val="120000"/>
              </a:lnSpc>
              <a:spcBef>
                <a:spcPts val="1000"/>
              </a:spcBef>
              <a:spcAft>
                <a:spcPts val="0"/>
              </a:spcAft>
              <a:buClr>
                <a:schemeClr val="dk1"/>
              </a:buClr>
              <a:buSzPct val="71000"/>
              <a:buFont typeface="Noto Sans Symbols"/>
              <a:buChar char="❖"/>
            </a:pPr>
            <a:r>
              <a:rPr lang="en-US" sz="2800">
                <a:solidFill>
                  <a:schemeClr val="dk1"/>
                </a:solidFill>
              </a:rPr>
              <a:t>Database architecture disputes</a:t>
            </a:r>
            <a:endParaRPr/>
          </a:p>
          <a:p>
            <a:pPr indent="-457200" lvl="0" marL="457200" rtl="0" algn="just">
              <a:lnSpc>
                <a:spcPct val="120000"/>
              </a:lnSpc>
              <a:spcBef>
                <a:spcPts val="1000"/>
              </a:spcBef>
              <a:spcAft>
                <a:spcPts val="0"/>
              </a:spcAft>
              <a:buClr>
                <a:schemeClr val="dk1"/>
              </a:buClr>
              <a:buSzPct val="71000"/>
              <a:buFont typeface="Noto Sans Symbols"/>
              <a:buChar char="❖"/>
            </a:pPr>
            <a:r>
              <a:rPr lang="en-US" sz="2800">
                <a:solidFill>
                  <a:schemeClr val="dk1"/>
                </a:solidFill>
              </a:rPr>
              <a:t>International licensing rights for custom database management applications</a:t>
            </a:r>
            <a:endParaRPr/>
          </a:p>
          <a:p>
            <a:pPr indent="-457200" lvl="0" marL="457200" rtl="0" algn="just">
              <a:lnSpc>
                <a:spcPct val="120000"/>
              </a:lnSpc>
              <a:spcBef>
                <a:spcPts val="1000"/>
              </a:spcBef>
              <a:spcAft>
                <a:spcPts val="0"/>
              </a:spcAft>
              <a:buClr>
                <a:schemeClr val="dk1"/>
              </a:buClr>
              <a:buSzPct val="71000"/>
              <a:buFont typeface="Noto Sans Symbols"/>
              <a:buChar char="❖"/>
            </a:pPr>
            <a:r>
              <a:rPr lang="en-US" sz="2800">
                <a:solidFill>
                  <a:schemeClr val="dk1"/>
                </a:solidFill>
              </a:rPr>
              <a:t>Electronic errors and omissions coverage disputes</a:t>
            </a:r>
            <a:endParaRPr/>
          </a:p>
          <a:p>
            <a:pPr indent="-457200" lvl="0" marL="457200" rtl="0" algn="just">
              <a:lnSpc>
                <a:spcPct val="120000"/>
              </a:lnSpc>
              <a:spcBef>
                <a:spcPts val="1000"/>
              </a:spcBef>
              <a:spcAft>
                <a:spcPts val="0"/>
              </a:spcAft>
              <a:buClr>
                <a:schemeClr val="dk1"/>
              </a:buClr>
              <a:buSzPct val="71000"/>
              <a:buFont typeface="Noto Sans Symbols"/>
              <a:buChar char="❖"/>
            </a:pPr>
            <a:r>
              <a:rPr lang="en-US" sz="2800">
                <a:solidFill>
                  <a:schemeClr val="dk1"/>
                </a:solidFill>
              </a:rPr>
              <a:t>Hardware defect claims</a:t>
            </a:r>
            <a:endParaRPr/>
          </a:p>
          <a:p>
            <a:pPr indent="-457200" lvl="0" marL="457200" rtl="0" algn="just">
              <a:lnSpc>
                <a:spcPct val="120000"/>
              </a:lnSpc>
              <a:spcBef>
                <a:spcPts val="1000"/>
              </a:spcBef>
              <a:spcAft>
                <a:spcPts val="0"/>
              </a:spcAft>
              <a:buClr>
                <a:schemeClr val="dk1"/>
              </a:buClr>
              <a:buSzPct val="71000"/>
              <a:buFont typeface="Noto Sans Symbols"/>
              <a:buChar char="❖"/>
            </a:pPr>
            <a:r>
              <a:rPr lang="en-US" sz="2800">
                <a:solidFill>
                  <a:schemeClr val="dk1"/>
                </a:solidFill>
              </a:rPr>
              <a:t>Business interruption claims related to data processing failures</a:t>
            </a:r>
            <a:endParaRPr/>
          </a:p>
          <a:p>
            <a:pPr indent="-457200" lvl="0" marL="457200" rtl="0" algn="just">
              <a:lnSpc>
                <a:spcPct val="120000"/>
              </a:lnSpc>
              <a:spcBef>
                <a:spcPts val="1000"/>
              </a:spcBef>
              <a:spcAft>
                <a:spcPts val="0"/>
              </a:spcAft>
              <a:buClr>
                <a:schemeClr val="dk1"/>
              </a:buClr>
              <a:buSzPct val="71000"/>
              <a:buFont typeface="Noto Sans Symbols"/>
              <a:buChar char="❖"/>
            </a:pPr>
            <a:r>
              <a:rPr lang="en-US" sz="2800">
                <a:solidFill>
                  <a:schemeClr val="dk1"/>
                </a:solidFill>
              </a:rPr>
              <a:t>Implementation errors</a:t>
            </a:r>
            <a:endParaRPr/>
          </a:p>
          <a:p>
            <a:pPr indent="-457200" lvl="0" marL="457200" rtl="0" algn="just">
              <a:lnSpc>
                <a:spcPct val="120000"/>
              </a:lnSpc>
              <a:spcBef>
                <a:spcPts val="1000"/>
              </a:spcBef>
              <a:spcAft>
                <a:spcPts val="0"/>
              </a:spcAft>
              <a:buClr>
                <a:schemeClr val="dk1"/>
              </a:buClr>
              <a:buSzPct val="71000"/>
              <a:buFont typeface="Noto Sans Symbols"/>
              <a:buChar char="❖"/>
            </a:pPr>
            <a:r>
              <a:rPr lang="en-US" sz="2800">
                <a:solidFill>
                  <a:schemeClr val="dk1"/>
                </a:solidFill>
              </a:rPr>
              <a:t>Damage to data farms caused by cooling system malfunctions</a:t>
            </a:r>
            <a:endParaRPr/>
          </a:p>
          <a:p>
            <a:pPr indent="-457200" lvl="0" marL="457200" rtl="0" algn="just">
              <a:lnSpc>
                <a:spcPct val="120000"/>
              </a:lnSpc>
              <a:spcBef>
                <a:spcPts val="1000"/>
              </a:spcBef>
              <a:spcAft>
                <a:spcPts val="0"/>
              </a:spcAft>
              <a:buClr>
                <a:schemeClr val="dk1"/>
              </a:buClr>
              <a:buSzPct val="71000"/>
              <a:buFont typeface="Noto Sans Symbols"/>
              <a:buChar char="❖"/>
            </a:pPr>
            <a:r>
              <a:rPr lang="en-US" sz="2800">
                <a:solidFill>
                  <a:schemeClr val="dk1"/>
                </a:solidFill>
              </a:rPr>
              <a:t>Security issues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5"/>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Malfunction of Computer</a:t>
            </a:r>
            <a:endParaRPr/>
          </a:p>
        </p:txBody>
      </p:sp>
      <p:sp>
        <p:nvSpPr>
          <p:cNvPr id="177" name="Google Shape;177;p5"/>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lnSpcReduction="10000"/>
          </a:bodyPr>
          <a:lstStyle/>
          <a:p>
            <a:pPr indent="-457200" lvl="0" marL="457200" rtl="0" algn="just">
              <a:spcBef>
                <a:spcPts val="0"/>
              </a:spcBef>
              <a:spcAft>
                <a:spcPts val="0"/>
              </a:spcAft>
              <a:buClr>
                <a:schemeClr val="dk1"/>
              </a:buClr>
              <a:buSzPts val="1988"/>
              <a:buFont typeface="Noto Sans Symbols"/>
              <a:buChar char="❖"/>
            </a:pPr>
            <a:r>
              <a:rPr lang="en-US" sz="2800">
                <a:solidFill>
                  <a:schemeClr val="dk1"/>
                </a:solidFill>
              </a:rPr>
              <a:t>The Computer Won’t Start</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The Screen is Blank</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Operating System or Software failure</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Windows Won’t Boot</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The Screen is Frozen</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Computer is Slow</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Strange Noises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Slow Internet</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Overheating</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Dropped Internet Connections</a:t>
            </a:r>
            <a:endParaRPr/>
          </a:p>
          <a:p>
            <a:pPr indent="-330962" lvl="0" marL="457200" rtl="0" algn="just">
              <a:spcBef>
                <a:spcPts val="1000"/>
              </a:spcBef>
              <a:spcAft>
                <a:spcPts val="0"/>
              </a:spcAft>
              <a:buClr>
                <a:schemeClr val="dk1"/>
              </a:buClr>
              <a:buSzPts val="1988"/>
              <a:buFont typeface="Noto Sans Symbols"/>
              <a:buNone/>
            </a:pPr>
            <a:r>
              <a:t/>
            </a:r>
            <a:endParaRPr sz="2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6"/>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Safety in Critical Systems</a:t>
            </a:r>
            <a:endParaRPr/>
          </a:p>
        </p:txBody>
      </p:sp>
      <p:sp>
        <p:nvSpPr>
          <p:cNvPr id="184" name="Google Shape;184;p6"/>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1704"/>
              <a:buFont typeface="Noto Sans Symbols"/>
              <a:buChar char="❖"/>
            </a:pPr>
            <a:r>
              <a:rPr b="0" i="0" lang="en-US" sz="2400">
                <a:solidFill>
                  <a:srgbClr val="000000"/>
                </a:solidFill>
                <a:latin typeface="Trebuchet MS"/>
                <a:ea typeface="Trebuchet MS"/>
                <a:cs typeface="Trebuchet MS"/>
                <a:sym typeface="Trebuchet MS"/>
              </a:rPr>
              <a:t>Safety-critical systems, also called life-critical systems, are computer systems that can result in injury or loss of life if it fails or malfunctions.  </a:t>
            </a:r>
            <a:endParaRPr/>
          </a:p>
          <a:p>
            <a:pPr indent="-457200" lvl="0" marL="457200" rtl="0" algn="just">
              <a:spcBef>
                <a:spcPts val="1000"/>
              </a:spcBef>
              <a:spcAft>
                <a:spcPts val="0"/>
              </a:spcAft>
              <a:buClr>
                <a:schemeClr val="dk1"/>
              </a:buClr>
              <a:buSzPts val="1704"/>
              <a:buFont typeface="Noto Sans Symbols"/>
              <a:buChar char="❖"/>
            </a:pPr>
            <a:r>
              <a:rPr b="0" i="0" lang="en-US" sz="2400">
                <a:solidFill>
                  <a:srgbClr val="000000"/>
                </a:solidFill>
                <a:latin typeface="Trebuchet MS"/>
                <a:ea typeface="Trebuchet MS"/>
                <a:cs typeface="Trebuchet MS"/>
                <a:sym typeface="Trebuchet MS"/>
              </a:rPr>
              <a:t>These systems can also cause harm to other equipment or the environment in the event of failure.</a:t>
            </a:r>
            <a:endParaRPr/>
          </a:p>
          <a:p>
            <a:pPr indent="-457200" lvl="0" marL="457200" rtl="0" algn="just">
              <a:spcBef>
                <a:spcPts val="1000"/>
              </a:spcBef>
              <a:spcAft>
                <a:spcPts val="0"/>
              </a:spcAft>
              <a:buClr>
                <a:schemeClr val="dk1"/>
              </a:buClr>
              <a:buSzPts val="1704"/>
              <a:buFont typeface="Noto Sans Symbols"/>
              <a:buChar char="❖"/>
            </a:pPr>
            <a:r>
              <a:rPr lang="en-US" sz="2400">
                <a:solidFill>
                  <a:schemeClr val="dk1"/>
                </a:solidFill>
                <a:latin typeface="Trebuchet MS"/>
                <a:ea typeface="Trebuchet MS"/>
                <a:cs typeface="Trebuchet MS"/>
                <a:sym typeface="Trebuchet MS"/>
              </a:rPr>
              <a:t>Safety Engineering is what makes sure that these systems operate the way they are needed to should they fail.  </a:t>
            </a:r>
            <a:endParaRPr/>
          </a:p>
          <a:p>
            <a:pPr indent="-457200" lvl="0" marL="457200" rtl="0" algn="just">
              <a:spcBef>
                <a:spcPts val="1000"/>
              </a:spcBef>
              <a:spcAft>
                <a:spcPts val="0"/>
              </a:spcAft>
              <a:buClr>
                <a:schemeClr val="dk1"/>
              </a:buClr>
              <a:buSzPts val="1704"/>
              <a:buFont typeface="Noto Sans Symbols"/>
              <a:buChar char="❖"/>
            </a:pPr>
            <a:r>
              <a:rPr lang="en-US" sz="2400">
                <a:solidFill>
                  <a:schemeClr val="dk1"/>
                </a:solidFill>
                <a:latin typeface="Trebuchet MS"/>
                <a:ea typeface="Trebuchet MS"/>
                <a:cs typeface="Trebuchet MS"/>
                <a:sym typeface="Trebuchet MS"/>
              </a:rPr>
              <a:t>Because the failure of these systems can be dangerous, these systems are designed to be as flawless as possible.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7"/>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Safety in Critical Systems</a:t>
            </a:r>
            <a:endParaRPr/>
          </a:p>
        </p:txBody>
      </p:sp>
      <p:sp>
        <p:nvSpPr>
          <p:cNvPr id="191" name="Google Shape;191;p7"/>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Autofit/>
          </a:bodyPr>
          <a:lstStyle/>
          <a:p>
            <a:pPr indent="-457200" lvl="0" marL="457200" rtl="0" algn="just">
              <a:spcBef>
                <a:spcPts val="0"/>
              </a:spcBef>
              <a:spcAft>
                <a:spcPts val="0"/>
              </a:spcAft>
              <a:buClr>
                <a:schemeClr val="dk1"/>
              </a:buClr>
              <a:buSzPts val="1704"/>
              <a:buFont typeface="Noto Sans Symbols"/>
              <a:buChar char="❖"/>
            </a:pPr>
            <a:r>
              <a:rPr b="0" i="0" lang="en-US" sz="2400">
                <a:solidFill>
                  <a:srgbClr val="000000"/>
                </a:solidFill>
                <a:latin typeface="Trebuchet MS"/>
                <a:ea typeface="Trebuchet MS"/>
                <a:cs typeface="Trebuchet MS"/>
                <a:sym typeface="Trebuchet MS"/>
              </a:rPr>
              <a:t>Safety-critical systems are more complicated and more difficult to design when compared to other systems or software.  </a:t>
            </a:r>
            <a:endParaRPr/>
          </a:p>
          <a:p>
            <a:pPr indent="-457200" lvl="0" marL="457200" rtl="0" algn="just">
              <a:spcBef>
                <a:spcPts val="1000"/>
              </a:spcBef>
              <a:spcAft>
                <a:spcPts val="0"/>
              </a:spcAft>
              <a:buClr>
                <a:schemeClr val="dk1"/>
              </a:buClr>
              <a:buSzPts val="1704"/>
              <a:buFont typeface="Noto Sans Symbols"/>
              <a:buChar char="❖"/>
            </a:pPr>
            <a:r>
              <a:rPr b="0" i="0" lang="en-US" sz="2400">
                <a:solidFill>
                  <a:srgbClr val="000000"/>
                </a:solidFill>
                <a:latin typeface="Trebuchet MS"/>
                <a:ea typeface="Trebuchet MS"/>
                <a:cs typeface="Trebuchet MS"/>
                <a:sym typeface="Trebuchet MS"/>
              </a:rPr>
              <a:t>The idea of a safety-critical system is to create systems that are intrinsically safe, minimize hazards, control hazards, and reduce the impact of hazards.  </a:t>
            </a:r>
            <a:endParaRPr/>
          </a:p>
          <a:p>
            <a:pPr indent="-457200" lvl="0" marL="457200" rtl="0" algn="just">
              <a:spcBef>
                <a:spcPts val="1000"/>
              </a:spcBef>
              <a:spcAft>
                <a:spcPts val="0"/>
              </a:spcAft>
              <a:buClr>
                <a:schemeClr val="dk1"/>
              </a:buClr>
              <a:buSzPts val="1704"/>
              <a:buFont typeface="Noto Sans Symbols"/>
              <a:buChar char="❖"/>
            </a:pPr>
            <a:r>
              <a:rPr b="0" i="0" lang="en-US" sz="2400">
                <a:solidFill>
                  <a:srgbClr val="000000"/>
                </a:solidFill>
                <a:latin typeface="Trebuchet MS"/>
                <a:ea typeface="Trebuchet MS"/>
                <a:cs typeface="Trebuchet MS"/>
                <a:sym typeface="Trebuchet MS"/>
              </a:rPr>
              <a:t>Creating these systems can take a long time and cost vast amounts of money.</a:t>
            </a:r>
            <a:endParaRPr/>
          </a:p>
          <a:p>
            <a:pPr indent="-457200" lvl="0" marL="457200" rtl="0" algn="just">
              <a:spcBef>
                <a:spcPts val="1000"/>
              </a:spcBef>
              <a:spcAft>
                <a:spcPts val="0"/>
              </a:spcAft>
              <a:buClr>
                <a:schemeClr val="dk1"/>
              </a:buClr>
              <a:buSzPts val="1704"/>
              <a:buFont typeface="Noto Sans Symbols"/>
              <a:buChar char="❖"/>
            </a:pPr>
            <a:r>
              <a:rPr lang="en-US" sz="2400">
                <a:solidFill>
                  <a:schemeClr val="dk1"/>
                </a:solidFill>
                <a:latin typeface="Trebuchet MS"/>
                <a:ea typeface="Trebuchet MS"/>
                <a:cs typeface="Trebuchet MS"/>
                <a:sym typeface="Trebuchet MS"/>
              </a:rPr>
              <a:t>While creating the system, everything must be done carefully.  </a:t>
            </a:r>
            <a:endParaRPr/>
          </a:p>
          <a:p>
            <a:pPr indent="-457200" lvl="0" marL="457200" rtl="0" algn="just">
              <a:spcBef>
                <a:spcPts val="1000"/>
              </a:spcBef>
              <a:spcAft>
                <a:spcPts val="0"/>
              </a:spcAft>
              <a:buClr>
                <a:schemeClr val="dk1"/>
              </a:buClr>
              <a:buSzPts val="1704"/>
              <a:buFont typeface="Noto Sans Symbols"/>
              <a:buChar char="❖"/>
            </a:pPr>
            <a:r>
              <a:rPr lang="en-US" sz="2400">
                <a:solidFill>
                  <a:schemeClr val="dk1"/>
                </a:solidFill>
                <a:latin typeface="Trebuchet MS"/>
                <a:ea typeface="Trebuchet MS"/>
                <a:cs typeface="Trebuchet MS"/>
                <a:sym typeface="Trebuchet MS"/>
              </a:rPr>
              <a:t>The coding, inspecting, documenting testing, verifying, and analyzing must all be done with utmost care.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8"/>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Safety in Critical Systems</a:t>
            </a:r>
            <a:endParaRPr/>
          </a:p>
        </p:txBody>
      </p:sp>
      <p:sp>
        <p:nvSpPr>
          <p:cNvPr id="198" name="Google Shape;198;p8"/>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420"/>
              <a:buNone/>
            </a:pPr>
            <a:r>
              <a:rPr b="0" i="0" lang="en-US" sz="2000">
                <a:solidFill>
                  <a:srgbClr val="FF0000"/>
                </a:solidFill>
                <a:latin typeface="Trebuchet MS"/>
                <a:ea typeface="Trebuchet MS"/>
                <a:cs typeface="Trebuchet MS"/>
                <a:sym typeface="Trebuchet MS"/>
              </a:rPr>
              <a:t>Applications </a:t>
            </a:r>
            <a:endParaRPr/>
          </a:p>
          <a:p>
            <a:pPr indent="-457200" lvl="0" marL="457200" rtl="0" algn="just">
              <a:spcBef>
                <a:spcPts val="1000"/>
              </a:spcBef>
              <a:spcAft>
                <a:spcPts val="0"/>
              </a:spcAft>
              <a:buClr>
                <a:schemeClr val="dk1"/>
              </a:buClr>
              <a:buSzPts val="1420"/>
              <a:buFont typeface="Noto Sans Symbols"/>
              <a:buChar char="❖"/>
            </a:pPr>
            <a:r>
              <a:rPr b="0" i="0" lang="en-US" sz="2000">
                <a:solidFill>
                  <a:srgbClr val="000000"/>
                </a:solidFill>
                <a:latin typeface="Trebuchet MS"/>
                <a:ea typeface="Trebuchet MS"/>
                <a:cs typeface="Trebuchet MS"/>
                <a:sym typeface="Trebuchet MS"/>
              </a:rPr>
              <a:t>Weapons</a:t>
            </a:r>
            <a:endParaRPr/>
          </a:p>
          <a:p>
            <a:pPr indent="-457199" lvl="1" marL="914388" rtl="0" algn="just">
              <a:spcBef>
                <a:spcPts val="1000"/>
              </a:spcBef>
              <a:spcAft>
                <a:spcPts val="0"/>
              </a:spcAft>
              <a:buClr>
                <a:schemeClr val="dk1"/>
              </a:buClr>
              <a:buSzPts val="1420"/>
              <a:buFont typeface="Noto Sans Symbols"/>
              <a:buChar char="❖"/>
            </a:pPr>
            <a:r>
              <a:rPr b="0" i="0" lang="en-US" sz="2000">
                <a:solidFill>
                  <a:srgbClr val="000000"/>
                </a:solidFill>
                <a:latin typeface="Trebuchet MS"/>
                <a:ea typeface="Trebuchet MS"/>
                <a:cs typeface="Trebuchet MS"/>
                <a:sym typeface="Trebuchet MS"/>
              </a:rPr>
              <a:t>Weapons and defense systems</a:t>
            </a:r>
            <a:endParaRPr/>
          </a:p>
          <a:p>
            <a:pPr indent="-457199" lvl="1" marL="914388" rtl="0" algn="just">
              <a:spcBef>
                <a:spcPts val="1000"/>
              </a:spcBef>
              <a:spcAft>
                <a:spcPts val="0"/>
              </a:spcAft>
              <a:buClr>
                <a:schemeClr val="dk1"/>
              </a:buClr>
              <a:buSzPts val="1420"/>
              <a:buFont typeface="Noto Sans Symbols"/>
              <a:buChar char="❖"/>
            </a:pPr>
            <a:r>
              <a:rPr b="0" i="0" lang="en-US" sz="2000">
                <a:solidFill>
                  <a:srgbClr val="000000"/>
                </a:solidFill>
                <a:latin typeface="Trebuchet MS"/>
                <a:ea typeface="Trebuchet MS"/>
                <a:cs typeface="Trebuchet MS"/>
                <a:sym typeface="Trebuchet MS"/>
              </a:rPr>
              <a:t>Warning systems</a:t>
            </a:r>
            <a:endParaRPr/>
          </a:p>
          <a:p>
            <a:pPr indent="-457199" lvl="1" marL="914388" rtl="0" algn="just">
              <a:spcBef>
                <a:spcPts val="1000"/>
              </a:spcBef>
              <a:spcAft>
                <a:spcPts val="0"/>
              </a:spcAft>
              <a:buClr>
                <a:schemeClr val="dk1"/>
              </a:buClr>
              <a:buSzPts val="1420"/>
              <a:buFont typeface="Noto Sans Symbols"/>
              <a:buChar char="❖"/>
            </a:pPr>
            <a:r>
              <a:rPr b="0" i="0" lang="en-US" sz="2000">
                <a:solidFill>
                  <a:srgbClr val="000000"/>
                </a:solidFill>
                <a:latin typeface="Trebuchet MS"/>
                <a:ea typeface="Trebuchet MS"/>
                <a:cs typeface="Trebuchet MS"/>
                <a:sym typeface="Trebuchet MS"/>
              </a:rPr>
              <a:t>Arming and detonating explosives</a:t>
            </a:r>
            <a:endParaRPr/>
          </a:p>
          <a:p>
            <a:pPr indent="-457200" lvl="0" marL="457200" rtl="0" algn="just">
              <a:spcBef>
                <a:spcPts val="1000"/>
              </a:spcBef>
              <a:spcAft>
                <a:spcPts val="0"/>
              </a:spcAft>
              <a:buClr>
                <a:schemeClr val="dk1"/>
              </a:buClr>
              <a:buSzPts val="1420"/>
              <a:buFont typeface="Noto Sans Symbols"/>
              <a:buChar char="❖"/>
            </a:pPr>
            <a:r>
              <a:rPr b="0" i="0" lang="en-US" sz="2000">
                <a:solidFill>
                  <a:srgbClr val="000000"/>
                </a:solidFill>
                <a:latin typeface="Trebuchet MS"/>
                <a:ea typeface="Trebuchet MS"/>
                <a:cs typeface="Trebuchet MS"/>
                <a:sym typeface="Trebuchet MS"/>
              </a:rPr>
              <a:t>Infrastructure</a:t>
            </a:r>
            <a:endParaRPr/>
          </a:p>
          <a:p>
            <a:pPr indent="-457199" lvl="1" marL="914388" rtl="0" algn="just">
              <a:spcBef>
                <a:spcPts val="1000"/>
              </a:spcBef>
              <a:spcAft>
                <a:spcPts val="0"/>
              </a:spcAft>
              <a:buClr>
                <a:schemeClr val="dk1"/>
              </a:buClr>
              <a:buSzPts val="1420"/>
              <a:buFont typeface="Noto Sans Symbols"/>
              <a:buChar char="❖"/>
            </a:pPr>
            <a:r>
              <a:rPr b="0" i="0" lang="en-US" sz="2000">
                <a:solidFill>
                  <a:srgbClr val="000000"/>
                </a:solidFill>
                <a:latin typeface="Trebuchet MS"/>
                <a:ea typeface="Trebuchet MS"/>
                <a:cs typeface="Trebuchet MS"/>
                <a:sym typeface="Trebuchet MS"/>
              </a:rPr>
              <a:t>Fire alarms</a:t>
            </a:r>
            <a:endParaRPr/>
          </a:p>
          <a:p>
            <a:pPr indent="-457199" lvl="1" marL="914388" rtl="0" algn="just">
              <a:spcBef>
                <a:spcPts val="1000"/>
              </a:spcBef>
              <a:spcAft>
                <a:spcPts val="0"/>
              </a:spcAft>
              <a:buClr>
                <a:schemeClr val="dk1"/>
              </a:buClr>
              <a:buSzPts val="1420"/>
              <a:buFont typeface="Noto Sans Symbols"/>
              <a:buChar char="❖"/>
            </a:pPr>
            <a:r>
              <a:rPr b="0" i="0" lang="en-US" sz="2000">
                <a:solidFill>
                  <a:srgbClr val="000000"/>
                </a:solidFill>
                <a:latin typeface="Trebuchet MS"/>
                <a:ea typeface="Trebuchet MS"/>
                <a:cs typeface="Trebuchet MS"/>
                <a:sym typeface="Trebuchet MS"/>
              </a:rPr>
              <a:t>Automatic doors</a:t>
            </a:r>
            <a:endParaRPr/>
          </a:p>
          <a:p>
            <a:pPr indent="-457199" lvl="1" marL="914388" rtl="0" algn="just">
              <a:spcBef>
                <a:spcPts val="1000"/>
              </a:spcBef>
              <a:spcAft>
                <a:spcPts val="0"/>
              </a:spcAft>
              <a:buClr>
                <a:schemeClr val="dk1"/>
              </a:buClr>
              <a:buSzPts val="1420"/>
              <a:buFont typeface="Noto Sans Symbols"/>
              <a:buChar char="❖"/>
            </a:pPr>
            <a:r>
              <a:rPr b="0" i="0" lang="en-US" sz="2000">
                <a:solidFill>
                  <a:srgbClr val="000000"/>
                </a:solidFill>
                <a:latin typeface="Trebuchet MS"/>
                <a:ea typeface="Trebuchet MS"/>
                <a:cs typeface="Trebuchet MS"/>
                <a:sym typeface="Trebuchet MS"/>
              </a:rPr>
              <a:t>Emergency dispatch services</a:t>
            </a:r>
            <a:endParaRPr/>
          </a:p>
          <a:p>
            <a:pPr indent="-457200" lvl="0" marL="457200" rtl="0" algn="just">
              <a:spcBef>
                <a:spcPts val="1000"/>
              </a:spcBef>
              <a:spcAft>
                <a:spcPts val="0"/>
              </a:spcAft>
              <a:buClr>
                <a:schemeClr val="dk1"/>
              </a:buClr>
              <a:buSzPts val="1420"/>
              <a:buFont typeface="Noto Sans Symbols"/>
              <a:buChar char="❖"/>
            </a:pPr>
            <a:r>
              <a:rPr lang="en-US" sz="2000">
                <a:solidFill>
                  <a:schemeClr val="dk1"/>
                </a:solidFill>
                <a:latin typeface="Trebuchet MS"/>
                <a:ea typeface="Trebuchet MS"/>
                <a:cs typeface="Trebuchet MS"/>
                <a:sym typeface="Trebuchet MS"/>
              </a:rPr>
              <a:t>Spaceflight</a:t>
            </a:r>
            <a:endParaRPr/>
          </a:p>
          <a:p>
            <a:pPr indent="-457199" lvl="1" marL="914388" rtl="0" algn="just">
              <a:spcBef>
                <a:spcPts val="1000"/>
              </a:spcBef>
              <a:spcAft>
                <a:spcPts val="0"/>
              </a:spcAft>
              <a:buClr>
                <a:schemeClr val="dk1"/>
              </a:buClr>
              <a:buSzPts val="1420"/>
              <a:buFont typeface="Noto Sans Symbols"/>
              <a:buChar char="❖"/>
            </a:pPr>
            <a:r>
              <a:rPr lang="en-US" sz="2000">
                <a:solidFill>
                  <a:schemeClr val="dk1"/>
                </a:solidFill>
                <a:latin typeface="Trebuchet MS"/>
                <a:ea typeface="Trebuchet MS"/>
                <a:cs typeface="Trebuchet MS"/>
                <a:sym typeface="Trebuchet MS"/>
              </a:rPr>
              <a:t>Launch safety </a:t>
            </a:r>
            <a:endParaRPr/>
          </a:p>
          <a:p>
            <a:pPr indent="-457199" lvl="1" marL="914388" rtl="0" algn="just">
              <a:spcBef>
                <a:spcPts val="1000"/>
              </a:spcBef>
              <a:spcAft>
                <a:spcPts val="0"/>
              </a:spcAft>
              <a:buClr>
                <a:schemeClr val="dk1"/>
              </a:buClr>
              <a:buSzPts val="1420"/>
              <a:buFont typeface="Noto Sans Symbols"/>
              <a:buChar char="❖"/>
            </a:pPr>
            <a:r>
              <a:rPr lang="en-US" sz="2000">
                <a:solidFill>
                  <a:schemeClr val="dk1"/>
                </a:solidFill>
                <a:latin typeface="Trebuchet MS"/>
                <a:ea typeface="Trebuchet MS"/>
                <a:cs typeface="Trebuchet MS"/>
                <a:sym typeface="Trebuchet MS"/>
              </a:rPr>
              <a:t>Vehicle safety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9"/>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Accuracy vs Democracy in Internet</a:t>
            </a:r>
            <a:endParaRPr/>
          </a:p>
        </p:txBody>
      </p:sp>
      <p:sp>
        <p:nvSpPr>
          <p:cNvPr id="205" name="Google Shape;205;p9"/>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988"/>
              <a:buNone/>
            </a:pPr>
            <a:r>
              <a:rPr b="1" lang="en-US" sz="2800">
                <a:solidFill>
                  <a:srgbClr val="FF0000"/>
                </a:solidFill>
              </a:rPr>
              <a:t>Accuracy in Internet</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The Internet has been a huge boon for information-seekers.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Accuracy in Internet is all about the valid or correct information in internet.</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Today the World Wide Web is a user-driven medium, where teenage videographers and political activists of all stripes can post their messages, often in formats as sophisticated-looking as the sites mounted by television networks and major newspapers. </a:t>
            </a:r>
            <a:endParaRPr/>
          </a:p>
          <a:p>
            <a:pPr indent="-330962" lvl="0" marL="457200" rtl="0" algn="just">
              <a:spcBef>
                <a:spcPts val="1000"/>
              </a:spcBef>
              <a:spcAft>
                <a:spcPts val="0"/>
              </a:spcAft>
              <a:buClr>
                <a:schemeClr val="dk1"/>
              </a:buClr>
              <a:buSzPts val="1988"/>
              <a:buFont typeface="Noto Sans Symbols"/>
              <a:buNone/>
            </a:pPr>
            <a:r>
              <a:t/>
            </a:r>
            <a:endParaRPr sz="2800">
              <a:solidFill>
                <a:schemeClr val="dk1"/>
              </a:solidFill>
            </a:endParaRPr>
          </a:p>
          <a:p>
            <a:pPr indent="-330962" lvl="0" marL="457200" rtl="0" algn="just">
              <a:spcBef>
                <a:spcPts val="1000"/>
              </a:spcBef>
              <a:spcAft>
                <a:spcPts val="0"/>
              </a:spcAft>
              <a:buClr>
                <a:schemeClr val="dk1"/>
              </a:buClr>
              <a:buSzPts val="1988"/>
              <a:buFont typeface="Noto Sans Symbols"/>
              <a:buNone/>
            </a:pPr>
            <a:r>
              <a:t/>
            </a:r>
            <a:endParaRPr sz="2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0"/>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Accuracy vs Democracy in Internet</a:t>
            </a:r>
            <a:endParaRPr/>
          </a:p>
        </p:txBody>
      </p:sp>
      <p:sp>
        <p:nvSpPr>
          <p:cNvPr id="212" name="Google Shape;212;p10"/>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988"/>
              <a:buNone/>
            </a:pPr>
            <a:r>
              <a:rPr b="1" lang="en-US" sz="2800">
                <a:solidFill>
                  <a:srgbClr val="FF0000"/>
                </a:solidFill>
              </a:rPr>
              <a:t>Accuracy in Internet</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Have you ever read something that alarmed you and immediately forwarded it to several other people or posted it on Facebook? </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Did you find out later that what you shared was not accurate? </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It’s all too common.</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People jump onto a statement without verifying its accuracy and it flies around the Internet.</a:t>
            </a:r>
            <a:endParaRPr/>
          </a:p>
          <a:p>
            <a:pPr indent="0" lvl="0" marL="0" rtl="0" algn="just">
              <a:spcBef>
                <a:spcPts val="1000"/>
              </a:spcBef>
              <a:spcAft>
                <a:spcPts val="0"/>
              </a:spcAft>
              <a:buClr>
                <a:schemeClr val="dk1"/>
              </a:buClr>
              <a:buSzPts val="1988"/>
              <a:buNone/>
            </a:pPr>
            <a:r>
              <a:t/>
            </a:r>
            <a:endParaRPr sz="28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1"/>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Accuracy vs Democracy in Internet</a:t>
            </a:r>
            <a:endParaRPr/>
          </a:p>
        </p:txBody>
      </p:sp>
      <p:sp>
        <p:nvSpPr>
          <p:cNvPr id="219" name="Google Shape;219;p11"/>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spcBef>
                <a:spcPts val="0"/>
              </a:spcBef>
              <a:spcAft>
                <a:spcPts val="0"/>
              </a:spcAft>
              <a:buClr>
                <a:schemeClr val="dk1"/>
              </a:buClr>
              <a:buSzPct val="71000"/>
              <a:buNone/>
            </a:pPr>
            <a:r>
              <a:rPr b="1" lang="en-US" sz="2800">
                <a:solidFill>
                  <a:srgbClr val="FF0000"/>
                </a:solidFill>
              </a:rPr>
              <a:t>Democracy in Internet</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Democracy in Internet means freedom in internet.</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The UN concluded that access to the internet is a human right.</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The internet has become one of the most influential entities in the 21st century, becoming an essential part of the lives.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But as this ever-growing network continues its worldwide domination,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We must ask how such a powerful structure should be regulated and controlled.</a:t>
            </a:r>
            <a:endParaRPr/>
          </a:p>
          <a:p>
            <a:pPr indent="0" lvl="0" marL="0" rtl="0" algn="just">
              <a:spcBef>
                <a:spcPts val="1000"/>
              </a:spcBef>
              <a:spcAft>
                <a:spcPts val="0"/>
              </a:spcAft>
              <a:buClr>
                <a:schemeClr val="dk1"/>
              </a:buClr>
              <a:buSzPct val="71000"/>
              <a:buNone/>
            </a:pPr>
            <a:r>
              <a:t/>
            </a:r>
            <a:endParaRPr sz="2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2"/>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Accuracy vs Democracy in Internet</a:t>
            </a:r>
            <a:endParaRPr/>
          </a:p>
        </p:txBody>
      </p:sp>
      <p:sp>
        <p:nvSpPr>
          <p:cNvPr id="226" name="Google Shape;226;p12"/>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lnSpcReduction="10000"/>
          </a:bodyPr>
          <a:lstStyle/>
          <a:p>
            <a:pPr indent="0" lvl="0" marL="0" rtl="0" algn="just">
              <a:spcBef>
                <a:spcPts val="0"/>
              </a:spcBef>
              <a:spcAft>
                <a:spcPts val="0"/>
              </a:spcAft>
              <a:buClr>
                <a:schemeClr val="dk1"/>
              </a:buClr>
              <a:buSzPts val="1988"/>
              <a:buNone/>
            </a:pPr>
            <a:r>
              <a:rPr b="1" lang="en-US" sz="2800">
                <a:solidFill>
                  <a:srgbClr val="FF0000"/>
                </a:solidFill>
              </a:rPr>
              <a:t>Democracy in Internet</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The internet was born from a few basic premises: </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that providers treat all data equally, regardless of destination or source;</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that access is universal, undiscriminating and free; and </a:t>
            </a:r>
            <a:endParaRPr/>
          </a:p>
          <a:p>
            <a:pPr indent="-457199" lvl="1" marL="914388" rtl="0" algn="just">
              <a:spcBef>
                <a:spcPts val="1000"/>
              </a:spcBef>
              <a:spcAft>
                <a:spcPts val="0"/>
              </a:spcAft>
              <a:buClr>
                <a:schemeClr val="dk1"/>
              </a:buClr>
              <a:buSzPts val="1846"/>
              <a:buFont typeface="Noto Sans Symbols"/>
              <a:buChar char="⮚"/>
            </a:pPr>
            <a:r>
              <a:rPr lang="en-US" sz="2600">
                <a:solidFill>
                  <a:schemeClr val="dk1"/>
                </a:solidFill>
              </a:rPr>
              <a:t>that the internet remains decentralized, without an overall controller. </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The power of the internet lies in its democracy: that all users are treated as equals.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3"/>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Misinterpretation of Information and its Liability</a:t>
            </a:r>
            <a:endParaRPr/>
          </a:p>
        </p:txBody>
      </p:sp>
      <p:sp>
        <p:nvSpPr>
          <p:cNvPr id="233" name="Google Shape;233;p13"/>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lnSpcReduction="10000"/>
          </a:bodyPr>
          <a:lstStyle/>
          <a:p>
            <a:pPr indent="-457200" lvl="0" marL="457200" rtl="0" algn="just">
              <a:spcBef>
                <a:spcPts val="0"/>
              </a:spcBef>
              <a:spcAft>
                <a:spcPts val="0"/>
              </a:spcAft>
              <a:buClr>
                <a:schemeClr val="dk1"/>
              </a:buClr>
              <a:buSzPts val="1988"/>
              <a:buFont typeface="Noto Sans Symbols"/>
              <a:buChar char="❖"/>
            </a:pPr>
            <a:r>
              <a:rPr lang="en-US" sz="2800">
                <a:solidFill>
                  <a:schemeClr val="dk1"/>
                </a:solidFill>
              </a:rPr>
              <a:t>Misinterpretation or misrepresentation is a civil wrong.</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Misrepresentation is a contract law concept. </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It means a false statement of fact made by one party to another party, which has the effect of inducing that party into the contract. </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For example, under certain circumstances, false statements or promises made by a seller of goods regarding the quality or nature of the product that the seller has may constitute misrepresentation.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4"/>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Misinterpretation of Information and its Liability</a:t>
            </a:r>
            <a:endParaRPr/>
          </a:p>
        </p:txBody>
      </p:sp>
      <p:sp>
        <p:nvSpPr>
          <p:cNvPr id="240" name="Google Shape;240;p14"/>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1988"/>
              <a:buFont typeface="Noto Sans Symbols"/>
              <a:buChar char="❖"/>
            </a:pPr>
            <a:r>
              <a:rPr lang="en-US" sz="2800">
                <a:solidFill>
                  <a:schemeClr val="dk1"/>
                </a:solidFill>
              </a:rPr>
              <a:t>To create liability for the maker of the statement, the listener or reader must rely on a misrepresentation. </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In addition, the speaker must know that the listener is relying on the factual correctness of the statement. </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Finally, the listener’s reliance on the statement must have been reasonable and justified, and the misrepresentation must have resulted in a pecuniary loss(losses that you can measure in money) to the listener.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5"/>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Values in Design</a:t>
            </a:r>
            <a:endParaRPr/>
          </a:p>
        </p:txBody>
      </p:sp>
      <p:sp>
        <p:nvSpPr>
          <p:cNvPr id="247" name="Google Shape;247;p15"/>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fontScale="92500"/>
          </a:bodyPr>
          <a:lstStyle/>
          <a:p>
            <a:pPr indent="-457200" lvl="0" marL="457200" rtl="0" algn="just">
              <a:spcBef>
                <a:spcPts val="0"/>
              </a:spcBef>
              <a:spcAft>
                <a:spcPts val="0"/>
              </a:spcAft>
              <a:buClr>
                <a:schemeClr val="dk1"/>
              </a:buClr>
              <a:buSzPct val="71000"/>
              <a:buFont typeface="Noto Sans Symbols"/>
              <a:buChar char="❖"/>
            </a:pPr>
            <a:r>
              <a:rPr lang="en-US" sz="2800">
                <a:solidFill>
                  <a:schemeClr val="dk1"/>
                </a:solidFill>
              </a:rPr>
              <a:t>Values in Design (VID), or more fully, Human Values in the Design of Information Systems and Technology.</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It is a movement that goes beyond traditional requirements engineering to consider individual and social values as equally important inputs to the technology design process.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Values become deeply embedded into our technologies, from the level of bits and algorithms up to the large systems and infrastructures that enable and constrain our daily activities.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6"/>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Values in Design</a:t>
            </a:r>
            <a:endParaRPr/>
          </a:p>
        </p:txBody>
      </p:sp>
      <p:sp>
        <p:nvSpPr>
          <p:cNvPr id="254" name="Google Shape;254;p16"/>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fontScale="92500" lnSpcReduction="20000"/>
          </a:bodyPr>
          <a:lstStyle/>
          <a:p>
            <a:pPr indent="-457200" lvl="0" marL="457200" rtl="0" algn="just">
              <a:spcBef>
                <a:spcPts val="0"/>
              </a:spcBef>
              <a:spcAft>
                <a:spcPts val="0"/>
              </a:spcAft>
              <a:buClr>
                <a:schemeClr val="dk1"/>
              </a:buClr>
              <a:buSzPct val="71000"/>
              <a:buFont typeface="Noto Sans Symbols"/>
              <a:buChar char="❖"/>
            </a:pPr>
            <a:r>
              <a:rPr b="1" lang="en-US" sz="2800">
                <a:solidFill>
                  <a:schemeClr val="dk1"/>
                </a:solidFill>
              </a:rPr>
              <a:t>For example</a:t>
            </a:r>
            <a:r>
              <a:rPr lang="en-US" sz="2800">
                <a:solidFill>
                  <a:schemeClr val="dk1"/>
                </a:solidFill>
              </a:rPr>
              <a:t>, the rise of location-based applications on smart phones has led to issues of privacy and security. Initially positioned to be positively informative about where your friends, loved ones, and colleagues are located, this level of geographic accountability soon became problematic for some.</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A GPS-based network applications may increase locational accountability because, unlike a phone call that might originate anywhere, GPS-enabled application carries information about specific geographic location.</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In principle, a user can work around “stalking” and other problematic situations with some mobile apps.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7"/>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Software and Design Problems</a:t>
            </a:r>
            <a:endParaRPr/>
          </a:p>
        </p:txBody>
      </p:sp>
      <p:sp>
        <p:nvSpPr>
          <p:cNvPr id="261" name="Google Shape;261;p17"/>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fontScale="92500" lnSpcReduction="20000"/>
          </a:bodyPr>
          <a:lstStyle/>
          <a:p>
            <a:pPr indent="-457200" lvl="0" marL="457200" rtl="0" algn="just">
              <a:spcBef>
                <a:spcPts val="0"/>
              </a:spcBef>
              <a:spcAft>
                <a:spcPts val="0"/>
              </a:spcAft>
              <a:buClr>
                <a:schemeClr val="dk1"/>
              </a:buClr>
              <a:buSzPct val="71000"/>
              <a:buFont typeface="Noto Sans Symbols"/>
              <a:buChar char="❖"/>
            </a:pPr>
            <a:r>
              <a:rPr lang="en-US" sz="2800">
                <a:solidFill>
                  <a:schemeClr val="dk1"/>
                </a:solidFill>
              </a:rPr>
              <a:t>Requirements Volatility </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change of requirements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Design Process</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focusing design efforts on creating independent software products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The Ethical and Professional Practices </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determine how design decisions affect the environment and the people that use the software</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Quality issues  </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performance, usability, security</a:t>
            </a:r>
            <a:endParaRPr sz="2800">
              <a:solidFill>
                <a:schemeClr val="dk1"/>
              </a:solidFill>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Limited budgets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Fast-changing technology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8"/>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Hardware Design Issues</a:t>
            </a:r>
            <a:endParaRPr/>
          </a:p>
        </p:txBody>
      </p:sp>
      <p:sp>
        <p:nvSpPr>
          <p:cNvPr id="268" name="Google Shape;268;p18"/>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1988"/>
              <a:buFont typeface="Noto Sans Symbols"/>
              <a:buChar char="❖"/>
            </a:pPr>
            <a:r>
              <a:rPr lang="en-US" sz="2800">
                <a:solidFill>
                  <a:schemeClr val="dk1"/>
                </a:solidFill>
              </a:rPr>
              <a:t>Real time system design</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Small Size, Low weight</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Safe and Reliable</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Harsh environment</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Cost sensitivity</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Power Management</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Problems of Testing </a:t>
            </a:r>
            <a:endParaRPr/>
          </a:p>
          <a:p>
            <a:pPr indent="0" lvl="0" marL="0" rtl="0" algn="just">
              <a:spcBef>
                <a:spcPts val="1000"/>
              </a:spcBef>
              <a:spcAft>
                <a:spcPts val="0"/>
              </a:spcAft>
              <a:buClr>
                <a:schemeClr val="dk1"/>
              </a:buClr>
              <a:buSzPts val="1988"/>
              <a:buNone/>
            </a:pPr>
            <a:r>
              <a:t/>
            </a:r>
            <a:endParaRPr sz="2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9"/>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Professional Responsibilities of Computer Users</a:t>
            </a:r>
            <a:endParaRPr/>
          </a:p>
        </p:txBody>
      </p:sp>
      <p:sp>
        <p:nvSpPr>
          <p:cNvPr id="275" name="Google Shape;275;p19"/>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a:bodyPr>
          <a:lstStyle/>
          <a:p>
            <a:pPr indent="-457200" lvl="0" marL="457200" rtl="0" algn="just">
              <a:spcBef>
                <a:spcPts val="0"/>
              </a:spcBef>
              <a:spcAft>
                <a:spcPts val="0"/>
              </a:spcAft>
              <a:buClr>
                <a:schemeClr val="dk1"/>
              </a:buClr>
              <a:buSzPts val="1988"/>
              <a:buFont typeface="Noto Sans Symbols"/>
              <a:buChar char="❖"/>
            </a:pPr>
            <a:r>
              <a:rPr lang="en-US" sz="2800">
                <a:solidFill>
                  <a:schemeClr val="dk1"/>
                </a:solidFill>
              </a:rPr>
              <a:t>Expert in field is called Professionals .so we can say Expert in Computer is called Computer Professionals.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With their professional status, they affects large numbers of people.</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Many Professional Organizations have their own codes of professional conduct.</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Costumers depend on the knowledge, expertise and honesty of the professionals.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0"/>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Professional Responsibilities of Computer Users</a:t>
            </a:r>
            <a:endParaRPr/>
          </a:p>
        </p:txBody>
      </p:sp>
      <p:sp>
        <p:nvSpPr>
          <p:cNvPr id="282" name="Google Shape;282;p20"/>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fontScale="62500" lnSpcReduction="20000"/>
          </a:bodyPr>
          <a:lstStyle/>
          <a:p>
            <a:pPr indent="-457200" lvl="0" marL="457200" rtl="0" algn="just">
              <a:spcBef>
                <a:spcPts val="0"/>
              </a:spcBef>
              <a:spcAft>
                <a:spcPts val="0"/>
              </a:spcAft>
              <a:buClr>
                <a:schemeClr val="dk1"/>
              </a:buClr>
              <a:buSzPct val="71000"/>
              <a:buFont typeface="Noto Sans Symbols"/>
              <a:buChar char="❖"/>
            </a:pPr>
            <a:r>
              <a:rPr lang="en-US" sz="2800">
                <a:solidFill>
                  <a:schemeClr val="dk1"/>
                </a:solidFill>
              </a:rPr>
              <a:t>UNDERSTAND WHAT SUCCESS MEANS:</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The developers and users of the system (staffs) need to understand the work system in a large context not simply writing code to finish tasks,</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INCLUDE USERS IN DESIGN &amp; TESTING PHASE TO PROVIDE SAFE ANDUSEFUL SYSTEM</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Users: Medical staff, Technicians, office Workers Users know how to use the system</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DESIGN FOR REAL USERS</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Real users tend to make mistakes during using the system. So, system designer and programmers responsible to provide clear user interface.</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DO NOT ASSUME THE EXISTING SOFTWARE IS SAFE OR CORRECT</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Verify (testing) the suitability of software to current project so that it will be not confusing.</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BE OPEN AND HONEST ABOUT CAPABILITIES, SAFETY, ANDLIMITATION OF SOFTWARE</a:t>
            </a:r>
            <a:endParaRPr/>
          </a:p>
          <a:p>
            <a:pPr indent="-457199" lvl="1" marL="914388" rtl="0" algn="just">
              <a:spcBef>
                <a:spcPts val="1000"/>
              </a:spcBef>
              <a:spcAft>
                <a:spcPts val="0"/>
              </a:spcAft>
              <a:buClr>
                <a:schemeClr val="dk1"/>
              </a:buClr>
              <a:buSzPct val="71000"/>
              <a:buFont typeface="Noto Sans Symbols"/>
              <a:buChar char="⮚"/>
            </a:pPr>
            <a:r>
              <a:rPr lang="en-US" sz="2600">
                <a:solidFill>
                  <a:schemeClr val="dk1"/>
                </a:solidFill>
              </a:rPr>
              <a:t>Hiding Known, serious 5aws and lying to customers is wrong which may injure or harm them.</a:t>
            </a:r>
            <a:endParaRPr/>
          </a:p>
          <a:p>
            <a:pPr indent="-378301" lvl="0" marL="457200" rtl="0" algn="just">
              <a:spcBef>
                <a:spcPts val="1000"/>
              </a:spcBef>
              <a:spcAft>
                <a:spcPts val="0"/>
              </a:spcAft>
              <a:buClr>
                <a:schemeClr val="dk1"/>
              </a:buClr>
              <a:buSzPct val="71000"/>
              <a:buFont typeface="Noto Sans Symbols"/>
              <a:buNone/>
            </a:pPr>
            <a:r>
              <a:t/>
            </a:r>
            <a:endParaRPr sz="2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1"/>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Professional Responsibilities of Computer Users</a:t>
            </a:r>
            <a:endParaRPr/>
          </a:p>
        </p:txBody>
      </p:sp>
      <p:sp>
        <p:nvSpPr>
          <p:cNvPr id="289" name="Google Shape;289;p21"/>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a:bodyPr>
          <a:lstStyle/>
          <a:p>
            <a:pPr indent="0" lvl="0" marL="0" rtl="0" algn="just">
              <a:spcBef>
                <a:spcPts val="0"/>
              </a:spcBef>
              <a:spcAft>
                <a:spcPts val="0"/>
              </a:spcAft>
              <a:buClr>
                <a:schemeClr val="dk1"/>
              </a:buClr>
              <a:buSzPts val="1988"/>
              <a:buNone/>
            </a:pPr>
            <a:r>
              <a:rPr lang="en-US" sz="2800">
                <a:solidFill>
                  <a:schemeClr val="dk1"/>
                </a:solidFill>
              </a:rPr>
              <a:t>Some other responsibilities for computer professionals are:</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Respect Confidentiality</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Honest and fair</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Respects and protection of personal privacy</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Understand relevant law</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Avoid harming others</a:t>
            </a:r>
            <a:endParaRPr/>
          </a:p>
          <a:p>
            <a:pPr indent="-457200" lvl="0" marL="457200" rtl="0" algn="just">
              <a:spcBef>
                <a:spcPts val="1000"/>
              </a:spcBef>
              <a:spcAft>
                <a:spcPts val="0"/>
              </a:spcAft>
              <a:buClr>
                <a:schemeClr val="dk1"/>
              </a:buClr>
              <a:buSzPts val="1988"/>
              <a:buFont typeface="Noto Sans Symbols"/>
              <a:buChar char="❖"/>
            </a:pPr>
            <a:r>
              <a:rPr lang="en-US" sz="2800">
                <a:solidFill>
                  <a:schemeClr val="dk1"/>
                </a:solidFill>
              </a:rPr>
              <a:t>Respects property rights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2"/>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Responsibility and Accountability</a:t>
            </a:r>
            <a:endParaRPr/>
          </a:p>
        </p:txBody>
      </p:sp>
      <p:sp>
        <p:nvSpPr>
          <p:cNvPr id="296" name="Google Shape;296;p22"/>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fontScale="92500" lnSpcReduction="20000"/>
          </a:bodyPr>
          <a:lstStyle/>
          <a:p>
            <a:pPr indent="0" lvl="0" marL="0" rtl="0" algn="just">
              <a:spcBef>
                <a:spcPts val="0"/>
              </a:spcBef>
              <a:spcAft>
                <a:spcPts val="0"/>
              </a:spcAft>
              <a:buClr>
                <a:schemeClr val="dk1"/>
              </a:buClr>
              <a:buSzPct val="71000"/>
              <a:buNone/>
            </a:pPr>
            <a:r>
              <a:rPr lang="en-US" sz="2800">
                <a:solidFill>
                  <a:srgbClr val="FF0000"/>
                </a:solidFill>
              </a:rPr>
              <a:t>Responsibility</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Responsibility is essentially the duty to respond to and complete tasks.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It can be shared among a team – multiple people can be responsible for achieving a specific outcome by working on the same task, or have different tasks they are responsible for that lead to the same goal.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Responsibility cannot technically be assigned to someone. A person must choose to take responsibility for something themselves.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It is specifically task-focused – it can include: who has what role, what that entails(involve), and what must be done in order to be successful.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3"/>
          <p:cNvSpPr txBox="1"/>
          <p:nvPr>
            <p:ph type="ctrTitle"/>
          </p:nvPr>
        </p:nvSpPr>
        <p:spPr>
          <a:xfrm>
            <a:off x="1281567" y="450387"/>
            <a:ext cx="8094254" cy="554538"/>
          </a:xfrm>
          <a:prstGeom prst="rect">
            <a:avLst/>
          </a:prstGeom>
          <a:gradFill>
            <a:gsLst>
              <a:gs pos="0">
                <a:srgbClr val="E95B41"/>
              </a:gs>
              <a:gs pos="78000">
                <a:srgbClr val="D5431C"/>
              </a:gs>
              <a:gs pos="100000">
                <a:srgbClr val="D5431C"/>
              </a:gs>
            </a:gsLst>
            <a:lin ang="5400000" scaled="0"/>
          </a:gradFill>
          <a:ln cap="rnd" cmpd="sng" w="12700">
            <a:solidFill>
              <a:schemeClr val="accent1"/>
            </a:solidFill>
            <a:prstDash val="solid"/>
            <a:round/>
            <a:headEnd len="sm" w="sm" type="none"/>
            <a:tailEnd len="sm" w="sm" type="none"/>
          </a:ln>
          <a:effectLst>
            <a:outerShdw blurRad="38100" rotWithShape="0" dir="5400000" dist="25400">
              <a:srgbClr val="000000">
                <a:alpha val="34901"/>
              </a:srgbClr>
            </a:outerShdw>
          </a:effectLst>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2800"/>
              <a:buFont typeface="Trebuchet MS"/>
              <a:buNone/>
            </a:pPr>
            <a:r>
              <a:rPr lang="en-US" sz="2800">
                <a:solidFill>
                  <a:schemeClr val="lt1"/>
                </a:solidFill>
                <a:latin typeface="Trebuchet MS"/>
                <a:ea typeface="Trebuchet MS"/>
                <a:cs typeface="Trebuchet MS"/>
                <a:sym typeface="Trebuchet MS"/>
              </a:rPr>
              <a:t>Responsibility and Accountability</a:t>
            </a:r>
            <a:endParaRPr/>
          </a:p>
        </p:txBody>
      </p:sp>
      <p:sp>
        <p:nvSpPr>
          <p:cNvPr id="303" name="Google Shape;303;p23"/>
          <p:cNvSpPr txBox="1"/>
          <p:nvPr>
            <p:ph idx="1" type="subTitle"/>
          </p:nvPr>
        </p:nvSpPr>
        <p:spPr>
          <a:xfrm>
            <a:off x="1281567" y="1139688"/>
            <a:ext cx="8094254" cy="5267925"/>
          </a:xfrm>
          <a:prstGeom prst="rect">
            <a:avLst/>
          </a:prstGeom>
          <a:noFill/>
          <a:ln>
            <a:noFill/>
          </a:ln>
        </p:spPr>
        <p:txBody>
          <a:bodyPr anchorCtr="0" anchor="t" bIns="45700" lIns="91425" spcFirstLastPara="1" rIns="91425" wrap="square" tIns="45700">
            <a:normAutofit fontScale="77500" lnSpcReduction="20000"/>
          </a:bodyPr>
          <a:lstStyle/>
          <a:p>
            <a:pPr indent="0" lvl="0" marL="0" rtl="0" algn="just">
              <a:spcBef>
                <a:spcPts val="0"/>
              </a:spcBef>
              <a:spcAft>
                <a:spcPts val="0"/>
              </a:spcAft>
              <a:buClr>
                <a:schemeClr val="dk1"/>
              </a:buClr>
              <a:buSzPct val="71000"/>
              <a:buNone/>
            </a:pPr>
            <a:r>
              <a:rPr lang="en-US" sz="2800">
                <a:solidFill>
                  <a:srgbClr val="FF0000"/>
                </a:solidFill>
              </a:rPr>
              <a:t>Accountability</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Accountability is literally the ability and/or duty to report (or give account of) on events, tasks, and experiences.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Accountability for a specific task, process, service, etc. should be assigned to just one person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Tasks should be assigned based on an individual’s skills and competencies.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Whereas responsibility is an ongoing duty to complete the task at hand, accountability is what happens after a situation occurs.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It is how a person responds and takes ownership of the results of a task. </a:t>
            </a:r>
            <a:endParaRPr/>
          </a:p>
          <a:p>
            <a:pPr indent="-457200" lvl="0" marL="457200" rtl="0" algn="just">
              <a:spcBef>
                <a:spcPts val="1000"/>
              </a:spcBef>
              <a:spcAft>
                <a:spcPts val="0"/>
              </a:spcAft>
              <a:buClr>
                <a:schemeClr val="dk1"/>
              </a:buClr>
              <a:buSzPct val="71000"/>
              <a:buFont typeface="Noto Sans Symbols"/>
              <a:buChar char="❖"/>
            </a:pPr>
            <a:r>
              <a:rPr lang="en-US" sz="2800">
                <a:solidFill>
                  <a:schemeClr val="dk1"/>
                </a:solidFill>
              </a:rPr>
              <a:t>Being accountable often means that the person is liable to face consequences from some authority if the task isn’t completed successfully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4"/>
          <p:cNvSpPr/>
          <p:nvPr/>
        </p:nvSpPr>
        <p:spPr>
          <a:xfrm>
            <a:off x="2252870" y="2593634"/>
            <a:ext cx="556033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5400" u="none" cap="none" strike="noStrike">
                <a:solidFill>
                  <a:schemeClr val="dk1"/>
                </a:solidFill>
                <a:latin typeface="Trebuchet MS"/>
                <a:ea typeface="Trebuchet MS"/>
                <a:cs typeface="Trebuchet MS"/>
                <a:sym typeface="Trebuchet MS"/>
              </a:rPr>
              <a:t>Thank You</a:t>
            </a:r>
            <a:endParaRPr b="0" sz="5400" cap="none">
              <a:solidFill>
                <a:schemeClr val="dk1"/>
              </a:solidFill>
              <a:latin typeface="Trebuchet MS"/>
              <a:ea typeface="Trebuchet MS"/>
              <a:cs typeface="Trebuchet MS"/>
              <a:sym typeface="Trebuchet MS"/>
            </a:endParaRPr>
          </a:p>
        </p:txBody>
      </p:sp>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Red Orange">
      <a:dk1>
        <a:srgbClr val="000000"/>
      </a:dk1>
      <a:lt1>
        <a:srgbClr val="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2017-09-13T07:21:00Z</dcterms:created>
  <dc:creator>Sunil Bahadur Bist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0x0101004423C86C84CA4945852CBF0CFC130390</vt:lpwstr>
  </property>
</Properties>
</file>