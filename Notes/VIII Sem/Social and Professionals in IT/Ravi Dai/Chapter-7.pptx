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entation.xml" ContentType="application/vnd.openxmlformats-officedocument.presentationml.presentation.main+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29.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31"/>
  </p:notesMasterIdLst>
  <p:sldIdLst>
    <p:sldId id="257" r:id="rId2"/>
    <p:sldId id="333" r:id="rId3"/>
    <p:sldId id="391" r:id="rId4"/>
    <p:sldId id="389" r:id="rId5"/>
    <p:sldId id="392" r:id="rId6"/>
    <p:sldId id="390" r:id="rId7"/>
    <p:sldId id="370" r:id="rId8"/>
    <p:sldId id="304" r:id="rId9"/>
    <p:sldId id="393" r:id="rId10"/>
    <p:sldId id="394" r:id="rId11"/>
    <p:sldId id="395" r:id="rId12"/>
    <p:sldId id="396" r:id="rId13"/>
    <p:sldId id="397" r:id="rId14"/>
    <p:sldId id="398" r:id="rId15"/>
    <p:sldId id="399" r:id="rId16"/>
    <p:sldId id="400" r:id="rId17"/>
    <p:sldId id="401" r:id="rId18"/>
    <p:sldId id="402" r:id="rId19"/>
    <p:sldId id="403" r:id="rId20"/>
    <p:sldId id="404" r:id="rId21"/>
    <p:sldId id="405" r:id="rId22"/>
    <p:sldId id="406" r:id="rId23"/>
    <p:sldId id="407" r:id="rId24"/>
    <p:sldId id="408" r:id="rId25"/>
    <p:sldId id="409" r:id="rId26"/>
    <p:sldId id="410" r:id="rId27"/>
    <p:sldId id="411" r:id="rId28"/>
    <p:sldId id="412" r:id="rId29"/>
    <p:sldId id="27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660"/>
  </p:normalViewPr>
  <p:slideViewPr>
    <p:cSldViewPr snapToGrid="0">
      <p:cViewPr>
        <p:scale>
          <a:sx n="66" d="100"/>
          <a:sy n="66" d="100"/>
        </p:scale>
        <p:origin x="882" y="21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11/9/2020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1214014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2713463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4092206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781066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1563382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721741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1948790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1018015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1085657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1306282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855133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131043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3214944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5222319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1093423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2147868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591060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1484073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2647709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1141484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33364145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3339658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2264438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4080088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4500784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4115721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2854766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11/9/2020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11/9/2020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11/9/2020</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7  Computer and Cyber Crimes</a:t>
            </a:r>
          </a:p>
        </p:txBody>
      </p:sp>
      <p:sp>
        <p:nvSpPr>
          <p:cNvPr id="3" name="Subtitle 2"/>
          <p:cNvSpPr>
            <a:spLocks noGrp="1"/>
          </p:cNvSpPr>
          <p:nvPr>
            <p:ph type="subTitle" idx="1"/>
          </p:nvPr>
        </p:nvSpPr>
        <p:spPr>
          <a:xfrm>
            <a:off x="1281567" y="1139687"/>
            <a:ext cx="8094254" cy="4903303"/>
          </a:xfrm>
        </p:spPr>
        <p:txBody>
          <a:bodyPr>
            <a:normAutofit/>
          </a:bodyPr>
          <a:lstStyle/>
          <a:p>
            <a:pPr marL="457200" indent="-457200" algn="l">
              <a:buClr>
                <a:schemeClr val="tx1"/>
              </a:buClr>
              <a:buSzPct val="71000"/>
              <a:buFont typeface="Wingdings" panose="05000000000000000000" pitchFamily="2" charset="2"/>
              <a:buChar char="q"/>
            </a:pPr>
            <a:r>
              <a:rPr lang="en-US" sz="2800" dirty="0">
                <a:solidFill>
                  <a:schemeClr val="tx1"/>
                </a:solidFill>
              </a:rPr>
              <a:t>Introduction to Computer and Cyber Crimes</a:t>
            </a:r>
          </a:p>
          <a:p>
            <a:pPr marL="457200" indent="-457200" algn="l">
              <a:buClr>
                <a:schemeClr val="tx1"/>
              </a:buClr>
              <a:buSzPct val="71000"/>
              <a:buFont typeface="Wingdings" panose="05000000000000000000" pitchFamily="2" charset="2"/>
              <a:buChar char="q"/>
            </a:pPr>
            <a:r>
              <a:rPr lang="en-US" sz="2800" dirty="0">
                <a:solidFill>
                  <a:schemeClr val="tx1"/>
                </a:solidFill>
              </a:rPr>
              <a:t>Types of Computer Crimes</a:t>
            </a:r>
          </a:p>
          <a:p>
            <a:pPr marL="457200" indent="-457200" algn="l">
              <a:buClr>
                <a:schemeClr val="tx1"/>
              </a:buClr>
              <a:buSzPct val="71000"/>
              <a:buFont typeface="Wingdings" panose="05000000000000000000" pitchFamily="2" charset="2"/>
              <a:buChar char="q"/>
            </a:pPr>
            <a:r>
              <a:rPr lang="en-US" sz="2800" dirty="0">
                <a:solidFill>
                  <a:schemeClr val="tx1"/>
                </a:solidFill>
              </a:rPr>
              <a:t>Introduction to Digital Forensics</a:t>
            </a:r>
            <a:endParaRPr lang="en-US" sz="2600" dirty="0">
              <a:solidFill>
                <a:schemeClr val="tx1"/>
              </a:solidFill>
            </a:endParaRPr>
          </a:p>
          <a:p>
            <a:pPr algn="l">
              <a:buClr>
                <a:schemeClr val="tx1"/>
              </a:buClr>
              <a:buSzPct val="71000"/>
            </a:pPr>
            <a:endParaRPr lang="en-US" sz="2800" dirty="0">
              <a:solidFill>
                <a:schemeClr val="tx1"/>
              </a:solidFill>
            </a:endParaRPr>
          </a:p>
          <a:p>
            <a:pPr marL="457200" indent="-457200" algn="l">
              <a:buClr>
                <a:schemeClr val="tx1"/>
              </a:buClr>
              <a:buSzPct val="71000"/>
              <a:buFont typeface="Wingdings" panose="05000000000000000000" pitchFamily="2" charset="2"/>
              <a:buChar char="q"/>
            </a:pPr>
            <a:endParaRPr lang="en-US" sz="2800" dirty="0">
              <a:solidFill>
                <a:schemeClr val="tx1"/>
              </a:solidFill>
            </a:endParaRPr>
          </a:p>
          <a:p>
            <a:pPr marL="457200" indent="-457200" algn="l">
              <a:buClr>
                <a:schemeClr val="tx1"/>
              </a:buClr>
              <a:buSzPct val="71000"/>
              <a:buFont typeface="Wingdings" panose="05000000000000000000" pitchFamily="2" charset="2"/>
              <a:buChar char="q"/>
            </a:pP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Introduction to Computer and Cyber Crimes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highlight>
                  <a:srgbClr val="FFFF00"/>
                </a:highlight>
              </a:rPr>
              <a:t>Computer crime </a:t>
            </a:r>
            <a:r>
              <a:rPr lang="en-US" sz="2800" dirty="0">
                <a:solidFill>
                  <a:schemeClr val="tx1"/>
                </a:solidFill>
              </a:rPr>
              <a:t>is an act performed by a knowledgeable computer user, sometimes referred to as a hacker that illegally browses or steals a company's or individuals private information. </a:t>
            </a:r>
          </a:p>
          <a:p>
            <a:pPr marL="457200" indent="-457200" algn="just">
              <a:buClr>
                <a:schemeClr val="tx1"/>
              </a:buClr>
              <a:buSzPct val="71000"/>
              <a:buFont typeface="Wingdings" panose="05000000000000000000" pitchFamily="2" charset="2"/>
              <a:buChar char="v"/>
            </a:pPr>
            <a:r>
              <a:rPr lang="en-US" sz="2800" dirty="0">
                <a:solidFill>
                  <a:schemeClr val="tx1"/>
                </a:solidFill>
              </a:rPr>
              <a:t>In some cases, this person or group of individuals may be malicious and destroy or otherwise corrupt the computer or data files.</a:t>
            </a:r>
          </a:p>
        </p:txBody>
      </p:sp>
    </p:spTree>
    <p:extLst>
      <p:ext uri="{BB962C8B-B14F-4D97-AF65-F5344CB8AC3E}">
        <p14:creationId xmlns:p14="http://schemas.microsoft.com/office/powerpoint/2010/main" val="698093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Introduction to Computer and Cyber Crimes</a:t>
            </a:r>
          </a:p>
        </p:txBody>
      </p:sp>
      <p:pic>
        <p:nvPicPr>
          <p:cNvPr id="1026" name="Picture 2" descr="cybercrime">
            <a:extLst>
              <a:ext uri="{FF2B5EF4-FFF2-40B4-BE49-F238E27FC236}">
                <a16:creationId xmlns:a16="http://schemas.microsoft.com/office/drawing/2014/main" id="{32FE0295-C91F-4141-9EC3-9C719C11E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124985"/>
            <a:ext cx="8094254" cy="4984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224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Introduction to Computer and Cyber Crimes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highlight>
                  <a:srgbClr val="FFFF00"/>
                </a:highlight>
              </a:rPr>
              <a:t>Cybercrime</a:t>
            </a:r>
            <a:r>
              <a:rPr lang="en-US" sz="2800" dirty="0">
                <a:solidFill>
                  <a:schemeClr val="tx1"/>
                </a:solidFill>
              </a:rPr>
              <a:t> is any crime that involves a computer and a network. </a:t>
            </a:r>
          </a:p>
          <a:p>
            <a:pPr marL="457200" indent="-457200" algn="just">
              <a:buClr>
                <a:schemeClr val="tx1"/>
              </a:buClr>
              <a:buSzPct val="71000"/>
              <a:buFont typeface="Wingdings" panose="05000000000000000000" pitchFamily="2" charset="2"/>
              <a:buChar char="v"/>
            </a:pPr>
            <a:r>
              <a:rPr lang="en-US" sz="2800" dirty="0">
                <a:solidFill>
                  <a:schemeClr val="tx1"/>
                </a:solidFill>
                <a:highlight>
                  <a:srgbClr val="FFFF00"/>
                </a:highlight>
              </a:rPr>
              <a:t>Cybercrimes</a:t>
            </a:r>
            <a:r>
              <a:rPr lang="en-US" sz="2800" dirty="0">
                <a:solidFill>
                  <a:schemeClr val="tx1"/>
                </a:solidFill>
              </a:rPr>
              <a:t> can be best </a:t>
            </a:r>
            <a:r>
              <a:rPr lang="en-US" sz="2800" dirty="0">
                <a:solidFill>
                  <a:schemeClr val="tx1"/>
                </a:solidFill>
                <a:highlight>
                  <a:srgbClr val="FFFF00"/>
                </a:highlight>
              </a:rPr>
              <a:t>defined as</a:t>
            </a:r>
            <a:r>
              <a:rPr lang="en-US" sz="2800" dirty="0">
                <a:solidFill>
                  <a:schemeClr val="tx1"/>
                </a:solidFill>
              </a:rPr>
              <a:t>: "Offences that are committed against individuals or groups of individuals with a criminal motive to intentionally harm the reputation of the victim or cause physical or mental harm, or loss, to the victim directly or indirectly, using modern telecommunication networks such as Internet (Chat rooms, emails, notice boards and groups) and mobile phones (SMS/MMS)"</a:t>
            </a:r>
          </a:p>
        </p:txBody>
      </p:sp>
    </p:spTree>
    <p:extLst>
      <p:ext uri="{BB962C8B-B14F-4D97-AF65-F5344CB8AC3E}">
        <p14:creationId xmlns:p14="http://schemas.microsoft.com/office/powerpoint/2010/main" val="878373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Introduction to Computer and Cyber Crimes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Computer crime or Cyber Crime is criminal activity that involves unlawful access to computer systems.</a:t>
            </a:r>
          </a:p>
          <a:p>
            <a:pPr marL="457200" indent="-457200" algn="just">
              <a:buClr>
                <a:schemeClr val="tx1"/>
              </a:buClr>
              <a:buSzPct val="71000"/>
              <a:buFont typeface="Wingdings" panose="05000000000000000000" pitchFamily="2" charset="2"/>
              <a:buChar char="v"/>
            </a:pPr>
            <a:r>
              <a:rPr lang="en-US" sz="2800" dirty="0">
                <a:solidFill>
                  <a:schemeClr val="tx1"/>
                </a:solidFill>
              </a:rPr>
              <a:t>Example:</a:t>
            </a:r>
          </a:p>
          <a:p>
            <a:pPr marL="914389" lvl="1" indent="-457200" algn="just">
              <a:buClr>
                <a:schemeClr val="tx1"/>
              </a:buClr>
              <a:buSzPct val="71000"/>
              <a:buFont typeface="Wingdings" panose="05000000000000000000" pitchFamily="2" charset="2"/>
              <a:buChar char="v"/>
            </a:pPr>
            <a:r>
              <a:rPr lang="en-US" sz="2600" dirty="0">
                <a:solidFill>
                  <a:schemeClr val="tx1"/>
                </a:solidFill>
              </a:rPr>
              <a:t>Stealing credit card information</a:t>
            </a:r>
          </a:p>
          <a:p>
            <a:pPr marL="914389" lvl="1" indent="-457200" algn="just">
              <a:buClr>
                <a:schemeClr val="tx1"/>
              </a:buClr>
              <a:buSzPct val="71000"/>
              <a:buFont typeface="Wingdings" panose="05000000000000000000" pitchFamily="2" charset="2"/>
              <a:buChar char="v"/>
            </a:pPr>
            <a:r>
              <a:rPr lang="en-US" sz="2600" dirty="0">
                <a:solidFill>
                  <a:schemeClr val="tx1"/>
                </a:solidFill>
              </a:rPr>
              <a:t>Breaking into government website</a:t>
            </a:r>
          </a:p>
          <a:p>
            <a:pPr marL="914389" lvl="1" indent="-457200" algn="just">
              <a:buClr>
                <a:schemeClr val="tx1"/>
              </a:buClr>
              <a:buSzPct val="71000"/>
              <a:buFont typeface="Wingdings" panose="05000000000000000000" pitchFamily="2" charset="2"/>
              <a:buChar char="v"/>
            </a:pPr>
            <a:r>
              <a:rPr lang="en-US" sz="2600" dirty="0">
                <a:solidFill>
                  <a:schemeClr val="tx1"/>
                </a:solidFill>
              </a:rPr>
              <a:t>Harassing people in social media</a:t>
            </a:r>
          </a:p>
          <a:p>
            <a:pPr marL="914389" lvl="1" indent="-457200" algn="just">
              <a:buClr>
                <a:schemeClr val="tx1"/>
              </a:buClr>
              <a:buSzPct val="71000"/>
              <a:buFont typeface="Wingdings" panose="05000000000000000000" pitchFamily="2" charset="2"/>
              <a:buChar char="v"/>
            </a:pPr>
            <a:r>
              <a:rPr lang="en-US" sz="2600" dirty="0">
                <a:solidFill>
                  <a:schemeClr val="tx1"/>
                </a:solidFill>
              </a:rPr>
              <a:t>Stealing other’s identity</a:t>
            </a:r>
          </a:p>
        </p:txBody>
      </p:sp>
    </p:spTree>
    <p:extLst>
      <p:ext uri="{BB962C8B-B14F-4D97-AF65-F5344CB8AC3E}">
        <p14:creationId xmlns:p14="http://schemas.microsoft.com/office/powerpoint/2010/main" val="817084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Introduction to Computer and Cyber Crimes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The computer may have been used in the commission of a crime, or it may be the target. </a:t>
            </a:r>
          </a:p>
          <a:p>
            <a:pPr marL="457200" indent="-457200" algn="just">
              <a:buClr>
                <a:schemeClr val="tx1"/>
              </a:buClr>
              <a:buSzPct val="71000"/>
              <a:buFont typeface="Wingdings" panose="05000000000000000000" pitchFamily="2" charset="2"/>
              <a:buChar char="v"/>
            </a:pPr>
            <a:r>
              <a:rPr lang="en-US" sz="2800" b="1" dirty="0">
                <a:solidFill>
                  <a:schemeClr val="tx1"/>
                </a:solidFill>
              </a:rPr>
              <a:t>The Computer as a Target: </a:t>
            </a:r>
          </a:p>
          <a:p>
            <a:pPr marL="914389" lvl="1" indent="-457200" algn="just">
              <a:buClr>
                <a:schemeClr val="tx1"/>
              </a:buClr>
              <a:buSzPct val="71000"/>
              <a:buFont typeface="Wingdings" panose="05000000000000000000" pitchFamily="2" charset="2"/>
              <a:buChar char="v"/>
            </a:pPr>
            <a:r>
              <a:rPr lang="en-US" sz="2600" dirty="0">
                <a:solidFill>
                  <a:schemeClr val="tx1"/>
                </a:solidFill>
              </a:rPr>
              <a:t>Using a computer to attacks other computer. e.g. Hacking, virus/worms attacks etc.</a:t>
            </a:r>
          </a:p>
          <a:p>
            <a:pPr marL="457200" indent="-457200" algn="just">
              <a:buClr>
                <a:schemeClr val="tx1"/>
              </a:buClr>
              <a:buSzPct val="71000"/>
              <a:buFont typeface="Wingdings" panose="05000000000000000000" pitchFamily="2" charset="2"/>
              <a:buChar char="v"/>
            </a:pPr>
            <a:r>
              <a:rPr lang="en-US" sz="2800" b="1" dirty="0">
                <a:solidFill>
                  <a:schemeClr val="tx1"/>
                </a:solidFill>
              </a:rPr>
              <a:t>The Computer as a Weapon: </a:t>
            </a:r>
          </a:p>
          <a:p>
            <a:pPr marL="914389" lvl="1" indent="-457200" algn="just">
              <a:buClr>
                <a:schemeClr val="tx1"/>
              </a:buClr>
              <a:buSzPct val="71000"/>
              <a:buFont typeface="Wingdings" panose="05000000000000000000" pitchFamily="2" charset="2"/>
              <a:buChar char="v"/>
            </a:pPr>
            <a:r>
              <a:rPr lang="en-US" sz="2600" dirty="0">
                <a:solidFill>
                  <a:schemeClr val="tx1"/>
                </a:solidFill>
              </a:rPr>
              <a:t>Using a computer to commit real world crime e.g. Cyber terrorism, credit card fraud etc. </a:t>
            </a:r>
          </a:p>
        </p:txBody>
      </p:sp>
    </p:spTree>
    <p:extLst>
      <p:ext uri="{BB962C8B-B14F-4D97-AF65-F5344CB8AC3E}">
        <p14:creationId xmlns:p14="http://schemas.microsoft.com/office/powerpoint/2010/main" val="859979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Types of Computer Crimes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850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Traditional Computer Crimes and Software Piracy</a:t>
            </a:r>
          </a:p>
          <a:p>
            <a:pPr marL="457200" indent="-457200" algn="just">
              <a:buClr>
                <a:schemeClr val="tx1"/>
              </a:buClr>
              <a:buSzPct val="71000"/>
              <a:buFont typeface="Wingdings" panose="05000000000000000000" pitchFamily="2" charset="2"/>
              <a:buChar char="v"/>
            </a:pPr>
            <a:r>
              <a:rPr lang="en-US" sz="2800" dirty="0">
                <a:solidFill>
                  <a:schemeClr val="tx1"/>
                </a:solidFill>
              </a:rPr>
              <a:t>Computer Frauds and Digital Forgery</a:t>
            </a:r>
          </a:p>
          <a:p>
            <a:pPr marL="457200" indent="-457200" algn="just">
              <a:buClr>
                <a:schemeClr val="tx1"/>
              </a:buClr>
              <a:buSzPct val="71000"/>
              <a:buFont typeface="Wingdings" panose="05000000000000000000" pitchFamily="2" charset="2"/>
              <a:buChar char="v"/>
            </a:pPr>
            <a:r>
              <a:rPr lang="en-US" sz="2800" dirty="0">
                <a:solidFill>
                  <a:schemeClr val="tx1"/>
                </a:solidFill>
              </a:rPr>
              <a:t>Phishing</a:t>
            </a:r>
          </a:p>
          <a:p>
            <a:pPr marL="457200" indent="-457200" algn="just">
              <a:buClr>
                <a:schemeClr val="tx1"/>
              </a:buClr>
              <a:buSzPct val="71000"/>
              <a:buFont typeface="Wingdings" panose="05000000000000000000" pitchFamily="2" charset="2"/>
              <a:buChar char="v"/>
            </a:pPr>
            <a:r>
              <a:rPr lang="en-US" sz="2800" dirty="0">
                <a:solidFill>
                  <a:schemeClr val="tx1"/>
                </a:solidFill>
              </a:rPr>
              <a:t>Unauthorized Access : Hacking, Cracking</a:t>
            </a:r>
          </a:p>
          <a:p>
            <a:pPr marL="457200" indent="-457200" algn="just">
              <a:buClr>
                <a:schemeClr val="tx1"/>
              </a:buClr>
              <a:buSzPct val="71000"/>
              <a:buFont typeface="Wingdings" panose="05000000000000000000" pitchFamily="2" charset="2"/>
              <a:buChar char="v"/>
            </a:pPr>
            <a:r>
              <a:rPr lang="en-US" sz="2800" dirty="0">
                <a:solidFill>
                  <a:schemeClr val="tx1"/>
                </a:solidFill>
              </a:rPr>
              <a:t>Denial of Service</a:t>
            </a:r>
          </a:p>
          <a:p>
            <a:pPr marL="457200" indent="-457200" algn="just">
              <a:buClr>
                <a:schemeClr val="tx1"/>
              </a:buClr>
              <a:buSzPct val="71000"/>
              <a:buFont typeface="Wingdings" panose="05000000000000000000" pitchFamily="2" charset="2"/>
              <a:buChar char="v"/>
            </a:pPr>
            <a:r>
              <a:rPr lang="en-US" sz="2800" dirty="0">
                <a:solidFill>
                  <a:schemeClr val="tx1"/>
                </a:solidFill>
              </a:rPr>
              <a:t>Computer Invasion of Privacy</a:t>
            </a:r>
          </a:p>
          <a:p>
            <a:pPr marL="457200" indent="-457200" algn="just">
              <a:buClr>
                <a:schemeClr val="tx1"/>
              </a:buClr>
              <a:buSzPct val="71000"/>
              <a:buFont typeface="Wingdings" panose="05000000000000000000" pitchFamily="2" charset="2"/>
              <a:buChar char="v"/>
            </a:pPr>
            <a:r>
              <a:rPr lang="en-US" sz="2800" dirty="0">
                <a:solidFill>
                  <a:schemeClr val="tx1"/>
                </a:solidFill>
              </a:rPr>
              <a:t>Harmful Content Crime</a:t>
            </a:r>
          </a:p>
          <a:p>
            <a:pPr marL="457200" indent="-457200" algn="just">
              <a:buClr>
                <a:schemeClr val="tx1"/>
              </a:buClr>
              <a:buSzPct val="71000"/>
              <a:buFont typeface="Wingdings" panose="05000000000000000000" pitchFamily="2" charset="2"/>
              <a:buChar char="v"/>
            </a:pPr>
            <a:r>
              <a:rPr lang="en-US" sz="2800" dirty="0">
                <a:solidFill>
                  <a:schemeClr val="tx1"/>
                </a:solidFill>
              </a:rPr>
              <a:t>Online Harassment</a:t>
            </a:r>
          </a:p>
          <a:p>
            <a:pPr marL="457200" indent="-457200" algn="just">
              <a:buClr>
                <a:schemeClr val="tx1"/>
              </a:buClr>
              <a:buSzPct val="71000"/>
              <a:buFont typeface="Wingdings" panose="05000000000000000000" pitchFamily="2" charset="2"/>
              <a:buChar char="v"/>
            </a:pPr>
            <a:r>
              <a:rPr lang="en-US" sz="2800" dirty="0">
                <a:solidFill>
                  <a:schemeClr val="tx1"/>
                </a:solidFill>
              </a:rPr>
              <a:t>Cyber Stalking and Online Scams</a:t>
            </a:r>
          </a:p>
          <a:p>
            <a:pPr marL="457200" indent="-457200" algn="just">
              <a:buClr>
                <a:schemeClr val="tx1"/>
              </a:buClr>
              <a:buSzPct val="71000"/>
              <a:buFont typeface="Wingdings" panose="05000000000000000000" pitchFamily="2" charset="2"/>
              <a:buChar char="v"/>
            </a:pPr>
            <a:r>
              <a:rPr lang="en-US" sz="2800" dirty="0">
                <a:solidFill>
                  <a:schemeClr val="tx1"/>
                </a:solidFill>
              </a:rPr>
              <a:t>Spams</a:t>
            </a:r>
          </a:p>
          <a:p>
            <a:pPr marL="457200" indent="-457200" algn="just">
              <a:buClr>
                <a:schemeClr val="tx1"/>
              </a:buClr>
              <a:buSzPct val="71000"/>
              <a:buFont typeface="Wingdings" panose="05000000000000000000" pitchFamily="2" charset="2"/>
              <a:buChar char="v"/>
            </a:pPr>
            <a:r>
              <a:rPr lang="en-US" sz="2800" dirty="0">
                <a:solidFill>
                  <a:schemeClr val="tx1"/>
                </a:solidFill>
              </a:rPr>
              <a:t>Malicious Programs: Viruses, Worms, Trojan Horses</a:t>
            </a:r>
          </a:p>
          <a:p>
            <a:pPr marL="457200" indent="-457200" algn="just">
              <a:buClr>
                <a:schemeClr val="tx1"/>
              </a:buClr>
              <a:buSzPct val="71000"/>
              <a:buFont typeface="Wingdings" panose="05000000000000000000" pitchFamily="2" charset="2"/>
              <a:buChar char="v"/>
            </a:pPr>
            <a:r>
              <a:rPr lang="en-US" sz="2800" dirty="0">
                <a:solidFill>
                  <a:schemeClr val="tx1"/>
                </a:solidFill>
              </a:rPr>
              <a:t>Cyber Terrorism</a:t>
            </a:r>
          </a:p>
        </p:txBody>
      </p:sp>
    </p:spTree>
    <p:extLst>
      <p:ext uri="{BB962C8B-B14F-4D97-AF65-F5344CB8AC3E}">
        <p14:creationId xmlns:p14="http://schemas.microsoft.com/office/powerpoint/2010/main" val="1816200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Traditional Computer Crimes and Software Piracy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a:bodyPr>
          <a:lstStyle/>
          <a:p>
            <a:pPr algn="just">
              <a:buClr>
                <a:schemeClr val="tx1"/>
              </a:buClr>
              <a:buSzPct val="71000"/>
            </a:pPr>
            <a:r>
              <a:rPr lang="en-US" sz="2800" b="1" dirty="0">
                <a:solidFill>
                  <a:schemeClr val="tx1"/>
                </a:solidFill>
              </a:rPr>
              <a:t>Traditional Computer Crimes </a:t>
            </a:r>
          </a:p>
          <a:p>
            <a:pPr marL="457200" indent="-457200" algn="just">
              <a:buClr>
                <a:schemeClr val="tx1"/>
              </a:buClr>
              <a:buSzPct val="71000"/>
              <a:buFont typeface="Wingdings" panose="05000000000000000000" pitchFamily="2" charset="2"/>
              <a:buChar char="v"/>
            </a:pPr>
            <a:r>
              <a:rPr lang="en-US" sz="2800" dirty="0">
                <a:solidFill>
                  <a:schemeClr val="tx1"/>
                </a:solidFill>
              </a:rPr>
              <a:t>Early forms of computer crime could include the theft of the physical technology (like an abacus) or sabotage, such as the destruction of Jacquard’s automated textile machine in the early 19th century CE.</a:t>
            </a:r>
          </a:p>
          <a:p>
            <a:pPr marL="457200" indent="-457200" algn="just">
              <a:buClr>
                <a:schemeClr val="tx1"/>
              </a:buClr>
              <a:buSzPct val="71000"/>
              <a:buFont typeface="Wingdings" panose="05000000000000000000" pitchFamily="2" charset="2"/>
              <a:buChar char="v"/>
            </a:pPr>
            <a:r>
              <a:rPr lang="en-US" sz="2800" dirty="0">
                <a:solidFill>
                  <a:schemeClr val="tx1"/>
                </a:solidFill>
              </a:rPr>
              <a:t>Stealing devices</a:t>
            </a:r>
          </a:p>
          <a:p>
            <a:pPr marL="457200" indent="-457200" algn="just">
              <a:buClr>
                <a:schemeClr val="tx1"/>
              </a:buClr>
              <a:buSzPct val="71000"/>
              <a:buFont typeface="Wingdings" panose="05000000000000000000" pitchFamily="2" charset="2"/>
              <a:buChar char="v"/>
            </a:pPr>
            <a:r>
              <a:rPr lang="en-US" sz="2800" dirty="0">
                <a:solidFill>
                  <a:schemeClr val="tx1"/>
                </a:solidFill>
              </a:rPr>
              <a:t>Destroying Computers</a:t>
            </a:r>
          </a:p>
          <a:p>
            <a:pPr algn="just">
              <a:buClr>
                <a:schemeClr val="tx1"/>
              </a:buClr>
              <a:buSzPct val="71000"/>
            </a:pPr>
            <a:endParaRPr lang="en-US" sz="2800" dirty="0">
              <a:solidFill>
                <a:schemeClr val="tx1"/>
              </a:solidFill>
            </a:endParaRPr>
          </a:p>
          <a:p>
            <a:pPr marL="457200" indent="-457200" algn="just">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3761406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Traditional Computer Crimes and Software Piracy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lnSpcReduction="20000"/>
          </a:bodyPr>
          <a:lstStyle/>
          <a:p>
            <a:pPr algn="just">
              <a:buClr>
                <a:schemeClr val="tx1"/>
              </a:buClr>
              <a:buSzPct val="71000"/>
            </a:pPr>
            <a:r>
              <a:rPr lang="en-US" sz="2800" b="1" dirty="0">
                <a:solidFill>
                  <a:schemeClr val="tx1"/>
                </a:solidFill>
              </a:rPr>
              <a:t>Software Piracy</a:t>
            </a:r>
          </a:p>
          <a:p>
            <a:pPr marL="457200" indent="-457200" algn="just">
              <a:buClr>
                <a:schemeClr val="tx1"/>
              </a:buClr>
              <a:buSzPct val="71000"/>
              <a:buFont typeface="Wingdings" panose="05000000000000000000" pitchFamily="2" charset="2"/>
              <a:buChar char="v"/>
            </a:pPr>
            <a:r>
              <a:rPr lang="en-US" sz="2800" dirty="0">
                <a:solidFill>
                  <a:schemeClr val="tx1"/>
                </a:solidFill>
              </a:rPr>
              <a:t>The unauthorized copying of software is called Software Piracy. </a:t>
            </a:r>
          </a:p>
          <a:p>
            <a:pPr marL="457200" indent="-457200" algn="just">
              <a:buClr>
                <a:schemeClr val="tx1"/>
              </a:buClr>
              <a:buSzPct val="71000"/>
              <a:buFont typeface="Wingdings" panose="05000000000000000000" pitchFamily="2" charset="2"/>
              <a:buChar char="v"/>
            </a:pPr>
            <a:r>
              <a:rPr lang="en-US" sz="2800" dirty="0">
                <a:solidFill>
                  <a:schemeClr val="tx1"/>
                </a:solidFill>
              </a:rPr>
              <a:t>Most retail programs are licensed for use at just one computer site or for use by only one user at any time. </a:t>
            </a:r>
          </a:p>
          <a:p>
            <a:pPr marL="457200" indent="-457200" algn="just">
              <a:buClr>
                <a:schemeClr val="tx1"/>
              </a:buClr>
              <a:buSzPct val="71000"/>
              <a:buFont typeface="Wingdings" panose="05000000000000000000" pitchFamily="2" charset="2"/>
              <a:buChar char="v"/>
            </a:pPr>
            <a:r>
              <a:rPr lang="en-US" sz="2800" dirty="0">
                <a:solidFill>
                  <a:schemeClr val="tx1"/>
                </a:solidFill>
              </a:rPr>
              <a:t>By buying the software, you become a licensed user rather than an owner. </a:t>
            </a:r>
          </a:p>
          <a:p>
            <a:pPr marL="457200" indent="-457200" algn="just">
              <a:buClr>
                <a:schemeClr val="tx1"/>
              </a:buClr>
              <a:buSzPct val="71000"/>
              <a:buFont typeface="Wingdings" panose="05000000000000000000" pitchFamily="2" charset="2"/>
              <a:buChar char="v"/>
            </a:pPr>
            <a:r>
              <a:rPr lang="en-US" sz="2800" dirty="0">
                <a:solidFill>
                  <a:schemeClr val="tx1"/>
                </a:solidFill>
              </a:rPr>
              <a:t>You are allowed to make copies of the program for backup purposes, but it is against the law to give copies to friends and colleagues.</a:t>
            </a:r>
          </a:p>
          <a:p>
            <a:pPr marL="457200" indent="-457200" algn="just">
              <a:buClr>
                <a:schemeClr val="tx1"/>
              </a:buClr>
              <a:buSzPct val="71000"/>
              <a:buFont typeface="Wingdings" panose="05000000000000000000" pitchFamily="2" charset="2"/>
              <a:buChar char="v"/>
            </a:pPr>
            <a:r>
              <a:rPr lang="en-US" sz="2800" dirty="0">
                <a:solidFill>
                  <a:schemeClr val="tx1"/>
                </a:solidFill>
              </a:rPr>
              <a:t>Software piracy is all but impossible to stop, although software companies are launching more and more lawsuits. </a:t>
            </a:r>
          </a:p>
          <a:p>
            <a:pPr marL="457200" indent="-457200" algn="just">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1933612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Computer Frauds and Digital Forgery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lnSpcReduction="20000"/>
          </a:bodyPr>
          <a:lstStyle/>
          <a:p>
            <a:pPr algn="just">
              <a:buClr>
                <a:schemeClr val="tx1"/>
              </a:buClr>
              <a:buSzPct val="71000"/>
            </a:pPr>
            <a:r>
              <a:rPr lang="en-US" sz="2800" b="1" dirty="0">
                <a:solidFill>
                  <a:schemeClr val="tx1"/>
                </a:solidFill>
              </a:rPr>
              <a:t>Computer Frauds</a:t>
            </a:r>
          </a:p>
          <a:p>
            <a:pPr marL="457200" indent="-457200" algn="just">
              <a:buClr>
                <a:schemeClr val="tx1"/>
              </a:buClr>
              <a:buSzPct val="71000"/>
              <a:buFont typeface="Wingdings" panose="05000000000000000000" pitchFamily="2" charset="2"/>
              <a:buChar char="v"/>
            </a:pPr>
            <a:r>
              <a:rPr lang="en-US" sz="2800" dirty="0">
                <a:solidFill>
                  <a:schemeClr val="tx1"/>
                </a:solidFill>
              </a:rPr>
              <a:t>Computer fraud is defined as any act using computers, the Internet, Internet devices, and Internet services to defraud people, companies, or government agencies of money, revenue.</a:t>
            </a:r>
          </a:p>
          <a:p>
            <a:pPr marL="457200" indent="-457200" algn="just">
              <a:buClr>
                <a:schemeClr val="tx1"/>
              </a:buClr>
              <a:buSzPct val="71000"/>
              <a:buFont typeface="Wingdings" panose="05000000000000000000" pitchFamily="2" charset="2"/>
              <a:buChar char="v"/>
            </a:pPr>
            <a:r>
              <a:rPr lang="en-US" sz="2800" dirty="0">
                <a:solidFill>
                  <a:schemeClr val="tx1"/>
                </a:solidFill>
              </a:rPr>
              <a:t>Just as older communications tools such as telephones and postal mail can be used to scam and defraud people, so can modern tools such as email, text messages and online chats.</a:t>
            </a:r>
          </a:p>
          <a:p>
            <a:pPr marL="457200" indent="-457200" algn="just">
              <a:buClr>
                <a:schemeClr val="tx1"/>
              </a:buClr>
              <a:buSzPct val="71000"/>
              <a:buFont typeface="Wingdings" panose="05000000000000000000" pitchFamily="2" charset="2"/>
              <a:buChar char="v"/>
            </a:pPr>
            <a:r>
              <a:rPr lang="en-US" sz="2800" dirty="0">
                <a:solidFill>
                  <a:schemeClr val="tx1"/>
                </a:solidFill>
              </a:rPr>
              <a:t>There are many methods used to perform these illegal activities : Phishing, social engineering, viruses, and DDoS attacks are fairly well known tactics used to disrupt service or gain access to another's funds</a:t>
            </a:r>
          </a:p>
        </p:txBody>
      </p:sp>
    </p:spTree>
    <p:extLst>
      <p:ext uri="{BB962C8B-B14F-4D97-AF65-F5344CB8AC3E}">
        <p14:creationId xmlns:p14="http://schemas.microsoft.com/office/powerpoint/2010/main" val="955972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Computer Frauds and Digital Forgery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lnSpcReduction="20000"/>
          </a:bodyPr>
          <a:lstStyle/>
          <a:p>
            <a:pPr algn="just">
              <a:buClr>
                <a:schemeClr val="tx1"/>
              </a:buClr>
              <a:buSzPct val="71000"/>
            </a:pPr>
            <a:r>
              <a:rPr lang="en-US" sz="2800" b="1" dirty="0">
                <a:solidFill>
                  <a:schemeClr val="tx1"/>
                </a:solidFill>
              </a:rPr>
              <a:t>Digital Forgery</a:t>
            </a:r>
          </a:p>
          <a:p>
            <a:pPr marL="457200" indent="-457200" algn="just">
              <a:buClr>
                <a:schemeClr val="tx1"/>
              </a:buClr>
              <a:buSzPct val="71000"/>
              <a:buFont typeface="Wingdings" panose="05000000000000000000" pitchFamily="2" charset="2"/>
              <a:buChar char="v"/>
            </a:pPr>
            <a:r>
              <a:rPr lang="en-US" sz="2800" dirty="0">
                <a:solidFill>
                  <a:schemeClr val="tx1"/>
                </a:solidFill>
              </a:rPr>
              <a:t>Forgery is defined as the crime of falsely and fraudulently making or altering a document. </a:t>
            </a:r>
          </a:p>
          <a:p>
            <a:pPr marL="457200" indent="-457200" algn="just">
              <a:buClr>
                <a:schemeClr val="tx1"/>
              </a:buClr>
              <a:buSzPct val="71000"/>
              <a:buFont typeface="Wingdings" panose="05000000000000000000" pitchFamily="2" charset="2"/>
              <a:buChar char="v"/>
            </a:pPr>
            <a:r>
              <a:rPr lang="en-US" sz="2800" dirty="0">
                <a:solidFill>
                  <a:schemeClr val="tx1"/>
                </a:solidFill>
              </a:rPr>
              <a:t>So therefore, digital forgery involves falsely altering digital contents such as pictures and documents. </a:t>
            </a:r>
          </a:p>
          <a:p>
            <a:pPr marL="457200" indent="-457200" algn="just">
              <a:buClr>
                <a:schemeClr val="tx1"/>
              </a:buClr>
              <a:buSzPct val="71000"/>
              <a:buFont typeface="Wingdings" panose="05000000000000000000" pitchFamily="2" charset="2"/>
              <a:buChar char="v"/>
            </a:pPr>
            <a:r>
              <a:rPr lang="en-US" sz="2800" dirty="0">
                <a:solidFill>
                  <a:schemeClr val="tx1"/>
                </a:solidFill>
              </a:rPr>
              <a:t>Digital forgery (or digital tampering) is the process of manipulating documents or images for the intent of financial, social or political gain.</a:t>
            </a:r>
          </a:p>
          <a:p>
            <a:pPr marL="457200" indent="-457200" algn="just">
              <a:buClr>
                <a:schemeClr val="tx1"/>
              </a:buClr>
              <a:buSzPct val="71000"/>
              <a:buFont typeface="Wingdings" panose="05000000000000000000" pitchFamily="2" charset="2"/>
              <a:buChar char="v"/>
            </a:pPr>
            <a:r>
              <a:rPr lang="en-US" sz="2800" dirty="0">
                <a:solidFill>
                  <a:schemeClr val="tx1"/>
                </a:solidFill>
              </a:rPr>
              <a:t>We see it every day in newspapers, magazines, the television, and even the internet. </a:t>
            </a:r>
          </a:p>
          <a:p>
            <a:pPr marL="457200" indent="-457200" algn="just">
              <a:buClr>
                <a:schemeClr val="tx1"/>
              </a:buClr>
              <a:buSzPct val="71000"/>
              <a:buFont typeface="Wingdings" panose="05000000000000000000" pitchFamily="2" charset="2"/>
              <a:buChar char="v"/>
            </a:pPr>
            <a:r>
              <a:rPr lang="en-US" sz="2800" dirty="0">
                <a:solidFill>
                  <a:schemeClr val="tx1"/>
                </a:solidFill>
              </a:rPr>
              <a:t>Altering the way someone looks, using digital photography in a courtroom, or even bringing a celebrity back from the dead.</a:t>
            </a:r>
          </a:p>
        </p:txBody>
      </p:sp>
    </p:spTree>
    <p:extLst>
      <p:ext uri="{BB962C8B-B14F-4D97-AF65-F5344CB8AC3E}">
        <p14:creationId xmlns:p14="http://schemas.microsoft.com/office/powerpoint/2010/main" val="3932653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Phishing</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850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Phishing is the act of sending an email to a user falsely claiming to be a permissible scheme in an attempt to scam the user into surrendering private information that will be used for identity theft.</a:t>
            </a:r>
          </a:p>
          <a:p>
            <a:pPr marL="457200" indent="-457200" algn="just">
              <a:buClr>
                <a:schemeClr val="tx1"/>
              </a:buClr>
              <a:buSzPct val="71000"/>
              <a:buFont typeface="Wingdings" panose="05000000000000000000" pitchFamily="2" charset="2"/>
              <a:buChar char="v"/>
            </a:pPr>
            <a:r>
              <a:rPr lang="en-US" sz="2800" dirty="0">
                <a:solidFill>
                  <a:schemeClr val="tx1"/>
                </a:solidFill>
              </a:rPr>
              <a:t>Phishing email will typically direct the user to visit a website where they are asked to update personal information, such as a password, credit card, social security, or bank account numbers, that the legitimate organization already has. </a:t>
            </a:r>
          </a:p>
          <a:p>
            <a:pPr marL="457200" indent="-457200" algn="just">
              <a:buClr>
                <a:schemeClr val="tx1"/>
              </a:buClr>
              <a:buSzPct val="71000"/>
              <a:buFont typeface="Wingdings" panose="05000000000000000000" pitchFamily="2" charset="2"/>
              <a:buChar char="v"/>
            </a:pPr>
            <a:r>
              <a:rPr lang="en-US" sz="2800" dirty="0">
                <a:solidFill>
                  <a:schemeClr val="tx1"/>
                </a:solidFill>
              </a:rPr>
              <a:t>The website, however, is bogus(not true) and will capture and steal any information the user enters on the page.</a:t>
            </a:r>
          </a:p>
          <a:p>
            <a:pPr marL="457200" indent="-457200" algn="just">
              <a:buClr>
                <a:schemeClr val="tx1"/>
              </a:buClr>
              <a:buSzPct val="71000"/>
              <a:buFont typeface="Wingdings" panose="05000000000000000000" pitchFamily="2" charset="2"/>
              <a:buChar char="v"/>
            </a:pPr>
            <a:r>
              <a:rPr lang="en-US" sz="2800" dirty="0">
                <a:solidFill>
                  <a:schemeClr val="tx1"/>
                </a:solidFill>
              </a:rPr>
              <a:t>Phishing, also referred to as brand spoofing or carding, is a variation on "fishing," the idea being that bait is thrown out with the hopes that while most will ignore the bait, some will be tempted into biting. </a:t>
            </a:r>
          </a:p>
        </p:txBody>
      </p:sp>
    </p:spTree>
    <p:extLst>
      <p:ext uri="{BB962C8B-B14F-4D97-AF65-F5344CB8AC3E}">
        <p14:creationId xmlns:p14="http://schemas.microsoft.com/office/powerpoint/2010/main" val="2326947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Unauthorized Access : Hacking, Cracking</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775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Unauthorized access is when someone gains access to a website, program, server, service, or other system using someone else's account or other methods. </a:t>
            </a:r>
          </a:p>
          <a:p>
            <a:pPr marL="457200" indent="-457200" algn="just">
              <a:buClr>
                <a:schemeClr val="tx1"/>
              </a:buClr>
              <a:buSzPct val="71000"/>
              <a:buFont typeface="Wingdings" panose="05000000000000000000" pitchFamily="2" charset="2"/>
              <a:buChar char="v"/>
            </a:pPr>
            <a:r>
              <a:rPr lang="en-US" sz="2800" dirty="0">
                <a:solidFill>
                  <a:schemeClr val="tx1"/>
                </a:solidFill>
              </a:rPr>
              <a:t>For example, if someone kept guessing password or username for an account that was not theirs until they gained access it is considered unauthorized access.</a:t>
            </a:r>
          </a:p>
          <a:p>
            <a:pPr marL="457200" indent="-457200" algn="just">
              <a:buClr>
                <a:schemeClr val="tx1"/>
              </a:buClr>
              <a:buSzPct val="71000"/>
              <a:buFont typeface="Wingdings" panose="05000000000000000000" pitchFamily="2" charset="2"/>
              <a:buChar char="v"/>
            </a:pPr>
            <a:r>
              <a:rPr lang="en-US" sz="2800" dirty="0">
                <a:solidFill>
                  <a:schemeClr val="tx1"/>
                </a:solidFill>
              </a:rPr>
              <a:t>Unauthorized access could also occur if a user attempts to access an area of a system they should not be accessing.</a:t>
            </a:r>
          </a:p>
          <a:p>
            <a:pPr marL="457200" indent="-457200" algn="just">
              <a:buClr>
                <a:schemeClr val="tx1"/>
              </a:buClr>
              <a:buSzPct val="71000"/>
              <a:buFont typeface="Wingdings" panose="05000000000000000000" pitchFamily="2" charset="2"/>
              <a:buChar char="v"/>
            </a:pPr>
            <a:r>
              <a:rPr lang="en-US" sz="2800" dirty="0">
                <a:solidFill>
                  <a:schemeClr val="tx1"/>
                </a:solidFill>
              </a:rPr>
              <a:t>When attempting to access that area, they would be denied access and possibly see an unauthorized access message.</a:t>
            </a:r>
          </a:p>
          <a:p>
            <a:pPr marL="457200" indent="-457200" algn="just">
              <a:buClr>
                <a:schemeClr val="tx1"/>
              </a:buClr>
              <a:buSzPct val="71000"/>
              <a:buFont typeface="Wingdings" panose="05000000000000000000" pitchFamily="2" charset="2"/>
              <a:buChar char="v"/>
            </a:pPr>
            <a:r>
              <a:rPr lang="en-US" sz="2800" dirty="0">
                <a:solidFill>
                  <a:schemeClr val="tx1"/>
                </a:solidFill>
              </a:rPr>
              <a:t>Some system administrators set up alerts to let them know when there is an unauthorized access attempt, so that they may investigate the reason. </a:t>
            </a:r>
          </a:p>
          <a:p>
            <a:pPr marL="457200" indent="-457200" algn="just">
              <a:buClr>
                <a:schemeClr val="tx1"/>
              </a:buClr>
              <a:buSzPct val="71000"/>
              <a:buFont typeface="Wingdings" panose="05000000000000000000" pitchFamily="2" charset="2"/>
              <a:buChar char="v"/>
            </a:pPr>
            <a:r>
              <a:rPr lang="en-US" sz="2800" dirty="0">
                <a:solidFill>
                  <a:schemeClr val="tx1"/>
                </a:solidFill>
              </a:rPr>
              <a:t>These alerts can help stop hackers from gaining access to a secure or confidential system. </a:t>
            </a:r>
          </a:p>
        </p:txBody>
      </p:sp>
    </p:spTree>
    <p:extLst>
      <p:ext uri="{BB962C8B-B14F-4D97-AF65-F5344CB8AC3E}">
        <p14:creationId xmlns:p14="http://schemas.microsoft.com/office/powerpoint/2010/main" val="4067430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Unauthorized Access : Hacking, Cracking</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446642"/>
          </a:xfrm>
        </p:spPr>
        <p:txBody>
          <a:bodyPr>
            <a:normAutofit fontScale="85000" lnSpcReduction="20000"/>
          </a:bodyPr>
          <a:lstStyle/>
          <a:p>
            <a:pPr algn="just">
              <a:buClr>
                <a:schemeClr val="tx1"/>
              </a:buClr>
              <a:buSzPct val="71000"/>
            </a:pPr>
            <a:r>
              <a:rPr lang="en-US" sz="2800" b="1" dirty="0">
                <a:solidFill>
                  <a:schemeClr val="tx1"/>
                </a:solidFill>
              </a:rPr>
              <a:t>Hacking</a:t>
            </a:r>
          </a:p>
          <a:p>
            <a:pPr marL="457200" indent="-457200" algn="just">
              <a:buClr>
                <a:schemeClr val="tx1"/>
              </a:buClr>
              <a:buSzPct val="71000"/>
              <a:buFont typeface="Wingdings" panose="05000000000000000000" pitchFamily="2" charset="2"/>
              <a:buChar char="v"/>
            </a:pPr>
            <a:r>
              <a:rPr lang="en-US" sz="2800" dirty="0">
                <a:solidFill>
                  <a:schemeClr val="tx1"/>
                </a:solidFill>
              </a:rPr>
              <a:t>In the computer security context, a hacking is process of seeking and exploiting weaknesses in a computer system or computer network. </a:t>
            </a:r>
          </a:p>
          <a:p>
            <a:pPr marL="457200" indent="-457200" algn="just">
              <a:buClr>
                <a:schemeClr val="tx1"/>
              </a:buClr>
              <a:buSzPct val="71000"/>
              <a:buFont typeface="Wingdings" panose="05000000000000000000" pitchFamily="2" charset="2"/>
              <a:buChar char="v"/>
            </a:pPr>
            <a:r>
              <a:rPr lang="en-US" sz="2800" dirty="0">
                <a:solidFill>
                  <a:schemeClr val="tx1"/>
                </a:solidFill>
              </a:rPr>
              <a:t>Hacking may be motivated by a multitude of reasons, such as profit, protest, challenge, enjoyment, or to evaluate those weaknesses to assist in removing them.</a:t>
            </a:r>
          </a:p>
          <a:p>
            <a:pPr marL="457200" indent="-457200" algn="just">
              <a:buClr>
                <a:schemeClr val="tx1"/>
              </a:buClr>
              <a:buSzPct val="71000"/>
              <a:buFont typeface="Wingdings" panose="05000000000000000000" pitchFamily="2" charset="2"/>
              <a:buChar char="v"/>
            </a:pPr>
            <a:r>
              <a:rPr lang="en-US" sz="2800" dirty="0">
                <a:solidFill>
                  <a:schemeClr val="tx1"/>
                </a:solidFill>
              </a:rPr>
              <a:t>The term hacker is reclaimed by computer programmers who argue that someone who breaks into computers, whether computer criminal (black hats) or computer security expert (white hats), is more appropriately called a cracker instead. </a:t>
            </a:r>
          </a:p>
          <a:p>
            <a:pPr marL="457200" indent="-457200" algn="just">
              <a:buClr>
                <a:schemeClr val="tx1"/>
              </a:buClr>
              <a:buSzPct val="71000"/>
              <a:buFont typeface="Wingdings" panose="05000000000000000000" pitchFamily="2" charset="2"/>
              <a:buChar char="v"/>
            </a:pPr>
            <a:r>
              <a:rPr lang="en-US" sz="2800" dirty="0">
                <a:solidFill>
                  <a:schemeClr val="tx1"/>
                </a:solidFill>
              </a:rPr>
              <a:t>Some white hat hackers claim that they also deserve the title hacker, and that only black hats should be called "crackers". </a:t>
            </a:r>
          </a:p>
        </p:txBody>
      </p:sp>
    </p:spTree>
    <p:extLst>
      <p:ext uri="{BB962C8B-B14F-4D97-AF65-F5344CB8AC3E}">
        <p14:creationId xmlns:p14="http://schemas.microsoft.com/office/powerpoint/2010/main" val="3304984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Unauthorized Access : Hacking, Cracking</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446642"/>
          </a:xfrm>
        </p:spPr>
        <p:txBody>
          <a:bodyPr>
            <a:normAutofit fontScale="92500" lnSpcReduction="10000"/>
          </a:bodyPr>
          <a:lstStyle/>
          <a:p>
            <a:pPr algn="just">
              <a:buClr>
                <a:schemeClr val="tx1"/>
              </a:buClr>
              <a:buSzPct val="71000"/>
            </a:pPr>
            <a:r>
              <a:rPr lang="en-US" sz="2800" b="1" dirty="0">
                <a:solidFill>
                  <a:schemeClr val="tx1"/>
                </a:solidFill>
              </a:rPr>
              <a:t>Cracking</a:t>
            </a:r>
          </a:p>
          <a:p>
            <a:pPr marL="457200" indent="-457200" algn="just">
              <a:buClr>
                <a:schemeClr val="tx1"/>
              </a:buClr>
              <a:buSzPct val="71000"/>
              <a:buFont typeface="Wingdings" panose="05000000000000000000" pitchFamily="2" charset="2"/>
              <a:buChar char="v"/>
            </a:pPr>
            <a:r>
              <a:rPr lang="en-US" sz="2800" dirty="0">
                <a:solidFill>
                  <a:schemeClr val="tx1"/>
                </a:solidFill>
              </a:rPr>
              <a:t>Cracking is the modification of codes to remove or disable features which are considered undesirable by the person cracking the software, </a:t>
            </a:r>
          </a:p>
          <a:p>
            <a:pPr marL="457200" indent="-457200" algn="just">
              <a:buClr>
                <a:schemeClr val="tx1"/>
              </a:buClr>
              <a:buSzPct val="71000"/>
              <a:buFont typeface="Wingdings" panose="05000000000000000000" pitchFamily="2" charset="2"/>
              <a:buChar char="v"/>
            </a:pPr>
            <a:r>
              <a:rPr lang="en-US" sz="2800" dirty="0">
                <a:solidFill>
                  <a:schemeClr val="tx1"/>
                </a:solidFill>
              </a:rPr>
              <a:t>especially copy protection features (including protection against the  manipulation of software, serial number, hardware key, date checks and disc check).</a:t>
            </a:r>
          </a:p>
          <a:p>
            <a:pPr marL="457200" indent="-457200" algn="just">
              <a:buClr>
                <a:schemeClr val="tx1"/>
              </a:buClr>
              <a:buSzPct val="71000"/>
              <a:buFont typeface="Wingdings" panose="05000000000000000000" pitchFamily="2" charset="2"/>
              <a:buChar char="v"/>
            </a:pPr>
            <a:r>
              <a:rPr lang="en-US" sz="2800" dirty="0">
                <a:solidFill>
                  <a:schemeClr val="tx1"/>
                </a:solidFill>
              </a:rPr>
              <a:t>A crack refers to the mean of achieving software cracking, for example a stolen serial number or a tool that performs that act of cracking. </a:t>
            </a:r>
          </a:p>
          <a:p>
            <a:pPr marL="457200" indent="-457200" algn="just">
              <a:buClr>
                <a:schemeClr val="tx1"/>
              </a:buClr>
              <a:buSzPct val="71000"/>
              <a:buFont typeface="Wingdings" panose="05000000000000000000" pitchFamily="2" charset="2"/>
              <a:buChar char="v"/>
            </a:pPr>
            <a:r>
              <a:rPr lang="en-US" sz="2800" dirty="0">
                <a:solidFill>
                  <a:schemeClr val="tx1"/>
                </a:solidFill>
              </a:rPr>
              <a:t>Some of these tools are called keygen, patch or loader. </a:t>
            </a:r>
          </a:p>
          <a:p>
            <a:pPr marL="457200" indent="-457200" algn="just">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1649651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Denial of Service</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850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A denial of service (DoS) attack is an incident in which a user or organization is deprived of the services of a resource they would normally expect to have. </a:t>
            </a:r>
          </a:p>
          <a:p>
            <a:pPr marL="457200" indent="-457200" algn="just">
              <a:buClr>
                <a:schemeClr val="tx1"/>
              </a:buClr>
              <a:buSzPct val="71000"/>
              <a:buFont typeface="Wingdings" panose="05000000000000000000" pitchFamily="2" charset="2"/>
              <a:buChar char="v"/>
            </a:pPr>
            <a:r>
              <a:rPr lang="en-US" sz="2800" dirty="0">
                <a:solidFill>
                  <a:schemeClr val="tx1"/>
                </a:solidFill>
              </a:rPr>
              <a:t>In a distributed denial-of-service, large numbers of compromised systems (sometimes called a botnet) attack a single target.</a:t>
            </a:r>
          </a:p>
          <a:p>
            <a:pPr marL="457200" indent="-457200" algn="just">
              <a:buClr>
                <a:schemeClr val="tx1"/>
              </a:buClr>
              <a:buSzPct val="71000"/>
              <a:buFont typeface="Wingdings" panose="05000000000000000000" pitchFamily="2" charset="2"/>
              <a:buChar char="v"/>
            </a:pPr>
            <a:r>
              <a:rPr lang="en-US" sz="2800" dirty="0">
                <a:solidFill>
                  <a:schemeClr val="tx1"/>
                </a:solidFill>
              </a:rPr>
              <a:t>Although a DoS attack does not usually result in the theft of information or other security loss, it can cost the target person or company a great deal of time and money. </a:t>
            </a:r>
          </a:p>
          <a:p>
            <a:pPr marL="457200" indent="-457200" algn="just">
              <a:buClr>
                <a:schemeClr val="tx1"/>
              </a:buClr>
              <a:buSzPct val="71000"/>
              <a:buFont typeface="Wingdings" panose="05000000000000000000" pitchFamily="2" charset="2"/>
              <a:buChar char="v"/>
            </a:pPr>
            <a:r>
              <a:rPr lang="en-US" sz="2800" dirty="0">
                <a:solidFill>
                  <a:schemeClr val="tx1"/>
                </a:solidFill>
              </a:rPr>
              <a:t>Typically, the loss of service is the inability of a particular network service, such as e-mail, to be available or the temporary loss of all network connectivity and services. </a:t>
            </a:r>
          </a:p>
        </p:txBody>
      </p:sp>
    </p:spTree>
    <p:extLst>
      <p:ext uri="{BB962C8B-B14F-4D97-AF65-F5344CB8AC3E}">
        <p14:creationId xmlns:p14="http://schemas.microsoft.com/office/powerpoint/2010/main" val="745849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Computer Invasion of Privacy</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Any person who uses a computer or computer network with the intention of examining any employment, medical, salary, credit, or any other financial or personal data relating to any other person with knowledge that such examination is without authority shall be guilty of the crime of computer invasion of privacy.</a:t>
            </a:r>
          </a:p>
          <a:p>
            <a:pPr algn="just">
              <a:buClr>
                <a:schemeClr val="tx1"/>
              </a:buClr>
              <a:buSzPct val="71000"/>
            </a:pPr>
            <a:r>
              <a:rPr lang="en-US" sz="2800" b="1" dirty="0">
                <a:solidFill>
                  <a:schemeClr val="tx1"/>
                </a:solidFill>
              </a:rPr>
              <a:t>Invasion of Privacy Examples:</a:t>
            </a:r>
          </a:p>
          <a:p>
            <a:pPr marL="457200" indent="-457200" algn="just">
              <a:buClr>
                <a:schemeClr val="tx1"/>
              </a:buClr>
              <a:buSzPct val="71000"/>
              <a:buFont typeface="Wingdings" panose="05000000000000000000" pitchFamily="2" charset="2"/>
              <a:buChar char="v"/>
            </a:pPr>
            <a:r>
              <a:rPr lang="en-US" sz="2800" dirty="0">
                <a:solidFill>
                  <a:schemeClr val="tx1"/>
                </a:solidFill>
              </a:rPr>
              <a:t>User accesses confidential medical information of family and friends.</a:t>
            </a:r>
          </a:p>
          <a:p>
            <a:pPr marL="457200" indent="-457200" algn="just">
              <a:buClr>
                <a:schemeClr val="tx1"/>
              </a:buClr>
              <a:buSzPct val="71000"/>
              <a:buFont typeface="Wingdings" panose="05000000000000000000" pitchFamily="2" charset="2"/>
              <a:buChar char="v"/>
            </a:pPr>
            <a:r>
              <a:rPr lang="en-US" sz="2800" dirty="0">
                <a:solidFill>
                  <a:schemeClr val="tx1"/>
                </a:solidFill>
              </a:rPr>
              <a:t>User inadvertently downloads spyware that communicates personal information on the Internet.</a:t>
            </a:r>
          </a:p>
        </p:txBody>
      </p:sp>
    </p:spTree>
    <p:extLst>
      <p:ext uri="{BB962C8B-B14F-4D97-AF65-F5344CB8AC3E}">
        <p14:creationId xmlns:p14="http://schemas.microsoft.com/office/powerpoint/2010/main" val="1982012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Harmful Content Crime</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85000" lnSpcReduction="1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Harmful content is considered as offensive or disgusting by some people but certainly not criminalized by national laws. </a:t>
            </a:r>
          </a:p>
          <a:p>
            <a:pPr marL="457200" indent="-457200" algn="just">
              <a:buClr>
                <a:schemeClr val="tx1"/>
              </a:buClr>
              <a:buSzPct val="71000"/>
              <a:buFont typeface="Wingdings" panose="05000000000000000000" pitchFamily="2" charset="2"/>
              <a:buChar char="v"/>
            </a:pPr>
            <a:r>
              <a:rPr lang="en-US" sz="2800" dirty="0">
                <a:solidFill>
                  <a:schemeClr val="tx1"/>
                </a:solidFill>
              </a:rPr>
              <a:t>So, with in the category of internet content, we are dealing with legal content which may offend some internet users or content that may be thought to harm others. </a:t>
            </a:r>
          </a:p>
          <a:p>
            <a:pPr marL="457200" indent="-457200" algn="just">
              <a:buClr>
                <a:schemeClr val="tx1"/>
              </a:buClr>
              <a:buSzPct val="71000"/>
              <a:buFont typeface="Wingdings" panose="05000000000000000000" pitchFamily="2" charset="2"/>
              <a:buChar char="v"/>
            </a:pPr>
            <a:r>
              <a:rPr lang="en-US" sz="2800" dirty="0">
                <a:solidFill>
                  <a:schemeClr val="tx1"/>
                </a:solidFill>
              </a:rPr>
              <a:t>The form of harmful content may include sexually explicit content, political opinions, religious beliefs, views on racial matters and sexuality. </a:t>
            </a:r>
          </a:p>
          <a:p>
            <a:pPr marL="457200" indent="-457200" algn="just">
              <a:buClr>
                <a:schemeClr val="tx1"/>
              </a:buClr>
              <a:buSzPct val="71000"/>
              <a:buFont typeface="Wingdings" panose="05000000000000000000" pitchFamily="2" charset="2"/>
              <a:buChar char="v"/>
            </a:pPr>
            <a:r>
              <a:rPr lang="en-US" sz="2800" dirty="0">
                <a:solidFill>
                  <a:schemeClr val="tx1"/>
                </a:solidFill>
              </a:rPr>
              <a:t>There are no laws making it illegal for a child to view such content in a magazine or on the internet. </a:t>
            </a:r>
          </a:p>
          <a:p>
            <a:pPr marL="457200" indent="-457200" algn="just">
              <a:buClr>
                <a:schemeClr val="tx1"/>
              </a:buClr>
              <a:buSzPct val="71000"/>
              <a:buFont typeface="Wingdings" panose="05000000000000000000" pitchFamily="2" charset="2"/>
              <a:buChar char="v"/>
            </a:pPr>
            <a:r>
              <a:rPr lang="en-US" sz="2800" dirty="0">
                <a:solidFill>
                  <a:schemeClr val="tx1"/>
                </a:solidFill>
              </a:rPr>
              <a:t>Therefore, harm remains as a criterion which depends upon cultural differences. </a:t>
            </a:r>
          </a:p>
        </p:txBody>
      </p:sp>
    </p:spTree>
    <p:extLst>
      <p:ext uri="{BB962C8B-B14F-4D97-AF65-F5344CB8AC3E}">
        <p14:creationId xmlns:p14="http://schemas.microsoft.com/office/powerpoint/2010/main" val="3827820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Online Harassment</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Internet or Online harassment, also referred to as “cyberbullying”, is the term used to describe the use of the Internet to harass, threaten, or maliciously embarrass.</a:t>
            </a:r>
          </a:p>
          <a:p>
            <a:pPr marL="457200" indent="-457200" algn="just">
              <a:buClr>
                <a:schemeClr val="tx1"/>
              </a:buClr>
              <a:buSzPct val="71000"/>
              <a:buFont typeface="Wingdings" panose="05000000000000000000" pitchFamily="2" charset="2"/>
              <a:buChar char="v"/>
            </a:pPr>
            <a:r>
              <a:rPr lang="en-US" sz="2800" dirty="0">
                <a:solidFill>
                  <a:schemeClr val="tx1"/>
                </a:solidFill>
              </a:rPr>
              <a:t> It is commonly understood as behavior which disturbs or upsets, and it is characteristically repetitive. </a:t>
            </a:r>
          </a:p>
          <a:p>
            <a:pPr marL="457200" indent="-457200" algn="just">
              <a:buClr>
                <a:schemeClr val="tx1"/>
              </a:buClr>
              <a:buSzPct val="71000"/>
              <a:buFont typeface="Wingdings" panose="05000000000000000000" pitchFamily="2" charset="2"/>
              <a:buChar char="v"/>
            </a:pPr>
            <a:r>
              <a:rPr lang="en-US" sz="2800" dirty="0">
                <a:solidFill>
                  <a:schemeClr val="tx1"/>
                </a:solidFill>
              </a:rPr>
              <a:t>In the legal sense, it is behavior which appears to be threatening or disturbing.</a:t>
            </a:r>
          </a:p>
          <a:p>
            <a:pPr marL="457200" indent="-457200" algn="just">
              <a:buClr>
                <a:schemeClr val="tx1"/>
              </a:buClr>
              <a:buSzPct val="71000"/>
              <a:buFont typeface="Wingdings" panose="05000000000000000000" pitchFamily="2" charset="2"/>
              <a:buChar char="v"/>
            </a:pPr>
            <a:r>
              <a:rPr lang="en-US" sz="2800" dirty="0">
                <a:solidFill>
                  <a:schemeClr val="tx1"/>
                </a:solidFill>
              </a:rPr>
              <a:t>This often occurs in chat rooms, through newsgroups, and by sending hate e-mail to interested parties. </a:t>
            </a:r>
          </a:p>
          <a:p>
            <a:pPr marL="457200" indent="-457200" algn="just">
              <a:buClr>
                <a:schemeClr val="tx1"/>
              </a:buClr>
              <a:buSzPct val="71000"/>
              <a:buFont typeface="Wingdings" panose="05000000000000000000" pitchFamily="2" charset="2"/>
              <a:buChar char="v"/>
            </a:pPr>
            <a:r>
              <a:rPr lang="en-US" sz="2800" dirty="0">
                <a:solidFill>
                  <a:schemeClr val="tx1"/>
                </a:solidFill>
              </a:rPr>
              <a:t>Harassment targeting women and children in the internet also includes revenge pornography. </a:t>
            </a:r>
          </a:p>
          <a:p>
            <a:pPr marL="457200" indent="-457200" algn="just">
              <a:buClr>
                <a:schemeClr val="tx1"/>
              </a:buClr>
              <a:buSzPct val="71000"/>
              <a:buFont typeface="Wingdings" panose="05000000000000000000" pitchFamily="2" charset="2"/>
              <a:buChar char="v"/>
            </a:pPr>
            <a:endParaRPr lang="en-US" sz="2800" dirty="0">
              <a:solidFill>
                <a:schemeClr val="tx1"/>
              </a:solidFill>
            </a:endParaRPr>
          </a:p>
        </p:txBody>
      </p:sp>
    </p:spTree>
    <p:extLst>
      <p:ext uri="{BB962C8B-B14F-4D97-AF65-F5344CB8AC3E}">
        <p14:creationId xmlns:p14="http://schemas.microsoft.com/office/powerpoint/2010/main" val="3933259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Cyber Stalking and Online Scams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70000" lnSpcReduction="20000"/>
          </a:bodyPr>
          <a:lstStyle/>
          <a:p>
            <a:pPr marL="457200" indent="-457200" algn="just">
              <a:buClr>
                <a:schemeClr val="tx1"/>
              </a:buClr>
              <a:buSzPct val="71000"/>
              <a:buFont typeface="Wingdings" panose="05000000000000000000" pitchFamily="2" charset="2"/>
              <a:buChar char="v"/>
            </a:pPr>
            <a:r>
              <a:rPr lang="en-US" sz="2800" dirty="0">
                <a:solidFill>
                  <a:srgbClr val="FF0000"/>
                </a:solidFill>
              </a:rPr>
              <a:t>Cyber stalking</a:t>
            </a:r>
            <a:r>
              <a:rPr lang="en-US" sz="2800" dirty="0">
                <a:solidFill>
                  <a:schemeClr val="tx1"/>
                </a:solidFill>
              </a:rPr>
              <a:t>, simply put, is online stalking. </a:t>
            </a:r>
          </a:p>
          <a:p>
            <a:pPr marL="457200" indent="-457200" algn="just">
              <a:buClr>
                <a:schemeClr val="tx1"/>
              </a:buClr>
              <a:buSzPct val="71000"/>
              <a:buFont typeface="Wingdings" panose="05000000000000000000" pitchFamily="2" charset="2"/>
              <a:buChar char="v"/>
            </a:pPr>
            <a:r>
              <a:rPr lang="en-US" sz="2800" dirty="0">
                <a:solidFill>
                  <a:schemeClr val="tx1"/>
                </a:solidFill>
              </a:rPr>
              <a:t>It has been defined as the use of technology, particularly the Internet, to harass someone.</a:t>
            </a:r>
          </a:p>
          <a:p>
            <a:pPr marL="457200" indent="-457200" algn="just">
              <a:buClr>
                <a:schemeClr val="tx1"/>
              </a:buClr>
              <a:buSzPct val="71000"/>
              <a:buFont typeface="Wingdings" panose="05000000000000000000" pitchFamily="2" charset="2"/>
              <a:buChar char="v"/>
            </a:pPr>
            <a:r>
              <a:rPr lang="en-US" sz="2800" dirty="0">
                <a:solidFill>
                  <a:schemeClr val="tx1"/>
                </a:solidFill>
              </a:rPr>
              <a:t>Common characteristics include false accusations, monitoring, threats, identity theft, and data destruction or manipulation. </a:t>
            </a:r>
          </a:p>
          <a:p>
            <a:pPr marL="457200" indent="-457200" algn="just">
              <a:buClr>
                <a:schemeClr val="tx1"/>
              </a:buClr>
              <a:buSzPct val="71000"/>
              <a:buFont typeface="Wingdings" panose="05000000000000000000" pitchFamily="2" charset="2"/>
              <a:buChar char="v"/>
            </a:pPr>
            <a:r>
              <a:rPr lang="en-US" sz="2800" dirty="0">
                <a:solidFill>
                  <a:schemeClr val="tx1"/>
                </a:solidFill>
              </a:rPr>
              <a:t>Cyber stalking also includes exploitation of minors, be it sexual or otherwise.</a:t>
            </a:r>
          </a:p>
          <a:p>
            <a:pPr marL="457200" indent="-457200" algn="just">
              <a:buClr>
                <a:schemeClr val="tx1"/>
              </a:buClr>
              <a:buSzPct val="71000"/>
              <a:buFont typeface="Wingdings" panose="05000000000000000000" pitchFamily="2" charset="2"/>
              <a:buChar char="v"/>
            </a:pPr>
            <a:r>
              <a:rPr lang="en-US" sz="2800" dirty="0">
                <a:solidFill>
                  <a:schemeClr val="tx1"/>
                </a:solidFill>
              </a:rPr>
              <a:t>The harassment can take on many forms, but the common denominator is that it's unwanted, often obsessive, and usually illegal. </a:t>
            </a:r>
          </a:p>
          <a:p>
            <a:pPr marL="457200" indent="-457200" algn="just">
              <a:buClr>
                <a:schemeClr val="tx1"/>
              </a:buClr>
              <a:buSzPct val="71000"/>
              <a:buFont typeface="Wingdings" panose="05000000000000000000" pitchFamily="2" charset="2"/>
              <a:buChar char="v"/>
            </a:pPr>
            <a:r>
              <a:rPr lang="en-US" sz="2800" dirty="0">
                <a:solidFill>
                  <a:schemeClr val="tx1"/>
                </a:solidFill>
              </a:rPr>
              <a:t>Cyber stalkers use email, instant messages, phone calls, and other communication devices to stalk, whether it takes the form of sexual harassment, inappropriate contact, or just plain annoying attention to your life and your family's activities.</a:t>
            </a:r>
          </a:p>
          <a:p>
            <a:pPr marL="457200" indent="-457200" algn="just">
              <a:buClr>
                <a:schemeClr val="tx1"/>
              </a:buClr>
              <a:buSzPct val="71000"/>
              <a:buFont typeface="Wingdings" panose="05000000000000000000" pitchFamily="2" charset="2"/>
              <a:buChar char="v"/>
            </a:pPr>
            <a:r>
              <a:rPr lang="en-US" sz="2800" dirty="0">
                <a:solidFill>
                  <a:schemeClr val="tx1"/>
                </a:solidFill>
              </a:rPr>
              <a:t>Kids use the term "stalking" to describe following someone's activities via their social network. </a:t>
            </a:r>
          </a:p>
        </p:txBody>
      </p:sp>
    </p:spTree>
    <p:extLst>
      <p:ext uri="{BB962C8B-B14F-4D97-AF65-F5344CB8AC3E}">
        <p14:creationId xmlns:p14="http://schemas.microsoft.com/office/powerpoint/2010/main" val="747292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Cyber Stalking and Online Scams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lnSpcReduction="20000"/>
          </a:bodyPr>
          <a:lstStyle/>
          <a:p>
            <a:pPr marL="457200" indent="-457200" algn="just">
              <a:buClr>
                <a:schemeClr val="tx1"/>
              </a:buClr>
              <a:buSzPct val="71000"/>
              <a:buFont typeface="Wingdings" panose="05000000000000000000" pitchFamily="2" charset="2"/>
              <a:buChar char="v"/>
            </a:pPr>
            <a:r>
              <a:rPr lang="en-US" sz="2800" dirty="0">
                <a:solidFill>
                  <a:srgbClr val="FF0000"/>
                </a:solidFill>
              </a:rPr>
              <a:t>Online scam </a:t>
            </a:r>
            <a:r>
              <a:rPr lang="en-US" sz="2800" dirty="0">
                <a:solidFill>
                  <a:schemeClr val="tx1"/>
                </a:solidFill>
              </a:rPr>
              <a:t>or Internet fraud is the use of Internet services or software with Internet access to defraud victims or to otherwise take advantage of them; for example, by stealing personal information, which can even lead to identity theft. </a:t>
            </a:r>
          </a:p>
          <a:p>
            <a:pPr marL="457200" indent="-457200" algn="just">
              <a:buClr>
                <a:schemeClr val="tx1"/>
              </a:buClr>
              <a:buSzPct val="71000"/>
              <a:buFont typeface="Wingdings" panose="05000000000000000000" pitchFamily="2" charset="2"/>
              <a:buChar char="v"/>
            </a:pPr>
            <a:r>
              <a:rPr lang="en-US" sz="2800" dirty="0">
                <a:solidFill>
                  <a:schemeClr val="tx1"/>
                </a:solidFill>
              </a:rPr>
              <a:t>A very common form of Internet fraud is the distribution of rogue security software. </a:t>
            </a:r>
          </a:p>
          <a:p>
            <a:pPr marL="457200" indent="-457200" algn="just">
              <a:buClr>
                <a:schemeClr val="tx1"/>
              </a:buClr>
              <a:buSzPct val="71000"/>
              <a:buFont typeface="Wingdings" panose="05000000000000000000" pitchFamily="2" charset="2"/>
              <a:buChar char="v"/>
            </a:pPr>
            <a:r>
              <a:rPr lang="en-US" sz="2800" dirty="0">
                <a:solidFill>
                  <a:schemeClr val="tx1"/>
                </a:solidFill>
              </a:rPr>
              <a:t>Internet services can be used to present fraudulent solicitations to prospective victims, to conduct fraudulent transactions, or to transmit the proceeds of fraud to financial institutions or to others connected with the scheme.</a:t>
            </a:r>
          </a:p>
          <a:p>
            <a:pPr marL="457200" indent="-457200" algn="just">
              <a:buClr>
                <a:schemeClr val="tx1"/>
              </a:buClr>
              <a:buSzPct val="71000"/>
              <a:buFont typeface="Wingdings" panose="05000000000000000000" pitchFamily="2" charset="2"/>
              <a:buChar char="v"/>
            </a:pPr>
            <a:r>
              <a:rPr lang="en-US" sz="2800" dirty="0">
                <a:solidFill>
                  <a:schemeClr val="tx1"/>
                </a:solidFill>
              </a:rPr>
              <a:t>Internet fraud can occur in chat rooms, email, message boards, or on websites</a:t>
            </a:r>
          </a:p>
        </p:txBody>
      </p:sp>
    </p:spTree>
    <p:extLst>
      <p:ext uri="{BB962C8B-B14F-4D97-AF65-F5344CB8AC3E}">
        <p14:creationId xmlns:p14="http://schemas.microsoft.com/office/powerpoint/2010/main" val="1596591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Spams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Spam is flooding the Internet with many copies of the same message, in an attempt to force the message on people who would not otherwise choose to receive it. </a:t>
            </a:r>
          </a:p>
          <a:p>
            <a:pPr marL="457200" indent="-457200" algn="just">
              <a:buClr>
                <a:schemeClr val="tx1"/>
              </a:buClr>
              <a:buSzPct val="71000"/>
              <a:buFont typeface="Wingdings" panose="05000000000000000000" pitchFamily="2" charset="2"/>
              <a:buChar char="v"/>
            </a:pPr>
            <a:r>
              <a:rPr lang="en-US" sz="2800" dirty="0">
                <a:solidFill>
                  <a:schemeClr val="tx1"/>
                </a:solidFill>
              </a:rPr>
              <a:t>Most spam is commercial advertising, often for dubious products, get-rich-quick schemes.</a:t>
            </a:r>
          </a:p>
          <a:p>
            <a:pPr marL="457200" indent="-457200" algn="just">
              <a:buClr>
                <a:schemeClr val="tx1"/>
              </a:buClr>
              <a:buSzPct val="71000"/>
              <a:buFont typeface="Wingdings" panose="05000000000000000000" pitchFamily="2" charset="2"/>
              <a:buChar char="v"/>
            </a:pPr>
            <a:r>
              <a:rPr lang="en-US" sz="2800" dirty="0">
                <a:solidFill>
                  <a:schemeClr val="tx1"/>
                </a:solidFill>
              </a:rPr>
              <a:t>There are two main types of spam, and they have different effects on Internet users.</a:t>
            </a:r>
          </a:p>
          <a:p>
            <a:pPr marL="914389" lvl="1" indent="-457200" algn="just">
              <a:buClr>
                <a:schemeClr val="tx1"/>
              </a:buClr>
              <a:buSzPct val="71000"/>
              <a:buFont typeface="Wingdings" panose="05000000000000000000" pitchFamily="2" charset="2"/>
              <a:buChar char="v"/>
            </a:pPr>
            <a:r>
              <a:rPr lang="en-US" sz="2600" dirty="0">
                <a:solidFill>
                  <a:schemeClr val="tx1"/>
                </a:solidFill>
              </a:rPr>
              <a:t>Usenet Spam</a:t>
            </a:r>
          </a:p>
          <a:p>
            <a:pPr marL="914389" lvl="1" indent="-457200" algn="just">
              <a:buClr>
                <a:schemeClr val="tx1"/>
              </a:buClr>
              <a:buSzPct val="71000"/>
              <a:buFont typeface="Wingdings" panose="05000000000000000000" pitchFamily="2" charset="2"/>
              <a:buChar char="v"/>
            </a:pPr>
            <a:r>
              <a:rPr lang="en-US" sz="2600" dirty="0">
                <a:solidFill>
                  <a:schemeClr val="tx1"/>
                </a:solidFill>
              </a:rPr>
              <a:t>Email Spam</a:t>
            </a:r>
          </a:p>
        </p:txBody>
      </p:sp>
    </p:spTree>
    <p:extLst>
      <p:ext uri="{BB962C8B-B14F-4D97-AF65-F5344CB8AC3E}">
        <p14:creationId xmlns:p14="http://schemas.microsoft.com/office/powerpoint/2010/main" val="2837941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6" y="450387"/>
            <a:ext cx="8352763"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Malicious Programs: Viruses, Worms, Trojan Horses</a:t>
            </a:r>
          </a:p>
        </p:txBody>
      </p:sp>
      <p:sp>
        <p:nvSpPr>
          <p:cNvPr id="7" name="Subtitle 2">
            <a:extLst>
              <a:ext uri="{FF2B5EF4-FFF2-40B4-BE49-F238E27FC236}">
                <a16:creationId xmlns:a16="http://schemas.microsoft.com/office/drawing/2014/main" id="{5E05675C-167D-4B32-A956-E844AFDE0F7A}"/>
              </a:ext>
            </a:extLst>
          </p:cNvPr>
          <p:cNvSpPr>
            <a:spLocks noGrp="1"/>
          </p:cNvSpPr>
          <p:nvPr>
            <p:ph type="subTitle" idx="1"/>
          </p:nvPr>
        </p:nvSpPr>
        <p:spPr>
          <a:xfrm>
            <a:off x="1281567" y="1139688"/>
            <a:ext cx="8352762" cy="5446642"/>
          </a:xfrm>
        </p:spPr>
        <p:txBody>
          <a:bodyPr>
            <a:normAutofit fontScale="92500" lnSpcReduction="20000"/>
          </a:bodyPr>
          <a:lstStyle/>
          <a:p>
            <a:pPr algn="just">
              <a:buClr>
                <a:schemeClr val="tx1"/>
              </a:buClr>
              <a:buSzPct val="71000"/>
            </a:pPr>
            <a:r>
              <a:rPr lang="en-US" sz="2800" b="1" dirty="0">
                <a:solidFill>
                  <a:schemeClr val="tx1"/>
                </a:solidFill>
              </a:rPr>
              <a:t>Malicious Programs</a:t>
            </a:r>
          </a:p>
          <a:p>
            <a:pPr marL="457200" indent="-457200" algn="just">
              <a:buClr>
                <a:schemeClr val="tx1"/>
              </a:buClr>
              <a:buSzPct val="71000"/>
              <a:buFont typeface="Wingdings" panose="05000000000000000000" pitchFamily="2" charset="2"/>
              <a:buChar char="v"/>
            </a:pPr>
            <a:r>
              <a:rPr lang="en-US" sz="2800" dirty="0">
                <a:solidFill>
                  <a:schemeClr val="tx1"/>
                </a:solidFill>
              </a:rPr>
              <a:t>Malicious Programs or Malicious software (malware) is any software that gives partial to full control of your computer to do whatever the malware creator wants. </a:t>
            </a:r>
          </a:p>
          <a:p>
            <a:pPr marL="457200" indent="-457200" algn="just">
              <a:buClr>
                <a:schemeClr val="tx1"/>
              </a:buClr>
              <a:buSzPct val="71000"/>
              <a:buFont typeface="Wingdings" panose="05000000000000000000" pitchFamily="2" charset="2"/>
              <a:buChar char="v"/>
            </a:pPr>
            <a:r>
              <a:rPr lang="en-US" sz="2800" dirty="0">
                <a:solidFill>
                  <a:schemeClr val="tx1"/>
                </a:solidFill>
              </a:rPr>
              <a:t>Most malware requires the user to initiate it’s operation. </a:t>
            </a:r>
          </a:p>
          <a:p>
            <a:pPr marL="457200" indent="-457200" algn="just">
              <a:buClr>
                <a:schemeClr val="tx1"/>
              </a:buClr>
              <a:buSzPct val="71000"/>
              <a:buFont typeface="Wingdings" panose="05000000000000000000" pitchFamily="2" charset="2"/>
              <a:buChar char="v"/>
            </a:pPr>
            <a:r>
              <a:rPr lang="en-US" sz="2800" dirty="0">
                <a:solidFill>
                  <a:schemeClr val="tx1"/>
                </a:solidFill>
              </a:rPr>
              <a:t>Malware types can be categorized as follows: </a:t>
            </a:r>
          </a:p>
          <a:p>
            <a:pPr marL="914389" lvl="1" indent="-457200" algn="just">
              <a:buClr>
                <a:schemeClr val="tx1"/>
              </a:buClr>
              <a:buSzPct val="71000"/>
              <a:buFont typeface="Wingdings" panose="05000000000000000000" pitchFamily="2" charset="2"/>
              <a:buChar char="v"/>
            </a:pPr>
            <a:r>
              <a:rPr lang="en-US" sz="2600" dirty="0">
                <a:solidFill>
                  <a:schemeClr val="tx1"/>
                </a:solidFill>
              </a:rPr>
              <a:t>Viruses, worms, Trojans, and backdoors seek to infect and spread themselves to create more havoc. </a:t>
            </a:r>
          </a:p>
          <a:p>
            <a:pPr marL="914389" lvl="1" indent="-457200" algn="just">
              <a:buClr>
                <a:schemeClr val="tx1"/>
              </a:buClr>
              <a:buSzPct val="71000"/>
              <a:buFont typeface="Wingdings" panose="05000000000000000000" pitchFamily="2" charset="2"/>
              <a:buChar char="v"/>
            </a:pPr>
            <a:r>
              <a:rPr lang="en-US" sz="2600" dirty="0">
                <a:solidFill>
                  <a:schemeClr val="tx1"/>
                </a:solidFill>
              </a:rPr>
              <a:t>Adware and spyware seek to embed themselves to watch what the user does and act upon that data. </a:t>
            </a:r>
          </a:p>
          <a:p>
            <a:pPr marL="914389" lvl="1" indent="-457200" algn="just">
              <a:buClr>
                <a:schemeClr val="tx1"/>
              </a:buClr>
              <a:buSzPct val="71000"/>
              <a:buFont typeface="Wingdings" panose="05000000000000000000" pitchFamily="2" charset="2"/>
              <a:buChar char="v"/>
            </a:pPr>
            <a:r>
              <a:rPr lang="en-US" sz="2600" dirty="0">
                <a:solidFill>
                  <a:schemeClr val="tx1"/>
                </a:solidFill>
              </a:rPr>
              <a:t>Root kits seek to give full access of your machine to the attacker to do what they want.</a:t>
            </a:r>
          </a:p>
        </p:txBody>
      </p:sp>
    </p:spTree>
    <p:extLst>
      <p:ext uri="{BB962C8B-B14F-4D97-AF65-F5344CB8AC3E}">
        <p14:creationId xmlns:p14="http://schemas.microsoft.com/office/powerpoint/2010/main" val="4286971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6" y="450387"/>
            <a:ext cx="8352763"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Malicious Programs: Viruses, Worms, Trojan Horses</a:t>
            </a:r>
          </a:p>
        </p:txBody>
      </p:sp>
      <p:sp>
        <p:nvSpPr>
          <p:cNvPr id="7" name="Subtitle 2">
            <a:extLst>
              <a:ext uri="{FF2B5EF4-FFF2-40B4-BE49-F238E27FC236}">
                <a16:creationId xmlns:a16="http://schemas.microsoft.com/office/drawing/2014/main" id="{5E05675C-167D-4B32-A956-E844AFDE0F7A}"/>
              </a:ext>
            </a:extLst>
          </p:cNvPr>
          <p:cNvSpPr>
            <a:spLocks noGrp="1"/>
          </p:cNvSpPr>
          <p:nvPr>
            <p:ph type="subTitle" idx="1"/>
          </p:nvPr>
        </p:nvSpPr>
        <p:spPr>
          <a:xfrm>
            <a:off x="1281567" y="1139688"/>
            <a:ext cx="8352762" cy="5446642"/>
          </a:xfrm>
        </p:spPr>
        <p:txBody>
          <a:bodyPr>
            <a:normAutofit/>
          </a:bodyPr>
          <a:lstStyle/>
          <a:p>
            <a:pPr algn="just">
              <a:buClr>
                <a:schemeClr val="tx1"/>
              </a:buClr>
              <a:buSzPct val="71000"/>
            </a:pPr>
            <a:r>
              <a:rPr lang="en-US" sz="2800" b="1" dirty="0">
                <a:solidFill>
                  <a:schemeClr val="tx1"/>
                </a:solidFill>
              </a:rPr>
              <a:t>Virus</a:t>
            </a:r>
          </a:p>
          <a:p>
            <a:pPr marL="457200" indent="-457200" algn="just">
              <a:buClr>
                <a:schemeClr val="tx1"/>
              </a:buClr>
              <a:buSzPct val="71000"/>
              <a:buFont typeface="Wingdings" panose="05000000000000000000" pitchFamily="2" charset="2"/>
              <a:buChar char="v"/>
            </a:pPr>
            <a:r>
              <a:rPr lang="en-US" sz="2800" dirty="0">
                <a:solidFill>
                  <a:schemeClr val="tx1"/>
                </a:solidFill>
              </a:rPr>
              <a:t>Virus is a computer program or software that connect itself to another software or computer program to harm computer system. </a:t>
            </a:r>
          </a:p>
          <a:p>
            <a:pPr marL="457200" indent="-457200" algn="just">
              <a:buClr>
                <a:schemeClr val="tx1"/>
              </a:buClr>
              <a:buSzPct val="71000"/>
              <a:buFont typeface="Wingdings" panose="05000000000000000000" pitchFamily="2" charset="2"/>
              <a:buChar char="v"/>
            </a:pPr>
            <a:r>
              <a:rPr lang="en-US" sz="2800" dirty="0">
                <a:solidFill>
                  <a:schemeClr val="tx1"/>
                </a:solidFill>
              </a:rPr>
              <a:t>When the computer program runs attached with virus it perform some action such as deleting a file from the computer system. </a:t>
            </a:r>
          </a:p>
          <a:p>
            <a:pPr marL="457200" indent="-457200" algn="just">
              <a:buClr>
                <a:schemeClr val="tx1"/>
              </a:buClr>
              <a:buSzPct val="71000"/>
              <a:buFont typeface="Wingdings" panose="05000000000000000000" pitchFamily="2" charset="2"/>
              <a:buChar char="v"/>
            </a:pPr>
            <a:r>
              <a:rPr lang="en-US" sz="2800" dirty="0">
                <a:solidFill>
                  <a:schemeClr val="tx1"/>
                </a:solidFill>
              </a:rPr>
              <a:t>Virus can’t be controlled by remote.</a:t>
            </a:r>
            <a:endParaRPr lang="en-US" sz="2600" dirty="0">
              <a:solidFill>
                <a:schemeClr val="tx1"/>
              </a:solidFill>
            </a:endParaRPr>
          </a:p>
        </p:txBody>
      </p:sp>
    </p:spTree>
    <p:extLst>
      <p:ext uri="{BB962C8B-B14F-4D97-AF65-F5344CB8AC3E}">
        <p14:creationId xmlns:p14="http://schemas.microsoft.com/office/powerpoint/2010/main" val="859300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6" y="450387"/>
            <a:ext cx="8352763"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Malicious Programs: Viruses, Worms, Trojan Horses</a:t>
            </a:r>
          </a:p>
        </p:txBody>
      </p:sp>
      <p:sp>
        <p:nvSpPr>
          <p:cNvPr id="7" name="Subtitle 2">
            <a:extLst>
              <a:ext uri="{FF2B5EF4-FFF2-40B4-BE49-F238E27FC236}">
                <a16:creationId xmlns:a16="http://schemas.microsoft.com/office/drawing/2014/main" id="{5E05675C-167D-4B32-A956-E844AFDE0F7A}"/>
              </a:ext>
            </a:extLst>
          </p:cNvPr>
          <p:cNvSpPr>
            <a:spLocks noGrp="1"/>
          </p:cNvSpPr>
          <p:nvPr>
            <p:ph type="subTitle" idx="1"/>
          </p:nvPr>
        </p:nvSpPr>
        <p:spPr>
          <a:xfrm>
            <a:off x="1281567" y="1139688"/>
            <a:ext cx="8352762" cy="5446642"/>
          </a:xfrm>
        </p:spPr>
        <p:txBody>
          <a:bodyPr>
            <a:normAutofit/>
          </a:bodyPr>
          <a:lstStyle/>
          <a:p>
            <a:pPr algn="just">
              <a:buClr>
                <a:schemeClr val="tx1"/>
              </a:buClr>
              <a:buSzPct val="71000"/>
            </a:pPr>
            <a:r>
              <a:rPr lang="en-US" sz="2800" b="1" dirty="0">
                <a:solidFill>
                  <a:schemeClr val="tx1"/>
                </a:solidFill>
              </a:rPr>
              <a:t>Worms</a:t>
            </a:r>
          </a:p>
          <a:p>
            <a:pPr marL="457200" indent="-457200" algn="just">
              <a:buClr>
                <a:schemeClr val="tx1"/>
              </a:buClr>
              <a:buSzPct val="71000"/>
              <a:buFont typeface="Wingdings" panose="05000000000000000000" pitchFamily="2" charset="2"/>
              <a:buChar char="v"/>
            </a:pPr>
            <a:r>
              <a:rPr lang="en-US" sz="2800" dirty="0">
                <a:solidFill>
                  <a:schemeClr val="tx1"/>
                </a:solidFill>
              </a:rPr>
              <a:t>Worms is also a computer program like virus but it does not modify the program. </a:t>
            </a:r>
          </a:p>
          <a:p>
            <a:pPr marL="457200" indent="-457200" algn="just">
              <a:buClr>
                <a:schemeClr val="tx1"/>
              </a:buClr>
              <a:buSzPct val="71000"/>
              <a:buFont typeface="Wingdings" panose="05000000000000000000" pitchFamily="2" charset="2"/>
              <a:buChar char="v"/>
            </a:pPr>
            <a:r>
              <a:rPr lang="en-US" sz="2800" dirty="0">
                <a:solidFill>
                  <a:schemeClr val="tx1"/>
                </a:solidFill>
              </a:rPr>
              <a:t>It replicate itself more and more to cause slow down the computer system. </a:t>
            </a:r>
          </a:p>
          <a:p>
            <a:pPr marL="457200" indent="-457200" algn="just">
              <a:buClr>
                <a:schemeClr val="tx1"/>
              </a:buClr>
              <a:buSzPct val="71000"/>
              <a:buFont typeface="Wingdings" panose="05000000000000000000" pitchFamily="2" charset="2"/>
              <a:buChar char="v"/>
            </a:pPr>
            <a:r>
              <a:rPr lang="en-US" sz="2800" dirty="0">
                <a:solidFill>
                  <a:schemeClr val="tx1"/>
                </a:solidFill>
              </a:rPr>
              <a:t>Worms can be controlled by remote.</a:t>
            </a:r>
            <a:endParaRPr lang="en-US" sz="2600" dirty="0">
              <a:solidFill>
                <a:schemeClr val="tx1"/>
              </a:solidFill>
            </a:endParaRPr>
          </a:p>
        </p:txBody>
      </p:sp>
    </p:spTree>
    <p:extLst>
      <p:ext uri="{BB962C8B-B14F-4D97-AF65-F5344CB8AC3E}">
        <p14:creationId xmlns:p14="http://schemas.microsoft.com/office/powerpoint/2010/main" val="1008111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6" y="450387"/>
            <a:ext cx="8352763"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Malicious Programs: Viruses, Worms, Trojan Horses</a:t>
            </a:r>
          </a:p>
        </p:txBody>
      </p:sp>
      <p:sp>
        <p:nvSpPr>
          <p:cNvPr id="7" name="Subtitle 2">
            <a:extLst>
              <a:ext uri="{FF2B5EF4-FFF2-40B4-BE49-F238E27FC236}">
                <a16:creationId xmlns:a16="http://schemas.microsoft.com/office/drawing/2014/main" id="{5E05675C-167D-4B32-A956-E844AFDE0F7A}"/>
              </a:ext>
            </a:extLst>
          </p:cNvPr>
          <p:cNvSpPr>
            <a:spLocks noGrp="1"/>
          </p:cNvSpPr>
          <p:nvPr>
            <p:ph type="subTitle" idx="1"/>
          </p:nvPr>
        </p:nvSpPr>
        <p:spPr>
          <a:xfrm>
            <a:off x="1281567" y="1139688"/>
            <a:ext cx="8352762" cy="5446642"/>
          </a:xfrm>
        </p:spPr>
        <p:txBody>
          <a:bodyPr>
            <a:normAutofit/>
          </a:bodyPr>
          <a:lstStyle/>
          <a:p>
            <a:pPr algn="just">
              <a:buClr>
                <a:schemeClr val="tx1"/>
              </a:buClr>
              <a:buSzPct val="71000"/>
            </a:pPr>
            <a:r>
              <a:rPr lang="en-US" sz="2800" b="1" dirty="0">
                <a:solidFill>
                  <a:schemeClr val="tx1"/>
                </a:solidFill>
              </a:rPr>
              <a:t>Trojan Horses</a:t>
            </a:r>
          </a:p>
          <a:p>
            <a:pPr marL="457200" indent="-457200" algn="just">
              <a:buClr>
                <a:schemeClr val="tx1"/>
              </a:buClr>
              <a:buSzPct val="71000"/>
              <a:buFont typeface="Wingdings" panose="05000000000000000000" pitchFamily="2" charset="2"/>
              <a:buChar char="v"/>
            </a:pPr>
            <a:r>
              <a:rPr lang="en-US" sz="2800" dirty="0">
                <a:solidFill>
                  <a:schemeClr val="tx1"/>
                </a:solidFill>
              </a:rPr>
              <a:t>Trojan Horse does not replicate itself like virus and worms. </a:t>
            </a:r>
          </a:p>
          <a:p>
            <a:pPr marL="457200" indent="-457200" algn="just">
              <a:buClr>
                <a:schemeClr val="tx1"/>
              </a:buClr>
              <a:buSzPct val="71000"/>
              <a:buFont typeface="Wingdings" panose="05000000000000000000" pitchFamily="2" charset="2"/>
              <a:buChar char="v"/>
            </a:pPr>
            <a:r>
              <a:rPr lang="en-US" sz="2800" dirty="0">
                <a:solidFill>
                  <a:schemeClr val="tx1"/>
                </a:solidFill>
              </a:rPr>
              <a:t>It is a hidden piece of code which steal the important information of user. </a:t>
            </a:r>
          </a:p>
          <a:p>
            <a:pPr marL="457200" indent="-457200" algn="just">
              <a:buClr>
                <a:schemeClr val="tx1"/>
              </a:buClr>
              <a:buSzPct val="71000"/>
              <a:buFont typeface="Wingdings" panose="05000000000000000000" pitchFamily="2" charset="2"/>
              <a:buChar char="v"/>
            </a:pPr>
            <a:r>
              <a:rPr lang="en-US" sz="2800" dirty="0">
                <a:solidFill>
                  <a:schemeClr val="tx1"/>
                </a:solidFill>
              </a:rPr>
              <a:t>For example, Trojan horse software observe the e-mail ID and password while entering in web browser for logging.</a:t>
            </a:r>
            <a:endParaRPr lang="en-US" sz="2600" dirty="0">
              <a:solidFill>
                <a:schemeClr val="tx1"/>
              </a:solidFill>
            </a:endParaRPr>
          </a:p>
        </p:txBody>
      </p:sp>
    </p:spTree>
    <p:extLst>
      <p:ext uri="{BB962C8B-B14F-4D97-AF65-F5344CB8AC3E}">
        <p14:creationId xmlns:p14="http://schemas.microsoft.com/office/powerpoint/2010/main" val="2488566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Cyber Terrorism</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The term cyberterrorism refers to the use of the Internet in order to perform violent actions that either threaten or result in serious bodily harm or even loss of life. </a:t>
            </a:r>
          </a:p>
          <a:p>
            <a:pPr marL="457200" indent="-457200" algn="just">
              <a:buClr>
                <a:schemeClr val="tx1"/>
              </a:buClr>
              <a:buSzPct val="71000"/>
              <a:buFont typeface="Wingdings" panose="05000000000000000000" pitchFamily="2" charset="2"/>
              <a:buChar char="v"/>
            </a:pPr>
            <a:r>
              <a:rPr lang="en-US" sz="2800" dirty="0">
                <a:solidFill>
                  <a:schemeClr val="tx1"/>
                </a:solidFill>
              </a:rPr>
              <a:t>Cyberterrorism acts often aim to achieve political or ideological advantages by means of intimidation, fear and threat.</a:t>
            </a:r>
          </a:p>
          <a:p>
            <a:pPr marL="457200" indent="-457200" algn="just">
              <a:buClr>
                <a:schemeClr val="tx1"/>
              </a:buClr>
              <a:buSzPct val="71000"/>
              <a:buFont typeface="Wingdings" panose="05000000000000000000" pitchFamily="2" charset="2"/>
              <a:buChar char="v"/>
            </a:pPr>
            <a:r>
              <a:rPr lang="en-US" sz="2800" dirty="0">
                <a:solidFill>
                  <a:schemeClr val="tx1"/>
                </a:solidFill>
              </a:rPr>
              <a:t>Cyberterrorism expands to cover the terrorist activities like intentional disruption of computer networks through using various tools like worms, viruses, phishing activities and various other malicious software and programming scripts.</a:t>
            </a:r>
          </a:p>
        </p:txBody>
      </p:sp>
    </p:spTree>
    <p:extLst>
      <p:ext uri="{BB962C8B-B14F-4D97-AF65-F5344CB8AC3E}">
        <p14:creationId xmlns:p14="http://schemas.microsoft.com/office/powerpoint/2010/main" val="1455716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Introduction to Digital Forensics</a:t>
            </a:r>
          </a:p>
        </p:txBody>
      </p:sp>
      <p:sp>
        <p:nvSpPr>
          <p:cNvPr id="6" name="Subtitle 2">
            <a:extLst>
              <a:ext uri="{FF2B5EF4-FFF2-40B4-BE49-F238E27FC236}">
                <a16:creationId xmlns:a16="http://schemas.microsoft.com/office/drawing/2014/main" id="{B94D34AC-95A7-424A-986B-2C266EC6EE83}"/>
              </a:ext>
            </a:extLst>
          </p:cNvPr>
          <p:cNvSpPr>
            <a:spLocks noGrp="1"/>
          </p:cNvSpPr>
          <p:nvPr>
            <p:ph type="subTitle" idx="1"/>
          </p:nvPr>
        </p:nvSpPr>
        <p:spPr>
          <a:xfrm>
            <a:off x="1281567" y="1139688"/>
            <a:ext cx="8094254" cy="5267925"/>
          </a:xfrm>
        </p:spPr>
        <p:txBody>
          <a:bodyPr>
            <a:normAutofit fontScale="925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rPr>
              <a:t>Digital forensics is the application of science to the identification, collection, examination, and analysis of data while preserving the integrity of the information.</a:t>
            </a:r>
          </a:p>
          <a:p>
            <a:pPr marL="457200" indent="-457200" algn="just">
              <a:buClr>
                <a:schemeClr val="tx1"/>
              </a:buClr>
              <a:buSzPct val="71000"/>
              <a:buFont typeface="Wingdings" panose="05000000000000000000" pitchFamily="2" charset="2"/>
              <a:buChar char="v"/>
            </a:pPr>
            <a:r>
              <a:rPr lang="en-US" sz="2800" dirty="0">
                <a:solidFill>
                  <a:schemeClr val="tx1"/>
                </a:solidFill>
              </a:rPr>
              <a:t>Digital forensics is the process of uncovering and interpreting electronic data. </a:t>
            </a:r>
          </a:p>
          <a:p>
            <a:pPr marL="457200" indent="-457200" algn="just">
              <a:buClr>
                <a:schemeClr val="tx1"/>
              </a:buClr>
              <a:buSzPct val="71000"/>
              <a:buFont typeface="Wingdings" panose="05000000000000000000" pitchFamily="2" charset="2"/>
              <a:buChar char="v"/>
            </a:pPr>
            <a:r>
              <a:rPr lang="en-US" sz="2800" dirty="0">
                <a:solidFill>
                  <a:schemeClr val="tx1"/>
                </a:solidFill>
              </a:rPr>
              <a:t>The goal of the process is to preserve any evidence in its most original form </a:t>
            </a:r>
          </a:p>
          <a:p>
            <a:pPr marL="914389" lvl="1" indent="-457200" algn="just">
              <a:buClr>
                <a:schemeClr val="tx1"/>
              </a:buClr>
              <a:buSzPct val="71000"/>
              <a:buFont typeface="Wingdings" panose="05000000000000000000" pitchFamily="2" charset="2"/>
              <a:buChar char="v"/>
            </a:pPr>
            <a:r>
              <a:rPr lang="en-US" sz="2600" dirty="0">
                <a:solidFill>
                  <a:schemeClr val="tx1"/>
                </a:solidFill>
              </a:rPr>
              <a:t>while performing a structured investigation by collecting, identifying and validating the digital information for the purpose of reconstructing past events often in relation to computer crime.</a:t>
            </a:r>
          </a:p>
          <a:p>
            <a:pPr marL="457200" indent="-457200" algn="just">
              <a:buClr>
                <a:schemeClr val="tx1"/>
              </a:buClr>
              <a:buSzPct val="71000"/>
              <a:buFont typeface="Wingdings" panose="05000000000000000000" pitchFamily="2" charset="2"/>
              <a:buChar char="v"/>
            </a:pPr>
            <a:r>
              <a:rPr lang="en-US" sz="2800" dirty="0">
                <a:solidFill>
                  <a:schemeClr val="tx1"/>
                </a:solidFill>
              </a:rPr>
              <a:t>The context is most often for usage of data in a court of law, though digital forensics can be used in other instances. </a:t>
            </a:r>
          </a:p>
        </p:txBody>
      </p:sp>
    </p:spTree>
    <p:extLst>
      <p:ext uri="{BB962C8B-B14F-4D97-AF65-F5344CB8AC3E}">
        <p14:creationId xmlns:p14="http://schemas.microsoft.com/office/powerpoint/2010/main" val="3914534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52870" y="2593634"/>
            <a:ext cx="5560334" cy="923330"/>
          </a:xfrm>
          <a:prstGeom prst="rect">
            <a:avLst/>
          </a:prstGeom>
          <a:noFill/>
        </p:spPr>
        <p:txBody>
          <a:bodyPr wrap="square" lIns="91440" tIns="45720" rIns="91440" bIns="45720">
            <a:spAutoFit/>
          </a:bodyPr>
          <a:lstStyle/>
          <a:p>
            <a:r>
              <a:rPr lang="en-US" sz="5400" dirty="0">
                <a:ln w="0"/>
                <a:effectLst>
                  <a:outerShdw blurRad="38100" dist="19050" dir="2700000" algn="tl" rotWithShape="0">
                    <a:schemeClr val="dk1">
                      <a:alpha val="40000"/>
                    </a:schemeClr>
                  </a:outerShdw>
                </a:effectLst>
              </a:rPr>
              <a:t>Thank You</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30731771"/>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23C86C84CA4945852CBF0CFC130390" ma:contentTypeVersion="2" ma:contentTypeDescription="Create a new document." ma:contentTypeScope="" ma:versionID="38bc4188b0c59bea1978bee81d5bf097">
  <xsd:schema xmlns:xsd="http://www.w3.org/2001/XMLSchema" xmlns:xs="http://www.w3.org/2001/XMLSchema" xmlns:p="http://schemas.microsoft.com/office/2006/metadata/properties" xmlns:ns2="df9d7280-3a70-455f-8c80-6c4d72acc3fd" targetNamespace="http://schemas.microsoft.com/office/2006/metadata/properties" ma:root="true" ma:fieldsID="4a1ed8bae86aa9a3c3a781388432c89e" ns2:_="">
    <xsd:import namespace="df9d7280-3a70-455f-8c80-6c4d72acc3f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9d7280-3a70-455f-8c80-6c4d72acc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703A31-D3E5-448A-82BE-728D8306D1D8}"/>
</file>

<file path=customXml/itemProps2.xml><?xml version="1.0" encoding="utf-8"?>
<ds:datastoreItem xmlns:ds="http://schemas.openxmlformats.org/officeDocument/2006/customXml" ds:itemID="{B94F1081-1936-47E8-92DC-17D867D45542}"/>
</file>

<file path=customXml/itemProps3.xml><?xml version="1.0" encoding="utf-8"?>
<ds:datastoreItem xmlns:ds="http://schemas.openxmlformats.org/officeDocument/2006/customXml" ds:itemID="{E624C4AD-BC11-438C-8863-3CD8649F69DF}"/>
</file>

<file path=docProps/app.xml><?xml version="1.0" encoding="utf-8"?>
<Properties xmlns="http://schemas.openxmlformats.org/officeDocument/2006/extended-properties" xmlns:vt="http://schemas.openxmlformats.org/officeDocument/2006/docPropsVTypes">
  <Template>Facet</Template>
  <TotalTime>3947</TotalTime>
  <Words>2486</Words>
  <Application>Microsoft Office PowerPoint</Application>
  <PresentationFormat>Widescreen</PresentationFormat>
  <Paragraphs>191</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Trebuchet MS</vt:lpstr>
      <vt:lpstr>Wingdings</vt:lpstr>
      <vt:lpstr>Wingdings 3</vt:lpstr>
      <vt:lpstr>Facet</vt:lpstr>
      <vt:lpstr>Chapter 7  Computer and Cyber Crimes</vt:lpstr>
      <vt:lpstr>Introduction to Computer and Cyber Crimes</vt:lpstr>
      <vt:lpstr>Introduction to Computer and Cyber Crimes</vt:lpstr>
      <vt:lpstr>Introduction to Computer and Cyber Crimes</vt:lpstr>
      <vt:lpstr>Introduction to Computer and Cyber Crimes</vt:lpstr>
      <vt:lpstr>Introduction to Computer and Cyber Crimes</vt:lpstr>
      <vt:lpstr>Types of Computer Crimes</vt:lpstr>
      <vt:lpstr>Traditional Computer Crimes and Software Piracy</vt:lpstr>
      <vt:lpstr>Traditional Computer Crimes and Software Piracy</vt:lpstr>
      <vt:lpstr>Computer Frauds and Digital Forgery</vt:lpstr>
      <vt:lpstr>Computer Frauds and Digital Forgery</vt:lpstr>
      <vt:lpstr>Phishing</vt:lpstr>
      <vt:lpstr>Unauthorized Access : Hacking, Cracking</vt:lpstr>
      <vt:lpstr>Unauthorized Access : Hacking, Cracking</vt:lpstr>
      <vt:lpstr>Unauthorized Access : Hacking, Cracking</vt:lpstr>
      <vt:lpstr>Denial of Service</vt:lpstr>
      <vt:lpstr>Computer Invasion of Privacy</vt:lpstr>
      <vt:lpstr>Harmful Content Crime</vt:lpstr>
      <vt:lpstr>Online Harassment</vt:lpstr>
      <vt:lpstr>Cyber Stalking and Online Scams</vt:lpstr>
      <vt:lpstr>Cyber Stalking and Online Scams</vt:lpstr>
      <vt:lpstr>Spams</vt:lpstr>
      <vt:lpstr>Malicious Programs: Viruses, Worms, Trojan Horses</vt:lpstr>
      <vt:lpstr>Malicious Programs: Viruses, Worms, Trojan Horses</vt:lpstr>
      <vt:lpstr>Malicious Programs: Viruses, Worms, Trojan Horses</vt:lpstr>
      <vt:lpstr>Malicious Programs: Viruses, Worms, Trojan Horses</vt:lpstr>
      <vt:lpstr>Cyber Terrorism</vt:lpstr>
      <vt:lpstr>Introduction to Digital Forensics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Sunil Bahadur Bist</dc:creator>
  <cp:lastModifiedBy>Ravi Khadka</cp:lastModifiedBy>
  <cp:revision>680</cp:revision>
  <dcterms:created xsi:type="dcterms:W3CDTF">2017-09-13T07:21:00Z</dcterms:created>
  <dcterms:modified xsi:type="dcterms:W3CDTF">2020-11-09T13:13:41Z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0x0101004423C86C84CA4945852CBF0CFC130390</vt:lpwstr>
  </property>
</Properties>
</file>