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6858000" cx="12192000"/>
  <p:notesSz cx="6858000" cy="9144000"/>
  <p:embeddedFontLst>
    <p:embeddedFont>
      <p:font typeface="Arimo"/>
      <p:regular r:id="rId43"/>
      <p:bold r:id="rId44"/>
      <p:italic r:id="rId45"/>
      <p:boldItalic r:id="rId46"/>
    </p:embeddedFont>
    <p:embeddedFont>
      <p:font typeface="Varela"/>
      <p:regular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8" roundtripDataSignature="AMtx7miqiYSMtkzNXfe7OeOWLupTW8Di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BF63C0D-CB3F-4162-8D00-9D047F4488D4}">
  <a:tblStyle styleId="{7BF63C0D-CB3F-4162-8D00-9D047F4488D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Arimo-bold.fntdata"/><Relationship Id="rId21" Type="http://schemas.openxmlformats.org/officeDocument/2006/relationships/slide" Target="slides/slide15.xml"/><Relationship Id="rId43" Type="http://schemas.openxmlformats.org/officeDocument/2006/relationships/font" Target="fonts/Arimo-regular.fntdata"/><Relationship Id="rId24" Type="http://schemas.openxmlformats.org/officeDocument/2006/relationships/slide" Target="slides/slide18.xml"/><Relationship Id="rId46" Type="http://schemas.openxmlformats.org/officeDocument/2006/relationships/font" Target="fonts/Arimo-boldItalic.fntdata"/><Relationship Id="rId23" Type="http://schemas.openxmlformats.org/officeDocument/2006/relationships/slide" Target="slides/slide17.xml"/><Relationship Id="rId45" Type="http://schemas.openxmlformats.org/officeDocument/2006/relationships/font" Target="fonts/Arim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Varela-regular.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38"/>
          <p:cNvGrpSpPr/>
          <p:nvPr/>
        </p:nvGrpSpPr>
        <p:grpSpPr>
          <a:xfrm>
            <a:off x="0" y="-8467"/>
            <a:ext cx="12192000" cy="6866467"/>
            <a:chOff x="0" y="-8467"/>
            <a:chExt cx="12192000" cy="6866467"/>
          </a:xfrm>
        </p:grpSpPr>
        <p:cxnSp>
          <p:nvCxnSpPr>
            <p:cNvPr id="28" name="Google Shape;28;p38"/>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29" name="Google Shape;29;p38"/>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30" name="Google Shape;30;p38"/>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31" name="Google Shape;31;p38"/>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2" name="Google Shape;32;p38"/>
            <p:cNvSpPr/>
            <p:nvPr/>
          </p:nvSpPr>
          <p:spPr>
            <a:xfrm>
              <a:off x="8932333" y="3048000"/>
              <a:ext cx="3259667" cy="3810000"/>
            </a:xfrm>
            <a:prstGeom prst="triangle">
              <a:avLst>
                <a:gd fmla="val 100000" name="adj"/>
              </a:avLst>
            </a:pr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8"/>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F49C00">
                <a:alpha val="69803"/>
              </a:srgbClr>
            </a:solidFill>
            <a:ln>
              <a:noFill/>
            </a:ln>
          </p:spPr>
        </p:sp>
        <p:sp>
          <p:nvSpPr>
            <p:cNvPr id="34" name="Google Shape;34;p38"/>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F19279">
                <a:alpha val="69803"/>
              </a:srgbClr>
            </a:solidFill>
            <a:ln>
              <a:noFill/>
            </a:ln>
          </p:spPr>
        </p:sp>
        <p:sp>
          <p:nvSpPr>
            <p:cNvPr id="35" name="Google Shape;35;p38"/>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36" name="Google Shape;36;p38"/>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8"/>
            <p:cNvSpPr/>
            <p:nvPr/>
          </p:nvSpPr>
          <p:spPr>
            <a:xfrm rot="10800000">
              <a:off x="0" y="0"/>
              <a:ext cx="842596" cy="5666154"/>
            </a:xfrm>
            <a:prstGeom prst="triangle">
              <a:avLst>
                <a:gd fmla="val 100000" name="adj"/>
              </a:avLst>
            </a:prstGeom>
            <a:solidFill>
              <a:schemeClr val="accent1">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 name="Google Shape;38;p38"/>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8"/>
          <p:cNvSpPr txBox="1"/>
          <p:nvPr>
            <p:ph idx="1" type="subTitle"/>
          </p:nvPr>
        </p:nvSpPr>
        <p:spPr>
          <a:xfrm>
            <a:off x="1507067" y="4050837"/>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40" name="Google Shape;40;p38"/>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8"/>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8"/>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39"/>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9"/>
          <p:cNvSpPr txBox="1"/>
          <p:nvPr>
            <p:ph idx="1" type="body"/>
          </p:nvPr>
        </p:nvSpPr>
        <p:spPr>
          <a:xfrm>
            <a:off x="677335" y="2160590"/>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6" name="Google Shape;46;p39"/>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9"/>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9"/>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40"/>
          <p:cNvSpPr txBox="1"/>
          <p:nvPr>
            <p:ph type="title"/>
          </p:nvPr>
        </p:nvSpPr>
        <p:spPr>
          <a:xfrm>
            <a:off x="677335" y="2700871"/>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0"/>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2" name="Google Shape;52;p40"/>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0"/>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0"/>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41"/>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1"/>
          <p:cNvSpPr txBox="1"/>
          <p:nvPr>
            <p:ph idx="1" type="body"/>
          </p:nvPr>
        </p:nvSpPr>
        <p:spPr>
          <a:xfrm>
            <a:off x="677336"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8" name="Google Shape;58;p41"/>
          <p:cNvSpPr txBox="1"/>
          <p:nvPr>
            <p:ph idx="2" type="body"/>
          </p:nvPr>
        </p:nvSpPr>
        <p:spPr>
          <a:xfrm>
            <a:off x="5089969" y="2160590"/>
            <a:ext cx="4184035"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9" name="Google Shape;59;p41"/>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1"/>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1"/>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42"/>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2"/>
          <p:cNvSpPr txBox="1"/>
          <p:nvPr>
            <p:ph idx="1" type="body"/>
          </p:nvPr>
        </p:nvSpPr>
        <p:spPr>
          <a:xfrm>
            <a:off x="675747"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5" name="Google Shape;65;p42"/>
          <p:cNvSpPr txBox="1"/>
          <p:nvPr>
            <p:ph idx="2" type="body"/>
          </p:nvPr>
        </p:nvSpPr>
        <p:spPr>
          <a:xfrm>
            <a:off x="675747" y="2737249"/>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42"/>
          <p:cNvSpPr txBox="1"/>
          <p:nvPr>
            <p:ph idx="3" type="body"/>
          </p:nvPr>
        </p:nvSpPr>
        <p:spPr>
          <a:xfrm>
            <a:off x="5088384" y="2160983"/>
            <a:ext cx="418561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7" name="Google Shape;67;p42"/>
          <p:cNvSpPr txBox="1"/>
          <p:nvPr>
            <p:ph idx="4" type="body"/>
          </p:nvPr>
        </p:nvSpPr>
        <p:spPr>
          <a:xfrm>
            <a:off x="5088386" y="2737249"/>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42"/>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2"/>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2"/>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43"/>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3"/>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3"/>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3"/>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44"/>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4"/>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4"/>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45"/>
          <p:cNvSpPr txBox="1"/>
          <p:nvPr>
            <p:ph type="title"/>
          </p:nvPr>
        </p:nvSpPr>
        <p:spPr>
          <a:xfrm>
            <a:off x="677335"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5"/>
          <p:cNvSpPr txBox="1"/>
          <p:nvPr>
            <p:ph idx="1" type="body"/>
          </p:nvPr>
        </p:nvSpPr>
        <p:spPr>
          <a:xfrm>
            <a:off x="4760463" y="514928"/>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3" name="Google Shape;83;p45"/>
          <p:cNvSpPr txBox="1"/>
          <p:nvPr>
            <p:ph idx="2" type="body"/>
          </p:nvPr>
        </p:nvSpPr>
        <p:spPr>
          <a:xfrm>
            <a:off x="677335"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84" name="Google Shape;84;p45"/>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5"/>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5"/>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7" name="Shape 87"/>
        <p:cNvGrpSpPr/>
        <p:nvPr/>
      </p:nvGrpSpPr>
      <p:grpSpPr>
        <a:xfrm>
          <a:off x="0" y="0"/>
          <a:ext cx="0" cy="0"/>
          <a:chOff x="0" y="0"/>
          <a:chExt cx="0" cy="0"/>
        </a:xfrm>
      </p:grpSpPr>
      <p:sp>
        <p:nvSpPr>
          <p:cNvPr id="88" name="Google Shape;88;p46"/>
          <p:cNvSpPr txBox="1"/>
          <p:nvPr>
            <p:ph type="title"/>
          </p:nvPr>
        </p:nvSpPr>
        <p:spPr>
          <a:xfrm>
            <a:off x="677336"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6"/>
          <p:cNvSpPr/>
          <p:nvPr>
            <p:ph idx="2" type="pic"/>
          </p:nvPr>
        </p:nvSpPr>
        <p:spPr>
          <a:xfrm>
            <a:off x="677335" y="609600"/>
            <a:ext cx="8596668" cy="3845718"/>
          </a:xfrm>
          <a:prstGeom prst="rect">
            <a:avLst/>
          </a:prstGeom>
          <a:noFill/>
          <a:ln>
            <a:noFill/>
          </a:ln>
        </p:spPr>
      </p:sp>
      <p:sp>
        <p:nvSpPr>
          <p:cNvPr id="90" name="Google Shape;90;p46"/>
          <p:cNvSpPr txBox="1"/>
          <p:nvPr>
            <p:ph idx="1" type="body"/>
          </p:nvPr>
        </p:nvSpPr>
        <p:spPr>
          <a:xfrm>
            <a:off x="677336"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46"/>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6"/>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6"/>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4" name="Shape 94"/>
        <p:cNvGrpSpPr/>
        <p:nvPr/>
      </p:nvGrpSpPr>
      <p:grpSpPr>
        <a:xfrm>
          <a:off x="0" y="0"/>
          <a:ext cx="0" cy="0"/>
          <a:chOff x="0" y="0"/>
          <a:chExt cx="0" cy="0"/>
        </a:xfrm>
      </p:grpSpPr>
      <p:sp>
        <p:nvSpPr>
          <p:cNvPr id="95" name="Google Shape;95;p47"/>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47"/>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47"/>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7"/>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7"/>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0" name="Shape 100"/>
        <p:cNvGrpSpPr/>
        <p:nvPr/>
      </p:nvGrpSpPr>
      <p:grpSpPr>
        <a:xfrm>
          <a:off x="0" y="0"/>
          <a:ext cx="0" cy="0"/>
          <a:chOff x="0" y="0"/>
          <a:chExt cx="0" cy="0"/>
        </a:xfrm>
      </p:grpSpPr>
      <p:sp>
        <p:nvSpPr>
          <p:cNvPr id="101" name="Google Shape;101;p48"/>
          <p:cNvSpPr txBox="1"/>
          <p:nvPr>
            <p:ph type="title"/>
          </p:nvPr>
        </p:nvSpPr>
        <p:spPr>
          <a:xfrm>
            <a:off x="931335" y="609600"/>
            <a:ext cx="8094135"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48"/>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48"/>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4" name="Google Shape;104;p48"/>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48"/>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48"/>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48"/>
          <p:cNvSpPr txBox="1"/>
          <p:nvPr/>
        </p:nvSpPr>
        <p:spPr>
          <a:xfrm>
            <a:off x="541871"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F19279"/>
                </a:solidFill>
                <a:latin typeface="Arial"/>
                <a:ea typeface="Arial"/>
                <a:cs typeface="Arial"/>
                <a:sym typeface="Arial"/>
              </a:rPr>
              <a:t>“</a:t>
            </a:r>
            <a:endParaRPr/>
          </a:p>
        </p:txBody>
      </p:sp>
      <p:sp>
        <p:nvSpPr>
          <p:cNvPr id="108" name="Google Shape;108;p48"/>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F19279"/>
                </a:solidFill>
                <a:latin typeface="Arial"/>
                <a:ea typeface="Arial"/>
                <a:cs typeface="Arial"/>
                <a:sym typeface="Arial"/>
              </a:rPr>
              <a:t>”</a:t>
            </a:r>
            <a:endParaRPr sz="1800">
              <a:solidFill>
                <a:srgbClr val="F19279"/>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9" name="Shape 109"/>
        <p:cNvGrpSpPr/>
        <p:nvPr/>
      </p:nvGrpSpPr>
      <p:grpSpPr>
        <a:xfrm>
          <a:off x="0" y="0"/>
          <a:ext cx="0" cy="0"/>
          <a:chOff x="0" y="0"/>
          <a:chExt cx="0" cy="0"/>
        </a:xfrm>
      </p:grpSpPr>
      <p:sp>
        <p:nvSpPr>
          <p:cNvPr id="110" name="Google Shape;110;p49"/>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49"/>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2" name="Google Shape;112;p49"/>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49"/>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49"/>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5" name="Shape 115"/>
        <p:cNvGrpSpPr/>
        <p:nvPr/>
      </p:nvGrpSpPr>
      <p:grpSpPr>
        <a:xfrm>
          <a:off x="0" y="0"/>
          <a:ext cx="0" cy="0"/>
          <a:chOff x="0" y="0"/>
          <a:chExt cx="0" cy="0"/>
        </a:xfrm>
      </p:grpSpPr>
      <p:sp>
        <p:nvSpPr>
          <p:cNvPr id="116" name="Google Shape;116;p50"/>
          <p:cNvSpPr txBox="1"/>
          <p:nvPr>
            <p:ph type="title"/>
          </p:nvPr>
        </p:nvSpPr>
        <p:spPr>
          <a:xfrm>
            <a:off x="931335" y="609600"/>
            <a:ext cx="8094135"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0"/>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8" name="Google Shape;118;p50"/>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9" name="Google Shape;119;p50"/>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50"/>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50"/>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50"/>
          <p:cNvSpPr txBox="1"/>
          <p:nvPr/>
        </p:nvSpPr>
        <p:spPr>
          <a:xfrm>
            <a:off x="541871"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F19279"/>
                </a:solidFill>
                <a:latin typeface="Arial"/>
                <a:ea typeface="Arial"/>
                <a:cs typeface="Arial"/>
                <a:sym typeface="Arial"/>
              </a:rPr>
              <a:t>“</a:t>
            </a:r>
            <a:endParaRPr/>
          </a:p>
        </p:txBody>
      </p:sp>
      <p:sp>
        <p:nvSpPr>
          <p:cNvPr id="123" name="Google Shape;123;p50"/>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F19279"/>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4" name="Shape 124"/>
        <p:cNvGrpSpPr/>
        <p:nvPr/>
      </p:nvGrpSpPr>
      <p:grpSpPr>
        <a:xfrm>
          <a:off x="0" y="0"/>
          <a:ext cx="0" cy="0"/>
          <a:chOff x="0" y="0"/>
          <a:chExt cx="0" cy="0"/>
        </a:xfrm>
      </p:grpSpPr>
      <p:sp>
        <p:nvSpPr>
          <p:cNvPr id="125" name="Google Shape;125;p51"/>
          <p:cNvSpPr txBox="1"/>
          <p:nvPr>
            <p:ph type="title"/>
          </p:nvPr>
        </p:nvSpPr>
        <p:spPr>
          <a:xfrm>
            <a:off x="685801"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51"/>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7" name="Google Shape;127;p51"/>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8" name="Google Shape;128;p51"/>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51"/>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51"/>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52"/>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52"/>
          <p:cNvSpPr txBox="1"/>
          <p:nvPr>
            <p:ph idx="1" type="body"/>
          </p:nvPr>
        </p:nvSpPr>
        <p:spPr>
          <a:xfrm rot="5400000">
            <a:off x="3035283" y="-197357"/>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52"/>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52"/>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52"/>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53"/>
          <p:cNvSpPr txBox="1"/>
          <p:nvPr>
            <p:ph type="title"/>
          </p:nvPr>
        </p:nvSpPr>
        <p:spPr>
          <a:xfrm rot="5400000">
            <a:off x="5994321" y="2582957"/>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53"/>
          <p:cNvSpPr txBox="1"/>
          <p:nvPr>
            <p:ph idx="1" type="body"/>
          </p:nvPr>
        </p:nvSpPr>
        <p:spPr>
          <a:xfrm rot="5400000">
            <a:off x="1581687" y="-294750"/>
            <a:ext cx="5251450" cy="706015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53"/>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53"/>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53"/>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37"/>
          <p:cNvGrpSpPr/>
          <p:nvPr/>
        </p:nvGrpSpPr>
        <p:grpSpPr>
          <a:xfrm>
            <a:off x="0" y="-8467"/>
            <a:ext cx="12192000" cy="6866467"/>
            <a:chOff x="0" y="-8467"/>
            <a:chExt cx="12192000" cy="6866467"/>
          </a:xfrm>
        </p:grpSpPr>
        <p:cxnSp>
          <p:nvCxnSpPr>
            <p:cNvPr id="11" name="Google Shape;11;p37"/>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12" name="Google Shape;12;p37"/>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13" name="Google Shape;13;p37"/>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14" name="Google Shape;14;p37"/>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37"/>
            <p:cNvSpPr/>
            <p:nvPr/>
          </p:nvSpPr>
          <p:spPr>
            <a:xfrm>
              <a:off x="8932333" y="3048000"/>
              <a:ext cx="3259667" cy="3810000"/>
            </a:xfrm>
            <a:prstGeom prst="triangle">
              <a:avLst>
                <a:gd fmla="val 100000" name="adj"/>
              </a:avLst>
            </a:pr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7"/>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F49C00">
                <a:alpha val="69803"/>
              </a:srgbClr>
            </a:solidFill>
            <a:ln>
              <a:noFill/>
            </a:ln>
          </p:spPr>
        </p:sp>
        <p:sp>
          <p:nvSpPr>
            <p:cNvPr id="17" name="Google Shape;17;p37"/>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F19279">
                <a:alpha val="69803"/>
              </a:srgbClr>
            </a:solidFill>
            <a:ln>
              <a:noFill/>
            </a:ln>
          </p:spPr>
        </p:sp>
        <p:sp>
          <p:nvSpPr>
            <p:cNvPr id="18" name="Google Shape;18;p37"/>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19" name="Google Shape;19;p37"/>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7"/>
            <p:cNvSpPr/>
            <p:nvPr/>
          </p:nvSpPr>
          <p:spPr>
            <a:xfrm>
              <a:off x="0" y="4013200"/>
              <a:ext cx="448733" cy="2844800"/>
            </a:xfrm>
            <a:prstGeom prst="triangle">
              <a:avLst>
                <a:gd fmla="val 0" name="adj"/>
              </a:avLst>
            </a:prstGeom>
            <a:solidFill>
              <a:schemeClr val="accent1">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7"/>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37"/>
          <p:cNvSpPr txBox="1"/>
          <p:nvPr>
            <p:ph idx="1" type="body"/>
          </p:nvPr>
        </p:nvSpPr>
        <p:spPr>
          <a:xfrm>
            <a:off x="677335" y="2160590"/>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37"/>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37"/>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37"/>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
          <p:cNvSpPr txBox="1"/>
          <p:nvPr>
            <p:ph type="ctrTitle"/>
          </p:nvPr>
        </p:nvSpPr>
        <p:spPr>
          <a:xfrm>
            <a:off x="1281567" y="357622"/>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Chapter 3 : Computer Ethics and Ethical Theories</a:t>
            </a:r>
            <a:endParaRPr/>
          </a:p>
        </p:txBody>
      </p:sp>
      <p:sp>
        <p:nvSpPr>
          <p:cNvPr id="149" name="Google Shape;149;p1"/>
          <p:cNvSpPr txBox="1"/>
          <p:nvPr>
            <p:ph idx="1" type="subTitle"/>
          </p:nvPr>
        </p:nvSpPr>
        <p:spPr>
          <a:xfrm>
            <a:off x="1281567" y="1139687"/>
            <a:ext cx="8094254" cy="4903303"/>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Clr>
                <a:schemeClr val="dk1"/>
              </a:buClr>
              <a:buSzPts val="1988"/>
              <a:buFont typeface="Noto Sans Symbols"/>
              <a:buChar char="❑"/>
            </a:pPr>
            <a:r>
              <a:rPr lang="en-US" sz="2800">
                <a:solidFill>
                  <a:schemeClr val="dk1"/>
                </a:solidFill>
              </a:rPr>
              <a:t>Philosophical and Professional Ethics</a:t>
            </a:r>
            <a:endParaRPr/>
          </a:p>
          <a:p>
            <a:pPr indent="-457200" lvl="0" marL="457200" rtl="0" algn="l">
              <a:spcBef>
                <a:spcPts val="1000"/>
              </a:spcBef>
              <a:spcAft>
                <a:spcPts val="0"/>
              </a:spcAft>
              <a:buClr>
                <a:schemeClr val="dk1"/>
              </a:buClr>
              <a:buSzPts val="1988"/>
              <a:buFont typeface="Noto Sans Symbols"/>
              <a:buChar char="❑"/>
            </a:pPr>
            <a:r>
              <a:rPr lang="en-US" sz="2800">
                <a:solidFill>
                  <a:schemeClr val="dk1"/>
                </a:solidFill>
              </a:rPr>
              <a:t>Moral and Legal Issues</a:t>
            </a:r>
            <a:endParaRPr/>
          </a:p>
          <a:p>
            <a:pPr indent="-457200" lvl="0" marL="457200" rtl="0" algn="l">
              <a:spcBef>
                <a:spcPts val="1000"/>
              </a:spcBef>
              <a:spcAft>
                <a:spcPts val="0"/>
              </a:spcAft>
              <a:buClr>
                <a:schemeClr val="dk1"/>
              </a:buClr>
              <a:buSzPts val="1988"/>
              <a:buFont typeface="Noto Sans Symbols"/>
              <a:buChar char="❑"/>
            </a:pPr>
            <a:r>
              <a:rPr lang="en-US" sz="2800">
                <a:solidFill>
                  <a:schemeClr val="dk1"/>
                </a:solidFill>
              </a:rPr>
              <a:t>Descriptive and Normative Claims</a:t>
            </a:r>
            <a:endParaRPr/>
          </a:p>
          <a:p>
            <a:pPr indent="-457200" lvl="0" marL="457200" rtl="0" algn="l">
              <a:spcBef>
                <a:spcPts val="1000"/>
              </a:spcBef>
              <a:spcAft>
                <a:spcPts val="0"/>
              </a:spcAft>
              <a:buClr>
                <a:schemeClr val="dk1"/>
              </a:buClr>
              <a:buSzPts val="1988"/>
              <a:buFont typeface="Noto Sans Symbols"/>
              <a:buChar char="❑"/>
            </a:pPr>
            <a:r>
              <a:rPr lang="en-US" sz="2800">
                <a:solidFill>
                  <a:schemeClr val="dk1"/>
                </a:solidFill>
              </a:rPr>
              <a:t>Ethical Relativism</a:t>
            </a:r>
            <a:endParaRPr/>
          </a:p>
          <a:p>
            <a:pPr indent="-457200" lvl="0" marL="457200" rtl="0" algn="l">
              <a:spcBef>
                <a:spcPts val="1000"/>
              </a:spcBef>
              <a:spcAft>
                <a:spcPts val="0"/>
              </a:spcAft>
              <a:buClr>
                <a:schemeClr val="dk1"/>
              </a:buClr>
              <a:buSzPts val="1988"/>
              <a:buFont typeface="Noto Sans Symbols"/>
              <a:buChar char="❑"/>
            </a:pPr>
            <a:r>
              <a:rPr lang="en-US" sz="2800">
                <a:solidFill>
                  <a:schemeClr val="dk1"/>
                </a:solidFill>
              </a:rPr>
              <a:t>Utilitarianism and Deontological Theories</a:t>
            </a:r>
            <a:endParaRPr/>
          </a:p>
          <a:p>
            <a:pPr indent="-457200" lvl="0" marL="457200" rtl="0" algn="l">
              <a:spcBef>
                <a:spcPts val="1000"/>
              </a:spcBef>
              <a:spcAft>
                <a:spcPts val="0"/>
              </a:spcAft>
              <a:buClr>
                <a:schemeClr val="dk1"/>
              </a:buClr>
              <a:buSzPts val="1988"/>
              <a:buFont typeface="Noto Sans Symbols"/>
              <a:buChar char="❑"/>
            </a:pPr>
            <a:r>
              <a:rPr lang="en-US" sz="2800">
                <a:solidFill>
                  <a:schemeClr val="dk1"/>
                </a:solidFill>
              </a:rPr>
              <a:t>Rights</a:t>
            </a:r>
            <a:endParaRPr/>
          </a:p>
          <a:p>
            <a:pPr indent="-330962" lvl="0" marL="457200" rtl="0" algn="l">
              <a:spcBef>
                <a:spcPts val="1000"/>
              </a:spcBef>
              <a:spcAft>
                <a:spcPts val="0"/>
              </a:spcAft>
              <a:buClr>
                <a:schemeClr val="dk1"/>
              </a:buClr>
              <a:buSzPts val="1988"/>
              <a:buFont typeface="Noto Sans Symbols"/>
              <a:buNone/>
            </a:pPr>
            <a:r>
              <a:t/>
            </a:r>
            <a:endParaRPr sz="2800">
              <a:solidFill>
                <a:schemeClr val="dk1"/>
              </a:solidFill>
            </a:endParaRPr>
          </a:p>
          <a:p>
            <a:pPr indent="-330962" lvl="0" marL="457200" rtl="0" algn="l">
              <a:spcBef>
                <a:spcPts val="1000"/>
              </a:spcBef>
              <a:spcAft>
                <a:spcPts val="0"/>
              </a:spcAft>
              <a:buClr>
                <a:schemeClr val="dk1"/>
              </a:buClr>
              <a:buSzPts val="1988"/>
              <a:buFont typeface="Noto Sans Symbols"/>
              <a:buNone/>
            </a:pPr>
            <a:r>
              <a:t/>
            </a:r>
            <a:endParaRPr sz="2800">
              <a:solidFill>
                <a:schemeClr val="dk1"/>
              </a:solidFill>
            </a:endParaRPr>
          </a:p>
          <a:p>
            <a:pPr indent="0" lvl="0" marL="0" rtl="0" algn="l">
              <a:spcBef>
                <a:spcPts val="1000"/>
              </a:spcBef>
              <a:spcAft>
                <a:spcPts val="0"/>
              </a:spcAft>
              <a:buClr>
                <a:schemeClr val="dk1"/>
              </a:buClr>
              <a:buSzPts val="1988"/>
              <a:buNone/>
            </a:pPr>
            <a:r>
              <a:t/>
            </a:r>
            <a:endParaRPr sz="2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Computer Ethics</a:t>
            </a:r>
            <a:endParaRPr/>
          </a:p>
        </p:txBody>
      </p:sp>
      <p:pic>
        <p:nvPicPr>
          <p:cNvPr descr="Computer ethics &amp; copyright" id="156" name="Google Shape;156;p2"/>
          <p:cNvPicPr preferRelativeResize="0"/>
          <p:nvPr/>
        </p:nvPicPr>
        <p:blipFill rotWithShape="1">
          <a:blip r:embed="rId3">
            <a:alphaModFix/>
          </a:blip>
          <a:srcRect b="0" l="0" r="0" t="0"/>
          <a:stretch/>
        </p:blipFill>
        <p:spPr>
          <a:xfrm>
            <a:off x="1281566" y="1346546"/>
            <a:ext cx="8193737" cy="4562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Computer Ethics</a:t>
            </a:r>
            <a:endParaRPr/>
          </a:p>
        </p:txBody>
      </p:sp>
      <p:sp>
        <p:nvSpPr>
          <p:cNvPr id="163" name="Google Shape;163;p3"/>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988"/>
              <a:buNone/>
            </a:pPr>
            <a:r>
              <a:rPr lang="en-US" sz="2800">
                <a:solidFill>
                  <a:schemeClr val="dk1"/>
                </a:solidFill>
              </a:rPr>
              <a:t>“Ethics is a set of moral principles that govern the behavior of a group or individual.”</a:t>
            </a:r>
            <a:endParaRPr/>
          </a:p>
          <a:p>
            <a:pPr indent="-457200" lvl="0" marL="457200" rtl="0" algn="l">
              <a:spcBef>
                <a:spcPts val="1000"/>
              </a:spcBef>
              <a:spcAft>
                <a:spcPts val="0"/>
              </a:spcAft>
              <a:buClr>
                <a:schemeClr val="dk1"/>
              </a:buClr>
              <a:buSzPts val="1988"/>
              <a:buFont typeface="Noto Sans Symbols"/>
              <a:buChar char="❖"/>
            </a:pPr>
            <a:r>
              <a:rPr lang="en-US" sz="2800">
                <a:solidFill>
                  <a:schemeClr val="dk1"/>
                </a:solidFill>
              </a:rPr>
              <a:t>Computer ethics is a branch of philosophy that deals with computing-related moral dilemmas</a:t>
            </a:r>
            <a:endParaRPr/>
          </a:p>
          <a:p>
            <a:pPr indent="-457199" lvl="1" marL="914388" rtl="0" algn="l">
              <a:spcBef>
                <a:spcPts val="1000"/>
              </a:spcBef>
              <a:spcAft>
                <a:spcPts val="0"/>
              </a:spcAft>
              <a:buClr>
                <a:schemeClr val="dk1"/>
              </a:buClr>
              <a:buSzPts val="1846"/>
              <a:buFont typeface="Noto Sans Symbols"/>
              <a:buChar char="⮚"/>
            </a:pPr>
            <a:r>
              <a:rPr lang="en-US" sz="2600">
                <a:solidFill>
                  <a:schemeClr val="dk1"/>
                </a:solidFill>
              </a:rPr>
              <a:t>defines ethical principles for computer professionals</a:t>
            </a:r>
            <a:endParaRPr/>
          </a:p>
          <a:p>
            <a:pPr indent="-457199" lvl="1" marL="914388" rtl="0" algn="l">
              <a:spcBef>
                <a:spcPts val="1000"/>
              </a:spcBef>
              <a:spcAft>
                <a:spcPts val="0"/>
              </a:spcAft>
              <a:buClr>
                <a:schemeClr val="dk1"/>
              </a:buClr>
              <a:buSzPts val="1846"/>
              <a:buFont typeface="Noto Sans Symbols"/>
              <a:buChar char="⮚"/>
            </a:pPr>
            <a:r>
              <a:rPr lang="en-US" sz="2600">
                <a:solidFill>
                  <a:schemeClr val="dk1"/>
                </a:solidFill>
              </a:rPr>
              <a:t>professionals must try to avoid unethical behavior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Computer Ethics</a:t>
            </a:r>
            <a:endParaRPr/>
          </a:p>
        </p:txBody>
      </p:sp>
      <p:sp>
        <p:nvSpPr>
          <p:cNvPr id="170" name="Google Shape;170;p4"/>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Clr>
                <a:schemeClr val="dk1"/>
              </a:buClr>
              <a:buSzPts val="1988"/>
              <a:buFont typeface="Noto Sans Symbols"/>
              <a:buChar char="❖"/>
            </a:pPr>
            <a:r>
              <a:rPr lang="en-US" sz="2800">
                <a:solidFill>
                  <a:schemeClr val="dk1"/>
                </a:solidFill>
              </a:rPr>
              <a:t>Today there are numerous illegal and unethical actions that can arise through computer usage</a:t>
            </a:r>
            <a:endParaRPr/>
          </a:p>
          <a:p>
            <a:pPr indent="-457199" lvl="1" marL="914388" rtl="0" algn="l">
              <a:spcBef>
                <a:spcPts val="1000"/>
              </a:spcBef>
              <a:spcAft>
                <a:spcPts val="0"/>
              </a:spcAft>
              <a:buClr>
                <a:schemeClr val="dk1"/>
              </a:buClr>
              <a:buSzPts val="1846"/>
              <a:buFont typeface="Noto Sans Symbols"/>
              <a:buChar char="⮚"/>
            </a:pPr>
            <a:r>
              <a:rPr lang="en-US" sz="2600">
                <a:solidFill>
                  <a:schemeClr val="dk1"/>
                </a:solidFill>
              </a:rPr>
              <a:t>Plagiarism and copyright infringement</a:t>
            </a:r>
            <a:endParaRPr/>
          </a:p>
          <a:p>
            <a:pPr indent="-457199" lvl="1" marL="914388" rtl="0" algn="l">
              <a:spcBef>
                <a:spcPts val="1000"/>
              </a:spcBef>
              <a:spcAft>
                <a:spcPts val="0"/>
              </a:spcAft>
              <a:buClr>
                <a:schemeClr val="dk1"/>
              </a:buClr>
              <a:buSzPts val="1846"/>
              <a:buFont typeface="Noto Sans Symbols"/>
              <a:buChar char="⮚"/>
            </a:pPr>
            <a:r>
              <a:rPr lang="en-US" sz="2600">
                <a:solidFill>
                  <a:schemeClr val="dk1"/>
                </a:solidFill>
              </a:rPr>
              <a:t>Software Piracy</a:t>
            </a:r>
            <a:endParaRPr/>
          </a:p>
          <a:p>
            <a:pPr indent="-457199" lvl="1" marL="914388" rtl="0" algn="l">
              <a:spcBef>
                <a:spcPts val="1000"/>
              </a:spcBef>
              <a:spcAft>
                <a:spcPts val="0"/>
              </a:spcAft>
              <a:buClr>
                <a:schemeClr val="dk1"/>
              </a:buClr>
              <a:buSzPts val="1846"/>
              <a:buFont typeface="Noto Sans Symbols"/>
              <a:buChar char="⮚"/>
            </a:pPr>
            <a:r>
              <a:rPr lang="en-US" sz="2600">
                <a:solidFill>
                  <a:schemeClr val="dk1"/>
                </a:solidFill>
              </a:rPr>
              <a:t>Computer crimes, unauthorized computer access</a:t>
            </a:r>
            <a:endParaRPr/>
          </a:p>
          <a:p>
            <a:pPr indent="-457199" lvl="1" marL="914388" rtl="0" algn="l">
              <a:spcBef>
                <a:spcPts val="1000"/>
              </a:spcBef>
              <a:spcAft>
                <a:spcPts val="0"/>
              </a:spcAft>
              <a:buClr>
                <a:schemeClr val="dk1"/>
              </a:buClr>
              <a:buSzPts val="1846"/>
              <a:buFont typeface="Noto Sans Symbols"/>
              <a:buChar char="⮚"/>
            </a:pPr>
            <a:r>
              <a:rPr lang="en-US" sz="2600">
                <a:solidFill>
                  <a:schemeClr val="dk1"/>
                </a:solidFill>
              </a:rPr>
              <a:t>Intellectual Property</a:t>
            </a:r>
            <a:endParaRPr/>
          </a:p>
          <a:p>
            <a:pPr indent="-457199" lvl="1" marL="914388" rtl="0" algn="l">
              <a:spcBef>
                <a:spcPts val="1000"/>
              </a:spcBef>
              <a:spcAft>
                <a:spcPts val="0"/>
              </a:spcAft>
              <a:buClr>
                <a:schemeClr val="dk1"/>
              </a:buClr>
              <a:buSzPts val="1846"/>
              <a:buFont typeface="Noto Sans Symbols"/>
              <a:buChar char="⮚"/>
            </a:pPr>
            <a:r>
              <a:rPr lang="en-US" sz="2600">
                <a:solidFill>
                  <a:schemeClr val="dk1"/>
                </a:solidFill>
              </a:rPr>
              <a:t>Professional Responsibility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5"/>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Computer Ethics</a:t>
            </a:r>
            <a:endParaRPr/>
          </a:p>
        </p:txBody>
      </p:sp>
      <p:sp>
        <p:nvSpPr>
          <p:cNvPr id="177" name="Google Shape;177;p5"/>
          <p:cNvSpPr txBox="1"/>
          <p:nvPr>
            <p:ph idx="1" type="subTitle"/>
          </p:nvPr>
        </p:nvSpPr>
        <p:spPr>
          <a:xfrm>
            <a:off x="1281567" y="1139688"/>
            <a:ext cx="8094254" cy="5367129"/>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Clr>
                <a:schemeClr val="dk1"/>
              </a:buClr>
              <a:buSzPts val="1988"/>
              <a:buFont typeface="Noto Sans Symbols"/>
              <a:buChar char="❖"/>
            </a:pPr>
            <a:r>
              <a:rPr lang="en-US" sz="2800">
                <a:solidFill>
                  <a:schemeClr val="dk1"/>
                </a:solidFill>
              </a:rPr>
              <a:t>The Ten Commandments of Computer Ethics</a:t>
            </a:r>
            <a:endParaRPr/>
          </a:p>
          <a:p>
            <a:pPr indent="-457199" lvl="1" marL="914388" rtl="0" algn="l">
              <a:spcBef>
                <a:spcPts val="1000"/>
              </a:spcBef>
              <a:spcAft>
                <a:spcPts val="0"/>
              </a:spcAft>
              <a:buClr>
                <a:schemeClr val="dk1"/>
              </a:buClr>
              <a:buSzPts val="1704"/>
              <a:buFont typeface="Noto Sans Symbols"/>
              <a:buChar char="⮚"/>
            </a:pPr>
            <a:r>
              <a:rPr lang="en-US" sz="2400">
                <a:solidFill>
                  <a:schemeClr val="dk1"/>
                </a:solidFill>
              </a:rPr>
              <a:t>Thou shalt not use a computer to harm other people.</a:t>
            </a:r>
            <a:endParaRPr/>
          </a:p>
          <a:p>
            <a:pPr indent="-457199" lvl="1" marL="914388" rtl="0" algn="l">
              <a:spcBef>
                <a:spcPts val="1000"/>
              </a:spcBef>
              <a:spcAft>
                <a:spcPts val="0"/>
              </a:spcAft>
              <a:buClr>
                <a:schemeClr val="dk1"/>
              </a:buClr>
              <a:buSzPts val="1846"/>
              <a:buFont typeface="Noto Sans Symbols"/>
              <a:buChar char="⮚"/>
            </a:pPr>
            <a:r>
              <a:rPr lang="en-US" sz="2600">
                <a:solidFill>
                  <a:schemeClr val="dk1"/>
                </a:solidFill>
              </a:rPr>
              <a:t>Thou shalt not interfere with other people's computer work.</a:t>
            </a:r>
            <a:endParaRPr/>
          </a:p>
          <a:p>
            <a:pPr indent="-457199" lvl="1" marL="914388" rtl="0" algn="l">
              <a:spcBef>
                <a:spcPts val="1000"/>
              </a:spcBef>
              <a:spcAft>
                <a:spcPts val="0"/>
              </a:spcAft>
              <a:buClr>
                <a:schemeClr val="dk1"/>
              </a:buClr>
              <a:buSzPts val="1846"/>
              <a:buFont typeface="Noto Sans Symbols"/>
              <a:buChar char="⮚"/>
            </a:pPr>
            <a:r>
              <a:rPr lang="en-US" sz="2600">
                <a:solidFill>
                  <a:schemeClr val="dk1"/>
                </a:solidFill>
              </a:rPr>
              <a:t>Thou shalt not snoop around in other people's computer files.</a:t>
            </a:r>
            <a:endParaRPr/>
          </a:p>
          <a:p>
            <a:pPr indent="-457199" lvl="1" marL="914388" rtl="0" algn="l">
              <a:spcBef>
                <a:spcPts val="1000"/>
              </a:spcBef>
              <a:spcAft>
                <a:spcPts val="0"/>
              </a:spcAft>
              <a:buClr>
                <a:schemeClr val="dk1"/>
              </a:buClr>
              <a:buSzPts val="1846"/>
              <a:buFont typeface="Noto Sans Symbols"/>
              <a:buChar char="⮚"/>
            </a:pPr>
            <a:r>
              <a:rPr lang="en-US" sz="2600">
                <a:solidFill>
                  <a:schemeClr val="dk1"/>
                </a:solidFill>
              </a:rPr>
              <a:t>Thou shalt not use a computer to steal.</a:t>
            </a:r>
            <a:endParaRPr/>
          </a:p>
          <a:p>
            <a:pPr indent="-457199" lvl="1" marL="914388" rtl="0" algn="l">
              <a:spcBef>
                <a:spcPts val="1000"/>
              </a:spcBef>
              <a:spcAft>
                <a:spcPts val="0"/>
              </a:spcAft>
              <a:buClr>
                <a:schemeClr val="dk1"/>
              </a:buClr>
              <a:buSzPts val="1846"/>
              <a:buFont typeface="Noto Sans Symbols"/>
              <a:buChar char="⮚"/>
            </a:pPr>
            <a:r>
              <a:rPr lang="en-US" sz="2600">
                <a:solidFill>
                  <a:schemeClr val="dk1"/>
                </a:solidFill>
              </a:rPr>
              <a:t>Thou shalt not use a computer to bear false witness.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6"/>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Computer Ethics</a:t>
            </a:r>
            <a:endParaRPr/>
          </a:p>
        </p:txBody>
      </p:sp>
      <p:sp>
        <p:nvSpPr>
          <p:cNvPr id="184" name="Google Shape;184;p6"/>
          <p:cNvSpPr txBox="1"/>
          <p:nvPr>
            <p:ph idx="1" type="subTitle"/>
          </p:nvPr>
        </p:nvSpPr>
        <p:spPr>
          <a:xfrm>
            <a:off x="1281567" y="1139688"/>
            <a:ext cx="8094254" cy="5367129"/>
          </a:xfrm>
          <a:prstGeom prst="rect">
            <a:avLst/>
          </a:prstGeom>
          <a:noFill/>
          <a:ln>
            <a:noFill/>
          </a:ln>
        </p:spPr>
        <p:txBody>
          <a:bodyPr anchorCtr="0" anchor="t" bIns="45700" lIns="91425" spcFirstLastPara="1" rIns="91425" wrap="square" tIns="45700">
            <a:normAutofit fontScale="92500" lnSpcReduction="20000"/>
          </a:bodyPr>
          <a:lstStyle/>
          <a:p>
            <a:pPr indent="-457200" lvl="0" marL="457200" rtl="0" algn="l">
              <a:spcBef>
                <a:spcPts val="0"/>
              </a:spcBef>
              <a:spcAft>
                <a:spcPts val="0"/>
              </a:spcAft>
              <a:buClr>
                <a:schemeClr val="dk1"/>
              </a:buClr>
              <a:buSzPct val="71000"/>
              <a:buFont typeface="Noto Sans Symbols"/>
              <a:buChar char="❖"/>
            </a:pPr>
            <a:r>
              <a:rPr lang="en-US" sz="2800">
                <a:solidFill>
                  <a:schemeClr val="dk1"/>
                </a:solidFill>
              </a:rPr>
              <a:t>The Ten Commandments of Computer Ethics(contd…)</a:t>
            </a:r>
            <a:endParaRPr/>
          </a:p>
          <a:p>
            <a:pPr indent="-457199" lvl="1" marL="914388" rtl="0" algn="l">
              <a:spcBef>
                <a:spcPts val="1000"/>
              </a:spcBef>
              <a:spcAft>
                <a:spcPts val="0"/>
              </a:spcAft>
              <a:buClr>
                <a:schemeClr val="dk1"/>
              </a:buClr>
              <a:buSzPct val="71000"/>
              <a:buFont typeface="Noto Sans Symbols"/>
              <a:buChar char="⮚"/>
            </a:pPr>
            <a:r>
              <a:rPr lang="en-US" sz="2600">
                <a:solidFill>
                  <a:schemeClr val="dk1"/>
                </a:solidFill>
              </a:rPr>
              <a:t>Thou shalt not copy or use proprietary software for which you have not paid (without permission).</a:t>
            </a:r>
            <a:endParaRPr/>
          </a:p>
          <a:p>
            <a:pPr indent="-457199" lvl="1" marL="914388" rtl="0" algn="l">
              <a:spcBef>
                <a:spcPts val="1000"/>
              </a:spcBef>
              <a:spcAft>
                <a:spcPts val="0"/>
              </a:spcAft>
              <a:buClr>
                <a:schemeClr val="dk1"/>
              </a:buClr>
              <a:buSzPct val="71000"/>
              <a:buFont typeface="Noto Sans Symbols"/>
              <a:buChar char="⮚"/>
            </a:pPr>
            <a:r>
              <a:rPr lang="en-US" sz="2600">
                <a:solidFill>
                  <a:schemeClr val="dk1"/>
                </a:solidFill>
              </a:rPr>
              <a:t>Thou shalt not use other people's computer resources without authorization or proper compensation.</a:t>
            </a:r>
            <a:endParaRPr/>
          </a:p>
          <a:p>
            <a:pPr indent="-457199" lvl="1" marL="914388" rtl="0" algn="l">
              <a:spcBef>
                <a:spcPts val="1000"/>
              </a:spcBef>
              <a:spcAft>
                <a:spcPts val="0"/>
              </a:spcAft>
              <a:buClr>
                <a:schemeClr val="dk1"/>
              </a:buClr>
              <a:buSzPct val="71000"/>
              <a:buFont typeface="Noto Sans Symbols"/>
              <a:buChar char="⮚"/>
            </a:pPr>
            <a:r>
              <a:rPr lang="en-US" sz="2600">
                <a:solidFill>
                  <a:schemeClr val="dk1"/>
                </a:solidFill>
              </a:rPr>
              <a:t>Thou shalt not appropriate other people's intellectual output.</a:t>
            </a:r>
            <a:endParaRPr/>
          </a:p>
          <a:p>
            <a:pPr indent="-457199" lvl="1" marL="914388" rtl="0" algn="l">
              <a:spcBef>
                <a:spcPts val="1000"/>
              </a:spcBef>
              <a:spcAft>
                <a:spcPts val="0"/>
              </a:spcAft>
              <a:buClr>
                <a:schemeClr val="dk1"/>
              </a:buClr>
              <a:buSzPct val="71000"/>
              <a:buFont typeface="Noto Sans Symbols"/>
              <a:buChar char="⮚"/>
            </a:pPr>
            <a:r>
              <a:rPr lang="en-US" sz="2600">
                <a:solidFill>
                  <a:schemeClr val="dk1"/>
                </a:solidFill>
              </a:rPr>
              <a:t>Thou shalt think about the social consequences of the program you are writing or the system you are designing.</a:t>
            </a:r>
            <a:endParaRPr/>
          </a:p>
          <a:p>
            <a:pPr indent="-457199" lvl="1" marL="914388" rtl="0" algn="l">
              <a:spcBef>
                <a:spcPts val="1000"/>
              </a:spcBef>
              <a:spcAft>
                <a:spcPts val="0"/>
              </a:spcAft>
              <a:buClr>
                <a:schemeClr val="dk1"/>
              </a:buClr>
              <a:buSzPct val="71000"/>
              <a:buFont typeface="Noto Sans Symbols"/>
              <a:buChar char="⮚"/>
            </a:pPr>
            <a:r>
              <a:rPr lang="en-US" sz="2600">
                <a:solidFill>
                  <a:schemeClr val="dk1"/>
                </a:solidFill>
              </a:rPr>
              <a:t>Thou shalt always use a computer in ways that ensure consideration and respect for other humans.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7"/>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Ethical Theories</a:t>
            </a:r>
            <a:endParaRPr/>
          </a:p>
        </p:txBody>
      </p:sp>
      <p:sp>
        <p:nvSpPr>
          <p:cNvPr id="191" name="Google Shape;191;p7"/>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a:bodyPr>
          <a:lstStyle/>
          <a:p>
            <a:pPr indent="-457200" lvl="0" marL="457200" rtl="0" algn="just">
              <a:spcBef>
                <a:spcPts val="0"/>
              </a:spcBef>
              <a:spcAft>
                <a:spcPts val="0"/>
              </a:spcAft>
              <a:buClr>
                <a:schemeClr val="dk1"/>
              </a:buClr>
              <a:buSzPts val="1988"/>
              <a:buFont typeface="Noto Sans Symbols"/>
              <a:buChar char="❖"/>
            </a:pPr>
            <a:r>
              <a:rPr lang="en-US" sz="2800">
                <a:solidFill>
                  <a:schemeClr val="dk1"/>
                </a:solidFill>
              </a:rPr>
              <a:t>Ethics: A theory or system dealing with values relating to human conduct, with respect to the rightness and wrongness of certain actions and to the goodness and badness of the motives and ends of such actions.</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Ethical theory is the systematic effort to understand moral concepts and justify moral principles and theories.</a:t>
            </a:r>
            <a:endParaRPr/>
          </a:p>
          <a:p>
            <a:pPr indent="-330962" lvl="0" marL="457200" rtl="0" algn="just">
              <a:spcBef>
                <a:spcPts val="1000"/>
              </a:spcBef>
              <a:spcAft>
                <a:spcPts val="0"/>
              </a:spcAft>
              <a:buClr>
                <a:schemeClr val="dk1"/>
              </a:buClr>
              <a:buSzPts val="1988"/>
              <a:buFont typeface="Noto Sans Symbols"/>
              <a:buNone/>
            </a:pPr>
            <a:r>
              <a:t/>
            </a:r>
            <a:endParaRPr sz="2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8"/>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Philosophical and Professional Ethics</a:t>
            </a:r>
            <a:endParaRPr/>
          </a:p>
        </p:txBody>
      </p:sp>
      <p:sp>
        <p:nvSpPr>
          <p:cNvPr id="198" name="Google Shape;198;p8"/>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fontScale="92500" lnSpcReduction="20000"/>
          </a:bodyPr>
          <a:lstStyle/>
          <a:p>
            <a:pPr indent="0" lvl="0" marL="0" rtl="0" algn="just">
              <a:spcBef>
                <a:spcPts val="0"/>
              </a:spcBef>
              <a:spcAft>
                <a:spcPts val="0"/>
              </a:spcAft>
              <a:buClr>
                <a:schemeClr val="dk1"/>
              </a:buClr>
              <a:buSzPct val="71000"/>
              <a:buNone/>
            </a:pPr>
            <a:r>
              <a:rPr b="1" lang="en-US" sz="2800">
                <a:solidFill>
                  <a:srgbClr val="FF0000"/>
                </a:solidFill>
              </a:rPr>
              <a:t>Philosophical Ethics</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Philosophical ethics is the rational study of the meaning and justification of moral claims.</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 A moral claim evaluates the rightness or wrongness of an action or a person’s character.</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For example, “Lying is wrong” claims the act of lying is wrong, while “One shouldn’t be lazy” claims a character trait (i.e., laziness) is wrong.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Philosophical ethics is usually divided into two distinct subject areas: metaethics and normative ethics.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9"/>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Philosophical and Professional Ethics</a:t>
            </a:r>
            <a:endParaRPr/>
          </a:p>
        </p:txBody>
      </p:sp>
      <p:sp>
        <p:nvSpPr>
          <p:cNvPr id="205" name="Google Shape;205;p9"/>
          <p:cNvSpPr txBox="1"/>
          <p:nvPr>
            <p:ph idx="1" type="subTitle"/>
          </p:nvPr>
        </p:nvSpPr>
        <p:spPr>
          <a:xfrm>
            <a:off x="1281567" y="1139687"/>
            <a:ext cx="8094254" cy="5267925"/>
          </a:xfrm>
          <a:prstGeom prst="rect">
            <a:avLst/>
          </a:prstGeom>
          <a:no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1988"/>
              <a:buNone/>
            </a:pPr>
            <a:r>
              <a:rPr b="1" lang="en-US" sz="2800">
                <a:solidFill>
                  <a:srgbClr val="FF0000"/>
                </a:solidFill>
              </a:rPr>
              <a:t>Normative ethics</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Reflects ordinary view that somethings are better than others</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Examines moral standards that attempt to define right and wrong</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Examining good and bad habits, duties or an action’s consequences</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Ask questions like</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How should the moral person behave?</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What has Moral?</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What are our moral obligations?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0"/>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Philosophical and Professional Ethics</a:t>
            </a:r>
            <a:endParaRPr/>
          </a:p>
        </p:txBody>
      </p:sp>
      <p:sp>
        <p:nvSpPr>
          <p:cNvPr id="212" name="Google Shape;212;p10"/>
          <p:cNvSpPr txBox="1"/>
          <p:nvPr>
            <p:ph idx="1" type="subTitle"/>
          </p:nvPr>
        </p:nvSpPr>
        <p:spPr>
          <a:xfrm>
            <a:off x="1281567" y="1139687"/>
            <a:ext cx="8094254" cy="5267925"/>
          </a:xfrm>
          <a:prstGeom prst="rect">
            <a:avLst/>
          </a:prstGeom>
          <a:no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1988"/>
              <a:buNone/>
            </a:pPr>
            <a:r>
              <a:rPr b="1" lang="en-US" sz="2800">
                <a:solidFill>
                  <a:srgbClr val="FF0000"/>
                </a:solidFill>
              </a:rPr>
              <a:t> Metaethics</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Examines nature of moral claims and standards</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It is not concerned with discovering what is right action is or how to become moral.</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Rather it ask philosophical questions about ethics.</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Ask questions like</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What is morality?</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What is the nature of morality?</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Where they came from?</a:t>
            </a:r>
            <a:endParaRPr/>
          </a:p>
          <a:p>
            <a:pPr indent="0" lvl="1" marL="457189" rtl="0" algn="just">
              <a:spcBef>
                <a:spcPts val="1000"/>
              </a:spcBef>
              <a:spcAft>
                <a:spcPts val="0"/>
              </a:spcAft>
              <a:buClr>
                <a:schemeClr val="dk1"/>
              </a:buClr>
              <a:buSzPts val="1846"/>
              <a:buNone/>
            </a:pPr>
            <a:r>
              <a:t/>
            </a:r>
            <a:endParaRPr sz="26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1"/>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Philosophical and Professional Ethics</a:t>
            </a:r>
            <a:endParaRPr/>
          </a:p>
        </p:txBody>
      </p:sp>
      <p:sp>
        <p:nvSpPr>
          <p:cNvPr id="219" name="Google Shape;219;p11"/>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fontScale="92500" lnSpcReduction="20000"/>
          </a:bodyPr>
          <a:lstStyle/>
          <a:p>
            <a:pPr indent="0" lvl="0" marL="0" rtl="0" algn="just">
              <a:spcBef>
                <a:spcPts val="0"/>
              </a:spcBef>
              <a:spcAft>
                <a:spcPts val="0"/>
              </a:spcAft>
              <a:buClr>
                <a:schemeClr val="dk1"/>
              </a:buClr>
              <a:buSzPct val="71000"/>
              <a:buNone/>
            </a:pPr>
            <a:r>
              <a:rPr b="1" lang="en-US" sz="2800">
                <a:solidFill>
                  <a:srgbClr val="FF0000"/>
                </a:solidFill>
              </a:rPr>
              <a:t>Professional Ethics</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Professional ethics are principles that govern the behavior of a person or group in a business environment.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Like values, professional ethics provide rules on how a person should act towards other people and institutions in such an environment.</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Unlike values, professional ethics are often codified as a set of rules, which a particular group of people use.</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This means that all those in a particular group will use the same professional ethics, even though their values may be unique to each person.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2"/>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Philosophical and Professional Ethics</a:t>
            </a:r>
            <a:endParaRPr/>
          </a:p>
        </p:txBody>
      </p:sp>
      <p:sp>
        <p:nvSpPr>
          <p:cNvPr id="226" name="Google Shape;226;p12"/>
          <p:cNvSpPr txBox="1"/>
          <p:nvPr>
            <p:ph idx="1" type="subTitle"/>
          </p:nvPr>
        </p:nvSpPr>
        <p:spPr>
          <a:xfrm>
            <a:off x="1281567" y="1139689"/>
            <a:ext cx="8094254" cy="4854712"/>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1988"/>
              <a:buNone/>
            </a:pPr>
            <a:r>
              <a:rPr b="1" lang="en-US" sz="2800">
                <a:solidFill>
                  <a:schemeClr val="dk1"/>
                </a:solidFill>
              </a:rPr>
              <a:t>T</a:t>
            </a:r>
            <a:r>
              <a:rPr lang="en-US" sz="2800">
                <a:solidFill>
                  <a:schemeClr val="dk1"/>
                </a:solidFill>
              </a:rPr>
              <a:t>here are some universal ethical principles that apply across all professions, including:</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honesty</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trustworthiness</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loyalty</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respect for others</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adherence to the law</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doing good and avoiding harm to others</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accountability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3"/>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Moral and Legal Issues</a:t>
            </a:r>
            <a:endParaRPr/>
          </a:p>
        </p:txBody>
      </p:sp>
      <p:sp>
        <p:nvSpPr>
          <p:cNvPr id="233" name="Google Shape;233;p13"/>
          <p:cNvSpPr txBox="1"/>
          <p:nvPr>
            <p:ph idx="1" type="subTitle"/>
          </p:nvPr>
        </p:nvSpPr>
        <p:spPr>
          <a:xfrm>
            <a:off x="1281567" y="1139689"/>
            <a:ext cx="8094254" cy="4854712"/>
          </a:xfrm>
          <a:prstGeom prst="rect">
            <a:avLst/>
          </a:prstGeom>
          <a:noFill/>
          <a:ln>
            <a:noFill/>
          </a:ln>
        </p:spPr>
        <p:txBody>
          <a:bodyPr anchorCtr="0" anchor="t" bIns="45700" lIns="91425" spcFirstLastPara="1" rIns="91425" wrap="square" tIns="45700">
            <a:normAutofit/>
          </a:bodyPr>
          <a:lstStyle/>
          <a:p>
            <a:pPr indent="-457200" lvl="0" marL="457200" rtl="0" algn="just">
              <a:spcBef>
                <a:spcPts val="0"/>
              </a:spcBef>
              <a:spcAft>
                <a:spcPts val="0"/>
              </a:spcAft>
              <a:buClr>
                <a:schemeClr val="dk1"/>
              </a:buClr>
              <a:buSzPts val="1988"/>
              <a:buFont typeface="Noto Sans Symbols"/>
              <a:buChar char="❖"/>
            </a:pPr>
            <a:r>
              <a:rPr lang="en-US" sz="2800">
                <a:solidFill>
                  <a:schemeClr val="dk1"/>
                </a:solidFill>
              </a:rPr>
              <a:t>A LEGAL issue is serious and is against the law. This would be illegal and prosecution would follow with the possibility of a fine or imprisonment. </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A MORAL issue would be regarded by most people as wrong but doesn’t necessarily break any laws.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4"/>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Moral and Legal Issues</a:t>
            </a:r>
            <a:endParaRPr/>
          </a:p>
        </p:txBody>
      </p:sp>
      <p:sp>
        <p:nvSpPr>
          <p:cNvPr id="240" name="Google Shape;240;p14"/>
          <p:cNvSpPr txBox="1"/>
          <p:nvPr>
            <p:ph idx="1" type="subTitle"/>
          </p:nvPr>
        </p:nvSpPr>
        <p:spPr>
          <a:xfrm>
            <a:off x="1281567" y="1139689"/>
            <a:ext cx="8094254" cy="5267924"/>
          </a:xfrm>
          <a:prstGeom prst="rect">
            <a:avLst/>
          </a:prstGeom>
          <a:noFill/>
          <a:ln>
            <a:noFill/>
          </a:ln>
        </p:spPr>
        <p:txBody>
          <a:bodyPr anchorCtr="0" anchor="t" bIns="45700" lIns="91425" spcFirstLastPara="1" rIns="91425" wrap="square" tIns="45700">
            <a:normAutofit fontScale="92500" lnSpcReduction="10000"/>
          </a:bodyPr>
          <a:lstStyle/>
          <a:p>
            <a:pPr indent="-457200" lvl="0" marL="457200" rtl="0" algn="just">
              <a:spcBef>
                <a:spcPts val="0"/>
              </a:spcBef>
              <a:spcAft>
                <a:spcPts val="0"/>
              </a:spcAft>
              <a:buClr>
                <a:schemeClr val="dk1"/>
              </a:buClr>
              <a:buSzPct val="71000"/>
              <a:buFont typeface="Noto Sans Symbols"/>
              <a:buChar char="❖"/>
            </a:pPr>
            <a:r>
              <a:rPr lang="en-US" sz="2800">
                <a:solidFill>
                  <a:schemeClr val="dk1"/>
                </a:solidFill>
              </a:rPr>
              <a:t>Disinformation Trying to mislead or give false information. Can be a LEGAL and MORAL issue. </a:t>
            </a:r>
            <a:endParaRPr/>
          </a:p>
          <a:p>
            <a:pPr indent="0" lvl="0" marL="0" rtl="0" algn="just">
              <a:spcBef>
                <a:spcPts val="1000"/>
              </a:spcBef>
              <a:spcAft>
                <a:spcPts val="0"/>
              </a:spcAft>
              <a:buClr>
                <a:schemeClr val="dk1"/>
              </a:buClr>
              <a:buSzPct val="71000"/>
              <a:buNone/>
            </a:pPr>
            <a:r>
              <a:rPr lang="en-US" sz="2800">
                <a:solidFill>
                  <a:schemeClr val="dk1"/>
                </a:solidFill>
              </a:rPr>
              <a:t>Example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MORAL ISSUE </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Television salesperson advising you to buy a particular model of TV because he will get better commission for this model and he knows that a newer model will be released within a few weeks.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LEGAL ISSUE </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Television salesperson selling you a TV by claiming the TV is 3D and it is not, he would be breaking the Trade Description Act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5"/>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Moral and Legal Issues</a:t>
            </a:r>
            <a:endParaRPr/>
          </a:p>
        </p:txBody>
      </p:sp>
      <p:sp>
        <p:nvSpPr>
          <p:cNvPr id="247" name="Google Shape;247;p15"/>
          <p:cNvSpPr txBox="1"/>
          <p:nvPr>
            <p:ph idx="1" type="subTitle"/>
          </p:nvPr>
        </p:nvSpPr>
        <p:spPr>
          <a:xfrm>
            <a:off x="1281567" y="1139689"/>
            <a:ext cx="8094254" cy="4854712"/>
          </a:xfrm>
          <a:prstGeom prst="rect">
            <a:avLst/>
          </a:prstGeom>
          <a:noFill/>
          <a:ln>
            <a:noFill/>
          </a:ln>
        </p:spPr>
        <p:txBody>
          <a:bodyPr anchorCtr="0" anchor="t" bIns="45700" lIns="91425" spcFirstLastPara="1" rIns="91425" wrap="square" tIns="45700">
            <a:normAutofit fontScale="85000" lnSpcReduction="10000"/>
          </a:bodyPr>
          <a:lstStyle/>
          <a:p>
            <a:pPr indent="-457200" lvl="0" marL="457200" rtl="0" algn="just">
              <a:spcBef>
                <a:spcPts val="0"/>
              </a:spcBef>
              <a:spcAft>
                <a:spcPts val="0"/>
              </a:spcAft>
              <a:buClr>
                <a:schemeClr val="dk1"/>
              </a:buClr>
              <a:buSzPct val="71000"/>
              <a:buFont typeface="Noto Sans Symbols"/>
              <a:buChar char="❖"/>
            </a:pPr>
            <a:r>
              <a:rPr lang="en-US" sz="2800">
                <a:solidFill>
                  <a:schemeClr val="dk1"/>
                </a:solidFill>
              </a:rPr>
              <a:t>Privacy The rights of individuals to keep information about themselves private. The Data Protection Act does this but there are some situations where the Act does not protect the individual.</a:t>
            </a:r>
            <a:endParaRPr/>
          </a:p>
          <a:p>
            <a:pPr indent="0" lvl="0" marL="0" rtl="0" algn="just">
              <a:spcBef>
                <a:spcPts val="1000"/>
              </a:spcBef>
              <a:spcAft>
                <a:spcPts val="0"/>
              </a:spcAft>
              <a:buClr>
                <a:schemeClr val="dk1"/>
              </a:buClr>
              <a:buSzPct val="71000"/>
              <a:buNone/>
            </a:pPr>
            <a:r>
              <a:rPr lang="en-US" sz="2800">
                <a:solidFill>
                  <a:schemeClr val="dk1"/>
                </a:solidFill>
              </a:rPr>
              <a:t>Example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MORAL ISSUE </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Company buying information off other companies in order to send you junk mail about buying products.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LEGAL ISSUE</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Selling on details of individuals even though they have clearly specified that this should not be done. Breaches the Data Protection Act.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6"/>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Moral and Legal Issues</a:t>
            </a:r>
            <a:endParaRPr/>
          </a:p>
        </p:txBody>
      </p:sp>
      <p:sp>
        <p:nvSpPr>
          <p:cNvPr id="254" name="Google Shape;254;p16"/>
          <p:cNvSpPr txBox="1"/>
          <p:nvPr>
            <p:ph idx="1" type="subTitle"/>
          </p:nvPr>
        </p:nvSpPr>
        <p:spPr>
          <a:xfrm>
            <a:off x="1281567" y="1139689"/>
            <a:ext cx="8094254" cy="4854712"/>
          </a:xfrm>
          <a:prstGeom prst="rect">
            <a:avLst/>
          </a:prstGeom>
          <a:noFill/>
          <a:ln>
            <a:noFill/>
          </a:ln>
        </p:spPr>
        <p:txBody>
          <a:bodyPr anchorCtr="0" anchor="t" bIns="45700" lIns="91425" spcFirstLastPara="1" rIns="91425" wrap="square" tIns="45700">
            <a:normAutofit fontScale="92500" lnSpcReduction="10000"/>
          </a:bodyPr>
          <a:lstStyle/>
          <a:p>
            <a:pPr indent="-457200" lvl="0" marL="457200" rtl="0" algn="just">
              <a:spcBef>
                <a:spcPts val="0"/>
              </a:spcBef>
              <a:spcAft>
                <a:spcPts val="0"/>
              </a:spcAft>
              <a:buClr>
                <a:schemeClr val="dk1"/>
              </a:buClr>
              <a:buSzPct val="71000"/>
              <a:buFont typeface="Noto Sans Symbols"/>
              <a:buChar char="❖"/>
            </a:pPr>
            <a:r>
              <a:rPr lang="en-US" sz="2800">
                <a:solidFill>
                  <a:schemeClr val="dk1"/>
                </a:solidFill>
              </a:rPr>
              <a:t>Intellectual Property Rights People can protect their work and make it illegal for other people to copy or use their work without their permission. </a:t>
            </a:r>
            <a:endParaRPr/>
          </a:p>
          <a:p>
            <a:pPr indent="0" lvl="0" marL="0" rtl="0" algn="just">
              <a:spcBef>
                <a:spcPts val="1000"/>
              </a:spcBef>
              <a:spcAft>
                <a:spcPts val="0"/>
              </a:spcAft>
              <a:buClr>
                <a:schemeClr val="dk1"/>
              </a:buClr>
              <a:buSzPct val="71000"/>
              <a:buNone/>
            </a:pPr>
            <a:r>
              <a:rPr lang="en-US" sz="2800">
                <a:solidFill>
                  <a:schemeClr val="dk1"/>
                </a:solidFill>
              </a:rPr>
              <a:t>Example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MORAL ISSUE</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Discussing an idea with a friend, and developing the idea as your own.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LEGAL ISSUE </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A company taking someone's work and using it as their own for a financial gain; plagiarism and fraud.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7"/>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Descriptive and Normative Claims</a:t>
            </a:r>
            <a:endParaRPr/>
          </a:p>
        </p:txBody>
      </p:sp>
      <p:sp>
        <p:nvSpPr>
          <p:cNvPr id="261" name="Google Shape;261;p17"/>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fontScale="92500"/>
          </a:bodyPr>
          <a:lstStyle/>
          <a:p>
            <a:pPr indent="-457200" lvl="0" marL="457200" rtl="0" algn="just">
              <a:spcBef>
                <a:spcPts val="0"/>
              </a:spcBef>
              <a:spcAft>
                <a:spcPts val="0"/>
              </a:spcAft>
              <a:buClr>
                <a:schemeClr val="dk1"/>
              </a:buClr>
              <a:buSzPct val="71000"/>
              <a:buFont typeface="Noto Sans Symbols"/>
              <a:buChar char="❖"/>
            </a:pPr>
            <a:r>
              <a:rPr lang="en-US" sz="2800">
                <a:solidFill>
                  <a:schemeClr val="dk1"/>
                </a:solidFill>
              </a:rPr>
              <a:t>Claim..?</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A “claim” is statement that asserts something that could be either true or false.</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A claim is a statement that needs to be proven or supported and can be done through arguments.</a:t>
            </a:r>
            <a:endParaRPr/>
          </a:p>
          <a:p>
            <a:pPr indent="0" lvl="1" marL="457189" rtl="0" algn="just">
              <a:spcBef>
                <a:spcPts val="1000"/>
              </a:spcBef>
              <a:spcAft>
                <a:spcPts val="0"/>
              </a:spcAft>
              <a:buClr>
                <a:schemeClr val="dk1"/>
              </a:buClr>
              <a:buSzPct val="71000"/>
              <a:buNone/>
            </a:pPr>
            <a:r>
              <a:rPr lang="en-US" sz="2600">
                <a:solidFill>
                  <a:schemeClr val="dk1"/>
                </a:solidFill>
              </a:rPr>
              <a:t>Example:</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KP Oli is the greatest PM of Nepal.</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Kathmandu is capital of Nepal.</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The sky is beautiful.</a:t>
            </a:r>
            <a:endParaRPr/>
          </a:p>
          <a:p>
            <a:pPr indent="-348770" lvl="1" marL="914388" rtl="0" algn="just">
              <a:spcBef>
                <a:spcPts val="1000"/>
              </a:spcBef>
              <a:spcAft>
                <a:spcPts val="0"/>
              </a:spcAft>
              <a:buClr>
                <a:schemeClr val="dk1"/>
              </a:buClr>
              <a:buSzPct val="71000"/>
              <a:buFont typeface="Noto Sans Symbols"/>
              <a:buNone/>
            </a:pPr>
            <a:r>
              <a:t/>
            </a:r>
            <a:endParaRPr sz="26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8"/>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Descriptive and Normative Claims</a:t>
            </a:r>
            <a:endParaRPr/>
          </a:p>
        </p:txBody>
      </p:sp>
      <p:sp>
        <p:nvSpPr>
          <p:cNvPr id="268" name="Google Shape;268;p18"/>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lnSpcReduction="10000"/>
          </a:bodyPr>
          <a:lstStyle/>
          <a:p>
            <a:pPr indent="-457200" lvl="0" marL="457200" rtl="0" algn="just">
              <a:spcBef>
                <a:spcPts val="0"/>
              </a:spcBef>
              <a:spcAft>
                <a:spcPts val="0"/>
              </a:spcAft>
              <a:buClr>
                <a:schemeClr val="dk1"/>
              </a:buClr>
              <a:buSzPts val="1988"/>
              <a:buFont typeface="Noto Sans Symbols"/>
              <a:buChar char="❖"/>
            </a:pPr>
            <a:r>
              <a:rPr lang="en-US" sz="2800">
                <a:solidFill>
                  <a:schemeClr val="dk1"/>
                </a:solidFill>
              </a:rPr>
              <a:t>Descriptive Claim</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A descriptive claim is a claim that asserts that such-and-such IS the case.</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A statement that describes something.</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Express an understanding of How something is or could be.</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No evaluation, don’t involve value judgement</a:t>
            </a:r>
            <a:endParaRPr/>
          </a:p>
          <a:p>
            <a:pPr indent="0" lvl="1" marL="457189" rtl="0" algn="just">
              <a:spcBef>
                <a:spcPts val="1000"/>
              </a:spcBef>
              <a:spcAft>
                <a:spcPts val="0"/>
              </a:spcAft>
              <a:buClr>
                <a:schemeClr val="dk1"/>
              </a:buClr>
              <a:buSzPts val="1846"/>
              <a:buNone/>
            </a:pPr>
            <a:r>
              <a:rPr lang="en-US" sz="2600">
                <a:solidFill>
                  <a:schemeClr val="dk1"/>
                </a:solidFill>
              </a:rPr>
              <a:t>Example: nast.edu.np is a website. The trueness  or falseness claim can be determine without involving values. Just go to nast.edu.np.</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9"/>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Descriptive and Normative Claims</a:t>
            </a:r>
            <a:endParaRPr/>
          </a:p>
        </p:txBody>
      </p:sp>
      <p:sp>
        <p:nvSpPr>
          <p:cNvPr id="275" name="Google Shape;275;p19"/>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1988"/>
              <a:buNone/>
            </a:pPr>
            <a:r>
              <a:rPr lang="en-US" sz="2800">
                <a:solidFill>
                  <a:schemeClr val="dk1"/>
                </a:solidFill>
              </a:rPr>
              <a:t>Examples of descriptive claims:</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The mug of coffee in front of me is now at room temperature.”</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“I had toast and eggs for breakfast this morning.”</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“Kevin is under six feet tall.”</a:t>
            </a:r>
            <a:endParaRPr/>
          </a:p>
          <a:p>
            <a:pPr indent="0" lvl="0" marL="0" rtl="0" algn="just">
              <a:spcBef>
                <a:spcPts val="1000"/>
              </a:spcBef>
              <a:spcAft>
                <a:spcPts val="0"/>
              </a:spcAft>
              <a:buClr>
                <a:schemeClr val="dk1"/>
              </a:buClr>
              <a:buSzPts val="1988"/>
              <a:buNone/>
            </a:pPr>
            <a:r>
              <a:rPr b="1" i="0" lang="en-US" sz="2800">
                <a:solidFill>
                  <a:srgbClr val="212338"/>
                </a:solidFill>
                <a:latin typeface="Palatino"/>
                <a:ea typeface="Palatino"/>
                <a:cs typeface="Palatino"/>
                <a:sym typeface="Palatino"/>
              </a:rPr>
              <a:t>These are all descriptive claims.</a:t>
            </a:r>
            <a:r>
              <a:rPr b="0" i="0" lang="en-US" sz="2800">
                <a:solidFill>
                  <a:srgbClr val="212338"/>
                </a:solidFill>
                <a:latin typeface="Palatino"/>
                <a:ea typeface="Palatino"/>
                <a:cs typeface="Palatino"/>
                <a:sym typeface="Palatino"/>
              </a:rPr>
              <a:t> They make no value judgments.</a:t>
            </a:r>
            <a:endParaRPr sz="2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0"/>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Descriptive and Normative Claims</a:t>
            </a:r>
            <a:endParaRPr/>
          </a:p>
        </p:txBody>
      </p:sp>
      <p:sp>
        <p:nvSpPr>
          <p:cNvPr id="282" name="Google Shape;282;p20"/>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lnSpcReduction="10000"/>
          </a:bodyPr>
          <a:lstStyle/>
          <a:p>
            <a:pPr indent="-457200" lvl="0" marL="457200" rtl="0" algn="just">
              <a:spcBef>
                <a:spcPts val="0"/>
              </a:spcBef>
              <a:spcAft>
                <a:spcPts val="0"/>
              </a:spcAft>
              <a:buClr>
                <a:schemeClr val="dk1"/>
              </a:buClr>
              <a:buSzPts val="1988"/>
              <a:buFont typeface="Noto Sans Symbols"/>
              <a:buChar char="❖"/>
            </a:pPr>
            <a:r>
              <a:rPr lang="en-US" sz="2800">
                <a:solidFill>
                  <a:schemeClr val="dk1"/>
                </a:solidFill>
              </a:rPr>
              <a:t>Normative Claim</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A NORMATIVE claim, on the other hand, is a claim that asserts that such-and-such OUGHT to be the case.</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A statement that express evaluation of something.</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Makes an evaluation relative to something else</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involve value judgement</a:t>
            </a:r>
            <a:endParaRPr/>
          </a:p>
          <a:p>
            <a:pPr indent="0" lvl="1" marL="457189" rtl="0" algn="just">
              <a:spcBef>
                <a:spcPts val="1000"/>
              </a:spcBef>
              <a:spcAft>
                <a:spcPts val="0"/>
              </a:spcAft>
              <a:buClr>
                <a:schemeClr val="dk1"/>
              </a:buClr>
              <a:buSzPts val="1846"/>
              <a:buNone/>
            </a:pPr>
            <a:r>
              <a:rPr lang="en-US" sz="2600">
                <a:solidFill>
                  <a:schemeClr val="dk1"/>
                </a:solidFill>
              </a:rPr>
              <a:t>Example: nast.edu.np is a good website. It involves value.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1"/>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Descriptive and Normative Claims</a:t>
            </a:r>
            <a:endParaRPr/>
          </a:p>
        </p:txBody>
      </p:sp>
      <p:sp>
        <p:nvSpPr>
          <p:cNvPr id="289" name="Google Shape;289;p21"/>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spcBef>
                <a:spcPts val="0"/>
              </a:spcBef>
              <a:spcAft>
                <a:spcPts val="0"/>
              </a:spcAft>
              <a:buClr>
                <a:schemeClr val="dk1"/>
              </a:buClr>
              <a:buSzPct val="71000"/>
              <a:buNone/>
            </a:pPr>
            <a:r>
              <a:rPr lang="en-US" sz="2800">
                <a:solidFill>
                  <a:schemeClr val="dk1"/>
                </a:solidFill>
              </a:rPr>
              <a:t>Examples of normative claims:</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PUBG is a better game than Call of Duty.</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“That was a really stupid thing to do.”</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“If you wanted to pass the exam you should  study harder.”</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“The State should not have the right to take the life of one of its citizens as punishment for a crime.”</a:t>
            </a:r>
            <a:endParaRPr/>
          </a:p>
          <a:p>
            <a:pPr indent="-457200" lvl="0" marL="457200" rtl="0" algn="just">
              <a:spcBef>
                <a:spcPts val="1000"/>
              </a:spcBef>
              <a:spcAft>
                <a:spcPts val="0"/>
              </a:spcAft>
              <a:buClr>
                <a:schemeClr val="dk1"/>
              </a:buClr>
              <a:buSzPct val="71000"/>
              <a:buFont typeface="Noto Sans Symbols"/>
              <a:buChar char="⮚"/>
            </a:pPr>
            <a:r>
              <a:rPr b="1" i="0" lang="en-US" sz="2800">
                <a:solidFill>
                  <a:srgbClr val="212338"/>
                </a:solidFill>
                <a:latin typeface="Palatino"/>
                <a:ea typeface="Palatino"/>
                <a:cs typeface="Palatino"/>
                <a:sym typeface="Palatino"/>
              </a:rPr>
              <a:t>These are all normative claims</a:t>
            </a:r>
            <a:r>
              <a:rPr b="0" i="0" lang="en-US" sz="2800">
                <a:solidFill>
                  <a:srgbClr val="212338"/>
                </a:solidFill>
                <a:latin typeface="Palatino"/>
                <a:ea typeface="Palatino"/>
                <a:cs typeface="Palatino"/>
                <a:sym typeface="Palatino"/>
              </a:rPr>
              <a:t>. Each one of them expresses a value judgment of some kind.</a:t>
            </a:r>
            <a:endParaRPr sz="28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2"/>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Ethical Relativism</a:t>
            </a:r>
            <a:endParaRPr/>
          </a:p>
        </p:txBody>
      </p:sp>
      <p:sp>
        <p:nvSpPr>
          <p:cNvPr id="296" name="Google Shape;296;p22"/>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fontScale="92500" lnSpcReduction="20000"/>
          </a:bodyPr>
          <a:lstStyle/>
          <a:p>
            <a:pPr indent="-457200" lvl="0" marL="457200" rtl="0" algn="just">
              <a:spcBef>
                <a:spcPts val="0"/>
              </a:spcBef>
              <a:spcAft>
                <a:spcPts val="0"/>
              </a:spcAft>
              <a:buClr>
                <a:schemeClr val="dk1"/>
              </a:buClr>
              <a:buSzPct val="71000"/>
              <a:buFont typeface="Noto Sans Symbols"/>
              <a:buChar char="⮚"/>
            </a:pPr>
            <a:r>
              <a:rPr i="0" lang="en-US" sz="2800">
                <a:solidFill>
                  <a:srgbClr val="212338"/>
                </a:solidFill>
                <a:latin typeface="Palatino"/>
                <a:ea typeface="Palatino"/>
                <a:cs typeface="Palatino"/>
                <a:sym typeface="Palatino"/>
              </a:rPr>
              <a:t>Ethical relativism is the theory that holds that morality is relative to the norms of one's culture. </a:t>
            </a:r>
            <a:endParaRPr/>
          </a:p>
          <a:p>
            <a:pPr indent="-457200" lvl="0" marL="457200" rtl="0" algn="just">
              <a:spcBef>
                <a:spcPts val="1000"/>
              </a:spcBef>
              <a:spcAft>
                <a:spcPts val="0"/>
              </a:spcAft>
              <a:buClr>
                <a:schemeClr val="dk1"/>
              </a:buClr>
              <a:buSzPct val="71000"/>
              <a:buFont typeface="Noto Sans Symbols"/>
              <a:buChar char="⮚"/>
            </a:pPr>
            <a:r>
              <a:rPr i="0" lang="en-US" sz="2800">
                <a:solidFill>
                  <a:srgbClr val="212338"/>
                </a:solidFill>
                <a:latin typeface="Palatino"/>
                <a:ea typeface="Palatino"/>
                <a:cs typeface="Palatino"/>
                <a:sym typeface="Palatino"/>
              </a:rPr>
              <a:t>That is, whether an action is right or wrong depends on the moral norms of the society in which it is practiced.</a:t>
            </a:r>
            <a:endParaRPr/>
          </a:p>
          <a:p>
            <a:pPr indent="-457200" lvl="0" marL="457200" rtl="0" algn="just">
              <a:spcBef>
                <a:spcPts val="1000"/>
              </a:spcBef>
              <a:spcAft>
                <a:spcPts val="0"/>
              </a:spcAft>
              <a:buClr>
                <a:schemeClr val="dk1"/>
              </a:buClr>
              <a:buSzPct val="71000"/>
              <a:buFont typeface="Noto Sans Symbols"/>
              <a:buChar char="⮚"/>
            </a:pPr>
            <a:r>
              <a:rPr i="0" lang="en-US" sz="2800">
                <a:solidFill>
                  <a:srgbClr val="212338"/>
                </a:solidFill>
                <a:latin typeface="Palatino"/>
                <a:ea typeface="Palatino"/>
                <a:cs typeface="Palatino"/>
                <a:sym typeface="Palatino"/>
              </a:rPr>
              <a:t>The same action may be morally right in one society but be morally wrong in another.</a:t>
            </a:r>
            <a:endParaRPr/>
          </a:p>
          <a:p>
            <a:pPr indent="-457200" lvl="0" marL="457200" rtl="0" algn="just">
              <a:spcBef>
                <a:spcPts val="1000"/>
              </a:spcBef>
              <a:spcAft>
                <a:spcPts val="0"/>
              </a:spcAft>
              <a:buClr>
                <a:schemeClr val="dk1"/>
              </a:buClr>
              <a:buSzPct val="71000"/>
              <a:buFont typeface="Noto Sans Symbols"/>
              <a:buChar char="⮚"/>
            </a:pPr>
            <a:r>
              <a:rPr lang="en-US" sz="2800">
                <a:solidFill>
                  <a:srgbClr val="212338"/>
                </a:solidFill>
                <a:latin typeface="Palatino"/>
                <a:ea typeface="Palatino"/>
                <a:cs typeface="Palatino"/>
                <a:sym typeface="Palatino"/>
              </a:rPr>
              <a:t>Ethical relativism holds that there are no universally valid moral principles,</a:t>
            </a:r>
            <a:endParaRPr/>
          </a:p>
          <a:p>
            <a:pPr indent="-457200" lvl="0" marL="457200" rtl="0" algn="just">
              <a:spcBef>
                <a:spcPts val="1000"/>
              </a:spcBef>
              <a:spcAft>
                <a:spcPts val="0"/>
              </a:spcAft>
              <a:buClr>
                <a:schemeClr val="dk1"/>
              </a:buClr>
              <a:buSzPct val="71000"/>
              <a:buFont typeface="Noto Sans Symbols"/>
              <a:buChar char="⮚"/>
            </a:pPr>
            <a:r>
              <a:rPr lang="en-US" sz="2800">
                <a:solidFill>
                  <a:srgbClr val="212338"/>
                </a:solidFill>
                <a:latin typeface="Palatino"/>
                <a:ea typeface="Palatino"/>
                <a:cs typeface="Palatino"/>
                <a:sym typeface="Palatino"/>
              </a:rPr>
              <a:t>but rather all moral principles are valid relative to culture or individual.</a:t>
            </a:r>
            <a:endParaRPr sz="28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3"/>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Ethical Relativism</a:t>
            </a:r>
            <a:endParaRPr/>
          </a:p>
        </p:txBody>
      </p:sp>
      <p:sp>
        <p:nvSpPr>
          <p:cNvPr id="303" name="Google Shape;303;p23"/>
          <p:cNvSpPr txBox="1"/>
          <p:nvPr>
            <p:ph idx="1" type="subTitle"/>
          </p:nvPr>
        </p:nvSpPr>
        <p:spPr>
          <a:xfrm>
            <a:off x="1281567" y="1004926"/>
            <a:ext cx="8094254" cy="5144084"/>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1988"/>
              <a:buNone/>
            </a:pPr>
            <a:r>
              <a:rPr i="0" lang="en-US" sz="2800">
                <a:solidFill>
                  <a:srgbClr val="212338"/>
                </a:solidFill>
                <a:latin typeface="Palatino"/>
                <a:ea typeface="Palatino"/>
                <a:cs typeface="Palatino"/>
                <a:sym typeface="Palatino"/>
              </a:rPr>
              <a:t>Two Forms of Ethical Relativism:</a:t>
            </a:r>
            <a:endParaRPr/>
          </a:p>
          <a:p>
            <a:pPr indent="0" lvl="0" marL="0" rtl="0" algn="just">
              <a:spcBef>
                <a:spcPts val="1000"/>
              </a:spcBef>
              <a:spcAft>
                <a:spcPts val="0"/>
              </a:spcAft>
              <a:buClr>
                <a:schemeClr val="dk1"/>
              </a:buClr>
              <a:buSzPts val="1988"/>
              <a:buNone/>
            </a:pPr>
            <a:r>
              <a:rPr i="0" lang="en-US" sz="2800">
                <a:solidFill>
                  <a:srgbClr val="212338"/>
                </a:solidFill>
                <a:latin typeface="Palatino"/>
                <a:ea typeface="Palatino"/>
                <a:cs typeface="Palatino"/>
                <a:sym typeface="Palatino"/>
              </a:rPr>
              <a:t>1.	</a:t>
            </a:r>
            <a:r>
              <a:rPr b="1" lang="en-US" sz="2800">
                <a:solidFill>
                  <a:srgbClr val="212338"/>
                </a:solidFill>
                <a:latin typeface="Palatino"/>
                <a:ea typeface="Palatino"/>
                <a:cs typeface="Palatino"/>
                <a:sym typeface="Palatino"/>
              </a:rPr>
              <a:t>C</a:t>
            </a:r>
            <a:r>
              <a:rPr b="1" i="0" lang="en-US" sz="2800">
                <a:solidFill>
                  <a:srgbClr val="212338"/>
                </a:solidFill>
                <a:latin typeface="Palatino"/>
                <a:ea typeface="Palatino"/>
                <a:cs typeface="Palatino"/>
                <a:sym typeface="Palatino"/>
              </a:rPr>
              <a:t>ultural (social) relativism</a:t>
            </a:r>
            <a:r>
              <a:rPr i="0" lang="en-US" sz="2800">
                <a:solidFill>
                  <a:srgbClr val="212338"/>
                </a:solidFill>
                <a:latin typeface="Palatino"/>
                <a:ea typeface="Palatino"/>
                <a:cs typeface="Palatino"/>
                <a:sym typeface="Palatino"/>
              </a:rPr>
              <a:t>—What is right or wrong may vary fundamentally from one society/culture to another but is the same for people of the same society/culture</a:t>
            </a:r>
            <a:endParaRPr/>
          </a:p>
          <a:p>
            <a:pPr indent="0" lvl="0" marL="0" rtl="0" algn="just">
              <a:spcBef>
                <a:spcPts val="1000"/>
              </a:spcBef>
              <a:spcAft>
                <a:spcPts val="0"/>
              </a:spcAft>
              <a:buClr>
                <a:schemeClr val="dk1"/>
              </a:buClr>
              <a:buSzPts val="1988"/>
              <a:buNone/>
            </a:pPr>
            <a:r>
              <a:rPr i="0" lang="en-US" sz="2800">
                <a:solidFill>
                  <a:srgbClr val="212338"/>
                </a:solidFill>
                <a:latin typeface="Palatino"/>
                <a:ea typeface="Palatino"/>
                <a:cs typeface="Palatino"/>
                <a:sym typeface="Palatino"/>
              </a:rPr>
              <a:t>2.	</a:t>
            </a:r>
            <a:r>
              <a:rPr b="1" lang="en-US" sz="2800">
                <a:solidFill>
                  <a:srgbClr val="212338"/>
                </a:solidFill>
                <a:latin typeface="Palatino"/>
                <a:ea typeface="Palatino"/>
                <a:cs typeface="Palatino"/>
                <a:sym typeface="Palatino"/>
              </a:rPr>
              <a:t>E</a:t>
            </a:r>
            <a:r>
              <a:rPr b="1" i="0" lang="en-US" sz="2800">
                <a:solidFill>
                  <a:srgbClr val="212338"/>
                </a:solidFill>
                <a:latin typeface="Palatino"/>
                <a:ea typeface="Palatino"/>
                <a:cs typeface="Palatino"/>
                <a:sym typeface="Palatino"/>
              </a:rPr>
              <a:t>xtreme (individual) relativism</a:t>
            </a:r>
            <a:r>
              <a:rPr i="0" lang="en-US" sz="2800">
                <a:solidFill>
                  <a:srgbClr val="212338"/>
                </a:solidFill>
                <a:latin typeface="Palatino"/>
                <a:ea typeface="Palatino"/>
                <a:cs typeface="Palatino"/>
                <a:sym typeface="Palatino"/>
              </a:rPr>
              <a:t>—What is right or wrong may vary fundamentally from one person to another even within the same society/culture.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4"/>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Ethical Relativism</a:t>
            </a:r>
            <a:endParaRPr/>
          </a:p>
        </p:txBody>
      </p:sp>
      <p:sp>
        <p:nvSpPr>
          <p:cNvPr id="310" name="Google Shape;310;p24"/>
          <p:cNvSpPr txBox="1"/>
          <p:nvPr>
            <p:ph idx="1" type="subTitle"/>
          </p:nvPr>
        </p:nvSpPr>
        <p:spPr>
          <a:xfrm>
            <a:off x="1281567" y="1139689"/>
            <a:ext cx="3502468" cy="450572"/>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Clr>
                <a:schemeClr val="dk1"/>
              </a:buClr>
              <a:buSzPct val="71000"/>
              <a:buNone/>
            </a:pPr>
            <a:r>
              <a:rPr i="0" lang="en-US" sz="2800">
                <a:solidFill>
                  <a:srgbClr val="212338"/>
                </a:solidFill>
                <a:latin typeface="Palatino"/>
                <a:ea typeface="Palatino"/>
                <a:cs typeface="Palatino"/>
                <a:sym typeface="Palatino"/>
              </a:rPr>
              <a:t>Example:</a:t>
            </a:r>
            <a:endParaRPr/>
          </a:p>
          <a:p>
            <a:pPr indent="0" lvl="0" marL="0" rtl="0" algn="l">
              <a:spcBef>
                <a:spcPts val="1000"/>
              </a:spcBef>
              <a:spcAft>
                <a:spcPts val="0"/>
              </a:spcAft>
              <a:buClr>
                <a:schemeClr val="dk1"/>
              </a:buClr>
              <a:buSzPct val="71000"/>
              <a:buNone/>
            </a:pPr>
            <a:r>
              <a:t/>
            </a:r>
            <a:endParaRPr sz="2800">
              <a:solidFill>
                <a:schemeClr val="dk1"/>
              </a:solidFill>
            </a:endParaRPr>
          </a:p>
        </p:txBody>
      </p:sp>
      <p:graphicFrame>
        <p:nvGraphicFramePr>
          <p:cNvPr id="311" name="Google Shape;311;p24"/>
          <p:cNvGraphicFramePr/>
          <p:nvPr/>
        </p:nvGraphicFramePr>
        <p:xfrm>
          <a:off x="1281568" y="1736035"/>
          <a:ext cx="3000000" cy="3000000"/>
        </p:xfrm>
        <a:graphic>
          <a:graphicData uri="http://schemas.openxmlformats.org/drawingml/2006/table">
            <a:tbl>
              <a:tblPr>
                <a:noFill/>
                <a:tableStyleId>{7BF63C0D-CB3F-4162-8D00-9D047F4488D4}</a:tableStyleId>
              </a:tblPr>
              <a:tblGrid>
                <a:gridCol w="4166375"/>
                <a:gridCol w="3927900"/>
              </a:tblGrid>
              <a:tr h="304800">
                <a:tc>
                  <a:txBody>
                    <a:bodyPr/>
                    <a:lstStyle/>
                    <a:p>
                      <a:pPr indent="0" lvl="0" marL="25400" marR="25400" rtl="0" algn="l">
                        <a:lnSpc>
                          <a:spcPct val="66666"/>
                        </a:lnSpc>
                        <a:spcBef>
                          <a:spcPts val="0"/>
                        </a:spcBef>
                        <a:spcAft>
                          <a:spcPts val="0"/>
                        </a:spcAft>
                        <a:buNone/>
                      </a:pPr>
                      <a:r>
                        <a:rPr b="1" lang="en-US" sz="1800" u="none" cap="none" strike="noStrike">
                          <a:solidFill>
                            <a:srgbClr val="000000"/>
                          </a:solidFill>
                          <a:latin typeface="Times New Roman"/>
                          <a:ea typeface="Times New Roman"/>
                          <a:cs typeface="Times New Roman"/>
                          <a:sym typeface="Times New Roman"/>
                        </a:rPr>
                        <a:t>Moral in USA</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25400" marR="25400" rtl="0" algn="l">
                        <a:lnSpc>
                          <a:spcPct val="66666"/>
                        </a:lnSpc>
                        <a:spcBef>
                          <a:spcPts val="0"/>
                        </a:spcBef>
                        <a:spcAft>
                          <a:spcPts val="0"/>
                        </a:spcAft>
                        <a:buNone/>
                      </a:pPr>
                      <a:r>
                        <a:rPr b="1" lang="en-US" sz="1800" u="none" cap="none" strike="noStrike">
                          <a:solidFill>
                            <a:srgbClr val="000000"/>
                          </a:solidFill>
                          <a:latin typeface="Times New Roman"/>
                          <a:ea typeface="Times New Roman"/>
                          <a:cs typeface="Times New Roman"/>
                          <a:sym typeface="Times New Roman"/>
                        </a:rPr>
                        <a:t>Immoral in</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25400" marR="25400" rtl="0" algn="l">
                        <a:lnSpc>
                          <a:spcPct val="66666"/>
                        </a:lnSpc>
                        <a:spcBef>
                          <a:spcPts val="0"/>
                        </a:spcBef>
                        <a:spcAft>
                          <a:spcPts val="0"/>
                        </a:spcAft>
                        <a:buNone/>
                      </a:pPr>
                      <a:r>
                        <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25400" marR="25400" rtl="0" algn="l">
                        <a:lnSpc>
                          <a:spcPct val="66666"/>
                        </a:lnSpc>
                        <a:spcBef>
                          <a:spcPts val="0"/>
                        </a:spcBef>
                        <a:spcAft>
                          <a:spcPts val="0"/>
                        </a:spcAft>
                        <a:buNone/>
                      </a:pPr>
                      <a:r>
                        <a:rPr lang="en-US" sz="1800" u="none" cap="none" strike="noStrike"/>
                        <a:t> </a:t>
                      </a:r>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4950">
                <a:tc>
                  <a:txBody>
                    <a:bodyPr/>
                    <a:lstStyle/>
                    <a:p>
                      <a:pPr indent="0" lvl="0" marL="25400" marR="25400" rtl="0" algn="l">
                        <a:lnSpc>
                          <a:spcPct val="66666"/>
                        </a:lnSpc>
                        <a:spcBef>
                          <a:spcPts val="0"/>
                        </a:spcBef>
                        <a:spcAft>
                          <a:spcPts val="0"/>
                        </a:spcAft>
                        <a:buNone/>
                      </a:pPr>
                      <a:r>
                        <a:rPr lang="en-US" sz="1800" u="none" cap="none" strike="noStrike">
                          <a:solidFill>
                            <a:srgbClr val="000000"/>
                          </a:solidFill>
                          <a:latin typeface="Times New Roman"/>
                          <a:ea typeface="Times New Roman"/>
                          <a:cs typeface="Times New Roman"/>
                          <a:sym typeface="Times New Roman"/>
                        </a:rPr>
                        <a:t>Eating Beef</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25400" marR="25400" rtl="0" algn="l">
                        <a:lnSpc>
                          <a:spcPct val="66666"/>
                        </a:lnSpc>
                        <a:spcBef>
                          <a:spcPts val="0"/>
                        </a:spcBef>
                        <a:spcAft>
                          <a:spcPts val="0"/>
                        </a:spcAft>
                        <a:buNone/>
                      </a:pPr>
                      <a:r>
                        <a:rPr lang="en-US" sz="1800" u="none" cap="none" strike="noStrike">
                          <a:solidFill>
                            <a:srgbClr val="000000"/>
                          </a:solidFill>
                          <a:latin typeface="Times New Roman"/>
                          <a:ea typeface="Times New Roman"/>
                          <a:cs typeface="Times New Roman"/>
                          <a:sym typeface="Times New Roman"/>
                        </a:rPr>
                        <a:t>India</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4950">
                <a:tc>
                  <a:txBody>
                    <a:bodyPr/>
                    <a:lstStyle/>
                    <a:p>
                      <a:pPr indent="0" lvl="0" marL="25400" marR="25400" rtl="0" algn="l">
                        <a:lnSpc>
                          <a:spcPct val="66666"/>
                        </a:lnSpc>
                        <a:spcBef>
                          <a:spcPts val="0"/>
                        </a:spcBef>
                        <a:spcAft>
                          <a:spcPts val="0"/>
                        </a:spcAft>
                        <a:buNone/>
                      </a:pPr>
                      <a:r>
                        <a:rPr lang="en-US" sz="1800" u="none" cap="none" strike="noStrike">
                          <a:solidFill>
                            <a:srgbClr val="000000"/>
                          </a:solidFill>
                          <a:latin typeface="Times New Roman"/>
                          <a:ea typeface="Times New Roman"/>
                          <a:cs typeface="Times New Roman"/>
                          <a:sym typeface="Times New Roman"/>
                        </a:rPr>
                        <a:t>Drinking alcohol, Gambling</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25400" marR="25400" rtl="0" algn="l">
                        <a:lnSpc>
                          <a:spcPct val="66666"/>
                        </a:lnSpc>
                        <a:spcBef>
                          <a:spcPts val="0"/>
                        </a:spcBef>
                        <a:spcAft>
                          <a:spcPts val="0"/>
                        </a:spcAft>
                        <a:buNone/>
                      </a:pPr>
                      <a:r>
                        <a:rPr lang="en-US" sz="1800" u="none" cap="none" strike="noStrike">
                          <a:solidFill>
                            <a:srgbClr val="000000"/>
                          </a:solidFill>
                          <a:latin typeface="Times New Roman"/>
                          <a:ea typeface="Times New Roman"/>
                          <a:cs typeface="Times New Roman"/>
                          <a:sym typeface="Times New Roman"/>
                        </a:rPr>
                        <a:t>Middle Eastern Islamic Countries</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4950">
                <a:tc>
                  <a:txBody>
                    <a:bodyPr/>
                    <a:lstStyle/>
                    <a:p>
                      <a:pPr indent="0" lvl="0" marL="25400" marR="25400" rtl="0" algn="l">
                        <a:lnSpc>
                          <a:spcPct val="66666"/>
                        </a:lnSpc>
                        <a:spcBef>
                          <a:spcPts val="0"/>
                        </a:spcBef>
                        <a:spcAft>
                          <a:spcPts val="0"/>
                        </a:spcAft>
                        <a:buNone/>
                      </a:pPr>
                      <a:r>
                        <a:rPr lang="en-US" sz="1800" u="none" cap="none" strike="noStrike">
                          <a:solidFill>
                            <a:srgbClr val="000000"/>
                          </a:solidFill>
                          <a:latin typeface="Times New Roman"/>
                          <a:ea typeface="Times New Roman"/>
                          <a:cs typeface="Times New Roman"/>
                          <a:sym typeface="Times New Roman"/>
                        </a:rPr>
                        <a:t>Women in school or business</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25400" marR="25400" rtl="0" algn="l">
                        <a:lnSpc>
                          <a:spcPct val="66666"/>
                        </a:lnSpc>
                        <a:spcBef>
                          <a:spcPts val="0"/>
                        </a:spcBef>
                        <a:spcAft>
                          <a:spcPts val="0"/>
                        </a:spcAft>
                        <a:buNone/>
                      </a:pPr>
                      <a:r>
                        <a:rPr lang="en-US" sz="1800" u="none" cap="none" strike="noStrike">
                          <a:solidFill>
                            <a:srgbClr val="000000"/>
                          </a:solidFill>
                          <a:latin typeface="Times New Roman"/>
                          <a:ea typeface="Times New Roman"/>
                          <a:cs typeface="Times New Roman"/>
                          <a:sym typeface="Times New Roman"/>
                        </a:rPr>
                        <a:t>Afghanistan</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4950">
                <a:tc>
                  <a:txBody>
                    <a:bodyPr/>
                    <a:lstStyle/>
                    <a:p>
                      <a:pPr indent="0" lvl="0" marL="25400" marR="25400" rtl="0" algn="l">
                        <a:lnSpc>
                          <a:spcPct val="66666"/>
                        </a:lnSpc>
                        <a:spcBef>
                          <a:spcPts val="0"/>
                        </a:spcBef>
                        <a:spcAft>
                          <a:spcPts val="0"/>
                        </a:spcAft>
                        <a:buNone/>
                      </a:pPr>
                      <a:r>
                        <a:rPr lang="en-US" sz="1800" u="none" cap="none" strike="noStrike">
                          <a:solidFill>
                            <a:srgbClr val="000000"/>
                          </a:solidFill>
                          <a:latin typeface="Times New Roman"/>
                          <a:ea typeface="Times New Roman"/>
                          <a:cs typeface="Times New Roman"/>
                          <a:sym typeface="Times New Roman"/>
                        </a:rPr>
                        <a:t>Women wearing shorts, face uncovered</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25400" marR="25400" rtl="0" algn="l">
                        <a:lnSpc>
                          <a:spcPct val="66666"/>
                        </a:lnSpc>
                        <a:spcBef>
                          <a:spcPts val="0"/>
                        </a:spcBef>
                        <a:spcAft>
                          <a:spcPts val="0"/>
                        </a:spcAft>
                        <a:buNone/>
                      </a:pPr>
                      <a:r>
                        <a:rPr lang="en-US" sz="1800" u="none" cap="none" strike="noStrike">
                          <a:solidFill>
                            <a:srgbClr val="000000"/>
                          </a:solidFill>
                          <a:latin typeface="Times New Roman"/>
                          <a:ea typeface="Times New Roman"/>
                          <a:cs typeface="Times New Roman"/>
                          <a:sym typeface="Times New Roman"/>
                        </a:rPr>
                        <a:t>Iran, Saudi Arabia, Sudan</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312" name="Google Shape;312;p24"/>
          <p:cNvGraphicFramePr/>
          <p:nvPr/>
        </p:nvGraphicFramePr>
        <p:xfrm>
          <a:off x="1281567" y="4227410"/>
          <a:ext cx="3000000" cy="3000000"/>
        </p:xfrm>
        <a:graphic>
          <a:graphicData uri="http://schemas.openxmlformats.org/drawingml/2006/table">
            <a:tbl>
              <a:tblPr>
                <a:noFill/>
                <a:tableStyleId>{7BF63C0D-CB3F-4162-8D00-9D047F4488D4}</a:tableStyleId>
              </a:tblPr>
              <a:tblGrid>
                <a:gridCol w="4166375"/>
                <a:gridCol w="3927900"/>
              </a:tblGrid>
              <a:tr h="383175">
                <a:tc>
                  <a:txBody>
                    <a:bodyPr/>
                    <a:lstStyle/>
                    <a:p>
                      <a:pPr indent="0" lvl="0" marL="25400" marR="25400" rtl="0" algn="l">
                        <a:lnSpc>
                          <a:spcPct val="66666"/>
                        </a:lnSpc>
                        <a:spcBef>
                          <a:spcPts val="0"/>
                        </a:spcBef>
                        <a:spcAft>
                          <a:spcPts val="0"/>
                        </a:spcAft>
                        <a:buNone/>
                      </a:pPr>
                      <a:r>
                        <a:rPr b="1" lang="en-US" sz="1800" u="none" cap="none" strike="noStrike">
                          <a:solidFill>
                            <a:srgbClr val="000000"/>
                          </a:solidFill>
                          <a:latin typeface="Times New Roman"/>
                          <a:ea typeface="Times New Roman"/>
                          <a:cs typeface="Times New Roman"/>
                          <a:sym typeface="Times New Roman"/>
                        </a:rPr>
                        <a:t>Immoral in USA</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25400" marR="25400" rtl="0" algn="l">
                        <a:lnSpc>
                          <a:spcPct val="66666"/>
                        </a:lnSpc>
                        <a:spcBef>
                          <a:spcPts val="0"/>
                        </a:spcBef>
                        <a:spcAft>
                          <a:spcPts val="0"/>
                        </a:spcAft>
                        <a:buNone/>
                      </a:pPr>
                      <a:r>
                        <a:rPr b="1" lang="en-US" sz="1800" u="none" cap="none" strike="noStrike">
                          <a:solidFill>
                            <a:srgbClr val="000000"/>
                          </a:solidFill>
                          <a:latin typeface="Times New Roman"/>
                          <a:ea typeface="Times New Roman"/>
                          <a:cs typeface="Times New Roman"/>
                          <a:sym typeface="Times New Roman"/>
                        </a:rPr>
                        <a:t>Moral or Acceptable</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1575">
                <a:tc>
                  <a:txBody>
                    <a:bodyPr/>
                    <a:lstStyle/>
                    <a:p>
                      <a:pPr indent="0" lvl="0" marL="25400" marR="25400" rtl="0" algn="l">
                        <a:lnSpc>
                          <a:spcPct val="66666"/>
                        </a:lnSpc>
                        <a:spcBef>
                          <a:spcPts val="0"/>
                        </a:spcBef>
                        <a:spcAft>
                          <a:spcPts val="0"/>
                        </a:spcAft>
                        <a:buNone/>
                      </a:pPr>
                      <a:r>
                        <a:rPr lang="en-US" sz="1800" u="none" cap="none" strike="noStrike">
                          <a:solidFill>
                            <a:srgbClr val="000000"/>
                          </a:solidFill>
                          <a:latin typeface="Times New Roman"/>
                          <a:ea typeface="Times New Roman"/>
                          <a:cs typeface="Times New Roman"/>
                          <a:sym typeface="Times New Roman"/>
                        </a:rPr>
                        <a:t>Killing newborn females</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25400" marR="25400" rtl="0" algn="l">
                        <a:lnSpc>
                          <a:spcPct val="66666"/>
                        </a:lnSpc>
                        <a:spcBef>
                          <a:spcPts val="0"/>
                        </a:spcBef>
                        <a:spcAft>
                          <a:spcPts val="0"/>
                        </a:spcAft>
                        <a:buNone/>
                      </a:pPr>
                      <a:r>
                        <a:rPr lang="en-US" sz="1800" u="none" cap="none" strike="noStrike">
                          <a:solidFill>
                            <a:srgbClr val="000000"/>
                          </a:solidFill>
                          <a:latin typeface="Times New Roman"/>
                          <a:ea typeface="Times New Roman"/>
                          <a:cs typeface="Times New Roman"/>
                          <a:sym typeface="Times New Roman"/>
                        </a:rPr>
                        <a:t>China, India</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0175">
                <a:tc>
                  <a:txBody>
                    <a:bodyPr/>
                    <a:lstStyle/>
                    <a:p>
                      <a:pPr indent="0" lvl="0" marL="25400" marR="25400" rtl="0" algn="l">
                        <a:lnSpc>
                          <a:spcPct val="66666"/>
                        </a:lnSpc>
                        <a:spcBef>
                          <a:spcPts val="0"/>
                        </a:spcBef>
                        <a:spcAft>
                          <a:spcPts val="0"/>
                        </a:spcAft>
                        <a:buNone/>
                      </a:pPr>
                      <a:r>
                        <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25400" marR="25400" rtl="0" algn="l">
                        <a:lnSpc>
                          <a:spcPct val="66666"/>
                        </a:lnSpc>
                        <a:spcBef>
                          <a:spcPts val="0"/>
                        </a:spcBef>
                        <a:spcAft>
                          <a:spcPts val="0"/>
                        </a:spcAft>
                        <a:buNone/>
                      </a:pPr>
                      <a:r>
                        <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99275">
                <a:tc>
                  <a:txBody>
                    <a:bodyPr/>
                    <a:lstStyle/>
                    <a:p>
                      <a:pPr indent="0" lvl="0" marL="25400" marR="25400" rtl="0" algn="l">
                        <a:lnSpc>
                          <a:spcPct val="66666"/>
                        </a:lnSpc>
                        <a:spcBef>
                          <a:spcPts val="0"/>
                        </a:spcBef>
                        <a:spcAft>
                          <a:spcPts val="0"/>
                        </a:spcAft>
                        <a:buNone/>
                      </a:pPr>
                      <a:r>
                        <a:rPr lang="en-US" sz="1800" u="none" cap="none" strike="noStrike">
                          <a:solidFill>
                            <a:srgbClr val="000000"/>
                          </a:solidFill>
                          <a:latin typeface="Times New Roman"/>
                          <a:ea typeface="Times New Roman"/>
                          <a:cs typeface="Times New Roman"/>
                          <a:sym typeface="Times New Roman"/>
                        </a:rPr>
                        <a:t>Family kills a woman family member who is raped</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25400" marR="25400" rtl="0" algn="l">
                        <a:lnSpc>
                          <a:spcPct val="66666"/>
                        </a:lnSpc>
                        <a:spcBef>
                          <a:spcPts val="0"/>
                        </a:spcBef>
                        <a:spcAft>
                          <a:spcPts val="0"/>
                        </a:spcAft>
                        <a:buNone/>
                      </a:pPr>
                      <a:r>
                        <a:rPr lang="en-US" sz="1800" u="none" cap="none" strike="noStrike">
                          <a:solidFill>
                            <a:srgbClr val="000000"/>
                          </a:solidFill>
                          <a:latin typeface="Times New Roman"/>
                          <a:ea typeface="Times New Roman"/>
                          <a:cs typeface="Times New Roman"/>
                          <a:sym typeface="Times New Roman"/>
                        </a:rPr>
                        <a:t>Somalia, Sudan</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5"/>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Ethical Relativism</a:t>
            </a:r>
            <a:endParaRPr/>
          </a:p>
        </p:txBody>
      </p:sp>
      <p:sp>
        <p:nvSpPr>
          <p:cNvPr id="319" name="Google Shape;319;p25"/>
          <p:cNvSpPr txBox="1"/>
          <p:nvPr>
            <p:ph idx="1" type="subTitle"/>
          </p:nvPr>
        </p:nvSpPr>
        <p:spPr>
          <a:xfrm>
            <a:off x="1281567" y="1139688"/>
            <a:ext cx="8094254" cy="4996069"/>
          </a:xfrm>
          <a:prstGeom prst="rect">
            <a:avLst/>
          </a:prstGeom>
          <a:noFill/>
          <a:ln>
            <a:noFill/>
          </a:ln>
        </p:spPr>
        <p:txBody>
          <a:bodyPr anchorCtr="0" anchor="t" bIns="45700" lIns="91425" spcFirstLastPara="1" rIns="91425" wrap="square" tIns="45700">
            <a:normAutofit fontScale="92500"/>
          </a:bodyPr>
          <a:lstStyle/>
          <a:p>
            <a:pPr indent="-457200" lvl="0" marL="457200" rtl="0" algn="just">
              <a:spcBef>
                <a:spcPts val="0"/>
              </a:spcBef>
              <a:spcAft>
                <a:spcPts val="0"/>
              </a:spcAft>
              <a:buClr>
                <a:schemeClr val="dk1"/>
              </a:buClr>
              <a:buSzPct val="71000"/>
              <a:buFont typeface="Noto Sans Symbols"/>
              <a:buChar char="⮚"/>
            </a:pPr>
            <a:r>
              <a:rPr i="0" lang="en-US" sz="2800">
                <a:solidFill>
                  <a:srgbClr val="212338"/>
                </a:solidFill>
                <a:latin typeface="Palatino"/>
                <a:ea typeface="Palatino"/>
                <a:cs typeface="Palatino"/>
                <a:sym typeface="Palatino"/>
              </a:rPr>
              <a:t>One advantage of ethical relativism is that it allows for a wide variety of cultures and practices. It also allows people to adapt ethically as the culture, knowledge, and technology change in society. This is a good and valid form of relativism.</a:t>
            </a:r>
            <a:endParaRPr/>
          </a:p>
          <a:p>
            <a:pPr indent="-457200" lvl="0" marL="457200" rtl="0" algn="just">
              <a:spcBef>
                <a:spcPts val="1000"/>
              </a:spcBef>
              <a:spcAft>
                <a:spcPts val="0"/>
              </a:spcAft>
              <a:buClr>
                <a:schemeClr val="dk1"/>
              </a:buClr>
              <a:buSzPct val="71000"/>
              <a:buFont typeface="Noto Sans Symbols"/>
              <a:buChar char="⮚"/>
            </a:pPr>
            <a:r>
              <a:rPr i="0" lang="en-US" sz="2800">
                <a:solidFill>
                  <a:srgbClr val="212338"/>
                </a:solidFill>
                <a:latin typeface="Palatino"/>
                <a:ea typeface="Palatino"/>
                <a:cs typeface="Palatino"/>
                <a:sym typeface="Palatino"/>
              </a:rPr>
              <a:t>The disadvantage of ethical relativism is that truth, right and wrong, and justice are all relative. Just because a group of people think that something is right does not make it so. Slavery is a good example of this. Two hundred years ago in America, slavery was the norm and morally acceptable. Now it is not.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6"/>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Utilitarianism and Deontological Theories</a:t>
            </a:r>
            <a:endParaRPr/>
          </a:p>
        </p:txBody>
      </p:sp>
      <p:sp>
        <p:nvSpPr>
          <p:cNvPr id="326" name="Google Shape;326;p26"/>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fontScale="92500"/>
          </a:bodyPr>
          <a:lstStyle/>
          <a:p>
            <a:pPr indent="0" lvl="0" marL="0" rtl="0" algn="just">
              <a:spcBef>
                <a:spcPts val="0"/>
              </a:spcBef>
              <a:spcAft>
                <a:spcPts val="0"/>
              </a:spcAft>
              <a:buClr>
                <a:schemeClr val="dk1"/>
              </a:buClr>
              <a:buSzPct val="71000"/>
              <a:buNone/>
            </a:pPr>
            <a:r>
              <a:rPr b="1" i="0" lang="en-US" sz="2800">
                <a:solidFill>
                  <a:srgbClr val="212338"/>
                </a:solidFill>
                <a:latin typeface="Palatino"/>
                <a:ea typeface="Palatino"/>
                <a:cs typeface="Palatino"/>
                <a:sym typeface="Palatino"/>
              </a:rPr>
              <a:t>Utilitarianism: (</a:t>
            </a:r>
            <a:r>
              <a:rPr i="0" lang="en-US" sz="2800">
                <a:solidFill>
                  <a:srgbClr val="212338"/>
                </a:solidFill>
                <a:latin typeface="Palatino"/>
                <a:ea typeface="Palatino"/>
                <a:cs typeface="Palatino"/>
                <a:sym typeface="Palatino"/>
              </a:rPr>
              <a:t>Jeremy Bentham</a:t>
            </a:r>
            <a:r>
              <a:rPr b="1" i="0" lang="en-US" sz="2800">
                <a:solidFill>
                  <a:srgbClr val="212338"/>
                </a:solidFill>
                <a:latin typeface="Palatino"/>
                <a:ea typeface="Palatino"/>
                <a:cs typeface="Palatino"/>
                <a:sym typeface="Palatino"/>
              </a:rPr>
              <a:t>)</a:t>
            </a:r>
            <a:endParaRPr/>
          </a:p>
          <a:p>
            <a:pPr indent="-457200" lvl="0" marL="457200" rtl="0" algn="just">
              <a:spcBef>
                <a:spcPts val="1000"/>
              </a:spcBef>
              <a:spcAft>
                <a:spcPts val="0"/>
              </a:spcAft>
              <a:buClr>
                <a:schemeClr val="dk1"/>
              </a:buClr>
              <a:buSzPct val="71000"/>
              <a:buFont typeface="Noto Sans Symbols"/>
              <a:buChar char="⮚"/>
            </a:pPr>
            <a:r>
              <a:rPr i="0" lang="en-US" sz="2800">
                <a:solidFill>
                  <a:srgbClr val="212338"/>
                </a:solidFill>
                <a:latin typeface="Palatino"/>
                <a:ea typeface="Palatino"/>
                <a:cs typeface="Palatino"/>
                <a:sym typeface="Palatino"/>
              </a:rPr>
              <a:t>Utilitarianism is an ethical theory that determines right from wrong by focusing on outcomes. </a:t>
            </a:r>
            <a:endParaRPr/>
          </a:p>
          <a:p>
            <a:pPr indent="-457200" lvl="0" marL="457200" rtl="0" algn="just">
              <a:spcBef>
                <a:spcPts val="1000"/>
              </a:spcBef>
              <a:spcAft>
                <a:spcPts val="0"/>
              </a:spcAft>
              <a:buClr>
                <a:schemeClr val="dk1"/>
              </a:buClr>
              <a:buSzPct val="71000"/>
              <a:buFont typeface="Noto Sans Symbols"/>
              <a:buChar char="⮚"/>
            </a:pPr>
            <a:r>
              <a:rPr i="0" lang="en-US" sz="2800">
                <a:solidFill>
                  <a:srgbClr val="212338"/>
                </a:solidFill>
                <a:latin typeface="Palatino"/>
                <a:ea typeface="Palatino"/>
                <a:cs typeface="Palatino"/>
                <a:sym typeface="Palatino"/>
              </a:rPr>
              <a:t>It is a form of consequentialism.</a:t>
            </a:r>
            <a:endParaRPr/>
          </a:p>
          <a:p>
            <a:pPr indent="-457200" lvl="0" marL="457200" rtl="0" algn="just">
              <a:spcBef>
                <a:spcPts val="1000"/>
              </a:spcBef>
              <a:spcAft>
                <a:spcPts val="0"/>
              </a:spcAft>
              <a:buClr>
                <a:schemeClr val="dk1"/>
              </a:buClr>
              <a:buSzPct val="71000"/>
              <a:buFont typeface="Noto Sans Symbols"/>
              <a:buChar char="⮚"/>
            </a:pPr>
            <a:r>
              <a:rPr i="0" lang="en-US" sz="2800">
                <a:solidFill>
                  <a:srgbClr val="212338"/>
                </a:solidFill>
                <a:latin typeface="Palatino"/>
                <a:ea typeface="Palatino"/>
                <a:cs typeface="Palatino"/>
                <a:sym typeface="Palatino"/>
              </a:rPr>
              <a:t>Utilitarianism holds that the most ethical choice is the one that will produce the greatest good for the greatest number. </a:t>
            </a:r>
            <a:endParaRPr/>
          </a:p>
          <a:p>
            <a:pPr indent="-457200" lvl="0" marL="457200" rtl="0" algn="just">
              <a:spcBef>
                <a:spcPts val="1000"/>
              </a:spcBef>
              <a:spcAft>
                <a:spcPts val="0"/>
              </a:spcAft>
              <a:buClr>
                <a:schemeClr val="dk1"/>
              </a:buClr>
              <a:buSzPct val="71000"/>
              <a:buFont typeface="Noto Sans Symbols"/>
              <a:buChar char="⮚"/>
            </a:pPr>
            <a:r>
              <a:rPr i="0" lang="en-US" sz="2800">
                <a:solidFill>
                  <a:srgbClr val="212338"/>
                </a:solidFill>
                <a:latin typeface="Palatino"/>
                <a:ea typeface="Palatino"/>
                <a:cs typeface="Palatino"/>
                <a:sym typeface="Palatino"/>
              </a:rPr>
              <a:t>It is the only moral framework that can be used to justify military force or war. </a:t>
            </a:r>
            <a:endParaRPr sz="28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7"/>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Utilitarianism and Deontological Theories</a:t>
            </a:r>
            <a:endParaRPr/>
          </a:p>
        </p:txBody>
      </p:sp>
      <p:sp>
        <p:nvSpPr>
          <p:cNvPr id="333" name="Google Shape;333;p27"/>
          <p:cNvSpPr txBox="1"/>
          <p:nvPr>
            <p:ph idx="1" type="subTitle"/>
          </p:nvPr>
        </p:nvSpPr>
        <p:spPr>
          <a:xfrm>
            <a:off x="1281567" y="1139688"/>
            <a:ext cx="8094254" cy="4876799"/>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420"/>
              <a:buNone/>
            </a:pPr>
            <a:r>
              <a:rPr b="1" i="0" lang="en-US" sz="2000">
                <a:solidFill>
                  <a:srgbClr val="212338"/>
                </a:solidFill>
                <a:latin typeface="Palatino"/>
                <a:ea typeface="Palatino"/>
                <a:cs typeface="Palatino"/>
                <a:sym typeface="Palatino"/>
              </a:rPr>
              <a:t>Utilitarianism:</a:t>
            </a:r>
            <a:endParaRPr/>
          </a:p>
          <a:p>
            <a:pPr indent="-457200" lvl="0" marL="457200" rtl="0" algn="just">
              <a:spcBef>
                <a:spcPts val="1000"/>
              </a:spcBef>
              <a:spcAft>
                <a:spcPts val="0"/>
              </a:spcAft>
              <a:buClr>
                <a:schemeClr val="dk1"/>
              </a:buClr>
              <a:buSzPts val="1420"/>
              <a:buFont typeface="Noto Sans Symbols"/>
              <a:buChar char="⮚"/>
            </a:pPr>
            <a:r>
              <a:rPr i="0" lang="en-US" sz="2000">
                <a:solidFill>
                  <a:srgbClr val="212338"/>
                </a:solidFill>
                <a:latin typeface="Palatino"/>
                <a:ea typeface="Palatino"/>
                <a:cs typeface="Palatino"/>
                <a:sym typeface="Palatino"/>
              </a:rPr>
              <a:t>However, because we cannot predict the future,</a:t>
            </a:r>
            <a:endParaRPr/>
          </a:p>
          <a:p>
            <a:pPr indent="-457200" lvl="0" marL="457200" rtl="0" algn="just">
              <a:spcBef>
                <a:spcPts val="1000"/>
              </a:spcBef>
              <a:spcAft>
                <a:spcPts val="0"/>
              </a:spcAft>
              <a:buClr>
                <a:schemeClr val="dk1"/>
              </a:buClr>
              <a:buSzPts val="1420"/>
              <a:buFont typeface="Noto Sans Symbols"/>
              <a:buChar char="⮚"/>
            </a:pPr>
            <a:r>
              <a:rPr i="0" lang="en-US" sz="2000">
                <a:solidFill>
                  <a:srgbClr val="212338"/>
                </a:solidFill>
                <a:latin typeface="Palatino"/>
                <a:ea typeface="Palatino"/>
                <a:cs typeface="Palatino"/>
                <a:sym typeface="Palatino"/>
              </a:rPr>
              <a:t>It’s difficult to know with certainty whether the consequences of our actions will be good or bad. This is one of the limitations of utilitarianism.</a:t>
            </a:r>
            <a:endParaRPr/>
          </a:p>
          <a:p>
            <a:pPr indent="-457200" lvl="0" marL="457200" rtl="0" algn="just">
              <a:spcBef>
                <a:spcPts val="1000"/>
              </a:spcBef>
              <a:spcAft>
                <a:spcPts val="0"/>
              </a:spcAft>
              <a:buClr>
                <a:schemeClr val="dk1"/>
              </a:buClr>
              <a:buSzPts val="1420"/>
              <a:buFont typeface="Noto Sans Symbols"/>
              <a:buChar char="⮚"/>
            </a:pPr>
            <a:r>
              <a:rPr i="0" lang="en-US" sz="2000">
                <a:solidFill>
                  <a:srgbClr val="212338"/>
                </a:solidFill>
                <a:latin typeface="Palatino"/>
                <a:ea typeface="Palatino"/>
                <a:cs typeface="Palatino"/>
                <a:sym typeface="Palatino"/>
              </a:rPr>
              <a:t>Utilitarianism also has trouble accounting for values such as justice and individual rights. </a:t>
            </a:r>
            <a:endParaRPr/>
          </a:p>
          <a:p>
            <a:pPr indent="-457200" lvl="0" marL="457200" rtl="0" algn="just">
              <a:spcBef>
                <a:spcPts val="1000"/>
              </a:spcBef>
              <a:spcAft>
                <a:spcPts val="0"/>
              </a:spcAft>
              <a:buClr>
                <a:schemeClr val="dk1"/>
              </a:buClr>
              <a:buSzPts val="1420"/>
              <a:buFont typeface="Noto Sans Symbols"/>
              <a:buChar char="⮚"/>
            </a:pPr>
            <a:r>
              <a:rPr b="1" i="0" lang="en-US" sz="2000">
                <a:solidFill>
                  <a:srgbClr val="212338"/>
                </a:solidFill>
                <a:latin typeface="Palatino"/>
                <a:ea typeface="Palatino"/>
                <a:cs typeface="Palatino"/>
                <a:sym typeface="Palatino"/>
              </a:rPr>
              <a:t>For example, </a:t>
            </a:r>
            <a:r>
              <a:rPr i="0" lang="en-US" sz="2000">
                <a:solidFill>
                  <a:srgbClr val="212338"/>
                </a:solidFill>
                <a:latin typeface="Palatino"/>
                <a:ea typeface="Palatino"/>
                <a:cs typeface="Palatino"/>
                <a:sym typeface="Palatino"/>
              </a:rPr>
              <a:t>assume a hospital has four people whose lives depend upon receiving organ transplants: a heart, lungs, a kidney, and a liver. If a healthy person wanders into the hospital, his organs could be harvested to save four lives at the expense of one life. This would arguably produce the greatest good for the greatest number. But few would consider it an acceptable course of action, let alone the most ethical one.</a:t>
            </a:r>
            <a:endParaRPr sz="20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8"/>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Utilitarianism and Deontological Theories</a:t>
            </a:r>
            <a:endParaRPr/>
          </a:p>
        </p:txBody>
      </p:sp>
      <p:sp>
        <p:nvSpPr>
          <p:cNvPr id="340" name="Google Shape;340;p28"/>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spcBef>
                <a:spcPts val="0"/>
              </a:spcBef>
              <a:spcAft>
                <a:spcPts val="0"/>
              </a:spcAft>
              <a:buClr>
                <a:schemeClr val="dk1"/>
              </a:buClr>
              <a:buSzPct val="71000"/>
              <a:buNone/>
            </a:pPr>
            <a:r>
              <a:rPr b="1" lang="en-US" sz="2800">
                <a:solidFill>
                  <a:srgbClr val="212338"/>
                </a:solidFill>
                <a:latin typeface="Palatino"/>
                <a:ea typeface="Palatino"/>
                <a:cs typeface="Palatino"/>
                <a:sym typeface="Palatino"/>
              </a:rPr>
              <a:t>Deontological ethics</a:t>
            </a:r>
            <a:r>
              <a:rPr b="1" i="0" lang="en-US" sz="2800">
                <a:solidFill>
                  <a:srgbClr val="212338"/>
                </a:solidFill>
                <a:latin typeface="Palatino"/>
                <a:ea typeface="Palatino"/>
                <a:cs typeface="Palatino"/>
                <a:sym typeface="Palatino"/>
              </a:rPr>
              <a:t>: (</a:t>
            </a:r>
            <a:r>
              <a:rPr b="0" i="0" lang="en-US" sz="2800">
                <a:solidFill>
                  <a:srgbClr val="1C1C1C"/>
                </a:solidFill>
                <a:latin typeface="Varela"/>
                <a:ea typeface="Varela"/>
                <a:cs typeface="Varela"/>
                <a:sym typeface="Varela"/>
              </a:rPr>
              <a:t>Immanuel Kant</a:t>
            </a:r>
            <a:r>
              <a:rPr b="1" i="0" lang="en-US" sz="2800">
                <a:solidFill>
                  <a:srgbClr val="212338"/>
                </a:solidFill>
                <a:latin typeface="Palatino"/>
                <a:ea typeface="Palatino"/>
                <a:cs typeface="Palatino"/>
                <a:sym typeface="Palatino"/>
              </a:rPr>
              <a:t>)</a:t>
            </a:r>
            <a:endParaRPr/>
          </a:p>
          <a:p>
            <a:pPr indent="-457200" lvl="0" marL="457200" rtl="0" algn="just">
              <a:spcBef>
                <a:spcPts val="1000"/>
              </a:spcBef>
              <a:spcAft>
                <a:spcPts val="0"/>
              </a:spcAft>
              <a:buClr>
                <a:schemeClr val="dk1"/>
              </a:buClr>
              <a:buSzPct val="71000"/>
              <a:buFont typeface="Noto Sans Symbols"/>
              <a:buChar char="⮚"/>
            </a:pPr>
            <a:r>
              <a:rPr i="0" lang="en-US" sz="2800">
                <a:solidFill>
                  <a:srgbClr val="212338"/>
                </a:solidFill>
                <a:latin typeface="Palatino"/>
                <a:ea typeface="Palatino"/>
                <a:cs typeface="Palatino"/>
                <a:sym typeface="Palatino"/>
              </a:rPr>
              <a:t>The word “deontological ” comes from a Greek word “deon” which means “binding duty”.</a:t>
            </a:r>
            <a:endParaRPr/>
          </a:p>
          <a:p>
            <a:pPr indent="-457200" lvl="0" marL="457200" rtl="0" algn="just">
              <a:spcBef>
                <a:spcPts val="1000"/>
              </a:spcBef>
              <a:spcAft>
                <a:spcPts val="0"/>
              </a:spcAft>
              <a:buClr>
                <a:schemeClr val="dk1"/>
              </a:buClr>
              <a:buSzPct val="71000"/>
              <a:buFont typeface="Noto Sans Symbols"/>
              <a:buChar char="⮚"/>
            </a:pPr>
            <a:r>
              <a:rPr i="0" lang="en-US" sz="2800">
                <a:solidFill>
                  <a:srgbClr val="212338"/>
                </a:solidFill>
                <a:latin typeface="Palatino"/>
                <a:ea typeface="Palatino"/>
                <a:cs typeface="Palatino"/>
                <a:sym typeface="Palatino"/>
              </a:rPr>
              <a:t>Actions that obey these rules are ethical, while actions that do not, are not.</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latin typeface="Palatino"/>
                <a:ea typeface="Palatino"/>
                <a:cs typeface="Palatino"/>
                <a:sym typeface="Palatino"/>
              </a:rPr>
              <a:t>Deontology is a theory that suggests actions are good or bad according to a clear set of rules.</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latin typeface="Palatino"/>
                <a:ea typeface="Palatino"/>
                <a:cs typeface="Palatino"/>
                <a:sym typeface="Palatino"/>
              </a:rPr>
              <a:t>Deontological ethics is an ethics system that judges whether an action is right or wrong based on a moral code.</a:t>
            </a:r>
            <a:endParaRPr/>
          </a:p>
          <a:p>
            <a:pPr indent="-340429" lvl="0" marL="457200" rtl="0" algn="just">
              <a:spcBef>
                <a:spcPts val="1000"/>
              </a:spcBef>
              <a:spcAft>
                <a:spcPts val="0"/>
              </a:spcAft>
              <a:buClr>
                <a:schemeClr val="dk1"/>
              </a:buClr>
              <a:buSzPct val="71000"/>
              <a:buFont typeface="Noto Sans Symbols"/>
              <a:buNone/>
            </a:pPr>
            <a:r>
              <a:t/>
            </a:r>
            <a:endParaRPr sz="2800">
              <a:solidFill>
                <a:schemeClr val="dk1"/>
              </a:solidFill>
              <a:latin typeface="Palatino"/>
              <a:ea typeface="Palatino"/>
              <a:cs typeface="Palatino"/>
              <a:sym typeface="Palatin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9"/>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Utilitarianism and Deontological Theories</a:t>
            </a:r>
            <a:endParaRPr/>
          </a:p>
        </p:txBody>
      </p:sp>
      <p:sp>
        <p:nvSpPr>
          <p:cNvPr id="347" name="Google Shape;347;p29"/>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1988"/>
              <a:buNone/>
            </a:pPr>
            <a:r>
              <a:rPr b="1" lang="en-US" sz="2800">
                <a:solidFill>
                  <a:srgbClr val="212338"/>
                </a:solidFill>
                <a:latin typeface="Palatino"/>
                <a:ea typeface="Palatino"/>
                <a:cs typeface="Palatino"/>
                <a:sym typeface="Palatino"/>
              </a:rPr>
              <a:t>Deontological ethics</a:t>
            </a:r>
            <a:r>
              <a:rPr b="1" i="0" lang="en-US" sz="2800">
                <a:solidFill>
                  <a:srgbClr val="212338"/>
                </a:solidFill>
                <a:latin typeface="Palatino"/>
                <a:ea typeface="Palatino"/>
                <a:cs typeface="Palatino"/>
                <a:sym typeface="Palatino"/>
              </a:rPr>
              <a:t>: (</a:t>
            </a:r>
            <a:r>
              <a:rPr b="0" i="0" lang="en-US" sz="2800">
                <a:solidFill>
                  <a:srgbClr val="1C1C1C"/>
                </a:solidFill>
                <a:latin typeface="Varela"/>
                <a:ea typeface="Varela"/>
                <a:cs typeface="Varela"/>
                <a:sym typeface="Varela"/>
              </a:rPr>
              <a:t>Immanuel Kant</a:t>
            </a:r>
            <a:r>
              <a:rPr b="1" i="0" lang="en-US" sz="2800">
                <a:solidFill>
                  <a:srgbClr val="212338"/>
                </a:solidFill>
                <a:latin typeface="Palatino"/>
                <a:ea typeface="Palatino"/>
                <a:cs typeface="Palatino"/>
                <a:sym typeface="Palatino"/>
              </a:rPr>
              <a:t>)</a:t>
            </a:r>
            <a:endParaRPr/>
          </a:p>
          <a:p>
            <a:pPr indent="-457200" lvl="0" marL="457200" rtl="0" algn="just">
              <a:spcBef>
                <a:spcPts val="1000"/>
              </a:spcBef>
              <a:spcAft>
                <a:spcPts val="0"/>
              </a:spcAft>
              <a:buClr>
                <a:schemeClr val="dk1"/>
              </a:buClr>
              <a:buSzPts val="1988"/>
              <a:buFont typeface="Noto Sans Symbols"/>
              <a:buChar char="⮚"/>
            </a:pPr>
            <a:r>
              <a:rPr i="0" lang="en-US" sz="2800">
                <a:solidFill>
                  <a:srgbClr val="212338"/>
                </a:solidFill>
                <a:latin typeface="Palatino"/>
                <a:ea typeface="Palatino"/>
                <a:cs typeface="Palatino"/>
                <a:sym typeface="Palatino"/>
              </a:rPr>
              <a:t>Consequences of those actions are not taken into consideration. </a:t>
            </a:r>
            <a:endParaRPr/>
          </a:p>
          <a:p>
            <a:pPr indent="-457200" lvl="0" marL="457200" rtl="0" algn="just">
              <a:spcBef>
                <a:spcPts val="1000"/>
              </a:spcBef>
              <a:spcAft>
                <a:spcPts val="0"/>
              </a:spcAft>
              <a:buClr>
                <a:schemeClr val="dk1"/>
              </a:buClr>
              <a:buSzPts val="1988"/>
              <a:buFont typeface="Noto Sans Symbols"/>
              <a:buChar char="⮚"/>
            </a:pPr>
            <a:r>
              <a:rPr i="0" lang="en-US" sz="2800">
                <a:solidFill>
                  <a:srgbClr val="212338"/>
                </a:solidFill>
                <a:latin typeface="Palatino"/>
                <a:ea typeface="Palatino"/>
                <a:cs typeface="Palatino"/>
                <a:sym typeface="Palatino"/>
              </a:rPr>
              <a:t>Doing the right thing means to follow proper rules of behavior and, by doing so, promoting fairness and equality.</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latin typeface="Palatino"/>
                <a:ea typeface="Palatino"/>
                <a:cs typeface="Palatino"/>
                <a:sym typeface="Palatino"/>
              </a:rPr>
              <a:t>An example of deontology is the belief that killing someone is wrong, even if it was in self-defense.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0"/>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Utilitarianism and Deontological Theories</a:t>
            </a:r>
            <a:endParaRPr/>
          </a:p>
        </p:txBody>
      </p:sp>
      <p:sp>
        <p:nvSpPr>
          <p:cNvPr id="354" name="Google Shape;354;p30"/>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fontScale="77500" lnSpcReduction="20000"/>
          </a:bodyPr>
          <a:lstStyle/>
          <a:p>
            <a:pPr indent="0" lvl="0" marL="0" rtl="0" algn="just">
              <a:spcBef>
                <a:spcPts val="0"/>
              </a:spcBef>
              <a:spcAft>
                <a:spcPts val="0"/>
              </a:spcAft>
              <a:buClr>
                <a:schemeClr val="dk1"/>
              </a:buClr>
              <a:buSzPct val="71000"/>
              <a:buNone/>
            </a:pPr>
            <a:r>
              <a:rPr b="1" lang="en-US" sz="2800">
                <a:solidFill>
                  <a:schemeClr val="dk1"/>
                </a:solidFill>
                <a:latin typeface="Arimo"/>
                <a:ea typeface="Arimo"/>
                <a:cs typeface="Arimo"/>
                <a:sym typeface="Arimo"/>
              </a:rPr>
              <a:t>To better understand deontology vs utilitarianism, let’s use an example that features a moral dilemma.</a:t>
            </a:r>
            <a:endParaRPr/>
          </a:p>
          <a:p>
            <a:pPr indent="0" lvl="0" marL="0" rtl="0" algn="just">
              <a:spcBef>
                <a:spcPts val="1000"/>
              </a:spcBef>
              <a:spcAft>
                <a:spcPts val="0"/>
              </a:spcAft>
              <a:buClr>
                <a:schemeClr val="dk1"/>
              </a:buClr>
              <a:buSzPct val="71000"/>
              <a:buNone/>
            </a:pPr>
            <a:r>
              <a:t/>
            </a:r>
            <a:endParaRPr sz="2800">
              <a:solidFill>
                <a:schemeClr val="dk1"/>
              </a:solidFill>
              <a:latin typeface="Palatino"/>
              <a:ea typeface="Palatino"/>
              <a:cs typeface="Palatino"/>
              <a:sym typeface="Palatino"/>
            </a:endParaRPr>
          </a:p>
          <a:p>
            <a:pPr indent="0" lvl="0" marL="0" rtl="0" algn="just">
              <a:spcBef>
                <a:spcPts val="1000"/>
              </a:spcBef>
              <a:spcAft>
                <a:spcPts val="0"/>
              </a:spcAft>
              <a:buClr>
                <a:schemeClr val="dk1"/>
              </a:buClr>
              <a:buSzPct val="71000"/>
              <a:buNone/>
            </a:pPr>
            <a:r>
              <a:rPr lang="en-US" sz="3200">
                <a:solidFill>
                  <a:schemeClr val="dk1"/>
                </a:solidFill>
                <a:latin typeface="Palatino"/>
                <a:ea typeface="Palatino"/>
                <a:cs typeface="Palatino"/>
                <a:sym typeface="Palatino"/>
              </a:rPr>
              <a:t>Peter is a father and his son is very sick. Peter took his son to the doctor and found out that his son needs a very expensive surgery. Peter doesn’t have enough time to earn the money needed for the surgery because his son is in a critical condition. Peter, not knowing what to do to save his son, decides to lie. Peter goes to a bank and asks for a personal loan intended to be for investing in a new business that would generate a lot of revenue. Peter gets the money, goes to the hospital, pays for the surgery and saves his son’s life.</a:t>
            </a:r>
            <a:endParaRPr/>
          </a:p>
          <a:p>
            <a:pPr indent="0" lvl="0" marL="0" rtl="0" algn="just">
              <a:spcBef>
                <a:spcPts val="1000"/>
              </a:spcBef>
              <a:spcAft>
                <a:spcPts val="0"/>
              </a:spcAft>
              <a:buClr>
                <a:schemeClr val="dk1"/>
              </a:buClr>
              <a:buSzPct val="71000"/>
              <a:buNone/>
            </a:pPr>
            <a:r>
              <a:t/>
            </a:r>
            <a:endParaRPr sz="3200">
              <a:solidFill>
                <a:schemeClr val="dk1"/>
              </a:solidFill>
              <a:latin typeface="Palatino"/>
              <a:ea typeface="Palatino"/>
              <a:cs typeface="Palatino"/>
              <a:sym typeface="Palatin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1"/>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Utilitarianism and Deontological Theories</a:t>
            </a:r>
            <a:endParaRPr/>
          </a:p>
        </p:txBody>
      </p:sp>
      <p:sp>
        <p:nvSpPr>
          <p:cNvPr id="361" name="Google Shape;361;p31"/>
          <p:cNvSpPr txBox="1"/>
          <p:nvPr>
            <p:ph idx="1" type="subTitle"/>
          </p:nvPr>
        </p:nvSpPr>
        <p:spPr>
          <a:xfrm>
            <a:off x="1281567" y="1139687"/>
            <a:ext cx="8094254" cy="5062329"/>
          </a:xfrm>
          <a:prstGeom prst="rect">
            <a:avLst/>
          </a:prstGeom>
          <a:noFill/>
          <a:ln>
            <a:noFill/>
          </a:ln>
        </p:spPr>
        <p:txBody>
          <a:bodyPr anchorCtr="0" anchor="t" bIns="45700" lIns="91425" spcFirstLastPara="1" rIns="91425" wrap="square" tIns="45700">
            <a:normAutofit fontScale="70000" lnSpcReduction="20000"/>
          </a:bodyPr>
          <a:lstStyle/>
          <a:p>
            <a:pPr indent="0" lvl="0" marL="0" rtl="0" algn="just">
              <a:spcBef>
                <a:spcPts val="0"/>
              </a:spcBef>
              <a:spcAft>
                <a:spcPts val="0"/>
              </a:spcAft>
              <a:buClr>
                <a:schemeClr val="dk1"/>
              </a:buClr>
              <a:buSzPct val="71000"/>
              <a:buNone/>
            </a:pPr>
            <a:r>
              <a:rPr b="1" lang="en-US" sz="2800">
                <a:solidFill>
                  <a:schemeClr val="dk1"/>
                </a:solidFill>
                <a:latin typeface="Arimo"/>
                <a:ea typeface="Arimo"/>
                <a:cs typeface="Arimo"/>
                <a:sym typeface="Arimo"/>
              </a:rPr>
              <a:t>To better understand deontology vs utilitarianism, let’s use an example that features a moral dilemma.</a:t>
            </a:r>
            <a:endParaRPr/>
          </a:p>
          <a:p>
            <a:pPr indent="0" lvl="0" marL="0" rtl="0" algn="just">
              <a:spcBef>
                <a:spcPts val="1000"/>
              </a:spcBef>
              <a:spcAft>
                <a:spcPts val="0"/>
              </a:spcAft>
              <a:buClr>
                <a:schemeClr val="dk1"/>
              </a:buClr>
              <a:buSzPct val="71000"/>
              <a:buNone/>
            </a:pPr>
            <a:r>
              <a:t/>
            </a:r>
            <a:endParaRPr sz="2800">
              <a:solidFill>
                <a:schemeClr val="dk1"/>
              </a:solidFill>
              <a:latin typeface="Palatino"/>
              <a:ea typeface="Palatino"/>
              <a:cs typeface="Palatino"/>
              <a:sym typeface="Palatino"/>
            </a:endParaRPr>
          </a:p>
          <a:p>
            <a:pPr indent="0" lvl="0" marL="0" rtl="0" algn="l">
              <a:spcBef>
                <a:spcPts val="1000"/>
              </a:spcBef>
              <a:spcAft>
                <a:spcPts val="0"/>
              </a:spcAft>
              <a:buSzPct val="80000"/>
              <a:buNone/>
            </a:pPr>
            <a:r>
              <a:rPr b="0" i="0" lang="en-US" sz="3200">
                <a:solidFill>
                  <a:srgbClr val="1C1C1C"/>
                </a:solidFill>
                <a:latin typeface="Palatino"/>
                <a:ea typeface="Palatino"/>
                <a:cs typeface="Palatino"/>
                <a:sym typeface="Palatino"/>
              </a:rPr>
              <a:t>According to Kant, Peter shouldn’t have lied. According to Bentham, Peter did the right thing because, at the end, he saved a life. According to you, what have you done if lying would have been your only choice to save a life?</a:t>
            </a:r>
            <a:endParaRPr/>
          </a:p>
          <a:p>
            <a:pPr indent="0" lvl="0" marL="0" rtl="0" algn="l">
              <a:spcBef>
                <a:spcPts val="1000"/>
              </a:spcBef>
              <a:spcAft>
                <a:spcPts val="0"/>
              </a:spcAft>
              <a:buSzPct val="80000"/>
              <a:buNone/>
            </a:pPr>
            <a:r>
              <a:t/>
            </a:r>
            <a:endParaRPr b="0" i="0" sz="3200">
              <a:solidFill>
                <a:srgbClr val="1C1C1C"/>
              </a:solidFill>
              <a:latin typeface="Palatino"/>
              <a:ea typeface="Palatino"/>
              <a:cs typeface="Palatino"/>
              <a:sym typeface="Palatino"/>
            </a:endParaRPr>
          </a:p>
          <a:p>
            <a:pPr indent="0" lvl="0" marL="0" rtl="0" algn="l">
              <a:spcBef>
                <a:spcPts val="1000"/>
              </a:spcBef>
              <a:spcAft>
                <a:spcPts val="0"/>
              </a:spcAft>
              <a:buSzPct val="80000"/>
              <a:buNone/>
            </a:pPr>
            <a:r>
              <a:rPr b="0" i="0" lang="en-US" sz="3200">
                <a:solidFill>
                  <a:srgbClr val="1C1C1C"/>
                </a:solidFill>
                <a:latin typeface="Palatino"/>
                <a:ea typeface="Palatino"/>
                <a:cs typeface="Palatino"/>
                <a:sym typeface="Palatino"/>
              </a:rPr>
              <a:t>As we can see with this example, ethical dilemmas are not easy to solve. Ethics depend on a moral framework. We make decisions based on what we believe is right and what is best for us, but not necessarily for everyone else. In some situations, we decide with our hearts, in other situations with our brains. Being human is part of the dilemma.</a:t>
            </a:r>
            <a:endParaRPr/>
          </a:p>
          <a:p>
            <a:pPr indent="0" lvl="0" marL="0" rtl="0" algn="r">
              <a:spcBef>
                <a:spcPts val="1000"/>
              </a:spcBef>
              <a:spcAft>
                <a:spcPts val="0"/>
              </a:spcAft>
              <a:buSzPct val="80000"/>
              <a:buNone/>
            </a:pPr>
            <a:br>
              <a:rPr lang="en-US" sz="3200"/>
            </a:br>
            <a:endParaRPr sz="3200">
              <a:solidFill>
                <a:schemeClr val="dk1"/>
              </a:solidFill>
              <a:latin typeface="Palatino"/>
              <a:ea typeface="Palatino"/>
              <a:cs typeface="Palatino"/>
              <a:sym typeface="Palatin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2"/>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Utilitarianism and Deontological Theories</a:t>
            </a:r>
            <a:endParaRPr/>
          </a:p>
        </p:txBody>
      </p:sp>
      <p:sp>
        <p:nvSpPr>
          <p:cNvPr id="368" name="Google Shape;368;p32"/>
          <p:cNvSpPr txBox="1"/>
          <p:nvPr>
            <p:ph idx="1" type="subTitle"/>
          </p:nvPr>
        </p:nvSpPr>
        <p:spPr>
          <a:xfrm>
            <a:off x="1281567" y="1139687"/>
            <a:ext cx="8094254" cy="5062329"/>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2560"/>
              <a:buNone/>
            </a:pPr>
            <a:br>
              <a:rPr lang="en-US" sz="3200"/>
            </a:br>
            <a:endParaRPr sz="3200">
              <a:solidFill>
                <a:schemeClr val="dk1"/>
              </a:solidFill>
              <a:latin typeface="Palatino"/>
              <a:ea typeface="Palatino"/>
              <a:cs typeface="Palatino"/>
              <a:sym typeface="Palatino"/>
            </a:endParaRPr>
          </a:p>
        </p:txBody>
      </p:sp>
      <p:pic>
        <p:nvPicPr>
          <p:cNvPr id="369" name="Google Shape;369;p32"/>
          <p:cNvPicPr preferRelativeResize="0"/>
          <p:nvPr/>
        </p:nvPicPr>
        <p:blipFill rotWithShape="1">
          <a:blip r:embed="rId3">
            <a:alphaModFix/>
          </a:blip>
          <a:srcRect b="0" l="0" r="0" t="0"/>
          <a:stretch/>
        </p:blipFill>
        <p:spPr>
          <a:xfrm>
            <a:off x="1281567" y="1139687"/>
            <a:ext cx="8094254" cy="494306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3"/>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Rights</a:t>
            </a:r>
            <a:endParaRPr/>
          </a:p>
        </p:txBody>
      </p:sp>
      <p:sp>
        <p:nvSpPr>
          <p:cNvPr id="376" name="Google Shape;376;p33"/>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fontScale="92500" lnSpcReduction="10000"/>
          </a:bodyPr>
          <a:lstStyle/>
          <a:p>
            <a:pPr indent="-457200" lvl="0" marL="457200" rtl="0" algn="just">
              <a:spcBef>
                <a:spcPts val="0"/>
              </a:spcBef>
              <a:spcAft>
                <a:spcPts val="0"/>
              </a:spcAft>
              <a:buClr>
                <a:schemeClr val="dk1"/>
              </a:buClr>
              <a:buSzPct val="71000"/>
              <a:buFont typeface="Noto Sans Symbols"/>
              <a:buChar char="⮚"/>
            </a:pPr>
            <a:r>
              <a:rPr i="0" lang="en-US" sz="2800">
                <a:solidFill>
                  <a:srgbClr val="212338"/>
                </a:solidFill>
                <a:latin typeface="Palatino"/>
                <a:ea typeface="Palatino"/>
                <a:cs typeface="Palatino"/>
                <a:sym typeface="Palatino"/>
              </a:rPr>
              <a:t>Rights are legal, social, or ethical principles of freedom or entitlement; that is, rights are the fundamental normative rules about what is allowed of people or owed to people according to some legal system, social convention, or ethical theory.</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latin typeface="Palatino"/>
                <a:ea typeface="Palatino"/>
                <a:cs typeface="Palatino"/>
                <a:sym typeface="Palatino"/>
              </a:rPr>
              <a:t>Rights are those important conditions of social life without which no person can generally realize his best self.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latin typeface="Palatino"/>
                <a:ea typeface="Palatino"/>
                <a:cs typeface="Palatino"/>
                <a:sym typeface="Palatino"/>
              </a:rPr>
              <a:t>These are the essential conditions for health of both the individual and his society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4"/>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Rights</a:t>
            </a:r>
            <a:endParaRPr/>
          </a:p>
        </p:txBody>
      </p:sp>
      <p:sp>
        <p:nvSpPr>
          <p:cNvPr id="383" name="Google Shape;383;p34"/>
          <p:cNvSpPr txBox="1"/>
          <p:nvPr>
            <p:ph idx="1" type="subTitle"/>
          </p:nvPr>
        </p:nvSpPr>
        <p:spPr>
          <a:xfrm>
            <a:off x="1281567" y="1139688"/>
            <a:ext cx="8094254" cy="4426225"/>
          </a:xfrm>
          <a:prstGeom prst="rect">
            <a:avLst/>
          </a:prstGeom>
          <a:noFill/>
          <a:ln>
            <a:noFill/>
          </a:ln>
        </p:spPr>
        <p:txBody>
          <a:bodyPr anchorCtr="0" anchor="t" bIns="45700" lIns="91425" spcFirstLastPara="1" rIns="91425" wrap="square" tIns="45700">
            <a:normAutofit fontScale="85000" lnSpcReduction="20000"/>
          </a:bodyPr>
          <a:lstStyle/>
          <a:p>
            <a:pPr indent="0" lvl="0" marL="0" rtl="0" algn="just">
              <a:spcBef>
                <a:spcPts val="0"/>
              </a:spcBef>
              <a:spcAft>
                <a:spcPts val="0"/>
              </a:spcAft>
              <a:buClr>
                <a:schemeClr val="dk1"/>
              </a:buClr>
              <a:buSzPct val="71000"/>
              <a:buNone/>
            </a:pPr>
            <a:r>
              <a:rPr b="1" i="0" lang="en-US" sz="2800">
                <a:solidFill>
                  <a:srgbClr val="212338"/>
                </a:solidFill>
                <a:latin typeface="Palatino"/>
                <a:ea typeface="Palatino"/>
                <a:cs typeface="Palatino"/>
                <a:sym typeface="Palatino"/>
              </a:rPr>
              <a:t>Main features of Rights:</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latin typeface="Palatino"/>
                <a:ea typeface="Palatino"/>
                <a:cs typeface="Palatino"/>
                <a:sym typeface="Palatino"/>
              </a:rPr>
              <a:t>Rights exist only in society. These are the products of social living.</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latin typeface="Palatino"/>
                <a:ea typeface="Palatino"/>
                <a:cs typeface="Palatino"/>
                <a:sym typeface="Palatino"/>
              </a:rPr>
              <a:t>Rights are claims of the individuals for their development in society.</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latin typeface="Palatino"/>
                <a:ea typeface="Palatino"/>
                <a:cs typeface="Palatino"/>
                <a:sym typeface="Palatino"/>
              </a:rPr>
              <a:t>Rights are recognized by the society as common claims of all the people.</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latin typeface="Palatino"/>
                <a:ea typeface="Palatino"/>
                <a:cs typeface="Palatino"/>
                <a:sym typeface="Palatino"/>
              </a:rPr>
              <a:t>Rights are rational and moral claims that the people make on their society.</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latin typeface="Palatino"/>
                <a:ea typeface="Palatino"/>
                <a:cs typeface="Palatino"/>
                <a:sym typeface="Palatino"/>
              </a:rPr>
              <a:t>Since rights are here only in society, these cannot be exercised against the society.</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latin typeface="Palatino"/>
                <a:ea typeface="Palatino"/>
                <a:cs typeface="Palatino"/>
                <a:sym typeface="Palatino"/>
              </a:rPr>
              <a:t>Rights are equally available to all the people.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5"/>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Rights</a:t>
            </a:r>
            <a:endParaRPr/>
          </a:p>
        </p:txBody>
      </p:sp>
      <p:sp>
        <p:nvSpPr>
          <p:cNvPr id="390" name="Google Shape;390;p35"/>
          <p:cNvSpPr txBox="1"/>
          <p:nvPr>
            <p:ph idx="1" type="subTitle"/>
          </p:nvPr>
        </p:nvSpPr>
        <p:spPr>
          <a:xfrm>
            <a:off x="1281567" y="1139688"/>
            <a:ext cx="8094254" cy="5088834"/>
          </a:xfrm>
          <a:prstGeom prst="rect">
            <a:avLst/>
          </a:prstGeom>
          <a:noFill/>
          <a:ln>
            <a:noFill/>
          </a:ln>
        </p:spPr>
        <p:txBody>
          <a:bodyPr anchorCtr="0" anchor="t" bIns="45700" lIns="91425" spcFirstLastPara="1" rIns="91425" wrap="square" tIns="45700">
            <a:normAutofit fontScale="85000" lnSpcReduction="20000"/>
          </a:bodyPr>
          <a:lstStyle/>
          <a:p>
            <a:pPr indent="0" lvl="0" marL="0" rtl="0" algn="just">
              <a:spcBef>
                <a:spcPts val="0"/>
              </a:spcBef>
              <a:spcAft>
                <a:spcPts val="0"/>
              </a:spcAft>
              <a:buClr>
                <a:schemeClr val="dk1"/>
              </a:buClr>
              <a:buSzPct val="71000"/>
              <a:buNone/>
            </a:pPr>
            <a:r>
              <a:rPr b="1" lang="en-US" sz="2800">
                <a:solidFill>
                  <a:srgbClr val="212338"/>
                </a:solidFill>
                <a:latin typeface="Palatino"/>
                <a:ea typeface="Palatino"/>
                <a:cs typeface="Palatino"/>
                <a:sym typeface="Palatino"/>
              </a:rPr>
              <a:t>Types</a:t>
            </a:r>
            <a:r>
              <a:rPr b="1" i="0" lang="en-US" sz="2800">
                <a:solidFill>
                  <a:srgbClr val="212338"/>
                </a:solidFill>
                <a:latin typeface="Palatino"/>
                <a:ea typeface="Palatino"/>
                <a:cs typeface="Palatino"/>
                <a:sym typeface="Palatino"/>
              </a:rPr>
              <a:t> of Rights:</a:t>
            </a:r>
            <a:endParaRPr/>
          </a:p>
          <a:p>
            <a:pPr indent="0" lvl="0" marL="0" rtl="0" algn="just">
              <a:spcBef>
                <a:spcPts val="1000"/>
              </a:spcBef>
              <a:spcAft>
                <a:spcPts val="0"/>
              </a:spcAft>
              <a:buClr>
                <a:schemeClr val="dk1"/>
              </a:buClr>
              <a:buSzPct val="71000"/>
              <a:buNone/>
            </a:pPr>
            <a:r>
              <a:rPr lang="en-US" sz="2800">
                <a:solidFill>
                  <a:schemeClr val="dk1"/>
                </a:solidFill>
                <a:latin typeface="Palatino"/>
                <a:ea typeface="Palatino"/>
                <a:cs typeface="Palatino"/>
                <a:sym typeface="Palatino"/>
              </a:rPr>
              <a:t>1. Natural Rights </a:t>
            </a:r>
            <a:endParaRPr/>
          </a:p>
          <a:p>
            <a:pPr indent="0" lvl="0" marL="0" rtl="0" algn="just">
              <a:spcBef>
                <a:spcPts val="1000"/>
              </a:spcBef>
              <a:spcAft>
                <a:spcPts val="0"/>
              </a:spcAft>
              <a:buClr>
                <a:schemeClr val="dk1"/>
              </a:buClr>
              <a:buSzPct val="71000"/>
              <a:buNone/>
            </a:pPr>
            <a:r>
              <a:rPr lang="en-US" sz="2800">
                <a:solidFill>
                  <a:schemeClr val="dk1"/>
                </a:solidFill>
                <a:latin typeface="Palatino"/>
                <a:ea typeface="Palatino"/>
                <a:cs typeface="Palatino"/>
                <a:sym typeface="Palatino"/>
              </a:rPr>
              <a:t>		-the right to life, right to liberty</a:t>
            </a:r>
            <a:endParaRPr/>
          </a:p>
          <a:p>
            <a:pPr indent="0" lvl="0" marL="0" rtl="0" algn="just">
              <a:spcBef>
                <a:spcPts val="1000"/>
              </a:spcBef>
              <a:spcAft>
                <a:spcPts val="0"/>
              </a:spcAft>
              <a:buClr>
                <a:schemeClr val="dk1"/>
              </a:buClr>
              <a:buSzPct val="71000"/>
              <a:buNone/>
            </a:pPr>
            <a:r>
              <a:rPr lang="en-US" sz="2800">
                <a:solidFill>
                  <a:schemeClr val="dk1"/>
                </a:solidFill>
                <a:latin typeface="Palatino"/>
                <a:ea typeface="Palatino"/>
                <a:cs typeface="Palatino"/>
                <a:sym typeface="Palatino"/>
              </a:rPr>
              <a:t>2. Moral Rights</a:t>
            </a:r>
            <a:endParaRPr/>
          </a:p>
          <a:p>
            <a:pPr indent="0" lvl="0" marL="0" rtl="0" algn="just">
              <a:spcBef>
                <a:spcPts val="1000"/>
              </a:spcBef>
              <a:spcAft>
                <a:spcPts val="0"/>
              </a:spcAft>
              <a:buClr>
                <a:schemeClr val="dk1"/>
              </a:buClr>
              <a:buSzPct val="71000"/>
              <a:buNone/>
            </a:pPr>
            <a:r>
              <a:rPr lang="en-US" sz="2800">
                <a:solidFill>
                  <a:schemeClr val="dk1"/>
                </a:solidFill>
                <a:latin typeface="Palatino"/>
                <a:ea typeface="Palatino"/>
                <a:cs typeface="Palatino"/>
                <a:sym typeface="Palatino"/>
              </a:rPr>
              <a:t>		-rules of good conduct, moral behavior</a:t>
            </a:r>
            <a:endParaRPr/>
          </a:p>
          <a:p>
            <a:pPr indent="0" lvl="0" marL="0" rtl="0" algn="just">
              <a:spcBef>
                <a:spcPts val="1000"/>
              </a:spcBef>
              <a:spcAft>
                <a:spcPts val="0"/>
              </a:spcAft>
              <a:buClr>
                <a:schemeClr val="dk1"/>
              </a:buClr>
              <a:buSzPct val="71000"/>
              <a:buNone/>
            </a:pPr>
            <a:r>
              <a:rPr lang="en-US" sz="2800">
                <a:solidFill>
                  <a:schemeClr val="dk1"/>
                </a:solidFill>
                <a:latin typeface="Palatino"/>
                <a:ea typeface="Palatino"/>
                <a:cs typeface="Palatino"/>
                <a:sym typeface="Palatino"/>
              </a:rPr>
              <a:t>3. Legal Rights</a:t>
            </a:r>
            <a:endParaRPr/>
          </a:p>
          <a:p>
            <a:pPr indent="0" lvl="0" marL="0" rtl="0" algn="just">
              <a:spcBef>
                <a:spcPts val="1000"/>
              </a:spcBef>
              <a:spcAft>
                <a:spcPts val="0"/>
              </a:spcAft>
              <a:buClr>
                <a:schemeClr val="dk1"/>
              </a:buClr>
              <a:buSzPct val="71000"/>
              <a:buNone/>
            </a:pPr>
            <a:r>
              <a:rPr lang="en-US" sz="2800">
                <a:solidFill>
                  <a:schemeClr val="dk1"/>
                </a:solidFill>
                <a:latin typeface="Palatino"/>
                <a:ea typeface="Palatino"/>
                <a:cs typeface="Palatino"/>
                <a:sym typeface="Palatino"/>
              </a:rPr>
              <a:t>		-civil rights, political rights and economic rights</a:t>
            </a:r>
            <a:endParaRPr/>
          </a:p>
          <a:p>
            <a:pPr indent="0" lvl="0" marL="0" rtl="0" algn="just">
              <a:spcBef>
                <a:spcPts val="1000"/>
              </a:spcBef>
              <a:spcAft>
                <a:spcPts val="0"/>
              </a:spcAft>
              <a:buClr>
                <a:schemeClr val="dk1"/>
              </a:buClr>
              <a:buSzPct val="71000"/>
              <a:buNone/>
            </a:pPr>
            <a:r>
              <a:rPr lang="en-US" sz="2800">
                <a:solidFill>
                  <a:schemeClr val="dk1"/>
                </a:solidFill>
                <a:latin typeface="Palatino"/>
                <a:ea typeface="Palatino"/>
                <a:cs typeface="Palatino"/>
                <a:sym typeface="Palatino"/>
              </a:rPr>
              <a:t>4. Human Rights</a:t>
            </a:r>
            <a:endParaRPr/>
          </a:p>
          <a:p>
            <a:pPr indent="0" lvl="0" marL="0" rtl="0" algn="just">
              <a:spcBef>
                <a:spcPts val="1000"/>
              </a:spcBef>
              <a:spcAft>
                <a:spcPts val="0"/>
              </a:spcAft>
              <a:buClr>
                <a:schemeClr val="dk1"/>
              </a:buClr>
              <a:buSzPct val="71000"/>
              <a:buNone/>
            </a:pPr>
            <a:r>
              <a:rPr lang="en-US" sz="2800">
                <a:solidFill>
                  <a:schemeClr val="dk1"/>
                </a:solidFill>
                <a:latin typeface="Palatino"/>
                <a:ea typeface="Palatino"/>
                <a:cs typeface="Palatino"/>
                <a:sym typeface="Palatino"/>
              </a:rPr>
              <a:t>		- right to work and education</a:t>
            </a:r>
            <a:endParaRPr/>
          </a:p>
          <a:p>
            <a:pPr indent="0" lvl="0" marL="0" rtl="0" algn="just">
              <a:spcBef>
                <a:spcPts val="1000"/>
              </a:spcBef>
              <a:spcAft>
                <a:spcPts val="0"/>
              </a:spcAft>
              <a:buClr>
                <a:schemeClr val="dk1"/>
              </a:buClr>
              <a:buSzPct val="71000"/>
              <a:buNone/>
            </a:pPr>
            <a:r>
              <a:rPr lang="en-US" sz="2800">
                <a:solidFill>
                  <a:schemeClr val="dk1"/>
                </a:solidFill>
                <a:latin typeface="Palatino"/>
                <a:ea typeface="Palatino"/>
                <a:cs typeface="Palatino"/>
                <a:sym typeface="Palatino"/>
              </a:rPr>
              <a:t>5. Contractual Rights:</a:t>
            </a:r>
            <a:endParaRPr/>
          </a:p>
          <a:p>
            <a:pPr indent="0" lvl="0" marL="0" rtl="0" algn="just">
              <a:spcBef>
                <a:spcPts val="1000"/>
              </a:spcBef>
              <a:spcAft>
                <a:spcPts val="0"/>
              </a:spcAft>
              <a:buClr>
                <a:schemeClr val="dk1"/>
              </a:buClr>
              <a:buSzPct val="71000"/>
              <a:buNone/>
            </a:pPr>
            <a:r>
              <a:rPr lang="en-US" sz="2800">
                <a:solidFill>
                  <a:schemeClr val="dk1"/>
                </a:solidFill>
                <a:latin typeface="Palatino"/>
                <a:ea typeface="Palatino"/>
                <a:cs typeface="Palatino"/>
                <a:sym typeface="Palatino"/>
              </a:rPr>
              <a:t>		-Rights to purchase a particular product or service</a:t>
            </a:r>
            <a:endParaRPr/>
          </a:p>
          <a:p>
            <a:pPr indent="0" lvl="0" marL="0" rtl="0" algn="just">
              <a:spcBef>
                <a:spcPts val="1000"/>
              </a:spcBef>
              <a:spcAft>
                <a:spcPts val="0"/>
              </a:spcAft>
              <a:buClr>
                <a:schemeClr val="dk1"/>
              </a:buClr>
              <a:buSzPct val="71000"/>
              <a:buNone/>
            </a:pPr>
            <a:r>
              <a:rPr lang="en-US" sz="2800">
                <a:solidFill>
                  <a:schemeClr val="dk1"/>
                </a:solidFill>
                <a:latin typeface="Palatino"/>
                <a:ea typeface="Palatino"/>
                <a:cs typeface="Palatino"/>
                <a:sym typeface="Palatino"/>
              </a:rPr>
              <a:t>		-Rights to be sell a product or service</a:t>
            </a:r>
            <a:endParaRPr/>
          </a:p>
          <a:p>
            <a:pPr indent="-407047" lvl="0" marL="514350" rtl="0" algn="just">
              <a:spcBef>
                <a:spcPts val="1000"/>
              </a:spcBef>
              <a:spcAft>
                <a:spcPts val="0"/>
              </a:spcAft>
              <a:buClr>
                <a:schemeClr val="dk1"/>
              </a:buClr>
              <a:buSzPct val="71000"/>
              <a:buNone/>
            </a:pPr>
            <a:r>
              <a:t/>
            </a:r>
            <a:endParaRPr sz="2800">
              <a:solidFill>
                <a:schemeClr val="dk1"/>
              </a:solidFill>
              <a:latin typeface="Palatino"/>
              <a:ea typeface="Palatino"/>
              <a:cs typeface="Palatino"/>
              <a:sym typeface="Palatino"/>
            </a:endParaRPr>
          </a:p>
          <a:p>
            <a:pPr indent="-407047" lvl="0" marL="514350" rtl="0" algn="just">
              <a:spcBef>
                <a:spcPts val="1000"/>
              </a:spcBef>
              <a:spcAft>
                <a:spcPts val="0"/>
              </a:spcAft>
              <a:buClr>
                <a:schemeClr val="dk1"/>
              </a:buClr>
              <a:buSzPct val="71000"/>
              <a:buNone/>
            </a:pPr>
            <a:r>
              <a:t/>
            </a:r>
            <a:endParaRPr sz="2800">
              <a:solidFill>
                <a:schemeClr val="dk1"/>
              </a:solidFill>
              <a:latin typeface="Palatino"/>
              <a:ea typeface="Palatino"/>
              <a:cs typeface="Palatino"/>
              <a:sym typeface="Palatino"/>
            </a:endParaRPr>
          </a:p>
          <a:p>
            <a:pPr indent="-349897" lvl="0" marL="457200" rtl="0" algn="just">
              <a:spcBef>
                <a:spcPts val="1000"/>
              </a:spcBef>
              <a:spcAft>
                <a:spcPts val="0"/>
              </a:spcAft>
              <a:buClr>
                <a:schemeClr val="dk1"/>
              </a:buClr>
              <a:buSzPct val="71000"/>
              <a:buFont typeface="Noto Sans Symbols"/>
              <a:buNone/>
            </a:pPr>
            <a:r>
              <a:t/>
            </a:r>
            <a:endParaRPr sz="2800">
              <a:solidFill>
                <a:schemeClr val="dk1"/>
              </a:solidFill>
              <a:latin typeface="Palatino"/>
              <a:ea typeface="Palatino"/>
              <a:cs typeface="Palatino"/>
              <a:sym typeface="Palatin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6"/>
          <p:cNvSpPr/>
          <p:nvPr/>
        </p:nvSpPr>
        <p:spPr>
          <a:xfrm>
            <a:off x="2252870" y="2593634"/>
            <a:ext cx="556033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5400" u="none" cap="none" strike="noStrike">
                <a:solidFill>
                  <a:schemeClr val="dk1"/>
                </a:solidFill>
                <a:latin typeface="Trebuchet MS"/>
                <a:ea typeface="Trebuchet MS"/>
                <a:cs typeface="Trebuchet MS"/>
                <a:sym typeface="Trebuchet MS"/>
              </a:rPr>
              <a:t>Thank You</a:t>
            </a:r>
            <a:endParaRPr b="0" sz="5400" cap="none">
              <a:solidFill>
                <a:schemeClr val="dk1"/>
              </a:solidFill>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Red Orange">
      <a:dk1>
        <a:srgbClr val="000000"/>
      </a:dk1>
      <a:lt1>
        <a:srgbClr val="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2017-09-13T07:21:00Z</dcterms:created>
  <dc:creator>Sunil Bahadur Bist</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0x0101004423C86C84CA4945852CBF0CFC130390</vt:lpwstr>
  </property>
</Properties>
</file>