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4"/>
  </p:sldMasterIdLst>
  <p:notesMasterIdLst>
    <p:notesMasterId r:id="rId19"/>
  </p:notesMasterIdLst>
  <p:sldIdLst>
    <p:sldId id="257" r:id="rId5"/>
    <p:sldId id="333" r:id="rId6"/>
    <p:sldId id="389" r:id="rId7"/>
    <p:sldId id="413" r:id="rId8"/>
    <p:sldId id="414" r:id="rId9"/>
    <p:sldId id="415" r:id="rId10"/>
    <p:sldId id="392" r:id="rId11"/>
    <p:sldId id="390" r:id="rId12"/>
    <p:sldId id="370" r:id="rId13"/>
    <p:sldId id="416" r:id="rId14"/>
    <p:sldId id="304" r:id="rId15"/>
    <p:sldId id="393" r:id="rId16"/>
    <p:sldId id="417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8" autoAdjust="0"/>
    <p:restoredTop sz="94660"/>
  </p:normalViewPr>
  <p:slideViewPr>
    <p:cSldViewPr snapToGrid="0">
      <p:cViewPr varScale="1">
        <p:scale>
          <a:sx n="87" d="100"/>
          <a:sy n="87" d="100"/>
        </p:scale>
        <p:origin x="-514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2C73DF-4ACA-4A4E-BE24-698A41846534}" type="datetimeFigureOut">
              <a:rPr lang="en-US" smtClean="0"/>
              <a:pPr/>
              <a:t>6/18/2023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0F0832-C019-46EE-973A-B4AFD6309C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7139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50778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4014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92206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9750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066739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40895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81066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633823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17412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655014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487909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180156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180156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5001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7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DD5E5-F825-4B33-AF67-A7F31E5A2821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72834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0A645-7812-465D-BB5E-A8CA1F1DB31F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91638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71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DDB56-25F5-4763-9EA5-68F834D6E811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75387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6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69" y="2160590"/>
            <a:ext cx="4184035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901DB-480A-4D75-AD69-F9ABD9C9ECEB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45284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7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7" y="2737249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4" y="2160983"/>
            <a:ext cx="418561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6" y="2737249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31EA-9561-4FDF-BCE1-CAE98AD0C4D5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5533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8B6BF-29BB-4022-8B48-CF48B5627A0E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23179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9B8A-9C1C-47BE-9A52-00A57195BE87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98442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3" y="514928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5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51" indent="0">
              <a:buNone/>
              <a:defRPr sz="1400"/>
            </a:lvl2pPr>
            <a:lvl3pPr marL="914104" indent="0">
              <a:buNone/>
              <a:defRPr sz="1200"/>
            </a:lvl3pPr>
            <a:lvl4pPr marL="1371155" indent="0">
              <a:buNone/>
              <a:defRPr sz="1000"/>
            </a:lvl4pPr>
            <a:lvl5pPr marL="1828205" indent="0">
              <a:buNone/>
              <a:defRPr sz="1000"/>
            </a:lvl5pPr>
            <a:lvl6pPr marL="2285258" indent="0">
              <a:buNone/>
              <a:defRPr sz="1000"/>
            </a:lvl6pPr>
            <a:lvl7pPr marL="2742309" indent="0">
              <a:buNone/>
              <a:defRPr sz="1000"/>
            </a:lvl7pPr>
            <a:lvl8pPr marL="3199360" indent="0">
              <a:buNone/>
              <a:defRPr sz="1000"/>
            </a:lvl8pPr>
            <a:lvl9pPr marL="3656411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453E-3D4D-464A-831F-EB23A5A42A12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21830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6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5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6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743A-56F0-4312-8259-E51533341499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71604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C2D58-99B7-4095-851E-63049442BAD8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60474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5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D284E-D999-40E1-8CDE-80A918580BC2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1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8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33399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C615-F352-46CA-997F-790F5C7AB59F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25367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5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8DF6-B2D7-4891-924E-F205B4F4C5B0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1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="" xmlns:p14="http://schemas.microsoft.com/office/powerpoint/2010/main" val="564502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D3E9-44D4-4A6E-8282-3CFF4443A4B7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135213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37C3A-3E20-4D7B-93C7-DC2476BB2AB9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39343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5" y="609603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7" y="609600"/>
            <a:ext cx="7060151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BB382-714F-487B-894A-7320A737CBE1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9713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2160590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6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90269F-6FC2-45F3-9E5C-EE0DAD7DBF51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5" y="6041366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5" y="6041366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8716904-6FC9-413C-90D2-F791BBDFC2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97407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hf sldNum="0" hdr="0" ftr="0" dt="0"/>
  <p:txStyles>
    <p:titleStyle>
      <a:lvl1pPr algn="l" defTabSz="457189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891" indent="-342891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357622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Chapter 8 Intellectual Property and Legal Issues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1567" y="1139687"/>
            <a:ext cx="8094254" cy="4903303"/>
          </a:xfrm>
        </p:spPr>
        <p:txBody>
          <a:bodyPr>
            <a:normAutofit fontScale="85000" lnSpcReduction="20000"/>
          </a:bodyPr>
          <a:lstStyle/>
          <a:p>
            <a:pPr marL="457200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</a:rPr>
              <a:t>Intellectual Properties</a:t>
            </a:r>
          </a:p>
          <a:p>
            <a:pPr marL="914389" lvl="1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Copyright</a:t>
            </a:r>
          </a:p>
          <a:p>
            <a:pPr marL="914389" lvl="1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Patent</a:t>
            </a:r>
          </a:p>
          <a:p>
            <a:pPr marL="914389" lvl="1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Design</a:t>
            </a:r>
          </a:p>
          <a:p>
            <a:pPr marL="914389" lvl="1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Trademark</a:t>
            </a:r>
          </a:p>
          <a:p>
            <a:pPr marL="914389" lvl="1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Trade-secrets</a:t>
            </a:r>
          </a:p>
          <a:p>
            <a:pPr marL="914389" lvl="1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IPR in Nepal</a:t>
            </a:r>
          </a:p>
          <a:p>
            <a:pPr marL="457200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</a:rPr>
              <a:t>IT Related Laws in Nepal</a:t>
            </a:r>
          </a:p>
          <a:p>
            <a:pPr marL="914389" lvl="1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IT Policy of Nepal</a:t>
            </a:r>
          </a:p>
          <a:p>
            <a:pPr marL="914389" lvl="1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Right to Information Act</a:t>
            </a:r>
          </a:p>
          <a:p>
            <a:pPr marL="914389" lvl="1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Electronics Transaction Act and Rules</a:t>
            </a:r>
          </a:p>
          <a:p>
            <a:pPr marL="914389" lvl="1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Secure Password Practices Issued by </a:t>
            </a:r>
            <a:r>
              <a:rPr lang="en-US" sz="2600" dirty="0" err="1">
                <a:solidFill>
                  <a:schemeClr val="tx1"/>
                </a:solidFill>
              </a:rPr>
              <a:t>GoN</a:t>
            </a:r>
            <a:endParaRPr lang="en-US" sz="2400" dirty="0">
              <a:solidFill>
                <a:schemeClr val="tx1"/>
              </a:solidFill>
            </a:endParaRPr>
          </a:p>
          <a:p>
            <a:pPr algn="l">
              <a:buClr>
                <a:schemeClr val="tx1"/>
              </a:buClr>
              <a:buSzPct val="71000"/>
            </a:pPr>
            <a:endParaRPr lang="en-US" sz="2800" dirty="0">
              <a:solidFill>
                <a:schemeClr val="tx1"/>
              </a:solidFill>
            </a:endParaRPr>
          </a:p>
          <a:p>
            <a:pPr marL="457200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endParaRPr lang="en-US" sz="2800" dirty="0">
              <a:solidFill>
                <a:schemeClr val="tx1"/>
              </a:solidFill>
            </a:endParaRPr>
          </a:p>
          <a:p>
            <a:pPr marL="457200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endParaRPr lang="en-US" sz="2800" dirty="0">
              <a:solidFill>
                <a:schemeClr val="tx1"/>
              </a:solidFill>
            </a:endParaRPr>
          </a:p>
          <a:p>
            <a:pPr algn="l">
              <a:buClr>
                <a:schemeClr val="tx1"/>
              </a:buClr>
              <a:buSzPct val="71000"/>
            </a:pP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19078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Intellectual Properties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=""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9"/>
            <a:ext cx="8094254" cy="2289312"/>
          </a:xfrm>
        </p:spPr>
        <p:txBody>
          <a:bodyPr>
            <a:normAutofit fontScale="925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Intellectual property rights are the rights given to persons over the creations of their minds. 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They usually give the creator an exclusive right over the use of his/her creation for a certain period of time.</a:t>
            </a:r>
          </a:p>
        </p:txBody>
      </p:sp>
      <p:pic>
        <p:nvPicPr>
          <p:cNvPr id="1026" name="Picture 2" descr="Intellectual Property - Research Guide International Law | Peace Palace  Library">
            <a:extLst>
              <a:ext uri="{FF2B5EF4-FFF2-40B4-BE49-F238E27FC236}">
                <a16:creationId xmlns="" xmlns:a16="http://schemas.microsoft.com/office/drawing/2014/main" id="{F42E0E3C-64E5-4980-9DB0-62F27C868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7687" y="3206197"/>
            <a:ext cx="5022573" cy="320141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698093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Copyright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=""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9"/>
            <a:ext cx="8094254" cy="5267924"/>
          </a:xfrm>
        </p:spPr>
        <p:txBody>
          <a:bodyPr>
            <a:normAutofit lnSpcReduction="1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Copyright is a legal right created by the law of a country that grants the creator of original work exclusive rights for its use and distribution. 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Works covered by copyright range from books, music, paintings, sculpture and films, to computer programs, databases, advertisements, maps and technical drawings.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It is often shared among multiple authors, each of whom holds a set of rights to use or license the work, and who are commonly referred to as rights holders.</a:t>
            </a:r>
          </a:p>
        </p:txBody>
      </p:sp>
    </p:spTree>
    <p:extLst>
      <p:ext uri="{BB962C8B-B14F-4D97-AF65-F5344CB8AC3E}">
        <p14:creationId xmlns="" xmlns:p14="http://schemas.microsoft.com/office/powerpoint/2010/main" val="878373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Copyright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=""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9"/>
            <a:ext cx="8094254" cy="5267924"/>
          </a:xfrm>
        </p:spPr>
        <p:txBody>
          <a:bodyPr>
            <a:normAutofit fontScale="92500" lnSpcReduction="2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Copyrights are considered territorial rights, which mean that they do not extend beyond the territory of a specific jurisdiction. 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While many aspects of national copyright laws have been standardized through international copyright agreements, copyright laws vary by country.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Typically, the duration of a copyright spans the author's life plus 50 to 100 years (that is, copyright typically expires 50 to 100 years after the author dies, depending on the jurisdiction). 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Some countries require certain copyright formalities to establishing copyright, but most recognize copyright in any completed work, without formal registration. </a:t>
            </a:r>
          </a:p>
        </p:txBody>
      </p:sp>
    </p:spTree>
    <p:extLst>
      <p:ext uri="{BB962C8B-B14F-4D97-AF65-F5344CB8AC3E}">
        <p14:creationId xmlns="" xmlns:p14="http://schemas.microsoft.com/office/powerpoint/2010/main" val="2279963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Copyright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=""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9"/>
            <a:ext cx="8094254" cy="5267924"/>
          </a:xfrm>
        </p:spPr>
        <p:txBody>
          <a:bodyPr>
            <a:normAutofit/>
          </a:bodyPr>
          <a:lstStyle/>
          <a:p>
            <a:pPr algn="just">
              <a:buClr>
                <a:schemeClr val="tx1"/>
              </a:buClr>
              <a:buSzPct val="71000"/>
            </a:pPr>
            <a:r>
              <a:rPr lang="en-US" sz="2800" dirty="0">
                <a:solidFill>
                  <a:srgbClr val="FF0000"/>
                </a:solidFill>
              </a:rPr>
              <a:t>When did Copyright Protection begin, and what is required? 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Copyright protection begins when any of the described work is actually created and fixed in a tangible form. 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The proper way to place a copyright notice is as follows: </a:t>
            </a:r>
          </a:p>
          <a:p>
            <a:pPr algn="just">
              <a:buClr>
                <a:schemeClr val="tx1"/>
              </a:buClr>
              <a:buSzPct val="71000"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	Copyright © (first date of creation) (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nameof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owner). 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Like this:</a:t>
            </a:r>
          </a:p>
          <a:p>
            <a:pPr lvl="1" algn="just">
              <a:buClr>
                <a:schemeClr val="tx1"/>
              </a:buClr>
              <a:buSzPct val="71000"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Copyright © 2003 John Smith. </a:t>
            </a:r>
          </a:p>
        </p:txBody>
      </p:sp>
    </p:spTree>
    <p:extLst>
      <p:ext uri="{BB962C8B-B14F-4D97-AF65-F5344CB8AC3E}">
        <p14:creationId xmlns="" xmlns:p14="http://schemas.microsoft.com/office/powerpoint/2010/main" val="2517622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Copyright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=""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9"/>
            <a:ext cx="8094254" cy="5267924"/>
          </a:xfrm>
        </p:spPr>
        <p:txBody>
          <a:bodyPr>
            <a:normAutofit fontScale="92500" lnSpcReduction="20000"/>
          </a:bodyPr>
          <a:lstStyle/>
          <a:p>
            <a:pPr algn="just">
              <a:buClr>
                <a:schemeClr val="tx1"/>
              </a:buClr>
              <a:buSzPct val="71000"/>
            </a:pPr>
            <a:r>
              <a:rPr lang="en-US" sz="2800" dirty="0">
                <a:solidFill>
                  <a:srgbClr val="FF0000"/>
                </a:solidFill>
              </a:rPr>
              <a:t>When does Copyright Protection end, or expire? 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If a copyright statement reads, </a:t>
            </a:r>
            <a:r>
              <a:rPr lang="en-US" sz="2800" i="1" dirty="0">
                <a:solidFill>
                  <a:schemeClr val="tx1"/>
                </a:solidFill>
                <a:latin typeface="Consolas" panose="020B0609020204030204" pitchFamily="49" charset="0"/>
              </a:rPr>
              <a:t>"© Copyright 1998, 1999 John Smith."</a:t>
            </a:r>
            <a:r>
              <a:rPr lang="en-US" sz="2800" dirty="0">
                <a:solidFill>
                  <a:schemeClr val="tx1"/>
                </a:solidFill>
              </a:rPr>
              <a:t> does that mean that John Smith’s copyright expired in 1999. 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The dates that you see in a copyright statement do not refer to the dates that the owner's material will expire and become public domain - they actually refer to the dates that the material was created. 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3000" dirty="0">
                <a:solidFill>
                  <a:schemeClr val="tx1"/>
                </a:solidFill>
                <a:latin typeface="+mj-lt"/>
              </a:rPr>
              <a:t>When you see several dates in a copyright statement, it simply means that certain things were created in one year and modified later. 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3000" dirty="0">
                <a:solidFill>
                  <a:schemeClr val="tx1"/>
                </a:solidFill>
                <a:latin typeface="+mj-lt"/>
              </a:rPr>
              <a:t>It could also mean that new things were created and added in a later year.</a:t>
            </a:r>
          </a:p>
        </p:txBody>
      </p:sp>
    </p:spTree>
    <p:extLst>
      <p:ext uri="{BB962C8B-B14F-4D97-AF65-F5344CB8AC3E}">
        <p14:creationId xmlns="" xmlns:p14="http://schemas.microsoft.com/office/powerpoint/2010/main" val="4203104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Patent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=""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5267925"/>
          </a:xfrm>
        </p:spPr>
        <p:txBody>
          <a:bodyPr>
            <a:normAutofit fontScale="92500" lnSpcReduction="2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A patent is an exclusive right granted for an invention. 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Generally speaking, a patent provides the patent owner with the right to decide how - or whether - the invention can be used by others. 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In exchange for this right, the patent owner makes technical information about the invention publicly available in the published patent document.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600" dirty="0">
                <a:solidFill>
                  <a:schemeClr val="tx1"/>
                </a:solidFill>
              </a:rPr>
              <a:t>The exclusive right granted to a patentee in most countries is the right to prevent others, or at least to try to prevent others, from commercially making, using, selling, importing, or distributing a patented invention without permission. </a:t>
            </a:r>
          </a:p>
        </p:txBody>
      </p:sp>
    </p:spTree>
    <p:extLst>
      <p:ext uri="{BB962C8B-B14F-4D97-AF65-F5344CB8AC3E}">
        <p14:creationId xmlns="" xmlns:p14="http://schemas.microsoft.com/office/powerpoint/2010/main" val="817084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Design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=""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5267925"/>
          </a:xfrm>
        </p:spPr>
        <p:txBody>
          <a:bodyPr>
            <a:normAutofit fontScale="925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Design is the creation of a plan or convention for the construction of an object or a system (as in architectural blueprints, engineering drawings, business processes, circuit diagrams and sewing patterns). 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600" dirty="0">
                <a:solidFill>
                  <a:schemeClr val="tx1"/>
                </a:solidFill>
              </a:rPr>
              <a:t>A design patent is a form of legal protection of the unique visual qualities of a manufactured item. 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b="0" i="0" dirty="0">
                <a:solidFill>
                  <a:srgbClr val="111111"/>
                </a:solidFill>
                <a:effectLst/>
                <a:latin typeface="SourceSansPro"/>
              </a:rPr>
              <a:t>In other words, a design patent provides protection for the ornamental design of something that has a practical utility.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111111"/>
                </a:solidFill>
                <a:latin typeface="SourceSansPro"/>
              </a:rPr>
              <a:t>A</a:t>
            </a:r>
            <a:r>
              <a:rPr lang="en-US" sz="2800" b="0" i="0" dirty="0">
                <a:solidFill>
                  <a:srgbClr val="111111"/>
                </a:solidFill>
                <a:effectLst/>
                <a:latin typeface="SourceSansPro"/>
              </a:rPr>
              <a:t> registered design may act as an alternative to a design patent. 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endParaRPr lang="en-US" sz="2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859979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Trade Mark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=""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5267925"/>
          </a:xfrm>
        </p:spPr>
        <p:txBody>
          <a:bodyPr>
            <a:normAutofit fontScale="92500" lnSpcReduction="2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A trademark, trade mark, or trade-mark is a recognizable sign, design, or expression which identifies products or services of a particular source from those of others, although trademarks used to identify services are usually called service marks. 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Trademarks date back to ancient times when artisans used to put their signature or "mark" on their products.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A trademark is typically a name, word, phrase, logo, symbol, design, image, or a combination of these elements.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The trademark owner can be an individual, business organization, or any legal entity. </a:t>
            </a:r>
          </a:p>
        </p:txBody>
      </p:sp>
    </p:spTree>
    <p:extLst>
      <p:ext uri="{BB962C8B-B14F-4D97-AF65-F5344CB8AC3E}">
        <p14:creationId xmlns="" xmlns:p14="http://schemas.microsoft.com/office/powerpoint/2010/main" val="1816200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Trade Mark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=""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5267925"/>
          </a:xfrm>
        </p:spPr>
        <p:txBody>
          <a:bodyPr>
            <a:normAutofit fontScale="92500" lnSpcReduction="2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A trademark may be located on a package, a label, a voucher, or on the product itself. 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For the sake of corporate identity trademarks are also being displayed on company buildings. 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A trademark may be designated by the following symbols: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600" dirty="0">
                <a:solidFill>
                  <a:schemeClr val="tx1"/>
                </a:solidFill>
              </a:rPr>
              <a:t>™ (the "trademark symbol", which is the letters "TM", for an unregistered trademark, a mark used to promote or brand goods)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600" dirty="0">
                <a:solidFill>
                  <a:schemeClr val="tx1"/>
                </a:solidFill>
              </a:rPr>
              <a:t>℠ (which is the letters "SM" in superscript, for an unregistered service mark, a mark used to promote or  brand services)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600" dirty="0">
                <a:solidFill>
                  <a:schemeClr val="tx1"/>
                </a:solidFill>
              </a:rPr>
              <a:t>® (the letter "R" surrounded by a circle, for a registered trademark) </a:t>
            </a:r>
          </a:p>
        </p:txBody>
      </p:sp>
    </p:spTree>
    <p:extLst>
      <p:ext uri="{BB962C8B-B14F-4D97-AF65-F5344CB8AC3E}">
        <p14:creationId xmlns="" xmlns:p14="http://schemas.microsoft.com/office/powerpoint/2010/main" val="1561997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Trade Secret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=""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5267925"/>
          </a:xfrm>
        </p:spPr>
        <p:txBody>
          <a:bodyPr>
            <a:normAutofit fontScale="92500" lnSpcReduction="2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A trade secret is a formula, practice, process, design, instrument, pattern, commercial method, or compilation of information which is not generally known or reasonably ascertainable by others, and by which a business can obtain an economic advantage over competitors or customers.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Trade secrets are IP rights on confidential information which may be sold or licensed.  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The unauthorized acquisition, use or disclosure of such secret information in a manner contrary to honest commercial practices by others is regarded as an unfair practice and a violation of the trade secret protection.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61406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IPR in Nepal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=""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9"/>
            <a:ext cx="8094254" cy="3101008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Copyright </a:t>
            </a:r>
            <a:r>
              <a:rPr lang="en-US" sz="2800" dirty="0" smtClean="0">
                <a:solidFill>
                  <a:schemeClr val="tx1"/>
                </a:solidFill>
              </a:rPr>
              <a:t>Act (</a:t>
            </a:r>
            <a:r>
              <a:rPr lang="en-US" sz="2800" dirty="0" err="1" smtClean="0">
                <a:solidFill>
                  <a:schemeClr val="tx1"/>
                </a:solidFill>
              </a:rPr>
              <a:t>Nabin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kumar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rokaya</a:t>
            </a:r>
            <a:r>
              <a:rPr lang="en-US" sz="2800" dirty="0" smtClean="0">
                <a:solidFill>
                  <a:schemeClr val="tx1"/>
                </a:solidFill>
              </a:rPr>
              <a:t>)</a:t>
            </a:r>
            <a:endParaRPr lang="en-US" sz="2800" dirty="0">
              <a:solidFill>
                <a:schemeClr val="tx1"/>
              </a:solidFill>
            </a:endParaRP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Patent, Design and Trademark </a:t>
            </a:r>
            <a:r>
              <a:rPr lang="en-US" sz="2800" dirty="0" smtClean="0">
                <a:solidFill>
                  <a:schemeClr val="tx1"/>
                </a:solidFill>
              </a:rPr>
              <a:t>Act (</a:t>
            </a:r>
            <a:r>
              <a:rPr lang="en-US" sz="2800" dirty="0" err="1" smtClean="0">
                <a:solidFill>
                  <a:schemeClr val="tx1"/>
                </a:solidFill>
              </a:rPr>
              <a:t>Naresh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Bhatta</a:t>
            </a:r>
            <a:r>
              <a:rPr lang="en-US" sz="2800" dirty="0" smtClean="0">
                <a:solidFill>
                  <a:schemeClr val="tx1"/>
                </a:solidFill>
              </a:rPr>
              <a:t>)</a:t>
            </a:r>
            <a:endParaRPr lang="en-US" sz="2800" dirty="0">
              <a:solidFill>
                <a:schemeClr val="tx1"/>
              </a:solidFill>
            </a:endParaRP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33612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 smtClean="0">
                <a:solidFill>
                  <a:schemeClr val="bg1"/>
                </a:solidFill>
              </a:rPr>
              <a:t>IT Related Laws in Nepal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=""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9"/>
            <a:ext cx="8094254" cy="3101008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</a:rPr>
              <a:t>IT policy of </a:t>
            </a:r>
            <a:r>
              <a:rPr lang="en-US" sz="2800" dirty="0" smtClean="0">
                <a:solidFill>
                  <a:schemeClr val="tx1"/>
                </a:solidFill>
              </a:rPr>
              <a:t>Nepal (</a:t>
            </a:r>
            <a:r>
              <a:rPr lang="en-US" sz="2800" dirty="0" err="1" smtClean="0">
                <a:solidFill>
                  <a:schemeClr val="tx1"/>
                </a:solidFill>
              </a:rPr>
              <a:t>Niraj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Adhikari</a:t>
            </a:r>
            <a:r>
              <a:rPr lang="en-US" sz="2800" dirty="0" smtClean="0">
                <a:solidFill>
                  <a:schemeClr val="tx1"/>
                </a:solidFill>
              </a:rPr>
              <a:t>)</a:t>
            </a:r>
            <a:endParaRPr lang="en-US" sz="2800" dirty="0">
              <a:solidFill>
                <a:schemeClr val="tx1"/>
              </a:solidFill>
            </a:endParaRP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</a:rPr>
              <a:t>Right to information </a:t>
            </a:r>
            <a:r>
              <a:rPr lang="en-US" sz="2800" dirty="0" smtClean="0">
                <a:solidFill>
                  <a:schemeClr val="tx1"/>
                </a:solidFill>
              </a:rPr>
              <a:t>Act(</a:t>
            </a:r>
            <a:r>
              <a:rPr lang="en-US" sz="2800" dirty="0" err="1" smtClean="0">
                <a:solidFill>
                  <a:schemeClr val="tx1"/>
                </a:solidFill>
              </a:rPr>
              <a:t>Prakash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Nath</a:t>
            </a:r>
            <a:r>
              <a:rPr lang="en-US" sz="2800" dirty="0" smtClean="0">
                <a:solidFill>
                  <a:schemeClr val="tx1"/>
                </a:solidFill>
              </a:rPr>
              <a:t>)</a:t>
            </a:r>
            <a:endParaRPr lang="en-US" sz="2800" dirty="0" smtClean="0">
              <a:solidFill>
                <a:schemeClr val="tx1"/>
              </a:solidFill>
            </a:endParaRP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</a:rPr>
              <a:t>Electronics Transaction Act and </a:t>
            </a:r>
            <a:r>
              <a:rPr lang="en-US" sz="2800" dirty="0" smtClean="0">
                <a:solidFill>
                  <a:schemeClr val="tx1"/>
                </a:solidFill>
              </a:rPr>
              <a:t>Rules(</a:t>
            </a:r>
            <a:r>
              <a:rPr lang="en-US" sz="2800" dirty="0" err="1" smtClean="0">
                <a:solidFill>
                  <a:schemeClr val="tx1"/>
                </a:solidFill>
              </a:rPr>
              <a:t>Pushp</a:t>
            </a:r>
            <a:r>
              <a:rPr lang="en-US" sz="2800" dirty="0" smtClean="0">
                <a:solidFill>
                  <a:schemeClr val="tx1"/>
                </a:solidFill>
              </a:rPr>
              <a:t>)</a:t>
            </a:r>
            <a:endParaRPr lang="en-US" sz="2800" dirty="0" smtClean="0">
              <a:solidFill>
                <a:schemeClr val="tx1"/>
              </a:solidFill>
            </a:endParaRP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</a:rPr>
              <a:t>Secure Password Practices Issued by Government of </a:t>
            </a:r>
            <a:r>
              <a:rPr lang="en-US" sz="2800" dirty="0" smtClean="0">
                <a:solidFill>
                  <a:schemeClr val="tx1"/>
                </a:solidFill>
              </a:rPr>
              <a:t>Nepal(Raman)</a:t>
            </a:r>
            <a:endParaRPr lang="en-US" sz="2800" dirty="0">
              <a:solidFill>
                <a:schemeClr val="tx1"/>
              </a:solidFill>
            </a:endParaRP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33612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252870" y="2593634"/>
            <a:ext cx="556033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30731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23C86C84CA4945852CBF0CFC130390" ma:contentTypeVersion="2" ma:contentTypeDescription="Create a new document." ma:contentTypeScope="" ma:versionID="38bc4188b0c59bea1978bee81d5bf097">
  <xsd:schema xmlns:xsd="http://www.w3.org/2001/XMLSchema" xmlns:xs="http://www.w3.org/2001/XMLSchema" xmlns:p="http://schemas.microsoft.com/office/2006/metadata/properties" xmlns:ns2="df9d7280-3a70-455f-8c80-6c4d72acc3fd" targetNamespace="http://schemas.microsoft.com/office/2006/metadata/properties" ma:root="true" ma:fieldsID="4a1ed8bae86aa9a3c3a781388432c89e" ns2:_="">
    <xsd:import namespace="df9d7280-3a70-455f-8c80-6c4d72acc3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9d7280-3a70-455f-8c80-6c4d72acc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3E530BF-48D1-42C5-869E-D2C842D3F8B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D1BA2BD-0D12-4181-99C1-93BE79F59A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9d7280-3a70-455f-8c80-6c4d72acc3f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4DBDD8-18FA-4A0E-A553-3DCAB233FCA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4045</TotalTime>
  <Words>1027</Words>
  <Application>Microsoft Office PowerPoint</Application>
  <PresentationFormat>Custom</PresentationFormat>
  <Paragraphs>89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Chapter 8 Intellectual Property and Legal Issues</vt:lpstr>
      <vt:lpstr>Intellectual Properties</vt:lpstr>
      <vt:lpstr>Copyright</vt:lpstr>
      <vt:lpstr>Copyright</vt:lpstr>
      <vt:lpstr>Copyright</vt:lpstr>
      <vt:lpstr>Copyright</vt:lpstr>
      <vt:lpstr>Patent</vt:lpstr>
      <vt:lpstr>Design</vt:lpstr>
      <vt:lpstr>Trade Mark</vt:lpstr>
      <vt:lpstr>Trade Mark</vt:lpstr>
      <vt:lpstr>Trade Secret</vt:lpstr>
      <vt:lpstr>IPR in Nepal</vt:lpstr>
      <vt:lpstr>IT Related Laws in Nepal</vt:lpstr>
      <vt:lpstr>Slide 14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Access Behavior and Impact Analysis on Education and Social Transformation in Dhangadhi Sub-Metropolitan City</dc:title>
  <dc:creator>Sunil Bahadur Bist</dc:creator>
  <cp:lastModifiedBy>hp</cp:lastModifiedBy>
  <cp:revision>705</cp:revision>
  <dcterms:created xsi:type="dcterms:W3CDTF">2017-09-13T07:21:00Z</dcterms:created>
  <dcterms:modified xsi:type="dcterms:W3CDTF">2023-06-18T04:10:23Z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0x0101004423C86C84CA4945852CBF0CFC130390</vt:lpwstr>
  </property>
</Properties>
</file>