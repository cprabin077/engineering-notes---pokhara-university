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  <p:embeddedFont>
      <p:font typeface="Outfit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FEE8BA-041E-49C9-A9B9-EFFE9D425AE2}">
  <a:tblStyle styleId="{ACFEE8BA-041E-49C9-A9B9-EFFE9D425AE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Outfit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Outfi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b2ac296d8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b2ac296d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1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9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Relationship Id="rId5" Type="http://schemas.openxmlformats.org/officeDocument/2006/relationships/image" Target="../media/image35.png"/><Relationship Id="rId6" Type="http://schemas.openxmlformats.org/officeDocument/2006/relationships/image" Target="../media/image15.png"/><Relationship Id="rId7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Relationship Id="rId9" Type="http://schemas.openxmlformats.org/officeDocument/2006/relationships/image" Target="../media/image18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Relationship Id="rId8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36.png"/><Relationship Id="rId9" Type="http://schemas.openxmlformats.org/officeDocument/2006/relationships/image" Target="../media/image29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Relationship Id="rId7" Type="http://schemas.openxmlformats.org/officeDocument/2006/relationships/image" Target="../media/image37.png"/><Relationship Id="rId8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524500" y="2286892"/>
            <a:ext cx="1143000" cy="1143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715452" y="2686942"/>
            <a:ext cx="8761095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Safety-Critical Systems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24187" y="3839467"/>
            <a:ext cx="61436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Computers that protect our lives every day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16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571500"/>
            <a:ext cx="311038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What are they?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143000"/>
            <a:ext cx="296227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516683"/>
            <a:ext cx="52863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These are computer systems where a mistake is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 okay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385244"/>
            <a:ext cx="52863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If they break, it could cause: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716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047750" y="3933825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Injuries or death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47750" y="4444305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Damage to nature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47750" y="4954785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Loss of property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76687"/>
            <a:ext cx="1809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87167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97648"/>
            <a:ext cx="219075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762000"/>
            <a:ext cx="3390423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Why they matter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71500" y="1333500"/>
            <a:ext cx="322897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2907208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Failure can hurt people, damage expensive tools, or harm the environment.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4061519"/>
            <a:ext cx="4953000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Because of this, we cannot let these systems fail.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9891"/>
            <a:ext cx="3492549" cy="3293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29891"/>
            <a:ext cx="3492549" cy="3293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29891"/>
            <a:ext cx="3492549" cy="329356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571500"/>
            <a:ext cx="5730716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How Engineers Keep Us Safe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1143000"/>
            <a:ext cx="545782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94237" y="3382416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Working Right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62025" y="3944391"/>
            <a:ext cx="2711499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Ensuring the system works perfectly during normal times.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72537" y="3382416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Safe State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740324" y="3944391"/>
            <a:ext cx="2711499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If something breaks, the system moves to a safe "stop" mode.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450836" y="3382416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Finding Dangers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518624" y="3944391"/>
            <a:ext cx="2711499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Looking for and stopping risks before they happen.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08150" y="2658516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2658516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6174" y="2658516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3355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571500"/>
            <a:ext cx="530066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Why they are hard to build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1143000"/>
            <a:ext cx="504825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2762398"/>
            <a:ext cx="52863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These systems are much more complex than a normal app or website.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3355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1047750" y="3688109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They must handle surprises.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047750" y="4198590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They must be perfectly accurate.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047750" y="4709070"/>
            <a:ext cx="4810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They must never stop working.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30972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41452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51933"/>
            <a:ext cx="3619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71500" y="571500"/>
            <a:ext cx="384048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Managing Dangers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1500" y="1143000"/>
            <a:ext cx="36576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1047750" y="2931914"/>
            <a:ext cx="10572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Safe Design: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Build the system to be safe from the start.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1047750" y="3442394"/>
            <a:ext cx="10572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Find Problems: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Look for things that could go wrong.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047750" y="3952875"/>
            <a:ext cx="10572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Lower Risks: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Control dangers so they don't cause harm.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047750" y="4463355"/>
            <a:ext cx="10572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Reduce Impact: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If a failure happens, make sure the damage is small.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74776"/>
            <a:ext cx="2857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85257"/>
            <a:ext cx="3238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95737"/>
            <a:ext cx="2476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06217"/>
            <a:ext cx="28575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571500"/>
            <a:ext cx="330041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Time and Money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" y="1143000"/>
            <a:ext cx="314325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2661344"/>
            <a:ext cx="4419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$$$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4452044"/>
            <a:ext cx="44196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 Investment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467350" y="2939504"/>
            <a:ext cx="6724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Building them is a big job: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467350" y="3396704"/>
            <a:ext cx="66294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takes a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very long time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finish.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467350" y="3945284"/>
            <a:ext cx="66294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costs a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huge amount of money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because we have to test everything over and over again.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71500" y="571500"/>
            <a:ext cx="399049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The "Careful" Steps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71500" y="1143000"/>
            <a:ext cx="380047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2068859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Every step must be done with extreme care:</a:t>
            </a:r>
            <a:endParaRPr/>
          </a:p>
        </p:txBody>
      </p:sp>
      <p:graphicFrame>
        <p:nvGraphicFramePr>
          <p:cNvPr id="185" name="Google Shape;185;p20"/>
          <p:cNvGraphicFramePr/>
          <p:nvPr/>
        </p:nvGraphicFramePr>
        <p:xfrm>
          <a:off x="571500" y="2807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{ACFEE8BA-041E-49C9-A9B9-EFFE9D425AE2}</a:tableStyleId>
              </a:tblPr>
              <a:tblGrid>
                <a:gridCol w="2597650"/>
                <a:gridCol w="8451350"/>
              </a:tblGrid>
              <a:tr h="62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The Step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 we 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Writing the software with no mistakes.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Inspection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Having other experts check the work carefully.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Trying to break it to find any hidden problems.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2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Verification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Proving that it does exactly what it should.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20"/>
          <p:cNvSpPr/>
          <p:nvPr/>
        </p:nvSpPr>
        <p:spPr>
          <a:xfrm>
            <a:off x="571500" y="4041427"/>
            <a:ext cx="25976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169146" y="4041427"/>
            <a:ext cx="84513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71500" y="4660552"/>
            <a:ext cx="25976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169146" y="4660552"/>
            <a:ext cx="84513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71500" y="5279677"/>
            <a:ext cx="25976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3169146" y="5279677"/>
            <a:ext cx="84513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71500" y="5898802"/>
            <a:ext cx="259764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3169146" y="5898802"/>
            <a:ext cx="845135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716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571500" y="571500"/>
            <a:ext cx="432054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Following Strict Rules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71500" y="1143000"/>
            <a:ext cx="4114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2962423"/>
            <a:ext cx="5286375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Before these systems can be used in the real world, they must follow strict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laws and standards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4150965"/>
            <a:ext cx="528637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They must pass many certifications to prove they are safe for people to use.</a:t>
            </a:r>
            <a:endParaRPr/>
          </a:p>
        </p:txBody>
      </p:sp>
      <p:pic>
        <p:nvPicPr>
          <p:cNvPr descr="image.png" id="204" name="Google Shape;2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71675"/>
            <a:ext cx="528637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9882"/>
            <a:ext cx="3492549" cy="2973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89882"/>
            <a:ext cx="3492549" cy="2973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89882"/>
            <a:ext cx="3492549" cy="297358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571500" y="571500"/>
            <a:ext cx="4730591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Where do we use them?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71500" y="1143000"/>
            <a:ext cx="450532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894237" y="3542407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Defense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962025" y="4104382"/>
            <a:ext cx="271149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Missile systems and weapon controls.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4672537" y="3542407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Warnings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4740324" y="4104382"/>
            <a:ext cx="271149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Tsunami and Earthquake alarms.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450836" y="3542407"/>
            <a:ext cx="2847074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Hospitals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8518624" y="4104382"/>
            <a:ext cx="271149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Fire alarms and life-support machines.</a:t>
            </a:r>
            <a:endParaRPr/>
          </a:p>
        </p:txBody>
      </p:sp>
      <p:pic>
        <p:nvPicPr>
          <p:cNvPr descr="image.png" id="221" name="Google Shape;22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17662" y="2818507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86450" y="2818507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74262" y="2818507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" y="2137469"/>
            <a:ext cx="33020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5049" y="2137469"/>
            <a:ext cx="33020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3349" y="2137469"/>
            <a:ext cx="33020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571500" y="571500"/>
            <a:ext cx="3090386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E293B"/>
                </a:solidFill>
                <a:latin typeface="Outfit"/>
                <a:ea typeface="Outfit"/>
                <a:cs typeface="Outfit"/>
                <a:sym typeface="Outfit"/>
              </a:rPr>
              <a:t>More Examples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71500" y="1143000"/>
            <a:ext cx="294322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666750" y="4747319"/>
            <a:ext cx="33020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Space: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Rocket launch and navigation.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4445049" y="4747319"/>
            <a:ext cx="33020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Cars: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Brakes and Airbag systems.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8223349" y="4747319"/>
            <a:ext cx="3302049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Planes: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Flight control systems.</a:t>
            </a:r>
            <a:endParaRPr/>
          </a:p>
        </p:txBody>
      </p:sp>
      <p:pic>
        <p:nvPicPr>
          <p:cNvPr descr="image.png" id="237" name="Google Shape;23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" y="2137469"/>
            <a:ext cx="33020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45049" y="2137469"/>
            <a:ext cx="33020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23349" y="2137469"/>
            <a:ext cx="3302049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4320778" y="1665982"/>
            <a:ext cx="3550443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B82F6"/>
                </a:solidFill>
                <a:latin typeface="Outfit"/>
                <a:ea typeface="Outfit"/>
                <a:cs typeface="Outfit"/>
                <a:sym typeface="Outfit"/>
              </a:rPr>
              <a:t>Summary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1809750" y="3142357"/>
            <a:ext cx="85725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Safety-critical systems are built with </a:t>
            </a:r>
            <a:r>
              <a:rPr b="1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maximum care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because failure is not an option. They require careful design and strict testing to keep us all safe.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 txBox="1"/>
          <p:nvPr/>
        </p:nvSpPr>
        <p:spPr>
          <a:xfrm>
            <a:off x="3816600" y="2874900"/>
            <a:ext cx="4558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B82F6"/>
                </a:solidFill>
                <a:latin typeface="Outfit"/>
                <a:ea typeface="Outfit"/>
                <a:cs typeface="Outfit"/>
                <a:sym typeface="Outfit"/>
              </a:rPr>
              <a:t>Thank You.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