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18.xml" ContentType="application/vnd.openxmlformats-officedocument.presentationml.slide+xml"/>
  <Override PartName="/ppt/slides/slide24.xml" ContentType="application/vnd.openxmlformats-officedocument.presentationml.slide+xml"/>
  <Override PartName="/ppt/presentation.xml" ContentType="application/vnd.openxmlformats-officedocument.presentationml.presentation.main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6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24.xml" ContentType="application/vnd.openxmlformats-officedocument.presentationml.notes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1" r:id="rId1"/>
  </p:sldMasterIdLst>
  <p:notesMasterIdLst>
    <p:notesMasterId r:id="rId26"/>
  </p:notesMasterIdLst>
  <p:sldIdLst>
    <p:sldId id="257" r:id="rId2"/>
    <p:sldId id="333" r:id="rId3"/>
    <p:sldId id="370" r:id="rId4"/>
    <p:sldId id="304" r:id="rId5"/>
    <p:sldId id="354" r:id="rId6"/>
    <p:sldId id="371" r:id="rId7"/>
    <p:sldId id="372" r:id="rId8"/>
    <p:sldId id="373" r:id="rId9"/>
    <p:sldId id="374" r:id="rId10"/>
    <p:sldId id="375" r:id="rId11"/>
    <p:sldId id="376" r:id="rId12"/>
    <p:sldId id="377" r:id="rId13"/>
    <p:sldId id="378" r:id="rId14"/>
    <p:sldId id="379" r:id="rId15"/>
    <p:sldId id="380" r:id="rId16"/>
    <p:sldId id="381" r:id="rId17"/>
    <p:sldId id="382" r:id="rId18"/>
    <p:sldId id="384" r:id="rId19"/>
    <p:sldId id="383" r:id="rId20"/>
    <p:sldId id="385" r:id="rId21"/>
    <p:sldId id="386" r:id="rId22"/>
    <p:sldId id="387" r:id="rId23"/>
    <p:sldId id="388" r:id="rId24"/>
    <p:sldId id="275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368" autoAdjust="0"/>
    <p:restoredTop sz="94660"/>
  </p:normalViewPr>
  <p:slideViewPr>
    <p:cSldViewPr snapToGrid="0">
      <p:cViewPr varScale="1">
        <p:scale>
          <a:sx n="72" d="100"/>
          <a:sy n="72" d="100"/>
        </p:scale>
        <p:origin x="642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2C73DF-4ACA-4A4E-BE24-698A41846534}" type="datetimeFigureOut">
              <a:rPr lang="en-US" smtClean="0"/>
              <a:t>10/29/2020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0F0832-C019-46EE-973A-B4AFD6309C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397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0F0832-C019-46EE-973A-B4AFD6309CA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7780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0F0832-C019-46EE-973A-B4AFD6309CA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0147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0F0832-C019-46EE-973A-B4AFD6309CA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7412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0F0832-C019-46EE-973A-B4AFD6309CA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7909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0F0832-C019-46EE-973A-B4AFD6309CA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8257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0F0832-C019-46EE-973A-B4AFD6309CA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3708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0F0832-C019-46EE-973A-B4AFD6309CA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678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0F0832-C019-46EE-973A-B4AFD6309CA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1884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0F0832-C019-46EE-973A-B4AFD6309CA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4674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0F0832-C019-46EE-973A-B4AFD6309CA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654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0F0832-C019-46EE-973A-B4AFD6309CA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4390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0F0832-C019-46EE-973A-B4AFD6309CA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9899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0F0832-C019-46EE-973A-B4AFD6309CA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26541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0F0832-C019-46EE-973A-B4AFD6309CA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72434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0F0832-C019-46EE-973A-B4AFD6309CA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77427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0F0832-C019-46EE-973A-B4AFD6309CA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93006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0F0832-C019-46EE-973A-B4AFD6309CA0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34257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0F0832-C019-46EE-973A-B4AFD6309CA0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51723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0F0832-C019-46EE-973A-B4AFD6309CA0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88165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0F0832-C019-46EE-973A-B4AFD6309CA0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10786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0F0832-C019-46EE-973A-B4AFD6309CA0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62899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0F0832-C019-46EE-973A-B4AFD6309CA0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3101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0F0832-C019-46EE-973A-B4AFD6309CA0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41448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0F0832-C019-46EE-973A-B4AFD6309CA0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0010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7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DD5E5-F825-4B33-AF67-A7F31E5A2821}" type="datetime1">
              <a:rPr lang="en-US" smtClean="0"/>
              <a:t>10/29/2020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16904-6FC9-413C-90D2-F791BBDFC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8342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0A645-7812-465D-BB5E-A8CA1F1DB31F}" type="datetime1">
              <a:rPr lang="en-US" smtClean="0"/>
              <a:t>10/29/2020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16904-6FC9-413C-90D2-F791BBDFC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6387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71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DDB56-25F5-4763-9EA5-68F834D6E811}" type="datetime1">
              <a:rPr lang="en-US" smtClean="0"/>
              <a:t>10/29/2020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16904-6FC9-413C-90D2-F791BBDFC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3875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6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69" y="2160590"/>
            <a:ext cx="4184035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901DB-480A-4D75-AD69-F9ABD9C9ECEB}" type="datetime1">
              <a:rPr lang="en-US" smtClean="0"/>
              <a:t>10/29/2020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16904-6FC9-413C-90D2-F791BBDFC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284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7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7" y="2737249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4" y="2160983"/>
            <a:ext cx="418561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6" y="2737249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B31EA-9561-4FDF-BCE1-CAE98AD0C4D5}" type="datetime1">
              <a:rPr lang="en-US" smtClean="0"/>
              <a:t>10/29/2020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16904-6FC9-413C-90D2-F791BBDFC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331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8B6BF-29BB-4022-8B48-CF48B5627A0E}" type="datetime1">
              <a:rPr lang="en-US" smtClean="0"/>
              <a:t>10/29/2020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16904-6FC9-413C-90D2-F791BBDFC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1791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E9B8A-9C1C-47BE-9A52-00A57195BE87}" type="datetime1">
              <a:rPr lang="en-US" smtClean="0"/>
              <a:t>10/29/2020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16904-6FC9-413C-90D2-F791BBDFC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4427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3" y="514928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5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51" indent="0">
              <a:buNone/>
              <a:defRPr sz="1400"/>
            </a:lvl2pPr>
            <a:lvl3pPr marL="914104" indent="0">
              <a:buNone/>
              <a:defRPr sz="1200"/>
            </a:lvl3pPr>
            <a:lvl4pPr marL="1371155" indent="0">
              <a:buNone/>
              <a:defRPr sz="1000"/>
            </a:lvl4pPr>
            <a:lvl5pPr marL="1828205" indent="0">
              <a:buNone/>
              <a:defRPr sz="1000"/>
            </a:lvl5pPr>
            <a:lvl6pPr marL="2285258" indent="0">
              <a:buNone/>
              <a:defRPr sz="1000"/>
            </a:lvl6pPr>
            <a:lvl7pPr marL="2742309" indent="0">
              <a:buNone/>
              <a:defRPr sz="1000"/>
            </a:lvl7pPr>
            <a:lvl8pPr marL="3199360" indent="0">
              <a:buNone/>
              <a:defRPr sz="1000"/>
            </a:lvl8pPr>
            <a:lvl9pPr marL="3656411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F453E-3D4D-464A-831F-EB23A5A42A12}" type="datetime1">
              <a:rPr lang="en-US" smtClean="0"/>
              <a:t>10/29/2020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16904-6FC9-413C-90D2-F791BBDFC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8304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6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5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189" indent="0">
              <a:buNone/>
              <a:defRPr sz="1600"/>
            </a:lvl2pPr>
            <a:lvl3pPr marL="914377" indent="0">
              <a:buNone/>
              <a:defRPr sz="1600"/>
            </a:lvl3pPr>
            <a:lvl4pPr marL="1371566" indent="0">
              <a:buNone/>
              <a:defRPr sz="1600"/>
            </a:lvl4pPr>
            <a:lvl5pPr marL="1828754" indent="0">
              <a:buNone/>
              <a:defRPr sz="1600"/>
            </a:lvl5pPr>
            <a:lvl6pPr marL="2285943" indent="0">
              <a:buNone/>
              <a:defRPr sz="1600"/>
            </a:lvl6pPr>
            <a:lvl7pPr marL="2743131" indent="0">
              <a:buNone/>
              <a:defRPr sz="1600"/>
            </a:lvl7pPr>
            <a:lvl8pPr marL="3200320" indent="0">
              <a:buNone/>
              <a:defRPr sz="1600"/>
            </a:lvl8pPr>
            <a:lvl9pPr marL="3657509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6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9743A-56F0-4312-8259-E51533341499}" type="datetime1">
              <a:rPr lang="en-US" smtClean="0"/>
              <a:t>10/29/2020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16904-6FC9-413C-90D2-F791BBDFC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604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C2D58-99B7-4095-851E-63049442BAD8}" type="datetime1">
              <a:rPr lang="en-US" smtClean="0"/>
              <a:t>10/29/2020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16904-6FC9-413C-90D2-F791BBDFC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4747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5" y="609600"/>
            <a:ext cx="809413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4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D284E-D999-40E1-8CDE-80A918580BC2}" type="datetime1">
              <a:rPr lang="en-US" smtClean="0"/>
              <a:t>10/29/2020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16904-6FC9-413C-90D2-F791BBDFC2B7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1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sz="1800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333997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2C615-F352-46CA-997F-790F5C7AB59F}" type="datetime1">
              <a:rPr lang="en-US" smtClean="0"/>
              <a:t>10/29/2020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16904-6FC9-413C-90D2-F791BBDFC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3678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5" y="609600"/>
            <a:ext cx="809413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4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F8DF6-B2D7-4891-924E-F205B4F4C5B0}" type="datetime1">
              <a:rPr lang="en-US" smtClean="0"/>
              <a:t>10/29/2020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16904-6FC9-413C-90D2-F791BBDFC2B7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1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645023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4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9D3E9-44D4-4A6E-8282-3CFF4443A4B7}" type="datetime1">
              <a:rPr lang="en-US" smtClean="0"/>
              <a:t>10/29/2020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16904-6FC9-413C-90D2-F791BBDFC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5213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37C3A-3E20-4D7B-93C7-DC2476BB2AB9}" type="datetime1">
              <a:rPr lang="en-US" smtClean="0"/>
              <a:t>10/29/2020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16904-6FC9-413C-90D2-F791BBDFC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343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5" y="609603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7" y="609600"/>
            <a:ext cx="7060151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BB382-714F-487B-894A-7320A737CBE1}" type="datetime1">
              <a:rPr lang="en-US" smtClean="0"/>
              <a:t>10/29/2020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16904-6FC9-413C-90D2-F791BBDFC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136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2160590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6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90269F-6FC2-45F3-9E5C-EE0DAD7DBF51}" type="datetime1">
              <a:rPr lang="en-US" smtClean="0"/>
              <a:t>10/29/2020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5" y="6041366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5" y="6041366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08716904-6FC9-413C-90D2-F791BBDFC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4075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  <p:sldLayoutId id="2147483723" r:id="rId12"/>
    <p:sldLayoutId id="2147483724" r:id="rId13"/>
    <p:sldLayoutId id="2147483725" r:id="rId14"/>
    <p:sldLayoutId id="2147483726" r:id="rId15"/>
    <p:sldLayoutId id="2147483727" r:id="rId16"/>
  </p:sldLayoutIdLst>
  <p:hf sldNum="0" hdr="0" ftr="0" dt="0"/>
  <p:txStyles>
    <p:titleStyle>
      <a:lvl1pPr algn="l" defTabSz="457189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891" indent="-342891" algn="l" defTabSz="457189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32" indent="-285744" algn="l" defTabSz="457189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2971" indent="-228594" algn="l" defTabSz="457189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160" indent="-228594" algn="l" defTabSz="457189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349" indent="-228594" algn="l" defTabSz="457189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537" indent="-228594" algn="l" defTabSz="457189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726" indent="-228594" algn="l" defTabSz="457189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8914" indent="-228594" algn="l" defTabSz="457189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103" indent="-228594" algn="l" defTabSz="457189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1567" y="357622"/>
            <a:ext cx="8094254" cy="554538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l"/>
            <a:r>
              <a:rPr lang="en-US" sz="2800" dirty="0">
                <a:solidFill>
                  <a:schemeClr val="bg1"/>
                </a:solidFill>
              </a:rPr>
              <a:t>Chapter 6  Privacy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81567" y="1139687"/>
            <a:ext cx="8094254" cy="4903303"/>
          </a:xfrm>
        </p:spPr>
        <p:txBody>
          <a:bodyPr>
            <a:normAutofit fontScale="92500" lnSpcReduction="20000"/>
          </a:bodyPr>
          <a:lstStyle/>
          <a:p>
            <a:pPr marL="457200" indent="-457200" algn="l">
              <a:buClr>
                <a:schemeClr val="tx1"/>
              </a:buClr>
              <a:buSzPct val="71000"/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chemeClr val="tx1"/>
                </a:solidFill>
              </a:rPr>
              <a:t>Privacy and its Value</a:t>
            </a:r>
          </a:p>
          <a:p>
            <a:pPr marL="457200" indent="-457200" algn="l">
              <a:buClr>
                <a:schemeClr val="tx1"/>
              </a:buClr>
              <a:buSzPct val="71000"/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chemeClr val="tx1"/>
                </a:solidFill>
              </a:rPr>
              <a:t>Privacy Risks</a:t>
            </a:r>
          </a:p>
          <a:p>
            <a:pPr marL="914389" lvl="1" indent="-457200" algn="l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chemeClr val="tx1"/>
                </a:solidFill>
              </a:rPr>
              <a:t>Government Information</a:t>
            </a:r>
          </a:p>
          <a:p>
            <a:pPr marL="914389" lvl="1" indent="-457200" algn="l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chemeClr val="tx1"/>
                </a:solidFill>
              </a:rPr>
              <a:t>Consumer Information</a:t>
            </a:r>
          </a:p>
          <a:p>
            <a:pPr marL="457200" indent="-457200" algn="l">
              <a:buClr>
                <a:schemeClr val="tx1"/>
              </a:buClr>
              <a:buSzPct val="71000"/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chemeClr val="tx1"/>
                </a:solidFill>
              </a:rPr>
              <a:t>Privacy of Consumer Information</a:t>
            </a:r>
          </a:p>
          <a:p>
            <a:pPr marL="914389" lvl="1" indent="-457200" algn="l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chemeClr val="tx1"/>
                </a:solidFill>
              </a:rPr>
              <a:t>Databases and Personal Records</a:t>
            </a:r>
          </a:p>
          <a:p>
            <a:pPr marL="914389" lvl="1" indent="-457200" algn="l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chemeClr val="tx1"/>
                </a:solidFill>
              </a:rPr>
              <a:t>E-mail Privacy</a:t>
            </a:r>
          </a:p>
          <a:p>
            <a:pPr marL="914389" lvl="1" indent="-457200" algn="l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chemeClr val="tx1"/>
                </a:solidFill>
              </a:rPr>
              <a:t>Web Privacy</a:t>
            </a:r>
          </a:p>
          <a:p>
            <a:pPr marL="457200" indent="-457200" algn="l">
              <a:buClr>
                <a:schemeClr val="tx1"/>
              </a:buClr>
              <a:buSzPct val="71000"/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chemeClr val="tx1"/>
                </a:solidFill>
              </a:rPr>
              <a:t>Protecting Privacy</a:t>
            </a:r>
          </a:p>
          <a:p>
            <a:pPr marL="457200" indent="-457200" algn="l">
              <a:buClr>
                <a:schemeClr val="tx1"/>
              </a:buClr>
              <a:buSzPct val="71000"/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chemeClr val="tx1"/>
                </a:solidFill>
              </a:rPr>
              <a:t>Offensive speech and Censorship in Cyberspace</a:t>
            </a:r>
          </a:p>
          <a:p>
            <a:pPr marL="457200" indent="-457200" algn="l">
              <a:buClr>
                <a:schemeClr val="tx1"/>
              </a:buClr>
              <a:buSzPct val="71000"/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chemeClr val="tx1"/>
                </a:solidFill>
              </a:rPr>
              <a:t>Anonymity</a:t>
            </a:r>
            <a:endParaRPr lang="en-US" sz="2600" dirty="0">
              <a:solidFill>
                <a:schemeClr val="tx1"/>
              </a:solidFill>
            </a:endParaRPr>
          </a:p>
          <a:p>
            <a:pPr algn="l">
              <a:buClr>
                <a:schemeClr val="tx1"/>
              </a:buClr>
              <a:buSzPct val="71000"/>
            </a:pPr>
            <a:endParaRPr lang="en-US" sz="2800" dirty="0">
              <a:solidFill>
                <a:schemeClr val="tx1"/>
              </a:solidFill>
            </a:endParaRPr>
          </a:p>
          <a:p>
            <a:pPr marL="457200" indent="-457200" algn="l">
              <a:buClr>
                <a:schemeClr val="tx1"/>
              </a:buClr>
              <a:buSzPct val="71000"/>
              <a:buFont typeface="Wingdings" panose="05000000000000000000" pitchFamily="2" charset="2"/>
              <a:buChar char="q"/>
            </a:pPr>
            <a:endParaRPr lang="en-US" sz="2800" dirty="0">
              <a:solidFill>
                <a:schemeClr val="tx1"/>
              </a:solidFill>
            </a:endParaRPr>
          </a:p>
          <a:p>
            <a:pPr marL="457200" indent="-457200" algn="l">
              <a:buClr>
                <a:schemeClr val="tx1"/>
              </a:buClr>
              <a:buSzPct val="71000"/>
              <a:buFont typeface="Wingdings" panose="05000000000000000000" pitchFamily="2" charset="2"/>
              <a:buChar char="q"/>
            </a:pPr>
            <a:endParaRPr lang="en-US" sz="2800" dirty="0">
              <a:solidFill>
                <a:schemeClr val="tx1"/>
              </a:solidFill>
            </a:endParaRPr>
          </a:p>
          <a:p>
            <a:pPr algn="l">
              <a:buClr>
                <a:schemeClr val="tx1"/>
              </a:buClr>
              <a:buSzPct val="71000"/>
            </a:pPr>
            <a:endParaRPr lang="en-US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90787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1567" y="450387"/>
            <a:ext cx="8094254" cy="554538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l"/>
            <a:r>
              <a:rPr lang="en-US" sz="2800" dirty="0">
                <a:solidFill>
                  <a:schemeClr val="bg1"/>
                </a:solidFill>
              </a:rPr>
              <a:t>Privacy and its Value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B94D34AC-95A7-424A-986B-2C266EC6EE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1567" y="1139688"/>
            <a:ext cx="8094254" cy="5267925"/>
          </a:xfrm>
        </p:spPr>
        <p:txBody>
          <a:bodyPr>
            <a:normAutofit lnSpcReduction="10000"/>
          </a:bodyPr>
          <a:lstStyle/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</a:rPr>
              <a:t>Privacy is the right to be let alone, or freedom from interference or intrusion. </a:t>
            </a:r>
          </a:p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</a:rPr>
              <a:t>Information privacy is the right to have some control over how your personal information is collected and used.</a:t>
            </a:r>
          </a:p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</a:rPr>
              <a:t>Privacy helps us establish boundaries to limit who has access to our bodies, places and things, as well as our communications and our information.</a:t>
            </a:r>
          </a:p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</a:rPr>
              <a:t>Privacy is a basic right and a necessary protection in the digital age to avoid victimization and manipulation.</a:t>
            </a:r>
          </a:p>
        </p:txBody>
      </p:sp>
    </p:spTree>
    <p:extLst>
      <p:ext uri="{BB962C8B-B14F-4D97-AF65-F5344CB8AC3E}">
        <p14:creationId xmlns:p14="http://schemas.microsoft.com/office/powerpoint/2010/main" val="6980930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1567" y="450387"/>
            <a:ext cx="8094254" cy="554538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l"/>
            <a:r>
              <a:rPr lang="en-US" sz="2800" dirty="0">
                <a:solidFill>
                  <a:schemeClr val="bg1"/>
                </a:solidFill>
              </a:rPr>
              <a:t>Privacy and its Value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B94D34AC-95A7-424A-986B-2C266EC6EE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1567" y="1139688"/>
            <a:ext cx="8094254" cy="5267925"/>
          </a:xfrm>
        </p:spPr>
        <p:txBody>
          <a:bodyPr>
            <a:normAutofit fontScale="92500" lnSpcReduction="10000"/>
          </a:bodyPr>
          <a:lstStyle/>
          <a:p>
            <a:pPr algn="just">
              <a:buClr>
                <a:schemeClr val="tx1"/>
              </a:buClr>
              <a:buSzPct val="71000"/>
            </a:pPr>
            <a:r>
              <a:rPr lang="en-US" sz="2800" b="1" dirty="0">
                <a:solidFill>
                  <a:schemeClr val="tx1"/>
                </a:solidFill>
              </a:rPr>
              <a:t>Value of Privacy:</a:t>
            </a:r>
          </a:p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</a:rPr>
              <a:t>Privacy gives us the power to choose our thoughts and feelings and who we share them with.</a:t>
            </a:r>
          </a:p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</a:rPr>
              <a:t>Privacy protects our information we do not want shared publicly (such as health or personal finances).</a:t>
            </a:r>
          </a:p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</a:rPr>
              <a:t>Privacy helps protect our physical safety (if our real time location data is private).</a:t>
            </a:r>
          </a:p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</a:rPr>
              <a:t>Privacy helps protect us as individuals, and our businesses, against entities we depend on or that are more powerful than us.</a:t>
            </a:r>
          </a:p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</a:rPr>
              <a:t>Privacy is tied to Freedom.</a:t>
            </a:r>
          </a:p>
        </p:txBody>
      </p:sp>
    </p:spTree>
    <p:extLst>
      <p:ext uri="{BB962C8B-B14F-4D97-AF65-F5344CB8AC3E}">
        <p14:creationId xmlns:p14="http://schemas.microsoft.com/office/powerpoint/2010/main" val="18162004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1567" y="450387"/>
            <a:ext cx="8094254" cy="554538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l"/>
            <a:r>
              <a:rPr lang="en-US" sz="2800" dirty="0">
                <a:solidFill>
                  <a:schemeClr val="bg1"/>
                </a:solidFill>
              </a:rPr>
              <a:t>Privacy Risks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B94D34AC-95A7-424A-986B-2C266EC6EE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1567" y="1139688"/>
            <a:ext cx="8094254" cy="5267925"/>
          </a:xfrm>
        </p:spPr>
        <p:txBody>
          <a:bodyPr>
            <a:normAutofit fontScale="92500" lnSpcReduction="10000"/>
          </a:bodyPr>
          <a:lstStyle/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</a:rPr>
              <a:t>Vulnerabilities in Web Applications</a:t>
            </a:r>
          </a:p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</a:rPr>
              <a:t>Insiders and Poorly-Trained Employees</a:t>
            </a:r>
          </a:p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</a:rPr>
              <a:t>Lacking Breach Response</a:t>
            </a:r>
          </a:p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</a:rPr>
              <a:t>Inadequate Personal Data Disposal</a:t>
            </a:r>
          </a:p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</a:rPr>
              <a:t>Lack of Transparency in Privacy Policies, Terms and Conditions</a:t>
            </a:r>
          </a:p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</a:rPr>
              <a:t>Collection of Unnecessary Data</a:t>
            </a:r>
          </a:p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</a:rPr>
              <a:t>Personal Data Sharing</a:t>
            </a:r>
          </a:p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</a:rPr>
              <a:t>Incorrect or Outdated Personal Data</a:t>
            </a:r>
          </a:p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</a:rPr>
              <a:t>Session Expiration Problems</a:t>
            </a:r>
          </a:p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</a:rPr>
              <a:t>Data transfer Over Insecure Channels</a:t>
            </a:r>
          </a:p>
        </p:txBody>
      </p:sp>
    </p:spTree>
    <p:extLst>
      <p:ext uri="{BB962C8B-B14F-4D97-AF65-F5344CB8AC3E}">
        <p14:creationId xmlns:p14="http://schemas.microsoft.com/office/powerpoint/2010/main" val="37614065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1567" y="450387"/>
            <a:ext cx="8094254" cy="554538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l"/>
            <a:r>
              <a:rPr lang="en-US" sz="2800" dirty="0">
                <a:solidFill>
                  <a:schemeClr val="bg1"/>
                </a:solidFill>
              </a:rPr>
              <a:t>Privacy Risks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B94D34AC-95A7-424A-986B-2C266EC6EE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1567" y="1139689"/>
            <a:ext cx="8094254" cy="5267924"/>
          </a:xfrm>
        </p:spPr>
        <p:txBody>
          <a:bodyPr>
            <a:normAutofit fontScale="70000" lnSpcReduction="20000"/>
          </a:bodyPr>
          <a:lstStyle/>
          <a:p>
            <a:pPr algn="just">
              <a:buClr>
                <a:schemeClr val="tx1"/>
              </a:buClr>
              <a:buSzPct val="71000"/>
            </a:pPr>
            <a:r>
              <a:rPr lang="en-US" sz="2800" dirty="0">
                <a:solidFill>
                  <a:srgbClr val="FF0000"/>
                </a:solidFill>
              </a:rPr>
              <a:t>Government Information</a:t>
            </a:r>
          </a:p>
          <a:p>
            <a:pPr marL="457200" indent="-457200" algn="just">
              <a:lnSpc>
                <a:spcPct val="120000"/>
              </a:lnSpc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</a:rPr>
              <a:t>Government information and government information products are published, compiled, or created by the government, at government expense or as required by law.</a:t>
            </a:r>
          </a:p>
          <a:p>
            <a:pPr marL="457200" indent="-457200" algn="just">
              <a:lnSpc>
                <a:spcPct val="120000"/>
              </a:lnSpc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</a:rPr>
              <a:t>The information produced by the government is vast in terms scope (it is hard to find a subject the government does not publish on) and breadth (the government has been publishing research, statistics, reports since its  inception). </a:t>
            </a:r>
          </a:p>
          <a:p>
            <a:pPr marL="457200" indent="-457200" algn="just">
              <a:lnSpc>
                <a:spcPct val="120000"/>
              </a:lnSpc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</a:rPr>
              <a:t>For a random example, the Census Bureau collects annual data on mode and time of transportation to work by age, gender, occupation, annual income range, etc. for multiple geographic areas.</a:t>
            </a:r>
          </a:p>
          <a:p>
            <a:pPr marL="457200" indent="-457200" algn="just">
              <a:lnSpc>
                <a:spcPct val="120000"/>
              </a:lnSpc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</a:rPr>
              <a:t>Government information is also considered to be a primary source, which are important documents for conducting original research.</a:t>
            </a:r>
          </a:p>
        </p:txBody>
      </p:sp>
    </p:spTree>
    <p:extLst>
      <p:ext uri="{BB962C8B-B14F-4D97-AF65-F5344CB8AC3E}">
        <p14:creationId xmlns:p14="http://schemas.microsoft.com/office/powerpoint/2010/main" val="42802349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1567" y="450387"/>
            <a:ext cx="8094254" cy="554538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l"/>
            <a:r>
              <a:rPr lang="en-US" sz="2800" dirty="0">
                <a:solidFill>
                  <a:schemeClr val="bg1"/>
                </a:solidFill>
              </a:rPr>
              <a:t>Privacy Risks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B94D34AC-95A7-424A-986B-2C266EC6EE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1567" y="1139689"/>
            <a:ext cx="8094254" cy="5267924"/>
          </a:xfrm>
        </p:spPr>
        <p:txBody>
          <a:bodyPr>
            <a:normAutofit fontScale="62500" lnSpcReduction="20000"/>
          </a:bodyPr>
          <a:lstStyle/>
          <a:p>
            <a:pPr algn="just">
              <a:buClr>
                <a:schemeClr val="tx1"/>
              </a:buClr>
              <a:buSzPct val="71000"/>
            </a:pPr>
            <a:r>
              <a:rPr lang="en-US" sz="2800" dirty="0">
                <a:solidFill>
                  <a:srgbClr val="FF0000"/>
                </a:solidFill>
              </a:rPr>
              <a:t>Government Information</a:t>
            </a:r>
          </a:p>
          <a:p>
            <a:pPr marL="457200" indent="-457200" algn="just">
              <a:lnSpc>
                <a:spcPct val="120000"/>
              </a:lnSpc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</a:rPr>
              <a:t>Access to government information is a public right that must not be restricted by administrative barriers, geography, ability to pay, or format.</a:t>
            </a:r>
          </a:p>
          <a:p>
            <a:pPr marL="457200" indent="-457200" algn="just">
              <a:lnSpc>
                <a:spcPct val="120000"/>
              </a:lnSpc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</a:rPr>
              <a:t>The government has a responsibility to collect, maintain, and disseminate information to the public.</a:t>
            </a:r>
          </a:p>
          <a:p>
            <a:pPr marL="457200" indent="-457200" algn="just">
              <a:lnSpc>
                <a:spcPct val="120000"/>
              </a:lnSpc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</a:rPr>
              <a:t>Government information policy must ensure the integrity of public information.</a:t>
            </a:r>
          </a:p>
          <a:p>
            <a:pPr marL="457200" indent="-457200" algn="just">
              <a:lnSpc>
                <a:spcPct val="120000"/>
              </a:lnSpc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</a:rPr>
              <a:t>It is essential to safeguard the right of the government information user to privacy and confidentiality.</a:t>
            </a:r>
          </a:p>
          <a:p>
            <a:pPr marL="457200" indent="-457200" algn="just">
              <a:lnSpc>
                <a:spcPct val="120000"/>
              </a:lnSpc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</a:rPr>
              <a:t>Government has an obligation to preserve public information from all eras of the country's history, regardless of form or format.</a:t>
            </a:r>
          </a:p>
          <a:p>
            <a:pPr marL="457200" indent="-457200" algn="just">
              <a:lnSpc>
                <a:spcPct val="120000"/>
              </a:lnSpc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</a:rPr>
              <a:t>Copyright or copyright-like restrictions should not be applied to government information.</a:t>
            </a:r>
          </a:p>
        </p:txBody>
      </p:sp>
    </p:spTree>
    <p:extLst>
      <p:ext uri="{BB962C8B-B14F-4D97-AF65-F5344CB8AC3E}">
        <p14:creationId xmlns:p14="http://schemas.microsoft.com/office/powerpoint/2010/main" val="22114186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1567" y="450387"/>
            <a:ext cx="8094254" cy="554538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l"/>
            <a:r>
              <a:rPr lang="en-US" sz="2800" dirty="0">
                <a:solidFill>
                  <a:schemeClr val="bg1"/>
                </a:solidFill>
              </a:rPr>
              <a:t>Privacy Risks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B94D34AC-95A7-424A-986B-2C266EC6EE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1567" y="1139689"/>
            <a:ext cx="8094254" cy="5267924"/>
          </a:xfrm>
        </p:spPr>
        <p:txBody>
          <a:bodyPr>
            <a:normAutofit fontScale="62500" lnSpcReduction="20000"/>
          </a:bodyPr>
          <a:lstStyle/>
          <a:p>
            <a:pPr algn="just">
              <a:buClr>
                <a:schemeClr val="tx1"/>
              </a:buClr>
              <a:buSzPct val="71000"/>
            </a:pPr>
            <a:r>
              <a:rPr lang="en-US" sz="2800" dirty="0">
                <a:solidFill>
                  <a:srgbClr val="FF0000"/>
                </a:solidFill>
              </a:rPr>
              <a:t>Consumer Information</a:t>
            </a:r>
          </a:p>
          <a:p>
            <a:pPr marL="457200" indent="-457200" algn="just">
              <a:lnSpc>
                <a:spcPct val="120000"/>
              </a:lnSpc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</a:rPr>
              <a:t>According to FACTA, "consumer information" is considered to be "any record about an individual, whether in paper, electronic, or other form, that is a consumer report or is derived from a consumer report.“</a:t>
            </a:r>
          </a:p>
          <a:p>
            <a:pPr marL="457200" indent="-457200" algn="just">
              <a:lnSpc>
                <a:spcPct val="120000"/>
              </a:lnSpc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</a:rPr>
              <a:t>Consumer information also means any employee background reports or similar reports that have been prepared by an outside agency or company. </a:t>
            </a:r>
          </a:p>
          <a:p>
            <a:pPr marL="457200" indent="-457200" algn="just">
              <a:lnSpc>
                <a:spcPct val="120000"/>
              </a:lnSpc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</a:rPr>
              <a:t>Consumer Information means information or data about a particular person, including, but not limited to, </a:t>
            </a:r>
          </a:p>
          <a:p>
            <a:pPr marL="914389" lvl="1" indent="-457200" algn="just">
              <a:lnSpc>
                <a:spcPct val="120000"/>
              </a:lnSpc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600" dirty="0">
                <a:solidFill>
                  <a:schemeClr val="tx1"/>
                </a:solidFill>
              </a:rPr>
              <a:t>Social Security Number (SSN), date of birth, driver’s license information, driving records/motor vehicle history, </a:t>
            </a:r>
          </a:p>
          <a:p>
            <a:pPr marL="914389" lvl="1" indent="-457200" algn="just">
              <a:lnSpc>
                <a:spcPct val="120000"/>
              </a:lnSpc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600" dirty="0">
                <a:solidFill>
                  <a:schemeClr val="tx1"/>
                </a:solidFill>
              </a:rPr>
              <a:t>credit history, compensation information, current and past address information, current and past employer information, </a:t>
            </a:r>
          </a:p>
          <a:p>
            <a:pPr marL="914389" lvl="1" indent="-457200" algn="just">
              <a:lnSpc>
                <a:spcPct val="120000"/>
              </a:lnSpc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600" dirty="0">
                <a:solidFill>
                  <a:schemeClr val="tx1"/>
                </a:solidFill>
              </a:rPr>
              <a:t>criminal record history, drug/alcohol testing history and any other non-public personal information and other confidential consumer information.</a:t>
            </a:r>
          </a:p>
          <a:p>
            <a:pPr marL="457200" indent="-457200" algn="just">
              <a:lnSpc>
                <a:spcPct val="120000"/>
              </a:lnSpc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endParaRPr lang="en-US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61298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1567" y="450387"/>
            <a:ext cx="8094254" cy="554538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l"/>
            <a:r>
              <a:rPr lang="en-US" sz="2800" dirty="0">
                <a:solidFill>
                  <a:schemeClr val="bg1"/>
                </a:solidFill>
              </a:rPr>
              <a:t>Privacy of Consumer Information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B94D34AC-95A7-424A-986B-2C266EC6EE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1567" y="1139689"/>
            <a:ext cx="8094254" cy="5267924"/>
          </a:xfrm>
        </p:spPr>
        <p:txBody>
          <a:bodyPr>
            <a:normAutofit fontScale="85000" lnSpcReduction="10000"/>
          </a:bodyPr>
          <a:lstStyle/>
          <a:p>
            <a:pPr algn="just">
              <a:buClr>
                <a:schemeClr val="tx1"/>
              </a:buClr>
              <a:buSzPct val="71000"/>
            </a:pPr>
            <a:r>
              <a:rPr lang="en-US" sz="2800" dirty="0">
                <a:solidFill>
                  <a:srgbClr val="FF0000"/>
                </a:solidFill>
              </a:rPr>
              <a:t>Consumer Privacy</a:t>
            </a:r>
          </a:p>
          <a:p>
            <a:pPr marL="457200" indent="-457200" algn="just">
              <a:lnSpc>
                <a:spcPct val="120000"/>
              </a:lnSpc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</a:rPr>
              <a:t>Consumer privacy, also known as customer privacy, involves the handling and protection of the sensitive personal information provided by customers in the course of everyday transactions.</a:t>
            </a:r>
          </a:p>
          <a:p>
            <a:pPr marL="457200" indent="-457200" algn="just">
              <a:lnSpc>
                <a:spcPct val="120000"/>
              </a:lnSpc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600" dirty="0">
                <a:solidFill>
                  <a:schemeClr val="tx1"/>
                </a:solidFill>
              </a:rPr>
              <a:t>Personal information, when misused or inadequately protected, can result in identity theft, financial fraud and other problems that collectively cost people, businesses and governments millions of dollars per year.</a:t>
            </a:r>
          </a:p>
          <a:p>
            <a:pPr marL="457200" indent="-457200" algn="just">
              <a:lnSpc>
                <a:spcPct val="120000"/>
              </a:lnSpc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</a:rPr>
              <a:t>Consumers have several privileges, which a business is obliged to honor upon verifiable consumer requests.</a:t>
            </a:r>
          </a:p>
        </p:txBody>
      </p:sp>
    </p:spTree>
    <p:extLst>
      <p:ext uri="{BB962C8B-B14F-4D97-AF65-F5344CB8AC3E}">
        <p14:creationId xmlns:p14="http://schemas.microsoft.com/office/powerpoint/2010/main" val="16116677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1567" y="450387"/>
            <a:ext cx="8094254" cy="554538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l"/>
            <a:r>
              <a:rPr lang="en-US" sz="2800" dirty="0">
                <a:solidFill>
                  <a:schemeClr val="bg1"/>
                </a:solidFill>
              </a:rPr>
              <a:t>Privacy of Consumer Information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B94D34AC-95A7-424A-986B-2C266EC6EE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1567" y="1139689"/>
            <a:ext cx="8094254" cy="5267924"/>
          </a:xfrm>
        </p:spPr>
        <p:txBody>
          <a:bodyPr>
            <a:normAutofit fontScale="92500" lnSpcReduction="10000"/>
          </a:bodyPr>
          <a:lstStyle/>
          <a:p>
            <a:pPr algn="just">
              <a:buClr>
                <a:schemeClr val="tx1"/>
              </a:buClr>
              <a:buSzPct val="71000"/>
            </a:pPr>
            <a:r>
              <a:rPr lang="en-US" sz="2800" b="1" dirty="0">
                <a:solidFill>
                  <a:schemeClr val="tx1"/>
                </a:solidFill>
              </a:rPr>
              <a:t>Consumers to :</a:t>
            </a:r>
          </a:p>
          <a:p>
            <a:pPr marL="457200" indent="-457200" algn="just">
              <a:lnSpc>
                <a:spcPct val="120000"/>
              </a:lnSpc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</a:rPr>
              <a:t>Know what personal data about them is being collected.</a:t>
            </a:r>
          </a:p>
          <a:p>
            <a:pPr marL="457200" indent="-457200" algn="just">
              <a:lnSpc>
                <a:spcPct val="120000"/>
              </a:lnSpc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</a:rPr>
              <a:t>Know if their personal data is being sold and to whom.</a:t>
            </a:r>
          </a:p>
          <a:p>
            <a:pPr marL="457200" indent="-457200" algn="just">
              <a:lnSpc>
                <a:spcPct val="120000"/>
              </a:lnSpc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</a:rPr>
              <a:t>Say no to the sale of personal information.</a:t>
            </a:r>
          </a:p>
          <a:p>
            <a:pPr marL="457200" indent="-457200" algn="just">
              <a:lnSpc>
                <a:spcPct val="120000"/>
              </a:lnSpc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</a:rPr>
              <a:t>Access their collected personal data.</a:t>
            </a:r>
          </a:p>
          <a:p>
            <a:pPr marL="457200" indent="-457200" algn="just">
              <a:lnSpc>
                <a:spcPct val="120000"/>
              </a:lnSpc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</a:rPr>
              <a:t>Delete data being kept about them.</a:t>
            </a:r>
          </a:p>
          <a:p>
            <a:pPr marL="457200" indent="-457200" algn="just">
              <a:lnSpc>
                <a:spcPct val="120000"/>
              </a:lnSpc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</a:rPr>
              <a:t>Not be penalized or charged for exercising their rights</a:t>
            </a:r>
          </a:p>
        </p:txBody>
      </p:sp>
    </p:spTree>
    <p:extLst>
      <p:ext uri="{BB962C8B-B14F-4D97-AF65-F5344CB8AC3E}">
        <p14:creationId xmlns:p14="http://schemas.microsoft.com/office/powerpoint/2010/main" val="6704642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1567" y="450387"/>
            <a:ext cx="8094254" cy="554538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l"/>
            <a:r>
              <a:rPr lang="en-US" sz="2800" dirty="0">
                <a:solidFill>
                  <a:schemeClr val="bg1"/>
                </a:solidFill>
              </a:rPr>
              <a:t>Privacy of Consumer Information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B94D34AC-95A7-424A-986B-2C266EC6EE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1567" y="1139689"/>
            <a:ext cx="8094254" cy="5267924"/>
          </a:xfrm>
        </p:spPr>
        <p:txBody>
          <a:bodyPr>
            <a:normAutofit fontScale="92500" lnSpcReduction="10000"/>
          </a:bodyPr>
          <a:lstStyle/>
          <a:p>
            <a:pPr algn="just">
              <a:buClr>
                <a:schemeClr val="tx1"/>
              </a:buClr>
              <a:buSzPct val="71000"/>
            </a:pPr>
            <a:r>
              <a:rPr lang="en-US" sz="2800" b="1" dirty="0">
                <a:solidFill>
                  <a:schemeClr val="tx1"/>
                </a:solidFill>
              </a:rPr>
              <a:t>Databases and Personal Records:</a:t>
            </a:r>
          </a:p>
          <a:p>
            <a:pPr marL="457200" indent="-457200" algn="just">
              <a:lnSpc>
                <a:spcPct val="120000"/>
              </a:lnSpc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</a:rPr>
              <a:t>A first step in ensuring that a database is truly confidential.</a:t>
            </a:r>
          </a:p>
          <a:p>
            <a:pPr marL="457200" indent="-457200" algn="just">
              <a:lnSpc>
                <a:spcPct val="120000"/>
              </a:lnSpc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</a:rPr>
              <a:t>Best practice is to only collect the minimum amount of identifying information needed to provide services, and to keep it for the shortest amount of time necessary.</a:t>
            </a:r>
          </a:p>
          <a:p>
            <a:pPr marL="457200" indent="-457200" algn="just">
              <a:lnSpc>
                <a:spcPct val="120000"/>
              </a:lnSpc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</a:rPr>
              <a:t>In addition to making decisions about authorized access to the database, organization or government must take strong precautions against accidental or malicious security breaches. </a:t>
            </a:r>
          </a:p>
        </p:txBody>
      </p:sp>
    </p:spTree>
    <p:extLst>
      <p:ext uri="{BB962C8B-B14F-4D97-AF65-F5344CB8AC3E}">
        <p14:creationId xmlns:p14="http://schemas.microsoft.com/office/powerpoint/2010/main" val="3620196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1567" y="450387"/>
            <a:ext cx="8094254" cy="554538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l"/>
            <a:r>
              <a:rPr lang="en-US" sz="2800" dirty="0">
                <a:solidFill>
                  <a:schemeClr val="bg1"/>
                </a:solidFill>
              </a:rPr>
              <a:t>Privacy of Consumer Information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B94D34AC-95A7-424A-986B-2C266EC6EE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1567" y="1139689"/>
            <a:ext cx="8094254" cy="5267924"/>
          </a:xfrm>
        </p:spPr>
        <p:txBody>
          <a:bodyPr>
            <a:normAutofit fontScale="92500" lnSpcReduction="20000"/>
          </a:bodyPr>
          <a:lstStyle/>
          <a:p>
            <a:pPr algn="just">
              <a:buClr>
                <a:schemeClr val="tx1"/>
              </a:buClr>
              <a:buSzPct val="71000"/>
            </a:pPr>
            <a:r>
              <a:rPr lang="en-US" sz="2800" b="1" dirty="0">
                <a:solidFill>
                  <a:schemeClr val="tx1"/>
                </a:solidFill>
              </a:rPr>
              <a:t>E-mail Privacy:</a:t>
            </a:r>
          </a:p>
          <a:p>
            <a:pPr marL="457200" indent="-457200" algn="just">
              <a:lnSpc>
                <a:spcPct val="120000"/>
              </a:lnSpc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</a:rPr>
              <a:t>This should come as no surprise anymore, but one’s email isn't private. </a:t>
            </a:r>
          </a:p>
          <a:p>
            <a:pPr marL="457200" indent="-457200" algn="just">
              <a:lnSpc>
                <a:spcPct val="120000"/>
              </a:lnSpc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</a:rPr>
              <a:t>In fact, it's one of the least secure methods of communication one can use. In contrast, phone calls typically aren't recorded and stored. </a:t>
            </a:r>
          </a:p>
          <a:p>
            <a:pPr marL="457200" indent="-457200" algn="just">
              <a:lnSpc>
                <a:spcPct val="120000"/>
              </a:lnSpc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</a:rPr>
              <a:t>Emails are stored at multiple locations: on the sender's computer, in Internet Service Provider's (ISP) server, and on the receiver’s computer.</a:t>
            </a:r>
          </a:p>
          <a:p>
            <a:pPr marL="457200" indent="-457200" algn="just">
              <a:lnSpc>
                <a:spcPct val="120000"/>
              </a:lnSpc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</a:rPr>
              <a:t>Deleting an email from your inbox doesn't mean there aren't multiple other copies still out there. </a:t>
            </a:r>
          </a:p>
        </p:txBody>
      </p:sp>
    </p:spTree>
    <p:extLst>
      <p:ext uri="{BB962C8B-B14F-4D97-AF65-F5344CB8AC3E}">
        <p14:creationId xmlns:p14="http://schemas.microsoft.com/office/powerpoint/2010/main" val="25661082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1567" y="450387"/>
            <a:ext cx="8094254" cy="554538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l"/>
            <a:r>
              <a:rPr lang="en-US" sz="2800" dirty="0">
                <a:solidFill>
                  <a:schemeClr val="bg1"/>
                </a:solidFill>
              </a:rPr>
              <a:t>Privacy of Consumer Information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B94D34AC-95A7-424A-986B-2C266EC6EE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1567" y="1139689"/>
            <a:ext cx="8094254" cy="5267924"/>
          </a:xfrm>
        </p:spPr>
        <p:txBody>
          <a:bodyPr>
            <a:normAutofit fontScale="92500" lnSpcReduction="20000"/>
          </a:bodyPr>
          <a:lstStyle/>
          <a:p>
            <a:pPr algn="just">
              <a:buClr>
                <a:schemeClr val="tx1"/>
              </a:buClr>
              <a:buSzPct val="71000"/>
            </a:pPr>
            <a:r>
              <a:rPr lang="en-US" sz="2800" b="1" dirty="0">
                <a:solidFill>
                  <a:schemeClr val="tx1"/>
                </a:solidFill>
              </a:rPr>
              <a:t>E-mail Privacy:</a:t>
            </a:r>
          </a:p>
          <a:p>
            <a:pPr marL="457200" indent="-457200" algn="just">
              <a:lnSpc>
                <a:spcPct val="120000"/>
              </a:lnSpc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</a:rPr>
              <a:t>Emails are also vastly easier for employers and law enforcement to access than phone records.</a:t>
            </a:r>
          </a:p>
          <a:p>
            <a:pPr marL="457200" indent="-457200" algn="just">
              <a:lnSpc>
                <a:spcPct val="120000"/>
              </a:lnSpc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</a:rPr>
              <a:t>Finally, due to their digital nature, they can be stored for very long periods of time.</a:t>
            </a:r>
          </a:p>
          <a:p>
            <a:pPr marL="457200" indent="-457200" algn="just">
              <a:lnSpc>
                <a:spcPct val="120000"/>
              </a:lnSpc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</a:rPr>
              <a:t>Email privacy is the broad topic dealing with issues of unauthorized access and inspection of electronic mail. </a:t>
            </a:r>
          </a:p>
          <a:p>
            <a:pPr marL="457200" indent="-457200" algn="just">
              <a:lnSpc>
                <a:spcPct val="120000"/>
              </a:lnSpc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</a:rPr>
              <a:t>This unauthorized access can happen while an email is in transit, as well as when it is stored on email servers or on a user computer.</a:t>
            </a:r>
          </a:p>
        </p:txBody>
      </p:sp>
    </p:spTree>
    <p:extLst>
      <p:ext uri="{BB962C8B-B14F-4D97-AF65-F5344CB8AC3E}">
        <p14:creationId xmlns:p14="http://schemas.microsoft.com/office/powerpoint/2010/main" val="13689799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1567" y="450387"/>
            <a:ext cx="8094254" cy="554538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l"/>
            <a:r>
              <a:rPr lang="en-US" sz="2800" dirty="0">
                <a:solidFill>
                  <a:schemeClr val="bg1"/>
                </a:solidFill>
              </a:rPr>
              <a:t>Privacy of Consumer Information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B94D34AC-95A7-424A-986B-2C266EC6EE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1567" y="1139689"/>
            <a:ext cx="8094254" cy="5267924"/>
          </a:xfrm>
        </p:spPr>
        <p:txBody>
          <a:bodyPr>
            <a:normAutofit/>
          </a:bodyPr>
          <a:lstStyle/>
          <a:p>
            <a:pPr algn="just">
              <a:buClr>
                <a:schemeClr val="tx1"/>
              </a:buClr>
              <a:buSzPct val="71000"/>
            </a:pPr>
            <a:r>
              <a:rPr lang="en-US" sz="2800" b="1" dirty="0">
                <a:solidFill>
                  <a:schemeClr val="tx1"/>
                </a:solidFill>
              </a:rPr>
              <a:t>How to protect E-mail?</a:t>
            </a:r>
          </a:p>
          <a:p>
            <a:pPr marL="457200" indent="-457200" algn="just">
              <a:lnSpc>
                <a:spcPct val="120000"/>
              </a:lnSpc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</a:rPr>
              <a:t>Use Strong Password</a:t>
            </a:r>
          </a:p>
          <a:p>
            <a:pPr marL="457200" indent="-457200" algn="just">
              <a:lnSpc>
                <a:spcPct val="120000"/>
              </a:lnSpc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</a:rPr>
              <a:t>Beware of Public PCs</a:t>
            </a:r>
          </a:p>
          <a:p>
            <a:pPr marL="457200" indent="-457200" algn="just">
              <a:lnSpc>
                <a:spcPct val="120000"/>
              </a:lnSpc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</a:rPr>
              <a:t>Protect your address</a:t>
            </a:r>
          </a:p>
          <a:p>
            <a:pPr marL="457200" indent="-457200" algn="just">
              <a:lnSpc>
                <a:spcPct val="120000"/>
              </a:lnSpc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</a:rPr>
              <a:t>Lock It Up</a:t>
            </a:r>
          </a:p>
          <a:p>
            <a:pPr marL="457200" indent="-457200" algn="just">
              <a:lnSpc>
                <a:spcPct val="120000"/>
              </a:lnSpc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</a:rPr>
              <a:t>Don’t be fooled</a:t>
            </a:r>
          </a:p>
          <a:p>
            <a:pPr marL="457200" indent="-457200" algn="just">
              <a:lnSpc>
                <a:spcPct val="120000"/>
              </a:lnSpc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</a:rPr>
              <a:t>Use Encryption</a:t>
            </a:r>
          </a:p>
        </p:txBody>
      </p:sp>
    </p:spTree>
    <p:extLst>
      <p:ext uri="{BB962C8B-B14F-4D97-AF65-F5344CB8AC3E}">
        <p14:creationId xmlns:p14="http://schemas.microsoft.com/office/powerpoint/2010/main" val="2248777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1567" y="450387"/>
            <a:ext cx="8094254" cy="554538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l"/>
            <a:r>
              <a:rPr lang="en-US" sz="2800" dirty="0">
                <a:solidFill>
                  <a:schemeClr val="bg1"/>
                </a:solidFill>
              </a:rPr>
              <a:t>Privacy of Consumer Information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B94D34AC-95A7-424A-986B-2C266EC6EE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1567" y="1139689"/>
            <a:ext cx="8094254" cy="5267924"/>
          </a:xfrm>
        </p:spPr>
        <p:txBody>
          <a:bodyPr>
            <a:normAutofit fontScale="92500" lnSpcReduction="10000"/>
          </a:bodyPr>
          <a:lstStyle/>
          <a:p>
            <a:pPr algn="just">
              <a:buClr>
                <a:schemeClr val="tx1"/>
              </a:buClr>
              <a:buSzPct val="71000"/>
            </a:pPr>
            <a:r>
              <a:rPr lang="en-US" sz="2800" b="1" dirty="0">
                <a:solidFill>
                  <a:schemeClr val="tx1"/>
                </a:solidFill>
              </a:rPr>
              <a:t>Web Privacy:</a:t>
            </a:r>
          </a:p>
          <a:p>
            <a:pPr marL="457200" indent="-457200" algn="just">
              <a:lnSpc>
                <a:spcPct val="120000"/>
              </a:lnSpc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</a:rPr>
              <a:t>Web privacy is the privacy and security level of personal data published via the Internet. </a:t>
            </a:r>
          </a:p>
          <a:p>
            <a:pPr marL="457200" indent="-457200" algn="just">
              <a:lnSpc>
                <a:spcPct val="120000"/>
              </a:lnSpc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</a:rPr>
              <a:t>It is a broad term that refers to a variety of factors, techniques and technologies used to protect sensitive and private data, communications, and preferences. </a:t>
            </a:r>
          </a:p>
          <a:p>
            <a:pPr marL="457200" indent="-457200" algn="just">
              <a:lnSpc>
                <a:spcPct val="120000"/>
              </a:lnSpc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</a:rPr>
              <a:t>It involves the right of personal privacy concerning the storing, repurposing, provision to third parties, and displaying of information pertaining to oneself via the Internet. </a:t>
            </a:r>
          </a:p>
        </p:txBody>
      </p:sp>
    </p:spTree>
    <p:extLst>
      <p:ext uri="{BB962C8B-B14F-4D97-AF65-F5344CB8AC3E}">
        <p14:creationId xmlns:p14="http://schemas.microsoft.com/office/powerpoint/2010/main" val="32699964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1567" y="450387"/>
            <a:ext cx="8094254" cy="554538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l"/>
            <a:r>
              <a:rPr lang="en-US" sz="2800" dirty="0">
                <a:solidFill>
                  <a:schemeClr val="bg1"/>
                </a:solidFill>
              </a:rPr>
              <a:t>Privacy of Consumer Information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B94D34AC-95A7-424A-986B-2C266EC6EE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1567" y="1139689"/>
            <a:ext cx="8094254" cy="5267924"/>
          </a:xfrm>
        </p:spPr>
        <p:txBody>
          <a:bodyPr>
            <a:normAutofit fontScale="92500"/>
          </a:bodyPr>
          <a:lstStyle/>
          <a:p>
            <a:pPr algn="just">
              <a:buClr>
                <a:schemeClr val="tx1"/>
              </a:buClr>
              <a:buSzPct val="71000"/>
            </a:pPr>
            <a:r>
              <a:rPr lang="en-US" sz="2800" b="1" dirty="0">
                <a:solidFill>
                  <a:schemeClr val="tx1"/>
                </a:solidFill>
              </a:rPr>
              <a:t>Web Privacy:</a:t>
            </a:r>
          </a:p>
          <a:p>
            <a:pPr marL="457200" indent="-457200" algn="just">
              <a:lnSpc>
                <a:spcPct val="120000"/>
              </a:lnSpc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</a:rPr>
              <a:t>Web privacy is a subset of data privacy.</a:t>
            </a:r>
          </a:p>
          <a:p>
            <a:pPr marL="457200" indent="-457200" algn="just">
              <a:lnSpc>
                <a:spcPct val="120000"/>
              </a:lnSpc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</a:rPr>
              <a:t>Privacy concerns have been articulated from the beginnings of large scale computer sharing.</a:t>
            </a:r>
          </a:p>
          <a:p>
            <a:pPr marL="457200" indent="-457200" algn="just">
              <a:lnSpc>
                <a:spcPct val="120000"/>
              </a:lnSpc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</a:rPr>
              <a:t>Our personal privacy on the Web might be less secure than you think. </a:t>
            </a:r>
          </a:p>
          <a:p>
            <a:pPr marL="457200" indent="-457200" algn="just">
              <a:lnSpc>
                <a:spcPct val="120000"/>
              </a:lnSpc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</a:rPr>
              <a:t>Web browsing habits are tracked via cookies, search engines routinely change their privacy policies, and there are always challenges to Web privacy by both private and public organizations. </a:t>
            </a:r>
          </a:p>
        </p:txBody>
      </p:sp>
    </p:spTree>
    <p:extLst>
      <p:ext uri="{BB962C8B-B14F-4D97-AF65-F5344CB8AC3E}">
        <p14:creationId xmlns:p14="http://schemas.microsoft.com/office/powerpoint/2010/main" val="31470322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1567" y="450387"/>
            <a:ext cx="8094254" cy="554538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l"/>
            <a:r>
              <a:rPr lang="en-US" sz="2800" dirty="0">
                <a:solidFill>
                  <a:schemeClr val="bg1"/>
                </a:solidFill>
              </a:rPr>
              <a:t>Privacy of Consumer Information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B94D34AC-95A7-424A-986B-2C266EC6EE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1567" y="1139689"/>
            <a:ext cx="8094254" cy="5267924"/>
          </a:xfrm>
        </p:spPr>
        <p:txBody>
          <a:bodyPr>
            <a:normAutofit fontScale="92500" lnSpcReduction="20000"/>
          </a:bodyPr>
          <a:lstStyle/>
          <a:p>
            <a:pPr algn="just">
              <a:buClr>
                <a:schemeClr val="tx1"/>
              </a:buClr>
              <a:buSzPct val="71000"/>
            </a:pPr>
            <a:r>
              <a:rPr lang="en-US" sz="2800" b="1" dirty="0">
                <a:solidFill>
                  <a:schemeClr val="tx1"/>
                </a:solidFill>
              </a:rPr>
              <a:t>How to protect our data in Web?</a:t>
            </a:r>
          </a:p>
          <a:p>
            <a:pPr marL="457200" indent="-457200" algn="just">
              <a:lnSpc>
                <a:spcPct val="120000"/>
              </a:lnSpc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</a:rPr>
              <a:t>Avoid Unnecessary Forms</a:t>
            </a:r>
          </a:p>
          <a:p>
            <a:pPr marL="457200" indent="-457200" algn="just">
              <a:lnSpc>
                <a:spcPct val="120000"/>
              </a:lnSpc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</a:rPr>
              <a:t>Clean Search History</a:t>
            </a:r>
          </a:p>
          <a:p>
            <a:pPr marL="457200" indent="-457200" algn="just">
              <a:lnSpc>
                <a:spcPct val="120000"/>
              </a:lnSpc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</a:rPr>
              <a:t>Log Out Of Search Engines</a:t>
            </a:r>
          </a:p>
          <a:p>
            <a:pPr marL="457200" indent="-457200" algn="just">
              <a:lnSpc>
                <a:spcPct val="120000"/>
              </a:lnSpc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</a:rPr>
              <a:t>Watch Your Downloads </a:t>
            </a:r>
          </a:p>
          <a:p>
            <a:pPr marL="457200" indent="-457200" algn="just">
              <a:lnSpc>
                <a:spcPct val="120000"/>
              </a:lnSpc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</a:rPr>
              <a:t>Use Common Sense</a:t>
            </a:r>
          </a:p>
          <a:p>
            <a:pPr marL="457200" indent="-457200" algn="just">
              <a:lnSpc>
                <a:spcPct val="120000"/>
              </a:lnSpc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</a:rPr>
              <a:t>Guard Your Private Information</a:t>
            </a:r>
          </a:p>
          <a:p>
            <a:pPr marL="457200" indent="-457200" algn="just">
              <a:lnSpc>
                <a:spcPct val="120000"/>
              </a:lnSpc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</a:rPr>
              <a:t>Use Caution When Using Social Media</a:t>
            </a:r>
          </a:p>
          <a:p>
            <a:pPr marL="457200" indent="-457200" algn="just">
              <a:lnSpc>
                <a:spcPct val="120000"/>
              </a:lnSpc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</a:rPr>
              <a:t>Watch Out For Scams</a:t>
            </a:r>
          </a:p>
          <a:p>
            <a:pPr marL="457200" indent="-457200" algn="just">
              <a:lnSpc>
                <a:spcPct val="120000"/>
              </a:lnSpc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</a:rPr>
              <a:t>Protect Computer System</a:t>
            </a:r>
          </a:p>
        </p:txBody>
      </p:sp>
    </p:spTree>
    <p:extLst>
      <p:ext uri="{BB962C8B-B14F-4D97-AF65-F5344CB8AC3E}">
        <p14:creationId xmlns:p14="http://schemas.microsoft.com/office/powerpoint/2010/main" val="7968855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1567" y="450387"/>
            <a:ext cx="8094254" cy="554538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l"/>
            <a:r>
              <a:rPr lang="en-US" sz="2800" dirty="0">
                <a:solidFill>
                  <a:schemeClr val="bg1"/>
                </a:solidFill>
              </a:rPr>
              <a:t>Protecting Privacy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B94D34AC-95A7-424A-986B-2C266EC6EE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1567" y="1139689"/>
            <a:ext cx="8094254" cy="5267924"/>
          </a:xfrm>
        </p:spPr>
        <p:txBody>
          <a:bodyPr>
            <a:normAutofit fontScale="70000" lnSpcReduction="20000"/>
          </a:bodyPr>
          <a:lstStyle/>
          <a:p>
            <a:pPr marL="457200" indent="-457200" algn="just">
              <a:lnSpc>
                <a:spcPct val="120000"/>
              </a:lnSpc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</a:rPr>
              <a:t>Don’t fill out your social media profile.</a:t>
            </a:r>
          </a:p>
          <a:p>
            <a:pPr marL="457200" indent="-457200" algn="just">
              <a:lnSpc>
                <a:spcPct val="120000"/>
              </a:lnSpc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</a:rPr>
              <a:t>Be choosy about sharing your social security number—even the last 4 digits. </a:t>
            </a:r>
          </a:p>
          <a:p>
            <a:pPr marL="457200" indent="-457200" algn="just">
              <a:lnSpc>
                <a:spcPct val="120000"/>
              </a:lnSpc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</a:rPr>
              <a:t>Lock down your hardware. </a:t>
            </a:r>
          </a:p>
          <a:p>
            <a:pPr marL="457200" indent="-457200" algn="just">
              <a:lnSpc>
                <a:spcPct val="120000"/>
              </a:lnSpc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</a:rPr>
              <a:t>Turn on private browsing. </a:t>
            </a:r>
          </a:p>
          <a:p>
            <a:pPr marL="457200" indent="-457200" algn="just">
              <a:lnSpc>
                <a:spcPct val="120000"/>
              </a:lnSpc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</a:rPr>
              <a:t>Use a password vault that generates and remembers strong and unique passwords. </a:t>
            </a:r>
          </a:p>
          <a:p>
            <a:pPr marL="457200" indent="-457200" algn="just">
              <a:lnSpc>
                <a:spcPct val="120000"/>
              </a:lnSpc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</a:rPr>
              <a:t>Use two-factor authentication. </a:t>
            </a:r>
          </a:p>
          <a:p>
            <a:pPr marL="457200" indent="-457200" algn="just">
              <a:lnSpc>
                <a:spcPct val="120000"/>
              </a:lnSpc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</a:rPr>
              <a:t>Set up a Google alert for your name.</a:t>
            </a:r>
          </a:p>
          <a:p>
            <a:pPr marL="457200" indent="-457200" algn="just">
              <a:lnSpc>
                <a:spcPct val="120000"/>
              </a:lnSpc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</a:rPr>
              <a:t>Pay for things with cash. </a:t>
            </a:r>
          </a:p>
          <a:p>
            <a:pPr marL="457200" indent="-457200" algn="just">
              <a:lnSpc>
                <a:spcPct val="120000"/>
              </a:lnSpc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</a:rPr>
              <a:t>Keep your social network activity private.</a:t>
            </a:r>
          </a:p>
          <a:p>
            <a:pPr marL="457200" indent="-457200" algn="just">
              <a:lnSpc>
                <a:spcPct val="120000"/>
              </a:lnSpc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</a:rPr>
              <a:t>Don’t give our your zip code when making credit card purchases.</a:t>
            </a:r>
          </a:p>
        </p:txBody>
      </p:sp>
    </p:spTree>
    <p:extLst>
      <p:ext uri="{BB962C8B-B14F-4D97-AF65-F5344CB8AC3E}">
        <p14:creationId xmlns:p14="http://schemas.microsoft.com/office/powerpoint/2010/main" val="18253148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1567" y="450387"/>
            <a:ext cx="8094254" cy="554538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l"/>
            <a:r>
              <a:rPr lang="en-US" sz="2800" dirty="0">
                <a:solidFill>
                  <a:schemeClr val="bg1"/>
                </a:solidFill>
              </a:rPr>
              <a:t>Offensive speech and Censorship in Cyberspace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B94D34AC-95A7-424A-986B-2C266EC6EE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1567" y="1139689"/>
            <a:ext cx="8094254" cy="5267924"/>
          </a:xfrm>
        </p:spPr>
        <p:txBody>
          <a:bodyPr>
            <a:normAutofit/>
          </a:bodyPr>
          <a:lstStyle/>
          <a:p>
            <a:pPr algn="just">
              <a:buClr>
                <a:schemeClr val="tx1"/>
              </a:buClr>
              <a:buSzPct val="71000"/>
            </a:pPr>
            <a:r>
              <a:rPr lang="en-US" sz="2800" b="1" dirty="0">
                <a:solidFill>
                  <a:schemeClr val="tx1"/>
                </a:solidFill>
              </a:rPr>
              <a:t>Offensive speech :</a:t>
            </a:r>
          </a:p>
          <a:p>
            <a:pPr algn="just">
              <a:buClr>
                <a:schemeClr val="tx1"/>
              </a:buClr>
              <a:buSzPct val="71000"/>
            </a:pPr>
            <a:r>
              <a:rPr lang="en-US" sz="2800" dirty="0">
                <a:solidFill>
                  <a:schemeClr val="tx1"/>
                </a:solidFill>
              </a:rPr>
              <a:t>In general, speech that offends can be defined as speech that:</a:t>
            </a:r>
          </a:p>
          <a:p>
            <a:pPr marL="457200" indent="-457200" algn="just">
              <a:lnSpc>
                <a:spcPct val="120000"/>
              </a:lnSpc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</a:rPr>
              <a:t>"Causes someone to feel resentful, upset, or annoyed"</a:t>
            </a:r>
          </a:p>
          <a:p>
            <a:pPr marL="457200" indent="-457200" algn="just">
              <a:lnSpc>
                <a:spcPct val="120000"/>
              </a:lnSpc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</a:rPr>
              <a:t>"Causes someone to feel hurt, angry, or upset : rude or insulting"</a:t>
            </a:r>
          </a:p>
          <a:p>
            <a:pPr marL="457200" indent="-457200" algn="just">
              <a:lnSpc>
                <a:spcPct val="120000"/>
              </a:lnSpc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</a:rPr>
              <a:t>"Causes anger or annoyance; insulting"</a:t>
            </a:r>
          </a:p>
        </p:txBody>
      </p:sp>
    </p:spTree>
    <p:extLst>
      <p:ext uri="{BB962C8B-B14F-4D97-AF65-F5344CB8AC3E}">
        <p14:creationId xmlns:p14="http://schemas.microsoft.com/office/powerpoint/2010/main" val="41222779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1567" y="450387"/>
            <a:ext cx="8094254" cy="554538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l"/>
            <a:r>
              <a:rPr lang="en-US" sz="2800" dirty="0">
                <a:solidFill>
                  <a:schemeClr val="bg1"/>
                </a:solidFill>
              </a:rPr>
              <a:t>Offensive speech and Censorship in Cyberspace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B94D34AC-95A7-424A-986B-2C266EC6EE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1567" y="1139689"/>
            <a:ext cx="8094254" cy="5267924"/>
          </a:xfrm>
        </p:spPr>
        <p:txBody>
          <a:bodyPr>
            <a:normAutofit fontScale="92500" lnSpcReduction="20000"/>
          </a:bodyPr>
          <a:lstStyle/>
          <a:p>
            <a:pPr algn="just">
              <a:buClr>
                <a:schemeClr val="tx1"/>
              </a:buClr>
              <a:buSzPct val="71000"/>
            </a:pPr>
            <a:r>
              <a:rPr lang="en-US" sz="2800" b="1" dirty="0">
                <a:solidFill>
                  <a:schemeClr val="tx1"/>
                </a:solidFill>
              </a:rPr>
              <a:t>Offensive speech :</a:t>
            </a:r>
          </a:p>
          <a:p>
            <a:pPr marL="457200" indent="-457200" algn="just">
              <a:lnSpc>
                <a:spcPct val="120000"/>
              </a:lnSpc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</a:rPr>
              <a:t>Offensive speech, outside the law, is speech that attacks a person or group on the basis of attributes such as gender, ethnic origin, religion, race, disability, or sexual orientation.</a:t>
            </a:r>
          </a:p>
          <a:p>
            <a:pPr marL="457200" indent="-457200" algn="just">
              <a:lnSpc>
                <a:spcPct val="120000"/>
              </a:lnSpc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</a:rPr>
              <a:t>In law, hate speech is any speech, gesture or conduct, writing, or display which is forbidden because it may incite violence or prejudicial action against or by a protected individual or group.</a:t>
            </a:r>
          </a:p>
          <a:p>
            <a:pPr marL="457200" indent="-457200" algn="just">
              <a:lnSpc>
                <a:spcPct val="120000"/>
              </a:lnSpc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</a:rPr>
              <a:t>A website that uses hate speech is called a hate site. </a:t>
            </a:r>
          </a:p>
          <a:p>
            <a:pPr marL="457200" indent="-457200" algn="just">
              <a:lnSpc>
                <a:spcPct val="120000"/>
              </a:lnSpc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endParaRPr lang="en-US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35569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1567" y="450387"/>
            <a:ext cx="8094254" cy="554538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l"/>
            <a:r>
              <a:rPr lang="en-US" sz="2800" dirty="0">
                <a:solidFill>
                  <a:schemeClr val="bg1"/>
                </a:solidFill>
              </a:rPr>
              <a:t>Offensive speech and Censorship in Cyberspace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B94D34AC-95A7-424A-986B-2C266EC6EE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1567" y="1139689"/>
            <a:ext cx="8094254" cy="5267924"/>
          </a:xfrm>
        </p:spPr>
        <p:txBody>
          <a:bodyPr>
            <a:normAutofit fontScale="92500" lnSpcReduction="20000"/>
          </a:bodyPr>
          <a:lstStyle/>
          <a:p>
            <a:pPr algn="just">
              <a:buClr>
                <a:schemeClr val="tx1"/>
              </a:buClr>
              <a:buSzPct val="71000"/>
            </a:pPr>
            <a:r>
              <a:rPr lang="en-US" sz="2800" b="1" dirty="0">
                <a:solidFill>
                  <a:schemeClr val="tx1"/>
                </a:solidFill>
              </a:rPr>
              <a:t>Censorship:</a:t>
            </a:r>
          </a:p>
          <a:p>
            <a:pPr marL="457200" indent="-457200" algn="just">
              <a:lnSpc>
                <a:spcPct val="120000"/>
              </a:lnSpc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</a:rPr>
              <a:t>Censorship is the suppression of speech, public communication, or other information, on the basis that such material is considered objectionable, harmful, sensitive, or "inconvenient.“</a:t>
            </a:r>
          </a:p>
          <a:p>
            <a:pPr marL="457200" indent="-457200" algn="just">
              <a:lnSpc>
                <a:spcPct val="120000"/>
              </a:lnSpc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</a:rPr>
              <a:t>Censorship can be conducted by governments, private institutions, and other controlling bodies.</a:t>
            </a:r>
          </a:p>
          <a:p>
            <a:pPr marL="457200" indent="-457200" algn="just">
              <a:lnSpc>
                <a:spcPct val="120000"/>
              </a:lnSpc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b="1" dirty="0">
                <a:solidFill>
                  <a:schemeClr val="tx1"/>
                </a:solidFill>
              </a:rPr>
              <a:t>Internet censorship </a:t>
            </a:r>
            <a:r>
              <a:rPr lang="en-US" sz="2800" dirty="0">
                <a:solidFill>
                  <a:schemeClr val="tx1"/>
                </a:solidFill>
              </a:rPr>
              <a:t>is the control or suppression of what can be accessed, published, or viewed on the Internet enacted by regulators, or on their own initiative.</a:t>
            </a:r>
          </a:p>
        </p:txBody>
      </p:sp>
    </p:spTree>
    <p:extLst>
      <p:ext uri="{BB962C8B-B14F-4D97-AF65-F5344CB8AC3E}">
        <p14:creationId xmlns:p14="http://schemas.microsoft.com/office/powerpoint/2010/main" val="40339118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1567" y="450387"/>
            <a:ext cx="8094254" cy="554538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l"/>
            <a:r>
              <a:rPr lang="en-US" sz="2800" dirty="0">
                <a:solidFill>
                  <a:schemeClr val="bg1"/>
                </a:solidFill>
              </a:rPr>
              <a:t>Offensive speech and Censorship in Cyberspace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B94D34AC-95A7-424A-986B-2C266EC6EE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1567" y="1139689"/>
            <a:ext cx="8094254" cy="5267924"/>
          </a:xfrm>
        </p:spPr>
        <p:txBody>
          <a:bodyPr>
            <a:normAutofit fontScale="92500"/>
          </a:bodyPr>
          <a:lstStyle/>
          <a:p>
            <a:pPr algn="just">
              <a:buClr>
                <a:schemeClr val="tx1"/>
              </a:buClr>
              <a:buSzPct val="71000"/>
            </a:pPr>
            <a:r>
              <a:rPr lang="en-US" sz="2800" b="1" dirty="0">
                <a:solidFill>
                  <a:schemeClr val="tx1"/>
                </a:solidFill>
              </a:rPr>
              <a:t>Censorship:</a:t>
            </a:r>
          </a:p>
          <a:p>
            <a:pPr marL="457200" indent="-457200" algn="just">
              <a:lnSpc>
                <a:spcPct val="120000"/>
              </a:lnSpc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</a:rPr>
              <a:t>The extent of Internet censorship varies on a country-to-country basis. </a:t>
            </a:r>
          </a:p>
          <a:p>
            <a:pPr marL="457200" indent="-457200" algn="just">
              <a:lnSpc>
                <a:spcPct val="120000"/>
              </a:lnSpc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</a:rPr>
              <a:t>While some democratic countries have moderate Internet censorship, other countries go as far as to limit the access of information such as news and suppress discussion among citizens.</a:t>
            </a:r>
          </a:p>
          <a:p>
            <a:pPr marL="457200" indent="-457200" algn="just">
              <a:lnSpc>
                <a:spcPct val="120000"/>
              </a:lnSpc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</a:rPr>
              <a:t>Some countries such as Iran and the People's Republic of China restrict what people in their countries can see on the internet.</a:t>
            </a:r>
          </a:p>
        </p:txBody>
      </p:sp>
    </p:spTree>
    <p:extLst>
      <p:ext uri="{BB962C8B-B14F-4D97-AF65-F5344CB8AC3E}">
        <p14:creationId xmlns:p14="http://schemas.microsoft.com/office/powerpoint/2010/main" val="39330196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1567" y="450387"/>
            <a:ext cx="8094254" cy="554538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l"/>
            <a:r>
              <a:rPr lang="en-US" sz="2800" dirty="0">
                <a:solidFill>
                  <a:schemeClr val="bg1"/>
                </a:solidFill>
              </a:rPr>
              <a:t>Anonymity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B94D34AC-95A7-424A-986B-2C266EC6EE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1567" y="1139689"/>
            <a:ext cx="8094254" cy="5267924"/>
          </a:xfrm>
        </p:spPr>
        <p:txBody>
          <a:bodyPr>
            <a:normAutofit fontScale="92500"/>
          </a:bodyPr>
          <a:lstStyle/>
          <a:p>
            <a:pPr marL="457200" indent="-457200" algn="just">
              <a:lnSpc>
                <a:spcPct val="120000"/>
              </a:lnSpc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</a:rPr>
              <a:t>Anonymity is derived from the Greek word </a:t>
            </a:r>
            <a:r>
              <a:rPr lang="en-US" sz="2800" dirty="0" err="1">
                <a:solidFill>
                  <a:schemeClr val="tx1"/>
                </a:solidFill>
              </a:rPr>
              <a:t>anonymia</a:t>
            </a:r>
            <a:r>
              <a:rPr lang="en-US" sz="2800" dirty="0">
                <a:solidFill>
                  <a:schemeClr val="tx1"/>
                </a:solidFill>
              </a:rPr>
              <a:t>, meaning "without a name" or "namelessness". </a:t>
            </a:r>
          </a:p>
          <a:p>
            <a:pPr marL="457200" indent="-457200" algn="just">
              <a:lnSpc>
                <a:spcPct val="120000"/>
              </a:lnSpc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</a:rPr>
              <a:t>In informal use, "anonymous" is used to describe situations where the acting person's name is unknown.</a:t>
            </a:r>
          </a:p>
          <a:p>
            <a:pPr marL="457200" indent="-457200" algn="just">
              <a:lnSpc>
                <a:spcPct val="120000"/>
              </a:lnSpc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</a:rPr>
              <a:t>It can be said as not using your own name, simply.</a:t>
            </a:r>
          </a:p>
          <a:p>
            <a:pPr marL="457200" indent="-457200" algn="just">
              <a:lnSpc>
                <a:spcPct val="120000"/>
              </a:lnSpc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</a:rPr>
              <a:t>Anonymity is seen as a technique, or a way of realizing, certain other values, such as privacy, or liberty. </a:t>
            </a:r>
          </a:p>
          <a:p>
            <a:pPr marL="457200" indent="-457200" algn="just">
              <a:lnSpc>
                <a:spcPct val="120000"/>
              </a:lnSpc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endParaRPr lang="en-US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13074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1567" y="450387"/>
            <a:ext cx="8094254" cy="554538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l"/>
            <a:r>
              <a:rPr lang="en-US" sz="2800" dirty="0">
                <a:solidFill>
                  <a:schemeClr val="bg1"/>
                </a:solidFill>
              </a:rPr>
              <a:t>Anonymity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B94D34AC-95A7-424A-986B-2C266EC6EE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1567" y="1139689"/>
            <a:ext cx="8094254" cy="5267924"/>
          </a:xfrm>
        </p:spPr>
        <p:txBody>
          <a:bodyPr>
            <a:normAutofit lnSpcReduction="10000"/>
          </a:bodyPr>
          <a:lstStyle/>
          <a:p>
            <a:pPr marL="457200" indent="-457200" algn="just">
              <a:lnSpc>
                <a:spcPct val="120000"/>
              </a:lnSpc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</a:rPr>
              <a:t>An important example for anonymity being not only protected, but enforced by law is probably the vote in free elections.</a:t>
            </a:r>
          </a:p>
          <a:p>
            <a:pPr marL="457200" indent="-457200" algn="just">
              <a:lnSpc>
                <a:spcPct val="120000"/>
              </a:lnSpc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</a:rPr>
              <a:t> Acts of charity have been performed anonymously when benefactors do not wish to be acknowledged.</a:t>
            </a:r>
          </a:p>
          <a:p>
            <a:pPr marL="457200" indent="-457200" algn="just">
              <a:lnSpc>
                <a:spcPct val="120000"/>
              </a:lnSpc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</a:rPr>
              <a:t>A witness to a crime might seek to avoid retribution, for example, by anonymously calling a crime tip line. </a:t>
            </a:r>
          </a:p>
          <a:p>
            <a:pPr marL="457200" indent="-457200" algn="just">
              <a:lnSpc>
                <a:spcPct val="120000"/>
              </a:lnSpc>
              <a:buClr>
                <a:schemeClr val="tx1"/>
              </a:buClr>
              <a:buSzPct val="71000"/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</a:rPr>
              <a:t>It may be illegal to remain anonymous.</a:t>
            </a:r>
          </a:p>
        </p:txBody>
      </p:sp>
    </p:spTree>
    <p:extLst>
      <p:ext uri="{BB962C8B-B14F-4D97-AF65-F5344CB8AC3E}">
        <p14:creationId xmlns:p14="http://schemas.microsoft.com/office/powerpoint/2010/main" val="9818906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252870" y="2593634"/>
            <a:ext cx="5560334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Thank You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3073177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Red Orange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423C86C84CA4945852CBF0CFC130390" ma:contentTypeVersion="2" ma:contentTypeDescription="Create a new document." ma:contentTypeScope="" ma:versionID="38bc4188b0c59bea1978bee81d5bf097">
  <xsd:schema xmlns:xsd="http://www.w3.org/2001/XMLSchema" xmlns:xs="http://www.w3.org/2001/XMLSchema" xmlns:p="http://schemas.microsoft.com/office/2006/metadata/properties" xmlns:ns2="df9d7280-3a70-455f-8c80-6c4d72acc3fd" targetNamespace="http://schemas.microsoft.com/office/2006/metadata/properties" ma:root="true" ma:fieldsID="4a1ed8bae86aa9a3c3a781388432c89e" ns2:_="">
    <xsd:import namespace="df9d7280-3a70-455f-8c80-6c4d72acc3f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9d7280-3a70-455f-8c80-6c4d72acc3f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B49F9DE-CB04-4FB6-940D-C0B41B72EE35}"/>
</file>

<file path=customXml/itemProps2.xml><?xml version="1.0" encoding="utf-8"?>
<ds:datastoreItem xmlns:ds="http://schemas.openxmlformats.org/officeDocument/2006/customXml" ds:itemID="{369D7F7D-66E6-47E9-A264-8DA06F6F26C1}"/>
</file>

<file path=customXml/itemProps3.xml><?xml version="1.0" encoding="utf-8"?>
<ds:datastoreItem xmlns:ds="http://schemas.openxmlformats.org/officeDocument/2006/customXml" ds:itemID="{B20ECEFA-F160-42C9-AD50-E60D58926848}"/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3550</TotalTime>
  <Words>1841</Words>
  <Application>Microsoft Office PowerPoint</Application>
  <PresentationFormat>Widescreen</PresentationFormat>
  <Paragraphs>186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Arial</vt:lpstr>
      <vt:lpstr>Calibri</vt:lpstr>
      <vt:lpstr>Trebuchet MS</vt:lpstr>
      <vt:lpstr>Wingdings</vt:lpstr>
      <vt:lpstr>Wingdings 3</vt:lpstr>
      <vt:lpstr>Facet</vt:lpstr>
      <vt:lpstr>Chapter 6  Privacy</vt:lpstr>
      <vt:lpstr>Privacy and its Value</vt:lpstr>
      <vt:lpstr>Privacy and its Value</vt:lpstr>
      <vt:lpstr>Privacy Risks</vt:lpstr>
      <vt:lpstr>Privacy Risks</vt:lpstr>
      <vt:lpstr>Privacy Risks</vt:lpstr>
      <vt:lpstr>Privacy Risks</vt:lpstr>
      <vt:lpstr>Privacy of Consumer Information</vt:lpstr>
      <vt:lpstr>Privacy of Consumer Information</vt:lpstr>
      <vt:lpstr>Privacy of Consumer Information</vt:lpstr>
      <vt:lpstr>Privacy of Consumer Information</vt:lpstr>
      <vt:lpstr>Privacy of Consumer Information</vt:lpstr>
      <vt:lpstr>Privacy of Consumer Information</vt:lpstr>
      <vt:lpstr>Privacy of Consumer Information</vt:lpstr>
      <vt:lpstr>Privacy of Consumer Information</vt:lpstr>
      <vt:lpstr>Privacy of Consumer Information</vt:lpstr>
      <vt:lpstr>Protecting Privacy</vt:lpstr>
      <vt:lpstr>Offensive speech and Censorship in Cyberspace</vt:lpstr>
      <vt:lpstr>Offensive speech and Censorship in Cyberspace</vt:lpstr>
      <vt:lpstr>Offensive speech and Censorship in Cyberspace</vt:lpstr>
      <vt:lpstr>Offensive speech and Censorship in Cyberspace</vt:lpstr>
      <vt:lpstr>Anonymity</vt:lpstr>
      <vt:lpstr>Anonymity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Technology Access Behavior and Impact Analysis on Education and Social Transformation in Dhangadhi Sub-Metropolitan City</dc:title>
  <dc:creator>Sunil Bahadur Bist</dc:creator>
  <cp:lastModifiedBy>Ravi Khadka</cp:lastModifiedBy>
  <cp:revision>637</cp:revision>
  <dcterms:created xsi:type="dcterms:W3CDTF">2017-09-13T07:21:00Z</dcterms:created>
  <dcterms:modified xsi:type="dcterms:W3CDTF">2020-10-29T13:34:07Z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0x0101004423C86C84CA4945852CBF0CFC130390</vt:lpwstr>
  </property>
</Properties>
</file>