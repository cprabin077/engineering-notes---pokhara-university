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4"/>
  </p:sldMasterIdLst>
  <p:notesMasterIdLst>
    <p:notesMasterId r:id="rId40"/>
  </p:notesMasterIdLst>
  <p:sldIdLst>
    <p:sldId id="257" r:id="rId5"/>
    <p:sldId id="299" r:id="rId6"/>
    <p:sldId id="404" r:id="rId7"/>
    <p:sldId id="405" r:id="rId8"/>
    <p:sldId id="406" r:id="rId9"/>
    <p:sldId id="407" r:id="rId10"/>
    <p:sldId id="408" r:id="rId11"/>
    <p:sldId id="409" r:id="rId12"/>
    <p:sldId id="410" r:id="rId13"/>
    <p:sldId id="411" r:id="rId14"/>
    <p:sldId id="412" r:id="rId15"/>
    <p:sldId id="413" r:id="rId16"/>
    <p:sldId id="414" r:id="rId17"/>
    <p:sldId id="415" r:id="rId18"/>
    <p:sldId id="416" r:id="rId19"/>
    <p:sldId id="417" r:id="rId20"/>
    <p:sldId id="418" r:id="rId21"/>
    <p:sldId id="419" r:id="rId22"/>
    <p:sldId id="420" r:id="rId23"/>
    <p:sldId id="421" r:id="rId24"/>
    <p:sldId id="422" r:id="rId25"/>
    <p:sldId id="424" r:id="rId26"/>
    <p:sldId id="423" r:id="rId27"/>
    <p:sldId id="425" r:id="rId28"/>
    <p:sldId id="426" r:id="rId29"/>
    <p:sldId id="429" r:id="rId30"/>
    <p:sldId id="428" r:id="rId31"/>
    <p:sldId id="427" r:id="rId32"/>
    <p:sldId id="430" r:id="rId33"/>
    <p:sldId id="431" r:id="rId34"/>
    <p:sldId id="432" r:id="rId35"/>
    <p:sldId id="433" r:id="rId36"/>
    <p:sldId id="434" r:id="rId37"/>
    <p:sldId id="435" r:id="rId38"/>
    <p:sldId id="27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8" autoAdjust="0"/>
    <p:restoredTop sz="94660"/>
  </p:normalViewPr>
  <p:slideViewPr>
    <p:cSldViewPr snapToGrid="0">
      <p:cViewPr varScale="1">
        <p:scale>
          <a:sx n="72" d="100"/>
          <a:sy n="72" d="100"/>
        </p:scale>
        <p:origin x="642"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8/1/2024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2757849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2757849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2757849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2757849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2757849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2757849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112289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1449639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3346225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3036339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4233138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26279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1457552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3075890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27448805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1887327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5346595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1164317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52360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3611707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2541029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9984483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18658128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2049265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21710593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17491868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25062813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19254142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1998913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22292868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37308264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2984294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805150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8/1/2024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8/1/2024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8/1/2024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8/1/2024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8/1/2024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8/1/2024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8/1/2024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8/1/2024</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www.internetgovernance.org/what-is-internet-governance/"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2 : Social Context of Computing</a:t>
            </a:r>
          </a:p>
        </p:txBody>
      </p:sp>
      <p:sp>
        <p:nvSpPr>
          <p:cNvPr id="3" name="Subtitle 2"/>
          <p:cNvSpPr>
            <a:spLocks noGrp="1"/>
          </p:cNvSpPr>
          <p:nvPr>
            <p:ph type="subTitle" idx="1"/>
          </p:nvPr>
        </p:nvSpPr>
        <p:spPr>
          <a:xfrm>
            <a:off x="1281567" y="1139688"/>
            <a:ext cx="8094254" cy="4055164"/>
          </a:xfrm>
        </p:spPr>
        <p:txBody>
          <a:bodyPr>
            <a:normAutofit fontScale="92500"/>
          </a:bodyPr>
          <a:lstStyle/>
          <a:p>
            <a:pPr marL="457200" indent="-457200" algn="l">
              <a:buClr>
                <a:schemeClr val="tx1"/>
              </a:buClr>
              <a:buSzPct val="71000"/>
              <a:buFont typeface="Wingdings" panose="05000000000000000000" pitchFamily="2" charset="2"/>
              <a:buChar char="q"/>
            </a:pPr>
            <a:r>
              <a:rPr lang="en-US" sz="2800" dirty="0">
                <a:solidFill>
                  <a:schemeClr val="tx1"/>
                </a:solidFill>
              </a:rPr>
              <a:t>Society and Technology</a:t>
            </a:r>
          </a:p>
          <a:p>
            <a:pPr marL="914389" lvl="1" indent="-457200" algn="l">
              <a:buClr>
                <a:schemeClr val="tx1"/>
              </a:buClr>
              <a:buSzPct val="71000"/>
              <a:buFont typeface="Wingdings" panose="05000000000000000000" pitchFamily="2" charset="2"/>
              <a:buChar char="q"/>
            </a:pPr>
            <a:r>
              <a:rPr lang="en-US" sz="2600" dirty="0">
                <a:solidFill>
                  <a:schemeClr val="tx1"/>
                </a:solidFill>
              </a:rPr>
              <a:t>Impact of Technology on Society and vice-versa</a:t>
            </a:r>
          </a:p>
          <a:p>
            <a:pPr marL="914389" lvl="1" indent="-457200" algn="l">
              <a:buClr>
                <a:schemeClr val="tx1"/>
              </a:buClr>
              <a:buSzPct val="71000"/>
              <a:buFont typeface="Wingdings" panose="05000000000000000000" pitchFamily="2" charset="2"/>
              <a:buChar char="q"/>
            </a:pPr>
            <a:r>
              <a:rPr lang="en-US" sz="2600" dirty="0">
                <a:solidFill>
                  <a:schemeClr val="tx1"/>
                </a:solidFill>
              </a:rPr>
              <a:t>Using Technology for Poverty Alleviation</a:t>
            </a:r>
          </a:p>
          <a:p>
            <a:pPr marL="914389" lvl="1" indent="-457200" algn="l">
              <a:buClr>
                <a:schemeClr val="tx1"/>
              </a:buClr>
              <a:buSzPct val="71000"/>
              <a:buFont typeface="Wingdings" panose="05000000000000000000" pitchFamily="2" charset="2"/>
              <a:buChar char="q"/>
            </a:pPr>
            <a:r>
              <a:rPr lang="en-US" sz="2600" dirty="0">
                <a:solidFill>
                  <a:schemeClr val="tx1"/>
                </a:solidFill>
              </a:rPr>
              <a:t>Health Related Issues for an IT Professional</a:t>
            </a:r>
          </a:p>
          <a:p>
            <a:pPr marL="457200" indent="-457200" algn="l">
              <a:buClr>
                <a:schemeClr val="tx1"/>
              </a:buClr>
              <a:buSzPct val="71000"/>
              <a:buFont typeface="Wingdings" panose="05000000000000000000" pitchFamily="2" charset="2"/>
              <a:buChar char="q"/>
            </a:pPr>
            <a:r>
              <a:rPr lang="en-US" sz="2800" dirty="0">
                <a:solidFill>
                  <a:schemeClr val="tx1"/>
                </a:solidFill>
              </a:rPr>
              <a:t>Internet and Society</a:t>
            </a:r>
          </a:p>
          <a:p>
            <a:pPr marL="914389" lvl="1" indent="-457200" algn="l">
              <a:buClr>
                <a:schemeClr val="tx1"/>
              </a:buClr>
              <a:buSzPct val="71000"/>
              <a:buFont typeface="Wingdings" panose="05000000000000000000" pitchFamily="2" charset="2"/>
              <a:buChar char="q"/>
            </a:pPr>
            <a:r>
              <a:rPr lang="en-US" sz="2600" dirty="0">
                <a:solidFill>
                  <a:schemeClr val="tx1"/>
                </a:solidFill>
              </a:rPr>
              <a:t>Digital Divide and Bridging the Digital Divide</a:t>
            </a:r>
          </a:p>
          <a:p>
            <a:pPr marL="914389" lvl="1" indent="-457200" algn="l">
              <a:buClr>
                <a:schemeClr val="tx1"/>
              </a:buClr>
              <a:buSzPct val="71000"/>
              <a:buFont typeface="Wingdings" panose="05000000000000000000" pitchFamily="2" charset="2"/>
              <a:buChar char="q"/>
            </a:pPr>
            <a:r>
              <a:rPr lang="en-US" sz="2600" dirty="0">
                <a:solidFill>
                  <a:schemeClr val="tx1"/>
                </a:solidFill>
              </a:rPr>
              <a:t>Governance of Internet</a:t>
            </a:r>
          </a:p>
          <a:p>
            <a:pPr marL="457200" indent="-457200" algn="l">
              <a:buClr>
                <a:schemeClr val="tx1"/>
              </a:buClr>
              <a:buSzPct val="71000"/>
              <a:buFont typeface="Wingdings" panose="05000000000000000000" pitchFamily="2" charset="2"/>
              <a:buChar char="q"/>
            </a:pPr>
            <a:r>
              <a:rPr lang="en-US" sz="2800" dirty="0">
                <a:solidFill>
                  <a:schemeClr val="tx1"/>
                </a:solidFill>
              </a:rPr>
              <a:t>E-Governance and E-Government System</a:t>
            </a:r>
          </a:p>
          <a:p>
            <a:pPr marL="457200" indent="-457200" algn="l">
              <a:buClr>
                <a:schemeClr val="tx1"/>
              </a:buClr>
              <a:buSzPct val="71000"/>
              <a:buFont typeface="Wingdings" panose="05000000000000000000" pitchFamily="2" charset="2"/>
              <a:buChar char="q"/>
            </a:pPr>
            <a:endParaRPr lang="en-US" sz="2800" dirty="0">
              <a:solidFill>
                <a:schemeClr val="tx1"/>
              </a:solidFill>
            </a:endParaRPr>
          </a:p>
          <a:p>
            <a:pPr marL="457200" indent="-457200" algn="l">
              <a:buClr>
                <a:schemeClr val="tx1"/>
              </a:buClr>
              <a:buSzPct val="71000"/>
              <a:buFont typeface="Wingdings" panose="05000000000000000000" pitchFamily="2" charset="2"/>
              <a:buChar char="q"/>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Society and Technology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4426225"/>
          </a:xfrm>
        </p:spPr>
        <p:txBody>
          <a:bodyPr>
            <a:normAutofit/>
          </a:bodyPr>
          <a:lstStyle/>
          <a:p>
            <a:pPr marL="457200" indent="-457200" algn="l">
              <a:buClr>
                <a:schemeClr val="tx1"/>
              </a:buClr>
              <a:buSzPct val="71000"/>
              <a:buFont typeface="Wingdings" panose="05000000000000000000" pitchFamily="2" charset="2"/>
              <a:buChar char="q"/>
            </a:pPr>
            <a:r>
              <a:rPr lang="en-US" sz="2800" dirty="0">
                <a:solidFill>
                  <a:schemeClr val="tx1"/>
                </a:solidFill>
              </a:rPr>
              <a:t>Society :</a:t>
            </a:r>
          </a:p>
          <a:p>
            <a:pPr algn="l">
              <a:buClr>
                <a:schemeClr val="tx1"/>
              </a:buClr>
              <a:buSzPct val="71000"/>
            </a:pPr>
            <a:r>
              <a:rPr lang="en-US" sz="2800" dirty="0">
                <a:solidFill>
                  <a:schemeClr val="tx1"/>
                </a:solidFill>
              </a:rPr>
              <a:t>“A society grows great when old men plant trees whose shade they know they shall never sit in.”</a:t>
            </a:r>
          </a:p>
          <a:p>
            <a:pPr marL="457200" indent="-457200" algn="l">
              <a:buClr>
                <a:schemeClr val="tx1"/>
              </a:buClr>
              <a:buSzPct val="71000"/>
              <a:buFont typeface="Wingdings" panose="05000000000000000000" pitchFamily="2" charset="2"/>
              <a:buChar char="Ø"/>
            </a:pPr>
            <a:r>
              <a:rPr lang="en-US" sz="2800" dirty="0">
                <a:solidFill>
                  <a:schemeClr val="tx1"/>
                </a:solidFill>
              </a:rPr>
              <a:t>The community of people living in a particular region and having shared customs, laws, and organizations. </a:t>
            </a:r>
          </a:p>
          <a:p>
            <a:pPr marL="457200" indent="-457200" algn="l">
              <a:buClr>
                <a:schemeClr val="tx1"/>
              </a:buClr>
              <a:buSzPct val="71000"/>
              <a:buFont typeface="Wingdings" panose="05000000000000000000" pitchFamily="2" charset="2"/>
              <a:buChar char="Ø"/>
            </a:pPr>
            <a:r>
              <a:rPr lang="en-US" sz="2800" dirty="0">
                <a:solidFill>
                  <a:schemeClr val="tx1"/>
                </a:solidFill>
              </a:rPr>
              <a:t>A group of people related to each other through persistent relationship such as social status, role, network etc.</a:t>
            </a: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1635662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Society and Technology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7"/>
            <a:ext cx="8551546" cy="5267925"/>
          </a:xfrm>
        </p:spPr>
        <p:txBody>
          <a:bodyPr>
            <a:normAutofit fontScale="85000" lnSpcReduction="10000"/>
          </a:bodyPr>
          <a:lstStyle/>
          <a:p>
            <a:pPr marL="457200" indent="-457200" algn="l">
              <a:buClr>
                <a:schemeClr val="tx1"/>
              </a:buClr>
              <a:buSzPct val="71000"/>
              <a:buFont typeface="Wingdings" panose="05000000000000000000" pitchFamily="2" charset="2"/>
              <a:buChar char="q"/>
            </a:pPr>
            <a:r>
              <a:rPr lang="en-US" sz="2800" dirty="0">
                <a:solidFill>
                  <a:schemeClr val="tx1"/>
                </a:solidFill>
              </a:rPr>
              <a:t>Technology:</a:t>
            </a:r>
          </a:p>
          <a:p>
            <a:pPr algn="l">
              <a:buClr>
                <a:schemeClr val="tx1"/>
              </a:buClr>
              <a:buSzPct val="71000"/>
            </a:pPr>
            <a:r>
              <a:rPr lang="en-US" sz="2800" dirty="0">
                <a:solidFill>
                  <a:schemeClr val="tx1"/>
                </a:solidFill>
              </a:rPr>
              <a:t>“Technology is a useful servant but a dangerous master.”</a:t>
            </a:r>
          </a:p>
          <a:p>
            <a:pPr marL="457200" indent="-457200" algn="just">
              <a:buClr>
                <a:schemeClr val="tx1"/>
              </a:buClr>
              <a:buSzPct val="71000"/>
              <a:buFont typeface="Wingdings" panose="05000000000000000000" pitchFamily="2" charset="2"/>
              <a:buChar char="Ø"/>
            </a:pPr>
            <a:r>
              <a:rPr lang="en-US" sz="2800" dirty="0">
                <a:solidFill>
                  <a:schemeClr val="tx1"/>
                </a:solidFill>
              </a:rPr>
              <a:t>Technology is a body of knowledge devoted to creating tools, processing actions and extracting of materials.</a:t>
            </a:r>
          </a:p>
          <a:p>
            <a:pPr marL="457200" indent="-457200" algn="just">
              <a:buClr>
                <a:schemeClr val="tx1"/>
              </a:buClr>
              <a:buSzPct val="71000"/>
              <a:buFont typeface="Wingdings" panose="05000000000000000000" pitchFamily="2" charset="2"/>
              <a:buChar char="Ø"/>
            </a:pPr>
            <a:r>
              <a:rPr lang="en-US" sz="2800" dirty="0">
                <a:solidFill>
                  <a:schemeClr val="tx1"/>
                </a:solidFill>
              </a:rPr>
              <a:t>Application of knowledge to the practical aims of human life or to changing and manipulating the human environment. </a:t>
            </a:r>
          </a:p>
          <a:p>
            <a:pPr marL="457200" indent="-457200" algn="just">
              <a:buClr>
                <a:schemeClr val="tx1"/>
              </a:buClr>
              <a:buSzPct val="71000"/>
              <a:buFont typeface="Wingdings" panose="05000000000000000000" pitchFamily="2" charset="2"/>
              <a:buChar char="Ø"/>
            </a:pPr>
            <a:r>
              <a:rPr lang="en-US" sz="2800" dirty="0">
                <a:solidFill>
                  <a:schemeClr val="tx1"/>
                </a:solidFill>
              </a:rPr>
              <a:t>Technology includes the use of materials, tools, techniques, and sources of power to make life easier or more pleasant and work more productive. Whereas science is concerned with how and why things happen, technology focuses on making things happen. </a:t>
            </a:r>
            <a:r>
              <a:rPr lang="en-US" sz="2800" dirty="0" smtClean="0">
                <a:solidFill>
                  <a:schemeClr val="tx1"/>
                </a:solidFill>
              </a:rPr>
              <a:t>”</a:t>
            </a:r>
          </a:p>
          <a:p>
            <a:pPr marL="457200" indent="-457200" algn="just">
              <a:buClr>
                <a:schemeClr val="tx1"/>
              </a:buClr>
              <a:buSzPct val="71000"/>
              <a:buFont typeface="Wingdings" panose="05000000000000000000" pitchFamily="2" charset="2"/>
              <a:buChar char="Ø"/>
            </a:pPr>
            <a:r>
              <a:rPr lang="en-US" sz="2800" dirty="0">
                <a:solidFill>
                  <a:srgbClr val="FF0000"/>
                </a:solidFill>
              </a:rPr>
              <a:t>Technology is a useful servant but a dangerous master</a:t>
            </a:r>
            <a:r>
              <a:rPr lang="en-US" sz="2800" dirty="0" smtClean="0">
                <a:solidFill>
                  <a:srgbClr val="FF0000"/>
                </a:solidFill>
              </a:rPr>
              <a:t>.</a:t>
            </a:r>
            <a:endParaRPr lang="en-US" sz="2800" dirty="0">
              <a:solidFill>
                <a:srgbClr val="FF0000"/>
              </a:solidFill>
            </a:endParaRPr>
          </a:p>
        </p:txBody>
      </p:sp>
    </p:spTree>
    <p:extLst>
      <p:ext uri="{BB962C8B-B14F-4D97-AF65-F5344CB8AC3E}">
        <p14:creationId xmlns:p14="http://schemas.microsoft.com/office/powerpoint/2010/main" val="3173976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Society and Technology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887896"/>
          </a:xfrm>
        </p:spPr>
        <p:txBody>
          <a:bodyPr>
            <a:normAutofit fontScale="77500" lnSpcReduction="20000"/>
          </a:bodyPr>
          <a:lstStyle/>
          <a:p>
            <a:pPr algn="l">
              <a:buClr>
                <a:schemeClr val="tx1"/>
              </a:buClr>
              <a:buSzPct val="71000"/>
            </a:pPr>
            <a:r>
              <a:rPr lang="en-US" sz="2800" dirty="0">
                <a:solidFill>
                  <a:schemeClr val="tx1"/>
                </a:solidFill>
              </a:rPr>
              <a:t>“We Shape Our Tools, and Thereafter Our Tools Shape Us”</a:t>
            </a:r>
          </a:p>
          <a:p>
            <a:pPr algn="l">
              <a:buClr>
                <a:schemeClr val="tx1"/>
              </a:buClr>
              <a:buSzPct val="71000"/>
            </a:pPr>
            <a:r>
              <a:rPr lang="en-US" sz="2800" dirty="0">
                <a:solidFill>
                  <a:schemeClr val="tx1"/>
                </a:solidFill>
              </a:rPr>
              <a:t>											 - Marshall McLuhan</a:t>
            </a:r>
          </a:p>
        </p:txBody>
      </p:sp>
      <p:pic>
        <p:nvPicPr>
          <p:cNvPr id="1026" name="Picture 2" descr="Impact of Technology&#10;Community&#10;Life&#10;Work&#10;Health&#10;Communication&#10; ">
            <a:extLst>
              <a:ext uri="{FF2B5EF4-FFF2-40B4-BE49-F238E27FC236}">
                <a16:creationId xmlns:a16="http://schemas.microsoft.com/office/drawing/2014/main" id="{F13D0C30-5C88-438D-AD35-344A3E062B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2027584"/>
            <a:ext cx="8094254" cy="3995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072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Society and Technology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7"/>
            <a:ext cx="8551546" cy="5267925"/>
          </a:xfrm>
        </p:spPr>
        <p:txBody>
          <a:bodyPr>
            <a:normAutofit lnSpcReduction="10000"/>
          </a:bodyPr>
          <a:lstStyle/>
          <a:p>
            <a:pPr marL="457200" indent="-457200" algn="just">
              <a:buClr>
                <a:schemeClr val="tx1"/>
              </a:buClr>
              <a:buSzPct val="71000"/>
              <a:buFont typeface="Wingdings" panose="05000000000000000000" pitchFamily="2" charset="2"/>
              <a:buChar char="q"/>
            </a:pPr>
            <a:r>
              <a:rPr lang="en-US" sz="2800" dirty="0">
                <a:solidFill>
                  <a:schemeClr val="tx1"/>
                </a:solidFill>
              </a:rPr>
              <a:t>To ask questions: “How do society and technology interact” is asking the Life, the Universe and Everything.</a:t>
            </a:r>
          </a:p>
          <a:p>
            <a:pPr marL="457200" indent="-457200" algn="just">
              <a:buClr>
                <a:schemeClr val="tx1"/>
              </a:buClr>
              <a:buSzPct val="71000"/>
              <a:buFont typeface="Wingdings" panose="05000000000000000000" pitchFamily="2" charset="2"/>
              <a:buChar char="q"/>
            </a:pPr>
            <a:r>
              <a:rPr lang="en-US" sz="2800" dirty="0">
                <a:solidFill>
                  <a:schemeClr val="tx1"/>
                </a:solidFill>
              </a:rPr>
              <a:t>Does technology shapes society or vice-versa?</a:t>
            </a:r>
          </a:p>
          <a:p>
            <a:pPr marL="457200" indent="-457200" algn="just">
              <a:buClr>
                <a:schemeClr val="tx1"/>
              </a:buClr>
              <a:buSzPct val="71000"/>
              <a:buFont typeface="Wingdings" panose="05000000000000000000" pitchFamily="2" charset="2"/>
              <a:buChar char="q"/>
            </a:pPr>
            <a:r>
              <a:rPr lang="en-US" sz="2800" dirty="0">
                <a:solidFill>
                  <a:schemeClr val="tx1"/>
                </a:solidFill>
              </a:rPr>
              <a:t>What is the role of social in technological change?</a:t>
            </a:r>
          </a:p>
          <a:p>
            <a:pPr marL="457200" indent="-457200" algn="just">
              <a:buClr>
                <a:schemeClr val="tx1"/>
              </a:buClr>
              <a:buSzPct val="71000"/>
              <a:buFont typeface="Wingdings" panose="05000000000000000000" pitchFamily="2" charset="2"/>
              <a:buChar char="q"/>
            </a:pPr>
            <a:r>
              <a:rPr lang="en-US" sz="2800" dirty="0">
                <a:solidFill>
                  <a:schemeClr val="tx1"/>
                </a:solidFill>
              </a:rPr>
              <a:t>Do social innovation and technology innovation proceed co-</a:t>
            </a:r>
            <a:r>
              <a:rPr lang="en-US" sz="2800" dirty="0" err="1">
                <a:solidFill>
                  <a:schemeClr val="tx1"/>
                </a:solidFill>
              </a:rPr>
              <a:t>terminously</a:t>
            </a:r>
            <a:r>
              <a:rPr lang="en-US" sz="2800" dirty="0">
                <a:solidFill>
                  <a:schemeClr val="tx1"/>
                </a:solidFill>
              </a:rPr>
              <a:t>?</a:t>
            </a:r>
          </a:p>
          <a:p>
            <a:pPr marL="457200" indent="-457200" algn="just">
              <a:buClr>
                <a:schemeClr val="tx1"/>
              </a:buClr>
              <a:buSzPct val="71000"/>
              <a:buFont typeface="Wingdings" panose="05000000000000000000" pitchFamily="2" charset="2"/>
              <a:buChar char="q"/>
            </a:pPr>
            <a:r>
              <a:rPr lang="en-US" sz="2800" dirty="0">
                <a:solidFill>
                  <a:schemeClr val="tx1"/>
                </a:solidFill>
              </a:rPr>
              <a:t>It is widely accepted that the relationship between technology and society is not all one way.</a:t>
            </a:r>
          </a:p>
        </p:txBody>
      </p:sp>
    </p:spTree>
    <p:extLst>
      <p:ext uri="{BB962C8B-B14F-4D97-AF65-F5344CB8AC3E}">
        <p14:creationId xmlns:p14="http://schemas.microsoft.com/office/powerpoint/2010/main" val="1373178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Society and Technology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7"/>
            <a:ext cx="8551546" cy="5267925"/>
          </a:xfrm>
        </p:spPr>
        <p:txBody>
          <a:bodyPr>
            <a:normAutofit fontScale="92500" lnSpcReduction="10000"/>
          </a:bodyPr>
          <a:lstStyle/>
          <a:p>
            <a:pPr marL="457200" indent="-457200" algn="just">
              <a:buClr>
                <a:schemeClr val="tx1"/>
              </a:buClr>
              <a:buSzPct val="71000"/>
              <a:buFont typeface="Wingdings" panose="05000000000000000000" pitchFamily="2" charset="2"/>
              <a:buChar char="q"/>
            </a:pPr>
            <a:r>
              <a:rPr lang="en-US" sz="2800" dirty="0">
                <a:solidFill>
                  <a:schemeClr val="tx1"/>
                </a:solidFill>
              </a:rPr>
              <a:t>There are two schools of thought on the topic of the benefit of technological advancements.</a:t>
            </a:r>
          </a:p>
          <a:p>
            <a:pPr marL="457200" indent="-457200" algn="just">
              <a:buClr>
                <a:schemeClr val="tx1"/>
              </a:buClr>
              <a:buSzPct val="71000"/>
              <a:buFont typeface="Wingdings" panose="05000000000000000000" pitchFamily="2" charset="2"/>
              <a:buChar char="q"/>
            </a:pPr>
            <a:r>
              <a:rPr lang="en-US" sz="2800" dirty="0">
                <a:solidFill>
                  <a:schemeClr val="tx1"/>
                </a:solidFill>
              </a:rPr>
              <a:t>When asking, “how does technology affect our society,” there is not cut-and-dry answer and largely the argument is subjective.</a:t>
            </a:r>
          </a:p>
          <a:p>
            <a:pPr marL="457200" indent="-457200" algn="just">
              <a:buClr>
                <a:schemeClr val="tx1"/>
              </a:buClr>
              <a:buSzPct val="71000"/>
              <a:buFont typeface="Wingdings" panose="05000000000000000000" pitchFamily="2" charset="2"/>
              <a:buChar char="q"/>
            </a:pPr>
            <a:r>
              <a:rPr lang="en-US" sz="2800" dirty="0">
                <a:solidFill>
                  <a:schemeClr val="tx1"/>
                </a:solidFill>
              </a:rPr>
              <a:t>Some will applaud the positive effects of social media saying that it brings extended families closer together and allows us to connect with loved ones across a great distance.</a:t>
            </a:r>
          </a:p>
          <a:p>
            <a:pPr marL="457200" indent="-457200" algn="just">
              <a:buClr>
                <a:schemeClr val="tx1"/>
              </a:buClr>
              <a:buSzPct val="71000"/>
              <a:buFont typeface="Wingdings" panose="05000000000000000000" pitchFamily="2" charset="2"/>
              <a:buChar char="q"/>
            </a:pPr>
            <a:r>
              <a:rPr lang="en-US" sz="2800" dirty="0">
                <a:solidFill>
                  <a:schemeClr val="tx1"/>
                </a:solidFill>
              </a:rPr>
              <a:t> Others will point out some of the more negative effects of technology and say that social media cheapens relationships and has brought a sense of narcissism to society.</a:t>
            </a:r>
          </a:p>
        </p:txBody>
      </p:sp>
    </p:spTree>
    <p:extLst>
      <p:ext uri="{BB962C8B-B14F-4D97-AF65-F5344CB8AC3E}">
        <p14:creationId xmlns:p14="http://schemas.microsoft.com/office/powerpoint/2010/main" val="3001295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Society and Technology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7"/>
            <a:ext cx="8551546" cy="5267925"/>
          </a:xfrm>
        </p:spPr>
        <p:txBody>
          <a:bodyPr>
            <a:normAutofit fontScale="92500" lnSpcReduction="20000"/>
          </a:bodyPr>
          <a:lstStyle/>
          <a:p>
            <a:pPr marL="457200" indent="-457200" algn="just">
              <a:buClr>
                <a:schemeClr val="tx1"/>
              </a:buClr>
              <a:buSzPct val="71000"/>
              <a:buFont typeface="Wingdings" panose="05000000000000000000" pitchFamily="2" charset="2"/>
              <a:buChar char="q"/>
            </a:pPr>
            <a:r>
              <a:rPr lang="en-US" sz="2800" dirty="0">
                <a:solidFill>
                  <a:schemeClr val="tx1"/>
                </a:solidFill>
              </a:rPr>
              <a:t>Similarly, some will point out that medical advancements brought about by technological research are obviously welcomed by society at large.</a:t>
            </a:r>
          </a:p>
          <a:p>
            <a:pPr marL="457200" indent="-457200" algn="just">
              <a:buClr>
                <a:schemeClr val="tx1"/>
              </a:buClr>
              <a:buSzPct val="71000"/>
              <a:buFont typeface="Wingdings" panose="05000000000000000000" pitchFamily="2" charset="2"/>
              <a:buChar char="q"/>
            </a:pPr>
            <a:r>
              <a:rPr lang="en-US" sz="2800" dirty="0">
                <a:solidFill>
                  <a:schemeClr val="tx1"/>
                </a:solidFill>
              </a:rPr>
              <a:t>Others will counteract that statement and say that modern medicine has created capitalist monsters like big-pharma and even created new medical problems.</a:t>
            </a:r>
          </a:p>
          <a:p>
            <a:pPr marL="457200" indent="-457200" algn="just">
              <a:buClr>
                <a:schemeClr val="tx1"/>
              </a:buClr>
              <a:buSzPct val="71000"/>
              <a:buFont typeface="Wingdings" panose="05000000000000000000" pitchFamily="2" charset="2"/>
              <a:buChar char="q"/>
            </a:pPr>
            <a:r>
              <a:rPr lang="en-US" sz="2800" dirty="0">
                <a:solidFill>
                  <a:schemeClr val="tx1"/>
                </a:solidFill>
              </a:rPr>
              <a:t>It’s hard, if not impossible, to reach a fact-based consensus on the level of impact technological advancements have on our current society and will have on our future.</a:t>
            </a:r>
          </a:p>
          <a:p>
            <a:pPr marL="457200" indent="-457200" algn="just">
              <a:buClr>
                <a:schemeClr val="tx1"/>
              </a:buClr>
              <a:buSzPct val="71000"/>
              <a:buFont typeface="Wingdings" panose="05000000000000000000" pitchFamily="2" charset="2"/>
              <a:buChar char="q"/>
            </a:pPr>
            <a:r>
              <a:rPr lang="en-US" sz="2800" b="0" i="0" dirty="0">
                <a:solidFill>
                  <a:srgbClr val="000000"/>
                </a:solidFill>
                <a:effectLst/>
                <a:latin typeface="arial" panose="020B0604020202020204" pitchFamily="34" charset="0"/>
              </a:rPr>
              <a:t>The relationship between technology and society is reciprocal. Society drives technological change, while changing technologies in turn shape society.</a:t>
            </a:r>
            <a:endParaRPr lang="en-US" sz="2800" dirty="0">
              <a:solidFill>
                <a:schemeClr val="tx1"/>
              </a:solidFill>
            </a:endParaRPr>
          </a:p>
          <a:p>
            <a:pPr marL="457200" indent="-457200" algn="just">
              <a:buClr>
                <a:schemeClr val="tx1"/>
              </a:buClr>
              <a:buSzPct val="71000"/>
              <a:buFont typeface="Wingdings" panose="05000000000000000000" pitchFamily="2" charset="2"/>
              <a:buChar char="q"/>
            </a:pPr>
            <a:endParaRPr lang="en-US" sz="2800" dirty="0">
              <a:solidFill>
                <a:schemeClr val="tx1"/>
              </a:solidFill>
            </a:endParaRPr>
          </a:p>
        </p:txBody>
      </p:sp>
    </p:spTree>
    <p:extLst>
      <p:ext uri="{BB962C8B-B14F-4D97-AF65-F5344CB8AC3E}">
        <p14:creationId xmlns:p14="http://schemas.microsoft.com/office/powerpoint/2010/main" val="1955896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Society and Technology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7"/>
            <a:ext cx="8551546" cy="5267925"/>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chemeClr val="tx1"/>
                </a:solidFill>
              </a:rPr>
              <a:t>Impact of technology on Society and Vice versa</a:t>
            </a:r>
          </a:p>
          <a:p>
            <a:pPr algn="just">
              <a:buClr>
                <a:schemeClr val="tx1"/>
              </a:buClr>
              <a:buSzPct val="71000"/>
            </a:pPr>
            <a:endParaRPr lang="en-US" sz="2800" dirty="0">
              <a:solidFill>
                <a:schemeClr val="tx1"/>
              </a:solidFill>
            </a:endParaRPr>
          </a:p>
        </p:txBody>
      </p:sp>
      <p:pic>
        <p:nvPicPr>
          <p:cNvPr id="1028" name="Picture 4" descr="Technology Background clipart - Technology, Society, Product, transparent  clip art">
            <a:extLst>
              <a:ext uri="{FF2B5EF4-FFF2-40B4-BE49-F238E27FC236}">
                <a16:creationId xmlns:a16="http://schemas.microsoft.com/office/drawing/2014/main" id="{5C1C7FD9-6EE4-441C-A183-F89E9D339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8" y="1741774"/>
            <a:ext cx="8094254" cy="4415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647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Impact of Technology on Society and vice versa</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7"/>
            <a:ext cx="8094254" cy="5267925"/>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chemeClr val="tx1"/>
                </a:solidFill>
              </a:rPr>
              <a:t>The world is changing faster and faster as a result of accelerated technological development</a:t>
            </a:r>
            <a:r>
              <a:rPr lang="en-US" sz="2800">
                <a:solidFill>
                  <a:schemeClr val="tx1"/>
                </a:solidFill>
              </a:rPr>
              <a:t>.  </a:t>
            </a:r>
            <a:endParaRPr lang="en-US" sz="2800" dirty="0">
              <a:solidFill>
                <a:schemeClr val="tx1"/>
              </a:solidFill>
            </a:endParaRPr>
          </a:p>
          <a:p>
            <a:pPr marL="457200" indent="-457200" algn="just">
              <a:buClr>
                <a:schemeClr val="tx1"/>
              </a:buClr>
              <a:buSzPct val="71000"/>
              <a:buFont typeface="Wingdings" panose="05000000000000000000" pitchFamily="2" charset="2"/>
              <a:buChar char="q"/>
            </a:pPr>
            <a:r>
              <a:rPr lang="en-US" sz="2800" dirty="0">
                <a:solidFill>
                  <a:schemeClr val="tx1"/>
                </a:solidFill>
              </a:rPr>
              <a:t>Technology has without doubt an impact on society. As a matter of fact, we experience this effect in our daily lives. </a:t>
            </a:r>
          </a:p>
          <a:p>
            <a:pPr marL="457200" indent="-457200" algn="just">
              <a:buClr>
                <a:schemeClr val="tx1"/>
              </a:buClr>
              <a:buSzPct val="71000"/>
              <a:buFont typeface="Wingdings" panose="05000000000000000000" pitchFamily="2" charset="2"/>
              <a:buChar char="q"/>
            </a:pPr>
            <a:r>
              <a:rPr lang="en-US" sz="2800" dirty="0">
                <a:solidFill>
                  <a:schemeClr val="tx1"/>
                </a:solidFill>
              </a:rPr>
              <a:t> It has an effect on the growth of the economy, our culture and our living standards.</a:t>
            </a:r>
          </a:p>
          <a:p>
            <a:pPr marL="457200" indent="-457200" algn="just">
              <a:buClr>
                <a:schemeClr val="tx1"/>
              </a:buClr>
              <a:buSzPct val="71000"/>
              <a:buFont typeface="Wingdings" panose="05000000000000000000" pitchFamily="2" charset="2"/>
              <a:buChar char="q"/>
            </a:pPr>
            <a:r>
              <a:rPr lang="en-US" sz="2800" dirty="0">
                <a:solidFill>
                  <a:schemeClr val="tx1"/>
                </a:solidFill>
              </a:rPr>
              <a:t>Technology and human life cannot be separated; society has a cyclical co-dependence on technology.  </a:t>
            </a:r>
          </a:p>
        </p:txBody>
      </p:sp>
    </p:spTree>
    <p:extLst>
      <p:ext uri="{BB962C8B-B14F-4D97-AF65-F5344CB8AC3E}">
        <p14:creationId xmlns:p14="http://schemas.microsoft.com/office/powerpoint/2010/main" val="1249052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Impact of Technology on Society and vice versa</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4916556"/>
          </a:xfrm>
        </p:spPr>
        <p:txBody>
          <a:bodyPr>
            <a:normAutofit lnSpcReduction="10000"/>
          </a:bodyPr>
          <a:lstStyle/>
          <a:p>
            <a:pPr marL="457200" indent="-457200" algn="just">
              <a:buClr>
                <a:schemeClr val="tx1"/>
              </a:buClr>
              <a:buSzPct val="71000"/>
              <a:buFont typeface="Wingdings" panose="05000000000000000000" pitchFamily="2" charset="2"/>
              <a:buChar char="q"/>
            </a:pPr>
            <a:r>
              <a:rPr lang="en-US" sz="2800" dirty="0">
                <a:solidFill>
                  <a:schemeClr val="tx1"/>
                </a:solidFill>
              </a:rPr>
              <a:t>We use technology; depend on technology in our daily life.</a:t>
            </a:r>
          </a:p>
          <a:p>
            <a:pPr marL="457200" indent="-457200" algn="just">
              <a:buClr>
                <a:schemeClr val="tx1"/>
              </a:buClr>
              <a:buSzPct val="71000"/>
              <a:buFont typeface="Wingdings" panose="05000000000000000000" pitchFamily="2" charset="2"/>
              <a:buChar char="q"/>
            </a:pPr>
            <a:r>
              <a:rPr lang="en-US" sz="2800" dirty="0">
                <a:solidFill>
                  <a:schemeClr val="tx1"/>
                </a:solidFill>
              </a:rPr>
              <a:t>Our needs and demands for technology is increasing daily.</a:t>
            </a:r>
          </a:p>
          <a:p>
            <a:pPr marL="457200" indent="-457200" algn="just">
              <a:buClr>
                <a:schemeClr val="tx1"/>
              </a:buClr>
              <a:buSzPct val="71000"/>
              <a:buFont typeface="Wingdings" panose="05000000000000000000" pitchFamily="2" charset="2"/>
              <a:buChar char="q"/>
            </a:pPr>
            <a:r>
              <a:rPr lang="en-US" sz="2800" dirty="0">
                <a:solidFill>
                  <a:schemeClr val="tx1"/>
                </a:solidFill>
              </a:rPr>
              <a:t>We use technology to travel, to communicate, to learn, to do business and to live in comfort.</a:t>
            </a:r>
          </a:p>
          <a:p>
            <a:pPr marL="457200" indent="-457200" algn="just">
              <a:buClr>
                <a:schemeClr val="tx1"/>
              </a:buClr>
              <a:buSzPct val="71000"/>
              <a:buFont typeface="Wingdings" panose="05000000000000000000" pitchFamily="2" charset="2"/>
              <a:buChar char="q"/>
            </a:pPr>
            <a:r>
              <a:rPr lang="en-US" sz="2800" dirty="0">
                <a:solidFill>
                  <a:schemeClr val="tx1"/>
                </a:solidFill>
              </a:rPr>
              <a:t>However, technology has also caused. The more advanced technology becomes, the more it seems to have control over our lives.</a:t>
            </a:r>
          </a:p>
          <a:p>
            <a:pPr marL="457200" indent="-457200" algn="just">
              <a:buClr>
                <a:schemeClr val="tx1"/>
              </a:buClr>
              <a:buSzPct val="71000"/>
              <a:buFont typeface="Wingdings" panose="05000000000000000000" pitchFamily="2" charset="2"/>
              <a:buChar char="q"/>
            </a:pPr>
            <a:r>
              <a:rPr lang="en-US" sz="2800" dirty="0">
                <a:solidFill>
                  <a:schemeClr val="tx1"/>
                </a:solidFill>
              </a:rPr>
              <a:t>Technology have both positive and negative impact in our society.</a:t>
            </a:r>
          </a:p>
        </p:txBody>
      </p:sp>
    </p:spTree>
    <p:extLst>
      <p:ext uri="{BB962C8B-B14F-4D97-AF65-F5344CB8AC3E}">
        <p14:creationId xmlns:p14="http://schemas.microsoft.com/office/powerpoint/2010/main" val="2488086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Impact of Technology on Society and vice versa</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4916556"/>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chemeClr val="tx1"/>
                </a:solidFill>
              </a:rPr>
              <a:t>Positive impact:</a:t>
            </a:r>
          </a:p>
          <a:p>
            <a:pPr marL="457200" indent="-457200" algn="just">
              <a:buClr>
                <a:schemeClr val="tx1"/>
              </a:buClr>
              <a:buSzPct val="71000"/>
              <a:buFont typeface="Wingdings" panose="05000000000000000000" pitchFamily="2" charset="2"/>
              <a:buChar char="Ø"/>
            </a:pPr>
            <a:r>
              <a:rPr lang="en-US" sz="2800" dirty="0">
                <a:solidFill>
                  <a:schemeClr val="tx1"/>
                </a:solidFill>
              </a:rPr>
              <a:t>Agriculture : High production</a:t>
            </a:r>
          </a:p>
          <a:p>
            <a:pPr marL="457200" indent="-457200" algn="just">
              <a:buClr>
                <a:schemeClr val="tx1"/>
              </a:buClr>
              <a:buSzPct val="71000"/>
              <a:buFont typeface="Wingdings" panose="05000000000000000000" pitchFamily="2" charset="2"/>
              <a:buChar char="Ø"/>
            </a:pPr>
            <a:r>
              <a:rPr lang="en-US" sz="2800" dirty="0">
                <a:solidFill>
                  <a:schemeClr val="tx1"/>
                </a:solidFill>
              </a:rPr>
              <a:t>Travel/Transportation: Mankind’s ability to travel and transport items has increased greatly. </a:t>
            </a:r>
          </a:p>
          <a:p>
            <a:pPr marL="457200" indent="-457200" algn="just">
              <a:buClr>
                <a:schemeClr val="tx1"/>
              </a:buClr>
              <a:buSzPct val="71000"/>
              <a:buFont typeface="Wingdings" panose="05000000000000000000" pitchFamily="2" charset="2"/>
              <a:buChar char="Ø"/>
            </a:pPr>
            <a:r>
              <a:rPr lang="en-US" sz="2800" dirty="0">
                <a:solidFill>
                  <a:schemeClr val="tx1"/>
                </a:solidFill>
              </a:rPr>
              <a:t>Communication : Communicate almost at anytime or anywhere we want</a:t>
            </a:r>
          </a:p>
          <a:p>
            <a:pPr marL="457200" indent="-457200" algn="just">
              <a:buClr>
                <a:schemeClr val="tx1"/>
              </a:buClr>
              <a:buSzPct val="71000"/>
              <a:buFont typeface="Wingdings" panose="05000000000000000000" pitchFamily="2" charset="2"/>
              <a:buChar char="Ø"/>
            </a:pPr>
            <a:r>
              <a:rPr lang="en-US" sz="2800" dirty="0">
                <a:solidFill>
                  <a:schemeClr val="tx1"/>
                </a:solidFill>
              </a:rPr>
              <a:t>Education: Advance the way our students learn. </a:t>
            </a:r>
          </a:p>
        </p:txBody>
      </p:sp>
    </p:spTree>
    <p:extLst>
      <p:ext uri="{BB962C8B-B14F-4D97-AF65-F5344CB8AC3E}">
        <p14:creationId xmlns:p14="http://schemas.microsoft.com/office/powerpoint/2010/main" val="368379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Impact of Technology on Society and vice versa</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4916556"/>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chemeClr val="tx1"/>
                </a:solidFill>
              </a:rPr>
              <a:t>Negative impact:</a:t>
            </a:r>
          </a:p>
          <a:p>
            <a:pPr marL="457200" indent="-457200" algn="just">
              <a:buClr>
                <a:schemeClr val="tx1"/>
              </a:buClr>
              <a:buSzPct val="71000"/>
              <a:buFont typeface="Wingdings" panose="05000000000000000000" pitchFamily="2" charset="2"/>
              <a:buChar char="Ø"/>
            </a:pPr>
            <a:r>
              <a:rPr lang="en-US" sz="2800" dirty="0">
                <a:solidFill>
                  <a:schemeClr val="tx1"/>
                </a:solidFill>
              </a:rPr>
              <a:t>Agriculture : Artificially created fertilizer creates more run-off pollution for the environment </a:t>
            </a:r>
          </a:p>
          <a:p>
            <a:pPr marL="457200" indent="-457200" algn="l">
              <a:buClr>
                <a:schemeClr val="tx1"/>
              </a:buClr>
              <a:buSzPct val="71000"/>
              <a:buFont typeface="Wingdings" panose="05000000000000000000" pitchFamily="2" charset="2"/>
              <a:buChar char="Ø"/>
            </a:pPr>
            <a:r>
              <a:rPr lang="en-US" sz="2800" dirty="0">
                <a:solidFill>
                  <a:schemeClr val="tx1"/>
                </a:solidFill>
              </a:rPr>
              <a:t>Travel/Transportation: Increases deaths/accidents and pollution</a:t>
            </a:r>
          </a:p>
          <a:p>
            <a:pPr marL="457200" indent="-457200" algn="l">
              <a:buClr>
                <a:schemeClr val="tx1"/>
              </a:buClr>
              <a:buSzPct val="71000"/>
              <a:buFont typeface="Wingdings" panose="05000000000000000000" pitchFamily="2" charset="2"/>
              <a:buChar char="Ø"/>
            </a:pPr>
            <a:r>
              <a:rPr lang="en-US" sz="2800" dirty="0">
                <a:solidFill>
                  <a:schemeClr val="tx1"/>
                </a:solidFill>
              </a:rPr>
              <a:t>Communication : Become a society reliant on social media and communication devices</a:t>
            </a:r>
          </a:p>
          <a:p>
            <a:pPr marL="457200" indent="-457200" algn="l">
              <a:buClr>
                <a:schemeClr val="tx1"/>
              </a:buClr>
              <a:buSzPct val="71000"/>
              <a:buFont typeface="Wingdings" panose="05000000000000000000" pitchFamily="2" charset="2"/>
              <a:buChar char="Ø"/>
            </a:pPr>
            <a:r>
              <a:rPr lang="en-US" sz="2800" dirty="0">
                <a:solidFill>
                  <a:schemeClr val="tx1"/>
                </a:solidFill>
              </a:rPr>
              <a:t>Education: Students can use technology in inappropriate ways ( adults do to sometimes)</a:t>
            </a:r>
          </a:p>
        </p:txBody>
      </p:sp>
    </p:spTree>
    <p:extLst>
      <p:ext uri="{BB962C8B-B14F-4D97-AF65-F5344CB8AC3E}">
        <p14:creationId xmlns:p14="http://schemas.microsoft.com/office/powerpoint/2010/main" val="2632444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Impact of Technology on Society and vice versa</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901147"/>
          </a:xfrm>
        </p:spPr>
        <p:txBody>
          <a:bodyPr>
            <a:normAutofit fontScale="92500" lnSpcReduction="20000"/>
          </a:bodyPr>
          <a:lstStyle/>
          <a:p>
            <a:pPr algn="just">
              <a:buClr>
                <a:schemeClr val="tx1"/>
              </a:buClr>
              <a:buSzPct val="71000"/>
            </a:pPr>
            <a:r>
              <a:rPr lang="en-US" sz="2800" dirty="0">
                <a:solidFill>
                  <a:schemeClr val="tx1"/>
                </a:solidFill>
              </a:rPr>
              <a:t>How society influence technology?</a:t>
            </a:r>
          </a:p>
          <a:p>
            <a:pPr marL="457200" indent="-457200" algn="just">
              <a:buClr>
                <a:schemeClr val="tx1"/>
              </a:buClr>
              <a:buSzPct val="71000"/>
              <a:buFont typeface="Wingdings" panose="05000000000000000000" pitchFamily="2" charset="2"/>
              <a:buChar char="v"/>
            </a:pPr>
            <a:r>
              <a:rPr lang="en-US" sz="2800" dirty="0">
                <a:solidFill>
                  <a:schemeClr val="tx1"/>
                </a:solidFill>
              </a:rPr>
              <a:t>“Necessity is the mother of invention.”</a:t>
            </a:r>
          </a:p>
          <a:p>
            <a:pPr algn="just">
              <a:buClr>
                <a:schemeClr val="tx1"/>
              </a:buClr>
              <a:buSzPct val="71000"/>
            </a:pPr>
            <a:endParaRPr lang="en-US" sz="2800" dirty="0">
              <a:solidFill>
                <a:schemeClr val="tx1"/>
              </a:solidFill>
            </a:endParaRPr>
          </a:p>
        </p:txBody>
      </p:sp>
      <p:pic>
        <p:nvPicPr>
          <p:cNvPr id="2050" name="Picture 2" descr="The Impact of Digital Technology on Society and Economic Growth - IMF F&amp;D  Magazine - June 2018 | Volume 55 | Number 2">
            <a:extLst>
              <a:ext uri="{FF2B5EF4-FFF2-40B4-BE49-F238E27FC236}">
                <a16:creationId xmlns:a16="http://schemas.microsoft.com/office/drawing/2014/main" id="{DE6DF74C-F1BD-4F43-AE0F-9D747A976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089" y="2262809"/>
            <a:ext cx="7961732" cy="3433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439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Impact of Technology on Society and vice versa</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fontScale="92500" lnSpcReduction="20000"/>
          </a:bodyPr>
          <a:lstStyle/>
          <a:p>
            <a:pPr algn="just">
              <a:buClr>
                <a:schemeClr val="tx1"/>
              </a:buClr>
              <a:buSzPct val="71000"/>
            </a:pPr>
            <a:r>
              <a:rPr lang="en-US" sz="2800" dirty="0">
                <a:solidFill>
                  <a:schemeClr val="tx1"/>
                </a:solidFill>
              </a:rPr>
              <a:t>How society influence technology?</a:t>
            </a:r>
          </a:p>
          <a:p>
            <a:pPr marL="457200" indent="-457200" algn="just">
              <a:buClr>
                <a:schemeClr val="tx1"/>
              </a:buClr>
              <a:buSzPct val="71000"/>
              <a:buFont typeface="Wingdings" panose="05000000000000000000" pitchFamily="2" charset="2"/>
              <a:buChar char="q"/>
            </a:pPr>
            <a:r>
              <a:rPr lang="en-US" sz="2800" b="0" i="0" dirty="0">
                <a:solidFill>
                  <a:srgbClr val="282829"/>
                </a:solidFill>
                <a:effectLst/>
                <a:latin typeface="-apple-system"/>
              </a:rPr>
              <a:t>Society needs a device. </a:t>
            </a:r>
            <a:r>
              <a:rPr lang="en-US" sz="2800" dirty="0">
                <a:solidFill>
                  <a:srgbClr val="282829"/>
                </a:solidFill>
                <a:latin typeface="-apple-system"/>
              </a:rPr>
              <a:t>T</a:t>
            </a:r>
            <a:r>
              <a:rPr lang="en-US" sz="2800" b="0" i="0" dirty="0">
                <a:solidFill>
                  <a:srgbClr val="282829"/>
                </a:solidFill>
                <a:effectLst/>
                <a:latin typeface="-apple-system"/>
              </a:rPr>
              <a:t>echnology are applied to invent it. Technology are used to improve it.</a:t>
            </a:r>
          </a:p>
          <a:p>
            <a:pPr marL="457200" indent="-457200" algn="just">
              <a:buClr>
                <a:schemeClr val="tx1"/>
              </a:buClr>
              <a:buSzPct val="71000"/>
              <a:buFont typeface="Wingdings" panose="05000000000000000000" pitchFamily="2" charset="2"/>
              <a:buChar char="q"/>
            </a:pPr>
            <a:r>
              <a:rPr lang="en-US" sz="2800" dirty="0">
                <a:solidFill>
                  <a:schemeClr val="tx1"/>
                </a:solidFill>
              </a:rPr>
              <a:t>Technology are applied in finding a substitute. Why? To satisfy an insatiable society . </a:t>
            </a:r>
          </a:p>
          <a:p>
            <a:pPr marL="457200" indent="-457200" algn="just">
              <a:buClr>
                <a:schemeClr val="tx1"/>
              </a:buClr>
              <a:buSzPct val="71000"/>
              <a:buFont typeface="Wingdings" panose="05000000000000000000" pitchFamily="2" charset="2"/>
              <a:buChar char="q"/>
            </a:pPr>
            <a:r>
              <a:rPr lang="en-US" sz="2800" dirty="0">
                <a:solidFill>
                  <a:schemeClr val="tx1"/>
                </a:solidFill>
              </a:rPr>
              <a:t>Therefore society has influenced the development of technology by its demands. </a:t>
            </a:r>
          </a:p>
          <a:p>
            <a:pPr marL="457200" indent="-457200" algn="just">
              <a:buClr>
                <a:schemeClr val="tx1"/>
              </a:buClr>
              <a:buSzPct val="71000"/>
              <a:buFont typeface="Wingdings" panose="05000000000000000000" pitchFamily="2" charset="2"/>
              <a:buChar char="q"/>
            </a:pPr>
            <a:r>
              <a:rPr lang="en-US" sz="2800" dirty="0">
                <a:solidFill>
                  <a:schemeClr val="tx1"/>
                </a:solidFill>
              </a:rPr>
              <a:t>This is not saying that the development of technology is entirely due to the demands of society. </a:t>
            </a:r>
          </a:p>
          <a:p>
            <a:pPr marL="457200" indent="-457200" algn="just">
              <a:buClr>
                <a:schemeClr val="tx1"/>
              </a:buClr>
              <a:buSzPct val="71000"/>
              <a:buFont typeface="Wingdings" panose="05000000000000000000" pitchFamily="2" charset="2"/>
              <a:buChar char="q"/>
            </a:pPr>
            <a:r>
              <a:rPr lang="en-US" sz="2800" dirty="0">
                <a:solidFill>
                  <a:schemeClr val="tx1"/>
                </a:solidFill>
              </a:rPr>
              <a:t>Other factors, such as discovery, have also influenced the development of technology but it is society that has influenced its application.</a:t>
            </a:r>
          </a:p>
          <a:p>
            <a:pPr algn="just">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3819385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Impact of Technology on Society and vice versa</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fontScale="85000" lnSpcReduction="20000"/>
          </a:bodyPr>
          <a:lstStyle/>
          <a:p>
            <a:pPr algn="just">
              <a:buClr>
                <a:schemeClr val="tx1"/>
              </a:buClr>
              <a:buSzPct val="71000"/>
            </a:pPr>
            <a:r>
              <a:rPr lang="en-US" sz="2800" dirty="0">
                <a:solidFill>
                  <a:schemeClr val="tx1"/>
                </a:solidFill>
              </a:rPr>
              <a:t>How society influence technology?</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S</a:t>
            </a:r>
            <a:r>
              <a:rPr lang="en-US" sz="2800" b="0" i="0" dirty="0">
                <a:solidFill>
                  <a:srgbClr val="282829"/>
                </a:solidFill>
                <a:effectLst/>
                <a:latin typeface="-apple-system"/>
              </a:rPr>
              <a:t>ociety and its values drive technological development. </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S</a:t>
            </a:r>
            <a:r>
              <a:rPr lang="en-US" sz="2800" b="0" i="0" dirty="0">
                <a:solidFill>
                  <a:srgbClr val="282829"/>
                </a:solidFill>
                <a:effectLst/>
                <a:latin typeface="-apple-system"/>
              </a:rPr>
              <a:t>ociety always has options as to how people use technology, how that technology develops and how it ultimately impacts society.</a:t>
            </a:r>
          </a:p>
          <a:p>
            <a:pPr marL="457200" indent="-457200" algn="just">
              <a:buClr>
                <a:schemeClr val="tx1"/>
              </a:buClr>
              <a:buSzPct val="71000"/>
              <a:buFont typeface="Wingdings" panose="05000000000000000000" pitchFamily="2" charset="2"/>
              <a:buChar char="q"/>
            </a:pPr>
            <a:r>
              <a:rPr lang="en-US" sz="2800" b="0" i="0" dirty="0">
                <a:solidFill>
                  <a:srgbClr val="282829"/>
                </a:solidFill>
                <a:effectLst/>
                <a:latin typeface="-apple-system"/>
              </a:rPr>
              <a:t>The development of technologies is heavily dependent on demand. </a:t>
            </a:r>
          </a:p>
          <a:p>
            <a:pPr marL="457200" indent="-457200" algn="just">
              <a:buClr>
                <a:schemeClr val="tx1"/>
              </a:buClr>
              <a:buSzPct val="71000"/>
              <a:buFont typeface="Wingdings" panose="05000000000000000000" pitchFamily="2" charset="2"/>
              <a:buChar char="q"/>
            </a:pPr>
            <a:r>
              <a:rPr lang="en-US" sz="2800" dirty="0">
                <a:solidFill>
                  <a:schemeClr val="tx1"/>
                </a:solidFill>
              </a:rPr>
              <a:t>The true relationship between society and technology likely exists somewhere in between social and technological determinism. </a:t>
            </a:r>
          </a:p>
          <a:p>
            <a:pPr marL="457200" indent="-457200" algn="just">
              <a:buClr>
                <a:schemeClr val="tx1"/>
              </a:buClr>
              <a:buSzPct val="71000"/>
              <a:buFont typeface="Wingdings" panose="05000000000000000000" pitchFamily="2" charset="2"/>
              <a:buChar char="q"/>
            </a:pPr>
            <a:r>
              <a:rPr lang="en-US" sz="2800" dirty="0">
                <a:solidFill>
                  <a:schemeClr val="tx1"/>
                </a:solidFill>
              </a:rPr>
              <a:t>At times, society influences technological development, and that development goes on to influence society.</a:t>
            </a:r>
          </a:p>
        </p:txBody>
      </p:sp>
    </p:spTree>
    <p:extLst>
      <p:ext uri="{BB962C8B-B14F-4D97-AF65-F5344CB8AC3E}">
        <p14:creationId xmlns:p14="http://schemas.microsoft.com/office/powerpoint/2010/main" val="4170769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Using Technology for Poverty Alleviation</a:t>
            </a:r>
          </a:p>
        </p:txBody>
      </p:sp>
      <p:pic>
        <p:nvPicPr>
          <p:cNvPr id="3074" name="Picture 2" descr="Assignment 7: E-Waste and the Digital Divide | jasonamst475">
            <a:extLst>
              <a:ext uri="{FF2B5EF4-FFF2-40B4-BE49-F238E27FC236}">
                <a16:creationId xmlns:a16="http://schemas.microsoft.com/office/drawing/2014/main" id="{3ACB504F-FA7A-4E9E-ABF2-488F1C53C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8" y="1004925"/>
            <a:ext cx="4814432" cy="24240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an developing countries take a shortcut to a clean energy future? | World  Economic Forum">
            <a:extLst>
              <a:ext uri="{FF2B5EF4-FFF2-40B4-BE49-F238E27FC236}">
                <a16:creationId xmlns:a16="http://schemas.microsoft.com/office/drawing/2014/main" id="{62E1CBBD-1CA8-4B4B-A485-C8DF7BCFBE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5983" y="3429000"/>
            <a:ext cx="4909839" cy="3248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909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Using Technology for Poverty Alleviation</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More than one third of population lacks resource and information to meet basics needs like food, education, shelter, health.</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Throughout history technology has been a powerful instrument for economic and social development.</a:t>
            </a:r>
          </a:p>
          <a:p>
            <a:pPr marL="457200" indent="-457200" algn="just">
              <a:buClr>
                <a:schemeClr val="tx1"/>
              </a:buClr>
              <a:buSzPct val="71000"/>
              <a:buFont typeface="Wingdings" panose="05000000000000000000" pitchFamily="2" charset="2"/>
              <a:buChar char="q"/>
            </a:pPr>
            <a:r>
              <a:rPr lang="en-US" sz="2800" dirty="0">
                <a:solidFill>
                  <a:schemeClr val="tx1"/>
                </a:solidFill>
              </a:rPr>
              <a:t>Technology played a critical role in reducing poverty in vast areas of the world in the past and can play today a crucial function in the battle against poverty. </a:t>
            </a:r>
          </a:p>
        </p:txBody>
      </p:sp>
    </p:spTree>
    <p:extLst>
      <p:ext uri="{BB962C8B-B14F-4D97-AF65-F5344CB8AC3E}">
        <p14:creationId xmlns:p14="http://schemas.microsoft.com/office/powerpoint/2010/main" val="1615572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Using Technology for Poverty Alleviation</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fontScale="85000" lnSpcReduction="20000"/>
          </a:bodyPr>
          <a:lstStyle/>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Technology can be employed to a variety of fields, </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from increasing agricultural productivity to the generation of cheap energy,</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 from providing clean water to improving health. </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In particular, information and communications technology (ICT) can address the problem of poverty by increasing people’s access to </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education,</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health, </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financial services</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Likewise, small businesses and social enterprises creating access to primary goods are greatly helped by new technologies.</a:t>
            </a:r>
            <a:endParaRPr lang="en-US" sz="2800" dirty="0">
              <a:solidFill>
                <a:schemeClr val="tx1"/>
              </a:solidFill>
            </a:endParaRPr>
          </a:p>
        </p:txBody>
      </p:sp>
    </p:spTree>
    <p:extLst>
      <p:ext uri="{BB962C8B-B14F-4D97-AF65-F5344CB8AC3E}">
        <p14:creationId xmlns:p14="http://schemas.microsoft.com/office/powerpoint/2010/main" val="75697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Health Related Issues for an IT Professional</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Lower Back Pain</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Carpal Tunnel Syndrome(CTS) : Wrist Pain</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Anxiety and Stress</a:t>
            </a:r>
          </a:p>
          <a:p>
            <a:pPr marL="457200" indent="-457200" algn="l">
              <a:buClr>
                <a:schemeClr val="tx1"/>
              </a:buClr>
              <a:buSzPct val="71000"/>
              <a:buFont typeface="Wingdings" panose="05000000000000000000" pitchFamily="2" charset="2"/>
              <a:buChar char="q"/>
            </a:pPr>
            <a:r>
              <a:rPr lang="en-US" sz="2800" dirty="0">
                <a:solidFill>
                  <a:srgbClr val="282829"/>
                </a:solidFill>
                <a:latin typeface="-apple-system"/>
              </a:rPr>
              <a:t>Heart Diseases</a:t>
            </a:r>
          </a:p>
          <a:p>
            <a:pPr marL="457200" indent="-457200" algn="l">
              <a:buClr>
                <a:schemeClr val="tx1"/>
              </a:buClr>
              <a:buSzPct val="71000"/>
              <a:buFont typeface="Wingdings" panose="05000000000000000000" pitchFamily="2" charset="2"/>
              <a:buChar char="q"/>
            </a:pPr>
            <a:r>
              <a:rPr lang="en-US" sz="2800" dirty="0">
                <a:solidFill>
                  <a:srgbClr val="282829"/>
                </a:solidFill>
                <a:latin typeface="-apple-system"/>
              </a:rPr>
              <a:t>Insomnia : Difficulty in Sleeping</a:t>
            </a:r>
          </a:p>
          <a:p>
            <a:pPr marL="457200" indent="-457200" algn="l">
              <a:buClr>
                <a:schemeClr val="tx1"/>
              </a:buClr>
              <a:buSzPct val="71000"/>
              <a:buFont typeface="Wingdings" panose="05000000000000000000" pitchFamily="2" charset="2"/>
              <a:buChar char="q"/>
            </a:pPr>
            <a:r>
              <a:rPr lang="en-US" sz="2800" dirty="0">
                <a:solidFill>
                  <a:srgbClr val="282829"/>
                </a:solidFill>
                <a:latin typeface="-apple-system"/>
              </a:rPr>
              <a:t>Neck Pain</a:t>
            </a:r>
          </a:p>
          <a:p>
            <a:pPr marL="457200" indent="-457200" algn="l">
              <a:buClr>
                <a:schemeClr val="tx1"/>
              </a:buClr>
              <a:buSzPct val="71000"/>
              <a:buFont typeface="Wingdings" panose="05000000000000000000" pitchFamily="2" charset="2"/>
              <a:buChar char="q"/>
            </a:pPr>
            <a:r>
              <a:rPr lang="en-US" sz="2800" dirty="0">
                <a:solidFill>
                  <a:srgbClr val="282829"/>
                </a:solidFill>
                <a:latin typeface="-apple-system"/>
              </a:rPr>
              <a:t>Computer Vision Syndrome</a:t>
            </a:r>
          </a:p>
          <a:p>
            <a:pPr marL="457200" indent="-457200" algn="l">
              <a:buClr>
                <a:schemeClr val="tx1"/>
              </a:buClr>
              <a:buSzPct val="71000"/>
              <a:buFont typeface="Wingdings" panose="05000000000000000000" pitchFamily="2" charset="2"/>
              <a:buChar char="q"/>
            </a:pPr>
            <a:r>
              <a:rPr lang="en-US" sz="2800" dirty="0">
                <a:solidFill>
                  <a:srgbClr val="282829"/>
                </a:solidFill>
                <a:latin typeface="-apple-system"/>
              </a:rPr>
              <a:t>Overweight</a:t>
            </a:r>
            <a:br>
              <a:rPr lang="en-US" sz="2800" dirty="0">
                <a:solidFill>
                  <a:srgbClr val="282829"/>
                </a:solidFill>
                <a:latin typeface="-apple-system"/>
              </a:rPr>
            </a:br>
            <a:endParaRPr lang="en-US" sz="2800" dirty="0">
              <a:solidFill>
                <a:srgbClr val="282829"/>
              </a:solidFill>
              <a:latin typeface="-apple-system"/>
            </a:endParaRPr>
          </a:p>
          <a:p>
            <a:pPr marL="457200" indent="-457200" algn="just">
              <a:buClr>
                <a:schemeClr val="tx1"/>
              </a:buClr>
              <a:buSzPct val="71000"/>
              <a:buFont typeface="Wingdings" panose="05000000000000000000" pitchFamily="2" charset="2"/>
              <a:buChar char="q"/>
            </a:pPr>
            <a:endParaRPr lang="en-US" sz="2800" dirty="0">
              <a:solidFill>
                <a:srgbClr val="282829"/>
              </a:solidFill>
              <a:latin typeface="-apple-system"/>
            </a:endParaRPr>
          </a:p>
          <a:p>
            <a:pPr marL="457200" indent="-457200" algn="just">
              <a:buClr>
                <a:schemeClr val="tx1"/>
              </a:buClr>
              <a:buSzPct val="71000"/>
              <a:buFont typeface="Wingdings" panose="05000000000000000000" pitchFamily="2" charset="2"/>
              <a:buChar char="q"/>
            </a:pPr>
            <a:endParaRPr lang="en-US" sz="2800" dirty="0">
              <a:solidFill>
                <a:srgbClr val="282829"/>
              </a:solidFill>
              <a:latin typeface="-apple-system"/>
            </a:endParaRPr>
          </a:p>
        </p:txBody>
      </p:sp>
    </p:spTree>
    <p:extLst>
      <p:ext uri="{BB962C8B-B14F-4D97-AF65-F5344CB8AC3E}">
        <p14:creationId xmlns:p14="http://schemas.microsoft.com/office/powerpoint/2010/main" val="4005025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Internet and Society</a:t>
            </a:r>
          </a:p>
        </p:txBody>
      </p:sp>
      <p:pic>
        <p:nvPicPr>
          <p:cNvPr id="7" name="Picture 6">
            <a:extLst>
              <a:ext uri="{FF2B5EF4-FFF2-40B4-BE49-F238E27FC236}">
                <a16:creationId xmlns:a16="http://schemas.microsoft.com/office/drawing/2014/main" id="{8CAB43ED-C559-4FC9-89B2-2FC92D4CB8B9}"/>
              </a:ext>
            </a:extLst>
          </p:cNvPr>
          <p:cNvPicPr>
            <a:picLocks noChangeAspect="1"/>
          </p:cNvPicPr>
          <p:nvPr/>
        </p:nvPicPr>
        <p:blipFill>
          <a:blip r:embed="rId3"/>
          <a:stretch>
            <a:fillRect/>
          </a:stretch>
        </p:blipFill>
        <p:spPr>
          <a:xfrm>
            <a:off x="1281566" y="1112147"/>
            <a:ext cx="8094253" cy="4612792"/>
          </a:xfrm>
          <a:prstGeom prst="rect">
            <a:avLst/>
          </a:prstGeom>
        </p:spPr>
      </p:pic>
    </p:spTree>
    <p:extLst>
      <p:ext uri="{BB962C8B-B14F-4D97-AF65-F5344CB8AC3E}">
        <p14:creationId xmlns:p14="http://schemas.microsoft.com/office/powerpoint/2010/main" val="3538718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Internet and Society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The evolution of the Internet over the past several decades and the use of the Internet into people’s daily lives makes one wonder how society operated without it for so long.</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The Internet is used in all areas of people’s lives, from education to entertainment, from information to interaction.</a:t>
            </a:r>
          </a:p>
          <a:p>
            <a:pPr marL="457200" indent="-457200" algn="just">
              <a:buClr>
                <a:schemeClr val="tx1"/>
              </a:buClr>
              <a:buSzPct val="71000"/>
              <a:buFont typeface="Wingdings" panose="05000000000000000000" pitchFamily="2" charset="2"/>
              <a:buChar char="q"/>
            </a:pPr>
            <a:r>
              <a:rPr lang="en-US" sz="2800" dirty="0">
                <a:solidFill>
                  <a:schemeClr val="tx1"/>
                </a:solidFill>
              </a:rPr>
              <a:t>Face-to-face, physical interaction can be replaced (not yet eliminated) via the Internet.</a:t>
            </a:r>
          </a:p>
        </p:txBody>
      </p:sp>
    </p:spTree>
    <p:extLst>
      <p:ext uri="{BB962C8B-B14F-4D97-AF65-F5344CB8AC3E}">
        <p14:creationId xmlns:p14="http://schemas.microsoft.com/office/powerpoint/2010/main" val="3489264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Internet and Society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fontScale="92500"/>
          </a:bodyPr>
          <a:lstStyle/>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The Internet is available almost everywhere in the world. </a:t>
            </a:r>
          </a:p>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With the ongoing, rapid development of mobile applications it is anticipated that the Internet will soon be available absolutely everywhere in the world.</a:t>
            </a:r>
          </a:p>
          <a:p>
            <a:pPr marL="457200" indent="-457200" algn="just">
              <a:buClr>
                <a:schemeClr val="tx1"/>
              </a:buClr>
              <a:buSzPct val="71000"/>
              <a:buFont typeface="Wingdings" panose="05000000000000000000" pitchFamily="2" charset="2"/>
              <a:buChar char="q"/>
            </a:pPr>
            <a:r>
              <a:rPr lang="en-US" sz="2800" dirty="0">
                <a:solidFill>
                  <a:schemeClr val="tx1"/>
                </a:solidFill>
              </a:rPr>
              <a:t>This is an exciting advancement for society so that all people may be united in communication.</a:t>
            </a:r>
          </a:p>
          <a:p>
            <a:pPr marL="457200" indent="-457200" algn="just">
              <a:buClr>
                <a:schemeClr val="tx1"/>
              </a:buClr>
              <a:buSzPct val="71000"/>
              <a:buFont typeface="Wingdings" panose="05000000000000000000" pitchFamily="2" charset="2"/>
              <a:buChar char="q"/>
            </a:pPr>
            <a:r>
              <a:rPr lang="en-US" sz="2800" dirty="0">
                <a:solidFill>
                  <a:srgbClr val="0A0A0A"/>
                </a:solidFill>
                <a:latin typeface="PT Sans"/>
              </a:rPr>
              <a:t>W</a:t>
            </a:r>
            <a:r>
              <a:rPr lang="en-US" sz="2800" b="0" i="0" dirty="0">
                <a:solidFill>
                  <a:srgbClr val="0A0A0A"/>
                </a:solidFill>
                <a:effectLst/>
                <a:latin typeface="PT Sans"/>
              </a:rPr>
              <a:t>ith all major technological changes, there are positive and negative effects of the internet on the society too.</a:t>
            </a:r>
            <a:endParaRPr lang="en-US" sz="2800" dirty="0">
              <a:solidFill>
                <a:schemeClr val="tx1"/>
              </a:solidFill>
            </a:endParaRPr>
          </a:p>
        </p:txBody>
      </p:sp>
    </p:spTree>
    <p:extLst>
      <p:ext uri="{BB962C8B-B14F-4D97-AF65-F5344CB8AC3E}">
        <p14:creationId xmlns:p14="http://schemas.microsoft.com/office/powerpoint/2010/main" val="2886983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Internet and Society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Positive Impact:</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Effective communication and Instant Messaging</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Improves business interactions and transactions</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Banking and Online shopping</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Access free information</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Online education, online library</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Online jobs </a:t>
            </a:r>
          </a:p>
        </p:txBody>
      </p:sp>
    </p:spTree>
    <p:extLst>
      <p:ext uri="{BB962C8B-B14F-4D97-AF65-F5344CB8AC3E}">
        <p14:creationId xmlns:p14="http://schemas.microsoft.com/office/powerpoint/2010/main" val="108186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wipe(left)">
                                      <p:cBhvr>
                                        <p:cTn id="7" dur="500"/>
                                        <p:tgtEl>
                                          <p:spTgt spid="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left)">
                                      <p:cBhvr>
                                        <p:cTn id="10" dur="500"/>
                                        <p:tgtEl>
                                          <p:spTgt spid="6">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wipe(left)">
                                      <p:cBhvr>
                                        <p:cTn id="13" dur="500"/>
                                        <p:tgtEl>
                                          <p:spTgt spid="6">
                                            <p:txEl>
                                              <p:pRg st="3" end="3"/>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wipe(left)">
                                      <p:cBhvr>
                                        <p:cTn id="16" dur="500"/>
                                        <p:tgtEl>
                                          <p:spTgt spid="6">
                                            <p:txEl>
                                              <p:pRg st="4" end="4"/>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wipe(left)">
                                      <p:cBhvr>
                                        <p:cTn id="19" dur="500"/>
                                        <p:tgtEl>
                                          <p:spTgt spid="6">
                                            <p:txEl>
                                              <p:pRg st="5" end="5"/>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wipe(left)">
                                      <p:cBhvr>
                                        <p:cTn id="2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Internet and Society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Negative Impact:</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Easy availability of illegal or inappropriate materials online </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Addiction to social networks</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Some may use the internet to hack into people’s accounts</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 Misuse the internet for spreading hate and terrorism</a:t>
            </a:r>
          </a:p>
          <a:p>
            <a:pPr marL="914389" lvl="1" indent="-457200" algn="just">
              <a:buClr>
                <a:schemeClr val="tx1"/>
              </a:buClr>
              <a:buSzPct val="71000"/>
              <a:buFont typeface="Wingdings" panose="05000000000000000000" pitchFamily="2" charset="2"/>
              <a:buChar char="Ø"/>
            </a:pPr>
            <a:r>
              <a:rPr lang="en-US" sz="2600" dirty="0">
                <a:solidFill>
                  <a:srgbClr val="282829"/>
                </a:solidFill>
                <a:latin typeface="-apple-system"/>
              </a:rPr>
              <a:t>Cybercrimes </a:t>
            </a:r>
          </a:p>
        </p:txBody>
      </p:sp>
    </p:spTree>
    <p:extLst>
      <p:ext uri="{BB962C8B-B14F-4D97-AF65-F5344CB8AC3E}">
        <p14:creationId xmlns:p14="http://schemas.microsoft.com/office/powerpoint/2010/main" val="293966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wipe(left)">
                                      <p:cBhvr>
                                        <p:cTn id="7" dur="500"/>
                                        <p:tgtEl>
                                          <p:spTgt spid="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left)">
                                      <p:cBhvr>
                                        <p:cTn id="10" dur="500"/>
                                        <p:tgtEl>
                                          <p:spTgt spid="6">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wipe(left)">
                                      <p:cBhvr>
                                        <p:cTn id="13" dur="500"/>
                                        <p:tgtEl>
                                          <p:spTgt spid="6">
                                            <p:txEl>
                                              <p:pRg st="3" end="3"/>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wipe(left)">
                                      <p:cBhvr>
                                        <p:cTn id="16" dur="500"/>
                                        <p:tgtEl>
                                          <p:spTgt spid="6">
                                            <p:txEl>
                                              <p:pRg st="4" end="4"/>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wipe(left)">
                                      <p:cBhvr>
                                        <p:cTn id="19"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Digital Divide and Bridging the Digital Divide</a:t>
            </a:r>
          </a:p>
        </p:txBody>
      </p:sp>
      <p:pic>
        <p:nvPicPr>
          <p:cNvPr id="2050" name="Picture 2" descr="The Digital Divide: Bridge that Gap! - OpenSesame">
            <a:extLst>
              <a:ext uri="{FF2B5EF4-FFF2-40B4-BE49-F238E27FC236}">
                <a16:creationId xmlns:a16="http://schemas.microsoft.com/office/drawing/2014/main" id="{D71370E3-2C06-434F-A203-8B92ED3BD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170746"/>
            <a:ext cx="4814434" cy="225825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ridging the Digital Divide and the Impact of Net Neutrality | by Malcolm  Clark | Medium">
            <a:extLst>
              <a:ext uri="{FF2B5EF4-FFF2-40B4-BE49-F238E27FC236}">
                <a16:creationId xmlns:a16="http://schemas.microsoft.com/office/drawing/2014/main" id="{D9050542-A914-4448-BD54-03392F3147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4034" y="3696529"/>
            <a:ext cx="433999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0557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Digital Divide and Bridging the Digital Divide</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fontScale="92500" lnSpcReduction="20000"/>
          </a:bodyPr>
          <a:lstStyle/>
          <a:p>
            <a:pPr marL="457200" indent="-457200" algn="just">
              <a:buClr>
                <a:schemeClr val="tx1"/>
              </a:buClr>
              <a:buSzPct val="71000"/>
              <a:buFont typeface="Wingdings" panose="05000000000000000000" pitchFamily="2" charset="2"/>
              <a:buChar char="q"/>
            </a:pPr>
            <a:r>
              <a:rPr lang="en-US" sz="2800" dirty="0">
                <a:solidFill>
                  <a:schemeClr val="tx1"/>
                </a:solidFill>
                <a:latin typeface="Times New Roman" panose="02020603050405020304" pitchFamily="18" charset="0"/>
                <a:cs typeface="Times New Roman" panose="02020603050405020304" pitchFamily="18" charset="0"/>
              </a:rPr>
              <a:t>The digital divide is the gap that exists between individuals who have access to modern information and communication technology and those who lack access.</a:t>
            </a:r>
          </a:p>
          <a:p>
            <a:pPr marL="914389" lvl="1" indent="-457200" algn="just">
              <a:buClr>
                <a:schemeClr val="tx1"/>
              </a:buClr>
              <a:buSzPct val="71000"/>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Digital inequality is evident between communities living in urban areas and those living in rural settlements; </a:t>
            </a:r>
          </a:p>
          <a:p>
            <a:pPr marL="914389" lvl="1" indent="-457200" algn="just">
              <a:buClr>
                <a:schemeClr val="tx1"/>
              </a:buClr>
              <a:buSzPct val="71000"/>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between socioeconomic groups; </a:t>
            </a:r>
          </a:p>
          <a:p>
            <a:pPr marL="914389" lvl="1" indent="-457200" algn="just">
              <a:buClr>
                <a:schemeClr val="tx1"/>
              </a:buClr>
              <a:buSzPct val="71000"/>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between less economically developed countries and more economically developed countries; </a:t>
            </a:r>
          </a:p>
          <a:p>
            <a:pPr marL="914389" lvl="1" indent="-457200" algn="just">
              <a:buClr>
                <a:schemeClr val="tx1"/>
              </a:buClr>
              <a:buSzPct val="71000"/>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between the educated and uneducated population.</a:t>
            </a:r>
          </a:p>
          <a:p>
            <a:pPr marL="457200" indent="-457200" algn="just">
              <a:buClr>
                <a:schemeClr val="tx1"/>
              </a:buClr>
              <a:buSzPct val="71000"/>
              <a:buFont typeface="Wingdings" panose="05000000000000000000" pitchFamily="2" charset="2"/>
              <a:buChar char="q"/>
            </a:pPr>
            <a:r>
              <a:rPr lang="en-US" sz="2600" dirty="0">
                <a:solidFill>
                  <a:schemeClr val="tx1"/>
                </a:solidFill>
                <a:latin typeface="Times New Roman" panose="02020603050405020304" pitchFamily="18" charset="0"/>
                <a:cs typeface="Times New Roman" panose="02020603050405020304" pitchFamily="18" charset="0"/>
              </a:rPr>
              <a:t>Individuals with access to a broadband connection can be digitally split. </a:t>
            </a:r>
          </a:p>
          <a:p>
            <a:pPr marL="457200" indent="-457200" algn="just">
              <a:buClr>
                <a:schemeClr val="tx1"/>
              </a:buClr>
              <a:buSzPct val="71000"/>
              <a:buFont typeface="Wingdings" panose="05000000000000000000" pitchFamily="2" charset="2"/>
              <a:buChar char="q"/>
            </a:pPr>
            <a:r>
              <a:rPr lang="en-US" sz="2600" dirty="0">
                <a:solidFill>
                  <a:schemeClr val="tx1"/>
                </a:solidFill>
                <a:latin typeface="Times New Roman" panose="02020603050405020304" pitchFamily="18" charset="0"/>
                <a:cs typeface="Times New Roman" panose="02020603050405020304" pitchFamily="18" charset="0"/>
              </a:rPr>
              <a:t>How? Low-performance computers, limited broadband speeds and limited access to subscription-based content widen the gap.</a:t>
            </a:r>
          </a:p>
          <a:p>
            <a:pPr marL="914389" lvl="1" indent="-457200" algn="just">
              <a:buClr>
                <a:schemeClr val="tx1"/>
              </a:buClr>
              <a:buSzPct val="710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9928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Digital Divide and Bridging the Digital Divide</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lnSpcReduction="10000"/>
          </a:bodyPr>
          <a:lstStyle/>
          <a:p>
            <a:pPr marL="457200" indent="-457200" algn="just">
              <a:buClr>
                <a:schemeClr val="tx1"/>
              </a:buClr>
              <a:buSzPct val="71000"/>
              <a:buFont typeface="Wingdings" panose="05000000000000000000" pitchFamily="2" charset="2"/>
              <a:buChar char="q"/>
            </a:pPr>
            <a:r>
              <a:rPr lang="en-US" sz="2800" dirty="0">
                <a:solidFill>
                  <a:schemeClr val="tx1"/>
                </a:solidFill>
                <a:latin typeface="Times New Roman" panose="02020603050405020304" pitchFamily="18" charset="0"/>
                <a:cs typeface="Times New Roman" panose="02020603050405020304" pitchFamily="18" charset="0"/>
              </a:rPr>
              <a:t>3 Types of Digital Divide</a:t>
            </a:r>
            <a:endParaRPr lang="en-US" sz="2800" b="0" i="0" dirty="0">
              <a:solidFill>
                <a:schemeClr val="tx1"/>
              </a:solidFill>
              <a:effectLst/>
              <a:latin typeface="Times New Roman" panose="02020603050405020304" pitchFamily="18" charset="0"/>
              <a:cs typeface="Times New Roman" panose="02020603050405020304" pitchFamily="18" charset="0"/>
            </a:endParaRP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Gender Divide</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Social Divide</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Universal Access Divide</a:t>
            </a:r>
          </a:p>
          <a:p>
            <a:pPr marL="457200" indent="-457200" algn="just">
              <a:buClr>
                <a:schemeClr val="tx1"/>
              </a:buClr>
              <a:buSzPct val="71000"/>
              <a:buFont typeface="Wingdings" panose="05000000000000000000" pitchFamily="2" charset="2"/>
              <a:buChar char="q"/>
            </a:pPr>
            <a:r>
              <a:rPr lang="en-US" sz="2800" dirty="0">
                <a:solidFill>
                  <a:schemeClr val="tx1"/>
                </a:solidFill>
                <a:latin typeface="Times New Roman" panose="02020603050405020304" pitchFamily="18" charset="0"/>
                <a:cs typeface="Times New Roman" panose="02020603050405020304" pitchFamily="18" charset="0"/>
              </a:rPr>
              <a:t>Causes of Digital Divide</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Education</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Income Levels</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Geographical Restrictions</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Motivation and General Interest</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Digital Literacy</a:t>
            </a:r>
          </a:p>
          <a:p>
            <a:pPr marL="914389" lvl="1" indent="-457200" algn="just">
              <a:buClr>
                <a:schemeClr val="tx1"/>
              </a:buClr>
              <a:buSzPct val="710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9209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wipe(left)">
                                      <p:cBhvr>
                                        <p:cTn id="7" dur="500"/>
                                        <p:tgtEl>
                                          <p:spTgt spid="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left)">
                                      <p:cBhvr>
                                        <p:cTn id="10" dur="500"/>
                                        <p:tgtEl>
                                          <p:spTgt spid="6">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wipe(left)">
                                      <p:cBhvr>
                                        <p:cTn id="13" dur="500"/>
                                        <p:tgtEl>
                                          <p:spTgt spid="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wipe(left)">
                                      <p:cBhvr>
                                        <p:cTn id="18" dur="500"/>
                                        <p:tgtEl>
                                          <p:spTgt spid="6">
                                            <p:txEl>
                                              <p:pRg st="5" end="5"/>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wipe(left)">
                                      <p:cBhvr>
                                        <p:cTn id="21" dur="500"/>
                                        <p:tgtEl>
                                          <p:spTgt spid="6">
                                            <p:txEl>
                                              <p:pRg st="6" end="6"/>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6">
                                            <p:txEl>
                                              <p:pRg st="7" end="7"/>
                                            </p:txEl>
                                          </p:spTgt>
                                        </p:tgtEl>
                                        <p:attrNameLst>
                                          <p:attrName>style.visibility</p:attrName>
                                        </p:attrNameLst>
                                      </p:cBhvr>
                                      <p:to>
                                        <p:strVal val="visible"/>
                                      </p:to>
                                    </p:set>
                                    <p:animEffect transition="in" filter="wipe(left)">
                                      <p:cBhvr>
                                        <p:cTn id="24" dur="500"/>
                                        <p:tgtEl>
                                          <p:spTgt spid="6">
                                            <p:txEl>
                                              <p:pRg st="7" end="7"/>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wipe(left)">
                                      <p:cBhvr>
                                        <p:cTn id="27" dur="500"/>
                                        <p:tgtEl>
                                          <p:spTgt spid="6">
                                            <p:txEl>
                                              <p:pRg st="8" end="8"/>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6">
                                            <p:txEl>
                                              <p:pRg st="9" end="9"/>
                                            </p:txEl>
                                          </p:spTgt>
                                        </p:tgtEl>
                                        <p:attrNameLst>
                                          <p:attrName>style.visibility</p:attrName>
                                        </p:attrNameLst>
                                      </p:cBhvr>
                                      <p:to>
                                        <p:strVal val="visible"/>
                                      </p:to>
                                    </p:set>
                                    <p:animEffect transition="in" filter="wipe(left)">
                                      <p:cBhvr>
                                        <p:cTn id="30"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Digital Divide and Bridging the Digital Divide</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lnSpcReduction="10000"/>
          </a:bodyPr>
          <a:lstStyle/>
          <a:p>
            <a:pPr marL="457200" indent="-457200" algn="just">
              <a:buClr>
                <a:schemeClr val="tx1"/>
              </a:buClr>
              <a:buSzPct val="71000"/>
              <a:buFont typeface="Wingdings" panose="05000000000000000000" pitchFamily="2" charset="2"/>
              <a:buChar char="q"/>
            </a:pPr>
            <a:r>
              <a:rPr lang="en-US" sz="2800" b="0" i="0" dirty="0">
                <a:solidFill>
                  <a:schemeClr val="tx1"/>
                </a:solidFill>
                <a:effectLst/>
                <a:latin typeface="Times New Roman" panose="02020603050405020304" pitchFamily="18" charset="0"/>
                <a:cs typeface="Times New Roman" panose="02020603050405020304" pitchFamily="18" charset="0"/>
              </a:rPr>
              <a:t>How to Bridge the Digital Divide?</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Increase Digital Literacy</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Increase affordability</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Empowering users</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Improve the relevance of online content</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Internet infrastructure development</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Public awareness about gender gap in internet access</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Provide operational incentives to information and communication technology entities</a:t>
            </a:r>
          </a:p>
          <a:p>
            <a:pPr marL="914389" lvl="1" indent="-457200" algn="just">
              <a:buClr>
                <a:schemeClr val="tx1"/>
              </a:buClr>
              <a:buSzPct val="71000"/>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Encourage the establishment of cyber clubs</a:t>
            </a:r>
          </a:p>
        </p:txBody>
      </p:sp>
    </p:spTree>
    <p:extLst>
      <p:ext uri="{BB962C8B-B14F-4D97-AF65-F5344CB8AC3E}">
        <p14:creationId xmlns:p14="http://schemas.microsoft.com/office/powerpoint/2010/main" val="2599075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wipe(left)">
                                      <p:cBhvr>
                                        <p:cTn id="7" dur="500"/>
                                        <p:tgtEl>
                                          <p:spTgt spid="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left)">
                                      <p:cBhvr>
                                        <p:cTn id="10" dur="500"/>
                                        <p:tgtEl>
                                          <p:spTgt spid="6">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wipe(left)">
                                      <p:cBhvr>
                                        <p:cTn id="13" dur="500"/>
                                        <p:tgtEl>
                                          <p:spTgt spid="6">
                                            <p:txEl>
                                              <p:pRg st="3" end="3"/>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wipe(left)">
                                      <p:cBhvr>
                                        <p:cTn id="16" dur="500"/>
                                        <p:tgtEl>
                                          <p:spTgt spid="6">
                                            <p:txEl>
                                              <p:pRg st="4" end="4"/>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wipe(left)">
                                      <p:cBhvr>
                                        <p:cTn id="19" dur="500"/>
                                        <p:tgtEl>
                                          <p:spTgt spid="6">
                                            <p:txEl>
                                              <p:pRg st="5" end="5"/>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wipe(left)">
                                      <p:cBhvr>
                                        <p:cTn id="22" dur="500"/>
                                        <p:tgtEl>
                                          <p:spTgt spid="6">
                                            <p:txEl>
                                              <p:pRg st="6" end="6"/>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animEffect transition="in" filter="wipe(left)">
                                      <p:cBhvr>
                                        <p:cTn id="25" dur="500"/>
                                        <p:tgtEl>
                                          <p:spTgt spid="6">
                                            <p:txEl>
                                              <p:pRg st="7" end="7"/>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6">
                                            <p:txEl>
                                              <p:pRg st="8" end="8"/>
                                            </p:txEl>
                                          </p:spTgt>
                                        </p:tgtEl>
                                        <p:attrNameLst>
                                          <p:attrName>style.visibility</p:attrName>
                                        </p:attrNameLst>
                                      </p:cBhvr>
                                      <p:to>
                                        <p:strVal val="visible"/>
                                      </p:to>
                                    </p:set>
                                    <p:animEffect transition="in" filter="wipe(left)">
                                      <p:cBhvr>
                                        <p:cTn id="28"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Governance of Internet</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3900614"/>
            <a:ext cx="8094254" cy="2289312"/>
          </a:xfrm>
        </p:spPr>
        <p:txBody>
          <a:bodyPr>
            <a:normAutofit fontScale="85000" lnSpcReduction="10000"/>
          </a:bodyPr>
          <a:lstStyle/>
          <a:p>
            <a:pPr algn="just">
              <a:buClr>
                <a:schemeClr val="tx1"/>
              </a:buClr>
              <a:buSzPct val="71000"/>
            </a:pPr>
            <a:r>
              <a:rPr lang="en-US" sz="2800" b="0" i="1" dirty="0">
                <a:solidFill>
                  <a:srgbClr val="202122"/>
                </a:solidFill>
                <a:effectLst/>
                <a:latin typeface="Arial" panose="020B0604020202020204" pitchFamily="34" charset="0"/>
              </a:rPr>
              <a:t>Internet governance is the development and application by Governments, the private sector and civil society, in their respective roles, of shared principles, norms, rules, decision-making procedures, and programs that shape the evolution and use of the Internet.</a:t>
            </a:r>
            <a:endParaRPr lang="en-US" sz="2800" b="0" i="1" baseline="30000" dirty="0">
              <a:solidFill>
                <a:srgbClr val="0B0080"/>
              </a:solidFill>
              <a:effectLst/>
              <a:latin typeface="Arial" panose="020B0604020202020204" pitchFamily="34" charset="0"/>
            </a:endParaRPr>
          </a:p>
          <a:p>
            <a:pPr algn="just">
              <a:buClr>
                <a:schemeClr val="tx1"/>
              </a:buClr>
              <a:buSzPct val="71000"/>
            </a:pPr>
            <a:r>
              <a:rPr lang="en-US" sz="2800" i="1" baseline="30000" dirty="0">
                <a:solidFill>
                  <a:srgbClr val="0B0080"/>
                </a:solidFill>
                <a:latin typeface="Arial" panose="020B0604020202020204" pitchFamily="34" charset="0"/>
              </a:rPr>
              <a:t>		World Summit on the Information Society (WSIS),2005</a:t>
            </a:r>
            <a:endParaRPr lang="en-US" sz="2800" dirty="0">
              <a:solidFill>
                <a:srgbClr val="282829"/>
              </a:solidFill>
              <a:latin typeface="-apple-system"/>
            </a:endParaRPr>
          </a:p>
          <a:p>
            <a:pPr marL="457200" indent="-457200" algn="just">
              <a:buClr>
                <a:schemeClr val="tx1"/>
              </a:buClr>
              <a:buSzPct val="71000"/>
              <a:buFont typeface="Wingdings" panose="05000000000000000000" pitchFamily="2" charset="2"/>
              <a:buChar char="q"/>
            </a:pPr>
            <a:endParaRPr lang="en-US" sz="2800" dirty="0">
              <a:solidFill>
                <a:srgbClr val="282829"/>
              </a:solidFill>
              <a:latin typeface="-apple-system"/>
            </a:endParaRPr>
          </a:p>
        </p:txBody>
      </p:sp>
      <p:pic>
        <p:nvPicPr>
          <p:cNvPr id="3074" name="Picture 2" descr="Internet governance: fostering multi-stakeholder dialogue - News (2017)">
            <a:extLst>
              <a:ext uri="{FF2B5EF4-FFF2-40B4-BE49-F238E27FC236}">
                <a16:creationId xmlns:a16="http://schemas.microsoft.com/office/drawing/2014/main" id="{B12FB92A-7E3D-44BA-85B9-663FF279A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8" y="1115417"/>
            <a:ext cx="8094253" cy="2674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068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Governance of Internet</a:t>
            </a:r>
          </a:p>
        </p:txBody>
      </p:sp>
      <p:pic>
        <p:nvPicPr>
          <p:cNvPr id="4098" name="Picture 2" descr="Gergana Petrova| ESNOG | 31 October 2017&#10;The Multistakeholder Model&#10;Internet&#10;Governance&#10;Governments,&#10;National and Internat...">
            <a:extLst>
              <a:ext uri="{FF2B5EF4-FFF2-40B4-BE49-F238E27FC236}">
                <a16:creationId xmlns:a16="http://schemas.microsoft.com/office/drawing/2014/main" id="{2B8608CD-319A-4EF6-9251-D58E939509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281112"/>
            <a:ext cx="8094253" cy="4775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893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Governance of Internet</a:t>
            </a:r>
          </a:p>
        </p:txBody>
      </p:sp>
      <p:pic>
        <p:nvPicPr>
          <p:cNvPr id="5122" name="Picture 2" descr="Gergana Petrova| ESNOG | 31 October 2017 8&#10; ">
            <a:extLst>
              <a:ext uri="{FF2B5EF4-FFF2-40B4-BE49-F238E27FC236}">
                <a16:creationId xmlns:a16="http://schemas.microsoft.com/office/drawing/2014/main" id="{0FFD85DB-180F-425D-BC8E-00D765646C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004925"/>
            <a:ext cx="8094254" cy="5402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086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Governance of Internet</a:t>
            </a:r>
          </a:p>
        </p:txBody>
      </p:sp>
      <p:pic>
        <p:nvPicPr>
          <p:cNvPr id="6146" name="Picture 2" descr="Gergana Petrova| ESNOG | 31 October 2017 9&#10;Main Principles for Policy Making&#10;• Promote the open, distributed and&#10;interconn...">
            <a:extLst>
              <a:ext uri="{FF2B5EF4-FFF2-40B4-BE49-F238E27FC236}">
                <a16:creationId xmlns:a16="http://schemas.microsoft.com/office/drawing/2014/main" id="{74F8DF88-3C28-4900-B084-A380D2AE46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122086"/>
            <a:ext cx="8094253" cy="4629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559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Governance of Internet</a:t>
            </a:r>
          </a:p>
        </p:txBody>
      </p:sp>
      <p:sp>
        <p:nvSpPr>
          <p:cNvPr id="4" name="TextBox 3">
            <a:extLst>
              <a:ext uri="{FF2B5EF4-FFF2-40B4-BE49-F238E27FC236}">
                <a16:creationId xmlns:a16="http://schemas.microsoft.com/office/drawing/2014/main" id="{BEF64A22-FBF9-4E62-8DCF-EC079DD98F8D}"/>
              </a:ext>
            </a:extLst>
          </p:cNvPr>
          <p:cNvSpPr txBox="1"/>
          <p:nvPr/>
        </p:nvSpPr>
        <p:spPr>
          <a:xfrm>
            <a:off x="1281566" y="1410506"/>
            <a:ext cx="8094253" cy="523220"/>
          </a:xfrm>
          <a:prstGeom prst="rect">
            <a:avLst/>
          </a:prstGeom>
          <a:noFill/>
        </p:spPr>
        <p:txBody>
          <a:bodyPr wrap="square" rtlCol="0">
            <a:spAutoFit/>
          </a:bodyPr>
          <a:lstStyle/>
          <a:p>
            <a:r>
              <a:rPr lang="en-US" sz="2800" dirty="0"/>
              <a:t>For more information, visit the given link below:</a:t>
            </a:r>
          </a:p>
        </p:txBody>
      </p:sp>
      <p:sp>
        <p:nvSpPr>
          <p:cNvPr id="9" name="TextBox 8">
            <a:hlinkClick r:id="rId3"/>
            <a:extLst>
              <a:ext uri="{FF2B5EF4-FFF2-40B4-BE49-F238E27FC236}">
                <a16:creationId xmlns:a16="http://schemas.microsoft.com/office/drawing/2014/main" id="{85FD4E37-C889-4334-949F-CBFAA6D7C031}"/>
              </a:ext>
            </a:extLst>
          </p:cNvPr>
          <p:cNvSpPr txBox="1"/>
          <p:nvPr/>
        </p:nvSpPr>
        <p:spPr>
          <a:xfrm>
            <a:off x="1447800" y="2339307"/>
            <a:ext cx="6102626" cy="646331"/>
          </a:xfrm>
          <a:prstGeom prst="rect">
            <a:avLst/>
          </a:prstGeom>
          <a:noFill/>
        </p:spPr>
        <p:txBody>
          <a:bodyPr wrap="square">
            <a:spAutoFit/>
          </a:bodyPr>
          <a:lstStyle/>
          <a:p>
            <a:r>
              <a:rPr lang="en-US"/>
              <a:t>https</a:t>
            </a:r>
            <a:r>
              <a:rPr lang="en-US" dirty="0"/>
              <a:t>://www.internetgovernance.org/what-is-internet-governance/</a:t>
            </a:r>
          </a:p>
        </p:txBody>
      </p:sp>
      <p:sp>
        <p:nvSpPr>
          <p:cNvPr id="3" name="Rectangle 2"/>
          <p:cNvSpPr/>
          <p:nvPr/>
        </p:nvSpPr>
        <p:spPr>
          <a:xfrm>
            <a:off x="1477073" y="3322177"/>
            <a:ext cx="8062712" cy="646331"/>
          </a:xfrm>
          <a:prstGeom prst="rect">
            <a:avLst/>
          </a:prstGeom>
        </p:spPr>
        <p:txBody>
          <a:bodyPr wrap="square">
            <a:spAutoFit/>
          </a:bodyPr>
          <a:lstStyle/>
          <a:p>
            <a:r>
              <a:rPr lang="en-US" dirty="0"/>
              <a:t>Internet governance refers to the rules, policies, standards and practices that coordinate and shape global cyberspace</a:t>
            </a:r>
            <a:r>
              <a:rPr lang="en-US" i="1" dirty="0"/>
              <a:t>.</a:t>
            </a:r>
            <a:endParaRPr lang="en-US" dirty="0"/>
          </a:p>
        </p:txBody>
      </p:sp>
    </p:spTree>
    <p:extLst>
      <p:ext uri="{BB962C8B-B14F-4D97-AF65-F5344CB8AC3E}">
        <p14:creationId xmlns:p14="http://schemas.microsoft.com/office/powerpoint/2010/main" val="3511723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E-governance and E-government System</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049077"/>
          </a:xfrm>
        </p:spPr>
        <p:txBody>
          <a:bodyPr>
            <a:normAutofit/>
          </a:bodyPr>
          <a:lstStyle/>
          <a:p>
            <a:pPr marL="457200" indent="-457200" algn="just">
              <a:buClr>
                <a:schemeClr val="tx1"/>
              </a:buClr>
              <a:buSzPct val="71000"/>
              <a:buFont typeface="Wingdings" panose="05000000000000000000" pitchFamily="2" charset="2"/>
              <a:buChar char="q"/>
            </a:pPr>
            <a:r>
              <a:rPr lang="en-US" sz="2800" dirty="0">
                <a:solidFill>
                  <a:srgbClr val="282829"/>
                </a:solidFill>
                <a:latin typeface="-apple-system"/>
              </a:rPr>
              <a:t>Assignment</a:t>
            </a:r>
          </a:p>
        </p:txBody>
      </p:sp>
    </p:spTree>
    <p:extLst>
      <p:ext uri="{BB962C8B-B14F-4D97-AF65-F5344CB8AC3E}">
        <p14:creationId xmlns:p14="http://schemas.microsoft.com/office/powerpoint/2010/main" val="2575662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52870" y="2593634"/>
            <a:ext cx="5560334" cy="923330"/>
          </a:xfrm>
          <a:prstGeom prst="rect">
            <a:avLst/>
          </a:prstGeom>
          <a:noFill/>
        </p:spPr>
        <p:txBody>
          <a:bodyPr wrap="square" lIns="91440" tIns="45720" rIns="91440" bIns="45720">
            <a:spAutoFit/>
          </a:bodyPr>
          <a:lstStyle/>
          <a:p>
            <a:r>
              <a:rPr lang="en-US" sz="5400" dirty="0">
                <a:ln w="0"/>
                <a:effectLst>
                  <a:outerShdw blurRad="38100" dist="19050" dir="2700000" algn="tl" rotWithShape="0">
                    <a:schemeClr val="dk1">
                      <a:alpha val="40000"/>
                    </a:schemeClr>
                  </a:outerShdw>
                </a:effectLst>
              </a:rPr>
              <a:t>Thank You</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30731771"/>
      </p:ext>
    </p:extLst>
  </p:cSld>
  <p:clrMapOvr>
    <a:masterClrMapping/>
  </p:clrMapOvr>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23C86C84CA4945852CBF0CFC130390" ma:contentTypeVersion="2" ma:contentTypeDescription="Create a new document." ma:contentTypeScope="" ma:versionID="38bc4188b0c59bea1978bee81d5bf097">
  <xsd:schema xmlns:xsd="http://www.w3.org/2001/XMLSchema" xmlns:xs="http://www.w3.org/2001/XMLSchema" xmlns:p="http://schemas.microsoft.com/office/2006/metadata/properties" xmlns:ns2="df9d7280-3a70-455f-8c80-6c4d72acc3fd" targetNamespace="http://schemas.microsoft.com/office/2006/metadata/properties" ma:root="true" ma:fieldsID="4a1ed8bae86aa9a3c3a781388432c89e" ns2:_="">
    <xsd:import namespace="df9d7280-3a70-455f-8c80-6c4d72acc3f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9d7280-3a70-455f-8c80-6c4d72acc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A31FA0-7A79-4C0C-894F-A2A07EFEEE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9d7280-3a70-455f-8c80-6c4d72acc3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95B1B8F-1107-46A5-A40D-404629FF0A96}">
  <ds:schemaRefs>
    <ds:schemaRef ds:uri="http://schemas.microsoft.com/sharepoint/v3/contenttype/forms"/>
  </ds:schemaRefs>
</ds:datastoreItem>
</file>

<file path=customXml/itemProps3.xml><?xml version="1.0" encoding="utf-8"?>
<ds:datastoreItem xmlns:ds="http://schemas.openxmlformats.org/officeDocument/2006/customXml" ds:itemID="{62DCEA16-BDB9-4F18-AB2F-CBC4F072433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Facet</Template>
  <TotalTime>2156</TotalTime>
  <Words>1767</Words>
  <Application>Microsoft Office PowerPoint</Application>
  <PresentationFormat>Widescreen</PresentationFormat>
  <Paragraphs>208</Paragraphs>
  <Slides>35</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-apple-system</vt:lpstr>
      <vt:lpstr>arial</vt:lpstr>
      <vt:lpstr>arial</vt:lpstr>
      <vt:lpstr>Calibri</vt:lpstr>
      <vt:lpstr>PT Sans</vt:lpstr>
      <vt:lpstr>Times New Roman</vt:lpstr>
      <vt:lpstr>Trebuchet MS</vt:lpstr>
      <vt:lpstr>Wingdings</vt:lpstr>
      <vt:lpstr>Wingdings 3</vt:lpstr>
      <vt:lpstr>Facet</vt:lpstr>
      <vt:lpstr>Chapter 2 : Social Context of Computing</vt:lpstr>
      <vt:lpstr>Society and Technology</vt:lpstr>
      <vt:lpstr>Society and Technology</vt:lpstr>
      <vt:lpstr>Society and Technology</vt:lpstr>
      <vt:lpstr>Society and Technology</vt:lpstr>
      <vt:lpstr>Society and Technology</vt:lpstr>
      <vt:lpstr>Society and Technology</vt:lpstr>
      <vt:lpstr>Society and Technology</vt:lpstr>
      <vt:lpstr>Impact of Technology on Society and vice versa</vt:lpstr>
      <vt:lpstr>Impact of Technology on Society and vice versa</vt:lpstr>
      <vt:lpstr>Impact of Technology on Society and vice versa</vt:lpstr>
      <vt:lpstr>Impact of Technology on Society and vice versa</vt:lpstr>
      <vt:lpstr>Impact of Technology on Society and vice versa</vt:lpstr>
      <vt:lpstr>Impact of Technology on Society and vice versa</vt:lpstr>
      <vt:lpstr>Impact of Technology on Society and vice versa</vt:lpstr>
      <vt:lpstr>Using Technology for Poverty Alleviation</vt:lpstr>
      <vt:lpstr>Using Technology for Poverty Alleviation</vt:lpstr>
      <vt:lpstr>Using Technology for Poverty Alleviation</vt:lpstr>
      <vt:lpstr>Health Related Issues for an IT Professional</vt:lpstr>
      <vt:lpstr>Internet and Society</vt:lpstr>
      <vt:lpstr>Internet and Society</vt:lpstr>
      <vt:lpstr>Internet and Society</vt:lpstr>
      <vt:lpstr>Internet and Society</vt:lpstr>
      <vt:lpstr>Internet and Society</vt:lpstr>
      <vt:lpstr>Digital Divide and Bridging the Digital Divide</vt:lpstr>
      <vt:lpstr>Digital Divide and Bridging the Digital Divide</vt:lpstr>
      <vt:lpstr>Digital Divide and Bridging the Digital Divide</vt:lpstr>
      <vt:lpstr>Digital Divide and Bridging the Digital Divide</vt:lpstr>
      <vt:lpstr>Governance of Internet</vt:lpstr>
      <vt:lpstr>Governance of Internet</vt:lpstr>
      <vt:lpstr>Governance of Internet</vt:lpstr>
      <vt:lpstr>Governance of Internet</vt:lpstr>
      <vt:lpstr>Governance of Internet</vt:lpstr>
      <vt:lpstr>E-governance and E-government System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Sunil Bahadur Bist</dc:creator>
  <cp:lastModifiedBy>sapkotaprakash2017@hotmail.com</cp:lastModifiedBy>
  <cp:revision>447</cp:revision>
  <dcterms:created xsi:type="dcterms:W3CDTF">2017-09-13T07:21:00Z</dcterms:created>
  <dcterms:modified xsi:type="dcterms:W3CDTF">2024-08-01T12:10:13Z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0x0101004423C86C84CA4945852CBF0CFC130390</vt:lpwstr>
  </property>
</Properties>
</file>