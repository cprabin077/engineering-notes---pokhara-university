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4"/>
  </p:sldMasterIdLst>
  <p:notesMasterIdLst>
    <p:notesMasterId r:id="rId63"/>
  </p:notesMasterIdLst>
  <p:sldIdLst>
    <p:sldId id="257" r:id="rId5"/>
    <p:sldId id="29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3" r:id="rId39"/>
    <p:sldId id="382" r:id="rId40"/>
    <p:sldId id="384" r:id="rId41"/>
    <p:sldId id="385" r:id="rId42"/>
    <p:sldId id="386" r:id="rId43"/>
    <p:sldId id="387" r:id="rId44"/>
    <p:sldId id="388" r:id="rId45"/>
    <p:sldId id="389" r:id="rId46"/>
    <p:sldId id="390" r:id="rId47"/>
    <p:sldId id="391" r:id="rId48"/>
    <p:sldId id="392" r:id="rId49"/>
    <p:sldId id="393" r:id="rId50"/>
    <p:sldId id="394" r:id="rId51"/>
    <p:sldId id="395" r:id="rId52"/>
    <p:sldId id="396" r:id="rId53"/>
    <p:sldId id="397" r:id="rId54"/>
    <p:sldId id="398" r:id="rId55"/>
    <p:sldId id="399" r:id="rId56"/>
    <p:sldId id="400" r:id="rId57"/>
    <p:sldId id="401" r:id="rId58"/>
    <p:sldId id="402" r:id="rId59"/>
    <p:sldId id="403" r:id="rId60"/>
    <p:sldId id="404" r:id="rId61"/>
    <p:sldId id="27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-66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C73DF-4ACA-4A4E-BE24-698A41846534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F0832-C019-46EE-973A-B4AFD6309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78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4981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780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F0832-C019-46EE-973A-B4AFD6309CA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0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7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D5E5-F825-4B33-AF67-A7F31E5A2821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3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0A645-7812-465D-BB5E-A8CA1F1DB31F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3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71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DB56-25F5-4763-9EA5-68F834D6E811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8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6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901DB-480A-4D75-AD69-F9ABD9C9ECEB}" type="datetime1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8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7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7" y="2737249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4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6" y="2737249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B31EA-9561-4FDF-BCE1-CAE98AD0C4D5}" type="datetime1">
              <a:rPr lang="en-US" smtClean="0"/>
              <a:t>4/25/2024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B6BF-29BB-4022-8B48-CF48B5627A0E}" type="datetime1">
              <a:rPr lang="en-US" smtClean="0"/>
              <a:t>4/25/2024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7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9B8A-9C1C-47BE-9A52-00A57195BE87}" type="datetime1">
              <a:rPr lang="en-US" smtClean="0"/>
              <a:t>4/25/2024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4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3" y="514928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F453E-3D4D-464A-831F-EB23A5A42A12}" type="datetime1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30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6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6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743A-56F0-4312-8259-E51533341499}" type="datetime1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0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C2D58-99B7-4095-851E-63049442BAD8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74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D284E-D999-40E1-8CDE-80A918580BC2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3399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C615-F352-46CA-997F-790F5C7AB59F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5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8DF6-B2D7-4891-924E-F205B4F4C5B0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4502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D3E9-44D4-4A6E-8282-3CFF4443A4B7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1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37C3A-3E20-4D7B-93C7-DC2476BB2AB9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4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5" y="609603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7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382-714F-487B-894A-7320A737CBE1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3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6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0269F-6FC2-45F3-9E5C-EE0DAD7DBF51}" type="datetime1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6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5" y="6041366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716904-6FC9-413C-90D2-F791BBDFC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0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hf sldNum="0"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357622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Chapter 1 : History of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055164"/>
          </a:xfrm>
        </p:spPr>
        <p:txBody>
          <a:bodyPr>
            <a:normAutofit/>
          </a:bodyPr>
          <a:lstStyle/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Prehistory of Computing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History of Computer Hardware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History of Software: Programming Languages and Operating Systems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History of Networking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Pioneers of Computing </a:t>
            </a:r>
          </a:p>
        </p:txBody>
      </p:sp>
    </p:spTree>
    <p:extLst>
      <p:ext uri="{BB962C8B-B14F-4D97-AF65-F5344CB8AC3E}">
        <p14:creationId xmlns:p14="http://schemas.microsoft.com/office/powerpoint/2010/main" val="2819078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Prehistory of Computing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426225"/>
          </a:xfrm>
        </p:spPr>
        <p:txBody>
          <a:bodyPr>
            <a:normAutofit/>
          </a:bodyPr>
          <a:lstStyle/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Counting on fingers 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Counting on Pebbles 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Counting marks on the walls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Counting marks on the bones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Counting marks in the sand</a:t>
            </a:r>
          </a:p>
          <a:p>
            <a:pPr algn="l">
              <a:buClr>
                <a:schemeClr val="tx1"/>
              </a:buClr>
              <a:buSzPct val="71000"/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662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Prehistory of Computing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lnSpcReduction="10000"/>
          </a:bodyPr>
          <a:lstStyle/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ﬁrst numbers recorded on animal bones and rocks(between 20,000 BC and 30,000 BC)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invention of the abacus, the device many believe was the mother of the digital computer as we know it today, between 1000 BC and 500 BC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 Zero and negative numbers were ﬁrst used between 300 BC and 500 AD. 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 period between 1500 and 1900 saw a surge of activity in the development of computing devices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 In 1500, the computing community got a boost when Leonardo da Vinci invented a mechanical calculator</a:t>
            </a:r>
          </a:p>
        </p:txBody>
      </p:sp>
    </p:spTree>
    <p:extLst>
      <p:ext uri="{BB962C8B-B14F-4D97-AF65-F5344CB8AC3E}">
        <p14:creationId xmlns:p14="http://schemas.microsoft.com/office/powerpoint/2010/main" val="2266973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Prehistory of Computing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In 1500, the computing community got a boost when Leonardo da Vinci invented a mechanical calculator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followed by the invention of the slide rule in 1621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followed by Wilhelm </a:t>
            </a:r>
            <a:r>
              <a:rPr lang="en-US" sz="2600" dirty="0" err="1">
                <a:solidFill>
                  <a:schemeClr val="tx1"/>
                </a:solidFill>
              </a:rPr>
              <a:t>Schickard’s</a:t>
            </a:r>
            <a:r>
              <a:rPr lang="en-US" sz="2600" dirty="0">
                <a:solidFill>
                  <a:schemeClr val="tx1"/>
                </a:solidFill>
              </a:rPr>
              <a:t> mechanical calculator in 1625 and by Blaise Pascal’s arithmetic machine 15 years later.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major breakthrough in speed came in 1800 with the invention of the punched card by Joseph Marie Jacquard, a French silk weaver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 it was used not only to speed up computation but also to store information.  </a:t>
            </a:r>
          </a:p>
        </p:txBody>
      </p:sp>
    </p:spTree>
    <p:extLst>
      <p:ext uri="{BB962C8B-B14F-4D97-AF65-F5344CB8AC3E}">
        <p14:creationId xmlns:p14="http://schemas.microsoft.com/office/powerpoint/2010/main" val="409702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Prehistory of Computing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 there were successive history-making inventions starting with Charles Babbage’s analytical engine in 1830 and George and Edward Schutz’s difference engine.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followed by one of the milestone inventions in computing and mathematics—George Boole’s development of Boolean algebra.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Sir Charles Wheatstone’s invention of the paper tape to store information in 1857 created new excitement in the computing community of the time</a:t>
            </a:r>
          </a:p>
        </p:txBody>
      </p:sp>
    </p:spTree>
    <p:extLst>
      <p:ext uri="{BB962C8B-B14F-4D97-AF65-F5344CB8AC3E}">
        <p14:creationId xmlns:p14="http://schemas.microsoft.com/office/powerpoint/2010/main" val="388527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Prehistory of Computing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invention of the logic machine by William Stanley Jevons in 1869,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invention of the ﬁrst keyboard by Sholes around 1874,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rectangular logic diagrams by Allan Marquand in 1881.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Starting around 1890, a burst of major inventions similar to those of 1850s started all over again</a:t>
            </a:r>
          </a:p>
        </p:txBody>
      </p:sp>
    </p:spTree>
    <p:extLst>
      <p:ext uri="{BB962C8B-B14F-4D97-AF65-F5344CB8AC3E}">
        <p14:creationId xmlns:p14="http://schemas.microsoft.com/office/powerpoint/2010/main" val="66836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Prehistory of Computing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In 1886, Charles Pierce ﬁrst linked Boolean algebra to circuits based on switches, a major breakthrough in mathematics, engineering, and computing science.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In 1890, John Venn created the Venn diagrams now used extensively in switching algebras in both hardware and software development.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 Finally, in 1890, Herman Hollerith invented the tabulating machine</a:t>
            </a:r>
          </a:p>
        </p:txBody>
      </p:sp>
    </p:spTree>
    <p:extLst>
      <p:ext uri="{BB962C8B-B14F-4D97-AF65-F5344CB8AC3E}">
        <p14:creationId xmlns:p14="http://schemas.microsoft.com/office/powerpoint/2010/main" val="250467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Prehistory of Computing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second period of development that started around the turn of the twentieth century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 The century began with a major milestone in the computing history—the invention of the vacuum tube by John Ambrose Fleming. 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All digital computers in the ﬁrst half-century ran on vacuum tubes.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year 1926 saw the invention of the ﬁrst semiconductor transistor, which would come to dominate the computing industry from that point forward. </a:t>
            </a:r>
          </a:p>
        </p:txBody>
      </p:sp>
    </p:spTree>
    <p:extLst>
      <p:ext uri="{BB962C8B-B14F-4D97-AF65-F5344CB8AC3E}">
        <p14:creationId xmlns:p14="http://schemas.microsoft.com/office/powerpoint/2010/main" val="194755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First Generation (1940-1956)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 Vacuum Tubes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Second Generation (1956-1963)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 Transistors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Third Generation (1963-1971)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Integrated Circuits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Fourth Generation (1971- Present)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Microprocessor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Fifth Generation (Present and Beyond)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22986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First Generation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period 1940 to 1956, roughly considered as the First Generation of Computer.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first generation computers were developed by using vacuum tube or thermionic valve machine.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input of this system was based on punched cards and paper tape; however, the output was displayed on printouts.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first generation computers worked on binary-coded concept (i.e., language of 0-1).</a:t>
            </a:r>
          </a:p>
        </p:txBody>
      </p:sp>
    </p:spTree>
    <p:extLst>
      <p:ext uri="{BB962C8B-B14F-4D97-AF65-F5344CB8AC3E}">
        <p14:creationId xmlns:p14="http://schemas.microsoft.com/office/powerpoint/2010/main" val="37606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pic>
        <p:nvPicPr>
          <p:cNvPr id="1026" name="Picture 2" descr="Binary-coded Concept">
            <a:extLst>
              <a:ext uri="{FF2B5EF4-FFF2-40B4-BE49-F238E27FC236}">
                <a16:creationId xmlns:a16="http://schemas.microsoft.com/office/drawing/2014/main" xmlns="" id="{4C45233F-C47A-45D2-A5C4-A69E37303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67" y="1113263"/>
            <a:ext cx="8094254" cy="4910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632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main features of the first generation are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Vacuum tube technology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Unreliable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Supported machine language only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Very costly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Generated a lot of heat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Slow input and output devices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Huge size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Need of AC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Non-portable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Consumed a lot of electricity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735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Some computers of this generation were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ENIAC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EDVAC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UNIVAC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IBM-701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IBM-650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43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6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It made use of vacuum tubes which are the only electronic component available during those days.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These computers could calculate in milliseconds.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Disadvantages: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These were very big in size, weight was about 30 tones.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These computers were very costly.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It could store only a small amount of information due to the presence of magnetic drums.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As the invention of first generation computers involves vacuum tubes, so another disadvantage of these computers was, vacuum tubes require a large cooling system.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Very less work efficiency.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Limited programming capabilities and punch cards were used to take inputs.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Large amount of energy consumption.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Not reliable and constant maintenance is required.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915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Second Generation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period 1956 to 1963 is roughly considered as the period of Second Generation of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second generation computers were developed by using transistor technology.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In comparison to the first generation, the size of second generation was smaller.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In comparison to computers of the first generation, the computing time taken by the computers of the second generation was lesser.</a:t>
            </a:r>
          </a:p>
        </p:txBody>
      </p:sp>
    </p:spTree>
    <p:extLst>
      <p:ext uri="{BB962C8B-B14F-4D97-AF65-F5344CB8AC3E}">
        <p14:creationId xmlns:p14="http://schemas.microsoft.com/office/powerpoint/2010/main" val="1291880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pic>
        <p:nvPicPr>
          <p:cNvPr id="2050" name="Picture 2" descr="Second Generation Computers">
            <a:extLst>
              <a:ext uri="{FF2B5EF4-FFF2-40B4-BE49-F238E27FC236}">
                <a16:creationId xmlns:a16="http://schemas.microsoft.com/office/drawing/2014/main" xmlns="" id="{A046DD4C-F785-462A-9A25-C66EA8D2F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033" y="1268071"/>
            <a:ext cx="8100788" cy="4788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646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main features of the second generation are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Use of transistors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Reliable in comparison to first generation computers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Smaller size as compared to first generation computers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Generated less heat as compared to first generation computers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Consumed less electricity as compared to first generation computers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Faster than first generation computers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Still very costly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AC required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Supported machine and assembly languages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17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Some computers of this generation were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IBM 1620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IBM 7094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CDC 1604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CDC 3600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UNIVAC 1108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211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Due to the presence of transistors instead of vacuum tubes, the size of electron component decreased. This resulted in reducing the size of a computer as compared to first generation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Less energy and not produce as much heat as the first generation.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Assembly language and punch cards were used for input.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Low cost than first generation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Better speed, calculate data in microseconds.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Better portability as compared to first generation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Disadvantages: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 cooling system was required.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Constant maintenance was required.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Only used for specific purposes.</a:t>
            </a:r>
          </a:p>
        </p:txBody>
      </p:sp>
    </p:spTree>
    <p:extLst>
      <p:ext uri="{BB962C8B-B14F-4D97-AF65-F5344CB8AC3E}">
        <p14:creationId xmlns:p14="http://schemas.microsoft.com/office/powerpoint/2010/main" val="2200536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9"/>
            <a:ext cx="8094254" cy="3882886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Third Generation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period 1963 to 1971 is roughly considered as the period of Third Generation of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third generation computers were developed by using the Integrated Circuit (IC) technology.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computer system of the computers of the third generation was easier for commercial use.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822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pic>
        <p:nvPicPr>
          <p:cNvPr id="3074" name="Picture 2" descr="Third Generation Computers">
            <a:extLst>
              <a:ext uri="{FF2B5EF4-FFF2-40B4-BE49-F238E27FC236}">
                <a16:creationId xmlns:a16="http://schemas.microsoft.com/office/drawing/2014/main" xmlns="" id="{FBB3DABA-0A39-4FD6-8F4B-C2AF548A4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67" y="1356276"/>
            <a:ext cx="8094254" cy="459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728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main features of the third generation are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IC used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More reliable in comparison to previous two generations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Smaller size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Generated less heat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Faster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Lesser maintenance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Costly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AC required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Consumed lesser electricity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Supported high-level language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516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Some computers of this generation were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IBM-360 series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Honeywell-6000 series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PDP (Personal Data Processor)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IBM-370/168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TDC-316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398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16834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These computers were cheaper as compared to second-generation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They were fast and reliable.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Use of IC in the computer provides the small size of the computer.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IC not only reduce the size of the computer but it also improves the performance of the computer as compared to previous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This generation of computers has big storage capacity.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Instead of punch cards, mouse and keyboard are used for input.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They used an operating system for better resource management and used the concept of time-sharing and multiple programming.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These computers reduce the computational time from microseconds to nanoseconds.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Disadvantages: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IC chips are difficult to maintain.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 highly sophisticated technology required for the manufacturing of IC chips.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Air conditioning is required.</a:t>
            </a:r>
          </a:p>
        </p:txBody>
      </p:sp>
    </p:spTree>
    <p:extLst>
      <p:ext uri="{BB962C8B-B14F-4D97-AF65-F5344CB8AC3E}">
        <p14:creationId xmlns:p14="http://schemas.microsoft.com/office/powerpoint/2010/main" val="218319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982815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Fourth Generation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period 1971 to 2010 is roughly considered as the fourth generation of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fourth generation computers were developed by using microprocessor technology.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production cost reduced to very low in comparison to the previous generation.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It became available for the common people as well.</a:t>
            </a:r>
          </a:p>
        </p:txBody>
      </p:sp>
    </p:spTree>
    <p:extLst>
      <p:ext uri="{BB962C8B-B14F-4D97-AF65-F5344CB8AC3E}">
        <p14:creationId xmlns:p14="http://schemas.microsoft.com/office/powerpoint/2010/main" val="3271713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pic>
        <p:nvPicPr>
          <p:cNvPr id="4098" name="Picture 2" descr="Fourth Generation Computers">
            <a:extLst>
              <a:ext uri="{FF2B5EF4-FFF2-40B4-BE49-F238E27FC236}">
                <a16:creationId xmlns:a16="http://schemas.microsoft.com/office/drawing/2014/main" xmlns="" id="{13B112B6-6E63-4D8F-97B9-5CE9D5937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67" y="1340910"/>
            <a:ext cx="8094254" cy="44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144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main features of the fourth generation are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VLSI technology used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Very cheap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Portable and reliable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Use of PCs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Very small size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Pipeline processing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No AC required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Concept of internet was introduced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Great developments in the fields of networks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Computers became easily available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637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Some computers of this generation were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DEC 10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STAR 1000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PDP 11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CRAY-1(Super Computer)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CRAY-X-MP(Super Computer)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432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1683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Fastest in computation and size get reduced as compared to the previous generation of computer.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Heat generated is negligible.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Small in size as compared to previous generation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Less maintenance is required.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All types of high-level language can be used in this type of computers.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Disadvantages: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 Microprocessor design and fabrication are very complex.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Air conditioning is required in many cases due to the presence of ICs.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Advance technology is required to make the ICs.</a:t>
            </a:r>
          </a:p>
        </p:txBody>
      </p:sp>
    </p:spTree>
    <p:extLst>
      <p:ext uri="{BB962C8B-B14F-4D97-AF65-F5344CB8AC3E}">
        <p14:creationId xmlns:p14="http://schemas.microsoft.com/office/powerpoint/2010/main" val="2468806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982815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Fifth Generation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period 2010 to till date and beyond, roughly considered as the period of fifth generation of computers.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By the time, the computer generation was being categorized on the basis of hardware only, but the fifth generation technology also included software.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The computers of the fifth generation had high capability and large memory capacity.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Working with computers of this generation was fast and multiple tasks could be performed simultaneously.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Some of the popular advanced technologies of the fifth generation include Artificial intelligence, Quantum computation, Nanotechnology, Parallel processing, etc.</a:t>
            </a:r>
          </a:p>
        </p:txBody>
      </p:sp>
    </p:spTree>
    <p:extLst>
      <p:ext uri="{BB962C8B-B14F-4D97-AF65-F5344CB8AC3E}">
        <p14:creationId xmlns:p14="http://schemas.microsoft.com/office/powerpoint/2010/main" val="2596363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pic>
        <p:nvPicPr>
          <p:cNvPr id="5122" name="Picture 2" descr="Fifth Generation">
            <a:extLst>
              <a:ext uri="{FF2B5EF4-FFF2-40B4-BE49-F238E27FC236}">
                <a16:creationId xmlns:a16="http://schemas.microsoft.com/office/drawing/2014/main" xmlns="" id="{33916D81-153D-4CF6-93E2-93CF5CF4A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280" y="1186069"/>
            <a:ext cx="4011853" cy="477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ifth Generation">
            <a:extLst>
              <a:ext uri="{FF2B5EF4-FFF2-40B4-BE49-F238E27FC236}">
                <a16:creationId xmlns:a16="http://schemas.microsoft.com/office/drawing/2014/main" xmlns="" id="{0C65BE1A-D1FF-47CE-9D2E-C68175992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67" y="1186070"/>
            <a:ext cx="4245042" cy="477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28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The main features of the fifth generation are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ULSI technology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Development of true artificial intelligence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Development of Natural language processing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Advancement in Parallel Processing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Advancement in Superconductor technology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More user-friendly interfaces with multimedia features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Availability of very powerful and compact computers at cheaper rates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7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Some computers of this generation were −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Desktop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Laptop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NoteBook</a:t>
            </a:r>
            <a:endParaRPr lang="en-US" sz="2400" dirty="0">
              <a:solidFill>
                <a:schemeClr val="tx1"/>
              </a:solidFill>
            </a:endParaRP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UltraBook</a:t>
            </a:r>
            <a:endParaRPr lang="en-US" sz="2400" dirty="0">
              <a:solidFill>
                <a:schemeClr val="tx1"/>
              </a:solidFill>
            </a:endParaRP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tx1"/>
                </a:solidFill>
              </a:rPr>
              <a:t>ChromeBook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2693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Computer Hardware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1683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It is more reliable and works faster.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It is available in different sizes and unique features.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It provides computers with more user-friendly interfaces with multimedia features.</a:t>
            </a:r>
          </a:p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tx1"/>
                </a:solidFill>
              </a:rPr>
              <a:t>Disadvantages: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They need very low-level languages.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They may make the human brains dull and doomed.</a:t>
            </a:r>
          </a:p>
        </p:txBody>
      </p:sp>
    </p:spTree>
    <p:extLst>
      <p:ext uri="{BB962C8B-B14F-4D97-AF65-F5344CB8AC3E}">
        <p14:creationId xmlns:p14="http://schemas.microsoft.com/office/powerpoint/2010/main" val="1403471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Programming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Late 1940’s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Binary Code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Native computer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Consists only of 0s and 1s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0’s = off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1’s = on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Difficult for humans to read, write, and debug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Fast and efficient, executed directly on the CPU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4758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Programming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Early 1950’s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Assembly languages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Simple mnemonic instructions &lt;opcode&gt; &lt;operands&gt;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Assembler translates into machine code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Specific to each type of processor, not portable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8457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Programming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Mid 1950’s - Present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High level, general-purpose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FORTRAN(1950’s), LISP(1958), COBOL(1959), ALGOL, Basic (1964), Ada, C(1972)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Easier for humans to read, write, debug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Portable – can be run on two or more kinds of processors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High level languages are handle in two ways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Compiler translates into machine code before running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Interpreter translates into machine code at runtime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189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Programming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Fortran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Among the earliest programming languages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Well-suited for mathematical calculations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Today used in some of the most demanding supercomputing tasks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Weather and climate modeling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LISP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Created as a practical mathematical notation for computers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Link lists are one of Lisp language's major data structures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Favored programming language for artificial intelligence (AI) research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9760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Programming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COBOL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Popular for business data-processing on larger computers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Designed for use by Banks, utility companies, manufactures, government agencies and other big companies.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Pascal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Named after mathematician, Blaise Pascal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Put into practice structured programming – easier to read, write, debug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Easy to learn and often used in beginning programming classes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900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Programming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Mid 1960’s - present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Object-Oriented Programming (OOP)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 err="1">
                <a:solidFill>
                  <a:schemeClr val="tx1"/>
                </a:solidFill>
              </a:rPr>
              <a:t>Simula</a:t>
            </a:r>
            <a:r>
              <a:rPr lang="en-US" sz="2200" dirty="0">
                <a:solidFill>
                  <a:schemeClr val="tx1"/>
                </a:solidFill>
              </a:rPr>
              <a:t>(1960’s),Smalltalk(1970’s), C++(1980’s), C#, Eiffel, Java (1990’s), Objective-C, C#, Perl, Python, Ruby, PHP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Using Objects allowing programmers to write code independent of specific application.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Designing modules of reusable software systems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Objects contain both data and functions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Easily used across multiple systems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2124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Programming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Specific Languages (1970’s – present)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Query languages, report generators, systems engineering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Maple, Mathematica, Postscript, SPSS, SQL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Logic programming languages(1980s - ):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Solve problems using constraints rather than algorithms, used in Artificial Intelligence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Prolog -  natural language processing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3683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Programming Language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World Wide Web (1990 – present)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Internet languages allow everyday people to access information stored on the web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HTML, JavaScript, PHP, Java, ASP, </a:t>
            </a:r>
            <a:r>
              <a:rPr lang="en-US" sz="2200" dirty="0" err="1">
                <a:solidFill>
                  <a:schemeClr val="tx1"/>
                </a:solidFill>
              </a:rPr>
              <a:t>ASP.Net</a:t>
            </a:r>
            <a:endParaRPr lang="en-US" sz="2200" dirty="0">
              <a:solidFill>
                <a:schemeClr val="tx1"/>
              </a:solidFill>
            </a:endParaRP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HTML (Hyper Markup Language) is a basic language for building web pages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JavaScript (1995) – Allows web pages to be interactive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PHP is a general purpose language designed to produce dynamic Web pages.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452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First generation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vacuum tubes, plug boards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Still very slow and used for scientific calculations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No OS was needed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Programs were entered by setting some switches</a:t>
            </a:r>
          </a:p>
        </p:txBody>
      </p:sp>
    </p:spTree>
    <p:extLst>
      <p:ext uri="{BB962C8B-B14F-4D97-AF65-F5344CB8AC3E}">
        <p14:creationId xmlns:p14="http://schemas.microsoft.com/office/powerpoint/2010/main" val="9998063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Second generation 1955 – 1965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transistors, batch systems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Universities started to buy computers (spending millions of dollars)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Punched cards were used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To run a job (a program or a set of related programs) first punch it and give the deck to the operators and wait for the output (batch operation)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Computers were single user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IBM STRETCH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DEC PDP-1</a:t>
            </a:r>
          </a:p>
        </p:txBody>
      </p:sp>
    </p:spTree>
    <p:extLst>
      <p:ext uri="{BB962C8B-B14F-4D97-AF65-F5344CB8AC3E}">
        <p14:creationId xmlns:p14="http://schemas.microsoft.com/office/powerpoint/2010/main" val="37408728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Third generation – 1980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Integrated Circuits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Multiprogramming system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Third generation OSs were still not interactive, i.e., whenever there is an error, programmers would realize it after a couple of hours.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>This problem lead to timesharing systems</a:t>
            </a:r>
          </a:p>
        </p:txBody>
      </p:sp>
    </p:spTree>
    <p:extLst>
      <p:ext uri="{BB962C8B-B14F-4D97-AF65-F5344CB8AC3E}">
        <p14:creationId xmlns:p14="http://schemas.microsoft.com/office/powerpoint/2010/main" val="2604245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Fourth generation 1980 – present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Personal computers were developed after LSI (Large Scale Integration) circuits were invented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First disk based OS CP/M (Control Program for Microcomputers)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In 1980s IBM designed the IBM PC and contacted Bill Gates for an operating System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451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5267925"/>
          </a:xfrm>
        </p:spPr>
        <p:txBody>
          <a:bodyPr>
            <a:normAutofit fontScale="77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1956, GM-NAA </a:t>
            </a:r>
            <a:r>
              <a:rPr lang="en-US" sz="2800" dirty="0">
                <a:solidFill>
                  <a:schemeClr val="tx1"/>
                </a:solidFill>
              </a:rPr>
              <a:t>I/O (General Motors and North American Aviation )</a:t>
            </a:r>
            <a:endParaRPr lang="en-US" sz="2800" dirty="0">
              <a:solidFill>
                <a:schemeClr val="tx1"/>
              </a:solidFill>
            </a:endParaRP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Robert L. Patrick-GM Motors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IBM 704 Mainframes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1961, MCP (Master Control Program)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Burroughs Corporations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B5000 mainframe 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1966, DOS/360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Unsuccessful Mainframes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DOS/360 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1969, Unix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AT&amp;T Bell Labs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Ken Thompson, Dennis Ritchie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/>
                </a:solidFill>
              </a:rPr>
              <a:t>Written in C language</a:t>
            </a:r>
          </a:p>
          <a:p>
            <a:pPr lvl="1" algn="just">
              <a:buClr>
                <a:schemeClr val="tx1"/>
              </a:buClr>
              <a:buSzPct val="71000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658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1973, CP/M (Control Program/Monitor)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Greg </a:t>
            </a:r>
            <a:r>
              <a:rPr lang="en-US" sz="2600" dirty="0" err="1">
                <a:solidFill>
                  <a:schemeClr val="tx1"/>
                </a:solidFill>
              </a:rPr>
              <a:t>Kildall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WordStar and </a:t>
            </a:r>
            <a:r>
              <a:rPr lang="en-US" sz="2600" dirty="0" err="1">
                <a:solidFill>
                  <a:schemeClr val="tx1"/>
                </a:solidFill>
              </a:rPr>
              <a:t>dBASE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IBM wanted CP/M 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1977, BSD (Berkeley Software Distribution)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University of California, Berkeley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Early versions of Unix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1981, MS-DOS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Microsoft for the IBM PC’s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For home users </a:t>
            </a:r>
          </a:p>
        </p:txBody>
      </p:sp>
    </p:spTree>
    <p:extLst>
      <p:ext uri="{BB962C8B-B14F-4D97-AF65-F5344CB8AC3E}">
        <p14:creationId xmlns:p14="http://schemas.microsoft.com/office/powerpoint/2010/main" val="4045779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1982, SunOS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Sun Microsystems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Based on BSD (Berkley software distribution)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1984, Macintosh OS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Apple Computer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GUI (Graphical User Interface) built-in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1985, Microsoft Windows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Graphical user interface (GUI)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4948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1987, OS/2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IBM and 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Unpopular 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1991, Linux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Linus Torvalds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Open Source project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1992, Sun Solaris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Sun Microsystems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Unix variant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2645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1993, Windows NT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Server 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1995, Windows95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GUI built-in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“Start” button 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1997, </a:t>
            </a:r>
            <a:r>
              <a:rPr lang="en-US" sz="2800" dirty="0" err="1">
                <a:solidFill>
                  <a:schemeClr val="tx1"/>
                </a:solidFill>
              </a:rPr>
              <a:t>JavaOS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Sun Microsystems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Java programming language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3678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1998, Windows98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The next iteration of the Microsoft Windows95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1999, MacOS X Server 1.0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Apple Computer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Precursor to Apple’s MacOS X desktop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2000, Windows 2000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Different code base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9710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2000, Windows ME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Unsuccessful new version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2001, MacOS X Version 10.0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Apple Computer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Changed the user interface 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2001, Windows XP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Enhanced version of Windows 2000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Used for long time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4709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2003, Windows Server 2003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Improved version of Windows NT OS 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2007, Windows Vista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Flopped version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2008, Windows Server 2008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Upgrade to Windows Server 2003.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5531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2009, Windows 7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Multi-touch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Internet Explorer 8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Improved security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2012, Windows 8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Uses in Windows Phone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Metro user interface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Supports both x86 PCs and ARM processors.</a:t>
            </a:r>
          </a:p>
        </p:txBody>
      </p:sp>
    </p:spTree>
    <p:extLst>
      <p:ext uri="{BB962C8B-B14F-4D97-AF65-F5344CB8AC3E}">
        <p14:creationId xmlns:p14="http://schemas.microsoft.com/office/powerpoint/2010/main" val="3972678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450387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History of Software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B94D34AC-95A7-424A-986B-2C266EC6E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863547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chemeClr val="tx1"/>
                </a:solidFill>
              </a:rPr>
              <a:t>Operating System</a:t>
            </a:r>
          </a:p>
          <a:p>
            <a:pPr marL="914389" lvl="1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 Windows 10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Fast start up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Built-in security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Start Menu in an expanded form 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Microsoft Edge</a:t>
            </a:r>
          </a:p>
          <a:p>
            <a:pPr marL="1371577" lvl="2" indent="-457200" algn="just">
              <a:buClr>
                <a:schemeClr val="tx1"/>
              </a:buClr>
              <a:buSzPct val="71000"/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27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567" y="357622"/>
            <a:ext cx="8094254" cy="5545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Chapter 1 : Assignment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567" y="1139688"/>
            <a:ext cx="8094254" cy="4333460"/>
          </a:xfrm>
        </p:spPr>
        <p:txBody>
          <a:bodyPr>
            <a:normAutofit/>
          </a:bodyPr>
          <a:lstStyle/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History of Networking:</a:t>
            </a:r>
          </a:p>
          <a:p>
            <a:pPr marL="1828766" lvl="3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tx1"/>
                </a:solidFill>
              </a:rPr>
              <a:t> </a:t>
            </a:r>
          </a:p>
          <a:p>
            <a:pPr marL="457200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Pioneers of Computing </a:t>
            </a:r>
            <a:r>
              <a:rPr lang="en-US" sz="2800" dirty="0" smtClean="0">
                <a:solidFill>
                  <a:schemeClr val="tx1"/>
                </a:solidFill>
              </a:rPr>
              <a:t>:</a:t>
            </a:r>
          </a:p>
          <a:p>
            <a:pPr marL="1828766" lvl="3" indent="-457200" algn="l">
              <a:buClr>
                <a:schemeClr val="tx1"/>
              </a:buClr>
              <a:buSzPct val="71000"/>
              <a:buFont typeface="Wingdings" panose="05000000000000000000" pitchFamily="2" charset="2"/>
              <a:buChar char="q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365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52870" y="2593634"/>
            <a:ext cx="556033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07317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23C86C84CA4945852CBF0CFC130390" ma:contentTypeVersion="2" ma:contentTypeDescription="Create a new document." ma:contentTypeScope="" ma:versionID="38bc4188b0c59bea1978bee81d5bf097">
  <xsd:schema xmlns:xsd="http://www.w3.org/2001/XMLSchema" xmlns:xs="http://www.w3.org/2001/XMLSchema" xmlns:p="http://schemas.microsoft.com/office/2006/metadata/properties" xmlns:ns2="df9d7280-3a70-455f-8c80-6c4d72acc3fd" targetNamespace="http://schemas.microsoft.com/office/2006/metadata/properties" ma:root="true" ma:fieldsID="4a1ed8bae86aa9a3c3a781388432c89e" ns2:_="">
    <xsd:import namespace="df9d7280-3a70-455f-8c80-6c4d72acc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d7280-3a70-455f-8c80-6c4d72acc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225506-A044-4ABC-81AC-80E6849E2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F419E7-1E45-443F-8980-4FA595B35C7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CC10945-3BEF-47F7-A6D4-65CEA2B015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9d7280-3a70-455f-8c80-6c4d72acc3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1610</TotalTime>
  <Words>2896</Words>
  <Application>Microsoft Office PowerPoint</Application>
  <PresentationFormat>Custom</PresentationFormat>
  <Paragraphs>517</Paragraphs>
  <Slides>58</Slides>
  <Notes>58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Facet</vt:lpstr>
      <vt:lpstr>Chapter 1 : History of Computing</vt:lpstr>
      <vt:lpstr>Prehistory of Computing</vt:lpstr>
      <vt:lpstr>Prehistory of Computing</vt:lpstr>
      <vt:lpstr>Prehistory of Computing</vt:lpstr>
      <vt:lpstr>Prehistory of Computing</vt:lpstr>
      <vt:lpstr>Prehistory of Computing</vt:lpstr>
      <vt:lpstr>Prehistory of Computing</vt:lpstr>
      <vt:lpstr>Prehistory of Computing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Computer Hardware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History of Software</vt:lpstr>
      <vt:lpstr>Chapter 1 : Assignment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Access Behavior and Impact Analysis on Education and Social Transformation in Dhangadhi Sub-Metropolitan City</dc:title>
  <dc:creator>Sunil Bahadur Bist</dc:creator>
  <cp:lastModifiedBy>Er. Ravi</cp:lastModifiedBy>
  <cp:revision>387</cp:revision>
  <dcterms:created xsi:type="dcterms:W3CDTF">2017-09-13T07:21:00Z</dcterms:created>
  <dcterms:modified xsi:type="dcterms:W3CDTF">2024-04-25T15:20:08Z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0x0101004423C86C84CA4945852CBF0CFC130390</vt:lpwstr>
  </property>
</Properties>
</file>