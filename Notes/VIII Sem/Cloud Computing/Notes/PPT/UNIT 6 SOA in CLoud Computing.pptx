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95630-8619-45F8-BF81-797DE0907860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A304F-6483-47AE-B90E-7F0707C8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38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A304F-6483-47AE-B90E-7F0707C8A3A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695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A304F-6483-47AE-B90E-7F0707C8A3A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862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A304F-6483-47AE-B90E-7F0707C8A3A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01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83D0-392B-4EFD-BB1E-12B0E0F40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2E6E1-21FF-4D6A-9687-2DCFF1B95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26E3E-3B98-4520-ADB7-2F227CCE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3758C-634B-4DFB-A936-C359378C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6B5F-608D-4FAA-9519-DECCDCE4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88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4BB-6891-4D63-9DBA-99F31796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BC56-A291-4CC3-A9D4-BABC70F1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35119-1D37-41DB-9D56-662FE2FE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45E7-3815-409A-9676-02DD78B6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1F547-17AA-4374-B429-8E9BFF2C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4F89-160A-43BA-BDEE-BBD212B1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36B4F-3507-4368-AC3E-AA124E414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E936B-8BF3-41CD-8E97-E9A36F705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0C5C-ADBE-4576-B341-0D4EF6DB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8EFA2-7C3D-4A4B-9EEF-EB1BD28B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9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9A8E-FCC3-43D4-8E8B-DC7D1A0F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3BC7-63E2-4E33-8AD3-19ADB0503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8353C-AEBC-4828-8660-FACF2B9D6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4980F-E201-4FE3-AA20-7E5EDF7A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07FD-96A9-40F2-853B-798B9C8D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A3C11-1D4C-408C-8639-A85EB6B9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38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5BAF-F937-4F6A-B0F1-47803100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47BE2-CFDF-4658-B1BA-13F7CF3B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90979-7623-46DF-8AED-436A516DE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AD51E-8F13-4EE4-BBB5-7E4F27EBB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D9A03-358D-4409-AC25-D80E6A6D0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3A21D-55A9-4FBB-B937-30092D21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9E9566-9027-4AB2-BD44-2C4B84C0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EC5F6-547B-4C64-AAB4-21B15761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65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15DE-DC70-4961-9C53-AC60204F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6B6E5-1FB2-4FBA-A206-5BCA833F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66209-51FA-4D64-BF33-D8BFBD0F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A5F84-D256-49D3-A1DD-7A93565F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49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3E28-D2B6-4B54-B3B9-4FB752F8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95BE45-CD72-4A1A-9968-84136BAD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0DDC3-0A43-4EEC-9541-5B325F20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35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F966-F36E-498A-A369-F8B6478F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0A6ED-B11E-4AC6-924B-9DC9B33C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B1D2E-5248-4265-A416-374075664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31C1-ABD6-48B5-BEE0-D5A67603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49CC0-8AB0-44D8-B462-E47C733E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A476B-67E7-4567-AC40-02BBFAF6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40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E0FA-4974-44AA-AFC8-23BE43A4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7E43E-F10F-478D-8E80-C8703CD70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F40D-FFC7-49CB-98D8-2885C27C1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09041-3818-42F4-BD64-8511AA3E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7BADA-386B-4210-84B6-72C3FF67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7424-0F1F-48DA-BA3A-65CF1494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22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1EE8-F7C0-4E19-B727-5EF85315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EC7D0-496B-4C6D-BCC5-6BABA2E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356E0-154B-47FE-B7A5-4869CCEF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2B21E-34C1-4450-81D2-F2ED10DA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D5078-6AA5-4D51-B274-19064EB0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7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CA43F-210B-4AE4-978A-BD7992EF0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0910F-3723-404C-A6BA-5DBB1E55F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38A4-8034-4E90-88FF-13177048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4DC2-57CE-40AB-9017-276E0D5B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12B6F-3982-45E1-94C3-577CB822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06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47AB4-22C9-41AC-8F4B-37FCAF81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F65F7-5C5F-4738-93D4-2B042A0F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9FDA-EDE9-459B-A73B-A118AEE9B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D71CB-E513-4EB9-9CAB-12D0011D6AD9}" type="datetimeFigureOut">
              <a:rPr lang="en-IN" smtClean="0"/>
              <a:t>16-01-2023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62CB-40F0-46F0-844E-BC8A9C938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99EDB-16E3-49F6-892D-7E3AE938C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499E7-79E3-4604-AB96-D2B4FB75E3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7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DCA3-A9B9-4B53-89AD-A8E45A540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Service Oriented Architecture in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4445F-0862-44DB-90DF-383E9D982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62925"/>
            <a:ext cx="9144000" cy="2094875"/>
          </a:xfrm>
        </p:spPr>
        <p:txBody>
          <a:bodyPr/>
          <a:lstStyle/>
          <a:p>
            <a:pPr algn="l"/>
            <a:r>
              <a:rPr lang="en-GB" b="1" dirty="0"/>
              <a:t>Prepared by </a:t>
            </a:r>
          </a:p>
          <a:p>
            <a:r>
              <a:rPr lang="en-GB" dirty="0"/>
              <a:t>Er.Harendra Bikram Shah</a:t>
            </a:r>
          </a:p>
          <a:p>
            <a:r>
              <a:rPr lang="en-GB" dirty="0"/>
              <a:t>(Lecturer)</a:t>
            </a:r>
          </a:p>
          <a:p>
            <a:r>
              <a:rPr lang="en-GB" dirty="0"/>
              <a:t>Department of Computer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67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D444C-38A3-4A11-9F06-C8DD5ED84AA7}"/>
              </a:ext>
            </a:extLst>
          </p:cNvPr>
          <p:cNvSpPr txBox="1"/>
          <p:nvPr/>
        </p:nvSpPr>
        <p:spPr>
          <a:xfrm>
            <a:off x="209862" y="811369"/>
            <a:ext cx="11014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Existing Cloud Application: Processing Pipelines, Batch Processing Systems in Cloud Web Applications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Architecture Style for Cloud Applications,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Workflow in Cloud Applications,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Hadoop System,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Hadoop Distributed File System,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Task Programming and MapReduce Programming,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Service Oriented Architecture (SOA),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Characteristic of SOA.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E47B20-D688-4DB3-AF35-03EBB1A44641}"/>
              </a:ext>
            </a:extLst>
          </p:cNvPr>
          <p:cNvSpPr txBox="1">
            <a:spLocks/>
          </p:cNvSpPr>
          <p:nvPr/>
        </p:nvSpPr>
        <p:spPr>
          <a:xfrm>
            <a:off x="1144874" y="0"/>
            <a:ext cx="9144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OUTLIINES</a:t>
            </a:r>
          </a:p>
        </p:txBody>
      </p:sp>
    </p:spTree>
    <p:extLst>
      <p:ext uri="{BB962C8B-B14F-4D97-AF65-F5344CB8AC3E}">
        <p14:creationId xmlns:p14="http://schemas.microsoft.com/office/powerpoint/2010/main" val="405051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6E47B20-D688-4DB3-AF35-03EBB1A446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Processing Pipelines, Batch Processing Systems in Cloud Web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BE7B1-BFB2-454B-A0EC-D774E2004CC3}"/>
              </a:ext>
            </a:extLst>
          </p:cNvPr>
          <p:cNvSpPr txBox="1"/>
          <p:nvPr/>
        </p:nvSpPr>
        <p:spPr>
          <a:xfrm>
            <a:off x="483433" y="1004215"/>
            <a:ext cx="12083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12128"/>
                </a:solidFill>
                <a:effectLst/>
                <a:latin typeface="Roboto" panose="02000000000000000000" pitchFamily="2" charset="0"/>
              </a:rPr>
              <a:t>Data must be processed before it is consumed.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12128"/>
                </a:solidFill>
                <a:effectLst/>
                <a:latin typeface="Roboto" panose="02000000000000000000" pitchFamily="2" charset="0"/>
              </a:rPr>
              <a:t>By definition, a data pipeline represents the flow of data between two or more systems.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12128"/>
                </a:solidFill>
                <a:effectLst/>
                <a:latin typeface="Roboto" panose="02000000000000000000" pitchFamily="2" charset="0"/>
              </a:rPr>
              <a:t> It is a set of instructions that determine how and when to move data between these systems.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BAF42-FCDD-47B8-B02A-3F033017ABE7}"/>
              </a:ext>
            </a:extLst>
          </p:cNvPr>
          <p:cNvSpPr txBox="1"/>
          <p:nvPr/>
        </p:nvSpPr>
        <p:spPr>
          <a:xfrm>
            <a:off x="483434" y="2120391"/>
            <a:ext cx="11538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112128"/>
                </a:solidFill>
                <a:effectLst/>
                <a:latin typeface="Roboto" panose="02000000000000000000" pitchFamily="2" charset="0"/>
              </a:rPr>
              <a:t>There are many data processing pipelines. One may: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“Integrate” data from multiple sources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Perform data quality checks or standardize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Apply data security-related transformations, which include masking, anonymizing, or encryption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Match, merge, master, and do entity resolution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Share data with partners and customers in the required format</a:t>
            </a:r>
          </a:p>
          <a:p>
            <a:pPr algn="l"/>
            <a:endParaRPr lang="en-GB" b="0" i="0" dirty="0">
              <a:solidFill>
                <a:srgbClr val="112128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GB" b="1" i="0" u="sng" dirty="0">
                <a:solidFill>
                  <a:srgbClr val="112128"/>
                </a:solidFill>
                <a:effectLst/>
                <a:latin typeface="Roboto" panose="02000000000000000000" pitchFamily="2" charset="0"/>
              </a:rPr>
              <a:t>Consumers or “targets” of data pipelines may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Data warehouses like Redshift, Snowflake, SQL data warehouses, or Teradata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Reporting tools like Tableau or Power BI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Another application in the case of application integration or application migration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Data lakes on Amazon S3, Microsoft ADLS, or Hadoop – typically for further exploration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Artificial intelligence algorithms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Temporary repositories or publish/subscribe queues like Kafka for consumption by a downstream data pipeline</a:t>
            </a:r>
          </a:p>
        </p:txBody>
      </p:sp>
    </p:spTree>
    <p:extLst>
      <p:ext uri="{BB962C8B-B14F-4D97-AF65-F5344CB8AC3E}">
        <p14:creationId xmlns:p14="http://schemas.microsoft.com/office/powerpoint/2010/main" val="106893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1058A98-F7A6-4BC1-A3A9-6B52EF912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6708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52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F6E64-E9F7-4631-BEE5-4A6808D7C204}"/>
              </a:ext>
            </a:extLst>
          </p:cNvPr>
          <p:cNvSpPr txBox="1"/>
          <p:nvPr/>
        </p:nvSpPr>
        <p:spPr>
          <a:xfrm>
            <a:off x="183628" y="404177"/>
            <a:ext cx="12008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Batch processing </a:t>
            </a: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is a method of running high-volume, repetitive data jobs.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The batch method allows users to process data when computing resources are available, and with little or no user interaction.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5E11F-71B7-467B-A7BA-329C483BAC3F}"/>
              </a:ext>
            </a:extLst>
          </p:cNvPr>
          <p:cNvSpPr txBox="1"/>
          <p:nvPr/>
        </p:nvSpPr>
        <p:spPr>
          <a:xfrm>
            <a:off x="183628" y="1465847"/>
            <a:ext cx="120083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Batch processing plays a critical role in helping companies and organizations manage large amounts of data efficiently.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 It is especially suited for handling frequent, repetitive tasks such as accounting processes.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In every industry and for every job, the basics of batch processing remain the same. </a:t>
            </a:r>
          </a:p>
          <a:p>
            <a:pPr algn="l"/>
            <a:endParaRPr lang="en-GB" dirty="0">
              <a:solidFill>
                <a:srgbClr val="323E48"/>
              </a:solidFill>
              <a:latin typeface="Source Sans Pro" panose="020B0503030403020204" pitchFamily="34" charset="0"/>
            </a:endParaRPr>
          </a:p>
          <a:p>
            <a:pPr algn="l"/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The essential parameters include: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 who is submitting the job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 which program will run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 the location of the input and outputs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323E48"/>
                </a:solidFill>
                <a:effectLst/>
                <a:latin typeface="Source Sans Pro" panose="020B0503030403020204" pitchFamily="34" charset="0"/>
              </a:rPr>
              <a:t> when the job should be run. </a:t>
            </a:r>
          </a:p>
        </p:txBody>
      </p:sp>
      <p:pic>
        <p:nvPicPr>
          <p:cNvPr id="2050" name="Picture 2" descr="Batch Processing">
            <a:extLst>
              <a:ext uri="{FF2B5EF4-FFF2-40B4-BE49-F238E27FC236}">
                <a16:creationId xmlns:a16="http://schemas.microsoft.com/office/drawing/2014/main" id="{4FA5600B-22AE-4083-AAAC-CA3D4F958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654" y="2401459"/>
            <a:ext cx="7029762" cy="405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70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2C2926-A409-4940-8045-9EBDFD20019C}"/>
              </a:ext>
            </a:extLst>
          </p:cNvPr>
          <p:cNvSpPr txBox="1"/>
          <p:nvPr/>
        </p:nvSpPr>
        <p:spPr>
          <a:xfrm>
            <a:off x="686424" y="254832"/>
            <a:ext cx="1081915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/>
              <a:t>Cloud Computing Architecture </a:t>
            </a:r>
            <a:br>
              <a:rPr lang="en-GB" dirty="0"/>
            </a:br>
            <a:r>
              <a:rPr lang="en-GB" dirty="0"/>
              <a:t>Architecture of cloud computing is the combination of both </a:t>
            </a:r>
            <a:r>
              <a:rPr lang="en-GB" b="1" dirty="0"/>
              <a:t>SOA (Service Oriented Architecture) and EDA (Event Driven Architecture). </a:t>
            </a:r>
          </a:p>
          <a:p>
            <a:pPr marL="342900" indent="-342900" fontAlgn="base">
              <a:buAutoNum type="arabicPeriod"/>
            </a:pPr>
            <a:r>
              <a:rPr lang="en-GB" dirty="0"/>
              <a:t>Frontend</a:t>
            </a:r>
          </a:p>
          <a:p>
            <a:pPr marL="342900" indent="-342900" fontAlgn="base">
              <a:buAutoNum type="arabicPeriod"/>
            </a:pPr>
            <a:r>
              <a:rPr lang="en-GB" dirty="0"/>
              <a:t>Backend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D45007F-E78A-42F5-9198-A94637C78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949" y="1648919"/>
            <a:ext cx="9713626" cy="495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52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gure 15.1">
            <a:extLst>
              <a:ext uri="{FF2B5EF4-FFF2-40B4-BE49-F238E27FC236}">
                <a16:creationId xmlns:a16="http://schemas.microsoft.com/office/drawing/2014/main" id="{494E7FBF-0DC5-4415-B481-EBFBC4E75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4" y="955623"/>
            <a:ext cx="11932172" cy="515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67BD1-C97D-4FF4-BEC3-BC759412C645}"/>
              </a:ext>
            </a:extLst>
          </p:cNvPr>
          <p:cNvSpPr txBox="1"/>
          <p:nvPr/>
        </p:nvSpPr>
        <p:spPr>
          <a:xfrm>
            <a:off x="3049250" y="194872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Workflow in Cloud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16025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067BD1-C97D-4FF4-BEC3-BC759412C645}"/>
              </a:ext>
            </a:extLst>
          </p:cNvPr>
          <p:cNvSpPr txBox="1"/>
          <p:nvPr/>
        </p:nvSpPr>
        <p:spPr>
          <a:xfrm>
            <a:off x="3049250" y="194872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Hadoop and HDFS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8F532-89CD-49F1-94CA-F42084269C4B}"/>
              </a:ext>
            </a:extLst>
          </p:cNvPr>
          <p:cNvSpPr txBox="1"/>
          <p:nvPr/>
        </p:nvSpPr>
        <p:spPr>
          <a:xfrm>
            <a:off x="0" y="962719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Hadoop is an open-source framework that allows to store and process big data in a distributed environment across clusters of computers using simple programming models.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It is designed to scale up from single servers to thousands of machines, each offering local computation and storage.</a:t>
            </a:r>
            <a:endParaRPr lang="en-IN" dirty="0"/>
          </a:p>
        </p:txBody>
      </p:sp>
      <p:pic>
        <p:nvPicPr>
          <p:cNvPr id="6146" name="Picture 2" descr="Hadoop Architecture">
            <a:extLst>
              <a:ext uri="{FF2B5EF4-FFF2-40B4-BE49-F238E27FC236}">
                <a16:creationId xmlns:a16="http://schemas.microsoft.com/office/drawing/2014/main" id="{15D9FFE3-6123-458F-AFCD-3024C2C9F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76" y="2048616"/>
            <a:ext cx="5012961" cy="450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D70513-159B-44B4-9655-C4A0A8E8DD1F}"/>
              </a:ext>
            </a:extLst>
          </p:cNvPr>
          <p:cNvSpPr txBox="1"/>
          <p:nvPr/>
        </p:nvSpPr>
        <p:spPr>
          <a:xfrm>
            <a:off x="98685" y="2302073"/>
            <a:ext cx="55376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effectLst/>
                <a:latin typeface="Arial" panose="020B0604020202020204" pitchFamily="34" charset="0"/>
              </a:rPr>
              <a:t>Hadoop Architecture</a:t>
            </a:r>
          </a:p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 its core, Hadoop has two major layers namely −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Arial" panose="020B0604020202020204" pitchFamily="34" charset="0"/>
              </a:rPr>
              <a:t>Processing/Computation layer (MapReduce)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Arial" panose="020B0604020202020204" pitchFamily="34" charset="0"/>
              </a:rPr>
              <a:t>Storage layer (Hadoop Distributed File System).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32F22-8F93-404D-BDDD-1156FE1BC321}"/>
              </a:ext>
            </a:extLst>
          </p:cNvPr>
          <p:cNvSpPr txBox="1"/>
          <p:nvPr/>
        </p:nvSpPr>
        <p:spPr>
          <a:xfrm>
            <a:off x="98685" y="3641427"/>
            <a:ext cx="6565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MapReduce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framework using which we can write applications to process huge amounts of data, in parallel, on large clusters of commodity hardware in a reliable manner.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ED6D9-2A4B-43D1-850D-72D5CF6A147E}"/>
              </a:ext>
            </a:extLst>
          </p:cNvPr>
          <p:cNvSpPr txBox="1"/>
          <p:nvPr/>
        </p:nvSpPr>
        <p:spPr>
          <a:xfrm>
            <a:off x="274194" y="4663833"/>
            <a:ext cx="6390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Hadoop Common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These are Java libraries and utilities required by other Hadoop modules.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Hadoop YARN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This is a framework for job scheduling and cluster resource management.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4F9BB3-1B88-4350-BBE1-A99BBEDBB9CF}"/>
              </a:ext>
            </a:extLst>
          </p:cNvPr>
          <p:cNvSpPr txBox="1"/>
          <p:nvPr/>
        </p:nvSpPr>
        <p:spPr>
          <a:xfrm>
            <a:off x="274193" y="5895281"/>
            <a:ext cx="6390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 a distributed file system that handles large data sets running on commodity hardware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80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067BD1-C97D-4FF4-BEC3-BC759412C645}"/>
              </a:ext>
            </a:extLst>
          </p:cNvPr>
          <p:cNvSpPr txBox="1"/>
          <p:nvPr/>
        </p:nvSpPr>
        <p:spPr>
          <a:xfrm>
            <a:off x="3049250" y="194872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HDFS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1CF0D-00E9-491B-97F4-6519525DF9FF}"/>
              </a:ext>
            </a:extLst>
          </p:cNvPr>
          <p:cNvSpPr txBox="1"/>
          <p:nvPr/>
        </p:nvSpPr>
        <p:spPr>
          <a:xfrm>
            <a:off x="2500" y="718092"/>
            <a:ext cx="12079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HDFS holds very large amount of data and provides easier access.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store such huge data, the files are stored across multiple machines.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These files are stored in redundant fashion to rescue the system from possible data losses in case of failure.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HDFS also makes applications available to parallel processing.</a:t>
            </a:r>
            <a:endParaRPr lang="en-IN" dirty="0"/>
          </a:p>
        </p:txBody>
      </p:sp>
      <p:pic>
        <p:nvPicPr>
          <p:cNvPr id="7170" name="Picture 2" descr="HDFS Architecture">
            <a:extLst>
              <a:ext uri="{FF2B5EF4-FFF2-40B4-BE49-F238E27FC236}">
                <a16:creationId xmlns:a16="http://schemas.microsoft.com/office/drawing/2014/main" id="{B4DC5DD3-4582-455F-8336-0AD92413C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30" y="1918421"/>
            <a:ext cx="9968459" cy="463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4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330710-A578-4423-A6C6-438956E95FA1}"/>
              </a:ext>
            </a:extLst>
          </p:cNvPr>
          <p:cNvSpPr txBox="1"/>
          <p:nvPr/>
        </p:nvSpPr>
        <p:spPr>
          <a:xfrm>
            <a:off x="272323" y="1407640"/>
            <a:ext cx="104606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effectLst/>
                <a:latin typeface="Arial" panose="020B0604020202020204" pitchFamily="34" charset="0"/>
              </a:rPr>
              <a:t>Goals of HDFS</a:t>
            </a:r>
          </a:p>
          <a:p>
            <a:pPr algn="just"/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Fault detection and recovery</a:t>
            </a:r>
            <a:endParaRPr lang="en-GB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Huge datasets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.</a:t>
            </a:r>
          </a:p>
          <a:p>
            <a:pPr algn="just"/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Hardware at data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5285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330710-A578-4423-A6C6-438956E95FA1}"/>
              </a:ext>
            </a:extLst>
          </p:cNvPr>
          <p:cNvSpPr txBox="1"/>
          <p:nvPr/>
        </p:nvSpPr>
        <p:spPr>
          <a:xfrm>
            <a:off x="692047" y="0"/>
            <a:ext cx="1046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effectLst/>
                <a:latin typeface="Arial" panose="020B0604020202020204" pitchFamily="34" charset="0"/>
              </a:rPr>
              <a:t>MapReduce</a:t>
            </a:r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2F622-63F5-45AB-A0EF-2AD23F82D175}"/>
              </a:ext>
            </a:extLst>
          </p:cNvPr>
          <p:cNvSpPr txBox="1"/>
          <p:nvPr/>
        </p:nvSpPr>
        <p:spPr>
          <a:xfrm>
            <a:off x="2500" y="501613"/>
            <a:ext cx="12189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MapReduce is a framework using which we can write applications to process huge amounts of data, in parallel, on huge cluster on local hardware</a:t>
            </a:r>
            <a:endParaRPr lang="en-IN" dirty="0"/>
          </a:p>
        </p:txBody>
      </p:sp>
      <p:pic>
        <p:nvPicPr>
          <p:cNvPr id="1026" name="Picture 2" descr="MapReduce Algorithm">
            <a:extLst>
              <a:ext uri="{FF2B5EF4-FFF2-40B4-BE49-F238E27FC236}">
                <a16:creationId xmlns:a16="http://schemas.microsoft.com/office/drawing/2014/main" id="{4DBF22E3-EE0F-45BE-B4EB-471C136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03" y="2335836"/>
            <a:ext cx="8349521" cy="362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7157A-8C0B-4677-B7C2-7FBCFC87F9DB}"/>
              </a:ext>
            </a:extLst>
          </p:cNvPr>
          <p:cNvSpPr txBox="1"/>
          <p:nvPr/>
        </p:nvSpPr>
        <p:spPr>
          <a:xfrm>
            <a:off x="299803" y="1266831"/>
            <a:ext cx="10603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 stage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Splitting and Mapping)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−.Takes data and convert into new data set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Reduce stage(Shuffling and Reducing )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−.Takes data from Map stage and produce Output.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412E7-F786-4F29-B9AA-F7B9D2D6C5BD}"/>
              </a:ext>
            </a:extLst>
          </p:cNvPr>
          <p:cNvSpPr txBox="1"/>
          <p:nvPr/>
        </p:nvSpPr>
        <p:spPr>
          <a:xfrm>
            <a:off x="3038007" y="6250898"/>
            <a:ext cx="611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effectLst/>
                <a:latin typeface="Arial" panose="020B0604020202020204" pitchFamily="34" charset="0"/>
              </a:rPr>
              <a:t>Architecture</a:t>
            </a:r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6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CD5AD4-7FCA-4D47-B968-EC400FAFC207}"/>
              </a:ext>
            </a:extLst>
          </p:cNvPr>
          <p:cNvSpPr txBox="1"/>
          <p:nvPr/>
        </p:nvSpPr>
        <p:spPr>
          <a:xfrm>
            <a:off x="3976141" y="152612"/>
            <a:ext cx="4373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Service Oriented Architecture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EBDE4-67E0-4788-A4EA-D76C1BA5B108}"/>
              </a:ext>
            </a:extLst>
          </p:cNvPr>
          <p:cNvSpPr txBox="1"/>
          <p:nvPr/>
        </p:nvSpPr>
        <p:spPr>
          <a:xfrm>
            <a:off x="2500" y="521944"/>
            <a:ext cx="12189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A Service-Oriented Architecture or SOA is a design pattern which is designed to build distributed systems that deliver services to other applications through the protocol. 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333333"/>
                </a:solidFill>
                <a:latin typeface="inter-regular"/>
              </a:rPr>
              <a:t> They are the 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architectural approach in which applications make use of services available in the network. </a:t>
            </a:r>
            <a:endParaRPr lang="en-IN" dirty="0"/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0B54D826-CB5C-4346-BD14-610EDE7D7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256" y="2504152"/>
            <a:ext cx="9953625" cy="338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1B5AA3-83B2-42B1-96C8-4F5210649C21}"/>
              </a:ext>
            </a:extLst>
          </p:cNvPr>
          <p:cNvSpPr txBox="1"/>
          <p:nvPr/>
        </p:nvSpPr>
        <p:spPr>
          <a:xfrm>
            <a:off x="0" y="1625155"/>
            <a:ext cx="11480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first report published on SOA by the analysts 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Roy 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W.Schulte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Yefim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V.Natis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 1996.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162CC-583B-48FE-93E7-D4145E61E0F5}"/>
              </a:ext>
            </a:extLst>
          </p:cNvPr>
          <p:cNvSpPr txBox="1"/>
          <p:nvPr/>
        </p:nvSpPr>
        <p:spPr>
          <a:xfrm>
            <a:off x="2750149" y="5891133"/>
            <a:ext cx="799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273239"/>
                </a:solidFill>
                <a:effectLst/>
                <a:latin typeface="urw-din"/>
              </a:rPr>
              <a:t>There are two major roles within Service-oriented Architecture: 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03960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576392E-0B17-4AAC-AE69-E8A1A5C3E632}"/>
              </a:ext>
            </a:extLst>
          </p:cNvPr>
          <p:cNvSpPr txBox="1"/>
          <p:nvPr/>
        </p:nvSpPr>
        <p:spPr>
          <a:xfrm>
            <a:off x="4260954" y="122631"/>
            <a:ext cx="25745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0" dirty="0">
                <a:solidFill>
                  <a:srgbClr val="273239"/>
                </a:solidFill>
                <a:effectLst/>
                <a:latin typeface="urw-din"/>
              </a:rPr>
              <a:t>Components of SOA:</a:t>
            </a:r>
            <a:r>
              <a:rPr lang="en-IN" sz="20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endParaRPr lang="en-IN" sz="2000" dirty="0"/>
          </a:p>
        </p:txBody>
      </p:sp>
      <p:pic>
        <p:nvPicPr>
          <p:cNvPr id="2" name="Picture 1" descr="Service Oriented Architecture (SOA)">
            <a:extLst>
              <a:ext uri="{FF2B5EF4-FFF2-40B4-BE49-F238E27FC236}">
                <a16:creationId xmlns:a16="http://schemas.microsoft.com/office/drawing/2014/main" id="{2FBD8438-B1B8-8661-BEA5-56B72E862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554" y="522741"/>
            <a:ext cx="7180288" cy="60114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857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2E718-93E1-49E9-A5E4-A9F7E3E44915}"/>
              </a:ext>
            </a:extLst>
          </p:cNvPr>
          <p:cNvSpPr txBox="1"/>
          <p:nvPr/>
        </p:nvSpPr>
        <p:spPr>
          <a:xfrm>
            <a:off x="708289" y="840565"/>
            <a:ext cx="3563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Guiding Principles of SOA: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156EE-99D5-41FF-B743-6E56BD541AEE}"/>
              </a:ext>
            </a:extLst>
          </p:cNvPr>
          <p:cNvSpPr txBox="1"/>
          <p:nvPr/>
        </p:nvSpPr>
        <p:spPr>
          <a:xfrm>
            <a:off x="538397" y="1302230"/>
            <a:ext cx="83170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Standardized Service Contract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Loose Coupling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Service Abstraction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Service Reusability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Service Autonomy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Service Discoverability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Service Composability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01772-AA36-4127-8893-9967F188F223}"/>
              </a:ext>
            </a:extLst>
          </p:cNvPr>
          <p:cNvSpPr txBox="1"/>
          <p:nvPr/>
        </p:nvSpPr>
        <p:spPr>
          <a:xfrm>
            <a:off x="4856814" y="1302230"/>
            <a:ext cx="71652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supports loose coupling everywhere in the project.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supports interoperability.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increases the quality of service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supports vendor diversity.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promotes discovery and federation.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is location-transparent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/>
              <a:t>SOA is still maturing and achievable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42DED-368E-4AE1-995C-49ECB95F6251}"/>
              </a:ext>
            </a:extLst>
          </p:cNvPr>
          <p:cNvSpPr txBox="1"/>
          <p:nvPr/>
        </p:nvSpPr>
        <p:spPr>
          <a:xfrm>
            <a:off x="5852416" y="840565"/>
            <a:ext cx="31729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Characteristics of SOA:</a:t>
            </a:r>
          </a:p>
        </p:txBody>
      </p:sp>
    </p:spTree>
    <p:extLst>
      <p:ext uri="{BB962C8B-B14F-4D97-AF65-F5344CB8AC3E}">
        <p14:creationId xmlns:p14="http://schemas.microsoft.com/office/powerpoint/2010/main" val="84967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F2D7A2-EF71-4C4B-9A1A-DA808F4BE0E5}"/>
              </a:ext>
            </a:extLst>
          </p:cNvPr>
          <p:cNvSpPr txBox="1"/>
          <p:nvPr/>
        </p:nvSpPr>
        <p:spPr>
          <a:xfrm>
            <a:off x="0" y="34477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dirty="0">
                <a:solidFill>
                  <a:srgbClr val="273239"/>
                </a:solidFill>
                <a:effectLst/>
                <a:latin typeface="urw-din"/>
              </a:rPr>
              <a:t>Advantages of SOA:</a:t>
            </a: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Service reusability: </a:t>
            </a:r>
            <a:endParaRPr lang="en-GB" sz="2000" dirty="0">
              <a:solidFill>
                <a:srgbClr val="273239"/>
              </a:solidFill>
              <a:latin typeface="urw-din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Easy maintenance: 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Platform independent: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Availability: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Reliability: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Scalability: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0D9C3-0DE6-4335-90B3-D56EE169FB62}"/>
              </a:ext>
            </a:extLst>
          </p:cNvPr>
          <p:cNvSpPr txBox="1"/>
          <p:nvPr/>
        </p:nvSpPr>
        <p:spPr>
          <a:xfrm>
            <a:off x="0" y="2757868"/>
            <a:ext cx="61234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dirty="0">
                <a:solidFill>
                  <a:srgbClr val="273239"/>
                </a:solidFill>
                <a:effectLst/>
                <a:latin typeface="urw-din"/>
              </a:rPr>
              <a:t>Disadvantages of SOA:</a:t>
            </a: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High overhead: 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High investment: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Complex service management: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71EFE-F59F-47F8-AC13-35DD86D63644}"/>
              </a:ext>
            </a:extLst>
          </p:cNvPr>
          <p:cNvSpPr txBox="1"/>
          <p:nvPr/>
        </p:nvSpPr>
        <p:spPr>
          <a:xfrm>
            <a:off x="347272" y="4559186"/>
            <a:ext cx="61234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dirty="0">
                <a:solidFill>
                  <a:srgbClr val="273239"/>
                </a:solidFill>
                <a:effectLst/>
                <a:latin typeface="urw-din"/>
              </a:rPr>
              <a:t>Practical usage  of SOA:</a:t>
            </a: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Military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Health Sector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273239"/>
                </a:solidFill>
                <a:effectLst/>
                <a:latin typeface="urw-din"/>
              </a:rPr>
              <a:t>Gaming's</a:t>
            </a:r>
          </a:p>
        </p:txBody>
      </p:sp>
    </p:spTree>
    <p:extLst>
      <p:ext uri="{BB962C8B-B14F-4D97-AF65-F5344CB8AC3E}">
        <p14:creationId xmlns:p14="http://schemas.microsoft.com/office/powerpoint/2010/main" val="1774189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F2D7A2-EF71-4C4B-9A1A-DA808F4BE0E5}"/>
              </a:ext>
            </a:extLst>
          </p:cNvPr>
          <p:cNvSpPr txBox="1"/>
          <p:nvPr/>
        </p:nvSpPr>
        <p:spPr>
          <a:xfrm>
            <a:off x="1154242" y="2967335"/>
            <a:ext cx="9908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7200" b="1" i="0" dirty="0">
                <a:solidFill>
                  <a:srgbClr val="273239"/>
                </a:solidFill>
                <a:effectLst/>
                <a:latin typeface="urw-din"/>
              </a:rPr>
              <a:t>End of the UNIT 6</a:t>
            </a:r>
            <a:endParaRPr lang="en-GB" sz="660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77105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894</Words>
  <Application>Microsoft Office PowerPoint</Application>
  <PresentationFormat>Widescreen</PresentationFormat>
  <Paragraphs>113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inter-regular</vt:lpstr>
      <vt:lpstr>Roboto</vt:lpstr>
      <vt:lpstr>Source Sans Pro</vt:lpstr>
      <vt:lpstr>Times New Roman</vt:lpstr>
      <vt:lpstr>urw-din</vt:lpstr>
      <vt:lpstr>Wingdings</vt:lpstr>
      <vt:lpstr>Office Theme</vt:lpstr>
      <vt:lpstr>Service Oriented Architecture in Cloud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Oriented Architecture in Cloud Computing</dc:title>
  <dc:creator>Harendra Bikram Shah</dc:creator>
  <cp:lastModifiedBy>Harendra Bikram Shah</cp:lastModifiedBy>
  <cp:revision>41</cp:revision>
  <dcterms:created xsi:type="dcterms:W3CDTF">2022-01-08T09:18:19Z</dcterms:created>
  <dcterms:modified xsi:type="dcterms:W3CDTF">2023-01-16T16:12:10Z</dcterms:modified>
</cp:coreProperties>
</file>