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5945-12C4-7E6F-7782-F11916F57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AAEBE-4E66-633A-8170-E10310CB1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FDE7-8154-F82B-0089-6472B0EF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92BF-23A2-384D-10D3-9A451D720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6631-8F46-A7D4-E21A-0F252265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7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659F7-B2CE-F49B-D587-F4CDBF15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B379-1680-B623-1BA6-4D543151C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30DE3-2A81-F076-C2C0-70E9B876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18104-5C27-B924-FD16-7230E60B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93FE2-AE6A-CD4B-014C-192B9C7C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07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0E0F-4C89-8E84-ADE4-99C8EA10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E2E78-0D08-DC19-FE29-C010780A7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5F2D6-069E-B304-19FD-E947C617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0BA2D-9240-DFA9-42EB-AA55E9B4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FC53-49D1-8732-1178-991F4C21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9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CEC7-50AF-FFEE-3452-D5212A31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C215-3D89-8DA8-B82B-189C97E78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EA9AC-A21C-9300-D2EB-907C36D2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32695-931F-6648-B740-6027434B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3825-35AF-E737-11E7-509E908B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86D88-97B5-009A-DA1E-123505A8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24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0A90-DB78-B5DF-753D-0147F52F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E5A9-7D03-5D3C-465A-E69949574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CD116-01F2-25CB-458E-91666BE43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5A8F7-4EA2-6E11-537E-65631ED9B7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E92E5A-6AEE-AE1E-BF52-80FC9F56F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FACBF-0DF0-64E7-756C-23ABF5D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6109C-3381-B370-5EB0-5DC011BD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A27FFA-CD86-610B-1544-1CD2D3AA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4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3A71-1576-54CA-FE3F-3A88B950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87ECA-B5D9-7C36-CA61-8353BB02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EF87E-0782-510D-21FF-C6C68C39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A599B-8D71-4457-6C8D-94A9159D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2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84C28-429C-DC49-7A76-A0ED80902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2C456-0D60-338C-8178-25CD01CC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1979F-3078-C4A3-ACC4-792CEBB8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31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6030-7A4C-307F-FAA2-E39B1AFF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EB2A-9FD9-4E69-BFDB-250F97FCC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8E8F6-23DB-FED4-F988-0994989AF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86A4B-FB62-50C3-0B4E-E2000151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4110F-6A16-E7D8-C860-835FAE5D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5FE01-BAE2-E472-7090-FE4209C5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79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B364-5748-12C9-50DF-3F934276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6C88F-9A12-5F35-F63F-A9287E81C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77274-AF09-33FD-7A2F-75E7D05ED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C4D70-3575-3722-8DC0-1EE451F3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97945-0801-BD9C-E5F7-19A768C7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81CBB-C75C-42AA-AE3F-4C6B5FD5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59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2546-7511-B091-7294-75457672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A3A13-40F3-A358-5B5A-5E8C61AC7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FE09C-3933-1E38-E8C0-190AAD28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550A6-CA3D-2F20-822C-BD6FBF46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36A44-0171-6AD0-0912-53BCC442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28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CDFE9-B82A-3D62-73E9-852695EE2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27444-C066-778F-305D-B284B87B9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8542-2F92-87A8-984D-2AC74177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63DF1-0F84-425E-848B-B6126EF7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9683A-096C-2B9C-6320-9C2946F6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48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D31CB-85E3-A58E-43F9-29A581EA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5C37D-8115-C939-3055-A27C48B5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6AB7-4133-96E2-B54C-FF964FF78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20-04-2024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25C0-8DD8-65E1-A144-6742323E1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F843E-2D00-E5E6-1E4E-A27797761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1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E4CD-FC69-6CB5-2F1B-F01F865A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89120"/>
            <a:ext cx="12084148" cy="1025613"/>
          </a:xfrm>
        </p:spPr>
        <p:txBody>
          <a:bodyPr>
            <a:noAutofit/>
          </a:bodyPr>
          <a:lstStyle/>
          <a:p>
            <a:r>
              <a:rPr lang="en-GB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2AA2C-C26D-A64E-71BA-D927C0363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 Computer</a:t>
            </a: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BA494-A71F-9744-8550-AA4F45EEDE2C}"/>
              </a:ext>
            </a:extLst>
          </p:cNvPr>
          <p:cNvSpPr txBox="1"/>
          <p:nvPr/>
        </p:nvSpPr>
        <p:spPr>
          <a:xfrm>
            <a:off x="9562455" y="1814733"/>
            <a:ext cx="2089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Hour:45hrs</a:t>
            </a:r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962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5E4CD-FC69-6CB5-2F1B-F01F865AF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943"/>
            <a:ext cx="9144000" cy="96127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2AA2C-C26D-A64E-71BA-D927C0363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79095"/>
            <a:ext cx="11025809" cy="4292835"/>
          </a:xfrm>
        </p:spPr>
        <p:txBody>
          <a:bodyPr>
            <a:normAutofit/>
          </a:bodyPr>
          <a:lstStyle/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in Cloud Computing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Roles of Grid Computing and Autonomic Computing in Cloud Computing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 in Cloud Computing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Models and Cloud Infrastructure 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Oriented Architecture in Cloud Computing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in Cloud Computing</a:t>
            </a:r>
          </a:p>
          <a:p>
            <a:pPr marL="571500" indent="-342900" algn="l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Studies: Cloud platforms and Applications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7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7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7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7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algn="l">
              <a:lnSpc>
                <a:spcPct val="107000"/>
              </a:lnSpc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2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F6799B-6DB4-420A-CB66-5E85096A3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856902"/>
              </p:ext>
            </p:extLst>
          </p:nvPr>
        </p:nvGraphicFramePr>
        <p:xfrm>
          <a:off x="0" y="0"/>
          <a:ext cx="12192000" cy="28463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4157">
                  <a:extLst>
                    <a:ext uri="{9D8B030D-6E8A-4147-A177-3AD203B41FA5}">
                      <a16:colId xmlns:a16="http://schemas.microsoft.com/office/drawing/2014/main" val="3588604873"/>
                    </a:ext>
                  </a:extLst>
                </a:gridCol>
                <a:gridCol w="11237843">
                  <a:extLst>
                    <a:ext uri="{9D8B030D-6E8A-4147-A177-3AD203B41FA5}">
                      <a16:colId xmlns:a16="http://schemas.microsoft.com/office/drawing/2014/main" val="3186995228"/>
                    </a:ext>
                  </a:extLst>
                </a:gridCol>
              </a:tblGrid>
              <a:tr h="365124">
                <a:tc>
                  <a:txBody>
                    <a:bodyPr/>
                    <a:lstStyle/>
                    <a:p>
                      <a:pPr marL="38100" algn="ctr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1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                            </a:t>
                      </a:r>
                      <a:r>
                        <a:rPr lang="en-IN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 hrs]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100955"/>
                  </a:ext>
                </a:extLst>
              </a:tr>
              <a:tr h="16432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Defining the Cloud,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Emergence of Cloud Computing, Grid Computing or Cloud Computing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 of Cloud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 Paradigms and Services, Components of Cloud Computing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Ethical issues in Cloud Computing, Cloud Vulnerabilities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 of Cloud Computing.</a:t>
                      </a:r>
                      <a:endParaRPr lang="en-IN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120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F640CD-C9E0-ABB7-D977-E2AFFA79F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138783"/>
              </p:ext>
            </p:extLst>
          </p:nvPr>
        </p:nvGraphicFramePr>
        <p:xfrm>
          <a:off x="0" y="2941983"/>
          <a:ext cx="12192001" cy="3669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3284">
                  <a:extLst>
                    <a:ext uri="{9D8B030D-6E8A-4147-A177-3AD203B41FA5}">
                      <a16:colId xmlns:a16="http://schemas.microsoft.com/office/drawing/2014/main" val="127210163"/>
                    </a:ext>
                  </a:extLst>
                </a:gridCol>
                <a:gridCol w="11238717">
                  <a:extLst>
                    <a:ext uri="{9D8B030D-6E8A-4147-A177-3AD203B41FA5}">
                      <a16:colId xmlns:a16="http://schemas.microsoft.com/office/drawing/2014/main" val="2683895371"/>
                    </a:ext>
                  </a:extLst>
                </a:gridCol>
              </a:tblGrid>
              <a:tr h="341727">
                <a:tc>
                  <a:txBody>
                    <a:bodyPr/>
                    <a:lstStyle/>
                    <a:p>
                      <a:pPr marL="38100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2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NETWORKS IN CLOUD COMPUTING     </a:t>
                      </a:r>
                      <a:r>
                        <a:rPr lang="en-IN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 hrs]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997916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Computing, Distributed Systems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 Architecture for Cloud: Data </a:t>
                      </a:r>
                      <a:r>
                        <a:rPr lang="en-IN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Network, Data </a:t>
                      </a:r>
                      <a:r>
                        <a:rPr lang="en-IN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Interconnect Network  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Foundations of Cloud Computing Infrastructures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Virtualization Technology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in Cloud Computing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Network Architecture for Hybrid Deployment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Concept of Autonomic Computing</a:t>
                      </a:r>
                    </a:p>
                    <a:p>
                      <a:pPr marL="2032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Source Software in Data </a:t>
                      </a:r>
                      <a:r>
                        <a:rPr lang="en-IN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Centers</a:t>
                      </a: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2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09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E2B3D8-44D7-8E9A-2387-6A4E98D0E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45705"/>
              </p:ext>
            </p:extLst>
          </p:nvPr>
        </p:nvGraphicFramePr>
        <p:xfrm>
          <a:off x="0" y="0"/>
          <a:ext cx="12192000" cy="2804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3284">
                  <a:extLst>
                    <a:ext uri="{9D8B030D-6E8A-4147-A177-3AD203B41FA5}">
                      <a16:colId xmlns:a16="http://schemas.microsoft.com/office/drawing/2014/main" val="127210163"/>
                    </a:ext>
                  </a:extLst>
                </a:gridCol>
                <a:gridCol w="11238716">
                  <a:extLst>
                    <a:ext uri="{9D8B030D-6E8A-4147-A177-3AD203B41FA5}">
                      <a16:colId xmlns:a16="http://schemas.microsoft.com/office/drawing/2014/main" val="2683895371"/>
                    </a:ext>
                  </a:extLst>
                </a:gridCol>
              </a:tblGrid>
              <a:tr h="341727">
                <a:tc>
                  <a:txBody>
                    <a:bodyPr/>
                    <a:lstStyle/>
                    <a:p>
                      <a:pPr marL="38100" algn="ctr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3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ROLES OF GRID COMPUTING AND AUTONOMIC COMPUTING IN CLOUD COMPUTING    </a:t>
                      </a: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 hrs]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997916"/>
                  </a:ext>
                </a:extLst>
              </a:tr>
              <a:tr h="274398">
                <a:tc>
                  <a:txBody>
                    <a:bodyPr/>
                    <a:lstStyle/>
                    <a:p>
                      <a:r>
                        <a:rPr lang="en-IN" b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 Computing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Interaction of Models of Grid and Cloud Computing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Distributed Computing in Grid and Cloud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Layered Models and Usages Patterns in Grid and Cloud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Interoperability in Grids and Clouds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Autonomic Computing, System Models of Autonomic Computing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Roles and Importance of Autonomic Computing in Cloud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Autonomic Cloud Computing</a:t>
                      </a:r>
                      <a:endParaRPr lang="en-IN" sz="20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2282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5DF7D1-9F62-6D6E-3165-0B8A92281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5816"/>
              </p:ext>
            </p:extLst>
          </p:nvPr>
        </p:nvGraphicFramePr>
        <p:xfrm>
          <a:off x="0" y="2812111"/>
          <a:ext cx="12192000" cy="286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7896">
                  <a:extLst>
                    <a:ext uri="{9D8B030D-6E8A-4147-A177-3AD203B41FA5}">
                      <a16:colId xmlns:a16="http://schemas.microsoft.com/office/drawing/2014/main" val="3200850829"/>
                    </a:ext>
                  </a:extLst>
                </a:gridCol>
                <a:gridCol w="11304104">
                  <a:extLst>
                    <a:ext uri="{9D8B030D-6E8A-4147-A177-3AD203B41FA5}">
                      <a16:colId xmlns:a16="http://schemas.microsoft.com/office/drawing/2014/main" val="3867545953"/>
                    </a:ext>
                  </a:extLst>
                </a:gridCol>
              </a:tblGrid>
              <a:tr h="366831">
                <a:tc>
                  <a:txBody>
                    <a:bodyPr/>
                    <a:lstStyle/>
                    <a:p>
                      <a:pPr marR="63500" algn="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nit 4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VT IN CLOUD COMPUTING                                        </a:t>
                      </a:r>
                      <a:r>
                        <a:rPr lang="en-IN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 Hrs]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478351"/>
                  </a:ext>
                </a:extLst>
              </a:tr>
              <a:tr h="27512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Virtualization Technology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Hypervisors (</a:t>
                      </a:r>
                      <a:r>
                        <a:rPr lang="en-IN" sz="20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ESXi</a:t>
                      </a: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)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Hypervisor Networks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Machines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VM management and configurations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Data stores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 and Virtualization</a:t>
                      </a: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Academic Environment and Virtualization.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38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07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0F25C0-78B1-2BDB-3F30-C88D31348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111954"/>
              </p:ext>
            </p:extLst>
          </p:nvPr>
        </p:nvGraphicFramePr>
        <p:xfrm>
          <a:off x="0" y="0"/>
          <a:ext cx="12192000" cy="3718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5947">
                  <a:extLst>
                    <a:ext uri="{9D8B030D-6E8A-4147-A177-3AD203B41FA5}">
                      <a16:colId xmlns:a16="http://schemas.microsoft.com/office/drawing/2014/main" val="3075708602"/>
                    </a:ext>
                  </a:extLst>
                </a:gridCol>
                <a:gridCol w="10986053">
                  <a:extLst>
                    <a:ext uri="{9D8B030D-6E8A-4147-A177-3AD203B41FA5}">
                      <a16:colId xmlns:a16="http://schemas.microsoft.com/office/drawing/2014/main" val="3504693963"/>
                    </a:ext>
                  </a:extLst>
                </a:gridCol>
              </a:tblGrid>
              <a:tr h="175260">
                <a:tc>
                  <a:txBody>
                    <a:bodyPr/>
                    <a:lstStyle/>
                    <a:p>
                      <a:pPr marR="63500" algn="ctr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5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SERVICE MODELS AND CLOUD INFRASTRUCTURE [6 Hrs]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29529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r>
                        <a:rPr lang="en-IN" b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Jericho Cloud Cube Model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Infrastructure-as-a-Service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Platform-as-a-Service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Software-as-a-Service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Communication-as-a-Service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Database-as-a-Service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 at Amazon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Amazon Web Services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Computing from the Google Perspective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 Azure and Online Services</a:t>
                      </a:r>
                    </a:p>
                    <a:p>
                      <a:pPr marL="152400"/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Source Software Platforms for Private Clouds.</a:t>
                      </a:r>
                      <a:endParaRPr lang="en-IN" sz="2000" b="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9232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C75565-091A-2552-3225-5CC8DC3D0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461016"/>
              </p:ext>
            </p:extLst>
          </p:nvPr>
        </p:nvGraphicFramePr>
        <p:xfrm>
          <a:off x="0" y="3718560"/>
          <a:ext cx="12191998" cy="3169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2547">
                  <a:extLst>
                    <a:ext uri="{9D8B030D-6E8A-4147-A177-3AD203B41FA5}">
                      <a16:colId xmlns:a16="http://schemas.microsoft.com/office/drawing/2014/main" val="3487515059"/>
                    </a:ext>
                  </a:extLst>
                </a:gridCol>
                <a:gridCol w="10969451">
                  <a:extLst>
                    <a:ext uri="{9D8B030D-6E8A-4147-A177-3AD203B41FA5}">
                      <a16:colId xmlns:a16="http://schemas.microsoft.com/office/drawing/2014/main" val="813659857"/>
                    </a:ext>
                  </a:extLst>
                </a:gridCol>
              </a:tblGrid>
              <a:tr h="395785">
                <a:tc>
                  <a:txBody>
                    <a:bodyPr/>
                    <a:lstStyle/>
                    <a:p>
                      <a:pPr marR="63500" algn="ctr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6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Service Oriented Architecture in Cloud Computing            </a:t>
                      </a: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 Hrs]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049028"/>
                  </a:ext>
                </a:extLst>
              </a:tr>
              <a:tr h="272087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Cloud Application: Processing Pipelines, Batch Processing Systems, Parallel and Distributed Processing in Cloud Web Applications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Style for Cloud Applications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Workflow in Cloud Applications, Coordination Models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Hadoop System, Hadoop Distributed File System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 Programming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Programming and Map Reduce Programming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Computing and Cloud Computing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863600" algn="l"/>
                        </a:tabLst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Oriented Architecture (SOA), Characteristic of SOA</a:t>
                      </a:r>
                      <a:endParaRPr lang="en-US" alt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76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16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FC7016-073C-AA80-9556-44076D757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521877"/>
              </p:ext>
            </p:extLst>
          </p:nvPr>
        </p:nvGraphicFramePr>
        <p:xfrm>
          <a:off x="0" y="0"/>
          <a:ext cx="12192000" cy="36083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191">
                  <a:extLst>
                    <a:ext uri="{9D8B030D-6E8A-4147-A177-3AD203B41FA5}">
                      <a16:colId xmlns:a16="http://schemas.microsoft.com/office/drawing/2014/main" val="3244075198"/>
                    </a:ext>
                  </a:extLst>
                </a:gridCol>
                <a:gridCol w="11025809">
                  <a:extLst>
                    <a:ext uri="{9D8B030D-6E8A-4147-A177-3AD203B41FA5}">
                      <a16:colId xmlns:a16="http://schemas.microsoft.com/office/drawing/2014/main" val="988832503"/>
                    </a:ext>
                  </a:extLst>
                </a:gridCol>
              </a:tblGrid>
              <a:tr h="193754">
                <a:tc>
                  <a:txBody>
                    <a:bodyPr/>
                    <a:lstStyle/>
                    <a:p>
                      <a:pPr marR="63500" algn="r"/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7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IN CLOUD COMPUTING                       [6HRS]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860372"/>
                  </a:ext>
                </a:extLst>
              </a:tr>
              <a:tr h="31526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Security Challenges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Dimensions of Cloud Security: Security and Privacy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Compliance, and Legal or Contractual Issues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Management, Security Monitoring, Incident Response Planning, Security Architecture Design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Vulnerability Assessment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and Application Security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Machine Security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GB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Handling Disasters management in Cloud. </a:t>
                      </a:r>
                      <a:endParaRPr lang="en-IN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0256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FC7D5E-EF6B-8150-F113-5F191C2D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106184"/>
              </p:ext>
            </p:extLst>
          </p:nvPr>
        </p:nvGraphicFramePr>
        <p:xfrm>
          <a:off x="0" y="3740383"/>
          <a:ext cx="12192000" cy="23738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183">
                  <a:extLst>
                    <a:ext uri="{9D8B030D-6E8A-4147-A177-3AD203B41FA5}">
                      <a16:colId xmlns:a16="http://schemas.microsoft.com/office/drawing/2014/main" val="2637259046"/>
                    </a:ext>
                  </a:extLst>
                </a:gridCol>
                <a:gridCol w="11078817">
                  <a:extLst>
                    <a:ext uri="{9D8B030D-6E8A-4147-A177-3AD203B41FA5}">
                      <a16:colId xmlns:a16="http://schemas.microsoft.com/office/drawing/2014/main" val="278012086"/>
                    </a:ext>
                  </a:extLst>
                </a:gridCol>
              </a:tblGrid>
              <a:tr h="286603">
                <a:tc>
                  <a:txBody>
                    <a:bodyPr/>
                    <a:lstStyle/>
                    <a:p>
                      <a:pPr marR="63500" algn="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 8</a:t>
                      </a:r>
                      <a:endParaRPr lang="en-I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STUDIES: CLOUD PLATFORMS AND APPLICATIONS                </a:t>
                      </a:r>
                      <a:r>
                        <a:rPr lang="en-IN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 Hrs]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50968"/>
                  </a:ext>
                </a:extLst>
              </a:tr>
              <a:tr h="28660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Amazon Elastic Compute Cloud and IBMs Blue Cloud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Centre Networking Use Case Studies and Enabling Technologies and Protocols in Modern Data Centre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studies: Infrastructure as a Service (IaaS)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as a Service (PaaS)</a:t>
                      </a:r>
                    </a:p>
                    <a:p>
                      <a:pPr marL="152400">
                        <a:lnSpc>
                          <a:spcPct val="150000"/>
                        </a:lnSpc>
                      </a:pPr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as a Service (SaaS).</a:t>
                      </a:r>
                    </a:p>
                  </a:txBody>
                  <a:tcPr marL="0" marR="0" marT="0" marB="0" anchor="b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397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51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ABD92A-3626-FC20-C493-AAC83D42A598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10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518</Words>
  <Application>Microsoft Office PowerPoint</Application>
  <PresentationFormat>Widescreen</PresentationFormat>
  <Paragraphs>105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CLOUD COMPUTING</vt:lpstr>
      <vt:lpstr>OUTLINES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Harandra Bikram Shah</cp:lastModifiedBy>
  <cp:revision>69</cp:revision>
  <dcterms:created xsi:type="dcterms:W3CDTF">2023-09-29T16:55:15Z</dcterms:created>
  <dcterms:modified xsi:type="dcterms:W3CDTF">2024-04-20T16:41:12Z</dcterms:modified>
</cp:coreProperties>
</file>