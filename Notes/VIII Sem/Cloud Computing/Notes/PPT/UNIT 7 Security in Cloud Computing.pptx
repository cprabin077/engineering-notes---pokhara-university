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59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1C9A-143B-4083-8D78-E8E318F3C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1F6DA-8098-4FD7-A658-E9FABF687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7292A-AB2C-4DE1-BEB1-36D13C1B7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AF81-8D0A-4A5C-8129-94F1E1F7F05C}" type="datetimeFigureOut">
              <a:rPr lang="en-IN" smtClean="0"/>
              <a:t>23-01-2023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690D9-F60E-4250-9B25-C53F568A4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9862-8386-4FA7-A464-595828B7A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A09E-40F0-45CF-A900-4F705AAC5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75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A346-7B2A-4C68-BC8E-BD24873A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647A-D6A9-4370-998C-5652C39A5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798C1-1A97-4618-93CC-E09CC818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AF81-8D0A-4A5C-8129-94F1E1F7F05C}" type="datetimeFigureOut">
              <a:rPr lang="en-IN" smtClean="0"/>
              <a:t>23-01-2023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4F885-82EF-4127-830E-805C4943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D780E-C9BE-42F9-B82E-6D0299C01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A09E-40F0-45CF-A900-4F705AAC5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2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16F8B-4A88-44FD-BAEF-DF97B10F9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75FB0-E501-4E3F-B2A9-4636D09B8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0EF4B-940C-411B-9E45-9D1B4F7C4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AF81-8D0A-4A5C-8129-94F1E1F7F05C}" type="datetimeFigureOut">
              <a:rPr lang="en-IN" smtClean="0"/>
              <a:t>23-01-2023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DDBC1-CDB0-4A51-B559-AA75D2E5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2DCCB-D431-4FA8-A105-51FFEA68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A09E-40F0-45CF-A900-4F705AAC5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347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52CB-3EEF-493A-B653-25115E82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3A566-9AE9-49B3-B733-F70B7DBF7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49370-827E-4828-84BF-7782869B1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2BBEE-34B9-47DD-A7BF-98354DAA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AF81-8D0A-4A5C-8129-94F1E1F7F05C}" type="datetimeFigureOut">
              <a:rPr lang="en-IN" smtClean="0"/>
              <a:t>23-01-2023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26214-5869-41E7-A40B-0F29BFDDA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5D0B3-24D4-4821-8652-5CFCCD391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A09E-40F0-45CF-A900-4F705AAC5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0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40CA-A374-491F-AF3B-7AB30960A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545AB-D918-48FC-B578-015C0F2F6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797E1-BE90-4B22-BBDF-BCEC98376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3DC02-82F9-42B6-A0DA-83FA9A0BB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6901F9-08CE-46DB-B7E5-67BF24C06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DF553E-3678-452B-AA99-83346D8B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AF81-8D0A-4A5C-8129-94F1E1F7F05C}" type="datetimeFigureOut">
              <a:rPr lang="en-IN" smtClean="0"/>
              <a:t>23-01-2023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BF7C84-F764-4303-BBF7-95B3606DB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CE747-4999-4240-B6C1-2A1F1386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A09E-40F0-45CF-A900-4F705AAC5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829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20FA2-DCCF-4590-810A-9C93E214A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480D7-2B1B-46DD-873D-01039132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AF81-8D0A-4A5C-8129-94F1E1F7F05C}" type="datetimeFigureOut">
              <a:rPr lang="en-IN" smtClean="0"/>
              <a:t>23-01-2023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8491B4-3BEF-4C6F-91B7-DF35615A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EB8BE-2D40-4DD2-8DD5-9A833B07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A09E-40F0-45CF-A900-4F705AAC5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1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CCF765-E340-4620-9F27-C7BF12C9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AF81-8D0A-4A5C-8129-94F1E1F7F05C}" type="datetimeFigureOut">
              <a:rPr lang="en-IN" smtClean="0"/>
              <a:t>23-01-2023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728F7-B205-4E26-93C3-93C0734DF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9690F-E1A9-4E23-A74E-7C78B8333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A09E-40F0-45CF-A900-4F705AAC5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503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208CF-B54D-4D26-8C7E-EC2879B11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A8E09-B2D4-4C02-B674-24DD37F16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56AB-F160-407C-B4BB-68F13FC93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39335-04AF-42E7-B25B-5D8250A20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AF81-8D0A-4A5C-8129-94F1E1F7F05C}" type="datetimeFigureOut">
              <a:rPr lang="en-IN" smtClean="0"/>
              <a:t>23-01-2023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3A44D-2A5E-4CC5-8F75-A0500FE3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ADC32-6922-48AE-9C8F-C0B1857D7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A09E-40F0-45CF-A900-4F705AAC5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852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2EAD-1F93-4F33-9965-A51CFB69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151D86-ED89-45D7-BD11-4AA996491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F1A4-D95B-40EE-AD91-9E80305E1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1A822-E107-4E60-8597-1F5E3D41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AF81-8D0A-4A5C-8129-94F1E1F7F05C}" type="datetimeFigureOut">
              <a:rPr lang="en-IN" smtClean="0"/>
              <a:t>23-01-2023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2ACB3-CEFA-4C04-8A80-C1FC3E8D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32E32-9B1C-4460-836B-CC55A947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A09E-40F0-45CF-A900-4F705AAC5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03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AE12-85B9-4618-8C9F-B1DB1874E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C1D17-1FA3-4D4B-9D10-B92C5A6DE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CF1EA-A66E-427D-9031-4F7DCD91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AF81-8D0A-4A5C-8129-94F1E1F7F05C}" type="datetimeFigureOut">
              <a:rPr lang="en-IN" smtClean="0"/>
              <a:t>23-01-2023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8FE95-B4CE-41AD-9907-38AFC3915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35F66-A5BD-4957-BAD3-BFEE331A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A09E-40F0-45CF-A900-4F705AAC5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043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AB252-51C2-4495-B014-F460A9ED5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B9D83-95E2-4B9A-9E6B-995EBDED5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D32DE-FA12-416E-BBDA-95C4DA3D3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AF81-8D0A-4A5C-8129-94F1E1F7F05C}" type="datetimeFigureOut">
              <a:rPr lang="en-IN" smtClean="0"/>
              <a:t>23-01-2023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D35E2-424D-4D3C-8080-78C687D6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B9778-FA97-477A-BAED-3542DF99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A09E-40F0-45CF-A900-4F705AAC5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05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0308B-C242-4FD2-A050-14A04FBA3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416C2-4534-49F9-8602-D05541E9C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BA805-2CBD-498F-BD4B-3362F0953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6AF81-8D0A-4A5C-8129-94F1E1F7F05C}" type="datetimeFigureOut">
              <a:rPr lang="en-IN" smtClean="0"/>
              <a:t>23-01-2023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9511D-4824-4891-AAF0-D0A9E85BF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ECD8E-9383-486E-9541-B0B9CDB57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3A09E-40F0-45CF-A900-4F705AAC5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908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0B67A-9AC9-48B0-AECB-2E6371460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9465"/>
            <a:ext cx="9144000" cy="1785729"/>
          </a:xfrm>
        </p:spPr>
        <p:txBody>
          <a:bodyPr/>
          <a:lstStyle/>
          <a:p>
            <a:r>
              <a:rPr lang="en-IN" b="1" dirty="0"/>
              <a:t>UNIT 7 Security in Cloud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E8F44-A23E-4272-99D2-67528FFB9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9088" y="3057045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>
                <a:solidFill>
                  <a:srgbClr val="FF0000"/>
                </a:solidFill>
              </a:rPr>
              <a:t>Prepared by </a:t>
            </a:r>
          </a:p>
          <a:p>
            <a:r>
              <a:rPr lang="en-GB" dirty="0">
                <a:solidFill>
                  <a:srgbClr val="FF0000"/>
                </a:solidFill>
              </a:rPr>
              <a:t>Er.Harendra Bikram Shah</a:t>
            </a:r>
          </a:p>
          <a:p>
            <a:r>
              <a:rPr lang="en-GB" dirty="0">
                <a:solidFill>
                  <a:srgbClr val="FF0000"/>
                </a:solidFill>
              </a:rPr>
              <a:t>(Lecturer)</a:t>
            </a:r>
          </a:p>
          <a:p>
            <a:r>
              <a:rPr lang="en-GB" dirty="0">
                <a:solidFill>
                  <a:srgbClr val="FF0000"/>
                </a:solidFill>
              </a:rPr>
              <a:t>Department of Computer Engineering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50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BD376-BDA4-4AEA-863E-08537886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E8E8C-307E-4FAD-A6EB-17B7D1C96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308" y="1495841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 Cloud Security Challenges</a:t>
            </a:r>
          </a:p>
          <a:p>
            <a:r>
              <a:rPr lang="en-GB" dirty="0"/>
              <a:t>Dimensions of Cloud Security: Security and Privacy, </a:t>
            </a:r>
          </a:p>
          <a:p>
            <a:r>
              <a:rPr lang="en-GB" dirty="0"/>
              <a:t>Compliance, and Legal or Contractual Issues, </a:t>
            </a:r>
          </a:p>
          <a:p>
            <a:r>
              <a:rPr lang="en-GB" dirty="0"/>
              <a:t>Risk Management</a:t>
            </a:r>
          </a:p>
          <a:p>
            <a:r>
              <a:rPr lang="en-GB" dirty="0"/>
              <a:t>Security Monitoring</a:t>
            </a:r>
          </a:p>
          <a:p>
            <a:r>
              <a:rPr lang="en-GB" dirty="0"/>
              <a:t> Incident Response Planning</a:t>
            </a:r>
          </a:p>
          <a:p>
            <a:r>
              <a:rPr lang="en-GB" dirty="0"/>
              <a:t>Security Architecture Design</a:t>
            </a:r>
          </a:p>
          <a:p>
            <a:r>
              <a:rPr lang="en-GB" dirty="0"/>
              <a:t>Vulnerability Assessment</a:t>
            </a:r>
          </a:p>
          <a:p>
            <a:r>
              <a:rPr lang="en-GB" dirty="0"/>
              <a:t>Data and Application Security</a:t>
            </a:r>
          </a:p>
          <a:p>
            <a:r>
              <a:rPr lang="en-GB" dirty="0"/>
              <a:t>Virtual Machine Security</a:t>
            </a:r>
          </a:p>
          <a:p>
            <a:r>
              <a:rPr lang="en-GB" dirty="0"/>
              <a:t>Handling Disasters management in Cloud.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01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BD376-BDA4-4AEA-863E-08537886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403"/>
            <a:ext cx="10515600" cy="834088"/>
          </a:xfrm>
        </p:spPr>
        <p:txBody>
          <a:bodyPr/>
          <a:lstStyle/>
          <a:p>
            <a:pPr algn="ctr"/>
            <a:r>
              <a:rPr lang="en-GB" b="1" dirty="0"/>
              <a:t>Cloud Computing Challenges</a:t>
            </a:r>
          </a:p>
        </p:txBody>
      </p:sp>
      <p:pic>
        <p:nvPicPr>
          <p:cNvPr id="1026" name="Picture 2" descr="cloud Computing Challenges">
            <a:extLst>
              <a:ext uri="{FF2B5EF4-FFF2-40B4-BE49-F238E27FC236}">
                <a16:creationId xmlns:a16="http://schemas.microsoft.com/office/drawing/2014/main" id="{A399501B-C37C-4EF9-83D2-1E921899B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681" y="1134099"/>
            <a:ext cx="8664315" cy="458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06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BD376-BDA4-4AEA-863E-08537886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403"/>
            <a:ext cx="10515600" cy="834088"/>
          </a:xfrm>
        </p:spPr>
        <p:txBody>
          <a:bodyPr/>
          <a:lstStyle/>
          <a:p>
            <a:pPr algn="ctr"/>
            <a:r>
              <a:rPr lang="en-GB" b="1" dirty="0"/>
              <a:t>Cloud Security Challenges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96854-7446-450E-90A0-3D932E15849D}"/>
              </a:ext>
            </a:extLst>
          </p:cNvPr>
          <p:cNvSpPr txBox="1"/>
          <p:nvPr/>
        </p:nvSpPr>
        <p:spPr>
          <a:xfrm>
            <a:off x="168639" y="1318257"/>
            <a:ext cx="60935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Data Related Security </a:t>
            </a:r>
          </a:p>
          <a:p>
            <a:r>
              <a:rPr lang="en-IN" dirty="0"/>
              <a:t>Data Breach</a:t>
            </a:r>
          </a:p>
          <a:p>
            <a:r>
              <a:rPr lang="en-IN" dirty="0"/>
              <a:t>Data Lock in</a:t>
            </a:r>
          </a:p>
          <a:p>
            <a:r>
              <a:rPr lang="en-IN" dirty="0"/>
              <a:t>Data Remanence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9ED9A-6ACE-4FEB-9A56-98020101D4C0}"/>
              </a:ext>
            </a:extLst>
          </p:cNvPr>
          <p:cNvSpPr txBox="1"/>
          <p:nvPr/>
        </p:nvSpPr>
        <p:spPr>
          <a:xfrm>
            <a:off x="168639" y="2621463"/>
            <a:ext cx="60935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Application related security issues</a:t>
            </a:r>
          </a:p>
          <a:p>
            <a:r>
              <a:rPr lang="en-IN" sz="2000" dirty="0"/>
              <a:t>Cloud malware injection attack</a:t>
            </a:r>
          </a:p>
          <a:p>
            <a:r>
              <a:rPr lang="en-IN" sz="2000" dirty="0"/>
              <a:t>Cookie poisoning</a:t>
            </a:r>
          </a:p>
          <a:p>
            <a:r>
              <a:rPr lang="en-IN" sz="2000" dirty="0"/>
              <a:t>Backdoor and Debug Option</a:t>
            </a:r>
          </a:p>
          <a:p>
            <a:r>
              <a:rPr lang="en-IN" sz="2000" dirty="0"/>
              <a:t>Hidden Field Manipulation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804104-418F-4EB6-B018-F4C94B4C05E9}"/>
              </a:ext>
            </a:extLst>
          </p:cNvPr>
          <p:cNvSpPr txBox="1"/>
          <p:nvPr/>
        </p:nvSpPr>
        <p:spPr>
          <a:xfrm>
            <a:off x="5929861" y="2652159"/>
            <a:ext cx="60935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Network level attacks</a:t>
            </a:r>
          </a:p>
          <a:p>
            <a:r>
              <a:rPr lang="en-IN" dirty="0"/>
              <a:t>Domain hijacking: Changing the name of domain</a:t>
            </a:r>
          </a:p>
          <a:p>
            <a:r>
              <a:rPr lang="en-IN" dirty="0"/>
              <a:t>Cross site scripting :Redirecting to other websites</a:t>
            </a:r>
          </a:p>
          <a:p>
            <a:r>
              <a:rPr lang="en-IN" sz="2000" dirty="0"/>
              <a:t>DOS attack :Denial of Service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663646-20BA-412F-87A0-AF82B39D31DA}"/>
              </a:ext>
            </a:extLst>
          </p:cNvPr>
          <p:cNvSpPr txBox="1"/>
          <p:nvPr/>
        </p:nvSpPr>
        <p:spPr>
          <a:xfrm>
            <a:off x="5929861" y="1225924"/>
            <a:ext cx="60935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CSP level attacks</a:t>
            </a:r>
          </a:p>
          <a:p>
            <a:r>
              <a:rPr lang="en-IN" dirty="0"/>
              <a:t>Guest hopping attack: Attack in one of the VM</a:t>
            </a:r>
          </a:p>
          <a:p>
            <a:r>
              <a:rPr lang="en-IN" dirty="0"/>
              <a:t>SQL injection: Attacks at database level</a:t>
            </a:r>
          </a:p>
          <a:p>
            <a:r>
              <a:rPr lang="en-IN" dirty="0"/>
              <a:t>Malicious Insider: Employee granted with full access</a:t>
            </a:r>
          </a:p>
        </p:txBody>
      </p:sp>
    </p:spTree>
    <p:extLst>
      <p:ext uri="{BB962C8B-B14F-4D97-AF65-F5344CB8AC3E}">
        <p14:creationId xmlns:p14="http://schemas.microsoft.com/office/powerpoint/2010/main" val="3784000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BD376-BDA4-4AEA-863E-08537886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403"/>
            <a:ext cx="10515600" cy="834088"/>
          </a:xfrm>
        </p:spPr>
        <p:txBody>
          <a:bodyPr/>
          <a:lstStyle/>
          <a:p>
            <a:pPr algn="ctr"/>
            <a:r>
              <a:rPr lang="en-GB" b="1" dirty="0"/>
              <a:t>Security Monitoring in Cloud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B5504-DCF5-4420-9039-A4E97940B7C1}"/>
              </a:ext>
            </a:extLst>
          </p:cNvPr>
          <p:cNvSpPr txBox="1"/>
          <p:nvPr/>
        </p:nvSpPr>
        <p:spPr>
          <a:xfrm>
            <a:off x="2500" y="1061491"/>
            <a:ext cx="12189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800"/>
              </a:spcAft>
              <a:buFont typeface="Wingdings" panose="05000000000000000000" pitchFamily="2" charset="2"/>
              <a:buChar char="v"/>
            </a:pPr>
            <a:r>
              <a:rPr lang="en-IN" sz="2000" dirty="0"/>
              <a:t>It is the process of protecting the data stored in the cloud from any unauthorized access. </a:t>
            </a:r>
          </a:p>
        </p:txBody>
      </p:sp>
      <p:pic>
        <p:nvPicPr>
          <p:cNvPr id="6" name="Picture 5" descr="need for cloud security monitoring">
            <a:extLst>
              <a:ext uri="{FF2B5EF4-FFF2-40B4-BE49-F238E27FC236}">
                <a16:creationId xmlns:a16="http://schemas.microsoft.com/office/drawing/2014/main" id="{1A8533F0-0681-4743-AA88-5B5662298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544" y="1573965"/>
            <a:ext cx="7809876" cy="49467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152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95EABE1-B2E6-49C6-A908-DF93455FF26B}"/>
              </a:ext>
            </a:extLst>
          </p:cNvPr>
          <p:cNvSpPr txBox="1"/>
          <p:nvPr/>
        </p:nvSpPr>
        <p:spPr>
          <a:xfrm>
            <a:off x="838200" y="1436245"/>
            <a:ext cx="10639269" cy="3077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Key Best Practices for Effective Cloud Security Monitoring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Strict Data Control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Securing the Code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Separating Crucial Metrics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Patch Management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Automation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Identity and Access Management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Protection</a:t>
            </a:r>
          </a:p>
        </p:txBody>
      </p:sp>
    </p:spTree>
    <p:extLst>
      <p:ext uri="{BB962C8B-B14F-4D97-AF65-F5344CB8AC3E}">
        <p14:creationId xmlns:p14="http://schemas.microsoft.com/office/powerpoint/2010/main" val="2049331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BD376-BDA4-4AEA-863E-08537886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403"/>
            <a:ext cx="10515600" cy="834088"/>
          </a:xfrm>
        </p:spPr>
        <p:txBody>
          <a:bodyPr/>
          <a:lstStyle/>
          <a:p>
            <a:pPr algn="ctr"/>
            <a:r>
              <a:rPr lang="en-GB" b="1" dirty="0"/>
              <a:t>Cloud Risk Management </a:t>
            </a:r>
          </a:p>
        </p:txBody>
      </p:sp>
      <p:pic>
        <p:nvPicPr>
          <p:cNvPr id="2050" name="Picture 2" descr="Image depicts all the facets of Cloud Risk Management which include: Cloud strategy, Benefit delivery, Vendor management, Regulatory, Cyber security, Business community, Digital integration, Cloud Migration.">
            <a:extLst>
              <a:ext uri="{FF2B5EF4-FFF2-40B4-BE49-F238E27FC236}">
                <a16:creationId xmlns:a16="http://schemas.microsoft.com/office/drawing/2014/main" id="{E0912C37-27B3-40D4-BBF3-3ABC4D433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135" y="929390"/>
            <a:ext cx="9218950" cy="556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72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00512-DFF0-4CF2-978A-2AC5784DE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078"/>
          </a:xfrm>
        </p:spPr>
        <p:txBody>
          <a:bodyPr/>
          <a:lstStyle/>
          <a:p>
            <a:r>
              <a:rPr lang="en-GB" dirty="0"/>
              <a:t>Legal or compliance issues in cloud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AC3BB-96A9-4F5C-8617-0A16043A6030}"/>
              </a:ext>
            </a:extLst>
          </p:cNvPr>
          <p:cNvSpPr txBox="1"/>
          <p:nvPr/>
        </p:nvSpPr>
        <p:spPr>
          <a:xfrm>
            <a:off x="1842541" y="1214204"/>
            <a:ext cx="6093500" cy="4803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>
              <a:spcAft>
                <a:spcPts val="500"/>
              </a:spcAft>
            </a:pPr>
            <a:r>
              <a:rPr lang="en-IN" dirty="0"/>
              <a:t>Contract documents</a:t>
            </a:r>
          </a:p>
          <a:p>
            <a:pPr marL="571500">
              <a:spcAft>
                <a:spcPts val="500"/>
              </a:spcAft>
            </a:pPr>
            <a:r>
              <a:rPr lang="en-IN" dirty="0"/>
              <a:t>Service description</a:t>
            </a:r>
          </a:p>
          <a:p>
            <a:pPr marL="571500">
              <a:spcAft>
                <a:spcPts val="500"/>
              </a:spcAft>
            </a:pPr>
            <a:r>
              <a:rPr lang="en-IN" dirty="0"/>
              <a:t>Service levels</a:t>
            </a:r>
          </a:p>
          <a:p>
            <a:pPr marL="571500">
              <a:spcAft>
                <a:spcPts val="500"/>
              </a:spcAft>
            </a:pPr>
            <a:r>
              <a:rPr lang="en-IN" dirty="0"/>
              <a:t>Fees</a:t>
            </a:r>
          </a:p>
          <a:p>
            <a:pPr marL="571500">
              <a:spcAft>
                <a:spcPts val="500"/>
              </a:spcAft>
            </a:pPr>
            <a:r>
              <a:rPr lang="en-IN" dirty="0"/>
              <a:t>Data protection</a:t>
            </a:r>
          </a:p>
          <a:p>
            <a:pPr marL="571500">
              <a:spcAft>
                <a:spcPts val="500"/>
              </a:spcAft>
            </a:pPr>
            <a:r>
              <a:rPr lang="en-IN" dirty="0"/>
              <a:t>Data portability and backup</a:t>
            </a:r>
          </a:p>
          <a:p>
            <a:pPr marL="571500">
              <a:spcAft>
                <a:spcPts val="500"/>
              </a:spcAft>
            </a:pPr>
            <a:r>
              <a:rPr lang="en-IN" dirty="0"/>
              <a:t>Security</a:t>
            </a:r>
          </a:p>
          <a:p>
            <a:pPr marL="571500">
              <a:spcAft>
                <a:spcPts val="500"/>
              </a:spcAft>
            </a:pPr>
            <a:r>
              <a:rPr lang="en-IN" dirty="0"/>
              <a:t>Record keeping and audit rights</a:t>
            </a:r>
          </a:p>
          <a:p>
            <a:pPr marL="571500">
              <a:spcAft>
                <a:spcPts val="500"/>
              </a:spcAft>
            </a:pPr>
            <a:r>
              <a:rPr lang="en-IN" dirty="0"/>
              <a:t>Compliance with laws</a:t>
            </a:r>
          </a:p>
          <a:p>
            <a:pPr marL="571500">
              <a:spcAft>
                <a:spcPts val="500"/>
              </a:spcAft>
            </a:pPr>
            <a:r>
              <a:rPr lang="en-IN" dirty="0"/>
              <a:t>Intellectual property</a:t>
            </a:r>
          </a:p>
          <a:p>
            <a:pPr marL="571500">
              <a:spcAft>
                <a:spcPts val="500"/>
              </a:spcAft>
            </a:pPr>
            <a:r>
              <a:rPr lang="en-IN" dirty="0"/>
              <a:t>Supplier liability for content</a:t>
            </a:r>
          </a:p>
          <a:p>
            <a:pPr marL="571500">
              <a:spcAft>
                <a:spcPts val="500"/>
              </a:spcAft>
            </a:pPr>
            <a:r>
              <a:rPr lang="en-IN" dirty="0"/>
              <a:t>Liability under the contract</a:t>
            </a:r>
          </a:p>
          <a:p>
            <a:pPr marL="571500">
              <a:spcAft>
                <a:spcPts val="500"/>
              </a:spcAft>
            </a:pPr>
            <a:r>
              <a:rPr lang="en-IN" dirty="0"/>
              <a:t>Variation of terms</a:t>
            </a:r>
          </a:p>
          <a:p>
            <a:pPr marL="571500">
              <a:spcAft>
                <a:spcPts val="50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7933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AED90D-3D69-404E-9A38-11EF5071BDCC}"/>
              </a:ext>
            </a:extLst>
          </p:cNvPr>
          <p:cNvSpPr txBox="1"/>
          <p:nvPr/>
        </p:nvSpPr>
        <p:spPr>
          <a:xfrm>
            <a:off x="2522096" y="237220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/>
              <a:t>CLOUD INCIDENT RESPONSE PLANNING</a:t>
            </a:r>
            <a:endParaRPr lang="en-IN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103632-2D3D-491C-9FEA-3360E08BAE57}"/>
              </a:ext>
            </a:extLst>
          </p:cNvPr>
          <p:cNvSpPr txBox="1"/>
          <p:nvPr/>
        </p:nvSpPr>
        <p:spPr>
          <a:xfrm>
            <a:off x="506542" y="696165"/>
            <a:ext cx="111789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It is simply the process used to manage cyber attacks in a cloud environment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D11CC9-730A-4480-9A0C-595679CF1B92}"/>
              </a:ext>
            </a:extLst>
          </p:cNvPr>
          <p:cNvSpPr txBox="1"/>
          <p:nvPr/>
        </p:nvSpPr>
        <p:spPr>
          <a:xfrm>
            <a:off x="167391" y="1459422"/>
            <a:ext cx="6093500" cy="19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b="1" dirty="0"/>
              <a:t>Incident Detection methods or techniques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dirty="0"/>
              <a:t>Preparation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dirty="0"/>
              <a:t>Detection and analysis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dirty="0"/>
              <a:t>Containment, eradication, and recovery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dirty="0"/>
              <a:t>Post-mortem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E00D6-6BBE-4E51-951A-60813950E470}"/>
              </a:ext>
            </a:extLst>
          </p:cNvPr>
          <p:cNvSpPr txBox="1"/>
          <p:nvPr/>
        </p:nvSpPr>
        <p:spPr>
          <a:xfrm>
            <a:off x="678304" y="3520525"/>
            <a:ext cx="7491335" cy="3064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 incident response phases are:</a:t>
            </a:r>
            <a:br>
              <a:rPr lang="en-IN" sz="1800" b="1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Preparation</a:t>
            </a:r>
            <a:endParaRPr lang="en-IN" sz="1800" dirty="0">
              <a:solidFill>
                <a:srgbClr val="3333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Identification</a:t>
            </a:r>
            <a:endParaRPr lang="en-IN" sz="1800" dirty="0">
              <a:solidFill>
                <a:srgbClr val="3333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Containment</a:t>
            </a:r>
            <a:endParaRPr lang="en-IN" sz="1800" dirty="0">
              <a:solidFill>
                <a:srgbClr val="3333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Eradication</a:t>
            </a:r>
            <a:endParaRPr lang="en-IN" sz="1800" dirty="0">
              <a:solidFill>
                <a:srgbClr val="3333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Recovery</a:t>
            </a:r>
            <a:endParaRPr lang="en-IN" sz="1800" dirty="0">
              <a:solidFill>
                <a:srgbClr val="3333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Lessons Learned</a:t>
            </a:r>
            <a:endParaRPr lang="en-IN" sz="1800" dirty="0">
              <a:solidFill>
                <a:srgbClr val="3333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381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AED90D-3D69-404E-9A38-11EF5071BDCC}"/>
              </a:ext>
            </a:extLst>
          </p:cNvPr>
          <p:cNvSpPr txBox="1"/>
          <p:nvPr/>
        </p:nvSpPr>
        <p:spPr>
          <a:xfrm>
            <a:off x="2522096" y="272533"/>
            <a:ext cx="6093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/>
              <a:t>Vulnerability Assessment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FD92CF-7BA1-4100-85B7-FD4A585042F9}"/>
              </a:ext>
            </a:extLst>
          </p:cNvPr>
          <p:cNvSpPr txBox="1"/>
          <p:nvPr/>
        </p:nvSpPr>
        <p:spPr>
          <a:xfrm>
            <a:off x="183628" y="857308"/>
            <a:ext cx="118684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a systematic review of security weaknesses in an information system.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02118-9676-4D7E-89D8-A87541856F21}"/>
              </a:ext>
            </a:extLst>
          </p:cNvPr>
          <p:cNvSpPr txBox="1"/>
          <p:nvPr/>
        </p:nvSpPr>
        <p:spPr>
          <a:xfrm>
            <a:off x="318542" y="1442083"/>
            <a:ext cx="11273852" cy="1968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 of Vulnerability Assessment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Host assessment – </a:t>
            </a:r>
            <a:endParaRPr lang="en-IN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 and wireless assessment –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 assessment –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scans –.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The vulnerability assessment process: analysis, risk assessment, remediation">
            <a:extLst>
              <a:ext uri="{FF2B5EF4-FFF2-40B4-BE49-F238E27FC236}">
                <a16:creationId xmlns:a16="http://schemas.microsoft.com/office/drawing/2014/main" id="{78606AA1-A155-4E87-BBE0-877A74DB2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894" y="4115131"/>
            <a:ext cx="8701926" cy="2470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B7269E-5F40-4F5D-B1F2-95732A49F705}"/>
              </a:ext>
            </a:extLst>
          </p:cNvPr>
          <p:cNvSpPr txBox="1"/>
          <p:nvPr/>
        </p:nvSpPr>
        <p:spPr>
          <a:xfrm>
            <a:off x="4665688" y="3742337"/>
            <a:ext cx="6093500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1725"/>
              </a:spcAft>
            </a:pPr>
            <a:r>
              <a:rPr lang="en-IN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Security scanning process</a:t>
            </a:r>
            <a:endParaRPr lang="en-IN" sz="11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504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AED90D-3D69-404E-9A38-11EF5071BDCC}"/>
              </a:ext>
            </a:extLst>
          </p:cNvPr>
          <p:cNvSpPr txBox="1"/>
          <p:nvPr/>
        </p:nvSpPr>
        <p:spPr>
          <a:xfrm>
            <a:off x="2522096" y="272533"/>
            <a:ext cx="6093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/>
              <a:t>Data and Application Security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A09C80-C60D-492D-BF1C-ED07082B6B29}"/>
              </a:ext>
            </a:extLst>
          </p:cNvPr>
          <p:cNvSpPr txBox="1"/>
          <p:nvPr/>
        </p:nvSpPr>
        <p:spPr>
          <a:xfrm>
            <a:off x="2500" y="857308"/>
            <a:ext cx="12189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Data Security  refers to the process of protecting data from unauthorized access and data corruption throughout its lifecycle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359F9-8F32-4AC3-8387-D61A0634D059}"/>
              </a:ext>
            </a:extLst>
          </p:cNvPr>
          <p:cNvSpPr txBox="1"/>
          <p:nvPr/>
        </p:nvSpPr>
        <p:spPr>
          <a:xfrm>
            <a:off x="284812" y="1214677"/>
            <a:ext cx="61159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Cloud data security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Encryption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Hardware Security Module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Key Management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Enterprise Data Protection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Payment Security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Mobile app and web app security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Email Security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A99972-D228-4838-8BD6-53FBF8773DDA}"/>
              </a:ext>
            </a:extLst>
          </p:cNvPr>
          <p:cNvSpPr txBox="1"/>
          <p:nvPr/>
        </p:nvSpPr>
        <p:spPr>
          <a:xfrm>
            <a:off x="0" y="3523001"/>
            <a:ext cx="12189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Cloud application security is a series of defined policies, processes, controls, and technology governing all information exchanges that happen in collaborative cloud environments.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3E93F-90D1-4602-A92B-70B4663C7EA9}"/>
              </a:ext>
            </a:extLst>
          </p:cNvPr>
          <p:cNvSpPr txBox="1"/>
          <p:nvPr/>
        </p:nvSpPr>
        <p:spPr>
          <a:xfrm>
            <a:off x="284812" y="4298317"/>
            <a:ext cx="11797259" cy="1971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dirty="0"/>
              <a:t>Threats to Cloud Application Security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dirty="0"/>
              <a:t>Misconfiguration of application setup 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dirty="0"/>
              <a:t>Unauthorized access.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dirty="0"/>
              <a:t>Insecure APIs and interfaces 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dirty="0"/>
              <a:t>Account hijacking </a:t>
            </a:r>
          </a:p>
        </p:txBody>
      </p:sp>
    </p:spTree>
    <p:extLst>
      <p:ext uri="{BB962C8B-B14F-4D97-AF65-F5344CB8AC3E}">
        <p14:creationId xmlns:p14="http://schemas.microsoft.com/office/powerpoint/2010/main" val="3940318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722A-2982-4AFD-935E-C0FD1497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206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VM Security 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E8573-61DA-470F-96E5-9A294353E462}"/>
              </a:ext>
            </a:extLst>
          </p:cNvPr>
          <p:cNvSpPr txBox="1"/>
          <p:nvPr/>
        </p:nvSpPr>
        <p:spPr>
          <a:xfrm>
            <a:off x="363512" y="1019332"/>
            <a:ext cx="10159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virtual machine security means securing the guest OS like Physical OS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35B64-9821-4052-896B-660595E82ED4}"/>
              </a:ext>
            </a:extLst>
          </p:cNvPr>
          <p:cNvSpPr txBox="1"/>
          <p:nvPr/>
        </p:nvSpPr>
        <p:spPr>
          <a:xfrm>
            <a:off x="363512" y="1823439"/>
            <a:ext cx="9769839" cy="3692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IN" dirty="0"/>
              <a:t>Security practices for VM’s Security</a:t>
            </a:r>
          </a:p>
          <a:p>
            <a:pPr marL="285750" indent="-28575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b="1" dirty="0"/>
              <a:t>Protect the guest operating system</a:t>
            </a:r>
          </a:p>
          <a:p>
            <a:pPr marL="285750" indent="-28575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b="1" dirty="0"/>
              <a:t> Disable unnecessary functionality</a:t>
            </a:r>
          </a:p>
          <a:p>
            <a:pPr marL="285750" indent="-28575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b="1" dirty="0"/>
              <a:t> Use templates and scripted management</a:t>
            </a:r>
          </a:p>
          <a:p>
            <a:pPr marL="285750" indent="-28575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b="1" dirty="0"/>
              <a:t> Minimize use of the virtual machine console</a:t>
            </a:r>
          </a:p>
          <a:p>
            <a:pPr marL="285750" indent="-28575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b="1" dirty="0"/>
              <a:t> Consider UEFI(Unified Extensible Firmware Interface) secure boot]</a:t>
            </a:r>
          </a:p>
          <a:p>
            <a:pPr marL="285750" indent="-28575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b="1" dirty="0"/>
              <a:t> Consider Carbon Black Cloud Workload</a:t>
            </a:r>
          </a:p>
        </p:txBody>
      </p:sp>
    </p:spTree>
    <p:extLst>
      <p:ext uri="{BB962C8B-B14F-4D97-AF65-F5344CB8AC3E}">
        <p14:creationId xmlns:p14="http://schemas.microsoft.com/office/powerpoint/2010/main" val="445809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722A-2982-4AFD-935E-C0FD1497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206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Handling Disasters management in Cloud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4F004A-558F-432D-857C-10124FC4FD44}"/>
              </a:ext>
            </a:extLst>
          </p:cNvPr>
          <p:cNvSpPr txBox="1"/>
          <p:nvPr/>
        </p:nvSpPr>
        <p:spPr>
          <a:xfrm>
            <a:off x="453451" y="2073807"/>
            <a:ext cx="798600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Types of Disaster</a:t>
            </a:r>
          </a:p>
          <a:p>
            <a:r>
              <a:rPr lang="en-GB" dirty="0"/>
              <a:t>Natural </a:t>
            </a:r>
          </a:p>
          <a:p>
            <a:r>
              <a:rPr lang="en-GB" dirty="0"/>
              <a:t>Technical </a:t>
            </a:r>
          </a:p>
          <a:p>
            <a:r>
              <a:rPr lang="en-GB" dirty="0"/>
              <a:t>Human</a:t>
            </a:r>
          </a:p>
          <a:p>
            <a:endParaRPr lang="en-GB" dirty="0"/>
          </a:p>
          <a:p>
            <a:r>
              <a:rPr lang="en-GB" dirty="0"/>
              <a:t>Methodologies of Disaster Management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Backup and Recovery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Pilot Light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Warm Standby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Multisite Deployment  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2740C-F5BE-4F77-A82E-DC2BF0BCB7AA}"/>
              </a:ext>
            </a:extLst>
          </p:cNvPr>
          <p:cNvSpPr txBox="1"/>
          <p:nvPr/>
        </p:nvSpPr>
        <p:spPr>
          <a:xfrm>
            <a:off x="453451" y="1177237"/>
            <a:ext cx="10819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/>
              <a:t>Disaster recovery (DR) is the process that goes into preparing for and recovering from a disaster. 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75872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722A-2982-4AFD-935E-C0FD1497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206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Rack ware Disaster Recovery Tool</a:t>
            </a:r>
            <a:endParaRPr lang="en-IN" b="1" dirty="0"/>
          </a:p>
        </p:txBody>
      </p:sp>
      <p:pic>
        <p:nvPicPr>
          <p:cNvPr id="6" name="Picture 5" descr="RackWare Disaster Recovery">
            <a:extLst>
              <a:ext uri="{FF2B5EF4-FFF2-40B4-BE49-F238E27FC236}">
                <a16:creationId xmlns:a16="http://schemas.microsoft.com/office/drawing/2014/main" id="{101715F2-998C-4E62-B246-C31BA5A48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940" y="1309052"/>
            <a:ext cx="8849194" cy="4881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0733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C7A07-D102-40DB-A87B-455F830E0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3453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END of UNIT 7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31606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532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Roboto</vt:lpstr>
      <vt:lpstr>Symbol</vt:lpstr>
      <vt:lpstr>Verdana</vt:lpstr>
      <vt:lpstr>Wingdings</vt:lpstr>
      <vt:lpstr>Office Theme</vt:lpstr>
      <vt:lpstr>UNIT 7 Security in Cloud Computing</vt:lpstr>
      <vt:lpstr>OUTLINES</vt:lpstr>
      <vt:lpstr>Cloud Computing Challenges</vt:lpstr>
      <vt:lpstr>Cloud Security Challenges</vt:lpstr>
      <vt:lpstr>Security Monitoring in Cloud</vt:lpstr>
      <vt:lpstr>PowerPoint Presentation</vt:lpstr>
      <vt:lpstr>Cloud Risk Management </vt:lpstr>
      <vt:lpstr>Legal or compliance issues in cloud</vt:lpstr>
      <vt:lpstr>PowerPoint Presentation</vt:lpstr>
      <vt:lpstr>PowerPoint Presentation</vt:lpstr>
      <vt:lpstr>PowerPoint Presentation</vt:lpstr>
      <vt:lpstr>VM Security </vt:lpstr>
      <vt:lpstr>Handling Disasters management in Cloud</vt:lpstr>
      <vt:lpstr>Rack ware Disaster Recovery Tool</vt:lpstr>
      <vt:lpstr>END of UNIT 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7 Security in Cloud Computing</dc:title>
  <dc:creator>Harendra Bikram Shah</dc:creator>
  <cp:lastModifiedBy>Harendra Bikram Shah</cp:lastModifiedBy>
  <cp:revision>40</cp:revision>
  <dcterms:created xsi:type="dcterms:W3CDTF">2022-01-22T07:49:21Z</dcterms:created>
  <dcterms:modified xsi:type="dcterms:W3CDTF">2023-01-23T15:57:21Z</dcterms:modified>
</cp:coreProperties>
</file>