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57DB7-F462-4CD9-9825-254C07509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162FA6-D6AC-4D0C-9027-EECBBCAE0C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D5493-4BC1-42A2-9641-65CBB71FD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6F81-217C-4E46-880D-541CB28749B0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2EB87-62AB-40B7-9919-F74C3D5B6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C92E5-DB34-4F07-88DA-6991EF791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76FE-2936-4405-AB35-77B227438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908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1AC84-80B5-41EA-86FD-DF62EA40C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D4763-8B00-4DAD-AAC7-6659BE64D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C85D0-6901-44F4-A467-810E52D05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6F81-217C-4E46-880D-541CB28749B0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4F90D-43AE-4E63-9289-33B9AAC5C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DB530-EE79-4E2A-8D6D-4F0B4DE0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76FE-2936-4405-AB35-77B227438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044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E7005-81C0-46ED-9A0D-75AB64A3B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4D699-EF39-4B3D-90D4-FB4EE0C24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4D7D7-C3A3-4359-B8CB-2346E8B1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6F81-217C-4E46-880D-541CB28749B0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7955C-AE0F-4049-8D16-45CCD481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F9874-9255-4D18-AA25-7F20DA04E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76FE-2936-4405-AB35-77B227438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61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A67A-F893-45F5-90CC-5057EEE6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3B6F-DD04-41F5-8828-F7497BF3E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4F4EA-115C-468B-8629-5BFE7050B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FEC6-A0EC-48C9-8EFF-6AA8908FC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6F81-217C-4E46-880D-541CB28749B0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A08D2-F6FD-41C6-AC09-83BBCD09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B28E9-6DF8-46E0-8BDB-9E5E2347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76FE-2936-4405-AB35-77B227438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090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B0C1-4198-442A-91FB-3E8023F8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69A91-6002-4919-9425-904DBB689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074F-94B3-46C2-8F5D-5060EA7A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CA89F-882E-4E2F-AE66-109A7FAFC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531C7-D8BB-42AC-AE22-147D806526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90A7D-0E90-4CFE-9673-BA9855FC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6F81-217C-4E46-880D-541CB28749B0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3A3B5-55EE-455E-B3D5-EFF96CEB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719392-F5B8-4408-A346-9FB442CF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76FE-2936-4405-AB35-77B227438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48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47E0-0DC8-4E39-8092-191DA445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AF0E3C-19D8-4CA7-BAB2-CB121F22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6F81-217C-4E46-880D-541CB28749B0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D0A9D-2FC8-4929-9152-AB83F15C5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6E682-3B68-4D67-83FC-60BB6080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76FE-2936-4405-AB35-77B227438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9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A2328-D319-4203-A7CE-AF185551A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6F81-217C-4E46-880D-541CB28749B0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4B781C-0BF2-496A-9B39-501A897B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9B27F-909F-4FDB-B9C0-BA2F1687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76FE-2936-4405-AB35-77B227438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17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D36A2-422E-42EC-B854-CF558198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B4FF0-29FC-4E53-8934-F6BFDA3EB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FE561-CB34-4AB8-BB32-560CFCFB6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B13F6-E1E5-4D43-BC58-E0B8EA5E3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6F81-217C-4E46-880D-541CB28749B0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EE41A-A0F6-4343-8D2C-5305AA41C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D8D52-D86B-48CF-99B5-0C33D415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76FE-2936-4405-AB35-77B227438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14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DB400-78DF-4429-AC1E-5733A6A3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61483F-B6C4-4AF0-9CC7-84A4D4CF6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74CC9-9AE4-4A9E-9D61-C1F83F46D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ABCFA-C52F-455D-91B4-6798FBD31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6F81-217C-4E46-880D-541CB28749B0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F6E2A-FEBF-44A0-A3AC-DA7ADCF2E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F5239-DBAB-4100-8325-648F0601D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76FE-2936-4405-AB35-77B227438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632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A6A2-2169-4E09-BE7B-58B103CC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1817F-FFAD-4605-8F9D-36C75D162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2AF70-6844-4F9E-BFC7-0C582E3C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6F81-217C-4E46-880D-541CB28749B0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37491-EB81-4373-BD03-BA53E97E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7A246-01F3-480C-9BB2-C6231786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76FE-2936-4405-AB35-77B227438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13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70A99A-91B1-4F01-937D-CE5B1DBAE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D6E37-3790-4C5D-B69E-97ABB8B40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56133-756C-49DD-903D-8BA9FCAF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6F81-217C-4E46-880D-541CB28749B0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57EE0-CE92-4F5D-93D1-03232327E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18D41-0C2C-4BFB-BC84-52EAADB4F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76FE-2936-4405-AB35-77B227438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56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01FF2-1B2F-47F0-BCDB-A07449CEE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C1649-0970-4B19-9C37-526DCC1A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16F5-49FC-4BC4-B3CF-B29F558FA3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56F81-217C-4E46-880D-541CB28749B0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34F8A-6BC2-4F60-8E32-52244EAB4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5BDEA-A04D-4446-BDCD-880C32000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076FE-2936-4405-AB35-77B227438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178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CAD74-2720-4E67-A5F1-3150EB755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157" y="267923"/>
            <a:ext cx="9144000" cy="1935631"/>
          </a:xfrm>
        </p:spPr>
        <p:txBody>
          <a:bodyPr/>
          <a:lstStyle/>
          <a:p>
            <a:r>
              <a:rPr lang="en-GB" dirty="0"/>
              <a:t>UNIT :8</a:t>
            </a:r>
            <a:br>
              <a:rPr lang="en-GB" dirty="0"/>
            </a:br>
            <a:r>
              <a:rPr lang="en-GB" dirty="0"/>
              <a:t>Case Studies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D5B3C-0289-4A14-9304-1C76744E9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62589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Prepared by </a:t>
            </a:r>
          </a:p>
          <a:p>
            <a:r>
              <a:rPr lang="en-GB" dirty="0"/>
              <a:t>Er.Harendra Bikram Shah</a:t>
            </a:r>
          </a:p>
          <a:p>
            <a:r>
              <a:rPr lang="en-GB" dirty="0"/>
              <a:t>(Lecturer)</a:t>
            </a:r>
          </a:p>
          <a:p>
            <a:r>
              <a:rPr lang="en-GB" dirty="0"/>
              <a:t>Department of computer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49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938DC-8733-4E8B-9D5A-6FD4BFE0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OUTLINES: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A54AD-57E5-490B-9868-A994C7DAC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88" y="1690688"/>
            <a:ext cx="10515600" cy="4351338"/>
          </a:xfrm>
        </p:spPr>
        <p:txBody>
          <a:bodyPr/>
          <a:lstStyle/>
          <a:p>
            <a:r>
              <a:rPr lang="en-GB" dirty="0"/>
              <a:t> Case study of Amazon EC2 cloud</a:t>
            </a:r>
          </a:p>
          <a:p>
            <a:r>
              <a:rPr lang="en-GB" dirty="0"/>
              <a:t> Case study of IBM blue cloud</a:t>
            </a:r>
          </a:p>
          <a:p>
            <a:r>
              <a:rPr lang="en-GB" dirty="0"/>
              <a:t> Case study of Cloud Service: IAAS, PAAS,SAAS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595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938DC-8733-4E8B-9D5A-6FD4BFE06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7594"/>
            <a:ext cx="10515600" cy="923330"/>
          </a:xfrm>
        </p:spPr>
        <p:txBody>
          <a:bodyPr/>
          <a:lstStyle/>
          <a:p>
            <a:pPr algn="ctr"/>
            <a:r>
              <a:rPr lang="en-GB" b="1" dirty="0"/>
              <a:t>Amazon EC2 cloud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7E387-6EB3-4953-B0B4-563C5864F5DD}"/>
              </a:ext>
            </a:extLst>
          </p:cNvPr>
          <p:cNvSpPr txBox="1"/>
          <p:nvPr/>
        </p:nvSpPr>
        <p:spPr>
          <a:xfrm>
            <a:off x="693296" y="1505954"/>
            <a:ext cx="116486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 is a web service interface that provides resizable compute capacity in the AWS cloud.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 is designed for developers to have complete control over web-scaling and computing resources.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 In simple word it is a virtual computer which has everything you want to have in a computer.</a:t>
            </a:r>
            <a:endParaRPr lang="en-IN" dirty="0"/>
          </a:p>
        </p:txBody>
      </p:sp>
      <p:pic>
        <p:nvPicPr>
          <p:cNvPr id="1026" name="Picture 2" descr="7 Best AWS EC2 [Amazon Elastic Compute Cloud] Online Courses for Beginners  in 2021 | by javinpaul | Javarevisited | Medium">
            <a:extLst>
              <a:ext uri="{FF2B5EF4-FFF2-40B4-BE49-F238E27FC236}">
                <a16:creationId xmlns:a16="http://schemas.microsoft.com/office/drawing/2014/main" id="{A8228CC7-EDAA-475B-A704-8FA3FD858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034" y="2803161"/>
            <a:ext cx="5861154" cy="28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1046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520625-4198-4334-9F94-80C5CEA7E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25" y="246776"/>
            <a:ext cx="10777927" cy="636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90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AA4379B-6699-4D97-96E4-2C7D834CF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44" y="1094282"/>
            <a:ext cx="11412511" cy="526721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71FCA894-83FF-4935-ADE5-57B45AE40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843"/>
            <a:ext cx="10515600" cy="923330"/>
          </a:xfrm>
        </p:spPr>
        <p:txBody>
          <a:bodyPr/>
          <a:lstStyle/>
          <a:p>
            <a:pPr algn="ctr"/>
            <a:r>
              <a:rPr lang="en-GB" b="1" dirty="0"/>
              <a:t>Case study of Amazon EC2 cloud(Netflix)</a:t>
            </a:r>
          </a:p>
        </p:txBody>
      </p:sp>
    </p:spTree>
    <p:extLst>
      <p:ext uri="{BB962C8B-B14F-4D97-AF65-F5344CB8AC3E}">
        <p14:creationId xmlns:p14="http://schemas.microsoft.com/office/powerpoint/2010/main" val="719853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EF7904-89C5-4B23-8F67-F3B872323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84" y="850584"/>
            <a:ext cx="11435233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78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AA5F5B-4930-4E4E-8F22-F16D3E82A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74" y="461548"/>
            <a:ext cx="10942820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48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698581-0C27-4A08-9B15-8DC4AEBAC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67" y="633851"/>
            <a:ext cx="10897850" cy="559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1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3A4D147-E5D3-4C6C-930A-B8473EF1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4009"/>
          </a:xfrm>
        </p:spPr>
        <p:txBody>
          <a:bodyPr/>
          <a:lstStyle/>
          <a:p>
            <a:pPr algn="ctr"/>
            <a:r>
              <a:rPr lang="en-GB" b="1" dirty="0"/>
              <a:t>IBM blue cloud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E5CBCAB-C8D2-4ED8-9F4C-A993E7078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336" y="1319134"/>
            <a:ext cx="11093971" cy="4351338"/>
          </a:xfrm>
        </p:spPr>
        <p:txBody>
          <a:bodyPr/>
          <a:lstStyle/>
          <a:p>
            <a:pPr algn="just"/>
            <a:r>
              <a:rPr lang="en-GB" sz="2000" dirty="0"/>
              <a:t>IBM Cloud is IBM’s solution to all the public, private, hybrid cloud &amp; multi-cloud requirements.</a:t>
            </a:r>
          </a:p>
          <a:p>
            <a:pPr algn="just"/>
            <a:r>
              <a:rPr lang="en-GB" sz="2000" dirty="0"/>
              <a:t>It is a PaaS Platform as a service &amp; IaaS Infrastructure as a service solution.</a:t>
            </a:r>
          </a:p>
          <a:p>
            <a:pPr algn="just"/>
            <a:r>
              <a:rPr lang="en-GB" sz="2000" dirty="0"/>
              <a:t> Now IBM cloud is called as IBM Blue Mix Cloud .</a:t>
            </a:r>
          </a:p>
          <a:p>
            <a:pPr algn="just"/>
            <a:r>
              <a:rPr lang="en-GB" sz="2000" dirty="0"/>
              <a:t> SoftLayer Technologies was acquired by IBM in 2013 which is renamed as IBM Bluemix</a:t>
            </a:r>
          </a:p>
          <a:p>
            <a:pPr algn="just"/>
            <a:r>
              <a:rPr lang="en-GB" sz="2000" dirty="0"/>
              <a:t> Further IBM cloud and Bluemix are merged by IBM.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C0265-6180-41B3-8E89-373481C0240F}"/>
              </a:ext>
            </a:extLst>
          </p:cNvPr>
          <p:cNvSpPr txBox="1"/>
          <p:nvPr/>
        </p:nvSpPr>
        <p:spPr>
          <a:xfrm>
            <a:off x="1653915" y="3599735"/>
            <a:ext cx="7624997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8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Services Provided by IBM cloud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Application development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Artificial intelligence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Industry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Infrastructure (IT)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Operations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Organization type </a:t>
            </a:r>
          </a:p>
        </p:txBody>
      </p:sp>
    </p:spTree>
    <p:extLst>
      <p:ext uri="{BB962C8B-B14F-4D97-AF65-F5344CB8AC3E}">
        <p14:creationId xmlns:p14="http://schemas.microsoft.com/office/powerpoint/2010/main" val="1145736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3A4D147-E5D3-4C6C-930A-B8473EF1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292"/>
            <a:ext cx="10515600" cy="53428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IBM blue cloud Architecture </a:t>
            </a:r>
          </a:p>
        </p:txBody>
      </p:sp>
      <p:pic>
        <p:nvPicPr>
          <p:cNvPr id="3074" name="Picture 2" descr="scaleyourapp.com ibm cloud architecture">
            <a:extLst>
              <a:ext uri="{FF2B5EF4-FFF2-40B4-BE49-F238E27FC236}">
                <a16:creationId xmlns:a16="http://schemas.microsoft.com/office/drawing/2014/main" id="{8B1B3312-B4E7-4E94-AA1F-47B7D64D8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16" y="826593"/>
            <a:ext cx="11479968" cy="592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38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3A4D147-E5D3-4C6C-930A-B8473EF1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131" y="33155"/>
            <a:ext cx="10515600" cy="51929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IBM blue cloud Architecture </a:t>
            </a:r>
          </a:p>
        </p:txBody>
      </p:sp>
      <p:pic>
        <p:nvPicPr>
          <p:cNvPr id="5122" name="Picture 2" descr="scaleyourapp.com ibm cloud app">
            <a:extLst>
              <a:ext uri="{FF2B5EF4-FFF2-40B4-BE49-F238E27FC236}">
                <a16:creationId xmlns:a16="http://schemas.microsoft.com/office/drawing/2014/main" id="{7B55F07C-6406-4411-B75A-5417624AD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75" y="719528"/>
            <a:ext cx="10964055" cy="571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498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90CA4BB-6328-4A08-A157-3E3CAC0A8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931"/>
            <a:ext cx="12192000" cy="675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889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83EA82-7C7F-45AF-9CAB-362BD6342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27" y="839448"/>
            <a:ext cx="11593543" cy="565170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33434BB-10C7-491E-AF30-C2F47D7FD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843"/>
            <a:ext cx="10515600" cy="92333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Case study of IBM Blue cloud(American Airlines)</a:t>
            </a:r>
          </a:p>
        </p:txBody>
      </p:sp>
    </p:spTree>
    <p:extLst>
      <p:ext uri="{BB962C8B-B14F-4D97-AF65-F5344CB8AC3E}">
        <p14:creationId xmlns:p14="http://schemas.microsoft.com/office/powerpoint/2010/main" val="3881634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6F947-158C-4321-82FF-E0254B390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843"/>
            <a:ext cx="10515600" cy="699675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Case study of IAAS,PAAS,SAAS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8A7919-E64A-4F80-BB7B-4B2E8548D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937552"/>
              </p:ext>
            </p:extLst>
          </p:nvPr>
        </p:nvGraphicFramePr>
        <p:xfrm>
          <a:off x="418473" y="936572"/>
          <a:ext cx="11153934" cy="2900910"/>
        </p:xfrm>
        <a:graphic>
          <a:graphicData uri="http://schemas.openxmlformats.org/drawingml/2006/table">
            <a:tbl>
              <a:tblPr/>
              <a:tblGrid>
                <a:gridCol w="2310021">
                  <a:extLst>
                    <a:ext uri="{9D8B030D-6E8A-4147-A177-3AD203B41FA5}">
                      <a16:colId xmlns:a16="http://schemas.microsoft.com/office/drawing/2014/main" val="2264305788"/>
                    </a:ext>
                  </a:extLst>
                </a:gridCol>
                <a:gridCol w="8843913">
                  <a:extLst>
                    <a:ext uri="{9D8B030D-6E8A-4147-A177-3AD203B41FA5}">
                      <a16:colId xmlns:a16="http://schemas.microsoft.com/office/drawing/2014/main" val="2699160610"/>
                    </a:ext>
                  </a:extLst>
                </a:gridCol>
              </a:tblGrid>
              <a:tr h="559986">
                <a:tc>
                  <a:txBody>
                    <a:bodyPr/>
                    <a:lstStyle/>
                    <a:p>
                      <a:pPr algn="ctr" fontAlgn="base"/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Platform Type</a:t>
                      </a:r>
                      <a:endParaRPr lang="en-IN" b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F5F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F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F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8E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</a:rPr>
                        <a:t>Common Examples</a:t>
                      </a:r>
                      <a:endParaRPr lang="en-IN" b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F5F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F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F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8E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118622"/>
                  </a:ext>
                </a:extLst>
              </a:tr>
              <a:tr h="559986">
                <a:tc>
                  <a:txBody>
                    <a:bodyPr/>
                    <a:lstStyle/>
                    <a:p>
                      <a:pPr algn="l" fontAlgn="base"/>
                      <a:r>
                        <a:rPr lang="en-IN" b="1">
                          <a:effectLst/>
                        </a:rPr>
                        <a:t>SaaS</a:t>
                      </a:r>
                      <a:endParaRPr lang="en-IN" b="0">
                        <a:effectLst/>
                      </a:endParaRPr>
                    </a:p>
                  </a:txBody>
                  <a:tcPr marL="142875" marR="142875" marT="95250" marB="95250" anchor="ctr">
                    <a:lnL>
                      <a:noFill/>
                    </a:lnL>
                    <a:lnR w="9525" cap="flat" cmpd="sng" algn="ctr">
                      <a:solidFill>
                        <a:srgbClr val="60CE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F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C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b="0">
                          <a:effectLst/>
                        </a:rPr>
                        <a:t>Google Workspace, Dropbox, Salesforce, Cisco WebEx, Concur, GoToMeeting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60CE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C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F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CE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465306"/>
                  </a:ext>
                </a:extLst>
              </a:tr>
              <a:tr h="890469">
                <a:tc>
                  <a:txBody>
                    <a:bodyPr/>
                    <a:lstStyle/>
                    <a:p>
                      <a:pPr algn="l" fontAlgn="base"/>
                      <a:r>
                        <a:rPr lang="en-IN" b="1">
                          <a:effectLst/>
                        </a:rPr>
                        <a:t>PaaS</a:t>
                      </a:r>
                      <a:endParaRPr lang="en-IN" b="0">
                        <a:effectLst/>
                      </a:endParaRPr>
                    </a:p>
                  </a:txBody>
                  <a:tcPr marL="142875" marR="142875" marT="95250" marB="95250" anchor="ctr">
                    <a:lnL>
                      <a:noFill/>
                    </a:lnL>
                    <a:lnR w="9525" cap="flat" cmpd="sng" algn="ctr">
                      <a:solidFill>
                        <a:srgbClr val="704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C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4E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b="0">
                          <a:effectLst/>
                        </a:rPr>
                        <a:t>AWS Elastic Beanstalk, Windows Azure, Heroku, Force.com, Google App Engine, Apache Stratos, OpenShift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704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4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CE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4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80208"/>
                  </a:ext>
                </a:extLst>
              </a:tr>
              <a:tr h="890469">
                <a:tc>
                  <a:txBody>
                    <a:bodyPr/>
                    <a:lstStyle/>
                    <a:p>
                      <a:pPr algn="l" fontAlgn="base"/>
                      <a:r>
                        <a:rPr lang="en-IN" b="1">
                          <a:effectLst/>
                        </a:rPr>
                        <a:t>IaaS</a:t>
                      </a:r>
                      <a:endParaRPr lang="en-IN" b="0">
                        <a:effectLst/>
                      </a:endParaRPr>
                    </a:p>
                  </a:txBody>
                  <a:tcPr marL="142875" marR="142875" marT="95250" marB="95250" anchor="ctr">
                    <a:lnL>
                      <a:noFill/>
                    </a:lnL>
                    <a:lnR w="9525" cap="flat" cmpd="sng" algn="ctr">
                      <a:solidFill>
                        <a:srgbClr val="E0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4E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5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b="0" dirty="0" err="1">
                          <a:effectLst/>
                        </a:rPr>
                        <a:t>DigitalOcean</a:t>
                      </a:r>
                      <a:r>
                        <a:rPr lang="en-IN" b="0" dirty="0">
                          <a:effectLst/>
                        </a:rPr>
                        <a:t>, Linode, Rackspace, Amazon Web Services (AWS), Cisco Metapod, Microsoft Azure, Google Compute Engine (GCE)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E05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5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4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5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101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E371ACA4-7C90-4A64-AEB6-EC447D7237A6}"/>
              </a:ext>
            </a:extLst>
          </p:cNvPr>
          <p:cNvSpPr txBox="1">
            <a:spLocks/>
          </p:cNvSpPr>
          <p:nvPr/>
        </p:nvSpPr>
        <p:spPr>
          <a:xfrm>
            <a:off x="524656" y="4429460"/>
            <a:ext cx="10515600" cy="699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/>
              <a:t>Case study of OLA,NETFLIX</a:t>
            </a:r>
          </a:p>
        </p:txBody>
      </p:sp>
    </p:spTree>
    <p:extLst>
      <p:ext uri="{BB962C8B-B14F-4D97-AF65-F5344CB8AC3E}">
        <p14:creationId xmlns:p14="http://schemas.microsoft.com/office/powerpoint/2010/main" val="463625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61EBBD-FDA0-48C3-89EA-EB5151831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8463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End of the UNIT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85408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61EBBD-FDA0-48C3-89EA-EB5151831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8463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End of Syllabus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56468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61EBBD-FDA0-48C3-89EA-EB5151831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8463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Presentation session Starts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45060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310</Words>
  <Application>Microsoft Office PowerPoint</Application>
  <PresentationFormat>Widescreen</PresentationFormat>
  <Paragraphs>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UNIT :8 Case Studies</vt:lpstr>
      <vt:lpstr>OUTLINES:</vt:lpstr>
      <vt:lpstr>Amazon EC2 cloud</vt:lpstr>
      <vt:lpstr>PowerPoint Presentation</vt:lpstr>
      <vt:lpstr>Case study of Amazon EC2 cloud(Netflix)</vt:lpstr>
      <vt:lpstr>PowerPoint Presentation</vt:lpstr>
      <vt:lpstr>PowerPoint Presentation</vt:lpstr>
      <vt:lpstr>PowerPoint Presentation</vt:lpstr>
      <vt:lpstr>IBM blue cloud</vt:lpstr>
      <vt:lpstr>IBM blue cloud Architecture </vt:lpstr>
      <vt:lpstr>IBM blue cloud Architecture </vt:lpstr>
      <vt:lpstr>PowerPoint Presentation</vt:lpstr>
      <vt:lpstr>Case study of IBM Blue cloud(American Airlines)</vt:lpstr>
      <vt:lpstr>Case study of IAAS,PAAS,SAAS</vt:lpstr>
      <vt:lpstr>End of the UNIT</vt:lpstr>
      <vt:lpstr>End of Syllabus </vt:lpstr>
      <vt:lpstr>Presentation session Starts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:8 Case Studies</dc:title>
  <dc:creator>Harendra Bikram Shah</dc:creator>
  <cp:lastModifiedBy>Harendra Bikram Shah</cp:lastModifiedBy>
  <cp:revision>17</cp:revision>
  <dcterms:created xsi:type="dcterms:W3CDTF">2022-01-27T13:39:27Z</dcterms:created>
  <dcterms:modified xsi:type="dcterms:W3CDTF">2022-01-29T18:00:39Z</dcterms:modified>
</cp:coreProperties>
</file>