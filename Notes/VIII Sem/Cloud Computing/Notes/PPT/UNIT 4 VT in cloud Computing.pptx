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9" r:id="rId10"/>
    <p:sldId id="270" r:id="rId11"/>
    <p:sldId id="263" r:id="rId12"/>
    <p:sldId id="268" r:id="rId13"/>
    <p:sldId id="271" r:id="rId14"/>
    <p:sldId id="264" r:id="rId15"/>
    <p:sldId id="265" r:id="rId16"/>
    <p:sldId id="266" r:id="rId17"/>
    <p:sldId id="267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3969" autoAdjust="0"/>
  </p:normalViewPr>
  <p:slideViewPr>
    <p:cSldViewPr snapToGrid="0">
      <p:cViewPr varScale="1">
        <p:scale>
          <a:sx n="72" d="100"/>
          <a:sy n="72" d="100"/>
        </p:scale>
        <p:origin x="63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58162-D0AB-4381-B377-601E380469DC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D5297-AAEF-411F-86E0-A078B067E13A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58162-D0AB-4381-B377-601E380469DC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D5297-AAEF-411F-86E0-A078B067E13A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58162-D0AB-4381-B377-601E380469DC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D5297-AAEF-411F-86E0-A078B067E13A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58162-D0AB-4381-B377-601E380469DC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D5297-AAEF-411F-86E0-A078B067E13A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58162-D0AB-4381-B377-601E380469DC}" type="datetimeFigureOut">
              <a:rPr lang="en-IN" smtClean="0"/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D5297-AAEF-411F-86E0-A078B067E13A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58162-D0AB-4381-B377-601E380469DC}" type="datetimeFigureOut">
              <a:rPr lang="en-IN" smtClean="0"/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D5297-AAEF-411F-86E0-A078B067E13A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58162-D0AB-4381-B377-601E380469DC}" type="datetimeFigureOut">
              <a:rPr lang="en-IN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D5297-AAEF-411F-86E0-A078B067E13A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58162-D0AB-4381-B377-601E380469DC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D5297-AAEF-411F-86E0-A078B067E13A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58162-D0AB-4381-B377-601E380469DC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D5297-AAEF-411F-86E0-A078B067E13A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58162-D0AB-4381-B377-601E380469DC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D5297-AAEF-411F-86E0-A078B067E13A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58162-D0AB-4381-B377-601E380469DC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D5297-AAEF-411F-86E0-A078B067E13A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258162-D0AB-4381-B377-601E380469DC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3D5297-AAEF-411F-86E0-A078B067E13A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jpeg"/><Relationship Id="rId1" Type="http://schemas.openxmlformats.org/officeDocument/2006/relationships/image" Target="../media/image4.jpe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91478" y="340484"/>
            <a:ext cx="9144000" cy="1380994"/>
          </a:xfrm>
        </p:spPr>
        <p:txBody>
          <a:bodyPr>
            <a:normAutofit/>
          </a:bodyPr>
          <a:lstStyle/>
          <a:p>
            <a:r>
              <a:rPr lang="en-GB" sz="4400" b="1" dirty="0"/>
              <a:t>UNIT 4 </a:t>
            </a:r>
            <a:br>
              <a:rPr lang="en-GB" sz="4400" b="1" dirty="0"/>
            </a:br>
            <a:r>
              <a:rPr lang="en-GB" sz="44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VT IN CLOUD COMPUTING </a:t>
            </a:r>
            <a:endParaRPr lang="en-IN" sz="4400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2899673"/>
            <a:ext cx="9144000" cy="1655762"/>
          </a:xfrm>
        </p:spPr>
        <p:txBody>
          <a:bodyPr>
            <a:normAutofit lnSpcReduction="10000"/>
          </a:bodyPr>
          <a:lstStyle/>
          <a:p>
            <a:pPr algn="l"/>
            <a:r>
              <a:rPr lang="en-GB" dirty="0">
                <a:solidFill>
                  <a:srgbClr val="0070C0"/>
                </a:solidFill>
              </a:rPr>
              <a:t>Prepared by </a:t>
            </a:r>
            <a:endParaRPr lang="en-GB" dirty="0">
              <a:solidFill>
                <a:srgbClr val="0070C0"/>
              </a:solidFill>
            </a:endParaRPr>
          </a:p>
          <a:p>
            <a:r>
              <a:rPr lang="en-GB" dirty="0">
                <a:solidFill>
                  <a:srgbClr val="0070C0"/>
                </a:solidFill>
              </a:rPr>
              <a:t>Er.Harendra Bikram Shah</a:t>
            </a:r>
            <a:endParaRPr lang="en-GB" dirty="0">
              <a:solidFill>
                <a:srgbClr val="0070C0"/>
              </a:solidFill>
            </a:endParaRPr>
          </a:p>
          <a:p>
            <a:r>
              <a:rPr lang="en-GB" dirty="0">
                <a:solidFill>
                  <a:srgbClr val="0070C0"/>
                </a:solidFill>
              </a:rPr>
              <a:t>(Lecturer)</a:t>
            </a:r>
            <a:endParaRPr lang="en-GB" dirty="0">
              <a:solidFill>
                <a:srgbClr val="0070C0"/>
              </a:solidFill>
            </a:endParaRPr>
          </a:p>
          <a:p>
            <a:r>
              <a:rPr lang="en-GB" dirty="0">
                <a:solidFill>
                  <a:srgbClr val="0070C0"/>
                </a:solidFill>
              </a:rPr>
              <a:t> </a:t>
            </a:r>
            <a:r>
              <a:rPr lang="en-GB" dirty="0">
                <a:solidFill>
                  <a:srgbClr val="7030A0"/>
                </a:solidFill>
              </a:rPr>
              <a:t>Department of Computer Science</a:t>
            </a:r>
            <a:endParaRPr lang="en-IN" dirty="0">
              <a:solidFill>
                <a:srgbClr val="7030A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sz="6600" b="1" dirty="0"/>
              <a:t>OUTLINES</a:t>
            </a:r>
            <a:endParaRPr lang="en-IN" b="1" dirty="0"/>
          </a:p>
        </p:txBody>
      </p:sp>
      <p:sp>
        <p:nvSpPr>
          <p:cNvPr id="5" name="TextBox 4"/>
          <p:cNvSpPr txBox="1"/>
          <p:nvPr/>
        </p:nvSpPr>
        <p:spPr>
          <a:xfrm>
            <a:off x="663315" y="1690688"/>
            <a:ext cx="10174574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sz="3200" dirty="0"/>
              <a:t>Introduction to Virtualization Technology</a:t>
            </a:r>
            <a:endParaRPr lang="en-IN" sz="3200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sz="3200" dirty="0"/>
              <a:t> Hypervisor and its Types</a:t>
            </a:r>
            <a:endParaRPr lang="en-IN" sz="3200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sz="3200" dirty="0"/>
              <a:t>Virtual Machines</a:t>
            </a:r>
            <a:endParaRPr lang="en-IN" sz="3200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sz="3200" dirty="0"/>
              <a:t>VM management and configurations</a:t>
            </a:r>
            <a:endParaRPr lang="en-IN" sz="3200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sz="3200" dirty="0"/>
              <a:t>Cloud Data stores</a:t>
            </a:r>
            <a:endParaRPr lang="en-IN" sz="3200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sz="3200" dirty="0"/>
              <a:t>Cloud Computing and Virtualization</a:t>
            </a:r>
            <a:endParaRPr lang="en-IN" sz="3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198" y="46283"/>
            <a:ext cx="10515600" cy="624346"/>
          </a:xfrm>
        </p:spPr>
        <p:txBody>
          <a:bodyPr>
            <a:normAutofit fontScale="90000"/>
          </a:bodyPr>
          <a:lstStyle/>
          <a:p>
            <a:pPr algn="ctr"/>
            <a:r>
              <a:rPr lang="en-GB" b="1" dirty="0"/>
              <a:t>Introduction to VT</a:t>
            </a:r>
            <a:endParaRPr lang="en-IN" b="1" dirty="0"/>
          </a:p>
        </p:txBody>
      </p:sp>
      <p:sp>
        <p:nvSpPr>
          <p:cNvPr id="5" name="TextBox 4"/>
          <p:cNvSpPr txBox="1"/>
          <p:nvPr/>
        </p:nvSpPr>
        <p:spPr>
          <a:xfrm>
            <a:off x="838198" y="712079"/>
            <a:ext cx="11183911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GB" b="0" i="0" dirty="0">
                <a:solidFill>
                  <a:srgbClr val="333333"/>
                </a:solidFill>
                <a:effectLst/>
                <a:latin typeface="inter-regular"/>
              </a:rPr>
              <a:t>It is the "creation of a virtual (rather than actual) version of something, such as a server, a desktop, a storage device, an operating system or network resources".</a:t>
            </a:r>
            <a:endParaRPr lang="en-GB" b="0" i="0" dirty="0">
              <a:solidFill>
                <a:srgbClr val="333333"/>
              </a:solidFill>
              <a:effectLst/>
              <a:latin typeface="inter-regular"/>
            </a:endParaRPr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GB" b="0" i="0" dirty="0">
                <a:solidFill>
                  <a:srgbClr val="333333"/>
                </a:solidFill>
                <a:effectLst/>
                <a:latin typeface="inter-regular"/>
              </a:rPr>
              <a:t>In other words, </a:t>
            </a:r>
            <a:r>
              <a:rPr lang="en-GB" dirty="0">
                <a:solidFill>
                  <a:srgbClr val="333333"/>
                </a:solidFill>
                <a:latin typeface="inter-regular"/>
              </a:rPr>
              <a:t>It</a:t>
            </a:r>
            <a:r>
              <a:rPr lang="en-GB" b="0" i="0" dirty="0">
                <a:solidFill>
                  <a:srgbClr val="333333"/>
                </a:solidFill>
                <a:effectLst/>
                <a:latin typeface="inter-regular"/>
              </a:rPr>
              <a:t>s a technique, which allows to share a single physical instance of a resource or an application among multiple customers and organizations.</a:t>
            </a:r>
            <a:endParaRPr lang="en-GB" b="0" i="0" dirty="0">
              <a:solidFill>
                <a:srgbClr val="333333"/>
              </a:solidFill>
              <a:effectLst/>
              <a:latin typeface="inter-regular"/>
            </a:endParaRPr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GB" sz="2000" dirty="0"/>
              <a:t>It is also known as changing the mindset from physical to logical.</a:t>
            </a:r>
            <a:endParaRPr lang="en-GB" b="0" i="0" dirty="0">
              <a:solidFill>
                <a:srgbClr val="333333"/>
              </a:solidFill>
              <a:effectLst/>
              <a:latin typeface="inter-regular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766279" y="2247511"/>
            <a:ext cx="60935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800" b="1" i="0" dirty="0">
                <a:effectLst/>
                <a:latin typeface="erdana"/>
              </a:rPr>
              <a:t>concept behind the Virtualization</a:t>
            </a:r>
            <a:endParaRPr lang="en-IN" sz="2800" b="1" i="0" dirty="0">
              <a:effectLst/>
              <a:latin typeface="erdana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53252" y="3105834"/>
            <a:ext cx="1135380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GB" b="0" i="0" dirty="0">
                <a:solidFill>
                  <a:srgbClr val="333333"/>
                </a:solidFill>
                <a:effectLst/>
                <a:latin typeface="inter-regular"/>
              </a:rPr>
              <a:t>Creation of a virtual machine over existing operating system and hardware </a:t>
            </a:r>
            <a:endParaRPr lang="en-GB" b="0" i="0" dirty="0">
              <a:solidFill>
                <a:srgbClr val="333333"/>
              </a:solidFill>
              <a:effectLst/>
              <a:latin typeface="inter-regular"/>
            </a:endParaRPr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GB" b="1" i="0" dirty="0">
                <a:solidFill>
                  <a:srgbClr val="333333"/>
                </a:solidFill>
                <a:effectLst/>
                <a:latin typeface="inter-bold"/>
              </a:rPr>
              <a:t>Two machines are there :Host Machine</a:t>
            </a:r>
            <a:r>
              <a:rPr lang="en-GB" b="0" i="0" dirty="0">
                <a:solidFill>
                  <a:srgbClr val="333333"/>
                </a:solidFill>
                <a:effectLst/>
                <a:latin typeface="inter-regular"/>
              </a:rPr>
              <a:t> and </a:t>
            </a:r>
            <a:r>
              <a:rPr lang="en-GB" b="1" i="0" dirty="0">
                <a:solidFill>
                  <a:srgbClr val="333333"/>
                </a:solidFill>
                <a:effectLst/>
                <a:latin typeface="inter-bold"/>
              </a:rPr>
              <a:t>Guest Machine</a:t>
            </a:r>
            <a:endParaRPr lang="en-GB" b="0" i="0" dirty="0">
              <a:solidFill>
                <a:srgbClr val="333333"/>
              </a:solidFill>
              <a:effectLst/>
              <a:latin typeface="inter-regular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7974" y="456359"/>
            <a:ext cx="6625651" cy="58245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888167" y="277398"/>
            <a:ext cx="6921707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b="1" i="0" dirty="0">
                <a:solidFill>
                  <a:srgbClr val="273239"/>
                </a:solidFill>
                <a:effectLst/>
                <a:latin typeface="urw-din"/>
              </a:rPr>
              <a:t>BENEFITS OF VIRTUALIZATION</a:t>
            </a:r>
            <a:r>
              <a:rPr lang="en-GB" sz="2400" b="0" i="0" dirty="0">
                <a:solidFill>
                  <a:srgbClr val="273239"/>
                </a:solidFill>
                <a:effectLst/>
                <a:latin typeface="urw-din"/>
              </a:rPr>
              <a:t> </a:t>
            </a:r>
            <a:br>
              <a:rPr lang="en-GB" sz="2400" dirty="0"/>
            </a:br>
            <a:r>
              <a:rPr lang="en-GB" sz="2400" b="0" i="0" dirty="0">
                <a:solidFill>
                  <a:srgbClr val="273239"/>
                </a:solidFill>
                <a:effectLst/>
                <a:latin typeface="urw-din"/>
              </a:rPr>
              <a:t>1. More flexible and efficient allocation of resources. </a:t>
            </a:r>
            <a:br>
              <a:rPr lang="en-GB" sz="2400" dirty="0"/>
            </a:br>
            <a:r>
              <a:rPr lang="en-GB" sz="2400" b="0" i="0" dirty="0">
                <a:solidFill>
                  <a:srgbClr val="273239"/>
                </a:solidFill>
                <a:effectLst/>
                <a:latin typeface="urw-din"/>
              </a:rPr>
              <a:t>2. Enhance development productivity. </a:t>
            </a:r>
            <a:br>
              <a:rPr lang="en-GB" sz="2400" dirty="0"/>
            </a:br>
            <a:r>
              <a:rPr lang="en-GB" sz="2400" b="0" i="0" dirty="0">
                <a:solidFill>
                  <a:srgbClr val="273239"/>
                </a:solidFill>
                <a:effectLst/>
                <a:latin typeface="urw-din"/>
              </a:rPr>
              <a:t>3. It lowers the cost of IT infrastructure. </a:t>
            </a:r>
            <a:br>
              <a:rPr lang="en-GB" sz="2400" dirty="0"/>
            </a:br>
            <a:r>
              <a:rPr lang="en-GB" sz="2400" b="0" i="0" dirty="0">
                <a:solidFill>
                  <a:srgbClr val="273239"/>
                </a:solidFill>
                <a:effectLst/>
                <a:latin typeface="urw-din"/>
              </a:rPr>
              <a:t>4. Remote access and rapid scalability. </a:t>
            </a:r>
            <a:br>
              <a:rPr lang="en-GB" sz="2400" dirty="0"/>
            </a:br>
            <a:r>
              <a:rPr lang="en-GB" sz="2400" b="0" i="0" dirty="0">
                <a:solidFill>
                  <a:srgbClr val="273239"/>
                </a:solidFill>
                <a:effectLst/>
                <a:latin typeface="urw-din"/>
              </a:rPr>
              <a:t>5. High availability and disaster recovery. </a:t>
            </a:r>
            <a:br>
              <a:rPr lang="en-GB" sz="2400" dirty="0"/>
            </a:br>
            <a:r>
              <a:rPr lang="en-GB" sz="2400" b="0" i="0" dirty="0">
                <a:solidFill>
                  <a:srgbClr val="273239"/>
                </a:solidFill>
                <a:effectLst/>
                <a:latin typeface="urw-din"/>
              </a:rPr>
              <a:t>6. Pay peruse of the IT infrastructure on demand. </a:t>
            </a:r>
            <a:br>
              <a:rPr lang="en-GB" sz="2400" dirty="0"/>
            </a:br>
            <a:r>
              <a:rPr lang="en-GB" sz="2400" b="0" i="0" dirty="0">
                <a:solidFill>
                  <a:srgbClr val="273239"/>
                </a:solidFill>
                <a:effectLst/>
                <a:latin typeface="urw-din"/>
              </a:rPr>
              <a:t>7. Enables running multiple operating systems. </a:t>
            </a:r>
            <a:endParaRPr lang="en-IN" sz="2400" dirty="0"/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993097" y="3533615"/>
            <a:ext cx="8698044" cy="267506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88872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400" b="1" dirty="0"/>
              <a:t>Types of Virtualization: </a:t>
            </a:r>
            <a:endParaRPr lang="en-US" altLang="en-US" sz="2400" b="1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400" dirty="0"/>
              <a:t>1.Application Virtualization. </a:t>
            </a:r>
            <a:endParaRPr lang="en-US" altLang="en-US" sz="24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400" dirty="0"/>
              <a:t>2.Network Virtualization. </a:t>
            </a:r>
            <a:endParaRPr lang="en-US" altLang="en-US" sz="24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400" dirty="0"/>
              <a:t>3.Desktop Virtualization. </a:t>
            </a:r>
            <a:endParaRPr lang="en-US" altLang="en-US" sz="24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400" dirty="0"/>
              <a:t>4.Storage Virtualization. </a:t>
            </a:r>
            <a:endParaRPr lang="en-US" altLang="en-US" sz="24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400" dirty="0"/>
              <a:t>5.Server Virtualization. </a:t>
            </a:r>
            <a:endParaRPr lang="en-US" altLang="en-US" sz="24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400" dirty="0"/>
              <a:t>6.Data virtualization. </a:t>
            </a:r>
            <a:endParaRPr lang="en-US" altLang="en-US" sz="240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5382" y="3410182"/>
            <a:ext cx="5882390" cy="31704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237029" y="125347"/>
            <a:ext cx="11225637" cy="340792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174570" numCol="1" anchor="ctr" anchorCtr="0" compatLnSpc="1"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2400" b="1" dirty="0"/>
              <a:t>HYPERVISOR </a:t>
            </a:r>
            <a:endParaRPr lang="en-US" altLang="en-US" sz="2400" b="1" dirty="0"/>
          </a:p>
          <a:p>
            <a:pPr marL="342900" marR="0" lvl="0" indent="-3429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</a:pPr>
            <a:r>
              <a:rPr lang="en-US" altLang="en-US" sz="2400" dirty="0"/>
              <a:t> It’s a software layer that runs between host machine(physical server) and </a:t>
            </a:r>
            <a:endParaRPr lang="en-US" altLang="en-US" sz="2400" dirty="0"/>
          </a:p>
          <a:p>
            <a:pPr marR="0" lvl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2400" dirty="0"/>
              <a:t>    guest machine(virtual machine)</a:t>
            </a:r>
            <a:endParaRPr lang="en-US" altLang="en-US" sz="2400" dirty="0"/>
          </a:p>
          <a:p>
            <a:pPr marL="342900" marR="0" lvl="0" indent="-3429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</a:pPr>
            <a:r>
              <a:rPr lang="en-US" altLang="en-US" sz="2400" dirty="0"/>
              <a:t> It is also known as VMM (Virtual Machine Monitor)</a:t>
            </a:r>
            <a:endParaRPr lang="en-US" altLang="en-US" sz="2400" dirty="0"/>
          </a:p>
          <a:p>
            <a:pPr marR="0" lvl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2400" b="1" dirty="0"/>
              <a:t>Two Types of Hypervisor:</a:t>
            </a:r>
            <a:endParaRPr lang="en-US" altLang="en-US" sz="2000" b="1" dirty="0"/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b="1" dirty="0"/>
              <a:t>Type 1 hypervisor: </a:t>
            </a:r>
            <a:r>
              <a:rPr lang="en-US" altLang="en-US" dirty="0"/>
              <a:t>hypervisors run directly on the system hardware – A “bare metal” embedded hypervisor,</a:t>
            </a:r>
            <a:endParaRPr lang="en-US" altLang="en-US" dirty="0"/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dirty="0"/>
              <a:t>They are good for Server Installing </a:t>
            </a:r>
            <a:endParaRPr lang="en-US" altLang="en-US" dirty="0"/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b="1" dirty="0"/>
              <a:t>Type 2 hypervisor: </a:t>
            </a:r>
            <a:r>
              <a:rPr lang="en-US" altLang="en-US" dirty="0"/>
              <a:t>hypervisors run on a host operating system that provides virtualization services, </a:t>
            </a:r>
            <a:endParaRPr lang="en-US" altLang="en-US" dirty="0"/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dirty="0"/>
              <a:t> such as I/O device support and memory management.</a:t>
            </a:r>
            <a:endParaRPr lang="en-US" altLang="en-US" dirty="0"/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dirty="0"/>
              <a:t>                </a:t>
            </a:r>
            <a:endParaRPr lang="en-US" alt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6728" y="3123379"/>
            <a:ext cx="8866682" cy="373462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72322" y="440061"/>
            <a:ext cx="5067301" cy="3724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000" b="1" i="0" dirty="0">
                <a:solidFill>
                  <a:srgbClr val="333333"/>
                </a:solidFill>
                <a:effectLst/>
                <a:latin typeface="Ubuntu"/>
              </a:rPr>
              <a:t>Type 1 hypervisors:</a:t>
            </a:r>
            <a:endParaRPr lang="en-GB" sz="2000" b="1" i="0" dirty="0">
              <a:solidFill>
                <a:srgbClr val="333333"/>
              </a:solidFill>
              <a:effectLst/>
              <a:latin typeface="Ubuntu"/>
            </a:endParaRPr>
          </a:p>
          <a:p>
            <a:pPr marL="342900" indent="-342900" algn="l">
              <a:buAutoNum type="arabicPeriod"/>
            </a:pPr>
            <a:r>
              <a:rPr lang="en-GB" b="1" i="0" u="sng" dirty="0">
                <a:solidFill>
                  <a:srgbClr val="333333"/>
                </a:solidFill>
                <a:effectLst/>
                <a:latin typeface="Ubuntu"/>
              </a:rPr>
              <a:t>VMware ESX and </a:t>
            </a:r>
            <a:r>
              <a:rPr lang="en-GB" b="1" i="0" u="sng" dirty="0" err="1">
                <a:solidFill>
                  <a:srgbClr val="333333"/>
                </a:solidFill>
                <a:effectLst/>
                <a:latin typeface="Ubuntu"/>
              </a:rPr>
              <a:t>ESXi</a:t>
            </a:r>
            <a:endParaRPr lang="en-GB" b="1" i="0" u="sng" dirty="0">
              <a:solidFill>
                <a:srgbClr val="333333"/>
              </a:solidFill>
              <a:effectLst/>
              <a:latin typeface="Ubuntu"/>
            </a:endParaRPr>
          </a:p>
          <a:p>
            <a:pPr algn="l"/>
            <a:r>
              <a:rPr lang="en-GB" dirty="0">
                <a:solidFill>
                  <a:srgbClr val="333333"/>
                </a:solidFill>
                <a:latin typeface="Ubuntu"/>
              </a:rPr>
              <a:t>Free as well as Costly for commercial purpose</a:t>
            </a:r>
            <a:endParaRPr lang="en-GB" i="0" dirty="0">
              <a:solidFill>
                <a:srgbClr val="333333"/>
              </a:solidFill>
              <a:effectLst/>
              <a:latin typeface="Ubuntu"/>
            </a:endParaRPr>
          </a:p>
          <a:p>
            <a:pPr algn="l"/>
            <a:r>
              <a:rPr lang="en-GB" dirty="0"/>
              <a:t>2. </a:t>
            </a:r>
            <a:r>
              <a:rPr lang="en-GB" b="1" dirty="0"/>
              <a:t>Microsoft Hyper-V</a:t>
            </a:r>
            <a:endParaRPr lang="en-GB" b="1" dirty="0"/>
          </a:p>
          <a:p>
            <a:pPr algn="l"/>
            <a:r>
              <a:rPr lang="en-GB" dirty="0"/>
              <a:t>Not free used in windows server</a:t>
            </a:r>
            <a:endParaRPr lang="en-GB" dirty="0"/>
          </a:p>
          <a:p>
            <a:pPr algn="l"/>
            <a:r>
              <a:rPr lang="en-GB" dirty="0"/>
              <a:t>3. </a:t>
            </a:r>
            <a:r>
              <a:rPr lang="en-GB" b="1" dirty="0"/>
              <a:t>Citrix XenServer</a:t>
            </a:r>
            <a:endParaRPr lang="en-GB" b="1" dirty="0"/>
          </a:p>
          <a:p>
            <a:pPr algn="l"/>
            <a:r>
              <a:rPr lang="en-GB" dirty="0"/>
              <a:t>Open source ,Free of Cost used for servers</a:t>
            </a:r>
            <a:br>
              <a:rPr lang="en-GB" dirty="0"/>
            </a:br>
            <a:r>
              <a:rPr lang="en-GB" dirty="0"/>
              <a:t>4. </a:t>
            </a:r>
            <a:r>
              <a:rPr lang="en-GB" b="1" dirty="0"/>
              <a:t>Oracle VM</a:t>
            </a:r>
            <a:endParaRPr lang="en-GB" b="1" dirty="0"/>
          </a:p>
          <a:p>
            <a:pPr algn="l"/>
            <a:r>
              <a:rPr lang="en-GB" dirty="0"/>
              <a:t>The Oracle hypervisor is based on the open source Xen.</a:t>
            </a:r>
            <a:br>
              <a:rPr lang="en-GB" dirty="0"/>
            </a:br>
            <a:r>
              <a:rPr lang="en-GB" dirty="0"/>
              <a:t>However, if you need hypervisor support and product updates, it will cost you.</a:t>
            </a:r>
            <a:br>
              <a:rPr lang="en-GB" dirty="0"/>
            </a:br>
            <a:endParaRPr lang="en-GB" dirty="0"/>
          </a:p>
        </p:txBody>
      </p:sp>
      <p:sp>
        <p:nvSpPr>
          <p:cNvPr id="6" name="TextBox 5"/>
          <p:cNvSpPr txBox="1"/>
          <p:nvPr/>
        </p:nvSpPr>
        <p:spPr>
          <a:xfrm>
            <a:off x="5810561" y="50317"/>
            <a:ext cx="5611943" cy="54476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400" b="1" i="0" dirty="0">
                <a:solidFill>
                  <a:srgbClr val="333333"/>
                </a:solidFill>
                <a:effectLst/>
                <a:latin typeface="Ubuntu"/>
              </a:rPr>
              <a:t>Type 2 hypervisor</a:t>
            </a:r>
            <a:endParaRPr lang="en-GB" sz="2400" b="1" i="0" dirty="0">
              <a:solidFill>
                <a:srgbClr val="333333"/>
              </a:solidFill>
              <a:effectLst/>
              <a:latin typeface="Ubuntu"/>
            </a:endParaRPr>
          </a:p>
          <a:p>
            <a:pPr algn="l"/>
            <a:r>
              <a:rPr lang="en-GB" dirty="0"/>
              <a:t>1. </a:t>
            </a:r>
            <a:r>
              <a:rPr lang="en-GB" b="1" u="sng" dirty="0"/>
              <a:t>VMware Workstation/Fusion/Player</a:t>
            </a:r>
            <a:endParaRPr lang="en-GB" b="1" u="sng" dirty="0"/>
          </a:p>
          <a:p>
            <a:pPr algn="l"/>
            <a:r>
              <a:rPr lang="en-GB" dirty="0"/>
              <a:t>It is free and  allows to run only one virtual machine (VM) </a:t>
            </a:r>
            <a:endParaRPr lang="en-GB" dirty="0"/>
          </a:p>
          <a:p>
            <a:pPr algn="l"/>
            <a:r>
              <a:rPr lang="en-GB" dirty="0"/>
              <a:t>It is a more robust hypervisor that can record-and-replay and provide VM snapshot support.</a:t>
            </a:r>
            <a:endParaRPr lang="en-GB" dirty="0"/>
          </a:p>
          <a:p>
            <a:pPr algn="l"/>
            <a:r>
              <a:rPr lang="en-GB" dirty="0"/>
              <a:t>2. </a:t>
            </a:r>
            <a:r>
              <a:rPr lang="en-GB" b="1" u="sng" dirty="0"/>
              <a:t>VMware Server</a:t>
            </a:r>
            <a:endParaRPr lang="en-GB" b="1" u="sng" dirty="0"/>
          </a:p>
          <a:p>
            <a:pPr algn="l"/>
            <a:r>
              <a:rPr lang="en-GB" dirty="0"/>
              <a:t>VMware Server is a free, hosted virtualization hypervisor that’s very similar to the VMware Workstation.</a:t>
            </a:r>
            <a:br>
              <a:rPr lang="en-GB" dirty="0"/>
            </a:br>
            <a:r>
              <a:rPr lang="en-GB" dirty="0"/>
              <a:t>3. </a:t>
            </a:r>
            <a:r>
              <a:rPr lang="en-GB" b="1" u="sng" dirty="0"/>
              <a:t>Microsoft Virtual PC</a:t>
            </a:r>
            <a:endParaRPr lang="en-GB" b="1" u="sng" dirty="0"/>
          </a:p>
          <a:p>
            <a:pPr algn="l"/>
            <a:r>
              <a:rPr lang="en-GB" dirty="0"/>
              <a:t>latest Microsoft’s version of this hypervisor technology, Windows Virtual PC and runs only on Windows 7 and supports only Windows operating systems running on it.</a:t>
            </a:r>
            <a:endParaRPr lang="en-GB" dirty="0"/>
          </a:p>
          <a:p>
            <a:pPr algn="l"/>
            <a:r>
              <a:rPr lang="en-GB" dirty="0"/>
              <a:t>4. </a:t>
            </a:r>
            <a:r>
              <a:rPr lang="en-GB" b="1" dirty="0"/>
              <a:t>Oracle VM VirtualBox</a:t>
            </a:r>
            <a:endParaRPr lang="en-GB" b="1" dirty="0"/>
          </a:p>
          <a:p>
            <a:pPr algn="l"/>
            <a:r>
              <a:rPr lang="en-GB" dirty="0"/>
              <a:t>Budget friendly virtualization .</a:t>
            </a:r>
            <a:endParaRPr lang="en-GB" dirty="0"/>
          </a:p>
          <a:p>
            <a:pPr algn="l"/>
            <a:r>
              <a:rPr lang="en-GB" dirty="0"/>
              <a:t>features like  VMware vSphere and Microsoft Hyper-V.</a:t>
            </a:r>
            <a:endParaRPr lang="en-GB" dirty="0"/>
          </a:p>
          <a:p>
            <a:pPr algn="l"/>
            <a:r>
              <a:rPr lang="en-GB" dirty="0"/>
              <a:t>5. </a:t>
            </a:r>
            <a:r>
              <a:rPr lang="en-GB" b="1" dirty="0"/>
              <a:t>Red Hat Enterprise Virtualization</a:t>
            </a:r>
            <a:endParaRPr lang="en-GB" b="1" dirty="0"/>
          </a:p>
          <a:p>
            <a:pPr algn="l"/>
            <a:r>
              <a:rPr lang="en-GB" dirty="0"/>
              <a:t>It has Type 1  and Type 2 features KVM. It can turn the Linux kernel itself into a hypervisor so the VMs have direct access to the physical hardware.</a:t>
            </a:r>
            <a:endParaRPr lang="en-GB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9759" y="233362"/>
            <a:ext cx="8092786" cy="29233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436" y="2926774"/>
            <a:ext cx="9753600" cy="36978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048000" y="13855"/>
            <a:ext cx="6096000" cy="4680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IN" sz="2400" b="1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Benefits of hypervisors:</a:t>
            </a:r>
            <a:endParaRPr lang="en-IN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7800" y="575850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Speed</a:t>
            </a:r>
            <a:endParaRPr lang="en-IN" sz="18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Efficiency: </a:t>
            </a:r>
            <a:endParaRPr lang="en-IN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Flexibility: </a:t>
            </a:r>
            <a:endParaRPr lang="en-IN" sz="18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Portability:  </a:t>
            </a:r>
            <a:endParaRPr lang="en-IN" dirty="0"/>
          </a:p>
        </p:txBody>
      </p:sp>
      <p:sp>
        <p:nvSpPr>
          <p:cNvPr id="7" name="TextBox 6"/>
          <p:cNvSpPr txBox="1"/>
          <p:nvPr/>
        </p:nvSpPr>
        <p:spPr>
          <a:xfrm>
            <a:off x="3048000" y="2389907"/>
            <a:ext cx="6096000" cy="4680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IN" sz="2400" b="1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Need of hypervisor:</a:t>
            </a:r>
            <a:endParaRPr lang="en-IN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87928" y="3051948"/>
            <a:ext cx="11069782" cy="15595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07000"/>
              </a:lnSpc>
              <a:buFont typeface="Wingdings" panose="05000000000000000000" pitchFamily="2" charset="2"/>
              <a:buChar char=""/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Hypervisors make it possible to use more of a system’s available resources and provide greater IT mobility </a:t>
            </a:r>
            <a:endParaRPr lang="en-IN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342900" lvl="0" indent="-342900" algn="just">
              <a:lnSpc>
                <a:spcPct val="107000"/>
              </a:lnSpc>
              <a:buFont typeface="Wingdings" panose="05000000000000000000" pitchFamily="2" charset="2"/>
              <a:buChar char=""/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Because multiple virtual machines can run off of one physical server with a hypervisor, a hypervisor reduces: 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342900" lvl="0" indent="-342900" algn="just">
              <a:lnSpc>
                <a:spcPct val="107000"/>
              </a:lnSpc>
              <a:buFont typeface="Wingdings" panose="05000000000000000000" pitchFamily="2" charset="2"/>
              <a:buChar char=""/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Space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342900" lvl="0" indent="-342900" algn="just">
              <a:lnSpc>
                <a:spcPct val="107000"/>
              </a:lnSpc>
              <a:buFont typeface="Wingdings" panose="05000000000000000000" pitchFamily="2" charset="2"/>
              <a:buChar char=""/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Energy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"/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Maintenance requirements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123669" y="0"/>
            <a:ext cx="12068331" cy="14157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200" b="1" dirty="0"/>
              <a:t>Virtual Machine </a:t>
            </a:r>
            <a:endParaRPr lang="en-IN" sz="3200" b="1" dirty="0"/>
          </a:p>
          <a:p>
            <a:endParaRPr lang="en-IN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dirty="0"/>
              <a:t>It is a computer resource that uses software instead of a physical computer to run programs and deploy apps.</a:t>
            </a:r>
            <a:endParaRPr lang="en-IN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GB" dirty="0"/>
              <a:t>Another word VM is a virtual environment that works like a computer within a computer. </a:t>
            </a:r>
            <a:endParaRPr lang="en-IN" dirty="0"/>
          </a:p>
        </p:txBody>
      </p:sp>
      <p:sp>
        <p:nvSpPr>
          <p:cNvPr id="8" name="TextBox 7"/>
          <p:cNvSpPr txBox="1"/>
          <p:nvPr/>
        </p:nvSpPr>
        <p:spPr>
          <a:xfrm>
            <a:off x="403484" y="1379260"/>
            <a:ext cx="11508699" cy="4070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1200"/>
              </a:spcAft>
            </a:pPr>
            <a:r>
              <a:rPr lang="en-IN" sz="2000" b="1" dirty="0"/>
              <a:t>Working of Virtual Machine</a:t>
            </a:r>
            <a:endParaRPr lang="en-IN" sz="2000" b="1" dirty="0"/>
          </a:p>
        </p:txBody>
      </p:sp>
      <p:pic>
        <p:nvPicPr>
          <p:cNvPr id="1026" name="Picture 2" descr="Image showing that a host's physical resources (CPU, RAM and Storage) are shared across three VMs through a hypervisor.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6510" y="1943100"/>
            <a:ext cx="8215746" cy="4914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648324" y="708454"/>
            <a:ext cx="7566285" cy="27256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1200"/>
              </a:spcAft>
            </a:pPr>
            <a:r>
              <a:rPr lang="en-IN" sz="2400" b="1" dirty="0"/>
              <a:t>Advantages of virtual machines</a:t>
            </a:r>
            <a:endParaRPr lang="en-IN" sz="2400" b="1" dirty="0"/>
          </a:p>
          <a:p>
            <a:pPr marL="285750" indent="-285750">
              <a:lnSpc>
                <a:spcPct val="107000"/>
              </a:lnSpc>
              <a:spcAft>
                <a:spcPts val="1200"/>
              </a:spcAft>
              <a:buFont typeface="Wingdings" panose="05000000000000000000" pitchFamily="2" charset="2"/>
              <a:buChar char="v"/>
            </a:pPr>
            <a:r>
              <a:rPr lang="en-IN" dirty="0"/>
              <a:t> Reduces cost</a:t>
            </a:r>
            <a:endParaRPr lang="en-IN" dirty="0"/>
          </a:p>
          <a:p>
            <a:pPr marL="285750" indent="-285750">
              <a:lnSpc>
                <a:spcPct val="107000"/>
              </a:lnSpc>
              <a:spcAft>
                <a:spcPts val="1200"/>
              </a:spcAft>
              <a:buFont typeface="Wingdings" panose="05000000000000000000" pitchFamily="2" charset="2"/>
              <a:buChar char="v"/>
            </a:pPr>
            <a:r>
              <a:rPr lang="en-IN" dirty="0"/>
              <a:t>Act as a Single System</a:t>
            </a:r>
            <a:endParaRPr lang="en-IN" dirty="0"/>
          </a:p>
          <a:p>
            <a:pPr marL="285750" indent="-285750">
              <a:lnSpc>
                <a:spcPct val="107000"/>
              </a:lnSpc>
              <a:spcAft>
                <a:spcPts val="1200"/>
              </a:spcAft>
              <a:buFont typeface="Wingdings" panose="05000000000000000000" pitchFamily="2" charset="2"/>
              <a:buChar char="v"/>
            </a:pPr>
            <a:r>
              <a:rPr lang="en-IN" dirty="0"/>
              <a:t> Disaster Recovery </a:t>
            </a:r>
            <a:endParaRPr lang="en-IN" dirty="0"/>
          </a:p>
          <a:p>
            <a:pPr marL="285750" indent="-285750">
              <a:lnSpc>
                <a:spcPct val="107000"/>
              </a:lnSpc>
              <a:spcAft>
                <a:spcPts val="1200"/>
              </a:spcAft>
              <a:buFont typeface="Wingdings" panose="05000000000000000000" pitchFamily="2" charset="2"/>
              <a:buChar char="v"/>
            </a:pPr>
            <a:r>
              <a:rPr lang="en-IN" dirty="0"/>
              <a:t>Agility and speed</a:t>
            </a:r>
            <a:endParaRPr lang="en-IN" dirty="0"/>
          </a:p>
          <a:p>
            <a:pPr marL="285750" indent="-285750">
              <a:lnSpc>
                <a:spcPct val="107000"/>
              </a:lnSpc>
              <a:spcAft>
                <a:spcPts val="1200"/>
              </a:spcAft>
              <a:buFont typeface="Wingdings" panose="05000000000000000000" pitchFamily="2" charset="2"/>
              <a:buChar char="v"/>
            </a:pPr>
            <a:r>
              <a:rPr lang="en-IN" dirty="0"/>
              <a:t>scalability</a:t>
            </a:r>
            <a:endParaRPr lang="en-IN" dirty="0"/>
          </a:p>
        </p:txBody>
      </p:sp>
      <p:sp>
        <p:nvSpPr>
          <p:cNvPr id="11" name="TextBox 10"/>
          <p:cNvSpPr txBox="1"/>
          <p:nvPr/>
        </p:nvSpPr>
        <p:spPr>
          <a:xfrm>
            <a:off x="648324" y="3295569"/>
            <a:ext cx="7566285" cy="18251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1200"/>
              </a:spcAft>
            </a:pPr>
            <a:r>
              <a:rPr lang="en-IN" sz="2400" b="1" dirty="0"/>
              <a:t>Disadvantages of virtual machines</a:t>
            </a:r>
            <a:endParaRPr lang="en-IN" sz="2400" b="1" dirty="0"/>
          </a:p>
          <a:p>
            <a:pPr marL="285750" indent="-285750">
              <a:lnSpc>
                <a:spcPct val="107000"/>
              </a:lnSpc>
              <a:spcAft>
                <a:spcPts val="1200"/>
              </a:spcAft>
              <a:buFont typeface="Wingdings" panose="05000000000000000000" pitchFamily="2" charset="2"/>
              <a:buChar char="v"/>
            </a:pPr>
            <a:r>
              <a:rPr lang="en-IN" dirty="0"/>
              <a:t>Unstable performance due to lack of infrastructure</a:t>
            </a:r>
            <a:endParaRPr lang="en-IN" dirty="0"/>
          </a:p>
          <a:p>
            <a:pPr marL="285750" indent="-285750">
              <a:lnSpc>
                <a:spcPct val="107000"/>
              </a:lnSpc>
              <a:spcAft>
                <a:spcPts val="1200"/>
              </a:spcAft>
              <a:buFont typeface="Wingdings" panose="05000000000000000000" pitchFamily="2" charset="2"/>
              <a:buChar char="v"/>
            </a:pPr>
            <a:r>
              <a:rPr lang="en-IN" dirty="0"/>
              <a:t> Slower and low in efficiency </a:t>
            </a:r>
            <a:endParaRPr lang="en-IN" dirty="0"/>
          </a:p>
          <a:p>
            <a:pPr marL="285750" indent="-285750">
              <a:lnSpc>
                <a:spcPct val="107000"/>
              </a:lnSpc>
              <a:spcAft>
                <a:spcPts val="1200"/>
              </a:spcAft>
              <a:buFont typeface="Wingdings" panose="05000000000000000000" pitchFamily="2" charset="2"/>
              <a:buChar char="v"/>
            </a:pPr>
            <a:r>
              <a:rPr lang="en-IN" dirty="0"/>
              <a:t> Skilled and dedicated man power</a:t>
            </a:r>
            <a:endParaRPr lang="en-IN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96981" y="929551"/>
            <a:ext cx="11776363" cy="21852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800" b="1" u="sng" dirty="0">
                <a:solidFill>
                  <a:srgbClr val="1A1A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Applications of VMs:</a:t>
            </a:r>
            <a:endParaRPr lang="en-IN" sz="36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buFont typeface="Wingdings" panose="05000000000000000000" pitchFamily="2" charset="2"/>
              <a:buChar char=""/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Building and deploying apps to the cloud.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342900" lvl="0" indent="-342900" algn="just">
              <a:buFont typeface="Wingdings" panose="05000000000000000000" pitchFamily="2" charset="2"/>
              <a:buChar char=""/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Trying out a new operating system (OS), including beta releases.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342900" lvl="0" indent="-342900" algn="just">
              <a:buFont typeface="Wingdings" panose="05000000000000000000" pitchFamily="2" charset="2"/>
              <a:buChar char=""/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Spinning up a new environment to make it simpler and quicker for developers to run dev-test scenarios.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342900" lvl="0" indent="-342900" algn="just">
              <a:buFont typeface="Wingdings" panose="05000000000000000000" pitchFamily="2" charset="2"/>
              <a:buChar char=""/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Backing up your existing OS.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342900" lvl="0" indent="-342900" algn="just">
              <a:buFont typeface="Wingdings" panose="05000000000000000000" pitchFamily="2" charset="2"/>
              <a:buChar char=""/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Accessing virus-infected data or running an old application by installing an older OS.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342900" lvl="0" indent="-342900" algn="just">
              <a:buFont typeface="Wingdings" panose="05000000000000000000" pitchFamily="2" charset="2"/>
              <a:buChar char=""/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Running software or apps on operating systems that they weren't originally intended for.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23348"/>
          </a:xfrm>
        </p:spPr>
        <p:txBody>
          <a:bodyPr/>
          <a:lstStyle/>
          <a:p>
            <a:pPr algn="ctr"/>
            <a:r>
              <a:rPr lang="en-IN" sz="4400" b="1" dirty="0"/>
              <a:t>VM management and configurations</a:t>
            </a:r>
            <a:endParaRPr lang="en-IN" b="1" dirty="0"/>
          </a:p>
        </p:txBody>
      </p:sp>
      <p:sp>
        <p:nvSpPr>
          <p:cNvPr id="5" name="TextBox 4"/>
          <p:cNvSpPr txBox="1"/>
          <p:nvPr/>
        </p:nvSpPr>
        <p:spPr>
          <a:xfrm>
            <a:off x="1094509" y="1637253"/>
            <a:ext cx="91439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GB" dirty="0"/>
              <a:t>the arrangement of resources assigned to a virtual machine</a:t>
            </a:r>
            <a:endParaRPr lang="en-IN" dirty="0"/>
          </a:p>
        </p:txBody>
      </p:sp>
      <p:sp>
        <p:nvSpPr>
          <p:cNvPr id="7" name="TextBox 6"/>
          <p:cNvSpPr txBox="1"/>
          <p:nvPr/>
        </p:nvSpPr>
        <p:spPr>
          <a:xfrm>
            <a:off x="1094509" y="2071577"/>
            <a:ext cx="86452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GB" dirty="0"/>
              <a:t>Include allocated processors, memory, disks, network adapters and the user interface.</a:t>
            </a:r>
            <a:endParaRPr lang="en-IN" dirty="0"/>
          </a:p>
        </p:txBody>
      </p:sp>
      <p:sp>
        <p:nvSpPr>
          <p:cNvPr id="9" name="TextBox 8"/>
          <p:cNvSpPr txBox="1"/>
          <p:nvPr/>
        </p:nvSpPr>
        <p:spPr>
          <a:xfrm>
            <a:off x="1094509" y="2504129"/>
            <a:ext cx="73290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GB" dirty="0"/>
              <a:t>Virtual machines can be created quickly and easily</a:t>
            </a:r>
            <a:endParaRPr lang="en-IN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40220"/>
          </a:xfrm>
        </p:spPr>
        <p:txBody>
          <a:bodyPr/>
          <a:lstStyle/>
          <a:p>
            <a:pPr algn="ctr"/>
            <a:r>
              <a:rPr lang="en-IN" sz="4400" b="1" dirty="0"/>
              <a:t>Cloud Data stores</a:t>
            </a:r>
            <a:endParaRPr lang="en-IN" dirty="0"/>
          </a:p>
        </p:txBody>
      </p:sp>
      <p:sp>
        <p:nvSpPr>
          <p:cNvPr id="5" name="TextBox 4"/>
          <p:cNvSpPr txBox="1"/>
          <p:nvPr/>
        </p:nvSpPr>
        <p:spPr>
          <a:xfrm>
            <a:off x="540326" y="1443473"/>
            <a:ext cx="11097491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GB" b="0" i="0" dirty="0">
                <a:solidFill>
                  <a:srgbClr val="333333"/>
                </a:solidFill>
                <a:effectLst/>
                <a:latin typeface="AmazonEmberLight"/>
              </a:rPr>
              <a:t>It’s a model that stores data on the Internet through a cloud computing provider who manages and operates data storage as a service. </a:t>
            </a:r>
            <a:endParaRPr lang="en-GB" b="0" i="0" dirty="0">
              <a:solidFill>
                <a:srgbClr val="333333"/>
              </a:solidFill>
              <a:effectLst/>
              <a:latin typeface="AmazonEmberLight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GB" b="0" i="0" dirty="0">
                <a:solidFill>
                  <a:srgbClr val="333333"/>
                </a:solidFill>
                <a:effectLst/>
                <a:latin typeface="AmazonEmberLight"/>
              </a:rPr>
              <a:t>It’s delivered on demand with just-in-time capacity and costs, and eliminates buying and managing your own data storage infrastructure. </a:t>
            </a:r>
            <a:endParaRPr lang="en-GB" b="0" i="0" dirty="0">
              <a:solidFill>
                <a:srgbClr val="333333"/>
              </a:solidFill>
              <a:effectLst/>
              <a:latin typeface="AmazonEmberLight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GB" b="0" i="0" dirty="0">
                <a:solidFill>
                  <a:srgbClr val="333333"/>
                </a:solidFill>
                <a:effectLst/>
                <a:latin typeface="AmazonEmberLight"/>
              </a:rPr>
              <a:t>This gives you agility, global scale and durability, with “anytime, anywhere” data access.</a:t>
            </a:r>
            <a:endParaRPr lang="en-IN" dirty="0"/>
          </a:p>
        </p:txBody>
      </p:sp>
      <p:sp>
        <p:nvSpPr>
          <p:cNvPr id="7" name="TextBox 6"/>
          <p:cNvSpPr txBox="1"/>
          <p:nvPr/>
        </p:nvSpPr>
        <p:spPr>
          <a:xfrm>
            <a:off x="318653" y="2921537"/>
            <a:ext cx="1154083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/>
            <a:r>
              <a:rPr lang="en-GB" b="1" u="sng" dirty="0"/>
              <a:t>Working of Cloud Storage </a:t>
            </a:r>
            <a:endParaRPr lang="en-GB" b="1" u="sng" dirty="0"/>
          </a:p>
          <a:p>
            <a:pPr marL="285750" indent="-285750" algn="ctr" rtl="0">
              <a:buFont typeface="Wingdings" panose="05000000000000000000" pitchFamily="2" charset="2"/>
              <a:buChar char="v"/>
            </a:pPr>
            <a:r>
              <a:rPr lang="en-GB" dirty="0"/>
              <a:t>Cloud storage is purchased from a third party cloud vendor who owns and operates data storage capacity and delivers</a:t>
            </a:r>
            <a:endParaRPr lang="en-GB" dirty="0"/>
          </a:p>
          <a:p>
            <a:pPr marL="285750" indent="-285750" algn="ctr" rtl="0">
              <a:buFont typeface="Wingdings" panose="05000000000000000000" pitchFamily="2" charset="2"/>
              <a:buChar char="v"/>
            </a:pPr>
            <a:r>
              <a:rPr lang="en-GB" dirty="0"/>
              <a:t>These cloud storage vendors manage capacity, security and durability to make data accessible to your applications.</a:t>
            </a:r>
            <a:endParaRPr lang="en-GB" dirty="0"/>
          </a:p>
        </p:txBody>
      </p:sp>
      <p:sp>
        <p:nvSpPr>
          <p:cNvPr id="9" name="TextBox 8"/>
          <p:cNvSpPr txBox="1"/>
          <p:nvPr/>
        </p:nvSpPr>
        <p:spPr>
          <a:xfrm>
            <a:off x="2413000" y="4709160"/>
            <a:ext cx="779526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b="1" u="sng" dirty="0"/>
              <a:t>Benefits of Cloud Storage</a:t>
            </a:r>
            <a:endParaRPr lang="en-IN" b="1" u="sng" dirty="0"/>
          </a:p>
        </p:txBody>
      </p:sp>
      <p:sp>
        <p:nvSpPr>
          <p:cNvPr id="11" name="TextBox 10"/>
          <p:cNvSpPr txBox="1"/>
          <p:nvPr/>
        </p:nvSpPr>
        <p:spPr>
          <a:xfrm>
            <a:off x="540326" y="5357315"/>
            <a:ext cx="11540836" cy="922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+mj-lt"/>
              <a:buAutoNum type="arabicPeriod"/>
            </a:pPr>
            <a:r>
              <a:rPr lang="en-GB" dirty="0"/>
              <a:t>Total Cos</a:t>
            </a:r>
            <a:r>
              <a:rPr lang="en-US" altLang="en-GB" dirty="0"/>
              <a:t>s</a:t>
            </a:r>
            <a:r>
              <a:rPr lang="en-GB" dirty="0"/>
              <a:t>t of Ownership. </a:t>
            </a:r>
            <a:endParaRPr lang="en-GB" dirty="0"/>
          </a:p>
          <a:p>
            <a:pPr algn="l">
              <a:buFont typeface="+mj-lt"/>
              <a:buAutoNum type="arabicPeriod"/>
            </a:pPr>
            <a:r>
              <a:rPr lang="en-GB" dirty="0"/>
              <a:t>Time to Deployment. </a:t>
            </a:r>
            <a:endParaRPr lang="en-GB" dirty="0"/>
          </a:p>
          <a:p>
            <a:pPr algn="l">
              <a:buFont typeface="+mj-lt"/>
              <a:buAutoNum type="arabicPeriod"/>
            </a:pPr>
            <a:r>
              <a:rPr lang="en-GB" dirty="0"/>
              <a:t>Information Management</a:t>
            </a:r>
            <a:r>
              <a:rPr lang="en-GB" b="0" i="0" dirty="0">
                <a:solidFill>
                  <a:srgbClr val="333333"/>
                </a:solidFill>
                <a:effectLst/>
                <a:latin typeface="AmazonEmberBold"/>
              </a:rPr>
              <a:t>.</a:t>
            </a:r>
            <a:r>
              <a:rPr lang="en-GB" b="0" i="0" dirty="0">
                <a:solidFill>
                  <a:srgbClr val="333333"/>
                </a:solidFill>
                <a:effectLst/>
                <a:latin typeface="AmazonEmber"/>
              </a:rPr>
              <a:t> </a:t>
            </a:r>
            <a:endParaRPr lang="en-GB" b="0" i="0" dirty="0">
              <a:solidFill>
                <a:srgbClr val="333333"/>
              </a:solidFill>
              <a:effectLst/>
              <a:latin typeface="AmazonEmber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sz="4400" b="1" dirty="0"/>
              <a:t>Cloud Computing and Virtualization</a:t>
            </a:r>
            <a:endParaRPr lang="en-IN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9037" y="1690688"/>
            <a:ext cx="7513925" cy="4610592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6019" y="2318616"/>
            <a:ext cx="10515600" cy="1325563"/>
          </a:xfrm>
        </p:spPr>
        <p:txBody>
          <a:bodyPr/>
          <a:lstStyle/>
          <a:p>
            <a:pPr algn="ctr"/>
            <a:r>
              <a:rPr lang="en-GB" b="1" dirty="0"/>
              <a:t>END of the UNIT 4</a:t>
            </a:r>
            <a:endParaRPr lang="en-IN" b="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5285</Words>
  <Application>WPS Presentation</Application>
  <PresentationFormat>Widescreen</PresentationFormat>
  <Paragraphs>140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38" baseType="lpstr">
      <vt:lpstr>Arial</vt:lpstr>
      <vt:lpstr>SimSun</vt:lpstr>
      <vt:lpstr>Wingdings</vt:lpstr>
      <vt:lpstr>Times New Roman</vt:lpstr>
      <vt:lpstr>inter-regular</vt:lpstr>
      <vt:lpstr>Thonburi</vt:lpstr>
      <vt:lpstr>erdana</vt:lpstr>
      <vt:lpstr>inter-bold</vt:lpstr>
      <vt:lpstr>urw-din</vt:lpstr>
      <vt:lpstr>Ubuntu</vt:lpstr>
      <vt:lpstr>Calibri</vt:lpstr>
      <vt:lpstr>Helvetica Neue</vt:lpstr>
      <vt:lpstr>Mangal</vt:lpstr>
      <vt:lpstr>AmazonEmberLight</vt:lpstr>
      <vt:lpstr>AmazonEmberBold</vt:lpstr>
      <vt:lpstr>AmazonEmber</vt:lpstr>
      <vt:lpstr>Calibri Light</vt:lpstr>
      <vt:lpstr>Microsoft YaHei</vt:lpstr>
      <vt:lpstr>汉仪旗黑</vt:lpstr>
      <vt:lpstr>Arial Unicode MS</vt:lpstr>
      <vt:lpstr>苹方-简</vt:lpstr>
      <vt:lpstr>Office Theme</vt:lpstr>
      <vt:lpstr>UNIT 4  VT IN CLOUD COMPUTING </vt:lpstr>
      <vt:lpstr>OUTLINES</vt:lpstr>
      <vt:lpstr>Introduction to VT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VM management and configurations</vt:lpstr>
      <vt:lpstr>Cloud Data stores</vt:lpstr>
      <vt:lpstr>Cloud Computing and Virtualization</vt:lpstr>
      <vt:lpstr>END of the UNIT 4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 4  VT in Cloud Computing </dc:title>
  <dc:creator>Harendra Bikram Shah</dc:creator>
  <cp:lastModifiedBy>hbs</cp:lastModifiedBy>
  <cp:revision>49</cp:revision>
  <dcterms:created xsi:type="dcterms:W3CDTF">2024-05-15T15:33:20Z</dcterms:created>
  <dcterms:modified xsi:type="dcterms:W3CDTF">2024-05-15T15:33:20Z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1033-5.7.1.8093</vt:lpwstr>
  </property>
</Properties>
</file>