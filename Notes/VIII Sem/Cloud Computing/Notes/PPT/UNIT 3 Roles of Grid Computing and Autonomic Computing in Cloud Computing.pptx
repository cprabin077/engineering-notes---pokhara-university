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70" r:id="rId6"/>
    <p:sldId id="272" r:id="rId7"/>
    <p:sldId id="271" r:id="rId8"/>
    <p:sldId id="260" r:id="rId9"/>
    <p:sldId id="261" r:id="rId10"/>
    <p:sldId id="262" r:id="rId11"/>
    <p:sldId id="265" r:id="rId12"/>
    <p:sldId id="266" r:id="rId13"/>
    <p:sldId id="273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0200B-44D6-438C-9154-D52D4F15D743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0A11C-B4FF-45E0-A7B8-72723B304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80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79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07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182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957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889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90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036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541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A11C-B4FF-45E0-A7B8-72723B30403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84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FB7E-9950-4E46-A55B-25D9CFA1F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4C01A-BEB1-4659-9609-B8ADAC8B2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DA90-606B-4D3F-B847-CD0FAF0E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6504E-824C-4958-96AD-FD3F69FA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393C9-F61C-4354-830C-C1E1A9A2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0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E603-E2FE-4BA3-9652-5D24D88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7E1A-7ECD-426C-B96A-44A7E44D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CC80B-358E-4851-9045-7EE2FA4E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DA1D4-FAEF-422E-BE72-157A7495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1908-3535-41A0-A746-8AC0525B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C13C-EEF6-4867-A819-619A687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5DB3C-6447-4D55-9C84-AF1A93FAB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4ADCB-7CD4-4794-9505-057AF71B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2E0E-B6F4-470A-A4F8-7CC71875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3427-4EE6-488D-8B3D-75E506BF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92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C919-7065-4D4C-9E3D-24631521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40BA-FFAD-41EC-A085-A1893AF6B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8E544-94B0-48E2-AA24-EAFB11CD9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4AFB7-BCCD-47D2-B72A-5BC172AF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2E4CE-BDF8-435F-9114-9460DF2F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A3147-CC8D-4D33-8E22-1803935C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13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C1943-E31C-475D-A9FC-D32F7B73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B37E4-1828-48D1-AFDA-2B4BE0964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C4BAC-5D87-4B2E-BDE9-FAFD0BA31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C4DAD-9FF0-4541-9E64-EE70D78CF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1844E-F750-4EF6-9199-E8CCD7A99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4BCEA3-6F44-4AC2-9B02-9D22F2BA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FDDD4-E243-4271-A3AF-35DBF0B7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A1E22F-6433-435A-90AA-83F53C5A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89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03857-A136-48F1-B094-0F993A94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8CAE6-88E4-4DC6-93AF-7996BA1D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6D19A-AF17-4751-A7EA-9E33872E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34AF3-CA79-480B-919D-BAE0AB74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87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E5AA6-0C7D-43C0-94D6-D0EB3D9E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8A3E2-30AE-410D-8ABE-EA3B1E15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0CE40-C87C-4FAE-82B5-1E376B22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77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6803-C968-4805-BEC6-768439DB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8239-E7AF-46C6-8B4B-C8B545121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9B131-864F-498C-A966-FD97F2B64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68CED-3A72-43F7-AE5D-CD516045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66C28-72DA-4924-A701-D3FB7747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E24F0-16F6-4AC8-AAC3-BDF48832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81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C13F-3F81-49E2-99D9-ECF83AA0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66551-808D-4D12-8036-73AFA2EE2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D6580-8258-4D08-B968-BE0887533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41D29-88A8-487A-BAC8-3C7D523C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7DE3A-6F88-407A-BBE3-FE0DB0F6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EF2B7-5660-4005-9D8A-13FF390A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85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B462-A615-4955-B129-8BAEB2D9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C4DC0-6699-4597-B055-C32BFDBEF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FC66C-969D-48BA-9F97-65F0EF3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B4B10-4E10-4737-A2F3-682F5863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EB7A-519B-47CE-A4E8-ABE2262F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7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3D0CFC-13C9-42C8-A6CE-2A5809B4D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59B0-72E8-4CEF-9DE3-E647FB577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B30A-3525-4C7A-ADE0-20C66760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07254-243C-40CB-8685-D2F213A3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794B7-08B6-4774-BBB3-DDF75854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5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E1F92-36A4-474B-97CA-4069FC9B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546A0-BD4F-408E-98E0-BBE70A46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0F5F-CBB6-4EBB-8A79-154D22842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3508A-C882-4B9C-BF79-B64395706D9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9FDA-CDCD-4A31-B5B8-2A9D06B78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FDB27-6809-4DB9-8947-EF796E397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B37A6-9396-4A72-A224-2FC3D5E8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1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65F-ECED-443A-BB09-BD42794E8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364" y="406400"/>
            <a:ext cx="10902846" cy="11938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 of Grid Computing and Autonomic Computing in Cloud Computing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780D3-2084-42D0-91BA-8826B9E14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699" y="2921715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</a:t>
            </a:r>
          </a:p>
          <a:p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r>
              <a:rPr lang="en-GB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endParaRPr lang="en-I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39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6780D3-2084-42D0-91BA-8826B9E14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4183" y="1158411"/>
            <a:ext cx="9353863" cy="3109808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Grid Computing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Computing in Grid and Cloud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in Grids and Clouds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Autonic Computing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Autonic Cloud Computing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94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F36268-26AA-4672-A51E-3717729FC8C1}"/>
              </a:ext>
            </a:extLst>
          </p:cNvPr>
          <p:cNvSpPr txBox="1"/>
          <p:nvPr/>
        </p:nvSpPr>
        <p:spPr>
          <a:xfrm>
            <a:off x="1219474" y="218139"/>
            <a:ext cx="8600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Introduction to Grid Computing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9A96098-F42B-48C8-8673-6800D1306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08" y="859994"/>
            <a:ext cx="119646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Computing acts like a supercomputer by connecting many computers and resources across globe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computer resources are heterogeneous and geographically dispersed.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Computing breaks complex task into smaller pieces, which are distributed to CPUs that reside within the grid.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machines on that network work under the same protocol to act like a virtual supercomputer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rid Computing">
            <a:extLst>
              <a:ext uri="{FF2B5EF4-FFF2-40B4-BE49-F238E27FC236}">
                <a16:creationId xmlns:a16="http://schemas.microsoft.com/office/drawing/2014/main" id="{4B87632E-2FB7-4BC9-BFE4-04677DAE9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429301"/>
            <a:ext cx="5334000" cy="3981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73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Grid Computing? Key Components, Types, and Applications - Spiceworks">
            <a:extLst>
              <a:ext uri="{FF2B5EF4-FFF2-40B4-BE49-F238E27FC236}">
                <a16:creationId xmlns:a16="http://schemas.microsoft.com/office/drawing/2014/main" id="{ECE27265-1A97-34EF-EB80-2B30C88118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5"/>
          <a:stretch/>
        </p:blipFill>
        <p:spPr bwMode="auto">
          <a:xfrm>
            <a:off x="2667000" y="562708"/>
            <a:ext cx="6858000" cy="629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36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2BFF56-C472-465A-8B11-E8A6B2FFAEFF}"/>
              </a:ext>
            </a:extLst>
          </p:cNvPr>
          <p:cNvSpPr txBox="1"/>
          <p:nvPr/>
        </p:nvSpPr>
        <p:spPr>
          <a:xfrm>
            <a:off x="352489" y="263204"/>
            <a:ext cx="1148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Foster and Carl Kasselman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 1999, the idea was to consume computing power like electricity is consumed from a power grid.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PT - Managing Enterprise Applications in Grid PowerPoint Presentation -  ID:3623794">
            <a:extLst>
              <a:ext uri="{FF2B5EF4-FFF2-40B4-BE49-F238E27FC236}">
                <a16:creationId xmlns:a16="http://schemas.microsoft.com/office/drawing/2014/main" id="{C679C713-A815-C527-72A9-0B5C08C76C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7" t="4923" r="5128" b="28615"/>
          <a:stretch/>
        </p:blipFill>
        <p:spPr bwMode="auto">
          <a:xfrm>
            <a:off x="1951674" y="1642402"/>
            <a:ext cx="8285871" cy="455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4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ternet services. - ppt video online download">
            <a:extLst>
              <a:ext uri="{FF2B5EF4-FFF2-40B4-BE49-F238E27FC236}">
                <a16:creationId xmlns:a16="http://schemas.microsoft.com/office/drawing/2014/main" id="{A70B136E-E0C9-5B9A-8C6D-43890F0CEB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9" t="31795" r="6820" b="12821"/>
          <a:stretch/>
        </p:blipFill>
        <p:spPr bwMode="auto">
          <a:xfrm>
            <a:off x="2473568" y="1125415"/>
            <a:ext cx="7244863" cy="379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51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2F51C-CB99-0AD6-16D7-89AC5248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49" y="196949"/>
            <a:ext cx="10944665" cy="63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0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1AD94-050D-49D8-A1A1-D5151B2A6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24" y="157396"/>
            <a:ext cx="10133351" cy="654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32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515330-ECB8-4575-BDEE-CDE438516A7F}"/>
              </a:ext>
            </a:extLst>
          </p:cNvPr>
          <p:cNvSpPr txBox="1"/>
          <p:nvPr/>
        </p:nvSpPr>
        <p:spPr>
          <a:xfrm>
            <a:off x="618345" y="152612"/>
            <a:ext cx="9155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Distributed Computing in Grid and Cloud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5B67D-E215-404D-B677-8778BEC29EF1}"/>
              </a:ext>
            </a:extLst>
          </p:cNvPr>
          <p:cNvSpPr txBox="1"/>
          <p:nvPr/>
        </p:nvSpPr>
        <p:spPr>
          <a:xfrm>
            <a:off x="306049" y="934599"/>
            <a:ext cx="117160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b="1" dirty="0"/>
              <a:t> </a:t>
            </a:r>
            <a:r>
              <a:rPr lang="en-GB" sz="2000" dirty="0"/>
              <a:t>Grid is based on grid computing where as cloud does not support Distributed computing as they have no </a:t>
            </a:r>
            <a:r>
              <a:rPr lang="en-GB" sz="2000" i="0" dirty="0">
                <a:solidFill>
                  <a:srgbClr val="212529"/>
                </a:solidFill>
                <a:effectLst/>
                <a:latin typeface="-apple-system"/>
              </a:rPr>
              <a:t>mainly the automatic and instant scalability of resources.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212529"/>
                </a:solidFill>
                <a:latin typeface="-apple-system"/>
              </a:rPr>
              <a:t> Distributed computing concept evolved in 1995 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E1FEF-8DB4-4B26-B08C-5F85A2B7F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378" y="2105880"/>
            <a:ext cx="9155244" cy="45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515330-ECB8-4575-BDEE-CDE438516A7F}"/>
              </a:ext>
            </a:extLst>
          </p:cNvPr>
          <p:cNvSpPr txBox="1"/>
          <p:nvPr/>
        </p:nvSpPr>
        <p:spPr>
          <a:xfrm>
            <a:off x="1787577" y="272533"/>
            <a:ext cx="9155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IN GRIDS AND CLOUDS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5A372-B0BF-4D59-AFC2-D9A713BF1E39}"/>
              </a:ext>
            </a:extLst>
          </p:cNvPr>
          <p:cNvSpPr txBox="1"/>
          <p:nvPr/>
        </p:nvSpPr>
        <p:spPr>
          <a:xfrm>
            <a:off x="963118" y="948690"/>
            <a:ext cx="110889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both share the same vision of providing services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Both are based on network technology and are capable of multitasking</a:t>
            </a:r>
            <a:endParaRPr lang="en-GB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In grid computing, resources are distributed over grids, whereas in cloud computing, resources are managed centrally.</a:t>
            </a:r>
          </a:p>
          <a:p>
            <a:br>
              <a:rPr lang="en-GB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</a:br>
            <a:br>
              <a:rPr lang="en-GB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31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8B1240-7578-47CA-A84A-02780A9692A7}"/>
              </a:ext>
            </a:extLst>
          </p:cNvPr>
          <p:cNvSpPr txBox="1"/>
          <p:nvPr/>
        </p:nvSpPr>
        <p:spPr>
          <a:xfrm>
            <a:off x="2821899" y="32556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AUTONOMIC COMPUTING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B51E4-0EEA-42B5-A15C-9F1E19A7EC18}"/>
              </a:ext>
            </a:extLst>
          </p:cNvPr>
          <p:cNvSpPr txBox="1"/>
          <p:nvPr/>
        </p:nvSpPr>
        <p:spPr>
          <a:xfrm>
            <a:off x="1157991" y="1018455"/>
            <a:ext cx="10864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Autonomic computing is a computer's ability to manage itself automatically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4242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Learns automatically from learning the behaviour</a:t>
            </a:r>
            <a:r>
              <a:rPr lang="en-IN" sz="180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activities of computer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resolve system difficulties and other maintenance such as software updates.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Cut down the effort and time of developers and IT care takers.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was proposed by Jiming Liu in the year 2001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A8714-8784-40FD-8271-362F54643D8B}"/>
              </a:ext>
            </a:extLst>
          </p:cNvPr>
          <p:cNvSpPr txBox="1"/>
          <p:nvPr/>
        </p:nvSpPr>
        <p:spPr>
          <a:xfrm>
            <a:off x="1218575" y="2690336"/>
            <a:ext cx="97548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 has defined the four areas of automatic computing: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Self-Configuration.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(error correction).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Self-Optimization (automatic resource control for optimal functioning).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Self-Protection (identification and protection from attacks in a proactive manner).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EF90A-628C-47E3-ACB0-96C8F88A44A9}"/>
              </a:ext>
            </a:extLst>
          </p:cNvPr>
          <p:cNvSpPr txBox="1"/>
          <p:nvPr/>
        </p:nvSpPr>
        <p:spPr>
          <a:xfrm>
            <a:off x="1218575" y="4167664"/>
            <a:ext cx="9154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Characteristics that every autonomic computing system should have include </a:t>
            </a:r>
          </a:p>
          <a:p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automation, </a:t>
            </a:r>
          </a:p>
          <a:p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adaptivity </a:t>
            </a:r>
            <a:r>
              <a:rPr lang="en-GB" b="1" i="0" dirty="0">
                <a:solidFill>
                  <a:srgbClr val="212529"/>
                </a:solidFill>
                <a:effectLst/>
                <a:latin typeface="BentonSansBBVA-Bold"/>
              </a:rPr>
              <a:t>and</a:t>
            </a:r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 </a:t>
            </a:r>
          </a:p>
          <a:p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awareness</a:t>
            </a:r>
            <a:r>
              <a:rPr lang="en-GB" b="1" i="0" dirty="0">
                <a:solidFill>
                  <a:srgbClr val="212529"/>
                </a:solidFill>
                <a:effectLst/>
                <a:latin typeface="BentonSansBBVA-Bold"/>
              </a:rPr>
              <a:t>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8A595-6BD9-4803-8A2E-20AD0A47D329}"/>
              </a:ext>
            </a:extLst>
          </p:cNvPr>
          <p:cNvSpPr txBox="1"/>
          <p:nvPr/>
        </p:nvSpPr>
        <p:spPr>
          <a:xfrm>
            <a:off x="1218574" y="5367993"/>
            <a:ext cx="9604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273239"/>
                </a:solidFill>
                <a:effectLst/>
                <a:latin typeface="var(--font-din)"/>
                <a:ea typeface="Times New Roman" panose="02020603050405020304" pitchFamily="18" charset="0"/>
                <a:cs typeface="Times New Roman" panose="02020603050405020304" pitchFamily="18" charset="0"/>
              </a:rPr>
              <a:t>It uses artificial systems to solve complex problems using imitations like that of humans.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64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4711167-D86B-4059-B5BB-FE37C15AD1C0}"/>
              </a:ext>
            </a:extLst>
          </p:cNvPr>
          <p:cNvSpPr txBox="1"/>
          <p:nvPr/>
        </p:nvSpPr>
        <p:spPr>
          <a:xfrm>
            <a:off x="873175" y="806358"/>
            <a:ext cx="108191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Autonomic system knows itself. 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configure itself again and again and run its setup automatically as and when required.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has the capability of optimizing itself by fine-tuning workflows.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heal itself.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protect itself by detecting and identifying various </a:t>
            </a:r>
            <a:r>
              <a:rPr lang="en-GB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lang="en-GB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it.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can hide or optimize the resource</a:t>
            </a:r>
          </a:p>
          <a:p>
            <a:pPr algn="l" fontAlgn="base"/>
            <a:endParaRPr lang="en-GB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73E0A8-FE05-47B7-988C-A08029B63396}"/>
              </a:ext>
            </a:extLst>
          </p:cNvPr>
          <p:cNvSpPr txBox="1"/>
          <p:nvPr/>
        </p:nvSpPr>
        <p:spPr>
          <a:xfrm>
            <a:off x="873175" y="3237792"/>
            <a:ext cx="98597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0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Autonomic Computing (AC) Architecture</a:t>
            </a:r>
          </a:p>
          <a:p>
            <a:pPr fontAlgn="base"/>
            <a:r>
              <a:rPr lang="en-IN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based on MAPE Architecture : Monitor, Analyze, Plan and Execute</a:t>
            </a:r>
            <a:r>
              <a:rPr lang="en-IN" sz="20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A0FC32-CED4-443A-A644-8C38D80AE7DD}"/>
              </a:ext>
            </a:extLst>
          </p:cNvPr>
          <p:cNvSpPr txBox="1"/>
          <p:nvPr/>
        </p:nvSpPr>
        <p:spPr>
          <a:xfrm>
            <a:off x="873175" y="4068788"/>
            <a:ext cx="111939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Control loops: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Managed Elements: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Sensors: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Effectors: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Autonomic Manager: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83756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utonomic Computing?">
            <a:extLst>
              <a:ext uri="{FF2B5EF4-FFF2-40B4-BE49-F238E27FC236}">
                <a16:creationId xmlns:a16="http://schemas.microsoft.com/office/drawing/2014/main" id="{483A2B2C-4DEF-B52A-CC75-FF027C6FC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041" y="606990"/>
            <a:ext cx="8096250" cy="607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3C517A-F63C-6040-5E2A-517F6794E63B}"/>
              </a:ext>
            </a:extLst>
          </p:cNvPr>
          <p:cNvSpPr txBox="1"/>
          <p:nvPr/>
        </p:nvSpPr>
        <p:spPr>
          <a:xfrm>
            <a:off x="3316457" y="174060"/>
            <a:ext cx="7135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Autonomic Computing (AC) Architecture</a:t>
            </a:r>
          </a:p>
        </p:txBody>
      </p:sp>
    </p:spTree>
    <p:extLst>
      <p:ext uri="{BB962C8B-B14F-4D97-AF65-F5344CB8AC3E}">
        <p14:creationId xmlns:p14="http://schemas.microsoft.com/office/powerpoint/2010/main" val="66473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608E6F-7D51-4965-9DF7-441815E180D0}"/>
              </a:ext>
            </a:extLst>
          </p:cNvPr>
          <p:cNvSpPr txBox="1"/>
          <p:nvPr/>
        </p:nvSpPr>
        <p:spPr>
          <a:xfrm>
            <a:off x="211736" y="691063"/>
            <a:ext cx="117685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Advantages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is an open-source.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is an evolutionary technology that adapts itself to new changes.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is optimized hence gives better efficiency and performance thereby taking lesser time in execution.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is very secure and can counter system and security attacks automatically.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has backup mechanisms that allow recovery from system failures and crashes.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reduces the cost of owning.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can set up itself thereby reducing the time taken in manual setup.</a:t>
            </a:r>
          </a:p>
          <a:p>
            <a:pPr algn="l" fontAlgn="base"/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Disadvantages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There will always be a possibility of the system crashing or malfunctioning.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This would result in an increase in unemployment due to the lesser needs of people after it is implemented.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The affordability would be an issue because it would be expensive.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would need people who are very skilled </a:t>
            </a:r>
          </a:p>
          <a:p>
            <a:pPr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It is dependent on internet speed. </a:t>
            </a:r>
          </a:p>
        </p:txBody>
      </p:sp>
    </p:spTree>
    <p:extLst>
      <p:ext uri="{BB962C8B-B14F-4D97-AF65-F5344CB8AC3E}">
        <p14:creationId xmlns:p14="http://schemas.microsoft.com/office/powerpoint/2010/main" val="157971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2329-DA98-5BF3-F12D-E81E54A1F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END of the UNIT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257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2329-DA98-5BF3-F12D-E81E54A1F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88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614</Words>
  <Application>Microsoft Office PowerPoint</Application>
  <PresentationFormat>Widescreen</PresentationFormat>
  <Paragraphs>81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-apple-system</vt:lpstr>
      <vt:lpstr>Arial</vt:lpstr>
      <vt:lpstr>BentonSansBBVA-Bold</vt:lpstr>
      <vt:lpstr>BentonSansBBVA-Book</vt:lpstr>
      <vt:lpstr>Calibri</vt:lpstr>
      <vt:lpstr>Calibri Light</vt:lpstr>
      <vt:lpstr>Georgia</vt:lpstr>
      <vt:lpstr>Times New Roman</vt:lpstr>
      <vt:lpstr>urw-din</vt:lpstr>
      <vt:lpstr>var(--font-din)</vt:lpstr>
      <vt:lpstr>Wingdings</vt:lpstr>
      <vt:lpstr>Office Theme</vt:lpstr>
      <vt:lpstr>Roles of Grid Computing and Autonomic Computing in Cloud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the UNIT 3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Roles of Grid Computing and Autonomic Computing in Cloud Computing</dc:title>
  <dc:creator>Harendra Bikram Shah</dc:creator>
  <cp:lastModifiedBy>Harandra Bikram Shah</cp:lastModifiedBy>
  <cp:revision>46</cp:revision>
  <dcterms:created xsi:type="dcterms:W3CDTF">2021-12-18T14:38:04Z</dcterms:created>
  <dcterms:modified xsi:type="dcterms:W3CDTF">2024-05-09T16:49:49Z</dcterms:modified>
</cp:coreProperties>
</file>