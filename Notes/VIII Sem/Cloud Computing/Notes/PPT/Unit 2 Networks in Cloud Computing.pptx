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66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5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B3B6-1C3B-49AC-9C6D-3DA239F758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F949A-2473-4632-B45D-56496E694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AC84-C0BE-4BC5-AAFF-6ED4E21B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39524-2DC3-4A95-9D63-4D2CCAB7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9170E-E2BD-435F-BD86-32D1AF39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46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934E-12D6-4120-86B0-18BA70D0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07160-230C-4571-A334-8D62E870D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6A6AC-C637-4B85-BDE8-4999FE91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9CF5D-21DD-400F-9C78-3B53BBA3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34FA1-41E0-4886-9A69-45CAA6CF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17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28FE-7F44-42EE-9056-943EBBD6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05B47-2C5F-47D2-A1FC-38FCA3F6F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655D7-CEF8-4D3D-A00F-2A93E8F0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9F868-5BB1-4595-B374-4EA082DF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E450B-EBE0-4DF9-BEAB-CBDFAEFD4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56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83299-6CF2-4664-9679-6448FBAC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F4364-AAAE-4239-8D3F-5C7743E28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BA301-1F4F-4CC7-8AAE-50B6CF56C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A1C66-80DE-4EB0-B7F0-27FA7F27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8BAEA-B4FB-4F4C-8195-1605C2FF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ED87F-9E50-49C3-B48B-DE349F7C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68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0C9C-8995-400E-A814-DBB9A6E7D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9F701-B067-4AF9-9E4F-F78234A78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A322D-81CA-4A1C-9CBF-688EAED00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1F697-7400-4B57-B34C-EFBF0EC18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8B2B5-638D-44CD-B83C-2AF0D8DEC0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5A4C-0CAD-4716-966C-618464DD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85BA2-42B0-4862-B5AC-AC5F6D94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65CD90-4519-4925-B085-433E216E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35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D063-D05F-4FB3-915C-0BFDD2B2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1DDEB-72A8-44DA-B5A4-35B757BF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8B6C4-B450-4EEF-BB80-6DEC507F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EF5A7B-3576-40BF-B1AF-988D60A0C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62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D00B7-37ED-45D7-9E3B-F45E00C7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6CF13E-3321-46A6-9519-079F5209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7EF53-6C6D-40FE-A130-3C1B2C17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90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4927-71D6-475C-B6A6-2380503D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9B8D-C50E-4255-8D8E-2CD4176E0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4D1B5-74E9-4F45-8BFE-50BB3B15B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8CB12-F728-4FBA-B5A8-40A56234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33204-DE38-4ED5-9C48-F2614477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D5E2D-C79B-4D20-A3EF-56DD3A7D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16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5057-6EBA-4A38-A8A8-1CD6F62E1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7F12F0-D569-46BA-AE14-21FB0737A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69170-5D24-4B1C-8BFA-8DDFBFCA2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40405-5B47-47BD-B4AA-AC9A0C79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A40C3-C0F4-4FF0-A5EE-130EB8D4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6F7D6-0A3E-4506-8547-4ECB4718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06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574B-90B4-420B-923C-74503AE4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9E554-EE86-44E9-A7F3-D34C7091D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3E524-662A-49B8-A167-D2DFC77D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A09F0-6518-4939-8049-40B1A1AE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D51EF-3C27-4C2A-8622-28C3EDD6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31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C47F6-F7AB-4738-A13F-7E1933262E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EAD44-2558-44C2-8A0D-C8A3BD07B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8C9F-6611-4E0A-B917-C278A27E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FD381-6889-499A-A1EC-D8F60577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3EB28-F610-4264-ACAB-D47AC3F8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23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8D8D9-262E-4498-9EC4-B6A606204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41340-353D-4F64-B803-0A4593636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58EE6-6EEA-4DEA-B5FE-CA9F05B7D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099C3-3C96-4D56-8D2F-34F159DE8E2E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0A988-D79A-4CEE-8969-9C16ECD72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C3EF0-FC37-4669-8341-2C6851F9B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08B65-2A00-40E6-972D-A94741309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11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mint.com/wp-content/uploads/2016/12/Foreman.png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mint.com/wp-content/uploads/2016/12/RackTables.png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85CB-9996-4077-A71D-26E89E6FD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15" y="1004201"/>
            <a:ext cx="11377534" cy="549592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OUTLINES: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Introduction to cloud networking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Parallel and Distributed Computing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Network Architecture for Cloud: Data Center , Difference between Cloud and Data centre.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Virtualization Technology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Cloud Automation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Hybrid Cloud Networking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Autonic Computing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Open Source Software in Data </a:t>
            </a:r>
            <a:r>
              <a:rPr lang="en-IN" dirty="0" err="1"/>
              <a:t>Center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EF258-1E74-400A-8995-447D5B3EF8A5}"/>
              </a:ext>
            </a:extLst>
          </p:cNvPr>
          <p:cNvSpPr txBox="1"/>
          <p:nvPr/>
        </p:nvSpPr>
        <p:spPr>
          <a:xfrm>
            <a:off x="2005558" y="357871"/>
            <a:ext cx="8180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UNIT 2: Networks in Cloud Computing  </a:t>
            </a:r>
          </a:p>
        </p:txBody>
      </p:sp>
    </p:spTree>
    <p:extLst>
      <p:ext uri="{BB962C8B-B14F-4D97-AF65-F5344CB8AC3E}">
        <p14:creationId xmlns:p14="http://schemas.microsoft.com/office/powerpoint/2010/main" val="147215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387E-529C-4907-8313-820FC1AC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05"/>
            <a:ext cx="10515600" cy="84082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</a:rPr>
              <a:t>What is Cloud Networking?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BF9F-B08E-41E2-B3FF-DF4A55D56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82" y="932828"/>
            <a:ext cx="10869118" cy="4351338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IT infrastructure in which some or all of an organization’s network capabilities and resources are hosted in a public or private cloud platform, managed in-house or by a service provider, and available on demand.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Companies can either use on-premises cloud networking resources to build a private cloud network or use cloud-based networking resources in the public cloud, or a hybrid cloud combination of both.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07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26224-9DC1-4B15-B45B-9342E93EF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24" y="363009"/>
            <a:ext cx="11047752" cy="613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3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DB646A-C902-4BEF-948E-DB594AE6CAF5}"/>
              </a:ext>
            </a:extLst>
          </p:cNvPr>
          <p:cNvSpPr txBox="1"/>
          <p:nvPr/>
        </p:nvSpPr>
        <p:spPr>
          <a:xfrm>
            <a:off x="2323474" y="377465"/>
            <a:ext cx="7465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Parallel Computing and Distributed Computing: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D8DDEA-A482-4C3F-B1D8-34B16D319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470" y="1276636"/>
            <a:ext cx="9155244" cy="45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1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DC79-D16E-4365-85F0-E21285E6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99" y="260194"/>
            <a:ext cx="11029637" cy="60447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Architecture for Cloud: Data Center Network and cloud data centre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738AA-BB71-4846-B8EA-4FBAC8D48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957" y="864667"/>
            <a:ext cx="11488086" cy="2212065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centre centralizes an organization’s shared IT operations and equipment for storing, processing, and disseminating data and applications.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centre is only for particular organization.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is for all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centre has limitations on resource as well.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Center is one of the major resource for cloud computing too.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One percent of Googlers get to visit a data center, but I did">
            <a:extLst>
              <a:ext uri="{FF2B5EF4-FFF2-40B4-BE49-F238E27FC236}">
                <a16:creationId xmlns:a16="http://schemas.microsoft.com/office/drawing/2014/main" id="{903AA2F7-B42D-4BBE-92B9-BF67EC858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182" y="3203713"/>
            <a:ext cx="7245870" cy="33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652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DC79-D16E-4365-85F0-E21285E6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99" y="260194"/>
            <a:ext cx="10515600" cy="78060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Virtualization Technology</a:t>
            </a:r>
            <a:endParaRPr lang="en-IN" sz="6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F4ED8-8582-4FC8-ACB2-F604E9B27693}"/>
              </a:ext>
            </a:extLst>
          </p:cNvPr>
          <p:cNvSpPr txBox="1"/>
          <p:nvPr/>
        </p:nvSpPr>
        <p:spPr>
          <a:xfrm>
            <a:off x="688298" y="1040801"/>
            <a:ext cx="113787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Virtualization is a technique of creating a virtual version of something like computer hardware.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273239"/>
                </a:solidFill>
                <a:effectLst/>
                <a:latin typeface="urw-din"/>
              </a:rPr>
              <a:t> It was initially developed during the mainframe era. Example Cloud Computing</a:t>
            </a:r>
            <a:endParaRPr lang="en-IN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668CB291-9F7C-4323-A5FA-14B790191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544" y="1687132"/>
            <a:ext cx="7180289" cy="477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455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DC79-D16E-4365-85F0-E21285E6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99" y="260194"/>
            <a:ext cx="10515600" cy="669879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VIRTUALIZATION </a:t>
            </a:r>
            <a:endParaRPr lang="en-IN" sz="19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853558-335A-420A-9E9E-6B1773BD6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027" y="1029643"/>
            <a:ext cx="10176448" cy="55681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2000" dirty="0"/>
            </a:br>
            <a:r>
              <a:rPr lang="en-US" altLang="en-US" sz="2400" dirty="0"/>
              <a:t>1. More flexible and efficient allocation of resources. </a:t>
            </a:r>
            <a:br>
              <a:rPr lang="en-US" altLang="en-US" sz="2400" dirty="0"/>
            </a:br>
            <a:r>
              <a:rPr lang="en-US" altLang="en-US" sz="2400" dirty="0"/>
              <a:t>2. Enhance development productivity. </a:t>
            </a:r>
            <a:br>
              <a:rPr lang="en-US" altLang="en-US" sz="2400" dirty="0"/>
            </a:br>
            <a:r>
              <a:rPr lang="en-US" altLang="en-US" sz="2400" dirty="0"/>
              <a:t>3. It lowers the cost of IT infrastructure. </a:t>
            </a:r>
            <a:br>
              <a:rPr lang="en-US" altLang="en-US" sz="2400" dirty="0"/>
            </a:br>
            <a:r>
              <a:rPr lang="en-US" altLang="en-US" sz="2400" dirty="0"/>
              <a:t>4. Remote access and rapid scalability. </a:t>
            </a:r>
            <a:br>
              <a:rPr lang="en-US" altLang="en-US" sz="2400" dirty="0"/>
            </a:br>
            <a:r>
              <a:rPr lang="en-US" altLang="en-US" sz="2400" dirty="0"/>
              <a:t>5. High availability and disaster recovery. </a:t>
            </a:r>
            <a:br>
              <a:rPr lang="en-US" altLang="en-US" sz="2400" dirty="0"/>
            </a:br>
            <a:r>
              <a:rPr lang="en-US" altLang="en-US" sz="2400" dirty="0"/>
              <a:t>6. Pay per use of the IT infrastructure on demand. </a:t>
            </a:r>
            <a:br>
              <a:rPr lang="en-US" altLang="en-US" sz="2400" dirty="0"/>
            </a:br>
            <a:r>
              <a:rPr lang="en-US" altLang="en-US" sz="2400" dirty="0"/>
              <a:t>7. Enables running multiple operating systems.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Types of Virtualization: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1.Application Virtualization.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2.Network Virtualization.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3.Desktop Virtualization.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4.Storage Virtualization.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5.Server Virtualization.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6.Data virtualization. </a:t>
            </a:r>
          </a:p>
        </p:txBody>
      </p:sp>
    </p:spTree>
    <p:extLst>
      <p:ext uri="{BB962C8B-B14F-4D97-AF65-F5344CB8AC3E}">
        <p14:creationId xmlns:p14="http://schemas.microsoft.com/office/powerpoint/2010/main" val="20190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4A9048-B157-4AF5-82B0-16F9D3AEC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68" y="539643"/>
            <a:ext cx="10792918" cy="5426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4550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9A21-A91C-464B-9D19-A4720D4D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14"/>
            <a:ext cx="10515600" cy="614596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in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FBB0E-05E3-409A-B6C5-1047569B1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659"/>
            <a:ext cx="10719216" cy="61459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101820"/>
                </a:solidFill>
                <a:latin typeface="proxima-nova"/>
              </a:rPr>
              <a:t>T</a:t>
            </a:r>
            <a:r>
              <a:rPr lang="en-GB" b="0" i="0" dirty="0">
                <a:solidFill>
                  <a:srgbClr val="101820"/>
                </a:solidFill>
                <a:effectLst/>
                <a:latin typeface="proxima-nova"/>
              </a:rPr>
              <a:t>o create, modify, and tear down resources on the cloud automatically.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F1428-362D-4CD9-B4DA-AD2459885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11" y="1537875"/>
            <a:ext cx="10304489" cy="48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34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9A21-A91C-464B-9D19-A4720D4D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14"/>
            <a:ext cx="10515600" cy="614596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Automation of CC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FBB0E-05E3-409A-B6C5-1047569B1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659"/>
            <a:ext cx="10719216" cy="1799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101820"/>
                </a:solidFill>
                <a:effectLst/>
                <a:latin typeface="proxima-nova"/>
              </a:rPr>
              <a:t> </a:t>
            </a:r>
            <a:r>
              <a:rPr lang="en-IN" i="0" u="none" strike="noStrike" dirty="0">
                <a:solidFill>
                  <a:srgbClr val="101820"/>
                </a:solidFill>
                <a:effectLst/>
                <a:latin typeface="proxima-nova"/>
              </a:rPr>
              <a:t>Improved security and resilience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101820"/>
                </a:solidFill>
                <a:latin typeface="proxima-nova"/>
              </a:rPr>
              <a:t> Improved backup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101820"/>
                </a:solidFill>
                <a:latin typeface="proxima-nova"/>
              </a:rPr>
              <a:t> Improved governance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i="0" u="none" strike="noStrike" dirty="0">
              <a:solidFill>
                <a:srgbClr val="101820"/>
              </a:solidFill>
              <a:effectLst/>
              <a:latin typeface="proxima-nova"/>
            </a:endParaRPr>
          </a:p>
          <a:p>
            <a:pPr marL="0" indent="0">
              <a:buNone/>
            </a:pPr>
            <a:endParaRPr lang="en-GB" b="0" i="0" dirty="0">
              <a:solidFill>
                <a:srgbClr val="101820"/>
              </a:solidFill>
              <a:effectLst/>
              <a:latin typeface="proxima-nova"/>
            </a:endParaRPr>
          </a:p>
        </p:txBody>
      </p:sp>
    </p:spTree>
    <p:extLst>
      <p:ext uri="{BB962C8B-B14F-4D97-AF65-F5344CB8AC3E}">
        <p14:creationId xmlns:p14="http://schemas.microsoft.com/office/powerpoint/2010/main" val="1160503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9A21-A91C-464B-9D19-A4720D4D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14"/>
            <a:ext cx="10515600" cy="614596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Networking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FBB0E-05E3-409A-B6C5-1047569B1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3659"/>
            <a:ext cx="10719216" cy="1799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565656"/>
                </a:solidFill>
                <a:effectLst/>
                <a:latin typeface="metropolislight"/>
                <a:ea typeface="Calibri" panose="020F0502020204030204" pitchFamily="34" charset="0"/>
                <a:cs typeface="Times New Roman" panose="02020603050405020304" pitchFamily="18" charset="0"/>
              </a:rPr>
              <a:t>Hybrid cloud computing is an environment that creates flexibility by allowing a business to use both public and private networks for different uses</a:t>
            </a:r>
            <a:endParaRPr lang="en-IN" b="1" i="0" u="none" strike="noStrike" dirty="0">
              <a:solidFill>
                <a:srgbClr val="101820"/>
              </a:solidFill>
              <a:effectLst/>
              <a:latin typeface="proxima-nova"/>
            </a:endParaRPr>
          </a:p>
          <a:p>
            <a:pPr marL="0" indent="0">
              <a:buNone/>
            </a:pPr>
            <a:endParaRPr lang="en-GB" b="0" i="0" dirty="0">
              <a:solidFill>
                <a:srgbClr val="101820"/>
              </a:solidFill>
              <a:effectLst/>
              <a:latin typeface="proxima-nova"/>
            </a:endParaRPr>
          </a:p>
        </p:txBody>
      </p:sp>
      <p:pic>
        <p:nvPicPr>
          <p:cNvPr id="6146" name="Picture 2" descr="How does hybrid cloud architecture work? | Cloudflare">
            <a:extLst>
              <a:ext uri="{FF2B5EF4-FFF2-40B4-BE49-F238E27FC236}">
                <a16:creationId xmlns:a16="http://schemas.microsoft.com/office/drawing/2014/main" id="{406E0297-3CDF-4FD9-8835-35F0DCBB2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839" y="1473799"/>
            <a:ext cx="8619345" cy="428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00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8B1240-7578-47CA-A84A-02780A9692A7}"/>
              </a:ext>
            </a:extLst>
          </p:cNvPr>
          <p:cNvSpPr txBox="1"/>
          <p:nvPr/>
        </p:nvSpPr>
        <p:spPr>
          <a:xfrm>
            <a:off x="2821899" y="32556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Autonomic Computing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B51E4-0EEA-42B5-A15C-9F1E19A7EC18}"/>
              </a:ext>
            </a:extLst>
          </p:cNvPr>
          <p:cNvSpPr txBox="1"/>
          <p:nvPr/>
        </p:nvSpPr>
        <p:spPr>
          <a:xfrm>
            <a:off x="1157991" y="1018455"/>
            <a:ext cx="108641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Autonomic computing is a computer's ability to manage itself automatically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4242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Learns automatically from learning the behaviour</a:t>
            </a:r>
            <a:r>
              <a:rPr lang="en-IN" sz="1800" dirty="0">
                <a:solidFill>
                  <a:srgbClr val="42424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activities of computer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4242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to resolve system difficulties and other maintenance such as software updates.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212529"/>
                </a:solidFill>
                <a:latin typeface="BentonSansBBVA-Book"/>
              </a:rPr>
              <a:t> Cut down the effort and time of developers and IT care takers.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212529"/>
                </a:solidFill>
                <a:latin typeface="BentonSansBBVA-Book"/>
              </a:rPr>
              <a:t> </a:t>
            </a:r>
            <a:r>
              <a:rPr lang="en-IN" sz="1800" dirty="0">
                <a:solidFill>
                  <a:srgbClr val="273239"/>
                </a:solidFill>
                <a:effectLst/>
                <a:latin typeface="var(--font-din)"/>
                <a:ea typeface="Times New Roman" panose="02020603050405020304" pitchFamily="18" charset="0"/>
                <a:cs typeface="Times New Roman" panose="02020603050405020304" pitchFamily="18" charset="0"/>
              </a:rPr>
              <a:t>It was proposed by Jiming Liu in the year 2001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A8714-8784-40FD-8271-362F54643D8B}"/>
              </a:ext>
            </a:extLst>
          </p:cNvPr>
          <p:cNvSpPr txBox="1"/>
          <p:nvPr/>
        </p:nvSpPr>
        <p:spPr>
          <a:xfrm>
            <a:off x="1218575" y="2690336"/>
            <a:ext cx="97548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IBM has defined the four areas of automatic computing: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Self-Configuration.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Self-Healing (error correction).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Self-Optimization (automatic resource control for optimal functioning).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Self-Protection (identification and protection from attacks in a proactive manner).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EF90A-628C-47E3-ACB0-96C8F88A44A9}"/>
              </a:ext>
            </a:extLst>
          </p:cNvPr>
          <p:cNvSpPr txBox="1"/>
          <p:nvPr/>
        </p:nvSpPr>
        <p:spPr>
          <a:xfrm>
            <a:off x="1218575" y="4167664"/>
            <a:ext cx="9154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BentonSansBBVA-Book"/>
              </a:rPr>
              <a:t>Characteristics that every autonomic computing system should have include </a:t>
            </a:r>
          </a:p>
          <a:p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automation, </a:t>
            </a:r>
          </a:p>
          <a:p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adaptivity </a:t>
            </a:r>
            <a:r>
              <a:rPr lang="en-GB" b="1" i="0" dirty="0">
                <a:solidFill>
                  <a:srgbClr val="212529"/>
                </a:solidFill>
                <a:effectLst/>
                <a:latin typeface="BentonSansBBVA-Bold"/>
              </a:rPr>
              <a:t>and</a:t>
            </a:r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 </a:t>
            </a:r>
          </a:p>
          <a:p>
            <a:r>
              <a:rPr lang="en-GB" b="1" i="1" dirty="0">
                <a:solidFill>
                  <a:srgbClr val="212529"/>
                </a:solidFill>
                <a:effectLst/>
                <a:latin typeface="BentonSansBBVA-Bold"/>
              </a:rPr>
              <a:t>awareness</a:t>
            </a:r>
            <a:r>
              <a:rPr lang="en-GB" b="1" i="0" dirty="0">
                <a:solidFill>
                  <a:srgbClr val="212529"/>
                </a:solidFill>
                <a:effectLst/>
                <a:latin typeface="BentonSansBBVA-Bold"/>
              </a:rPr>
              <a:t>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8A595-6BD9-4803-8A2E-20AD0A47D329}"/>
              </a:ext>
            </a:extLst>
          </p:cNvPr>
          <p:cNvSpPr txBox="1"/>
          <p:nvPr/>
        </p:nvSpPr>
        <p:spPr>
          <a:xfrm>
            <a:off x="1218574" y="5367993"/>
            <a:ext cx="9604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273239"/>
                </a:solidFill>
                <a:effectLst/>
                <a:latin typeface="var(--font-din)"/>
                <a:ea typeface="Times New Roman" panose="02020603050405020304" pitchFamily="18" charset="0"/>
                <a:cs typeface="Times New Roman" panose="02020603050405020304" pitchFamily="18" charset="0"/>
              </a:rPr>
              <a:t>It uses artificial systems to solve complex problems using imitations like that of humans.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643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85AE27-EF1C-44A0-ADA0-311F85BF24C5}"/>
              </a:ext>
            </a:extLst>
          </p:cNvPr>
          <p:cNvSpPr txBox="1"/>
          <p:nvPr/>
        </p:nvSpPr>
        <p:spPr>
          <a:xfrm>
            <a:off x="2597045" y="272533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Software in Data Centres.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E3CD5-6FAE-42AD-B1D4-E07734A70BB1}"/>
              </a:ext>
            </a:extLst>
          </p:cNvPr>
          <p:cNvSpPr txBox="1"/>
          <p:nvPr/>
        </p:nvSpPr>
        <p:spPr>
          <a:xfrm>
            <a:off x="350443" y="823064"/>
            <a:ext cx="119339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en-GB" b="1" u="sng" dirty="0" err="1"/>
              <a:t>DCImanager</a:t>
            </a:r>
            <a:r>
              <a:rPr lang="en-GB" b="1" i="0" u="sng" dirty="0">
                <a:solidFill>
                  <a:srgbClr val="3A3A3A"/>
                </a:solidFill>
                <a:effectLst/>
                <a:latin typeface="Muli"/>
              </a:rPr>
              <a:t> </a:t>
            </a:r>
          </a:p>
          <a:p>
            <a:pPr algn="l"/>
            <a:r>
              <a:rPr lang="en-GB" dirty="0">
                <a:solidFill>
                  <a:srgbClr val="3A3A3A"/>
                </a:solidFill>
                <a:latin typeface="Muli"/>
              </a:rPr>
              <a:t> It </a:t>
            </a:r>
            <a:r>
              <a:rPr lang="en-GB" b="0" i="0" dirty="0">
                <a:solidFill>
                  <a:srgbClr val="3A3A3A"/>
                </a:solidFill>
                <a:effectLst/>
                <a:latin typeface="Muli"/>
              </a:rPr>
              <a:t>is a platform for managing physical equipment: servers, switches, PDU, routers and monitoring server and data centre resources.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89AB5-2830-43D3-8F20-AC0355E2C828}"/>
              </a:ext>
            </a:extLst>
          </p:cNvPr>
          <p:cNvSpPr txBox="1"/>
          <p:nvPr/>
        </p:nvSpPr>
        <p:spPr>
          <a:xfrm>
            <a:off x="350443" y="1820273"/>
            <a:ext cx="11112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2. </a:t>
            </a:r>
            <a:r>
              <a:rPr lang="en-GB" b="1" u="sng" dirty="0" err="1"/>
              <a:t>Opendcim</a:t>
            </a:r>
            <a:endParaRPr lang="en-GB" b="1" u="sng" dirty="0"/>
          </a:p>
          <a:p>
            <a:pPr algn="l"/>
            <a:r>
              <a:rPr lang="en-GB" dirty="0"/>
              <a:t>Currently, it’s the one and the only free software in its class and alternative to DCI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1B9BD-EB14-4641-87A0-3214321C4946}"/>
              </a:ext>
            </a:extLst>
          </p:cNvPr>
          <p:cNvSpPr txBox="1"/>
          <p:nvPr/>
        </p:nvSpPr>
        <p:spPr>
          <a:xfrm>
            <a:off x="258059" y="2521166"/>
            <a:ext cx="11112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3. </a:t>
            </a:r>
            <a:r>
              <a:rPr lang="en-GB" b="1" u="sng" dirty="0"/>
              <a:t>Foreman</a:t>
            </a:r>
          </a:p>
          <a:p>
            <a:pPr algn="l"/>
            <a:r>
              <a:rPr lang="en-GB" dirty="0"/>
              <a:t>It is an open-source and perfect life-cycle management application for physical and virtual servers using </a:t>
            </a:r>
            <a:r>
              <a:rPr lang="en-GB" dirty="0" err="1"/>
              <a:t>linux</a:t>
            </a:r>
            <a:r>
              <a:rPr lang="en-GB" dirty="0"/>
              <a:t>.</a:t>
            </a:r>
            <a:br>
              <a:rPr lang="en-GB" u="none" strike="noStrike" dirty="0">
                <a:solidFill>
                  <a:srgbClr val="212D45"/>
                </a:solidFill>
                <a:effectLst/>
                <a:hlinkClick r:id="rId2"/>
              </a:rPr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BE2BC-EF1C-4EDF-A4DB-FFD76C4FE05E}"/>
              </a:ext>
            </a:extLst>
          </p:cNvPr>
          <p:cNvSpPr txBox="1"/>
          <p:nvPr/>
        </p:nvSpPr>
        <p:spPr>
          <a:xfrm>
            <a:off x="258059" y="3429000"/>
            <a:ext cx="10940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4. </a:t>
            </a:r>
            <a:r>
              <a:rPr lang="en-GB" b="1" u="sng" dirty="0" err="1"/>
              <a:t>LinMin</a:t>
            </a:r>
            <a:endParaRPr lang="en-GB" b="1" u="sng" dirty="0"/>
          </a:p>
          <a:p>
            <a:pPr algn="l"/>
            <a:r>
              <a:rPr lang="en-GB" dirty="0" err="1"/>
              <a:t>LinMin</a:t>
            </a:r>
            <a:r>
              <a:rPr lang="en-GB" dirty="0"/>
              <a:t> has a well-developed backup system for hard drives, that speeds up an after-crush recovery during disasters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FB1B2-D0D0-45F0-B4BB-FB160AC79F8A}"/>
              </a:ext>
            </a:extLst>
          </p:cNvPr>
          <p:cNvSpPr txBox="1"/>
          <p:nvPr/>
        </p:nvSpPr>
        <p:spPr>
          <a:xfrm>
            <a:off x="258058" y="4219268"/>
            <a:ext cx="11642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5. </a:t>
            </a:r>
            <a:r>
              <a:rPr lang="en-GB" b="1" u="sng" dirty="0" err="1"/>
              <a:t>CenterOS</a:t>
            </a:r>
            <a:endParaRPr lang="en-GB" b="1" u="sng" dirty="0"/>
          </a:p>
          <a:p>
            <a:pPr algn="l"/>
            <a:r>
              <a:rPr lang="en-GB" dirty="0"/>
              <a:t>It’s an operating system for a Data Center management with the main focus on equipment inventorying.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5E5AB-A23A-4E25-9671-B4217A734CC8}"/>
              </a:ext>
            </a:extLst>
          </p:cNvPr>
          <p:cNvSpPr txBox="1"/>
          <p:nvPr/>
        </p:nvSpPr>
        <p:spPr>
          <a:xfrm>
            <a:off x="304440" y="5111606"/>
            <a:ext cx="11887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6. </a:t>
            </a:r>
            <a:r>
              <a:rPr lang="en-GB" b="1" u="sng" dirty="0"/>
              <a:t>Device 42</a:t>
            </a:r>
          </a:p>
          <a:p>
            <a:pPr algn="l"/>
            <a:r>
              <a:rPr lang="en-GB" dirty="0"/>
              <a:t>Mostly designed for a Data Center monitoring. Has great tools for inventorying, builds hardware/software dependence map automatically</a:t>
            </a:r>
            <a:r>
              <a:rPr lang="en-GB" b="0" i="0" dirty="0">
                <a:solidFill>
                  <a:srgbClr val="3A3A3A"/>
                </a:solidFill>
                <a:effectLst/>
                <a:latin typeface="Mul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14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BA3684B-3A94-400D-BD5B-861C89FB4F77}"/>
              </a:ext>
            </a:extLst>
          </p:cNvPr>
          <p:cNvSpPr txBox="1"/>
          <p:nvPr/>
        </p:nvSpPr>
        <p:spPr>
          <a:xfrm>
            <a:off x="586228" y="1046777"/>
            <a:ext cx="112612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7. </a:t>
            </a:r>
            <a:r>
              <a:rPr lang="en-GB" b="1" u="sng" dirty="0" err="1"/>
              <a:t>RackTables</a:t>
            </a:r>
            <a:endParaRPr lang="en-GB" b="1" u="sng" dirty="0"/>
          </a:p>
          <a:p>
            <a:pPr algn="l"/>
            <a:r>
              <a:rPr lang="en-GB" dirty="0" err="1"/>
              <a:t>RackTables</a:t>
            </a:r>
            <a:r>
              <a:rPr lang="en-GB" dirty="0"/>
              <a:t> is an open-source tiny tool for </a:t>
            </a:r>
            <a:r>
              <a:rPr lang="en-GB" dirty="0" err="1"/>
              <a:t>datacenter</a:t>
            </a:r>
            <a:r>
              <a:rPr lang="en-GB" dirty="0"/>
              <a:t> and server room asset management to keep track of everything</a:t>
            </a:r>
            <a:br>
              <a:rPr lang="en-GB" u="none" strike="noStrike" dirty="0">
                <a:solidFill>
                  <a:srgbClr val="212D45"/>
                </a:solidFill>
                <a:effectLst/>
                <a:hlinkClick r:id="rId2"/>
              </a:rPr>
            </a:b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9297B9-F929-4946-94AF-7DAE69CEF4C1}"/>
              </a:ext>
            </a:extLst>
          </p:cNvPr>
          <p:cNvSpPr txBox="1"/>
          <p:nvPr/>
        </p:nvSpPr>
        <p:spPr>
          <a:xfrm>
            <a:off x="586231" y="1766455"/>
            <a:ext cx="11019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/>
              <a:t>8. </a:t>
            </a:r>
            <a:r>
              <a:rPr lang="en-GB" b="1" u="sng" dirty="0" err="1"/>
              <a:t>NetBox</a:t>
            </a:r>
            <a:endParaRPr lang="en-GB" b="1" u="sng" dirty="0"/>
          </a:p>
          <a:p>
            <a:pPr algn="l"/>
            <a:r>
              <a:rPr lang="en-GB" dirty="0" err="1"/>
              <a:t>NetBox</a:t>
            </a:r>
            <a:r>
              <a:rPr lang="en-GB" dirty="0"/>
              <a:t> is an open-source IP address management and data </a:t>
            </a:r>
            <a:r>
              <a:rPr lang="en-GB" dirty="0" err="1"/>
              <a:t>center</a:t>
            </a:r>
            <a:r>
              <a:rPr lang="en-GB" dirty="0"/>
              <a:t> infrastructure management platform</a:t>
            </a:r>
            <a:endParaRPr lang="en-GB" b="0" i="0" dirty="0">
              <a:solidFill>
                <a:srgbClr val="3A3A3A"/>
              </a:solidFill>
              <a:effectLst/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262712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BA3684B-3A94-400D-BD5B-861C89FB4F77}"/>
              </a:ext>
            </a:extLst>
          </p:cNvPr>
          <p:cNvSpPr txBox="1"/>
          <p:nvPr/>
        </p:nvSpPr>
        <p:spPr>
          <a:xfrm>
            <a:off x="4008904" y="2957499"/>
            <a:ext cx="48074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dirty="0"/>
              <a:t>END of the UNIT 2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0405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721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Arial</vt:lpstr>
      <vt:lpstr>BentonSansBBVA-Bold</vt:lpstr>
      <vt:lpstr>BentonSansBBVA-Book</vt:lpstr>
      <vt:lpstr>Calibri</vt:lpstr>
      <vt:lpstr>Calibri Light</vt:lpstr>
      <vt:lpstr>metropolislight</vt:lpstr>
      <vt:lpstr>Muli</vt:lpstr>
      <vt:lpstr>proxima-nova</vt:lpstr>
      <vt:lpstr>Times New Roman</vt:lpstr>
      <vt:lpstr>urw-din</vt:lpstr>
      <vt:lpstr>var(--font-din)</vt:lpstr>
      <vt:lpstr>Wingdings</vt:lpstr>
      <vt:lpstr>Office Theme</vt:lpstr>
      <vt:lpstr>PowerPoint Presentation</vt:lpstr>
      <vt:lpstr>What is Cloud Networking?</vt:lpstr>
      <vt:lpstr>PowerPoint Presentation</vt:lpstr>
      <vt:lpstr>PowerPoint Presentation</vt:lpstr>
      <vt:lpstr>Network Architecture for Cloud: Data Center Network and cloud data centre </vt:lpstr>
      <vt:lpstr>Virtualization Technology</vt:lpstr>
      <vt:lpstr>BENEFITS OF VIRTUALIZATION </vt:lpstr>
      <vt:lpstr>PowerPoint Presentation</vt:lpstr>
      <vt:lpstr>Automation in Cloud Computing</vt:lpstr>
      <vt:lpstr>Benefits of Automation of CC</vt:lpstr>
      <vt:lpstr>Hybrid Cloud Networking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Harendra Bikram Shah</dc:creator>
  <cp:lastModifiedBy>Harandra Bikram Shah</cp:lastModifiedBy>
  <cp:revision>33</cp:revision>
  <dcterms:created xsi:type="dcterms:W3CDTF">2021-12-01T11:32:15Z</dcterms:created>
  <dcterms:modified xsi:type="dcterms:W3CDTF">2024-04-27T15:17:45Z</dcterms:modified>
</cp:coreProperties>
</file>