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3" r:id="rId8"/>
    <p:sldId id="264" r:id="rId9"/>
    <p:sldId id="265" r:id="rId10"/>
    <p:sldId id="262" r:id="rId11"/>
    <p:sldId id="267" r:id="rId12"/>
    <p:sldId id="268" r:id="rId13"/>
    <p:sldId id="282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80" r:id="rId24"/>
    <p:sldId id="277" r:id="rId25"/>
    <p:sldId id="278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4F64-D95A-4B25-910B-26EFA2924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E455E-A5AA-4B6D-9632-AFA83B2B0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A40F6-F6B9-4127-8474-57809337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3323C-51CA-4F42-A361-34B6DB10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42B2A-D67F-4AE8-B017-1E8808A4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03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E624-0492-45D4-B994-EE4428AA7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47767-FDF8-40BA-B1D9-431C9E690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0F19C-203D-481B-BDAA-52A12F4D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ACFC2-C369-4359-A02F-9FF8A9F3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4EBCB-85E2-4586-A31A-47B330B6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525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702C-12B0-4749-B588-1E3923E76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BA5E-D319-4322-8F98-3F7D6AFAD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59172-7AF7-4BB1-B446-62BC5FFD7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0F8EF-6A8C-4CEB-9B3B-F8BA317D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B97B0-77B8-4BA9-9D93-C7EA9F78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49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871F6-D10D-43F6-8487-F8638075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8D43C-E208-4BB9-A374-48D80F0E5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AF1DE-FC2F-4767-B5B5-4E1C6BD86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7BBE5-DBD7-47DE-9BD8-8F2FF1B7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3A449-9D38-4D60-A85E-C324E346E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0F91E-9EAF-4188-98E3-FBEEB68C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76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34C2-2A1A-4412-86CF-BE32D105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A7C19-2F7A-48D0-929D-9F99B7F9A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53C4A-5C69-490E-B827-6EE0EC3EE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3C8D7-B38F-4C1F-9781-AFB23E20F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FAFE5-ED05-49A0-8C1E-77E24809C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55195C-8B44-4D7F-B0CC-A7FB6F67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82FC02-D4AF-40DF-9866-BDC29F45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58CA4C-D156-421A-BE4C-BDA847F2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54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A9C8-0735-4878-8E22-E3DA0C10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38B5-5C45-4B82-8D26-995D3911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59738-79B4-416D-9C3A-865CFAE0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688B6-ADD9-464E-A8B2-F1DDA34D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04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D843F6-B7AB-48DE-9A90-B11D63272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34F84-E944-4BB6-A941-E44133515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96D7A-2EA4-411A-868C-41130DEF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717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D6B3-5640-4DA2-9A13-7FDE57F9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D3A13-3D38-4A4B-802A-D81AA1701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7FBF7-B617-46D2-B9ED-5BAC9073C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EB713-CD5C-41CB-A66D-18162109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A820C-EACC-4FA8-AA65-BC13F192F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2BD56-74B7-4AF0-9AEC-6089C52B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680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40BD-3A54-4AF8-A735-3E564968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B1D01-16B1-413D-9636-AD6CE5DC0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555A9-D52E-4227-813B-246039994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B62E9-1AB3-45C1-A737-AF27BD52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6FEE1-3E05-4455-AC55-D439243E7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F30AE-0549-49C9-8B91-63709BBE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9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1757A-8F41-4ED9-AA7B-54BA5293D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A9C88-57A5-4156-87A2-5E2509B3A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44B8E-6F67-48FB-9A37-D220A38EE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700B0-143D-418F-8B45-F3FD787C2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23DBC-64A2-4F16-B84D-832EB7022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3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24B5-37D1-47F8-ACAD-774F21BD2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72BFD-610A-4E5D-A7FD-BA857B694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11301-AF6E-4E75-83F9-66210E22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BF12C-8DF5-4576-903C-D3AE5B59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E69F7-7A7E-4628-A594-0A42913F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69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A8FF35-D3BB-4DD6-B744-EA9510B82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3DBB0-51DA-45BC-A80D-333E59423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C55B7-BD2D-4F47-BDC5-1DB456B58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84461-1ACE-4A75-BAA3-522380B1C213}" type="datetimeFigureOut">
              <a:rPr lang="en-IN" smtClean="0"/>
              <a:t>05-01-2023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241B9-E443-4BB1-81FC-8378A5CFB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CC9F0-57F3-4A56-9B7A-786F33387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12647-CF56-4C0F-ADE2-38CF26BF9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56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A08F9-2690-4A2A-9355-C007A264B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2861"/>
            <a:ext cx="9144000" cy="976260"/>
          </a:xfrm>
        </p:spPr>
        <p:txBody>
          <a:bodyPr>
            <a:normAutofit fontScale="90000"/>
          </a:bodyPr>
          <a:lstStyle/>
          <a:p>
            <a:r>
              <a:rPr lang="en-GB" sz="3600" b="1" dirty="0"/>
              <a:t>UNIT 5 </a:t>
            </a:r>
            <a:br>
              <a:rPr lang="en-GB" sz="3600" b="1" dirty="0"/>
            </a:br>
            <a:r>
              <a:rPr lang="en-GB" sz="3600" b="1" dirty="0"/>
              <a:t>Cloud Service Models and Cloud Infrastructure</a:t>
            </a:r>
            <a:endParaRPr lang="en-IN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781EEB-5E4D-4B32-A731-011486F4A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3921" y="2601119"/>
            <a:ext cx="9144000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GB" sz="2800" dirty="0">
                <a:solidFill>
                  <a:srgbClr val="0070C0"/>
                </a:solidFill>
              </a:rPr>
              <a:t>Presented by </a:t>
            </a:r>
          </a:p>
          <a:p>
            <a:r>
              <a:rPr lang="en-GB" sz="2800" dirty="0">
                <a:solidFill>
                  <a:srgbClr val="0070C0"/>
                </a:solidFill>
              </a:rPr>
              <a:t>Er.Harendra Bikram Shah</a:t>
            </a:r>
          </a:p>
          <a:p>
            <a:r>
              <a:rPr lang="en-GB" sz="2800" dirty="0">
                <a:solidFill>
                  <a:srgbClr val="0070C0"/>
                </a:solidFill>
              </a:rPr>
              <a:t>(Lecturer)</a:t>
            </a:r>
          </a:p>
          <a:p>
            <a:r>
              <a:rPr lang="en-GB" sz="2800" dirty="0">
                <a:solidFill>
                  <a:srgbClr val="0070C0"/>
                </a:solidFill>
              </a:rPr>
              <a:t>Department of Computer Engineering</a:t>
            </a:r>
            <a:endParaRPr lang="en-IN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96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B6EC-C5A8-46EC-BC72-6D5CD2C1C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9019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70C0"/>
                </a:solidFill>
              </a:rPr>
              <a:t>OUTLINES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A969D-E130-4725-AD6D-2A5B5F1D6DB8}"/>
              </a:ext>
            </a:extLst>
          </p:cNvPr>
          <p:cNvSpPr txBox="1"/>
          <p:nvPr/>
        </p:nvSpPr>
        <p:spPr>
          <a:xfrm>
            <a:off x="838200" y="1464812"/>
            <a:ext cx="1103401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Jericho Cloud Cube Model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Infrastructure-as-a-Service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Platform-as-a-Service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Software as-a-Service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Communication-as-a-Service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 Database-as-a-Service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Cloud Computing at Amazon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Amazon Web Services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Cloud Computing from the Google Perspective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Window Azure and Online Services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Open Source Software Platforms for Private Clouds.</a:t>
            </a:r>
          </a:p>
        </p:txBody>
      </p:sp>
    </p:spTree>
    <p:extLst>
      <p:ext uri="{BB962C8B-B14F-4D97-AF65-F5344CB8AC3E}">
        <p14:creationId xmlns:p14="http://schemas.microsoft.com/office/powerpoint/2010/main" val="651171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B6EC-C5A8-46EC-BC72-6D5CD2C1C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235669"/>
            <a:ext cx="10515600" cy="51384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/>
              <a:t>Jericho Cloud Cube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4F1BE-A1EE-4C5A-A32D-C28622CC6528}"/>
              </a:ext>
            </a:extLst>
          </p:cNvPr>
          <p:cNvSpPr txBox="1"/>
          <p:nvPr/>
        </p:nvSpPr>
        <p:spPr>
          <a:xfrm>
            <a:off x="22486" y="3648412"/>
            <a:ext cx="1183473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444444"/>
                </a:solidFill>
                <a:latin typeface="inherit"/>
              </a:rPr>
              <a:t>Points to be remember before setting up the security in cloud</a:t>
            </a:r>
          </a:p>
          <a:p>
            <a:pPr algn="l" fontAlgn="base"/>
            <a:endParaRPr lang="en-GB" b="1" i="0" dirty="0">
              <a:solidFill>
                <a:srgbClr val="444444"/>
              </a:solidFill>
              <a:effectLst/>
              <a:latin typeface="inherit"/>
            </a:endParaRPr>
          </a:p>
          <a:p>
            <a:pPr algn="l" fontAlgn="base"/>
            <a:r>
              <a:rPr lang="en-GB" b="1" i="0" dirty="0">
                <a:solidFill>
                  <a:srgbClr val="444444"/>
                </a:solidFill>
                <a:effectLst/>
                <a:latin typeface="inherit"/>
              </a:rPr>
              <a:t>Step 1</a:t>
            </a:r>
            <a:endParaRPr lang="en-GB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l" fontAlgn="base"/>
            <a:r>
              <a:rPr lang="en-GB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The </a:t>
            </a:r>
            <a:r>
              <a:rPr lang="en-GB" b="1" i="0" dirty="0">
                <a:solidFill>
                  <a:srgbClr val="444444"/>
                </a:solidFill>
                <a:effectLst/>
                <a:latin typeface="inherit"/>
              </a:rPr>
              <a:t>classification of the data</a:t>
            </a:r>
            <a:r>
              <a:rPr lang="en-GB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, the customer should know what rules must be applied to protect it.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444444"/>
                </a:solidFill>
                <a:effectLst/>
                <a:latin typeface="inherit"/>
              </a:rPr>
              <a:t>Step 2</a:t>
            </a:r>
            <a:endParaRPr lang="en-GB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l" fontAlgn="base"/>
            <a:r>
              <a:rPr lang="en-GB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It should be </a:t>
            </a:r>
            <a:r>
              <a:rPr lang="en-GB" b="1" i="0" dirty="0">
                <a:solidFill>
                  <a:srgbClr val="444444"/>
                </a:solidFill>
                <a:effectLst/>
                <a:latin typeface="inherit"/>
              </a:rPr>
              <a:t>ensured</a:t>
            </a:r>
            <a:r>
              <a:rPr lang="en-GB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, the data exist only in specific trust levels.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444444"/>
                </a:solidFill>
                <a:effectLst/>
                <a:latin typeface="inherit"/>
              </a:rPr>
              <a:t>Step 3</a:t>
            </a:r>
            <a:endParaRPr lang="en-GB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l" fontAlgn="base"/>
            <a:r>
              <a:rPr lang="en-GB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It should check that what </a:t>
            </a:r>
            <a:r>
              <a:rPr lang="en-GB" b="1" i="0" dirty="0">
                <a:solidFill>
                  <a:srgbClr val="444444"/>
                </a:solidFill>
                <a:effectLst/>
                <a:latin typeface="inherit"/>
              </a:rPr>
              <a:t>regulatory compliance and restrictions</a:t>
            </a:r>
            <a:r>
              <a:rPr lang="en-GB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 are applicable. For example, the data should stay in a particular boundary and whether it has to stay in the safe harbour or not.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3EE58-3B8F-439C-9957-B38ECCC94F51}"/>
              </a:ext>
            </a:extLst>
          </p:cNvPr>
          <p:cNvSpPr txBox="1"/>
          <p:nvPr/>
        </p:nvSpPr>
        <p:spPr>
          <a:xfrm>
            <a:off x="0" y="765197"/>
            <a:ext cx="12192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It is a forum of an independent group of international information security leaders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Basically defines the cloud formation dimensions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38770B-9969-4442-A4EA-EFAE9929D2AF}"/>
              </a:ext>
            </a:extLst>
          </p:cNvPr>
          <p:cNvSpPr txBox="1"/>
          <p:nvPr/>
        </p:nvSpPr>
        <p:spPr>
          <a:xfrm>
            <a:off x="0" y="1551544"/>
            <a:ext cx="6183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Objectives of Jericho Forum: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5ABDF7-BDAE-4BCC-841A-FBEE0CC38824}"/>
              </a:ext>
            </a:extLst>
          </p:cNvPr>
          <p:cNvSpPr txBox="1"/>
          <p:nvPr/>
        </p:nvSpPr>
        <p:spPr>
          <a:xfrm>
            <a:off x="-19989" y="1894086"/>
            <a:ext cx="121895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The Jericho forum points out that in clouds not everything is best implemented that is something should be implemented in offline mode.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identified different cloud formations.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describes benefits, key characteristics, and risks of each cloud formation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Provide a framework for seeking in more detail the nature of different cloud formations and the issues that demands to answer to make secure places to work in and make them safe.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6666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B6EC-C5A8-46EC-BC72-6D5CD2C1C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9019"/>
          </a:xfrm>
        </p:spPr>
        <p:txBody>
          <a:bodyPr/>
          <a:lstStyle/>
          <a:p>
            <a:pPr algn="ctr"/>
            <a:r>
              <a:rPr lang="en-IN" sz="4400" dirty="0"/>
              <a:t>Jericho Cloud Cube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4C6006-BDA1-4A3E-9130-B440F41DD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1304144"/>
            <a:ext cx="7596682" cy="518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6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DE5548-AFBF-4C6E-A175-EFBC572C2C4E}"/>
              </a:ext>
            </a:extLst>
          </p:cNvPr>
          <p:cNvSpPr txBox="1"/>
          <p:nvPr/>
        </p:nvSpPr>
        <p:spPr>
          <a:xfrm>
            <a:off x="2500" y="0"/>
            <a:ext cx="121895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Questions For Cloud Cube Model</a:t>
            </a:r>
          </a:p>
          <a:p>
            <a:pPr algn="ctr" fontAlgn="base"/>
            <a:endParaRPr lang="en-GB" sz="2000" b="1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l" fontAlgn="base"/>
            <a:r>
              <a:rPr lang="en-GB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The Jericho forum states that there are three key questions, which a customer should ask their </a:t>
            </a:r>
            <a:r>
              <a:rPr lang="en-GB" b="1" i="0" dirty="0">
                <a:solidFill>
                  <a:srgbClr val="444444"/>
                </a:solidFill>
                <a:effectLst/>
                <a:latin typeface="inherit"/>
              </a:rPr>
              <a:t>Cloud Computing</a:t>
            </a:r>
            <a:r>
              <a:rPr lang="en-GB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 supplier. So, that they must be aware that the data is secure and protected. </a:t>
            </a:r>
          </a:p>
          <a:p>
            <a:pPr algn="l" fontAlgn="base"/>
            <a:endParaRPr lang="en-GB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algn="l" fontAlgn="base"/>
            <a:r>
              <a:rPr lang="en-GB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The three questions are-</a:t>
            </a:r>
          </a:p>
          <a:p>
            <a:pPr algn="l" fontAlgn="base"/>
            <a:r>
              <a:rPr lang="en-GB" b="1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Q 1. Wherein the cloud cube model is the cloud supplier operating while providing the services?</a:t>
            </a:r>
          </a:p>
          <a:p>
            <a:pPr algn="l" fontAlgn="base"/>
            <a:endParaRPr lang="en-GB" b="1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l" fontAlgn="base"/>
            <a:r>
              <a:rPr lang="en-GB" b="1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Q 2. How will the clouds suppliers get a surety when the customer is using services in a cloud from that has maintained the features as per the expectations?</a:t>
            </a:r>
          </a:p>
          <a:p>
            <a:pPr algn="l" fontAlgn="base"/>
            <a:endParaRPr lang="en-GB" b="1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l" fontAlgn="base"/>
            <a:r>
              <a:rPr lang="en-GB" b="1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Q 3. How can a customer ensure that the data which is stored in the cloud services will be available at the time of mis happenings such as bankruptcy or change in business direction?</a:t>
            </a:r>
          </a:p>
        </p:txBody>
      </p:sp>
    </p:spTree>
    <p:extLst>
      <p:ext uri="{BB962C8B-B14F-4D97-AF65-F5344CB8AC3E}">
        <p14:creationId xmlns:p14="http://schemas.microsoft.com/office/powerpoint/2010/main" val="3121308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C4FB-2E2B-45C2-A59B-46D49EAF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156" y="148002"/>
            <a:ext cx="10453141" cy="946280"/>
          </a:xfrm>
        </p:spPr>
        <p:txBody>
          <a:bodyPr/>
          <a:lstStyle/>
          <a:p>
            <a:r>
              <a:rPr lang="en-GB" b="1" dirty="0"/>
              <a:t> Cloud Models based on Service 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2B09-3A97-4A76-B025-A6A4600E5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672" y="1733313"/>
            <a:ext cx="7974767" cy="475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7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7845"/>
            <a:ext cx="9144000" cy="916299"/>
          </a:xfrm>
        </p:spPr>
        <p:txBody>
          <a:bodyPr/>
          <a:lstStyle/>
          <a:p>
            <a:r>
              <a:rPr lang="en-GB" b="1" dirty="0"/>
              <a:t>IAAS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BDC8B0-1CF2-41CB-A2A4-1B4A10297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06" y="1148647"/>
            <a:ext cx="8545194" cy="532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03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7845"/>
            <a:ext cx="9144000" cy="916299"/>
          </a:xfrm>
        </p:spPr>
        <p:txBody>
          <a:bodyPr/>
          <a:lstStyle/>
          <a:p>
            <a:r>
              <a:rPr lang="en-GB" b="1" dirty="0"/>
              <a:t>PAAS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663DF1-F99F-4F03-9166-05F83C661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489408"/>
            <a:ext cx="8984105" cy="441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03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D8334-04DE-434C-A743-D824B25C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7845"/>
            <a:ext cx="9144000" cy="916299"/>
          </a:xfrm>
        </p:spPr>
        <p:txBody>
          <a:bodyPr/>
          <a:lstStyle/>
          <a:p>
            <a:r>
              <a:rPr lang="en-GB" b="1" dirty="0"/>
              <a:t>SAAS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F7ECB-D1BD-483D-B982-709C1ED03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1304143"/>
            <a:ext cx="8191500" cy="510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89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munication as a Service CaaS">
            <a:extLst>
              <a:ext uri="{FF2B5EF4-FFF2-40B4-BE49-F238E27FC236}">
                <a16:creationId xmlns:a16="http://schemas.microsoft.com/office/drawing/2014/main" id="{2173D2AA-F966-46F7-962E-BBB8ED920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407" y="689587"/>
            <a:ext cx="7749914" cy="547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929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8-Database-as-a-Service | Download Scientific Diagram">
            <a:extLst>
              <a:ext uri="{FF2B5EF4-FFF2-40B4-BE49-F238E27FC236}">
                <a16:creationId xmlns:a16="http://schemas.microsoft.com/office/drawing/2014/main" id="{990329F0-3B57-41F1-B1B8-1CADC695C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376551"/>
            <a:ext cx="8096250" cy="588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607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WS-Types-of-Cloud-Computing_Infrastructure-as-a-Service">
            <a:extLst>
              <a:ext uri="{FF2B5EF4-FFF2-40B4-BE49-F238E27FC236}">
                <a16:creationId xmlns:a16="http://schemas.microsoft.com/office/drawing/2014/main" id="{C4578D04-2970-488C-B542-76051F91C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20" y="860425"/>
            <a:ext cx="26289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AWS-Types-of-Cloud-Computing_Platform-as-a-Service">
            <a:extLst>
              <a:ext uri="{FF2B5EF4-FFF2-40B4-BE49-F238E27FC236}">
                <a16:creationId xmlns:a16="http://schemas.microsoft.com/office/drawing/2014/main" id="{FA1A0618-BB4D-46AF-8F88-CA11EC100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860425"/>
            <a:ext cx="26289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WS-Types-of-Cloud-Computing_Software-as-a-Service">
            <a:extLst>
              <a:ext uri="{FF2B5EF4-FFF2-40B4-BE49-F238E27FC236}">
                <a16:creationId xmlns:a16="http://schemas.microsoft.com/office/drawing/2014/main" id="{C6703B2D-0428-42AC-AFB2-C8B39F2BE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360" y="860425"/>
            <a:ext cx="26289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B8F5AC-F336-4D40-9640-DC83043FCEA2}"/>
              </a:ext>
            </a:extLst>
          </p:cNvPr>
          <p:cNvSpPr txBox="1"/>
          <p:nvPr/>
        </p:nvSpPr>
        <p:spPr>
          <a:xfrm>
            <a:off x="8368260" y="2155825"/>
            <a:ext cx="74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SAAS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394EE-AC02-42C6-81B4-3644B6E7D422}"/>
              </a:ext>
            </a:extLst>
          </p:cNvPr>
          <p:cNvSpPr txBox="1"/>
          <p:nvPr/>
        </p:nvSpPr>
        <p:spPr>
          <a:xfrm>
            <a:off x="1149090" y="2374734"/>
            <a:ext cx="74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IAAS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754533-5F52-4A73-87F3-1ADE32ECBC63}"/>
              </a:ext>
            </a:extLst>
          </p:cNvPr>
          <p:cNvSpPr txBox="1"/>
          <p:nvPr/>
        </p:nvSpPr>
        <p:spPr>
          <a:xfrm>
            <a:off x="4408670" y="2372709"/>
            <a:ext cx="74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PAAS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B3F1A7-6DF7-467A-B0F9-9E69E47A1798}"/>
              </a:ext>
            </a:extLst>
          </p:cNvPr>
          <p:cNvSpPr txBox="1"/>
          <p:nvPr/>
        </p:nvSpPr>
        <p:spPr>
          <a:xfrm>
            <a:off x="3020520" y="162857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Cloud Computing at Amazon</a:t>
            </a:r>
          </a:p>
        </p:txBody>
      </p:sp>
      <p:pic>
        <p:nvPicPr>
          <p:cNvPr id="18" name="Picture 3" descr="AWS-Types-of-Cloud-Computing_Hybrid">
            <a:extLst>
              <a:ext uri="{FF2B5EF4-FFF2-40B4-BE49-F238E27FC236}">
                <a16:creationId xmlns:a16="http://schemas.microsoft.com/office/drawing/2014/main" id="{4307C6AD-BBBE-43D6-B266-98A1AA9CA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72" y="3429000"/>
            <a:ext cx="26289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AWS-Types-of-Cloud-Computing_On-premises">
            <a:extLst>
              <a:ext uri="{FF2B5EF4-FFF2-40B4-BE49-F238E27FC236}">
                <a16:creationId xmlns:a16="http://schemas.microsoft.com/office/drawing/2014/main" id="{8D9E69DA-6C62-4A3C-98CF-8B1735454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796" y="3468260"/>
            <a:ext cx="26289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AWS-Types-of-Cloud-Computing_Cloud">
            <a:extLst>
              <a:ext uri="{FF2B5EF4-FFF2-40B4-BE49-F238E27FC236}">
                <a16:creationId xmlns:a16="http://schemas.microsoft.com/office/drawing/2014/main" id="{BCB590A0-FCC4-4DDD-A872-99EF3201C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20" y="3613100"/>
            <a:ext cx="26289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557E66E-DA0D-48E0-BD14-EE92C13D72F1}"/>
              </a:ext>
            </a:extLst>
          </p:cNvPr>
          <p:cNvSpPr txBox="1"/>
          <p:nvPr/>
        </p:nvSpPr>
        <p:spPr>
          <a:xfrm>
            <a:off x="960310" y="5082848"/>
            <a:ext cx="74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Cloud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4F8AF4-1FE2-491B-952C-E3DD13F3D9F7}"/>
              </a:ext>
            </a:extLst>
          </p:cNvPr>
          <p:cNvSpPr txBox="1"/>
          <p:nvPr/>
        </p:nvSpPr>
        <p:spPr>
          <a:xfrm>
            <a:off x="4419209" y="5115632"/>
            <a:ext cx="147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Hybrid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331BD0-4159-4881-BC99-4AB06633139B}"/>
              </a:ext>
            </a:extLst>
          </p:cNvPr>
          <p:cNvSpPr txBox="1"/>
          <p:nvPr/>
        </p:nvSpPr>
        <p:spPr>
          <a:xfrm>
            <a:off x="8154258" y="5118795"/>
            <a:ext cx="147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On-Premises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CC80A8-8174-43A6-9928-0DE58D26AAD9}"/>
              </a:ext>
            </a:extLst>
          </p:cNvPr>
          <p:cNvSpPr txBox="1"/>
          <p:nvPr/>
        </p:nvSpPr>
        <p:spPr>
          <a:xfrm>
            <a:off x="2376804" y="2812255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Cloud Computing Services at Amazon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D76BDE-0901-4333-B929-73B2C910ED39}"/>
              </a:ext>
            </a:extLst>
          </p:cNvPr>
          <p:cNvSpPr txBox="1"/>
          <p:nvPr/>
        </p:nvSpPr>
        <p:spPr>
          <a:xfrm>
            <a:off x="1706070" y="5777534"/>
            <a:ext cx="7944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Cloud Computing Deployment model at Amazon</a:t>
            </a:r>
          </a:p>
        </p:txBody>
      </p:sp>
    </p:spTree>
    <p:extLst>
      <p:ext uri="{BB962C8B-B14F-4D97-AF65-F5344CB8AC3E}">
        <p14:creationId xmlns:p14="http://schemas.microsoft.com/office/powerpoint/2010/main" val="2898287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6BD94B-03E5-FEBC-B928-33F42B0FD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4" y="397530"/>
            <a:ext cx="9029883" cy="30314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C3A571-30C0-C972-0C94-9DD24070CE41}"/>
              </a:ext>
            </a:extLst>
          </p:cNvPr>
          <p:cNvSpPr txBox="1"/>
          <p:nvPr/>
        </p:nvSpPr>
        <p:spPr>
          <a:xfrm>
            <a:off x="463446" y="4212237"/>
            <a:ext cx="6093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effectLst/>
                <a:latin typeface="AmazonEmberBold"/>
              </a:rPr>
              <a:t>Applications of AWS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b="0" i="0" dirty="0">
                <a:effectLst/>
                <a:latin typeface="AmazonEmberBold"/>
              </a:rPr>
              <a:t>Gaming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dirty="0">
                <a:latin typeface="AmazonEmberBold"/>
              </a:rPr>
              <a:t> Storage and Backup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b="0" i="0" dirty="0">
                <a:effectLst/>
                <a:latin typeface="AmazonEmberBold"/>
              </a:rPr>
              <a:t> </a:t>
            </a:r>
            <a:r>
              <a:rPr lang="en-IN" dirty="0">
                <a:latin typeface="AmazonEmberBold"/>
              </a:rPr>
              <a:t>Websites</a:t>
            </a:r>
            <a:endParaRPr lang="en-IN" b="0" i="0" dirty="0">
              <a:effectLst/>
              <a:latin typeface="AmazonEmberBold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dirty="0">
                <a:latin typeface="AmazonEmberBold"/>
              </a:rPr>
              <a:t> Mobile web and social applications</a:t>
            </a:r>
            <a:endParaRPr lang="en-IN" b="0" i="0" dirty="0">
              <a:effectLst/>
              <a:latin typeface="AmazonEmberBold"/>
            </a:endParaRPr>
          </a:p>
        </p:txBody>
      </p:sp>
    </p:spTree>
    <p:extLst>
      <p:ext uri="{BB962C8B-B14F-4D97-AF65-F5344CB8AC3E}">
        <p14:creationId xmlns:p14="http://schemas.microsoft.com/office/powerpoint/2010/main" val="1627263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65F2-1469-4556-B3F8-6CFF30C0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446" y="230215"/>
            <a:ext cx="10515600" cy="684186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i="0" dirty="0">
                <a:solidFill>
                  <a:srgbClr val="232F3E"/>
                </a:solidFill>
                <a:effectLst/>
                <a:latin typeface="AmazonEmberLight"/>
              </a:rPr>
              <a:t>Amazon Web Services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0E79B-530A-4689-B428-3114FBA12EA6}"/>
              </a:ext>
            </a:extLst>
          </p:cNvPr>
          <p:cNvSpPr txBox="1"/>
          <p:nvPr/>
        </p:nvSpPr>
        <p:spPr>
          <a:xfrm>
            <a:off x="463446" y="1031134"/>
            <a:ext cx="83195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Compute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Storage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Databases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Networking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 developer tools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 management tools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 IoT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Security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 Gaming's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 Enterprise applications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A66C9-4917-4303-A17D-7BF6794725A5}"/>
              </a:ext>
            </a:extLst>
          </p:cNvPr>
          <p:cNvSpPr txBox="1"/>
          <p:nvPr/>
        </p:nvSpPr>
        <p:spPr>
          <a:xfrm>
            <a:off x="463446" y="4212237"/>
            <a:ext cx="6093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effectLst/>
                <a:latin typeface="AmazonEmberBold"/>
              </a:rPr>
              <a:t>Benefits of AWS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b="0" i="0" dirty="0">
                <a:effectLst/>
                <a:latin typeface="AmazonEmberBold"/>
              </a:rPr>
              <a:t>Flexibility and Scalability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dirty="0">
                <a:latin typeface="AmazonEmberBold"/>
              </a:rPr>
              <a:t> Security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b="0" i="0" dirty="0">
                <a:effectLst/>
                <a:latin typeface="AmazonEmberBold"/>
              </a:rPr>
              <a:t> Little Investment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dirty="0">
                <a:latin typeface="AmazonEmberBold"/>
              </a:rPr>
              <a:t> Available globally</a:t>
            </a:r>
            <a:endParaRPr lang="en-IN" b="0" i="0" dirty="0">
              <a:effectLst/>
              <a:latin typeface="AmazonEmber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A4B7B-2A6F-53E9-CABB-13EB26EF1CE0}"/>
              </a:ext>
            </a:extLst>
          </p:cNvPr>
          <p:cNvSpPr txBox="1"/>
          <p:nvPr/>
        </p:nvSpPr>
        <p:spPr>
          <a:xfrm>
            <a:off x="5160365" y="2952187"/>
            <a:ext cx="60935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List of companies using AWS</a:t>
            </a:r>
            <a:r>
              <a:rPr lang="en-IN" dirty="0"/>
              <a:t>:</a:t>
            </a:r>
          </a:p>
          <a:p>
            <a:r>
              <a:rPr lang="en-IN" dirty="0"/>
              <a:t> Netflix</a:t>
            </a:r>
          </a:p>
          <a:p>
            <a:r>
              <a:rPr lang="en-IN" dirty="0"/>
              <a:t> Intuit</a:t>
            </a:r>
          </a:p>
          <a:p>
            <a:r>
              <a:rPr lang="en-IN" dirty="0"/>
              <a:t> Coinbase</a:t>
            </a:r>
          </a:p>
          <a:p>
            <a:r>
              <a:rPr lang="en-IN" dirty="0"/>
              <a:t> </a:t>
            </a:r>
            <a:r>
              <a:rPr lang="en-IN" dirty="0" err="1"/>
              <a:t>Finra</a:t>
            </a:r>
            <a:r>
              <a:rPr lang="en-IN" dirty="0"/>
              <a:t> </a:t>
            </a:r>
          </a:p>
          <a:p>
            <a:r>
              <a:rPr lang="en-IN" dirty="0"/>
              <a:t>Johnson &amp; Johnson </a:t>
            </a:r>
          </a:p>
          <a:p>
            <a:r>
              <a:rPr lang="en-IN" dirty="0"/>
              <a:t>Capital One</a:t>
            </a:r>
          </a:p>
          <a:p>
            <a:r>
              <a:rPr lang="en-IN" dirty="0"/>
              <a:t> Adobe </a:t>
            </a:r>
          </a:p>
          <a:p>
            <a:r>
              <a:rPr lang="en-IN" dirty="0"/>
              <a:t>Airbnb </a:t>
            </a:r>
          </a:p>
          <a:p>
            <a:r>
              <a:rPr lang="en-IN" dirty="0"/>
              <a:t>AOL </a:t>
            </a:r>
          </a:p>
          <a:p>
            <a:r>
              <a:rPr lang="en-IN" dirty="0"/>
              <a:t>Hitachi </a:t>
            </a:r>
          </a:p>
        </p:txBody>
      </p:sp>
    </p:spTree>
    <p:extLst>
      <p:ext uri="{BB962C8B-B14F-4D97-AF65-F5344CB8AC3E}">
        <p14:creationId xmlns:p14="http://schemas.microsoft.com/office/powerpoint/2010/main" val="1872197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65F2-1469-4556-B3F8-6CFF30C0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446" y="230215"/>
            <a:ext cx="10515600" cy="68418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/>
              <a:t>Cloud Computing from the Google Perspective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3AB9A2-A4FD-4DA8-B0EB-3B933FF4E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954" y="914401"/>
            <a:ext cx="9771663" cy="562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46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506497-9147-4B25-B263-389E35522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491" y="1669985"/>
            <a:ext cx="7935432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54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F9FF5-2E11-4788-B058-01C60C829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283" y="1533394"/>
            <a:ext cx="7802064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46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59569B-9AFD-4A4B-8784-D746DA1D4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265" y="1444713"/>
            <a:ext cx="8737065" cy="377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45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E015A2-CE45-4FA1-8AD4-325580333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32" y="985603"/>
            <a:ext cx="11225135" cy="488679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786224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1B2637-C753-470E-BE1D-EB9D049D9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2" y="0"/>
            <a:ext cx="12027108" cy="648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93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0E391C-1D44-4F48-B746-33488F7C4978}"/>
              </a:ext>
            </a:extLst>
          </p:cNvPr>
          <p:cNvSpPr txBox="1"/>
          <p:nvPr/>
        </p:nvSpPr>
        <p:spPr>
          <a:xfrm>
            <a:off x="2761938" y="344774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Window Azure and Online Services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8088A-7E2C-4E04-88C8-2D3B67FC2869}"/>
              </a:ext>
            </a:extLst>
          </p:cNvPr>
          <p:cNvSpPr txBox="1"/>
          <p:nvPr/>
        </p:nvSpPr>
        <p:spPr>
          <a:xfrm>
            <a:off x="194247" y="1045087"/>
            <a:ext cx="112288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The Azure cloud platform is more than 200 products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600 cloud services designed to help you bring new solutions to life—to solve today’s challenges and create the future.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Build, run, and manage applications across multiple clouds, on-premises, and at the edge, with the tools and frameworks of your choice.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A773BB-14BB-41B5-A850-4DAA89A2AD74}"/>
              </a:ext>
            </a:extLst>
          </p:cNvPr>
          <p:cNvSpPr txBox="1"/>
          <p:nvPr/>
        </p:nvSpPr>
        <p:spPr>
          <a:xfrm>
            <a:off x="498421" y="3042924"/>
            <a:ext cx="105643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u="sng" dirty="0"/>
              <a:t>Top 10 services by Azure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Virtual Machines.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Azure DevOps.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Azure Cosmos DB.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Azure Active Directory.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API management.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Azure Backup.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Azure Content Delivery Network.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Logic Apps.</a:t>
            </a:r>
          </a:p>
        </p:txBody>
      </p:sp>
    </p:spTree>
    <p:extLst>
      <p:ext uri="{BB962C8B-B14F-4D97-AF65-F5344CB8AC3E}">
        <p14:creationId xmlns:p14="http://schemas.microsoft.com/office/powerpoint/2010/main" val="2524205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Big 3: Cloud Service Providers">
            <a:extLst>
              <a:ext uri="{FF2B5EF4-FFF2-40B4-BE49-F238E27FC236}">
                <a16:creationId xmlns:a16="http://schemas.microsoft.com/office/drawing/2014/main" id="{7D2B495B-FAE4-4E9F-89A4-F91A4FF74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87" y="1147489"/>
            <a:ext cx="8199620" cy="456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925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D3D4FC-C535-4DE9-8619-CA323EC64E60}"/>
              </a:ext>
            </a:extLst>
          </p:cNvPr>
          <p:cNvSpPr txBox="1"/>
          <p:nvPr/>
        </p:nvSpPr>
        <p:spPr>
          <a:xfrm>
            <a:off x="228600" y="289679"/>
            <a:ext cx="51228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b="1" i="0" u="sng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AWS customers include: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Expedia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Netflix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Coinbase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Formula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Coca Cola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Intuit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Airbnb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Lyft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Coursera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Food and Drug Administration (FDA)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11F5E-583D-4BF0-B012-C981BDA409F3}"/>
              </a:ext>
            </a:extLst>
          </p:cNvPr>
          <p:cNvSpPr txBox="1"/>
          <p:nvPr/>
        </p:nvSpPr>
        <p:spPr>
          <a:xfrm>
            <a:off x="6098500" y="124547"/>
            <a:ext cx="44995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b="1" i="0" u="sng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Azure customers include: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DAIMLER AG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McKesson Group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Asos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Center of Disease Control (CDC) – US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National Health Service (NHS) – UK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HSBC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Starbucks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Walgreens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3M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HP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Mitsubishi Electric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Renault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D8869E-0202-49F7-A9B7-01D685A996D7}"/>
              </a:ext>
            </a:extLst>
          </p:cNvPr>
          <p:cNvSpPr txBox="1"/>
          <p:nvPr/>
        </p:nvSpPr>
        <p:spPr>
          <a:xfrm>
            <a:off x="228600" y="3705999"/>
            <a:ext cx="42984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i="0" u="sng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GCP customers include</a:t>
            </a:r>
            <a:r>
              <a:rPr lang="en-GB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Toyota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Unilever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Nintendo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Spotify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The Home Depot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Target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Twitter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Paypal</a:t>
            </a:r>
            <a:endParaRPr lang="en-GB" b="0" i="0" dirty="0">
              <a:solidFill>
                <a:srgbClr val="1D1D1D"/>
              </a:solidFill>
              <a:effectLst/>
              <a:latin typeface="Open Sans" panose="020B0606030504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UPS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362B7E-80E1-8347-1485-8B0565D125C2}"/>
              </a:ext>
            </a:extLst>
          </p:cNvPr>
          <p:cNvSpPr txBox="1"/>
          <p:nvPr/>
        </p:nvSpPr>
        <p:spPr>
          <a:xfrm>
            <a:off x="4980482" y="4813995"/>
            <a:ext cx="6093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/>
              <a:t>Top 5 Cloud Providers in 2022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Amazon Web Service (AWS)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Google Cloud Platform.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Microsoft Azure.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IBM Cloud.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Oracle.</a:t>
            </a:r>
          </a:p>
        </p:txBody>
      </p:sp>
    </p:spTree>
    <p:extLst>
      <p:ext uri="{BB962C8B-B14F-4D97-AF65-F5344CB8AC3E}">
        <p14:creationId xmlns:p14="http://schemas.microsoft.com/office/powerpoint/2010/main" val="1796647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DF6245-A9C9-4CF8-9748-4E438EC44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26" y="674557"/>
            <a:ext cx="10852879" cy="547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68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DD920-9895-4CD8-80D8-AEEC00F0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IN" sz="4000" b="1" dirty="0"/>
              <a:t>Open Source Software Platforms for Private Clouds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5643A-00B8-420D-AEBE-09D01904EB06}"/>
              </a:ext>
            </a:extLst>
          </p:cNvPr>
          <p:cNvSpPr txBox="1"/>
          <p:nvPr/>
        </p:nvSpPr>
        <p:spPr>
          <a:xfrm>
            <a:off x="1157991" y="2281216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62524"/>
                </a:solidFill>
                <a:effectLst/>
                <a:latin typeface="Geekflare"/>
              </a:rPr>
              <a:t>Cloud Foundry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D1215-7DB4-4F8B-A720-C356646A6BB0}"/>
              </a:ext>
            </a:extLst>
          </p:cNvPr>
          <p:cNvSpPr txBox="1"/>
          <p:nvPr/>
        </p:nvSpPr>
        <p:spPr>
          <a:xfrm>
            <a:off x="1157991" y="265054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62524"/>
                </a:solidFill>
                <a:effectLst/>
                <a:latin typeface="Geekflare"/>
              </a:rPr>
              <a:t>WSO2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596985-4B46-419A-A5D0-F6863C382E22}"/>
              </a:ext>
            </a:extLst>
          </p:cNvPr>
          <p:cNvSpPr txBox="1"/>
          <p:nvPr/>
        </p:nvSpPr>
        <p:spPr>
          <a:xfrm>
            <a:off x="1157991" y="3137819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62524"/>
                </a:solidFill>
                <a:effectLst/>
                <a:latin typeface="Geekflare"/>
              </a:rPr>
              <a:t>Cloudify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F9EA4-EA47-4290-A956-572A1D532037}"/>
              </a:ext>
            </a:extLst>
          </p:cNvPr>
          <p:cNvSpPr txBox="1"/>
          <p:nvPr/>
        </p:nvSpPr>
        <p:spPr>
          <a:xfrm>
            <a:off x="1157991" y="3625090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62524"/>
                </a:solidFill>
                <a:effectLst/>
                <a:latin typeface="Geekflare"/>
              </a:rPr>
              <a:t>OpenShift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84C4A-337C-46C5-AEE7-6613E8D4337E}"/>
              </a:ext>
            </a:extLst>
          </p:cNvPr>
          <p:cNvSpPr txBox="1"/>
          <p:nvPr/>
        </p:nvSpPr>
        <p:spPr>
          <a:xfrm>
            <a:off x="1157991" y="4112361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 err="1">
                <a:solidFill>
                  <a:srgbClr val="262524"/>
                </a:solidFill>
                <a:effectLst/>
                <a:latin typeface="Geekflare"/>
              </a:rPr>
              <a:t>Tsuru</a:t>
            </a:r>
            <a:endParaRPr lang="en-IN" b="1" i="0" dirty="0">
              <a:solidFill>
                <a:srgbClr val="262524"/>
              </a:solidFill>
              <a:effectLst/>
              <a:latin typeface="Geekflar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2233F-0FE8-4611-86B5-072BE4E7C83B}"/>
              </a:ext>
            </a:extLst>
          </p:cNvPr>
          <p:cNvSpPr txBox="1"/>
          <p:nvPr/>
        </p:nvSpPr>
        <p:spPr>
          <a:xfrm>
            <a:off x="1157991" y="4599632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 err="1">
                <a:solidFill>
                  <a:srgbClr val="262524"/>
                </a:solidFill>
                <a:effectLst/>
                <a:latin typeface="Geekflare"/>
              </a:rPr>
              <a:t>Stackato</a:t>
            </a:r>
            <a:endParaRPr lang="en-IN" b="1" i="0" dirty="0">
              <a:solidFill>
                <a:srgbClr val="262524"/>
              </a:solidFill>
              <a:effectLst/>
              <a:latin typeface="Geekflar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24FBF0-2F43-48D0-B6D4-2A00BA55C8C5}"/>
              </a:ext>
            </a:extLst>
          </p:cNvPr>
          <p:cNvSpPr txBox="1"/>
          <p:nvPr/>
        </p:nvSpPr>
        <p:spPr>
          <a:xfrm>
            <a:off x="1157991" y="5008969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62524"/>
                </a:solidFill>
                <a:effectLst/>
                <a:latin typeface="Geekflare"/>
              </a:rPr>
              <a:t>Alibaba</a:t>
            </a:r>
          </a:p>
        </p:txBody>
      </p:sp>
    </p:spTree>
    <p:extLst>
      <p:ext uri="{BB962C8B-B14F-4D97-AF65-F5344CB8AC3E}">
        <p14:creationId xmlns:p14="http://schemas.microsoft.com/office/powerpoint/2010/main" val="753157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DD920-9895-4CD8-80D8-AEEC00F0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3078345"/>
            <a:ext cx="52578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END of the UNIT</a:t>
            </a:r>
          </a:p>
        </p:txBody>
      </p:sp>
    </p:spTree>
    <p:extLst>
      <p:ext uri="{BB962C8B-B14F-4D97-AF65-F5344CB8AC3E}">
        <p14:creationId xmlns:p14="http://schemas.microsoft.com/office/powerpoint/2010/main" val="1370530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703</Words>
  <Application>Microsoft Office PowerPoint</Application>
  <PresentationFormat>Widescreen</PresentationFormat>
  <Paragraphs>152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AmazonEmberBold</vt:lpstr>
      <vt:lpstr>AmazonEmberLight</vt:lpstr>
      <vt:lpstr>Arial</vt:lpstr>
      <vt:lpstr>Calibri</vt:lpstr>
      <vt:lpstr>Calibri Light</vt:lpstr>
      <vt:lpstr>Geekflare</vt:lpstr>
      <vt:lpstr>Georgia</vt:lpstr>
      <vt:lpstr>inherit</vt:lpstr>
      <vt:lpstr>Open Sans</vt:lpstr>
      <vt:lpstr>Wingdings</vt:lpstr>
      <vt:lpstr>Office Theme</vt:lpstr>
      <vt:lpstr>UNIT 5  Cloud Service Models and Cloud Infrastructure</vt:lpstr>
      <vt:lpstr>OUTLINES</vt:lpstr>
      <vt:lpstr>Jericho Cloud Cube Model</vt:lpstr>
      <vt:lpstr>Jericho Cloud Cube Model</vt:lpstr>
      <vt:lpstr>PowerPoint Presentation</vt:lpstr>
      <vt:lpstr> Cloud Models based on Service </vt:lpstr>
      <vt:lpstr>IAAS</vt:lpstr>
      <vt:lpstr>PAAS</vt:lpstr>
      <vt:lpstr>SAAS</vt:lpstr>
      <vt:lpstr>PowerPoint Presentation</vt:lpstr>
      <vt:lpstr>PowerPoint Presentation</vt:lpstr>
      <vt:lpstr>PowerPoint Presentation</vt:lpstr>
      <vt:lpstr>PowerPoint Presentation</vt:lpstr>
      <vt:lpstr>Amazon Web Services</vt:lpstr>
      <vt:lpstr>Cloud Computing from the Google Perspective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Open Source Software Platforms for Private Clouds</vt:lpstr>
      <vt:lpstr>END of the UNIT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 Cloud service models</dc:title>
  <dc:creator>Harendra Bikram Shah</dc:creator>
  <cp:lastModifiedBy>Harendra Bikram Shah</cp:lastModifiedBy>
  <cp:revision>44</cp:revision>
  <dcterms:created xsi:type="dcterms:W3CDTF">2021-12-27T16:11:49Z</dcterms:created>
  <dcterms:modified xsi:type="dcterms:W3CDTF">2023-01-05T16:26:09Z</dcterms:modified>
</cp:coreProperties>
</file>