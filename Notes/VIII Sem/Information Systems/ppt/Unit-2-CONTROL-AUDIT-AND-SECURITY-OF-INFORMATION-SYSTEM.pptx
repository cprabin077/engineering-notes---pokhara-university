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9" r:id="rId17"/>
    <p:sldId id="280" r:id="rId18"/>
    <p:sldId id="281" r:id="rId19"/>
    <p:sldId id="276" r:id="rId20"/>
    <p:sldId id="277" r:id="rId21"/>
    <p:sldId id="278" r:id="rId22"/>
    <p:sldId id="282" r:id="rId23"/>
    <p:sldId id="283" r:id="rId24"/>
    <p:sldId id="284" r:id="rId25"/>
    <p:sldId id="285" r:id="rId26"/>
    <p:sldId id="286" r:id="rId27"/>
    <p:sldId id="26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5945-12C4-7E6F-7782-F11916F57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AAEBE-4E66-633A-8170-E10310CB1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FDE7-8154-F82B-0089-6472B0EF8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05-05-2024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692BF-23A2-384D-10D3-9A451D720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86631-8F46-A7D4-E21A-0F252265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57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659F7-B2CE-F49B-D587-F4CDBF158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4B379-1680-B623-1BA6-4D543151C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30DE3-2A81-F076-C2C0-70E9B8764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05-05-2024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18104-5C27-B924-FD16-7230E60B9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93FE2-AE6A-CD4B-014C-192B9C7C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072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0E0F-4C89-8E84-ADE4-99C8EA10A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E2E78-0D08-DC19-FE29-C010780A7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5F2D6-069E-B304-19FD-E947C617C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05-05-2024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0BA2D-9240-DFA9-42EB-AA55E9B4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FFC53-49D1-8732-1178-991F4C21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9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6CEC7-50AF-FFEE-3452-D5212A31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8C215-3D89-8DA8-B82B-189C97E78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EA9AC-A21C-9300-D2EB-907C36D2B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32695-931F-6648-B740-6027434B6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05-05-2024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43825-35AF-E737-11E7-509E908B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86D88-97B5-009A-DA1E-123505A8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92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0A90-DB78-B5DF-753D-0147F52F1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5E5A9-7D03-5D3C-465A-E69949574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CD116-01F2-25CB-458E-91666BE43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B5A8F7-4EA2-6E11-537E-65631ED9B7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E92E5A-6AEE-AE1E-BF52-80FC9F56F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FACBF-0DF0-64E7-756C-23ABF5D22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05-05-2024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B6109C-3381-B370-5EB0-5DC011BD2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A27FFA-CD86-610B-1544-1CD2D3AA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441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03A71-1576-54CA-FE3F-3A88B950C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187ECA-B5D9-7C36-CA61-8353BB02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05-05-2024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EF87E-0782-510D-21FF-C6C68C397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A599B-8D71-4457-6C8D-94A9159D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32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84C28-429C-DC49-7A76-A0ED80902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05-05-2024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2C456-0D60-338C-8178-25CD01CC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1979F-3078-C4A3-ACC4-792CEBB80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631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6030-7A4C-307F-FAA2-E39B1AFF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1EB2A-9FD9-4E69-BFDB-250F97FCC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8E8F6-23DB-FED4-F988-0994989AF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86A4B-FB62-50C3-0B4E-E2000151D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05-05-2024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4110F-6A16-E7D8-C860-835FAE5D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5FE01-BAE2-E472-7090-FE4209C5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79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B364-5748-12C9-50DF-3F9342760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6C88F-9A12-5F35-F63F-A9287E81C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77274-AF09-33FD-7A2F-75E7D05ED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C4D70-3575-3722-8DC0-1EE451F3B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05-05-2024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97945-0801-BD9C-E5F7-19A768C7F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81CBB-C75C-42AA-AE3F-4C6B5FD5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592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2546-7511-B091-7294-75457672E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2A3A13-40F3-A358-5B5A-5E8C61AC7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FE09C-3933-1E38-E8C0-190AAD28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05-05-2024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550A6-CA3D-2F20-822C-BD6FBF46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36A44-0171-6AD0-0912-53BCC4422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280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6CDFE9-B82A-3D62-73E9-852695EE26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27444-C066-778F-305D-B284B87B9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48542-2F92-87A8-984D-2AC741777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05-05-2024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63DF1-0F84-425E-848B-B6126EF74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9683A-096C-2B9C-6320-9C2946F6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48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7D31CB-85E3-A58E-43F9-29A581EA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5C37D-8115-C939-3055-A27C48B5E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76AB7-4133-96E2-B54C-FF964FF78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  <a:t>05-05-2024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325C0-8DD8-65E1-A144-6742323E1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F843E-2D00-E5E6-1E4E-A27797761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01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5E4CD-FC69-6CB5-2F1B-F01F865AF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423"/>
            <a:ext cx="12084148" cy="1649280"/>
          </a:xfrm>
        </p:spPr>
        <p:txBody>
          <a:bodyPr>
            <a:noAutofit/>
          </a:bodyPr>
          <a:lstStyle/>
          <a:p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</a:t>
            </a:r>
            <a:b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AND AUDIT IN IS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2AA2C-C26D-A64E-71BA-D927C0363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3490" y="3429000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GB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BE Computer</a:t>
            </a: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8532B-0872-8FB0-B455-D14F6275D037}"/>
              </a:ext>
            </a:extLst>
          </p:cNvPr>
          <p:cNvSpPr txBox="1"/>
          <p:nvPr/>
        </p:nvSpPr>
        <p:spPr>
          <a:xfrm>
            <a:off x="9621078" y="2345635"/>
            <a:ext cx="91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Hrs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962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5E4CD-FC69-6CB5-2F1B-F01F865AF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7943"/>
            <a:ext cx="9144000" cy="96127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6C0427-9B4C-C279-A1EB-44C44C7DA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683794"/>
              </p:ext>
            </p:extLst>
          </p:nvPr>
        </p:nvGraphicFramePr>
        <p:xfrm>
          <a:off x="317615" y="1573834"/>
          <a:ext cx="11238717" cy="50703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38717">
                  <a:extLst>
                    <a:ext uri="{9D8B030D-6E8A-4147-A177-3AD203B41FA5}">
                      <a16:colId xmlns:a16="http://schemas.microsoft.com/office/drawing/2014/main" val="3955013320"/>
                    </a:ext>
                  </a:extLst>
                </a:gridCol>
              </a:tblGrid>
              <a:tr h="274398">
                <a:tc>
                  <a:txBody>
                    <a:bodyPr/>
                    <a:lstStyle/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2.1.Control of Information System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541551"/>
                  </a:ext>
                </a:extLst>
              </a:tr>
              <a:tr h="274398">
                <a:tc>
                  <a:txBody>
                    <a:bodyPr/>
                    <a:lstStyle/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2.2.Audit of Information System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13080"/>
                  </a:ext>
                </a:extLst>
              </a:tr>
              <a:tr h="274398">
                <a:tc>
                  <a:txBody>
                    <a:bodyPr/>
                    <a:lstStyle/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2.3.Security of information System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468312"/>
                  </a:ext>
                </a:extLst>
              </a:tr>
              <a:tr h="274398">
                <a:tc>
                  <a:txBody>
                    <a:bodyPr/>
                    <a:lstStyle/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2.4.Consumer layered security Strategy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31032"/>
                  </a:ext>
                </a:extLst>
              </a:tr>
              <a:tr h="274398">
                <a:tc>
                  <a:txBody>
                    <a:bodyPr/>
                    <a:lstStyle/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2.5.Enterprise Layered security strategy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941628"/>
                  </a:ext>
                </a:extLst>
              </a:tr>
              <a:tr h="274398">
                <a:tc>
                  <a:txBody>
                    <a:bodyPr/>
                    <a:lstStyle/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2.6.Extended Validation and SSL-Certification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224233"/>
                  </a:ext>
                </a:extLst>
              </a:tr>
              <a:tr h="274398">
                <a:tc>
                  <a:txBody>
                    <a:bodyPr/>
                    <a:lstStyle/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2.7.Remote access authentication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024925"/>
                  </a:ext>
                </a:extLst>
              </a:tr>
              <a:tr h="274398">
                <a:tc>
                  <a:txBody>
                    <a:bodyPr/>
                    <a:lstStyle/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2.8.Content Control and Policy based encryption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566320"/>
                  </a:ext>
                </a:extLst>
              </a:tr>
              <a:tr h="274398">
                <a:tc>
                  <a:txBody>
                    <a:bodyPr/>
                    <a:lstStyle/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2.9.Example of Security in e-Commerce transaction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64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12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DC64CD1-2D16-F8B4-8BD9-044E669E1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6017"/>
            <a:ext cx="9144000" cy="570440"/>
          </a:xfrm>
        </p:spPr>
        <p:txBody>
          <a:bodyPr>
            <a:normAutofit fontScale="90000"/>
          </a:bodyPr>
          <a:lstStyle/>
          <a:p>
            <a:r>
              <a:rPr lang="en-GB" sz="4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of Information System</a:t>
            </a:r>
            <a:endParaRPr lang="en-IN" sz="4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9903F56-C52A-36B0-2710-5FA30CA05680}"/>
              </a:ext>
            </a:extLst>
          </p:cNvPr>
          <p:cNvSpPr txBox="1"/>
          <p:nvPr/>
        </p:nvSpPr>
        <p:spPr>
          <a:xfrm>
            <a:off x="275678" y="846013"/>
            <a:ext cx="11916321" cy="2434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365" marR="5080" indent="-241300">
              <a:lnSpc>
                <a:spcPct val="140500"/>
              </a:lnSpc>
              <a:spcBef>
                <a:spcPts val="100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procedures</a:t>
            </a: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</a:t>
            </a:r>
            <a:r>
              <a:rPr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</a:t>
            </a:r>
            <a:r>
              <a:rPr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pc="-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secure and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3365" indent="-241300">
              <a:lnSpc>
                <a:spcPct val="100000"/>
              </a:lnSpc>
              <a:spcBef>
                <a:spcPts val="5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FFFF"/>
              </a:buClr>
              <a:buFont typeface="Times New Roman"/>
              <a:buChar char="▪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5525" lvl="1" indent="-212090">
              <a:lnSpc>
                <a:spcPct val="100000"/>
              </a:lnSpc>
              <a:buAutoNum type="arabicPeriod"/>
              <a:tabLst>
                <a:tab pos="1026160" algn="l"/>
              </a:tabLst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controls</a:t>
            </a:r>
            <a:r>
              <a:rPr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controls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</a:t>
            </a:r>
            <a:r>
              <a:rPr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FFBF00"/>
              </a:buClr>
              <a:buFont typeface="Corbel"/>
              <a:buAutoNum type="arabicPeriod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7430" lvl="1" indent="-2139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028065" algn="l"/>
              </a:tabLst>
            </a:pP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b="1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r>
              <a:rPr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(payroll)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FFBF00"/>
              </a:buClr>
              <a:buFont typeface="Corbel"/>
              <a:buAutoNum type="arabicPeriod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3365" indent="-241300">
              <a:lnSpc>
                <a:spcPct val="100000"/>
              </a:lnSpc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safeguarding</a:t>
            </a:r>
            <a:r>
              <a:rPr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systems.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CEA089CE-C645-AEF0-ABFC-B2CFA02E1BD8}"/>
              </a:ext>
            </a:extLst>
          </p:cNvPr>
          <p:cNvSpPr txBox="1"/>
          <p:nvPr/>
        </p:nvSpPr>
        <p:spPr>
          <a:xfrm>
            <a:off x="861321" y="3792883"/>
            <a:ext cx="3638550" cy="2959100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253365" indent="-241300">
              <a:lnSpc>
                <a:spcPct val="100000"/>
              </a:lnSpc>
              <a:spcBef>
                <a:spcPts val="1430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marL="253365" indent="-241300">
              <a:lnSpc>
                <a:spcPct val="100000"/>
              </a:lnSpc>
              <a:spcBef>
                <a:spcPts val="1330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marL="253365" indent="-241300">
              <a:lnSpc>
                <a:spcPct val="100000"/>
              </a:lnSpc>
              <a:spcBef>
                <a:spcPts val="1335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marL="253365" indent="-241300">
              <a:lnSpc>
                <a:spcPct val="100000"/>
              </a:lnSpc>
              <a:spcBef>
                <a:spcPts val="1330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marL="253365" indent="-241300">
              <a:lnSpc>
                <a:spcPct val="100000"/>
              </a:lnSpc>
              <a:spcBef>
                <a:spcPts val="1330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3365" indent="-241300">
              <a:lnSpc>
                <a:spcPct val="100000"/>
              </a:lnSpc>
              <a:spcBef>
                <a:spcPts val="1320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</a:t>
            </a:r>
            <a:r>
              <a:rPr sz="2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7E3E5F-C5C4-9414-166B-60A9E5E78768}"/>
              </a:ext>
            </a:extLst>
          </p:cNvPr>
          <p:cNvSpPr txBox="1"/>
          <p:nvPr/>
        </p:nvSpPr>
        <p:spPr>
          <a:xfrm>
            <a:off x="384313" y="356205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controls</a:t>
            </a:r>
            <a:r>
              <a:rPr lang="en-IN" sz="24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4D41F070-3644-8244-4655-8EFDAA9648AA}"/>
              </a:ext>
            </a:extLst>
          </p:cNvPr>
          <p:cNvSpPr txBox="1"/>
          <p:nvPr/>
        </p:nvSpPr>
        <p:spPr>
          <a:xfrm>
            <a:off x="4499871" y="3577283"/>
            <a:ext cx="7882890" cy="12137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45"/>
              </a:spcBef>
              <a:buClr>
                <a:srgbClr val="FFFFFF"/>
              </a:buClr>
              <a:buFont typeface="Times New Roman"/>
              <a:buChar char="▪"/>
            </a:pPr>
            <a:r>
              <a:rPr lang="en-IN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en-IN" sz="2400" b="1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indent="-285750" algn="just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53365" algn="l"/>
                <a:tab pos="25400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nput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Controls</a:t>
            </a:r>
          </a:p>
          <a:p>
            <a:pPr marL="297815" indent="-285750" algn="just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53365" algn="l"/>
                <a:tab pos="25400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rocessing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Controls</a:t>
            </a:r>
          </a:p>
          <a:p>
            <a:pPr marL="297815" indent="-285750" algn="just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53365" algn="l"/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controls.</a:t>
            </a:r>
          </a:p>
        </p:txBody>
      </p:sp>
    </p:spTree>
    <p:extLst>
      <p:ext uri="{BB962C8B-B14F-4D97-AF65-F5344CB8AC3E}">
        <p14:creationId xmlns:p14="http://schemas.microsoft.com/office/powerpoint/2010/main" val="1631093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ADEC539-D4BD-2754-5749-D54B85C2AE30}"/>
              </a:ext>
            </a:extLst>
          </p:cNvPr>
          <p:cNvSpPr txBox="1"/>
          <p:nvPr/>
        </p:nvSpPr>
        <p:spPr>
          <a:xfrm>
            <a:off x="119270" y="0"/>
            <a:ext cx="12072729" cy="613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0" algn="ctr">
              <a:lnSpc>
                <a:spcPct val="115000"/>
              </a:lnSpc>
              <a:spcAft>
                <a:spcPts val="1000"/>
              </a:spcAft>
            </a:pPr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r>
              <a:rPr lang="en-IN" sz="3200" b="1" spc="1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IN" sz="3200" b="1" spc="4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IN" sz="3200" b="1" spc="-2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IN" sz="3200" b="1" spc="4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lang="en-IN" b="1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50D3ACD-7EBE-85D5-BCE5-2AC970AE1BA2}"/>
              </a:ext>
            </a:extLst>
          </p:cNvPr>
          <p:cNvSpPr txBox="1"/>
          <p:nvPr/>
        </p:nvSpPr>
        <p:spPr>
          <a:xfrm>
            <a:off x="834816" y="943137"/>
            <a:ext cx="3271520" cy="1440138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253365" indent="-241300">
              <a:lnSpc>
                <a:spcPct val="100000"/>
              </a:lnSpc>
              <a:spcBef>
                <a:spcPts val="1430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</a:t>
            </a:r>
          </a:p>
          <a:p>
            <a:pPr marL="253365" indent="-241300">
              <a:lnSpc>
                <a:spcPct val="100000"/>
              </a:lnSpc>
              <a:spcBef>
                <a:spcPts val="1330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Intrusion Detection System</a:t>
            </a:r>
          </a:p>
          <a:p>
            <a:pPr marL="253365" indent="-241300">
              <a:lnSpc>
                <a:spcPct val="100000"/>
              </a:lnSpc>
              <a:spcBef>
                <a:spcPts val="1335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Antivirus software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D241A-2500-764F-1ACF-50096E285AAE}"/>
              </a:ext>
            </a:extLst>
          </p:cNvPr>
          <p:cNvSpPr txBox="1"/>
          <p:nvPr/>
        </p:nvSpPr>
        <p:spPr>
          <a:xfrm>
            <a:off x="2875721" y="2451557"/>
            <a:ext cx="76862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lang="en-IN" sz="2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IN"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IN" sz="28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ABE633-D740-BEAB-1133-C4EFB8999FB2}"/>
              </a:ext>
            </a:extLst>
          </p:cNvPr>
          <p:cNvSpPr txBox="1"/>
          <p:nvPr/>
        </p:nvSpPr>
        <p:spPr>
          <a:xfrm>
            <a:off x="424069" y="2967335"/>
            <a:ext cx="117679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Examination of the management controls within an Information technology (IT) infrastructure.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"automated data processing (ADP) audits" and "computer audits".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formerly called as "electronic data processing (EDP) audits".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275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ADEC539-D4BD-2754-5749-D54B85C2AE30}"/>
              </a:ext>
            </a:extLst>
          </p:cNvPr>
          <p:cNvSpPr txBox="1"/>
          <p:nvPr/>
        </p:nvSpPr>
        <p:spPr>
          <a:xfrm>
            <a:off x="119270" y="0"/>
            <a:ext cx="12072729" cy="613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0" algn="ctr">
              <a:lnSpc>
                <a:spcPct val="115000"/>
              </a:lnSpc>
              <a:spcAft>
                <a:spcPts val="1000"/>
              </a:spcAft>
            </a:pPr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IT AUDIT</a:t>
            </a:r>
            <a:endParaRPr lang="en-IN" b="1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4B8424-23D4-06FE-7FBF-85622D746AD3}"/>
              </a:ext>
            </a:extLst>
          </p:cNvPr>
          <p:cNvSpPr txBox="1"/>
          <p:nvPr/>
        </p:nvSpPr>
        <p:spPr>
          <a:xfrm>
            <a:off x="887894" y="766106"/>
            <a:ext cx="103499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IT audit aims to evaluate the following: </a:t>
            </a:r>
          </a:p>
          <a:p>
            <a:pPr marL="342900" indent="-342900" algn="just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the organization's computer systems be available for the business at all times when required? </a:t>
            </a:r>
          </a:p>
          <a:p>
            <a:pPr marL="342900" indent="-342900" algn="just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the information in the systems be disclosed only to authorized users? </a:t>
            </a:r>
          </a:p>
          <a:p>
            <a:pPr marL="342900" indent="-342900" algn="just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the information provided by the system always be accurate, reliable, and timely?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AECFFD-4335-1579-8A6F-6F42FB47357B}"/>
              </a:ext>
            </a:extLst>
          </p:cNvPr>
          <p:cNvSpPr txBox="1"/>
          <p:nvPr/>
        </p:nvSpPr>
        <p:spPr>
          <a:xfrm>
            <a:off x="887894" y="1966435"/>
            <a:ext cx="10137914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AUDIT: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innovation process audit.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 comparison audit.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position audit.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and Applications.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Facilities.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Development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of IT and Enterprise Architecture.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Client/Server, Telecommunications, Intranets, and Extranets Audit Processes: 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217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ADEC539-D4BD-2754-5749-D54B85C2AE30}"/>
              </a:ext>
            </a:extLst>
          </p:cNvPr>
          <p:cNvSpPr txBox="1"/>
          <p:nvPr/>
        </p:nvSpPr>
        <p:spPr>
          <a:xfrm>
            <a:off x="119270" y="0"/>
            <a:ext cx="12072729" cy="82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0" algn="ctr">
              <a:lnSpc>
                <a:spcPct val="115000"/>
              </a:lnSpc>
              <a:spcAft>
                <a:spcPts val="1000"/>
              </a:spcAft>
            </a:pPr>
            <a:r>
              <a:rPr lang="en-GB" sz="4400" spc="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lang="en-GB" sz="4400" spc="-2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Trail</a:t>
            </a:r>
            <a:r>
              <a:rPr lang="en-GB" sz="4400" spc="3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spc="-1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4400" spc="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spc="1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en-GB" sz="4400" spc="-2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8BE3820C-E423-3575-16C6-BBF219453712}"/>
              </a:ext>
            </a:extLst>
          </p:cNvPr>
          <p:cNvSpPr txBox="1"/>
          <p:nvPr/>
        </p:nvSpPr>
        <p:spPr>
          <a:xfrm>
            <a:off x="1033599" y="1032708"/>
            <a:ext cx="10933113" cy="2155334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53365" marR="5080" indent="-241300" algn="just">
              <a:lnSpc>
                <a:spcPts val="2270"/>
              </a:lnSpc>
              <a:spcBef>
                <a:spcPts val="380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trail is one of important tool of security of information system  in your computer.</a:t>
            </a:r>
          </a:p>
          <a:p>
            <a:pPr marL="253365" indent="-241300" algn="just">
              <a:lnSpc>
                <a:spcPct val="100000"/>
              </a:lnSpc>
              <a:spcBef>
                <a:spcPts val="1300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the record of who has accessed your system.</a:t>
            </a:r>
          </a:p>
          <a:p>
            <a:pPr marL="253365" indent="-241300" algn="just">
              <a:lnSpc>
                <a:spcPct val="100000"/>
              </a:lnSpc>
              <a:spcBef>
                <a:spcPts val="1330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he or she do?</a:t>
            </a:r>
          </a:p>
          <a:p>
            <a:pPr marL="253365" indent="-241300" algn="just">
              <a:lnSpc>
                <a:spcPct val="100000"/>
              </a:lnSpc>
              <a:spcBef>
                <a:spcPts val="1335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time did he spend in the system?</a:t>
            </a:r>
          </a:p>
          <a:p>
            <a:pPr marL="253365" marR="5080" indent="-241300" algn="just">
              <a:lnSpc>
                <a:spcPts val="2270"/>
              </a:lnSpc>
              <a:spcBef>
                <a:spcPts val="1615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record is helpful to control the accounting and other information  systems.</a:t>
            </a:r>
          </a:p>
        </p:txBody>
      </p:sp>
    </p:spTree>
    <p:extLst>
      <p:ext uri="{BB962C8B-B14F-4D97-AF65-F5344CB8AC3E}">
        <p14:creationId xmlns:p14="http://schemas.microsoft.com/office/powerpoint/2010/main" val="1458382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4CFE9ED-65D2-9462-D6B7-FF77AEEFCE3F}"/>
              </a:ext>
            </a:extLst>
          </p:cNvPr>
          <p:cNvSpPr txBox="1">
            <a:spLocks/>
          </p:cNvSpPr>
          <p:nvPr/>
        </p:nvSpPr>
        <p:spPr>
          <a:xfrm>
            <a:off x="-1" y="118820"/>
            <a:ext cx="12191999" cy="441468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200"/>
              </a:lnSpc>
              <a:spcBef>
                <a:spcPts val="105"/>
              </a:spcBef>
            </a:pPr>
            <a:r>
              <a:rPr lang="en-GB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AUDIT TRAIL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61A2122-6575-1AE4-A7DC-49DB3C127A02}"/>
              </a:ext>
            </a:extLst>
          </p:cNvPr>
          <p:cNvSpPr txBox="1"/>
          <p:nvPr/>
        </p:nvSpPr>
        <p:spPr>
          <a:xfrm>
            <a:off x="638174" y="1274443"/>
            <a:ext cx="5457825" cy="1393971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412750" indent="-400050">
              <a:lnSpc>
                <a:spcPct val="100000"/>
              </a:lnSpc>
              <a:spcBef>
                <a:spcPts val="1430"/>
              </a:spcBef>
              <a:buAutoNum type="arabicPeriod"/>
              <a:tabLst>
                <a:tab pos="412115" algn="l"/>
                <a:tab pos="41275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Unauthorized Access to the System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2750" indent="-400050">
              <a:lnSpc>
                <a:spcPct val="100000"/>
              </a:lnSpc>
              <a:spcBef>
                <a:spcPts val="1330"/>
              </a:spcBef>
              <a:buAutoNum type="arabicPeriod"/>
              <a:tabLst>
                <a:tab pos="412115" algn="l"/>
                <a:tab pos="41275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Facilitating the Reconstruction of Events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2750" indent="-400050">
              <a:lnSpc>
                <a:spcPct val="100000"/>
              </a:lnSpc>
              <a:spcBef>
                <a:spcPts val="1335"/>
              </a:spcBef>
              <a:buAutoNum type="arabicPeriod"/>
              <a:tabLst>
                <a:tab pos="412115" algn="l"/>
                <a:tab pos="41275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Promoting Personal Accountability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318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>
            <a:extLst>
              <a:ext uri="{FF2B5EF4-FFF2-40B4-BE49-F238E27FC236}">
                <a16:creationId xmlns:a16="http://schemas.microsoft.com/office/drawing/2014/main" id="{35B4A5DF-4E72-F554-B3A4-5E2112BAEBA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008" y="662608"/>
            <a:ext cx="10561983" cy="531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399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A97F7-95FC-20F5-5220-0B49E92BAC9F}"/>
              </a:ext>
            </a:extLst>
          </p:cNvPr>
          <p:cNvSpPr txBox="1"/>
          <p:nvPr/>
        </p:nvSpPr>
        <p:spPr>
          <a:xfrm>
            <a:off x="2226365" y="0"/>
            <a:ext cx="73947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GB" sz="2400" spc="2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1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400" spc="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INFORMATION</a:t>
            </a:r>
            <a:r>
              <a:rPr lang="en-GB" sz="2400" spc="-2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en-GB" sz="2400" spc="-2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endParaRPr lang="en-IN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CF1B4FD-36AD-4D8F-F966-8FA65EBFF38F}"/>
              </a:ext>
            </a:extLst>
          </p:cNvPr>
          <p:cNvSpPr txBox="1"/>
          <p:nvPr/>
        </p:nvSpPr>
        <p:spPr>
          <a:xfrm>
            <a:off x="144129" y="605169"/>
            <a:ext cx="11903741" cy="1630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3365" marR="5080" indent="-241300" algn="just">
              <a:lnSpc>
                <a:spcPct val="150300"/>
              </a:lnSpc>
              <a:spcBef>
                <a:spcPts val="90"/>
              </a:spcBef>
              <a:buFont typeface="Times New Roman"/>
              <a:buChar char="▪"/>
              <a:tabLst>
                <a:tab pos="254000" algn="l"/>
              </a:tabLst>
            </a:pPr>
            <a:r>
              <a:rPr dirty="0"/>
              <a:t>“The protection of information and information systems against  unauthorized access or modification of information, whether in storage,  processing, or transit, and against denial of service to authorized users.  </a:t>
            </a:r>
            <a:endParaRPr lang="en-GB" dirty="0"/>
          </a:p>
          <a:p>
            <a:pPr marL="253365" marR="5080" indent="-241300" algn="just">
              <a:lnSpc>
                <a:spcPct val="150300"/>
              </a:lnSpc>
              <a:spcBef>
                <a:spcPts val="90"/>
              </a:spcBef>
              <a:buFont typeface="Times New Roman"/>
              <a:buChar char="▪"/>
              <a:tabLst>
                <a:tab pos="254000" algn="l"/>
              </a:tabLst>
            </a:pPr>
            <a:r>
              <a:rPr dirty="0"/>
              <a:t>Information security includes those measures necessary to detect, document,  and counter such threats. Information security is composed of computer  security and communications security.”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440C3-F2E4-12C1-05D1-FB744ED6ECE9}"/>
              </a:ext>
            </a:extLst>
          </p:cNvPr>
          <p:cNvSpPr txBox="1"/>
          <p:nvPr/>
        </p:nvSpPr>
        <p:spPr>
          <a:xfrm>
            <a:off x="2650434" y="2545281"/>
            <a:ext cx="74344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IN" sz="2800" b="1" spc="3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IN" sz="2800" b="1" spc="-2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800" b="1" spc="1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CIA</a:t>
            </a:r>
            <a:r>
              <a:rPr lang="en-IN" sz="2800" b="1" spc="-2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TRIAD</a:t>
            </a:r>
            <a:endParaRPr lang="en-IN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69CA6085-A2D9-4550-1D1D-E6B2B49F6A4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3759" y="3068501"/>
            <a:ext cx="5364480" cy="350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401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A97F7-95FC-20F5-5220-0B49E92BAC9F}"/>
              </a:ext>
            </a:extLst>
          </p:cNvPr>
          <p:cNvSpPr txBox="1"/>
          <p:nvPr/>
        </p:nvSpPr>
        <p:spPr>
          <a:xfrm>
            <a:off x="2226365" y="0"/>
            <a:ext cx="73947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FIREWALL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83767-067A-EF89-53BB-AC86BC28DC30}"/>
              </a:ext>
            </a:extLst>
          </p:cNvPr>
          <p:cNvSpPr txBox="1"/>
          <p:nvPr/>
        </p:nvSpPr>
        <p:spPr>
          <a:xfrm>
            <a:off x="13250" y="724404"/>
            <a:ext cx="12178749" cy="6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3365" marR="5080" indent="-241300">
              <a:lnSpc>
                <a:spcPct val="100000"/>
              </a:lnSpc>
              <a:spcBef>
                <a:spcPts val="100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lang="en-GB" dirty="0"/>
              <a:t>Network security device that monitors incoming and outgoing network traffic </a:t>
            </a:r>
          </a:p>
          <a:p>
            <a:pPr marL="253365" marR="5080" indent="-241300">
              <a:lnSpc>
                <a:spcPct val="100000"/>
              </a:lnSpc>
              <a:spcBef>
                <a:spcPts val="100"/>
              </a:spcBef>
              <a:buFont typeface="Times New Roman"/>
              <a:buChar char="▪"/>
              <a:tabLst>
                <a:tab pos="253365" algn="l"/>
                <a:tab pos="254000" algn="l"/>
              </a:tabLst>
            </a:pPr>
            <a:r>
              <a:rPr lang="en-GB" dirty="0"/>
              <a:t>Permits or blocks data packets based on a set of security rules.</a:t>
            </a:r>
          </a:p>
        </p:txBody>
      </p:sp>
      <p:pic>
        <p:nvPicPr>
          <p:cNvPr id="1026" name="Picture 2" descr="Hardware Firewall A Complete Overview | MilesWeb">
            <a:extLst>
              <a:ext uri="{FF2B5EF4-FFF2-40B4-BE49-F238E27FC236}">
                <a16:creationId xmlns:a16="http://schemas.microsoft.com/office/drawing/2014/main" id="{928E5301-F015-C9D4-C5DC-3734B573B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299" y="1584743"/>
            <a:ext cx="8264388" cy="4548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4558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A97F7-95FC-20F5-5220-0B49E92BAC9F}"/>
              </a:ext>
            </a:extLst>
          </p:cNvPr>
          <p:cNvSpPr txBox="1"/>
          <p:nvPr/>
        </p:nvSpPr>
        <p:spPr>
          <a:xfrm>
            <a:off x="2226365" y="0"/>
            <a:ext cx="73947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FIREWALL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B87B9ED-2071-5239-0E99-75C08D6FF7D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635" y="813087"/>
            <a:ext cx="10548729" cy="504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592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A97F7-95FC-20F5-5220-0B49E92BAC9F}"/>
              </a:ext>
            </a:extLst>
          </p:cNvPr>
          <p:cNvSpPr txBox="1"/>
          <p:nvPr/>
        </p:nvSpPr>
        <p:spPr>
          <a:xfrm>
            <a:off x="2226365" y="0"/>
            <a:ext cx="7394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B0F0"/>
                </a:solidFill>
              </a:rPr>
              <a:t>INTRUSION </a:t>
            </a:r>
            <a:r>
              <a:rPr lang="en-IN" sz="3600" b="1" spc="5" dirty="0">
                <a:solidFill>
                  <a:srgbClr val="00B0F0"/>
                </a:solidFill>
              </a:rPr>
              <a:t>DETECTION</a:t>
            </a:r>
            <a:r>
              <a:rPr lang="en-IN" sz="3600" b="1" spc="-25" dirty="0">
                <a:solidFill>
                  <a:srgbClr val="00B0F0"/>
                </a:solidFill>
              </a:rPr>
              <a:t> </a:t>
            </a:r>
            <a:r>
              <a:rPr lang="en-IN" sz="3600" b="1" spc="5" dirty="0">
                <a:solidFill>
                  <a:srgbClr val="00B0F0"/>
                </a:solidFill>
              </a:rPr>
              <a:t>SYSTEM</a:t>
            </a:r>
            <a:r>
              <a:rPr lang="en-IN" sz="3600" b="1" spc="-30" dirty="0">
                <a:solidFill>
                  <a:srgbClr val="00B0F0"/>
                </a:solidFill>
              </a:rPr>
              <a:t> </a:t>
            </a:r>
            <a:r>
              <a:rPr lang="en-IN" sz="3600" b="1" spc="5" dirty="0">
                <a:solidFill>
                  <a:srgbClr val="00B0F0"/>
                </a:solidFill>
              </a:rPr>
              <a:t>(IDS)</a:t>
            </a:r>
            <a:endParaRPr lang="en-I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Design &amp; Development of Intrusion Detection System (Thesis) | Network  Simulation Tools">
            <a:extLst>
              <a:ext uri="{FF2B5EF4-FFF2-40B4-BE49-F238E27FC236}">
                <a16:creationId xmlns:a16="http://schemas.microsoft.com/office/drawing/2014/main" id="{E23CB880-28D6-62B9-2B8F-6A78A8E4A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9" t="20317" r="2744" b="14439"/>
          <a:stretch/>
        </p:blipFill>
        <p:spPr bwMode="auto">
          <a:xfrm>
            <a:off x="1338471" y="1020417"/>
            <a:ext cx="9090990" cy="461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2190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A97F7-95FC-20F5-5220-0B49E92BAC9F}"/>
              </a:ext>
            </a:extLst>
          </p:cNvPr>
          <p:cNvSpPr txBox="1"/>
          <p:nvPr/>
        </p:nvSpPr>
        <p:spPr>
          <a:xfrm>
            <a:off x="2226365" y="0"/>
            <a:ext cx="73947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LAYERED SECURITY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3CB78-7038-7C72-F6AA-A6E2F5F1022F}"/>
              </a:ext>
            </a:extLst>
          </p:cNvPr>
          <p:cNvSpPr txBox="1"/>
          <p:nvPr/>
        </p:nvSpPr>
        <p:spPr>
          <a:xfrm>
            <a:off x="132521" y="871971"/>
            <a:ext cx="11701669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3365" marR="5715" indent="-241300" algn="just">
              <a:lnSpc>
                <a:spcPct val="90200"/>
              </a:lnSpc>
              <a:spcBef>
                <a:spcPts val="345"/>
              </a:spcBef>
              <a:buFont typeface="Times New Roman"/>
              <a:buChar char="▪"/>
              <a:tabLst>
                <a:tab pos="254000" algn="l"/>
              </a:tabLst>
            </a:pPr>
            <a:r>
              <a:rPr lang="en-GB" dirty="0"/>
              <a:t>consists of stacking security  solutions, one on top of the other, to protect a computer from  current, and zero day malware attacks.</a:t>
            </a:r>
          </a:p>
        </p:txBody>
      </p:sp>
      <p:pic>
        <p:nvPicPr>
          <p:cNvPr id="1026" name="Picture 2" descr="The Seven Layers of IT security">
            <a:extLst>
              <a:ext uri="{FF2B5EF4-FFF2-40B4-BE49-F238E27FC236}">
                <a16:creationId xmlns:a16="http://schemas.microsoft.com/office/drawing/2014/main" id="{C9279EE3-1440-4226-2204-8E7D3EC10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544" y="1462901"/>
            <a:ext cx="9525000" cy="5176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912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A97F7-95FC-20F5-5220-0B49E92BAC9F}"/>
              </a:ext>
            </a:extLst>
          </p:cNvPr>
          <p:cNvSpPr txBox="1"/>
          <p:nvPr/>
        </p:nvSpPr>
        <p:spPr>
          <a:xfrm>
            <a:off x="2226365" y="0"/>
            <a:ext cx="73947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B0F0"/>
                </a:solidFill>
              </a:rPr>
              <a:t>CONSUMER LAYERED SECURITY STRATEGY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B6830-768C-F704-547B-8AD51376997F}"/>
              </a:ext>
            </a:extLst>
          </p:cNvPr>
          <p:cNvSpPr txBox="1"/>
          <p:nvPr/>
        </p:nvSpPr>
        <p:spPr>
          <a:xfrm>
            <a:off x="258417" y="523220"/>
            <a:ext cx="11330608" cy="3036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12700" lvl="0" indent="-342900">
              <a:lnSpc>
                <a:spcPct val="102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/>
              <a:t>Backup  </a:t>
            </a:r>
            <a:endParaRPr lang="en-IN" dirty="0"/>
          </a:p>
          <a:p>
            <a:pPr marL="342900" marR="127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/>
              <a:t>Operating System and Application Patch Management</a:t>
            </a:r>
          </a:p>
          <a:p>
            <a:pPr marL="342900" marR="127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/>
              <a:t>Firewall </a:t>
            </a:r>
          </a:p>
          <a:p>
            <a:pPr marL="342900" marR="127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/>
              <a:t>Antimalware</a:t>
            </a:r>
          </a:p>
          <a:p>
            <a:pPr marL="342900" marR="127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/>
              <a:t>Antivirus</a:t>
            </a:r>
          </a:p>
          <a:p>
            <a:pPr marL="342900" marR="127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/>
              <a:t>System Isolation </a:t>
            </a:r>
          </a:p>
          <a:p>
            <a:pPr marL="342900" marR="127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/>
              <a:t>Zero Day Protection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9949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A97F7-95FC-20F5-5220-0B49E92BAC9F}"/>
              </a:ext>
            </a:extLst>
          </p:cNvPr>
          <p:cNvSpPr txBox="1"/>
          <p:nvPr/>
        </p:nvSpPr>
        <p:spPr>
          <a:xfrm>
            <a:off x="1842052" y="0"/>
            <a:ext cx="9183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LAYERED SECURITY STRATEGY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B6830-768C-F704-547B-8AD51376997F}"/>
              </a:ext>
            </a:extLst>
          </p:cNvPr>
          <p:cNvSpPr txBox="1"/>
          <p:nvPr/>
        </p:nvSpPr>
        <p:spPr>
          <a:xfrm>
            <a:off x="258417" y="523220"/>
            <a:ext cx="11330608" cy="263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95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of preventing to the enterprise from the failure and attack from the attacker and bugs to fulfill the desired result of any enterprise. </a:t>
            </a:r>
          </a:p>
          <a:p>
            <a:pPr algn="just">
              <a:lnSpc>
                <a:spcPct val="9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Physical Security 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2700" lvl="0" algn="just">
              <a:lnSpc>
                <a:spcPct val="101000"/>
              </a:lnSpc>
              <a:spcAft>
                <a:spcPts val="1000"/>
              </a:spcAft>
              <a:tabLst>
                <a:tab pos="2413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Network Security 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2700" lvl="0" algn="just">
              <a:lnSpc>
                <a:spcPct val="101000"/>
              </a:lnSpc>
              <a:spcAft>
                <a:spcPts val="1000"/>
              </a:spcAft>
              <a:tabLst>
                <a:tab pos="24130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Hardening 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25400" lvl="0" algn="just">
              <a:lnSpc>
                <a:spcPct val="102000"/>
              </a:lnSpc>
              <a:spcAft>
                <a:spcPts val="1000"/>
              </a:spcAft>
              <a:tabLst>
                <a:tab pos="2413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Application Security 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25400" lvl="0" algn="just">
              <a:lnSpc>
                <a:spcPct val="102000"/>
              </a:lnSpc>
              <a:spcAft>
                <a:spcPts val="1000"/>
              </a:spcAft>
              <a:tabLst>
                <a:tab pos="2413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Device Hardening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974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A97F7-95FC-20F5-5220-0B49E92BAC9F}"/>
              </a:ext>
            </a:extLst>
          </p:cNvPr>
          <p:cNvSpPr txBox="1"/>
          <p:nvPr/>
        </p:nvSpPr>
        <p:spPr>
          <a:xfrm>
            <a:off x="1842052" y="0"/>
            <a:ext cx="91837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SOCKETS LAYER-CERTIFICATION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CC274-2F54-AEAC-1150-58B1828337D5}"/>
              </a:ext>
            </a:extLst>
          </p:cNvPr>
          <p:cNvSpPr txBox="1"/>
          <p:nvPr/>
        </p:nvSpPr>
        <p:spPr>
          <a:xfrm>
            <a:off x="238538" y="664768"/>
            <a:ext cx="114631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protocol that provides privacy, authentication, and integrity to Internet communications.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 eventually evolved into Transport Layer Security (TLS).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Netscape in 1995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25597E-E71E-BD3D-11F6-4F7944F4F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983" y="1995901"/>
            <a:ext cx="9793356" cy="443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20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A97F7-95FC-20F5-5220-0B49E92BAC9F}"/>
              </a:ext>
            </a:extLst>
          </p:cNvPr>
          <p:cNvSpPr txBox="1"/>
          <p:nvPr/>
        </p:nvSpPr>
        <p:spPr>
          <a:xfrm>
            <a:off x="1842052" y="0"/>
            <a:ext cx="91837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SOCKETS LAYER-CERTIFICATION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A4499-3B6E-B976-2C69-79DAD52C9FE5}"/>
              </a:ext>
            </a:extLst>
          </p:cNvPr>
          <p:cNvSpPr txBox="1"/>
          <p:nvPr/>
        </p:nvSpPr>
        <p:spPr>
          <a:xfrm>
            <a:off x="106018" y="523220"/>
            <a:ext cx="12085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certificate that authenticates a website's identity and enables an encrypted connection.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security protocol that creates an encrypted link between a web server and a web browser.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4B294-95CD-4BC5-FAAD-001C65554F85}"/>
              </a:ext>
            </a:extLst>
          </p:cNvPr>
          <p:cNvSpPr txBox="1"/>
          <p:nvPr/>
        </p:nvSpPr>
        <p:spPr>
          <a:xfrm>
            <a:off x="106018" y="1397675"/>
            <a:ext cx="117281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marL="342900" indent="-342900" algn="just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browser or server attempts to connect to a website (i.e., a web server) secured with SSL.</a:t>
            </a:r>
          </a:p>
          <a:p>
            <a:pPr marL="342900" indent="-342900" algn="just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browser or server requests that the web server identifies itself.</a:t>
            </a:r>
          </a:p>
          <a:p>
            <a:pPr marL="342900" indent="-342900" algn="just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 server sends the browser or server a copy of its SSL certificate in response.</a:t>
            </a:r>
          </a:p>
          <a:p>
            <a:pPr marL="342900" indent="-342900" algn="just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browser or server checks to see whether it trusts the SSL certificate. If it does, it signals this to the webserver.</a:t>
            </a:r>
          </a:p>
          <a:p>
            <a:pPr marL="342900" indent="-342900" algn="just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 server then returns a digitally signed acknowledgment to start an SSL encrypted session.</a:t>
            </a:r>
          </a:p>
          <a:p>
            <a:pPr marL="342900" indent="-342900" algn="just" fontAlgn="base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data is shared between the browser or server and the webserver.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6FBDE-2C23-C868-39E9-67D7CA03E81D}"/>
              </a:ext>
            </a:extLst>
          </p:cNvPr>
          <p:cNvSpPr txBox="1"/>
          <p:nvPr/>
        </p:nvSpPr>
        <p:spPr>
          <a:xfrm>
            <a:off x="0" y="3835281"/>
            <a:ext cx="118341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of SSL CERTIFICATE: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credentials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transactions or bank account information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Personally identifiable information — such as full name, address, date of birth, or telephone number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documents and contracts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records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Proprietary information</a:t>
            </a:r>
          </a:p>
        </p:txBody>
      </p:sp>
    </p:spTree>
    <p:extLst>
      <p:ext uri="{BB962C8B-B14F-4D97-AF65-F5344CB8AC3E}">
        <p14:creationId xmlns:p14="http://schemas.microsoft.com/office/powerpoint/2010/main" val="4170659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A97F7-95FC-20F5-5220-0B49E92BAC9F}"/>
              </a:ext>
            </a:extLst>
          </p:cNvPr>
          <p:cNvSpPr txBox="1"/>
          <p:nvPr/>
        </p:nvSpPr>
        <p:spPr>
          <a:xfrm>
            <a:off x="1842052" y="0"/>
            <a:ext cx="9183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SSL CERTIFICATE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6A9E0C-40D0-B69D-82D1-C83DBB82FDAD}"/>
              </a:ext>
            </a:extLst>
          </p:cNvPr>
          <p:cNvSpPr txBox="1"/>
          <p:nvPr/>
        </p:nvSpPr>
        <p:spPr>
          <a:xfrm>
            <a:off x="119269" y="766105"/>
            <a:ext cx="1207273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Validation certificates (EV SSL):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highest-ranking and most expensive type of SSL certificate. </a:t>
            </a:r>
          </a:p>
          <a:p>
            <a:pPr algn="just"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It tends to be used for high profile websites which collect data and involve online payments</a:t>
            </a:r>
          </a:p>
          <a:p>
            <a:pPr algn="just" fontAlgn="base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Organization Validated certificates (OV SSL):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most expensive </a:t>
            </a:r>
          </a:p>
          <a:p>
            <a:pPr algn="just"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primary purpose is to encrypt the user's sensitive information during transactions. </a:t>
            </a:r>
          </a:p>
          <a:p>
            <a:pPr algn="just" fontAlgn="base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Domain Validated certificates (DV SSL):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least expensive and quickest to obtain </a:t>
            </a:r>
          </a:p>
          <a:p>
            <a:pPr algn="just"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used for blogs or informational websites – i.e., which do not involve data collection or online payments.</a:t>
            </a:r>
          </a:p>
          <a:p>
            <a:pPr algn="just"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Wildcard SSL certificates: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 base domain and unlimited sub-domains on a single certificate.</a:t>
            </a:r>
          </a:p>
          <a:p>
            <a:pPr algn="just" fontAlgn="base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Multi-Domain SSL certificates (MDC):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secure many domains and/or sub-domain names.</a:t>
            </a:r>
          </a:p>
          <a:p>
            <a:pPr algn="just" fontAlgn="base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Unified Communications Certificates (UCC):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to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multiple domain names to be secured on a single certificate.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C93631-C7B9-D680-DD84-6EB39C0A8856}"/>
              </a:ext>
            </a:extLst>
          </p:cNvPr>
          <p:cNvSpPr txBox="1"/>
          <p:nvPr/>
        </p:nvSpPr>
        <p:spPr>
          <a:xfrm>
            <a:off x="2517913" y="5630230"/>
            <a:ext cx="7515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 Span of SSL Certificate is No more than 27 Months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60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A97F7-95FC-20F5-5220-0B49E92BAC9F}"/>
              </a:ext>
            </a:extLst>
          </p:cNvPr>
          <p:cNvSpPr txBox="1"/>
          <p:nvPr/>
        </p:nvSpPr>
        <p:spPr>
          <a:xfrm>
            <a:off x="1842052" y="0"/>
            <a:ext cx="9183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 VALIDATION AND SSL-CERTIFICATION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882CC95A-82F7-A54F-D74B-97E1587740BC}"/>
              </a:ext>
            </a:extLst>
          </p:cNvPr>
          <p:cNvSpPr txBox="1"/>
          <p:nvPr/>
        </p:nvSpPr>
        <p:spPr>
          <a:xfrm>
            <a:off x="0" y="461665"/>
            <a:ext cx="11993217" cy="2209131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53365" marR="6350" indent="-241300" algn="just">
              <a:lnSpc>
                <a:spcPct val="91300"/>
              </a:lnSpc>
              <a:spcBef>
                <a:spcPts val="330"/>
              </a:spcBef>
              <a:buFont typeface="Times New Roman"/>
              <a:buChar char="▪"/>
              <a:tabLst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certificate is a data security or anti-fraud  measure recommended in 2006 by the Certificate Authority Browser  Forum.</a:t>
            </a:r>
          </a:p>
          <a:p>
            <a:pPr marL="253365" marR="6350" indent="-241300" algn="just">
              <a:lnSpc>
                <a:spcPts val="2090"/>
              </a:lnSpc>
              <a:spcBef>
                <a:spcPts val="1605"/>
              </a:spcBef>
              <a:buFont typeface="Times New Roman"/>
              <a:buChar char="▪"/>
              <a:tabLst>
                <a:tab pos="254000" algn="l"/>
              </a:tabLst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 Authority/Browser Forum (CAB Forum):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open voluntary  association of certification authorities and software developers.</a:t>
            </a:r>
          </a:p>
          <a:p>
            <a:pPr marL="253365" marR="6985" indent="-241300" algn="just">
              <a:lnSpc>
                <a:spcPts val="2090"/>
              </a:lnSpc>
              <a:spcBef>
                <a:spcPts val="1570"/>
              </a:spcBef>
              <a:buFont typeface="Times New Roman"/>
              <a:buChar char="▪"/>
              <a:tabLst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version of the Extended Validation SSL Certificate Guidelines was  ratified in June 2007.</a:t>
            </a:r>
          </a:p>
          <a:p>
            <a:pPr marL="253365" marR="5080" indent="-241300" algn="just">
              <a:lnSpc>
                <a:spcPct val="91200"/>
              </a:lnSpc>
              <a:spcBef>
                <a:spcPts val="1540"/>
              </a:spcBef>
              <a:buFont typeface="Times New Roman"/>
              <a:buChar char="▪"/>
              <a:tabLst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 identity verification process requires the applicant to prove  exclusive rights to use a domain, confirm its legal, operational and physical  existence, and prove the entity has authorized the assurance of the  Certificate.</a:t>
            </a:r>
          </a:p>
        </p:txBody>
      </p:sp>
    </p:spTree>
    <p:extLst>
      <p:ext uri="{BB962C8B-B14F-4D97-AF65-F5344CB8AC3E}">
        <p14:creationId xmlns:p14="http://schemas.microsoft.com/office/powerpoint/2010/main" val="1352006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A97F7-95FC-20F5-5220-0B49E92BAC9F}"/>
              </a:ext>
            </a:extLst>
          </p:cNvPr>
          <p:cNvSpPr txBox="1"/>
          <p:nvPr/>
        </p:nvSpPr>
        <p:spPr>
          <a:xfrm>
            <a:off x="1842052" y="0"/>
            <a:ext cx="9183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 VALIDATION AND SSL-CERTIFICATION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882CC95A-82F7-A54F-D74B-97E1587740BC}"/>
              </a:ext>
            </a:extLst>
          </p:cNvPr>
          <p:cNvSpPr txBox="1"/>
          <p:nvPr/>
        </p:nvSpPr>
        <p:spPr>
          <a:xfrm>
            <a:off x="0" y="461665"/>
            <a:ext cx="11993217" cy="1512658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53365" marR="6350" indent="-241300" algn="just">
              <a:lnSpc>
                <a:spcPct val="91300"/>
              </a:lnSpc>
              <a:spcBef>
                <a:spcPts val="330"/>
              </a:spcBef>
              <a:buFont typeface="Times New Roman"/>
              <a:buChar char="▪"/>
              <a:tabLst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certificate is a data security or anti-fraud  measure recommended in 2006 by the Certificate Authority Browser  Forum.</a:t>
            </a:r>
          </a:p>
          <a:p>
            <a:pPr marL="253365" marR="6350" indent="-241300" algn="just">
              <a:lnSpc>
                <a:spcPts val="2090"/>
              </a:lnSpc>
              <a:spcBef>
                <a:spcPts val="1605"/>
              </a:spcBef>
              <a:buFont typeface="Times New Roman"/>
              <a:buChar char="▪"/>
              <a:tabLst>
                <a:tab pos="254000" algn="l"/>
              </a:tabLst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 Authority/Browser Forum (CAB Forum):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open voluntary  association of certification authorities and software developers.</a:t>
            </a:r>
          </a:p>
          <a:p>
            <a:pPr marL="253365" marR="6985" indent="-241300" algn="just">
              <a:lnSpc>
                <a:spcPts val="2090"/>
              </a:lnSpc>
              <a:spcBef>
                <a:spcPts val="1570"/>
              </a:spcBef>
              <a:buFont typeface="Times New Roman"/>
              <a:buChar char="▪"/>
              <a:tabLst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version of the Extended Validation SSL Certificate Guidelines was  ratified in June 2007.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F4C0F9-4F6B-5A88-CB05-D912FCC97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322" y="2435988"/>
            <a:ext cx="8521148" cy="347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682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A97F7-95FC-20F5-5220-0B49E92BAC9F}"/>
              </a:ext>
            </a:extLst>
          </p:cNvPr>
          <p:cNvSpPr txBox="1"/>
          <p:nvPr/>
        </p:nvSpPr>
        <p:spPr>
          <a:xfrm>
            <a:off x="1842052" y="0"/>
            <a:ext cx="9183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 VALIDATION AND SSL-CERTIFICATION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B9CAA8-AA9B-6CD3-97F8-9DF11C4FB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8" y="1166191"/>
            <a:ext cx="11304104" cy="310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02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FC79C2-D52D-4218-D8AB-4CAD8819AB2D}"/>
              </a:ext>
            </a:extLst>
          </p:cNvPr>
          <p:cNvGrpSpPr/>
          <p:nvPr/>
        </p:nvGrpSpPr>
        <p:grpSpPr>
          <a:xfrm>
            <a:off x="490330" y="755287"/>
            <a:ext cx="10692765" cy="5537753"/>
            <a:chOff x="0" y="755287"/>
            <a:chExt cx="10692765" cy="5537753"/>
          </a:xfrm>
        </p:grpSpPr>
        <p:grpSp>
          <p:nvGrpSpPr>
            <p:cNvPr id="4" name="object 2">
              <a:extLst>
                <a:ext uri="{FF2B5EF4-FFF2-40B4-BE49-F238E27FC236}">
                  <a16:creationId xmlns:a16="http://schemas.microsoft.com/office/drawing/2014/main" id="{CB92A107-7B30-BCF3-AF1D-5899E6EE7A7D}"/>
                </a:ext>
              </a:extLst>
            </p:cNvPr>
            <p:cNvGrpSpPr/>
            <p:nvPr/>
          </p:nvGrpSpPr>
          <p:grpSpPr>
            <a:xfrm>
              <a:off x="0" y="1971230"/>
              <a:ext cx="10692765" cy="4321810"/>
              <a:chOff x="0" y="1971230"/>
              <a:chExt cx="10692765" cy="4321810"/>
            </a:xfrm>
          </p:grpSpPr>
          <p:pic>
            <p:nvPicPr>
              <p:cNvPr id="13" name="object 3">
                <a:extLst>
                  <a:ext uri="{FF2B5EF4-FFF2-40B4-BE49-F238E27FC236}">
                    <a16:creationId xmlns:a16="http://schemas.microsoft.com/office/drawing/2014/main" id="{EC6F7614-DEB5-88B6-2F37-5FA049C9C4D7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0" y="3073908"/>
                <a:ext cx="10692384" cy="3218688"/>
              </a:xfrm>
              <a:prstGeom prst="rect">
                <a:avLst/>
              </a:prstGeom>
            </p:spPr>
          </p:pic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15773E9D-27EF-03EE-6FC5-D7A4731E827A}"/>
                  </a:ext>
                </a:extLst>
              </p:cNvPr>
              <p:cNvSpPr/>
              <p:nvPr/>
            </p:nvSpPr>
            <p:spPr>
              <a:xfrm>
                <a:off x="527304" y="1976628"/>
                <a:ext cx="2158365" cy="1417320"/>
              </a:xfrm>
              <a:custGeom>
                <a:avLst/>
                <a:gdLst/>
                <a:ahLst/>
                <a:cxnLst/>
                <a:rect l="l" t="t" r="r" b="b"/>
                <a:pathLst>
                  <a:path w="2158365" h="1417320">
                    <a:moveTo>
                      <a:pt x="0" y="89915"/>
                    </a:moveTo>
                    <a:lnTo>
                      <a:pt x="7215" y="55292"/>
                    </a:lnTo>
                    <a:lnTo>
                      <a:pt x="26860" y="26669"/>
                    </a:lnTo>
                    <a:lnTo>
                      <a:pt x="55935" y="7191"/>
                    </a:lnTo>
                    <a:lnTo>
                      <a:pt x="91439" y="0"/>
                    </a:lnTo>
                    <a:lnTo>
                      <a:pt x="943356" y="0"/>
                    </a:lnTo>
                    <a:lnTo>
                      <a:pt x="1347216" y="0"/>
                    </a:lnTo>
                    <a:lnTo>
                      <a:pt x="1527048" y="0"/>
                    </a:lnTo>
                    <a:lnTo>
                      <a:pt x="1561671" y="7191"/>
                    </a:lnTo>
                    <a:lnTo>
                      <a:pt x="1590293" y="26669"/>
                    </a:lnTo>
                    <a:lnTo>
                      <a:pt x="1609772" y="55292"/>
                    </a:lnTo>
                    <a:lnTo>
                      <a:pt x="1616963" y="89915"/>
                    </a:lnTo>
                    <a:lnTo>
                      <a:pt x="1616963" y="316991"/>
                    </a:lnTo>
                    <a:lnTo>
                      <a:pt x="1616963" y="454152"/>
                    </a:lnTo>
                    <a:lnTo>
                      <a:pt x="1609772" y="489418"/>
                    </a:lnTo>
                    <a:lnTo>
                      <a:pt x="1590293" y="517969"/>
                    </a:lnTo>
                    <a:lnTo>
                      <a:pt x="1561671" y="537090"/>
                    </a:lnTo>
                    <a:lnTo>
                      <a:pt x="1527048" y="544067"/>
                    </a:lnTo>
                    <a:lnTo>
                      <a:pt x="1347216" y="544067"/>
                    </a:lnTo>
                    <a:lnTo>
                      <a:pt x="2157983" y="1417320"/>
                    </a:lnTo>
                    <a:lnTo>
                      <a:pt x="943356" y="544067"/>
                    </a:lnTo>
                    <a:lnTo>
                      <a:pt x="91439" y="544067"/>
                    </a:lnTo>
                    <a:lnTo>
                      <a:pt x="55935" y="537090"/>
                    </a:lnTo>
                    <a:lnTo>
                      <a:pt x="26860" y="517969"/>
                    </a:lnTo>
                    <a:lnTo>
                      <a:pt x="7215" y="489418"/>
                    </a:lnTo>
                    <a:lnTo>
                      <a:pt x="0" y="454152"/>
                    </a:lnTo>
                    <a:lnTo>
                      <a:pt x="0" y="316991"/>
                    </a:lnTo>
                    <a:lnTo>
                      <a:pt x="0" y="89915"/>
                    </a:lnTo>
                    <a:close/>
                  </a:path>
                </a:pathLst>
              </a:custGeom>
              <a:ln w="10668">
                <a:solidFill>
                  <a:srgbClr val="FFFF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3C3CA5F-2F41-CB31-C3CD-B26E65EB27D9}"/>
                </a:ext>
              </a:extLst>
            </p:cNvPr>
            <p:cNvSpPr txBox="1"/>
            <p:nvPr/>
          </p:nvSpPr>
          <p:spPr>
            <a:xfrm>
              <a:off x="622824" y="1982179"/>
              <a:ext cx="1261745" cy="567528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02000"/>
                </a:lnSpc>
                <a:spcBef>
                  <a:spcPts val="95"/>
                </a:spcBef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Green address  bar</a:t>
              </a: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EED699B-D897-FAF1-AC51-3ADE734370FC}"/>
                </a:ext>
              </a:extLst>
            </p:cNvPr>
            <p:cNvSpPr/>
            <p:nvPr/>
          </p:nvSpPr>
          <p:spPr>
            <a:xfrm>
              <a:off x="3810000" y="1357883"/>
              <a:ext cx="2121535" cy="1931035"/>
            </a:xfrm>
            <a:custGeom>
              <a:avLst/>
              <a:gdLst/>
              <a:ahLst/>
              <a:cxnLst/>
              <a:rect l="l" t="t" r="r" b="b"/>
              <a:pathLst>
                <a:path w="2121535" h="1931035">
                  <a:moveTo>
                    <a:pt x="0" y="103632"/>
                  </a:moveTo>
                  <a:lnTo>
                    <a:pt x="8024" y="63650"/>
                  </a:lnTo>
                  <a:lnTo>
                    <a:pt x="29908" y="30670"/>
                  </a:lnTo>
                  <a:lnTo>
                    <a:pt x="62364" y="8262"/>
                  </a:lnTo>
                  <a:lnTo>
                    <a:pt x="102108" y="0"/>
                  </a:lnTo>
                  <a:lnTo>
                    <a:pt x="990600" y="0"/>
                  </a:lnTo>
                  <a:lnTo>
                    <a:pt x="1415795" y="0"/>
                  </a:lnTo>
                  <a:lnTo>
                    <a:pt x="1597151" y="0"/>
                  </a:lnTo>
                  <a:lnTo>
                    <a:pt x="1636895" y="8262"/>
                  </a:lnTo>
                  <a:lnTo>
                    <a:pt x="1669351" y="30670"/>
                  </a:lnTo>
                  <a:lnTo>
                    <a:pt x="1691235" y="63650"/>
                  </a:lnTo>
                  <a:lnTo>
                    <a:pt x="1699259" y="103632"/>
                  </a:lnTo>
                  <a:lnTo>
                    <a:pt x="1699259" y="361188"/>
                  </a:lnTo>
                  <a:lnTo>
                    <a:pt x="1699259" y="515112"/>
                  </a:lnTo>
                  <a:lnTo>
                    <a:pt x="1691235" y="555736"/>
                  </a:lnTo>
                  <a:lnTo>
                    <a:pt x="1669351" y="588645"/>
                  </a:lnTo>
                  <a:lnTo>
                    <a:pt x="1636895" y="610695"/>
                  </a:lnTo>
                  <a:lnTo>
                    <a:pt x="1597151" y="618744"/>
                  </a:lnTo>
                  <a:lnTo>
                    <a:pt x="1415795" y="618744"/>
                  </a:lnTo>
                  <a:lnTo>
                    <a:pt x="2121408" y="1930907"/>
                  </a:lnTo>
                  <a:lnTo>
                    <a:pt x="990600" y="618744"/>
                  </a:lnTo>
                  <a:lnTo>
                    <a:pt x="102108" y="618744"/>
                  </a:lnTo>
                  <a:lnTo>
                    <a:pt x="62364" y="610695"/>
                  </a:lnTo>
                  <a:lnTo>
                    <a:pt x="29908" y="588645"/>
                  </a:lnTo>
                  <a:lnTo>
                    <a:pt x="8024" y="555736"/>
                  </a:lnTo>
                  <a:lnTo>
                    <a:pt x="0" y="515112"/>
                  </a:lnTo>
                  <a:lnTo>
                    <a:pt x="0" y="361188"/>
                  </a:lnTo>
                  <a:lnTo>
                    <a:pt x="0" y="103632"/>
                  </a:lnTo>
                  <a:close/>
                </a:path>
              </a:pathLst>
            </a:custGeom>
            <a:ln w="10668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B13CB96-ECC7-F548-1CB1-F9596D298134}"/>
                </a:ext>
              </a:extLst>
            </p:cNvPr>
            <p:cNvSpPr txBox="1"/>
            <p:nvPr/>
          </p:nvSpPr>
          <p:spPr>
            <a:xfrm>
              <a:off x="3907023" y="1520417"/>
              <a:ext cx="1367342" cy="29367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Padlock</a:t>
              </a:r>
            </a:p>
          </p:txBody>
        </p:sp>
        <p:grpSp>
          <p:nvGrpSpPr>
            <p:cNvPr id="8" name="object 8">
              <a:extLst>
                <a:ext uri="{FF2B5EF4-FFF2-40B4-BE49-F238E27FC236}">
                  <a16:creationId xmlns:a16="http://schemas.microsoft.com/office/drawing/2014/main" id="{47F61F6C-9A28-014B-66CF-6B24F546C2EA}"/>
                </a:ext>
              </a:extLst>
            </p:cNvPr>
            <p:cNvGrpSpPr/>
            <p:nvPr/>
          </p:nvGrpSpPr>
          <p:grpSpPr>
            <a:xfrm>
              <a:off x="5808726" y="767333"/>
              <a:ext cx="3126105" cy="2651760"/>
              <a:chOff x="5808726" y="767333"/>
              <a:chExt cx="3126105" cy="2651760"/>
            </a:xfrm>
          </p:grpSpPr>
          <p:pic>
            <p:nvPicPr>
              <p:cNvPr id="11" name="object 9">
                <a:extLst>
                  <a:ext uri="{FF2B5EF4-FFF2-40B4-BE49-F238E27FC236}">
                    <a16:creationId xmlns:a16="http://schemas.microsoft.com/office/drawing/2014/main" id="{2AD980E5-4309-9A0E-12CC-29B061D90BC8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808726" y="767333"/>
                <a:ext cx="197377" cy="219456"/>
              </a:xfrm>
              <a:prstGeom prst="rect">
                <a:avLst/>
              </a:prstGeom>
            </p:spPr>
          </p:pic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FB8B78DC-C1E3-F115-FABD-65E0EE50E4DD}"/>
                  </a:ext>
                </a:extLst>
              </p:cNvPr>
              <p:cNvSpPr/>
              <p:nvPr/>
            </p:nvSpPr>
            <p:spPr>
              <a:xfrm>
                <a:off x="5814060" y="772667"/>
                <a:ext cx="3115310" cy="2641600"/>
              </a:xfrm>
              <a:custGeom>
                <a:avLst/>
                <a:gdLst/>
                <a:ahLst/>
                <a:cxnLst/>
                <a:rect l="l" t="t" r="r" b="b"/>
                <a:pathLst>
                  <a:path w="3115309" h="2641600">
                    <a:moveTo>
                      <a:pt x="2929823" y="0"/>
                    </a:moveTo>
                    <a:lnTo>
                      <a:pt x="2996534" y="18422"/>
                    </a:lnTo>
                    <a:lnTo>
                      <a:pt x="3035861" y="43379"/>
                    </a:lnTo>
                    <a:lnTo>
                      <a:pt x="3068629" y="76147"/>
                    </a:lnTo>
                    <a:lnTo>
                      <a:pt x="3093586" y="115473"/>
                    </a:lnTo>
                    <a:lnTo>
                      <a:pt x="3109479" y="160105"/>
                    </a:lnTo>
                    <a:lnTo>
                      <a:pt x="3115056" y="208788"/>
                    </a:lnTo>
                    <a:lnTo>
                      <a:pt x="3115056" y="740664"/>
                    </a:lnTo>
                    <a:lnTo>
                      <a:pt x="3115056" y="1059180"/>
                    </a:lnTo>
                    <a:lnTo>
                      <a:pt x="3109479" y="1107864"/>
                    </a:lnTo>
                    <a:lnTo>
                      <a:pt x="3093586" y="1152495"/>
                    </a:lnTo>
                    <a:lnTo>
                      <a:pt x="3068629" y="1191822"/>
                    </a:lnTo>
                    <a:lnTo>
                      <a:pt x="3035861" y="1224590"/>
                    </a:lnTo>
                    <a:lnTo>
                      <a:pt x="2996534" y="1249547"/>
                    </a:lnTo>
                    <a:lnTo>
                      <a:pt x="2951903" y="1265440"/>
                    </a:lnTo>
                    <a:lnTo>
                      <a:pt x="2903219" y="1271016"/>
                    </a:lnTo>
                    <a:lnTo>
                      <a:pt x="1298448" y="1271016"/>
                    </a:lnTo>
                    <a:lnTo>
                      <a:pt x="733043" y="2641092"/>
                    </a:lnTo>
                    <a:lnTo>
                      <a:pt x="519684" y="1271016"/>
                    </a:lnTo>
                    <a:lnTo>
                      <a:pt x="213359" y="1271016"/>
                    </a:lnTo>
                    <a:lnTo>
                      <a:pt x="164591" y="1265440"/>
                    </a:lnTo>
                    <a:lnTo>
                      <a:pt x="119742" y="1249547"/>
                    </a:lnTo>
                    <a:lnTo>
                      <a:pt x="80118" y="1224590"/>
                    </a:lnTo>
                    <a:lnTo>
                      <a:pt x="47026" y="1191822"/>
                    </a:lnTo>
                    <a:lnTo>
                      <a:pt x="21771" y="1152495"/>
                    </a:lnTo>
                    <a:lnTo>
                      <a:pt x="5660" y="1107864"/>
                    </a:lnTo>
                    <a:lnTo>
                      <a:pt x="0" y="1059180"/>
                    </a:lnTo>
                    <a:lnTo>
                      <a:pt x="0" y="740664"/>
                    </a:lnTo>
                    <a:lnTo>
                      <a:pt x="0" y="208788"/>
                    </a:lnTo>
                  </a:path>
                </a:pathLst>
              </a:custGeom>
              <a:ln w="10668">
                <a:solidFill>
                  <a:srgbClr val="FFFF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B8A26093-4882-699B-DED7-630071536E08}"/>
                </a:ext>
              </a:extLst>
            </p:cNvPr>
            <p:cNvSpPr txBox="1"/>
            <p:nvPr/>
          </p:nvSpPr>
          <p:spPr>
            <a:xfrm>
              <a:off x="6028558" y="755287"/>
              <a:ext cx="2797390" cy="56073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87350" marR="5080" indent="-375285">
                <a:lnSpc>
                  <a:spcPct val="101899"/>
                </a:lnSpc>
                <a:spcBef>
                  <a:spcPts val="95"/>
                </a:spcBef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Assumed name, registered  name and country</a:t>
              </a:r>
            </a:p>
          </p:txBody>
        </p:sp>
        <p:sp>
          <p:nvSpPr>
            <p:cNvPr id="10" name="object 12">
              <a:extLst>
                <a:ext uri="{FF2B5EF4-FFF2-40B4-BE49-F238E27FC236}">
                  <a16:creationId xmlns:a16="http://schemas.microsoft.com/office/drawing/2014/main" id="{32D5A038-A022-8E70-732B-3C76738F4751}"/>
                </a:ext>
              </a:extLst>
            </p:cNvPr>
            <p:cNvSpPr txBox="1"/>
            <p:nvPr/>
          </p:nvSpPr>
          <p:spPr>
            <a:xfrm>
              <a:off x="5931535" y="1350565"/>
              <a:ext cx="2894413" cy="55784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 marR="5080" indent="51435">
                <a:lnSpc>
                  <a:spcPct val="101299"/>
                </a:lnSpc>
                <a:spcBef>
                  <a:spcPts val="110"/>
                </a:spcBef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alternating with  the issuer’s 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1089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8DDC49-4D8D-9A4A-0F89-B4D3E1B338B0}"/>
              </a:ext>
            </a:extLst>
          </p:cNvPr>
          <p:cNvSpPr txBox="1"/>
          <p:nvPr/>
        </p:nvSpPr>
        <p:spPr>
          <a:xfrm>
            <a:off x="3657600" y="0"/>
            <a:ext cx="5741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 ACCESS AUTHENTICATION</a:t>
            </a: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B0742D6F-2B59-FFC1-7957-A8CBE3FDD208}"/>
              </a:ext>
            </a:extLst>
          </p:cNvPr>
          <p:cNvSpPr txBox="1"/>
          <p:nvPr/>
        </p:nvSpPr>
        <p:spPr>
          <a:xfrm>
            <a:off x="-1" y="461665"/>
            <a:ext cx="12046227" cy="8242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53365" marR="5080" indent="-241300" algn="just">
              <a:lnSpc>
                <a:spcPts val="2270"/>
              </a:lnSpc>
              <a:spcBef>
                <a:spcPts val="380"/>
              </a:spcBef>
              <a:buFont typeface="Times New Roman"/>
              <a:buChar char="▪"/>
              <a:tabLst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whereby computer  users can securely communicate with a network.</a:t>
            </a:r>
          </a:p>
          <a:p>
            <a:pPr marL="253365" marR="6985" indent="-241300" algn="just">
              <a:lnSpc>
                <a:spcPts val="2270"/>
              </a:lnSpc>
              <a:spcBef>
                <a:spcPts val="1620"/>
              </a:spcBef>
              <a:buFont typeface="Times New Roman"/>
              <a:buChar char="▪"/>
              <a:tabLst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access authentication protocols make it safer to conduct  business online as well as use ATMs.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80D7E8-9879-DE0C-6B4F-BC73900DCE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874" b="40536"/>
          <a:stretch/>
        </p:blipFill>
        <p:spPr>
          <a:xfrm>
            <a:off x="596347" y="2315818"/>
            <a:ext cx="10853530" cy="266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59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8DDC49-4D8D-9A4A-0F89-B4D3E1B338B0}"/>
              </a:ext>
            </a:extLst>
          </p:cNvPr>
          <p:cNvSpPr txBox="1"/>
          <p:nvPr/>
        </p:nvSpPr>
        <p:spPr>
          <a:xfrm>
            <a:off x="1669774" y="0"/>
            <a:ext cx="8551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CONTROL AND POLICY BASED ENCRYPTION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18B792F-0D99-8421-5FE4-CD5C6AECD4FC}"/>
              </a:ext>
            </a:extLst>
          </p:cNvPr>
          <p:cNvSpPr txBox="1"/>
          <p:nvPr/>
        </p:nvSpPr>
        <p:spPr>
          <a:xfrm>
            <a:off x="0" y="568882"/>
            <a:ext cx="12192000" cy="2022092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53365" marR="6985" indent="-241300" algn="just">
              <a:lnSpc>
                <a:spcPct val="90200"/>
              </a:lnSpc>
              <a:spcBef>
                <a:spcPts val="345"/>
              </a:spcBef>
              <a:buFont typeface="Times New Roman"/>
              <a:buChar char="▪"/>
              <a:tabLst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Policy Based Encryption gateway automatically encrypts specific  emails based on company-defined policies – that is, a set of rules  designed to analyze all email, and encrypt any email that matches  the pre-defined conditions.</a:t>
            </a:r>
          </a:p>
          <a:p>
            <a:pPr marL="253365" marR="7620" indent="-241300" algn="just">
              <a:lnSpc>
                <a:spcPct val="90200"/>
              </a:lnSpc>
              <a:spcBef>
                <a:spcPts val="1580"/>
              </a:spcBef>
              <a:buFont typeface="Times New Roman"/>
              <a:buChar char="▪"/>
              <a:tabLst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 of policy-based encryption is a promising paradigm for  trust establishment and authorization in large-scale open  environments like the Internet and Mobile Networks.</a:t>
            </a:r>
          </a:p>
          <a:p>
            <a:pPr marL="253365" marR="5080" indent="-241300" algn="just">
              <a:lnSpc>
                <a:spcPts val="2270"/>
              </a:lnSpc>
              <a:spcBef>
                <a:spcPts val="1614"/>
              </a:spcBef>
              <a:buFont typeface="Times New Roman"/>
              <a:buChar char="▪"/>
              <a:tabLst>
                <a:tab pos="25400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policy-based encryption which allow to encrypt a message  according to a policy so that only entities fulfilling the policy are able  to decrypt the message.</a:t>
            </a:r>
          </a:p>
        </p:txBody>
      </p:sp>
    </p:spTree>
    <p:extLst>
      <p:ext uri="{BB962C8B-B14F-4D97-AF65-F5344CB8AC3E}">
        <p14:creationId xmlns:p14="http://schemas.microsoft.com/office/powerpoint/2010/main" val="2266027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8DDC49-4D8D-9A4A-0F89-B4D3E1B338B0}"/>
              </a:ext>
            </a:extLst>
          </p:cNvPr>
          <p:cNvSpPr txBox="1"/>
          <p:nvPr/>
        </p:nvSpPr>
        <p:spPr>
          <a:xfrm>
            <a:off x="2156346" y="0"/>
            <a:ext cx="8926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SECURITY IN E-COMMERCE TRANSACTION</a:t>
            </a:r>
          </a:p>
        </p:txBody>
      </p:sp>
      <p:grpSp>
        <p:nvGrpSpPr>
          <p:cNvPr id="2" name="object 47">
            <a:extLst>
              <a:ext uri="{FF2B5EF4-FFF2-40B4-BE49-F238E27FC236}">
                <a16:creationId xmlns:a16="http://schemas.microsoft.com/office/drawing/2014/main" id="{CD33DE24-3829-2A7D-26C9-9C72B822D89A}"/>
              </a:ext>
            </a:extLst>
          </p:cNvPr>
          <p:cNvGrpSpPr/>
          <p:nvPr/>
        </p:nvGrpSpPr>
        <p:grpSpPr>
          <a:xfrm>
            <a:off x="702365" y="461665"/>
            <a:ext cx="10787270" cy="6296944"/>
            <a:chOff x="2240279" y="2154531"/>
            <a:chExt cx="6315710" cy="4234180"/>
          </a:xfrm>
        </p:grpSpPr>
        <p:sp>
          <p:nvSpPr>
            <p:cNvPr id="4" name="object 48">
              <a:extLst>
                <a:ext uri="{FF2B5EF4-FFF2-40B4-BE49-F238E27FC236}">
                  <a16:creationId xmlns:a16="http://schemas.microsoft.com/office/drawing/2014/main" id="{07FCC529-E05E-9D32-80F8-56EB094FB3DB}"/>
                </a:ext>
              </a:extLst>
            </p:cNvPr>
            <p:cNvSpPr/>
            <p:nvPr/>
          </p:nvSpPr>
          <p:spPr>
            <a:xfrm>
              <a:off x="5038344" y="2154531"/>
              <a:ext cx="48895" cy="2540"/>
            </a:xfrm>
            <a:custGeom>
              <a:avLst/>
              <a:gdLst/>
              <a:ahLst/>
              <a:cxnLst/>
              <a:rect l="l" t="t" r="r" b="b"/>
              <a:pathLst>
                <a:path w="48895" h="2539">
                  <a:moveTo>
                    <a:pt x="0" y="1928"/>
                  </a:moveTo>
                  <a:lnTo>
                    <a:pt x="1619" y="0"/>
                  </a:lnTo>
                  <a:lnTo>
                    <a:pt x="10668" y="214"/>
                  </a:lnTo>
                  <a:lnTo>
                    <a:pt x="26574" y="1285"/>
                  </a:lnTo>
                  <a:lnTo>
                    <a:pt x="28272" y="1335"/>
                  </a:lnTo>
                  <a:lnTo>
                    <a:pt x="24384" y="1357"/>
                  </a:lnTo>
                  <a:lnTo>
                    <a:pt x="11906" y="1714"/>
                  </a:lnTo>
                  <a:lnTo>
                    <a:pt x="0" y="1928"/>
                  </a:lnTo>
                  <a:close/>
                </a:path>
                <a:path w="48895" h="2539">
                  <a:moveTo>
                    <a:pt x="48768" y="1928"/>
                  </a:moveTo>
                  <a:lnTo>
                    <a:pt x="28272" y="1335"/>
                  </a:lnTo>
                  <a:lnTo>
                    <a:pt x="36861" y="1285"/>
                  </a:lnTo>
                  <a:lnTo>
                    <a:pt x="48768" y="1928"/>
                  </a:lnTo>
                  <a:close/>
                </a:path>
              </a:pathLst>
            </a:custGeom>
            <a:solidFill>
              <a:srgbClr val="56B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49">
              <a:extLst>
                <a:ext uri="{FF2B5EF4-FFF2-40B4-BE49-F238E27FC236}">
                  <a16:creationId xmlns:a16="http://schemas.microsoft.com/office/drawing/2014/main" id="{2D2189A0-BB99-EE21-BE00-CA60D3607AF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0279" y="2176271"/>
              <a:ext cx="6315455" cy="42123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3512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8DDC49-4D8D-9A4A-0F89-B4D3E1B338B0}"/>
              </a:ext>
            </a:extLst>
          </p:cNvPr>
          <p:cNvSpPr txBox="1"/>
          <p:nvPr/>
        </p:nvSpPr>
        <p:spPr>
          <a:xfrm>
            <a:off x="2156346" y="0"/>
            <a:ext cx="8926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SECURITY IN E-COMMERCE TRANSACTION</a:t>
            </a:r>
          </a:p>
        </p:txBody>
      </p:sp>
      <p:pic>
        <p:nvPicPr>
          <p:cNvPr id="2050" name="Picture 2" descr="What are the various security mechanisms used to secure online transaction  processes? - Quora">
            <a:extLst>
              <a:ext uri="{FF2B5EF4-FFF2-40B4-BE49-F238E27FC236}">
                <a16:creationId xmlns:a16="http://schemas.microsoft.com/office/drawing/2014/main" id="{B37C83BC-57A6-65C0-D8A0-F5E9A96C2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689114"/>
            <a:ext cx="11410122" cy="5830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238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4ABD92A-3626-FC20-C493-AAC83D42A598}"/>
              </a:ext>
            </a:extLst>
          </p:cNvPr>
          <p:cNvSpPr txBox="1"/>
          <p:nvPr/>
        </p:nvSpPr>
        <p:spPr>
          <a:xfrm>
            <a:off x="1216701" y="3075057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UNIT 2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108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1320</Words>
  <Application>Microsoft Office PowerPoint</Application>
  <PresentationFormat>Widescreen</PresentationFormat>
  <Paragraphs>155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Corbel</vt:lpstr>
      <vt:lpstr>Times New Roman</vt:lpstr>
      <vt:lpstr>Wingdings</vt:lpstr>
      <vt:lpstr>Office Theme</vt:lpstr>
      <vt:lpstr>Unit 2 CONTROL AND AUDIT IN IS</vt:lpstr>
      <vt:lpstr>OUTLINES</vt:lpstr>
      <vt:lpstr>Control of Information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Harandra Bikram Shah</cp:lastModifiedBy>
  <cp:revision>191</cp:revision>
  <dcterms:created xsi:type="dcterms:W3CDTF">2023-09-29T16:55:15Z</dcterms:created>
  <dcterms:modified xsi:type="dcterms:W3CDTF">2024-05-05T04:34:11Z</dcterms:modified>
</cp:coreProperties>
</file>