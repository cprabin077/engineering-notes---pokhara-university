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81" r:id="rId13"/>
    <p:sldId id="272" r:id="rId14"/>
    <p:sldId id="273" r:id="rId15"/>
    <p:sldId id="280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5945-12C4-7E6F-7782-F11916F57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AAEBE-4E66-633A-8170-E10310CB1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FDE7-8154-F82B-0089-6472B0EF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92BF-23A2-384D-10D3-9A451D72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6631-8F46-A7D4-E21A-0F252265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7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59F7-B2CE-F49B-D587-F4CDBF15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B379-1680-B623-1BA6-4D543151C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0DE3-2A81-F076-C2C0-70E9B876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8104-5C27-B924-FD16-7230E60B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93FE2-AE6A-CD4B-014C-192B9C7C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07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0E0F-4C89-8E84-ADE4-99C8EA10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E2E78-0D08-DC19-FE29-C010780A7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F2D6-069E-B304-19FD-E947C617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BA2D-9240-DFA9-42EB-AA55E9B4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FC53-49D1-8732-1178-991F4C21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9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CEC7-50AF-FFEE-3452-D5212A31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C215-3D89-8DA8-B82B-189C97E78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EA9AC-A21C-9300-D2EB-907C36D2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32695-931F-6648-B740-6027434B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3825-35AF-E737-11E7-509E908B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86D88-97B5-009A-DA1E-123505A8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2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A90-DB78-B5DF-753D-0147F52F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E5A9-7D03-5D3C-465A-E6994957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CD116-01F2-25CB-458E-91666BE43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5A8F7-4EA2-6E11-537E-65631ED9B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92E5A-6AEE-AE1E-BF52-80FC9F56F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FACBF-0DF0-64E7-756C-23ABF5D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6109C-3381-B370-5EB0-5DC011BD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27FFA-CD86-610B-1544-1CD2D3AA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4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3A71-1576-54CA-FE3F-3A88B950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87ECA-B5D9-7C36-CA61-8353BB02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F87E-0782-510D-21FF-C6C68C39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A599B-8D71-4457-6C8D-94A9159D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2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84C28-429C-DC49-7A76-A0ED8090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2C456-0D60-338C-8178-25CD01CC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1979F-3078-C4A3-ACC4-792CEBB8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3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6030-7A4C-307F-FAA2-E39B1AFF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B2A-9FD9-4E69-BFDB-250F97FC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E8F6-23DB-FED4-F988-0994989AF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86A4B-FB62-50C3-0B4E-E2000151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110F-6A16-E7D8-C860-835FAE5D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5FE01-BAE2-E472-7090-FE4209C5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7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364-5748-12C9-50DF-3F934276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6C88F-9A12-5F35-F63F-A9287E81C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77274-AF09-33FD-7A2F-75E7D05ED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C4D70-3575-3722-8DC0-1EE451F3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7945-0801-BD9C-E5F7-19A768C7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1CBB-C75C-42AA-AE3F-4C6B5FD5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9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2546-7511-B091-7294-75457672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A3A13-40F3-A358-5B5A-5E8C61AC7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E09C-3933-1E38-E8C0-190AAD28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50A6-CA3D-2F20-822C-BD6FBF46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6A44-0171-6AD0-0912-53BCC442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8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CDFE9-B82A-3D62-73E9-852695EE2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27444-C066-778F-305D-B284B87B9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8542-2F92-87A8-984D-2AC74177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3DF1-0F84-425E-848B-B6126EF7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683A-096C-2B9C-6320-9C2946F6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8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D31CB-85E3-A58E-43F9-29A581E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5C37D-8115-C939-3055-A27C48B5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6AB7-4133-96E2-B54C-FF964FF78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25C0-8DD8-65E1-A144-6742323E1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843E-2D00-E5E6-1E4E-A27797761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1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423"/>
            <a:ext cx="12084148" cy="1649280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  <a:b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2AA2C-C26D-A64E-71BA-D927C0363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 Computer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8532B-0872-8FB0-B455-D14F6275D037}"/>
              </a:ext>
            </a:extLst>
          </p:cNvPr>
          <p:cNvSpPr txBox="1"/>
          <p:nvPr/>
        </p:nvSpPr>
        <p:spPr>
          <a:xfrm>
            <a:off x="9621078" y="2345635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Hrs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6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2AA2C-C26D-A64E-71BA-D927C0363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79095"/>
            <a:ext cx="12192000" cy="3033879"/>
          </a:xfrm>
        </p:spPr>
        <p:txBody>
          <a:bodyPr>
            <a:normAutofit/>
          </a:bodyPr>
          <a:lstStyle/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1.1.Classification and Evolution of IS</a:t>
            </a:r>
          </a:p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1.2.IS in Functional Areas</a:t>
            </a:r>
          </a:p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Information System Architecture</a:t>
            </a:r>
          </a:p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 Qualities of Information System</a:t>
            </a:r>
          </a:p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Managing Information System Resources</a:t>
            </a:r>
          </a:p>
          <a:p>
            <a:pPr marL="203200" algn="l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1.6. Balanced Scorecard-Case Studies</a:t>
            </a:r>
          </a:p>
          <a:p>
            <a:pPr marL="203200" algn="l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algn="l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algn="l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2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C64CD1-2D16-F8B4-8BD9-044E669E1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017"/>
            <a:ext cx="9144000" cy="570440"/>
          </a:xfrm>
        </p:spPr>
        <p:txBody>
          <a:bodyPr>
            <a:normAutofit fontScale="90000"/>
          </a:bodyPr>
          <a:lstStyle/>
          <a:p>
            <a:r>
              <a:rPr lang="en-GB" sz="4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IS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2C919-94EB-375F-D706-D4DD7867581C}"/>
              </a:ext>
            </a:extLst>
          </p:cNvPr>
          <p:cNvSpPr txBox="1"/>
          <p:nvPr/>
        </p:nvSpPr>
        <p:spPr>
          <a:xfrm>
            <a:off x="0" y="676457"/>
            <a:ext cx="1219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 is on organized combination of people, hardware, software, communication networks and data resources that collects, stores, and process data as well as delivers information, knowledge in an organization.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information system is any organized system for the collection, organization, storage and communication of information. 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categories in Information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Information: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Tactical Information: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Information: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system is taken from Greek word "Systema" which means an "organized collection".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57133-189B-4A7A-FA4E-5D9DBC26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535" y="1784280"/>
            <a:ext cx="43434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9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37AD22-19DD-C00C-0B92-7A698D29F5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702365"/>
            <a:ext cx="9475304" cy="430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2504661" y="5009322"/>
            <a:ext cx="6096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Fig: A complete System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27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2186608" y="0"/>
            <a:ext cx="7421217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COMPONENTS/RESOURCES OF IS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FC0BDD-E5B2-56F4-949D-8DC42762F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" t="3926" b="4907"/>
          <a:stretch/>
        </p:blipFill>
        <p:spPr bwMode="auto">
          <a:xfrm>
            <a:off x="2186608" y="490199"/>
            <a:ext cx="8507896" cy="636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49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7421217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TYPES </a:t>
            </a: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OF IS</a:t>
            </a:r>
            <a:endParaRPr lang="en-IN" sz="20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9A7B9-90F2-AF5D-D4CE-F0451AC645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0991" y="506896"/>
            <a:ext cx="9766852" cy="584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727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742121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Evolution/History of</a:t>
            </a:r>
            <a:r>
              <a:rPr lang="en-US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IS</a:t>
            </a:r>
            <a:endParaRPr lang="en-IN" sz="16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ECFCE5-F37F-F51E-1CAD-35E8EA538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338505"/>
              </p:ext>
            </p:extLst>
          </p:nvPr>
        </p:nvGraphicFramePr>
        <p:xfrm>
          <a:off x="92764" y="364180"/>
          <a:ext cx="12019721" cy="6238129"/>
        </p:xfrm>
        <a:graphic>
          <a:graphicData uri="http://schemas.openxmlformats.org/drawingml/2006/table">
            <a:tbl>
              <a:tblPr/>
              <a:tblGrid>
                <a:gridCol w="2385392">
                  <a:extLst>
                    <a:ext uri="{9D8B030D-6E8A-4147-A177-3AD203B41FA5}">
                      <a16:colId xmlns:a16="http://schemas.microsoft.com/office/drawing/2014/main" val="4177446756"/>
                    </a:ext>
                  </a:extLst>
                </a:gridCol>
                <a:gridCol w="3034747">
                  <a:extLst>
                    <a:ext uri="{9D8B030D-6E8A-4147-A177-3AD203B41FA5}">
                      <a16:colId xmlns:a16="http://schemas.microsoft.com/office/drawing/2014/main" val="3285399358"/>
                    </a:ext>
                  </a:extLst>
                </a:gridCol>
                <a:gridCol w="1802296">
                  <a:extLst>
                    <a:ext uri="{9D8B030D-6E8A-4147-A177-3AD203B41FA5}">
                      <a16:colId xmlns:a16="http://schemas.microsoft.com/office/drawing/2014/main" val="1350620531"/>
                    </a:ext>
                  </a:extLst>
                </a:gridCol>
                <a:gridCol w="1563757">
                  <a:extLst>
                    <a:ext uri="{9D8B030D-6E8A-4147-A177-3AD203B41FA5}">
                      <a16:colId xmlns:a16="http://schemas.microsoft.com/office/drawing/2014/main" val="2831273899"/>
                    </a:ext>
                  </a:extLst>
                </a:gridCol>
                <a:gridCol w="3233529">
                  <a:extLst>
                    <a:ext uri="{9D8B030D-6E8A-4147-A177-3AD203B41FA5}">
                      <a16:colId xmlns:a16="http://schemas.microsoft.com/office/drawing/2014/main" val="2077544607"/>
                    </a:ext>
                  </a:extLst>
                </a:gridCol>
              </a:tblGrid>
              <a:tr h="3381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Era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Technologies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41450"/>
                  </a:ext>
                </a:extLst>
              </a:tr>
              <a:tr h="2442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Systems </a:t>
                      </a:r>
                    </a:p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(1800s-1950s)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Abacus, punch card systems, mechanical calculators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data processing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Automation of basic tasks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Accounting systems</a:t>
                      </a:r>
                    </a:p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inventory management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00B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B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B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14464"/>
                  </a:ext>
                </a:extLst>
              </a:tr>
              <a:tr h="8979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Mainframe Era      (1950s-1970s)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Mainframe computers, punch cards, magnetic tape storage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 processing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Increased efficiency and data storage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B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processing systems </a:t>
                      </a:r>
                    </a:p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(e.g., payroll)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E0B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B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BC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702460"/>
                  </a:ext>
                </a:extLst>
              </a:tr>
              <a:tr h="4778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Mini-computer Era (1970s-1980s)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Minicomputers, magnetic disks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computing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Departmental computing and decision-making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&amp; marketing systems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E0C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143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 Computer Era (1980s-1990s)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 computers (PCs), relational databases, networking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computing, user-friendly interfaces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productivity and departmental collaboration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 processing, spreadsheets, early databases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E0C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C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71911"/>
                  </a:ext>
                </a:extLst>
              </a:tr>
              <a:tr h="7608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Client-Server Era </a:t>
                      </a:r>
                    </a:p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(1990s-2000s)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Client-server architecture, LANs, WANs, internet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sharing, connectivity, distributed processing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Enterprise-wide information systems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C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Email, enterprise resource planning (ERP) systems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A0C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C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39185"/>
                  </a:ext>
                </a:extLst>
              </a:tr>
              <a:tr h="89802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Era (2000s-Present)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 Wide Web, internet browsers, e-commerce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communication, information access, collaboration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E-business, mobile computing, cloud computing</a:t>
                      </a:r>
                    </a:p>
                  </a:txBody>
                  <a:tcPr marL="8398" marR="8398" marT="5599" marB="559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 platforms, social     media, mobile apps</a:t>
                      </a:r>
                    </a:p>
                  </a:txBody>
                  <a:tcPr marL="0" marR="0" marT="5599" marB="5599" anchor="b">
                    <a:lnL w="9525" cap="flat" cmpd="sng" algn="ctr">
                      <a:solidFill>
                        <a:srgbClr val="80C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930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31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8680175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INFORMATION SYSTEM IN FUNCTIONAL AREAS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D9364-EF36-BA44-356C-65493A9DA549}"/>
              </a:ext>
            </a:extLst>
          </p:cNvPr>
          <p:cNvSpPr txBox="1"/>
          <p:nvPr/>
        </p:nvSpPr>
        <p:spPr>
          <a:xfrm>
            <a:off x="344556" y="580854"/>
            <a:ext cx="6096000" cy="21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Information Systems have a number of different areas of work: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241300" algn="l"/>
              </a:tabLst>
            </a:pPr>
            <a:r>
              <a:rPr lang="en-US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IS strategy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241300" algn="l"/>
              </a:tabLst>
            </a:pPr>
            <a:r>
              <a:rPr lang="en-US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IS management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241300" algn="l"/>
              </a:tabLst>
            </a:pPr>
            <a:r>
              <a:rPr lang="en-US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IS development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241300" algn="l"/>
              </a:tabLst>
            </a:pPr>
            <a:r>
              <a:rPr lang="en-US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IS iteration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EE758-B1DF-06D3-449F-653630D7D810}"/>
              </a:ext>
            </a:extLst>
          </p:cNvPr>
          <p:cNvSpPr txBox="1"/>
          <p:nvPr/>
        </p:nvSpPr>
        <p:spPr>
          <a:xfrm>
            <a:off x="344556" y="2887682"/>
            <a:ext cx="118474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supports a functional area by increasing its internal effectiveness and efficiency.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Finance (FIN):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Accounting (ACC):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Marketing (MKT):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Operations (OPS):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Human Resources Management (HR):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7121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8680175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INFORMATION SYSTEM ARCHITECTURE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E4FE4-61F5-D4CF-89CD-1271A2167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766" y="463695"/>
            <a:ext cx="8852452" cy="592185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612F8B-AE79-70DC-A613-26FCD36224E1}"/>
              </a:ext>
            </a:extLst>
          </p:cNvPr>
          <p:cNvSpPr txBox="1"/>
          <p:nvPr/>
        </p:nvSpPr>
        <p:spPr>
          <a:xfrm>
            <a:off x="2822713" y="6385554"/>
            <a:ext cx="609600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Fig: Architectural design of Information system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5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8680175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Aft>
                <a:spcPts val="1000"/>
              </a:spcAft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QUALITIES OF INFORMATION SYSTEM</a:t>
            </a:r>
            <a:endParaRPr lang="en-IN" sz="24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290DB-6DE7-E341-D325-BE4B9B7A24A0}"/>
              </a:ext>
            </a:extLst>
          </p:cNvPr>
          <p:cNvSpPr txBox="1"/>
          <p:nvPr/>
        </p:nvSpPr>
        <p:spPr>
          <a:xfrm>
            <a:off x="1722782" y="699054"/>
            <a:ext cx="56321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Reliability 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Timely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Relevant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Accurate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Sufficient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Unambiguous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Complete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CEB6B-D47E-BD49-F15C-3DE61415CC9C}"/>
              </a:ext>
            </a:extLst>
          </p:cNvPr>
          <p:cNvSpPr txBox="1"/>
          <p:nvPr/>
        </p:nvSpPr>
        <p:spPr>
          <a:xfrm>
            <a:off x="3047999" y="3210466"/>
            <a:ext cx="735495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MANAGING INFORMATION SYSTEM RESOURCES:</a:t>
            </a:r>
            <a:endParaRPr lang="en-IN" sz="14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E415701-C1DE-AAB2-6B11-EF3BF0700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" t="3926" b="4907"/>
          <a:stretch/>
        </p:blipFill>
        <p:spPr bwMode="auto">
          <a:xfrm>
            <a:off x="3684105" y="3601150"/>
            <a:ext cx="5208104" cy="325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26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722782" y="-26504"/>
            <a:ext cx="8680175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BALANCED SCORECARD-CASE STUDIES</a:t>
            </a:r>
            <a:endParaRPr lang="en-IN" sz="2400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ECCEC-429D-551C-EC59-0D2469FDEF38}"/>
              </a:ext>
            </a:extLst>
          </p:cNvPr>
          <p:cNvSpPr txBox="1"/>
          <p:nvPr/>
        </p:nvSpPr>
        <p:spPr>
          <a:xfrm>
            <a:off x="-49697" y="463695"/>
            <a:ext cx="122251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The balance scorecard is used as a strategic planning and a management technique.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Used for organization's performance to its vision and objectives.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Developed by Robert S Kaplan and David P Norton,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ool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 to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improves the communication and feedback process between the employees and management and to monitor performance of the organizational objectives.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use by not-for-profit and public sector organizations.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886B1-45D7-D19B-53CF-41AF16C07F3B}"/>
              </a:ext>
            </a:extLst>
          </p:cNvPr>
          <p:cNvSpPr txBox="1"/>
          <p:nvPr/>
        </p:nvSpPr>
        <p:spPr>
          <a:xfrm>
            <a:off x="2792897" y="2251528"/>
            <a:ext cx="616888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Basics of Balanced Scorecard:</a:t>
            </a:r>
            <a:endParaRPr lang="en-IN" sz="16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0CF78F-92A9-9B17-0550-B4422BD7A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76" y="2675719"/>
            <a:ext cx="5923928" cy="39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8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F150C-26D7-AA4D-E5FD-1D6ACA0B00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3" t="10222" r="20869" b="10706"/>
          <a:stretch/>
        </p:blipFill>
        <p:spPr>
          <a:xfrm>
            <a:off x="967408" y="0"/>
            <a:ext cx="10257183" cy="66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27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139E2FE-62CA-0F4F-45D0-3D07C8233965}"/>
              </a:ext>
            </a:extLst>
          </p:cNvPr>
          <p:cNvSpPr txBox="1"/>
          <p:nvPr/>
        </p:nvSpPr>
        <p:spPr>
          <a:xfrm>
            <a:off x="119271" y="23191"/>
            <a:ext cx="12072729" cy="307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Need for a Balanced Scorecard: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Increases the focus on the business strategy and its outcomes.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Leads to improvised organizational performance through measurements.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Align the workforce to meet the organization's strategy on a day-to-day basis.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Targeting the key determinants or drivers of future performance.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Improves the level of communication in relation to the organization's strategy.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Helps to prioritize projects according to the timeframe and other priority factors.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30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34E600-4A86-75AF-41FA-1874E578DE4E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Questions to consider when implementing a Balanced Scorecard:</a:t>
            </a:r>
            <a:endParaRPr lang="en-IN" sz="18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Do we have sufficient buy-in from top management?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Are we willing to engage in a more participatory strategy and performance management process?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Are we committed to the organizational change effort necessary for successful implementation?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To what extent will our current management information systems be able to support implementation? What are the costs and benefits of making these changes?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What are we already doing that we can incorporate into our scorecard? What do we need to modify or stop doing?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ymbol" panose="05050102010706020507" pitchFamily="18" charset="2"/>
              </a:rPr>
              <a:t>Are we prepared to focus our reporting around the scorecard?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1329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ABD92A-3626-FC20-C493-AAC83D42A598}"/>
              </a:ext>
            </a:extLst>
          </p:cNvPr>
          <p:cNvSpPr txBox="1"/>
          <p:nvPr/>
        </p:nvSpPr>
        <p:spPr>
          <a:xfrm>
            <a:off x="1561258" y="0"/>
            <a:ext cx="9758598" cy="517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700" lvl="0" algn="ctr">
              <a:lnSpc>
                <a:spcPct val="103000"/>
              </a:lnSpc>
              <a:spcAft>
                <a:spcPts val="1000"/>
              </a:spcAft>
              <a:buSzPts val="1400"/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INFORMATION SYSTEM VS Informatio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 Technology</a:t>
            </a:r>
            <a:endParaRPr lang="en-IN" sz="4000" strike="noStrike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1D1D9D-A963-9CF5-3D49-E02DDFABE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598661"/>
              </p:ext>
            </p:extLst>
          </p:nvPr>
        </p:nvGraphicFramePr>
        <p:xfrm>
          <a:off x="92764" y="993914"/>
          <a:ext cx="11966714" cy="3975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5719">
                  <a:extLst>
                    <a:ext uri="{9D8B030D-6E8A-4147-A177-3AD203B41FA5}">
                      <a16:colId xmlns:a16="http://schemas.microsoft.com/office/drawing/2014/main" val="1022914695"/>
                    </a:ext>
                  </a:extLst>
                </a:gridCol>
                <a:gridCol w="5334850">
                  <a:extLst>
                    <a:ext uri="{9D8B030D-6E8A-4147-A177-3AD203B41FA5}">
                      <a16:colId xmlns:a16="http://schemas.microsoft.com/office/drawing/2014/main" val="2703033247"/>
                    </a:ext>
                  </a:extLst>
                </a:gridCol>
                <a:gridCol w="5606145">
                  <a:extLst>
                    <a:ext uri="{9D8B030D-6E8A-4147-A177-3AD203B41FA5}">
                      <a16:colId xmlns:a16="http://schemas.microsoft.com/office/drawing/2014/main" val="307602255"/>
                    </a:ext>
                  </a:extLst>
                </a:gridCol>
              </a:tblGrid>
              <a:tr h="4440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/>
                        <a:t>Feature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/>
                        <a:t>Information System (IS)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dirty="0"/>
                        <a:t>Information Technology (IT)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5535854"/>
                  </a:ext>
                </a:extLst>
              </a:tr>
              <a:tr h="6331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</a:rPr>
                        <a:t>Definition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>
                          <a:effectLst/>
                        </a:rPr>
                        <a:t>An organized system for the collection, organization, storage, and communication of information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>
                          <a:effectLst/>
                        </a:rPr>
                        <a:t>involved in the handling and processing of information, especially using computer systems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0740948"/>
                  </a:ext>
                </a:extLst>
              </a:tr>
              <a:tr h="633139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/>
                        <a:t>Focus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/>
                        <a:t>Framework, processes, procedures for effective information use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/>
                        <a:t>Hardware, software, networks for data processing and communication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4198138"/>
                  </a:ext>
                </a:extLst>
              </a:tr>
              <a:tr h="365906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/>
                        <a:t>Scope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/>
                        <a:t>Broader -  includes technology, people, and processes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/>
                        <a:t>Narrower - focuses on the technological aspects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0072399"/>
                  </a:ext>
                </a:extLst>
              </a:tr>
              <a:tr h="633139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/>
                        <a:t>Role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/>
                        <a:t>Design, develop, implement, and manage information systems to support business goals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/>
                        <a:t>Provide and maintain the technological infrastructure for information systems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5826872"/>
                  </a:ext>
                </a:extLst>
              </a:tr>
              <a:tr h="633139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/>
                        <a:t>Skills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/>
                        <a:t>Business analysis, project management, understanding of business needs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/>
                        <a:t>Technical expertise in hardware, software, networks, and cybersecurity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0755793"/>
                  </a:ext>
                </a:extLst>
              </a:tr>
              <a:tr h="633139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/>
                        <a:t>Example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/>
                        <a:t>A customer relationship management (CRM) system used to track customer interactions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dirty="0"/>
                        <a:t>The network and database that support the CRM system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0543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29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ABD92A-3626-FC20-C493-AAC83D42A598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 1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0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851</Words>
  <Application>Microsoft Office PowerPoint</Application>
  <PresentationFormat>Widescreen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Unit 1 INFORMATION SYSTEM</vt:lpstr>
      <vt:lpstr>OUTLINES</vt:lpstr>
      <vt:lpstr>Introduction To 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Harandra Bikram Shah</cp:lastModifiedBy>
  <cp:revision>108</cp:revision>
  <dcterms:created xsi:type="dcterms:W3CDTF">2023-09-29T16:55:15Z</dcterms:created>
  <dcterms:modified xsi:type="dcterms:W3CDTF">2024-04-27T15:14:07Z</dcterms:modified>
</cp:coreProperties>
</file>