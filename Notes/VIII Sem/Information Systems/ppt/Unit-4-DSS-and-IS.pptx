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6" r:id="rId5"/>
    <p:sldId id="267" r:id="rId6"/>
    <p:sldId id="268" r:id="rId7"/>
    <p:sldId id="269" r:id="rId8"/>
    <p:sldId id="270" r:id="rId9"/>
    <p:sldId id="271" r:id="rId10"/>
    <p:sldId id="272" r:id="rId11"/>
    <p:sldId id="284" r:id="rId12"/>
    <p:sldId id="285" r:id="rId13"/>
    <p:sldId id="273" r:id="rId14"/>
    <p:sldId id="274" r:id="rId15"/>
    <p:sldId id="275" r:id="rId16"/>
    <p:sldId id="276" r:id="rId17"/>
    <p:sldId id="277" r:id="rId18"/>
    <p:sldId id="280" r:id="rId19"/>
    <p:sldId id="296" r:id="rId20"/>
    <p:sldId id="288" r:id="rId21"/>
    <p:sldId id="297" r:id="rId22"/>
    <p:sldId id="299" r:id="rId23"/>
    <p:sldId id="298" r:id="rId24"/>
    <p:sldId id="300" r:id="rId25"/>
    <p:sldId id="301" r:id="rId26"/>
    <p:sldId id="302" r:id="rId27"/>
    <p:sldId id="303" r:id="rId28"/>
    <p:sldId id="304" r:id="rId29"/>
    <p:sldId id="305" r:id="rId30"/>
    <p:sldId id="306" r:id="rId31"/>
    <p:sldId id="311" r:id="rId32"/>
    <p:sldId id="309" r:id="rId33"/>
    <p:sldId id="315" r:id="rId34"/>
    <p:sldId id="307" r:id="rId35"/>
    <p:sldId id="313" r:id="rId36"/>
    <p:sldId id="312" r:id="rId37"/>
    <p:sldId id="314" r:id="rId38"/>
    <p:sldId id="316" r:id="rId39"/>
    <p:sldId id="318" r:id="rId40"/>
    <p:sldId id="317" r:id="rId41"/>
    <p:sldId id="319" r:id="rId42"/>
    <p:sldId id="320" r:id="rId43"/>
    <p:sldId id="321" r:id="rId44"/>
    <p:sldId id="325" r:id="rId45"/>
    <p:sldId id="326" r:id="rId46"/>
    <p:sldId id="322" r:id="rId47"/>
    <p:sldId id="327" r:id="rId48"/>
    <p:sldId id="323" r:id="rId49"/>
    <p:sldId id="332" r:id="rId50"/>
    <p:sldId id="26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91" autoAdjust="0"/>
  </p:normalViewPr>
  <p:slideViewPr>
    <p:cSldViewPr snapToGrid="0">
      <p:cViewPr varScale="1">
        <p:scale>
          <a:sx n="72" d="100"/>
          <a:sy n="72" d="100"/>
        </p:scale>
        <p:origin x="6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33E0B8D6-C4BD-46A4-9A82-08D4E8E600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3E0B8D6-C4BD-46A4-9A82-08D4E8E6001C}"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E0B8D6-C4BD-46A4-9A82-08D4E8E6001C}"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E0B8D6-C4BD-46A4-9A82-08D4E8E6001C}"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E0B8D6-C4BD-46A4-9A82-08D4E8E600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E0B8D6-C4BD-46A4-9A82-08D4E8E600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E0B8D6-C4BD-46A4-9A82-08D4E8E6001C}"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E9A205-56FA-4820-9B78-BADF71C7EFD0}"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89120"/>
            <a:ext cx="12084148" cy="1025613"/>
          </a:xfrm>
        </p:spPr>
        <p:style>
          <a:lnRef idx="2">
            <a:schemeClr val="accent3"/>
          </a:lnRef>
          <a:fillRef idx="1">
            <a:schemeClr val="lt1"/>
          </a:fillRef>
          <a:effectRef idx="0">
            <a:schemeClr val="accent3"/>
          </a:effectRef>
          <a:fontRef idx="minor">
            <a:schemeClr val="dk1"/>
          </a:fontRef>
        </p:style>
        <p:txBody>
          <a:bodyPr>
            <a:noAutofit/>
            <a:scene3d>
              <a:camera prst="orthographicFront"/>
              <a:lightRig rig="threePt" dir="t"/>
            </a:scene3d>
          </a:bodyPr>
          <a:lstStyle/>
          <a:p>
            <a:pPr algn="ctr"/>
            <a:r>
              <a:rPr lang="en-IN" sz="3600" b="1">
                <a:solidFill>
                  <a:schemeClr val="accent1"/>
                </a:solidFill>
                <a:effectLst>
                  <a:outerShdw blurRad="38100" dist="25400" dir="5400000" algn="ctr" rotWithShape="0">
                    <a:srgbClr val="6E747A">
                      <a:alpha val="43000"/>
                      <a:alpha val="43000"/>
                    </a:srgbClr>
                  </a:outerShdw>
                </a:effectLst>
                <a:latin typeface="tim" charset="0"/>
                <a:cs typeface="tim" charset="0"/>
              </a:rPr>
              <a:t>DECISION SUPPORT AND INTELLIGENT SYSTEMS  </a:t>
            </a:r>
            <a:endParaRPr lang="en-IN" sz="3600" b="1">
              <a:solidFill>
                <a:schemeClr val="accent1"/>
              </a:solidFill>
              <a:effectLst>
                <a:outerShdw blurRad="38100" dist="25400" dir="5400000" algn="ctr" rotWithShape="0">
                  <a:srgbClr val="6E747A">
                    <a:alpha val="43000"/>
                    <a:alpha val="43000"/>
                  </a:srgbClr>
                </a:outerShdw>
              </a:effectLst>
              <a:latin typeface="tim" charset="0"/>
              <a:cs typeface="tim" charset="0"/>
            </a:endParaRPr>
          </a:p>
        </p:txBody>
      </p:sp>
      <p:sp>
        <p:nvSpPr>
          <p:cNvPr id="3" name="Subtitle 2"/>
          <p:cNvSpPr>
            <a:spLocks noGrp="1"/>
          </p:cNvSpPr>
          <p:nvPr>
            <p:ph type="subTitle" idx="1"/>
          </p:nvPr>
        </p:nvSpPr>
        <p:spPr>
          <a:xfrm>
            <a:off x="1833490" y="3429000"/>
            <a:ext cx="9144000" cy="2934325"/>
          </a:xfrm>
        </p:spPr>
        <p:txBody>
          <a:bodyPr>
            <a:normAutofit/>
          </a:bodyPr>
          <a:lstStyle/>
          <a:p>
            <a:pPr algn="l"/>
            <a:r>
              <a:rPr lang="en-GB" sz="3600" b="1" dirty="0">
                <a:latin typeface="Times New Roman" panose="02020603050405020304" pitchFamily="18" charset="0"/>
                <a:cs typeface="Times New Roman" panose="02020603050405020304" pitchFamily="18" charset="0"/>
              </a:rPr>
              <a:t>Presented by</a:t>
            </a:r>
            <a:endParaRPr lang="en-GB" sz="3600" b="1" dirty="0">
              <a:latin typeface="Times New Roman" panose="02020603050405020304" pitchFamily="18" charset="0"/>
              <a:cs typeface="Times New Roman" panose="02020603050405020304" pitchFamily="18" charset="0"/>
            </a:endParaRPr>
          </a:p>
          <a:p>
            <a:r>
              <a:rPr lang="en-GB" sz="2800" dirty="0">
                <a:solidFill>
                  <a:srgbClr val="FF0000"/>
                </a:solidFill>
                <a:latin typeface="Times New Roman" panose="02020603050405020304" pitchFamily="18" charset="0"/>
                <a:cs typeface="Times New Roman" panose="02020603050405020304" pitchFamily="18" charset="0"/>
              </a:rPr>
              <a:t>Er.Harendra Bikram Shah</a:t>
            </a:r>
            <a:endParaRPr lang="en-GB" sz="2800" dirty="0">
              <a:solidFill>
                <a:srgbClr val="FF0000"/>
              </a:solidFill>
              <a:latin typeface="Times New Roman" panose="02020603050405020304" pitchFamily="18" charset="0"/>
              <a:cs typeface="Times New Roman" panose="02020603050405020304" pitchFamily="18" charset="0"/>
            </a:endParaRPr>
          </a:p>
          <a:p>
            <a:r>
              <a:rPr lang="en-GB" sz="2800" dirty="0">
                <a:solidFill>
                  <a:srgbClr val="FF0000"/>
                </a:solidFill>
                <a:latin typeface="Times New Roman" panose="02020603050405020304" pitchFamily="18" charset="0"/>
                <a:cs typeface="Times New Roman" panose="02020603050405020304" pitchFamily="18" charset="0"/>
              </a:rPr>
              <a:t>Lecturer</a:t>
            </a:r>
            <a:endParaRPr lang="en-GB" sz="2800" dirty="0">
              <a:solidFill>
                <a:srgbClr val="FF0000"/>
              </a:solidFill>
              <a:latin typeface="Times New Roman" panose="02020603050405020304" pitchFamily="18" charset="0"/>
              <a:cs typeface="Times New Roman" panose="02020603050405020304" pitchFamily="18" charset="0"/>
            </a:endParaRPr>
          </a:p>
          <a:p>
            <a:r>
              <a:rPr lang="en-GB" sz="2800" dirty="0">
                <a:solidFill>
                  <a:srgbClr val="7030A0"/>
                </a:solidFill>
                <a:latin typeface="Times New Roman" panose="02020603050405020304" pitchFamily="18" charset="0"/>
                <a:cs typeface="Times New Roman" panose="02020603050405020304" pitchFamily="18" charset="0"/>
              </a:rPr>
              <a:t>Department of BE Computer</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9562455" y="1814733"/>
            <a:ext cx="1967865" cy="398780"/>
          </a:xfrm>
          <a:prstGeom prst="rect">
            <a:avLst/>
          </a:prstGeom>
          <a:noFill/>
        </p:spPr>
        <p:txBody>
          <a:bodyPr wrap="none" rtlCol="0">
            <a:spAutoFit/>
          </a:bodyPr>
          <a:lstStyle/>
          <a:p>
            <a:r>
              <a:rPr lang="en-GB" sz="2000" b="1" dirty="0">
                <a:solidFill>
                  <a:srgbClr val="00B0F0"/>
                </a:solidFill>
                <a:latin typeface="Times New Roman" panose="02020603050405020304" pitchFamily="18" charset="0"/>
                <a:cs typeface="Times New Roman" panose="02020603050405020304" pitchFamily="18" charset="0"/>
              </a:rPr>
              <a:t>Total Hour:</a:t>
            </a:r>
            <a:r>
              <a:rPr lang="en-US" altLang="en-GB" sz="2000" b="1" dirty="0">
                <a:solidFill>
                  <a:srgbClr val="00B0F0"/>
                </a:solidFill>
                <a:latin typeface="Times New Roman" panose="02020603050405020304" pitchFamily="18" charset="0"/>
                <a:cs typeface="Times New Roman" panose="02020603050405020304" pitchFamily="18" charset="0"/>
              </a:rPr>
              <a:t>7</a:t>
            </a:r>
            <a:r>
              <a:rPr lang="en-GB" sz="2000" b="1" dirty="0">
                <a:solidFill>
                  <a:srgbClr val="00B0F0"/>
                </a:solidFill>
                <a:latin typeface="Times New Roman" panose="02020603050405020304" pitchFamily="18" charset="0"/>
                <a:cs typeface="Times New Roman" panose="02020603050405020304" pitchFamily="18" charset="0"/>
              </a:rPr>
              <a:t>hrs</a:t>
            </a:r>
            <a:endParaRPr lang="en-IN" sz="2000" b="1"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665"/>
            <a:ext cx="9144000" cy="826135"/>
          </a:xfrm>
        </p:spPr>
        <p:txBody>
          <a:bodyPr>
            <a:normAutofit fontScale="90000"/>
          </a:bodyPr>
          <a:lstStyle/>
          <a:p>
            <a:r>
              <a:rPr lang="en-GB" b="1" dirty="0">
                <a:solidFill>
                  <a:srgbClr val="00B0F0"/>
                </a:solidFill>
                <a:latin typeface="Times New Roman" panose="02020603050405020304" pitchFamily="18" charset="0"/>
                <a:cs typeface="Times New Roman" panose="02020603050405020304" pitchFamily="18" charset="0"/>
              </a:rPr>
              <a:t>OUTLINES</a:t>
            </a:r>
            <a:endParaRPr lang="en-IN" b="1" dirty="0">
              <a:solidFill>
                <a:srgbClr val="00B0F0"/>
              </a:solidFill>
              <a:latin typeface="Times New Roman" panose="02020603050405020304" pitchFamily="18" charset="0"/>
              <a:cs typeface="Times New Roman" panose="02020603050405020304" pitchFamily="18" charset="0"/>
            </a:endParaRPr>
          </a:p>
        </p:txBody>
      </p:sp>
      <p:sp>
        <p:nvSpPr>
          <p:cNvPr id="6" name="Text Box 5"/>
          <p:cNvSpPr txBox="1"/>
          <p:nvPr/>
        </p:nvSpPr>
        <p:spPr>
          <a:xfrm>
            <a:off x="83820" y="808355"/>
            <a:ext cx="8798560" cy="2245360"/>
          </a:xfrm>
          <a:prstGeom prst="rect">
            <a:avLst/>
          </a:prstGeom>
          <a:noFill/>
        </p:spPr>
        <p:txBody>
          <a:bodyPr wrap="square" rtlCol="0" anchor="t">
            <a:spAutoFit/>
          </a:bodyPr>
          <a:p>
            <a:pPr marL="311150" indent="-285750" algn="l">
              <a:lnSpc>
                <a:spcPct val="100000"/>
              </a:lnSpc>
              <a:buFont typeface="Wingdings" panose="05000000000000000000" charset="0"/>
              <a:buChar char=""/>
            </a:pPr>
            <a:r>
              <a:rPr lang="en-IN" sz="2000">
                <a:latin typeface="times" charset="0"/>
                <a:cs typeface="times" charset="0"/>
                <a:sym typeface="+mn-ea"/>
              </a:rPr>
              <a:t>DSS, operation research Models</a:t>
            </a:r>
            <a:endParaRPr lang="en-IN" sz="2000">
              <a:latin typeface="times" charset="0"/>
              <a:cs typeface="times" charset="0"/>
              <a:sym typeface="+mn-ea"/>
            </a:endParaRPr>
          </a:p>
          <a:p>
            <a:pPr marL="311150" indent="-285750" algn="l">
              <a:lnSpc>
                <a:spcPct val="100000"/>
              </a:lnSpc>
              <a:buFont typeface="Wingdings" panose="05000000000000000000" charset="0"/>
              <a:buChar char=""/>
            </a:pPr>
            <a:r>
              <a:rPr lang="en-IN" sz="2000">
                <a:latin typeface="times" charset="0"/>
                <a:cs typeface="times" charset="0"/>
                <a:sym typeface="+mn-ea"/>
              </a:rPr>
              <a:t>Group decision support system</a:t>
            </a:r>
            <a:endParaRPr lang="en-IN" sz="2000">
              <a:latin typeface="times" charset="0"/>
              <a:cs typeface="times" charset="0"/>
              <a:sym typeface="+mn-ea"/>
            </a:endParaRPr>
          </a:p>
          <a:p>
            <a:pPr marL="311150" indent="-285750" algn="l">
              <a:lnSpc>
                <a:spcPct val="100000"/>
              </a:lnSpc>
              <a:buFont typeface="Wingdings" panose="05000000000000000000" charset="0"/>
              <a:buChar char=""/>
            </a:pPr>
            <a:r>
              <a:rPr lang="en-IN" sz="2000">
                <a:latin typeface="times" charset="0"/>
                <a:cs typeface="times" charset="0"/>
                <a:sym typeface="+mn-ea"/>
              </a:rPr>
              <a:t>Enterprise and Executive decision support systems</a:t>
            </a:r>
            <a:endParaRPr lang="en-IN" sz="2000">
              <a:latin typeface="times" charset="0"/>
              <a:cs typeface="times" charset="0"/>
              <a:sym typeface="+mn-ea"/>
            </a:endParaRPr>
          </a:p>
          <a:p>
            <a:pPr marL="311150" indent="-285750" algn="l">
              <a:lnSpc>
                <a:spcPct val="100000"/>
              </a:lnSpc>
              <a:buFont typeface="Wingdings" panose="05000000000000000000" charset="0"/>
              <a:buChar char=""/>
            </a:pPr>
            <a:r>
              <a:rPr lang="en-IN" sz="2000">
                <a:latin typeface="times" charset="0"/>
                <a:cs typeface="times" charset="0"/>
                <a:sym typeface="+mn-ea"/>
              </a:rPr>
              <a:t>Knowledge Management, Knowledge based Expert System</a:t>
            </a:r>
            <a:endParaRPr lang="en-IN" sz="2000">
              <a:latin typeface="times" charset="0"/>
              <a:cs typeface="times" charset="0"/>
              <a:sym typeface="+mn-ea"/>
            </a:endParaRPr>
          </a:p>
          <a:p>
            <a:pPr marL="311150" indent="-285750" algn="l">
              <a:lnSpc>
                <a:spcPct val="100000"/>
              </a:lnSpc>
              <a:buFont typeface="Wingdings" panose="05000000000000000000" charset="0"/>
              <a:buChar char=""/>
            </a:pPr>
            <a:r>
              <a:rPr lang="en-IN" sz="2000">
                <a:latin typeface="times" charset="0"/>
                <a:cs typeface="times" charset="0"/>
                <a:sym typeface="+mn-ea"/>
              </a:rPr>
              <a:t>AI, Neural Network, Virtual Reality, intelligent Agents</a:t>
            </a:r>
            <a:endParaRPr lang="en-IN" sz="2000">
              <a:latin typeface="times" charset="0"/>
              <a:cs typeface="times" charset="0"/>
              <a:sym typeface="+mn-ea"/>
            </a:endParaRPr>
          </a:p>
          <a:p>
            <a:pPr marL="311150" indent="-285750" algn="l">
              <a:lnSpc>
                <a:spcPct val="100000"/>
              </a:lnSpc>
              <a:buFont typeface="Wingdings" panose="05000000000000000000" charset="0"/>
              <a:buChar char=""/>
            </a:pPr>
            <a:r>
              <a:rPr lang="en-IN" sz="2000">
                <a:latin typeface="times" charset="0"/>
                <a:cs typeface="times" charset="0"/>
                <a:sym typeface="+mn-ea"/>
              </a:rPr>
              <a:t>Data mining, Data Warehousing, OLAP and OLTP</a:t>
            </a:r>
            <a:endParaRPr lang="en-IN" sz="2000">
              <a:latin typeface="times" charset="0"/>
              <a:cs typeface="times" charset="0"/>
              <a:sym typeface="+mn-ea"/>
            </a:endParaRPr>
          </a:p>
          <a:p>
            <a:pPr marL="311150" indent="-285750" algn="l">
              <a:lnSpc>
                <a:spcPct val="100000"/>
              </a:lnSpc>
              <a:buFont typeface="Wingdings" panose="05000000000000000000" charset="0"/>
              <a:buChar char=""/>
            </a:pPr>
            <a:r>
              <a:rPr lang="en-IN" sz="2000">
                <a:latin typeface="times" charset="0"/>
                <a:cs typeface="times" charset="0"/>
                <a:sym typeface="+mn-ea"/>
              </a:rPr>
              <a:t>Anomaly and fraud Detection</a:t>
            </a:r>
            <a:endParaRPr lang="en-IN" sz="2000">
              <a:latin typeface="times" charset="0"/>
              <a:cs typeface="times"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lang="en-US" sz="48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rPr>
              <a:t>Concept of Decision Support System (DSS)</a:t>
            </a:r>
            <a:endParaRPr lang="en-US" sz="48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endParaRPr>
          </a:p>
        </p:txBody>
      </p:sp>
      <p:sp>
        <p:nvSpPr>
          <p:cNvPr id="3" name="Text Box 2"/>
          <p:cNvSpPr txBox="1"/>
          <p:nvPr/>
        </p:nvSpPr>
        <p:spPr>
          <a:xfrm>
            <a:off x="157480" y="1109345"/>
            <a:ext cx="11877040" cy="1198880"/>
          </a:xfrm>
          <a:prstGeom prst="rect">
            <a:avLst/>
          </a:prstGeom>
          <a:noFill/>
        </p:spPr>
        <p:txBody>
          <a:bodyPr wrap="square" rtlCol="0" anchor="t">
            <a:spAutoFit/>
          </a:bodyPr>
          <a:p>
            <a:pPr marL="285750" indent="-285750">
              <a:buFont typeface="Wingdings" panose="05000000000000000000" charset="0"/>
              <a:buChar char=""/>
            </a:pPr>
            <a:r>
              <a:rPr lang="en-US">
                <a:latin typeface="times" charset="0"/>
                <a:cs typeface="times" charset="0"/>
              </a:rPr>
              <a:t>Type of information system designed to assist decision-makers in making better, more informed decisions. </a:t>
            </a:r>
            <a:endParaRPr lang="en-US">
              <a:latin typeface="times" charset="0"/>
              <a:cs typeface="times" charset="0"/>
            </a:endParaRPr>
          </a:p>
          <a:p>
            <a:pPr marL="285750" indent="-285750">
              <a:buFont typeface="Wingdings" panose="05000000000000000000" charset="0"/>
              <a:buChar char=""/>
            </a:pPr>
            <a:r>
              <a:rPr lang="en-US">
                <a:latin typeface="times" charset="0"/>
                <a:cs typeface="times" charset="0"/>
              </a:rPr>
              <a:t>It provides tools, data, and analytical capabilities to support decision-making processes across various domains and levels of an organization</a:t>
            </a:r>
            <a:endParaRPr lang="en-US">
              <a:latin typeface="times" charset="0"/>
              <a:cs typeface="times" charset="0"/>
            </a:endParaRPr>
          </a:p>
          <a:p>
            <a:pPr marL="285750" indent="-285750">
              <a:buFont typeface="Wingdings" panose="05000000000000000000" charset="0"/>
              <a:buChar char=""/>
            </a:pPr>
            <a:r>
              <a:rPr b="1">
                <a:latin typeface="times" charset="0"/>
                <a:cs typeface="times" charset="0"/>
              </a:rPr>
              <a:t>Decision-making =&gt;</a:t>
            </a:r>
            <a:r>
              <a:rPr>
                <a:latin typeface="times" charset="0"/>
                <a:cs typeface="times" charset="0"/>
              </a:rPr>
              <a:t>The action of selecting among alternatives.</a:t>
            </a:r>
            <a:endParaRPr lang="en-US">
              <a:latin typeface="times" charset="0"/>
              <a:cs typeface="times" charset="0"/>
            </a:endParaRPr>
          </a:p>
        </p:txBody>
      </p:sp>
      <p:pic>
        <p:nvPicPr>
          <p:cNvPr id="5" name="Picture 4"/>
          <p:cNvPicPr>
            <a:picLocks noChangeAspect="1"/>
          </p:cNvPicPr>
          <p:nvPr/>
        </p:nvPicPr>
        <p:blipFill>
          <a:blip r:embed="rId1"/>
          <a:srcRect b="9838"/>
          <a:stretch>
            <a:fillRect/>
          </a:stretch>
        </p:blipFill>
        <p:spPr>
          <a:xfrm>
            <a:off x="3040380" y="2776220"/>
            <a:ext cx="6514465" cy="34143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lang="en-US" sz="48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rPr>
              <a:t>Phases of Decision Support System (DSS)</a:t>
            </a:r>
            <a:endParaRPr lang="en-US" sz="48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endParaRPr>
          </a:p>
        </p:txBody>
      </p:sp>
      <p:pic>
        <p:nvPicPr>
          <p:cNvPr id="5" name="object 3"/>
          <p:cNvPicPr/>
          <p:nvPr/>
        </p:nvPicPr>
        <p:blipFill>
          <a:blip r:embed="rId1" cstate="print"/>
          <a:stretch>
            <a:fillRect/>
          </a:stretch>
        </p:blipFill>
        <p:spPr>
          <a:xfrm>
            <a:off x="1619885" y="735330"/>
            <a:ext cx="8020685" cy="60185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rcRect l="6319" t="6120" r="6194" b="10074"/>
          <a:stretch>
            <a:fillRect/>
          </a:stretch>
        </p:blipFill>
        <p:spPr>
          <a:xfrm>
            <a:off x="2096135" y="554990"/>
            <a:ext cx="7999730" cy="57473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rPr>
              <a:t>Cons of  Decision Support System (DSS)</a:t>
            </a:r>
            <a:endPar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endParaRPr>
          </a:p>
        </p:txBody>
      </p:sp>
      <p:sp>
        <p:nvSpPr>
          <p:cNvPr id="3" name="object 3"/>
          <p:cNvSpPr txBox="1"/>
          <p:nvPr/>
        </p:nvSpPr>
        <p:spPr>
          <a:xfrm>
            <a:off x="1054100" y="1109980"/>
            <a:ext cx="5324475" cy="2710815"/>
          </a:xfrm>
          <a:prstGeom prst="rect">
            <a:avLst/>
          </a:prstGeom>
        </p:spPr>
        <p:txBody>
          <a:bodyPr vert="horz" wrap="square" lIns="0" tIns="181610" rIns="0" bIns="0" rtlCol="0">
            <a:spAutoFit/>
          </a:bodyPr>
          <a:p>
            <a:pPr marL="253365" indent="-241300">
              <a:lnSpc>
                <a:spcPct val="100000"/>
              </a:lnSpc>
              <a:spcBef>
                <a:spcPts val="1430"/>
              </a:spcBef>
              <a:buFont typeface="Times New Roman" panose="02020603050405020304"/>
              <a:buChar char="▪"/>
              <a:tabLst>
                <a:tab pos="253365" algn="l"/>
                <a:tab pos="254000" algn="l"/>
              </a:tabLst>
            </a:pPr>
            <a:r>
              <a:rPr sz="2400"/>
              <a:t>Overload Information</a:t>
            </a:r>
            <a:endParaRPr sz="2400"/>
          </a:p>
          <a:p>
            <a:pPr marL="253365" indent="-241300">
              <a:lnSpc>
                <a:spcPct val="100000"/>
              </a:lnSpc>
              <a:spcBef>
                <a:spcPts val="1330"/>
              </a:spcBef>
              <a:buFont typeface="Times New Roman" panose="02020603050405020304"/>
              <a:buChar char="▪"/>
              <a:tabLst>
                <a:tab pos="253365" algn="l"/>
                <a:tab pos="254000" algn="l"/>
              </a:tabLst>
            </a:pPr>
            <a:r>
              <a:rPr sz="2400"/>
              <a:t>Reduction of status</a:t>
            </a:r>
            <a:endParaRPr sz="2400"/>
          </a:p>
          <a:p>
            <a:pPr marL="253365" indent="-241300">
              <a:lnSpc>
                <a:spcPct val="100000"/>
              </a:lnSpc>
              <a:spcBef>
                <a:spcPts val="1335"/>
              </a:spcBef>
              <a:buFont typeface="Times New Roman" panose="02020603050405020304"/>
              <a:buChar char="▪"/>
              <a:tabLst>
                <a:tab pos="253365" algn="l"/>
                <a:tab pos="254000" algn="l"/>
              </a:tabLst>
            </a:pPr>
            <a:r>
              <a:rPr sz="2400"/>
              <a:t>Unanticipated effects</a:t>
            </a:r>
            <a:endParaRPr sz="2400"/>
          </a:p>
          <a:p>
            <a:pPr marL="253365" indent="-241300">
              <a:lnSpc>
                <a:spcPct val="100000"/>
              </a:lnSpc>
              <a:spcBef>
                <a:spcPts val="1330"/>
              </a:spcBef>
              <a:buFont typeface="Times New Roman" panose="02020603050405020304"/>
              <a:buChar char="▪"/>
              <a:tabLst>
                <a:tab pos="253365" algn="l"/>
                <a:tab pos="254000" algn="l"/>
              </a:tabLst>
            </a:pPr>
            <a:r>
              <a:rPr sz="2400"/>
              <a:t>Cost in Monetary</a:t>
            </a:r>
            <a:endParaRPr sz="2400"/>
          </a:p>
          <a:p>
            <a:pPr marL="253365" indent="-241300">
              <a:lnSpc>
                <a:spcPct val="100000"/>
              </a:lnSpc>
              <a:spcBef>
                <a:spcPts val="1330"/>
              </a:spcBef>
              <a:buFont typeface="Times New Roman" panose="02020603050405020304"/>
              <a:buChar char="▪"/>
              <a:tabLst>
                <a:tab pos="253365" algn="l"/>
                <a:tab pos="254000" algn="l"/>
              </a:tabLst>
            </a:pPr>
            <a:r>
              <a:rPr sz="2400"/>
              <a:t>Too much DSS dependency</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rPr>
              <a:t>Components  of  Decision Support System (DSS)</a:t>
            </a:r>
            <a:endPar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endParaRPr>
          </a:p>
        </p:txBody>
      </p:sp>
      <p:pic>
        <p:nvPicPr>
          <p:cNvPr id="5" name="Picture 4"/>
          <p:cNvPicPr>
            <a:picLocks noChangeAspect="1"/>
          </p:cNvPicPr>
          <p:nvPr/>
        </p:nvPicPr>
        <p:blipFill>
          <a:blip r:embed="rId1"/>
          <a:stretch>
            <a:fillRect/>
          </a:stretch>
        </p:blipFill>
        <p:spPr>
          <a:xfrm>
            <a:off x="1353820" y="735330"/>
            <a:ext cx="9882505" cy="60477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rPr>
              <a:t>Types of  Decision Support System (DSS)</a:t>
            </a:r>
            <a:endPar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endParaRPr>
          </a:p>
        </p:txBody>
      </p:sp>
      <p:pic>
        <p:nvPicPr>
          <p:cNvPr id="3" name="Picture 2"/>
          <p:cNvPicPr>
            <a:picLocks noChangeAspect="1"/>
          </p:cNvPicPr>
          <p:nvPr/>
        </p:nvPicPr>
        <p:blipFill>
          <a:blip r:embed="rId1"/>
          <a:stretch>
            <a:fillRect/>
          </a:stretch>
        </p:blipFill>
        <p:spPr>
          <a:xfrm>
            <a:off x="1520190" y="735330"/>
            <a:ext cx="9037955" cy="61220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rPr>
              <a:t>Uses of  Decision Support System (DSS)</a:t>
            </a:r>
            <a:endParaRPr lang="en-US" sz="3600" b="1" dirty="0">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sym typeface="+mn-ea"/>
            </a:endParaRPr>
          </a:p>
        </p:txBody>
      </p:sp>
      <p:sp>
        <p:nvSpPr>
          <p:cNvPr id="4" name="Text Box 3"/>
          <p:cNvSpPr txBox="1"/>
          <p:nvPr/>
        </p:nvSpPr>
        <p:spPr>
          <a:xfrm>
            <a:off x="101600" y="966470"/>
            <a:ext cx="12192000" cy="2306955"/>
          </a:xfrm>
          <a:prstGeom prst="rect">
            <a:avLst/>
          </a:prstGeom>
          <a:noFill/>
        </p:spPr>
        <p:txBody>
          <a:bodyPr wrap="square" rtlCol="0" anchor="t">
            <a:spAutoFit/>
          </a:bodyPr>
          <a:p>
            <a:r>
              <a:rPr lang="en-US"/>
              <a:t>1.Healthcare Management:</a:t>
            </a:r>
            <a:endParaRPr lang="en-US"/>
          </a:p>
          <a:p>
            <a:r>
              <a:rPr lang="en-US"/>
              <a:t>2.Financial Analysis and Investment:</a:t>
            </a:r>
            <a:endParaRPr lang="en-US"/>
          </a:p>
          <a:p>
            <a:r>
              <a:rPr lang="en-US"/>
              <a:t>3.Supply Chain Management:</a:t>
            </a:r>
            <a:endParaRPr lang="en-US"/>
          </a:p>
          <a:p>
            <a:r>
              <a:rPr lang="en-US"/>
              <a:t>4.Marketing and Customer Relationship Management (CRM):</a:t>
            </a:r>
            <a:endParaRPr lang="en-US"/>
          </a:p>
          <a:p>
            <a:r>
              <a:rPr lang="en-US"/>
              <a:t>5.Manufacturing and Operations Management:</a:t>
            </a:r>
            <a:endParaRPr lang="en-US"/>
          </a:p>
          <a:p>
            <a:r>
              <a:rPr lang="en-US"/>
              <a:t>6.Environmental Management:</a:t>
            </a:r>
            <a:endParaRPr lang="en-US"/>
          </a:p>
          <a:p>
            <a:r>
              <a:rPr lang="en-US"/>
              <a:t>7.Emergency Response and Disaster Management:</a:t>
            </a:r>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2995" y="128905"/>
            <a:ext cx="7294245" cy="688975"/>
          </a:xfrm>
          <a:prstGeom prst="rect">
            <a:avLst/>
          </a:prstGeom>
        </p:spPr>
        <p:txBody>
          <a:bodyPr vert="horz" wrap="square" lIns="0" tIns="12092" rIns="0" bIns="0" rtlCol="0">
            <a:spAutoFit/>
            <a:scene3d>
              <a:camera prst="orthographicFront"/>
              <a:lightRig rig="threePt" dir="t"/>
            </a:scene3d>
          </a:bodyPr>
          <a:lstStyle/>
          <a:p>
            <a:pPr marL="12700">
              <a:lnSpc>
                <a:spcPct val="100000"/>
              </a:lnSpc>
              <a:spcBef>
                <a:spcPts val="105"/>
              </a:spcBef>
            </a:pPr>
            <a:r>
              <a:rPr dirty="0">
                <a:solidFill>
                  <a:schemeClr val="accent1"/>
                </a:solidFill>
                <a:effectLst>
                  <a:outerShdw blurRad="38100" dist="25400" dir="5400000" algn="ctr" rotWithShape="0">
                    <a:srgbClr val="6E747A">
                      <a:alpha val="43000"/>
                      <a:alpha val="43000"/>
                    </a:srgbClr>
                  </a:outerShdw>
                </a:effectLst>
              </a:rPr>
              <a:t>Operation</a:t>
            </a:r>
            <a:r>
              <a:rPr spc="-5" dirty="0">
                <a:solidFill>
                  <a:schemeClr val="accent1"/>
                </a:solidFill>
                <a:effectLst>
                  <a:outerShdw blurRad="38100" dist="25400" dir="5400000" algn="ctr" rotWithShape="0">
                    <a:srgbClr val="6E747A">
                      <a:alpha val="43000"/>
                      <a:alpha val="43000"/>
                    </a:srgbClr>
                  </a:outerShdw>
                </a:effectLst>
              </a:rPr>
              <a:t> </a:t>
            </a:r>
            <a:r>
              <a:rPr dirty="0">
                <a:solidFill>
                  <a:schemeClr val="accent1"/>
                </a:solidFill>
                <a:effectLst>
                  <a:outerShdw blurRad="38100" dist="25400" dir="5400000" algn="ctr" rotWithShape="0">
                    <a:srgbClr val="6E747A">
                      <a:alpha val="43000"/>
                      <a:alpha val="43000"/>
                    </a:srgbClr>
                  </a:outerShdw>
                </a:effectLst>
              </a:rPr>
              <a:t>Research</a:t>
            </a:r>
            <a:r>
              <a:rPr spc="25" dirty="0">
                <a:solidFill>
                  <a:schemeClr val="accent1"/>
                </a:solidFill>
                <a:effectLst>
                  <a:outerShdw blurRad="38100" dist="25400" dir="5400000" algn="ctr" rotWithShape="0">
                    <a:srgbClr val="6E747A">
                      <a:alpha val="43000"/>
                      <a:alpha val="43000"/>
                    </a:srgbClr>
                  </a:outerShdw>
                </a:effectLst>
              </a:rPr>
              <a:t> </a:t>
            </a:r>
            <a:r>
              <a:rPr dirty="0">
                <a:solidFill>
                  <a:schemeClr val="accent1"/>
                </a:solidFill>
                <a:effectLst>
                  <a:outerShdw blurRad="38100" dist="25400" dir="5400000" algn="ctr" rotWithShape="0">
                    <a:srgbClr val="6E747A">
                      <a:alpha val="43000"/>
                      <a:alpha val="43000"/>
                    </a:srgbClr>
                  </a:outerShdw>
                </a:effectLst>
              </a:rPr>
              <a:t>Models</a:t>
            </a:r>
            <a:endParaRPr dirty="0">
              <a:solidFill>
                <a:schemeClr val="accent1"/>
              </a:solidFill>
              <a:effectLst>
                <a:outerShdw blurRad="38100" dist="25400" dir="5400000" algn="ctr" rotWithShape="0">
                  <a:srgbClr val="6E747A">
                    <a:alpha val="43000"/>
                    <a:alpha val="43000"/>
                  </a:srgbClr>
                </a:outerShdw>
              </a:effectLst>
            </a:endParaRPr>
          </a:p>
        </p:txBody>
      </p:sp>
      <p:sp>
        <p:nvSpPr>
          <p:cNvPr id="4" name="object 4"/>
          <p:cNvSpPr txBox="1">
            <a:spLocks noGrp="1"/>
          </p:cNvSpPr>
          <p:nvPr>
            <p:ph type="ftr" sz="quarter" idx="5"/>
          </p:nvPr>
        </p:nvSpPr>
        <p:spPr>
          <a:xfrm>
            <a:off x="4038600" y="6468745"/>
            <a:ext cx="4114800" cy="140335"/>
          </a:xfrm>
          <a:prstGeom prst="rect">
            <a:avLst/>
          </a:prstGeom>
        </p:spPr>
        <p:txBody>
          <a:bodyPr vert="horz" wrap="square" lIns="0" tIns="0" rIns="0" bIns="0" rtlCol="0">
            <a:spAutoFit/>
          </a:bodyPr>
          <a:lstStyle/>
          <a:p>
            <a:pPr marL="12700">
              <a:lnSpc>
                <a:spcPts val="1095"/>
              </a:lnSpc>
            </a:pPr>
            <a:r>
              <a:rPr sz="1090" dirty="0"/>
              <a:t>©</a:t>
            </a:r>
            <a:r>
              <a:rPr sz="1090" spc="-20" dirty="0"/>
              <a:t> </a:t>
            </a:r>
            <a:r>
              <a:rPr sz="1090" dirty="0"/>
              <a:t>Deepak</a:t>
            </a:r>
            <a:r>
              <a:rPr sz="1090" spc="-15" dirty="0"/>
              <a:t> </a:t>
            </a:r>
            <a:r>
              <a:rPr sz="1090" dirty="0"/>
              <a:t>Bhatta</a:t>
            </a:r>
            <a:r>
              <a:rPr sz="1090" spc="-40" dirty="0"/>
              <a:t> </a:t>
            </a:r>
            <a:r>
              <a:rPr sz="1090" dirty="0"/>
              <a:t>-</a:t>
            </a:r>
            <a:r>
              <a:rPr sz="1090" spc="5" dirty="0"/>
              <a:t> </a:t>
            </a:r>
            <a:r>
              <a:rPr sz="1090" dirty="0"/>
              <a:t>Lecturer</a:t>
            </a:r>
            <a:r>
              <a:rPr sz="1090" spc="-45" dirty="0"/>
              <a:t> </a:t>
            </a:r>
            <a:r>
              <a:rPr sz="1090" spc="5" dirty="0"/>
              <a:t>[DEC]</a:t>
            </a:r>
            <a:r>
              <a:rPr sz="1090" spc="-45" dirty="0"/>
              <a:t> </a:t>
            </a:r>
            <a:r>
              <a:rPr sz="1090" dirty="0"/>
              <a:t>-</a:t>
            </a:r>
            <a:r>
              <a:rPr sz="1090" spc="5" dirty="0"/>
              <a:t> </a:t>
            </a:r>
            <a:r>
              <a:rPr sz="1090" dirty="0"/>
              <a:t>Information</a:t>
            </a:r>
            <a:r>
              <a:rPr sz="1090" spc="-45" dirty="0"/>
              <a:t> </a:t>
            </a:r>
            <a:r>
              <a:rPr sz="1090" dirty="0"/>
              <a:t>System</a:t>
            </a:r>
            <a:endParaRPr sz="1090" dirty="0"/>
          </a:p>
        </p:txBody>
      </p:sp>
      <p:sp>
        <p:nvSpPr>
          <p:cNvPr id="5" name="object 5"/>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38100">
              <a:lnSpc>
                <a:spcPts val="1095"/>
              </a:lnSpc>
            </a:pPr>
            <a:fld id="{81D60167-4931-47E6-BA6A-407CBD079E47}" type="slidenum">
              <a:rPr sz="1090" dirty="0"/>
            </a:fld>
            <a:endParaRPr sz="1090" dirty="0"/>
          </a:p>
        </p:txBody>
      </p:sp>
      <p:sp>
        <p:nvSpPr>
          <p:cNvPr id="3" name="object 3"/>
          <p:cNvSpPr txBox="1"/>
          <p:nvPr/>
        </p:nvSpPr>
        <p:spPr>
          <a:xfrm>
            <a:off x="737870" y="1044575"/>
            <a:ext cx="11029315" cy="3770630"/>
          </a:xfrm>
          <a:prstGeom prst="rect">
            <a:avLst/>
          </a:prstGeom>
        </p:spPr>
        <p:txBody>
          <a:bodyPr vert="horz" wrap="square" lIns="0" tIns="68522" rIns="0" bIns="0" rtlCol="0">
            <a:spAutoFit/>
          </a:bodyPr>
          <a:lstStyle/>
          <a:p>
            <a:pPr marL="253365" marR="5080" indent="-241300" algn="just">
              <a:lnSpc>
                <a:spcPct val="150000"/>
              </a:lnSpc>
              <a:spcBef>
                <a:spcPts val="595"/>
              </a:spcBef>
              <a:buFont typeface="Consolas"/>
              <a:buChar char="–"/>
              <a:tabLst>
                <a:tab pos="254000" algn="l"/>
              </a:tabLst>
            </a:pPr>
            <a:r>
              <a:t>The Operation Research Models are the mathematical models in  providing guidelines to managers for making effective decisions  within the state of the current information, or in seeking further  information if current knowledge is insufficient to reach a proper  decision.</a:t>
            </a:r>
          </a:p>
          <a:p>
            <a:pPr marL="253365" indent="-241300" algn="just">
              <a:lnSpc>
                <a:spcPct val="150000"/>
              </a:lnSpc>
              <a:spcBef>
                <a:spcPts val="25"/>
              </a:spcBef>
              <a:buFont typeface="Consolas"/>
              <a:buChar char="–"/>
              <a:tabLst>
                <a:tab pos="254000" algn="l"/>
              </a:tabLst>
            </a:pPr>
            <a:r>
              <a:t>Some Applications:</a:t>
            </a:r>
          </a:p>
          <a:p>
            <a:pPr marL="452755" lvl="1" indent="-200025">
              <a:lnSpc>
                <a:spcPct val="100000"/>
              </a:lnSpc>
              <a:spcBef>
                <a:spcPts val="125"/>
              </a:spcBef>
              <a:buFont typeface="Times New Roman" panose="02020603050405020304"/>
              <a:buChar char="▪"/>
              <a:tabLst>
                <a:tab pos="453390" algn="l"/>
              </a:tabLst>
            </a:pPr>
            <a:r>
              <a:t>Telecommunications/Roads/Rail Network Design</a:t>
            </a:r>
          </a:p>
          <a:p>
            <a:pPr marL="452755" lvl="1" indent="-200025">
              <a:lnSpc>
                <a:spcPct val="100000"/>
              </a:lnSpc>
              <a:spcBef>
                <a:spcPts val="105"/>
              </a:spcBef>
              <a:buFont typeface="Times New Roman" panose="02020603050405020304"/>
              <a:buChar char="▪"/>
              <a:tabLst>
                <a:tab pos="453390" algn="l"/>
              </a:tabLst>
            </a:pPr>
            <a:r>
              <a:t>Organization Supply Chain Strategy</a:t>
            </a:r>
          </a:p>
          <a:p>
            <a:pPr marL="452755" lvl="1" indent="-200025">
              <a:lnSpc>
                <a:spcPct val="100000"/>
              </a:lnSpc>
              <a:spcBef>
                <a:spcPts val="110"/>
              </a:spcBef>
              <a:buFont typeface="Times New Roman" panose="02020603050405020304"/>
              <a:buChar char="▪"/>
              <a:tabLst>
                <a:tab pos="453390" algn="l"/>
              </a:tabLst>
            </a:pPr>
            <a:r>
              <a:t>Just-in-Time Manufacturing Planning</a:t>
            </a:r>
          </a:p>
          <a:p>
            <a:pPr marL="452755" lvl="1" indent="-200025">
              <a:lnSpc>
                <a:spcPct val="100000"/>
              </a:lnSpc>
              <a:spcBef>
                <a:spcPts val="105"/>
              </a:spcBef>
              <a:buFont typeface="Times New Roman" panose="02020603050405020304"/>
              <a:buChar char="▪"/>
              <a:tabLst>
                <a:tab pos="453390" algn="l"/>
              </a:tabLst>
            </a:pPr>
            <a:r>
              <a:t>Retail Shop floor Layout</a:t>
            </a:r>
          </a:p>
          <a:p>
            <a:pPr marL="452755" lvl="1" indent="-200025">
              <a:lnSpc>
                <a:spcPct val="100000"/>
              </a:lnSpc>
              <a:spcBef>
                <a:spcPts val="110"/>
              </a:spcBef>
              <a:buFont typeface="Times New Roman" panose="02020603050405020304"/>
              <a:buChar char="▪"/>
              <a:tabLst>
                <a:tab pos="453390" algn="l"/>
              </a:tabLst>
            </a:pPr>
            <a:r>
              <a:t>Revenue, Pricing and Promotions</a:t>
            </a:r>
          </a:p>
          <a:p>
            <a:pPr marL="452755" lvl="1" indent="-200025">
              <a:lnSpc>
                <a:spcPct val="100000"/>
              </a:lnSpc>
              <a:spcBef>
                <a:spcPts val="110"/>
              </a:spcBef>
              <a:buFont typeface="Times New Roman" panose="02020603050405020304"/>
              <a:buChar char="▪"/>
              <a:tabLst>
                <a:tab pos="453390" algn="l"/>
              </a:tabLst>
            </a:pPr>
            <a:r>
              <a:t>Demand Forecasting</a:t>
            </a:r>
          </a:p>
          <a:p>
            <a:pPr marL="452755" lvl="1" indent="-200025">
              <a:lnSpc>
                <a:spcPct val="100000"/>
              </a:lnSpc>
              <a:spcBef>
                <a:spcPts val="105"/>
              </a:spcBef>
              <a:buFont typeface="Times New Roman" panose="02020603050405020304"/>
              <a:buChar char="▪"/>
              <a:tabLst>
                <a:tab pos="453390" algn="l"/>
              </a:tabLst>
            </a:pPr>
            <a:r>
              <a:t>Project </a:t>
            </a:r>
            <a:r>
              <a:t>Planning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038600" y="6468745"/>
            <a:ext cx="4114800" cy="140335"/>
          </a:xfrm>
          <a:prstGeom prst="rect">
            <a:avLst/>
          </a:prstGeom>
        </p:spPr>
        <p:txBody>
          <a:bodyPr vert="horz" wrap="square" lIns="0" tIns="0" rIns="0" bIns="0" rtlCol="0">
            <a:spAutoFit/>
          </a:bodyPr>
          <a:lstStyle/>
          <a:p>
            <a:pPr marL="12700">
              <a:lnSpc>
                <a:spcPts val="1095"/>
              </a:lnSpc>
            </a:pPr>
            <a:r>
              <a:rPr sz="1090" dirty="0"/>
              <a:t>©</a:t>
            </a:r>
            <a:r>
              <a:rPr sz="1090" spc="-20" dirty="0"/>
              <a:t> </a:t>
            </a:r>
            <a:r>
              <a:rPr sz="1090" dirty="0"/>
              <a:t>Deepak</a:t>
            </a:r>
            <a:r>
              <a:rPr sz="1090" spc="-15" dirty="0"/>
              <a:t> </a:t>
            </a:r>
            <a:r>
              <a:rPr sz="1090" dirty="0"/>
              <a:t>Bhatta</a:t>
            </a:r>
            <a:r>
              <a:rPr sz="1090" spc="-40" dirty="0"/>
              <a:t> </a:t>
            </a:r>
            <a:r>
              <a:rPr sz="1090" dirty="0"/>
              <a:t>-</a:t>
            </a:r>
            <a:r>
              <a:rPr sz="1090" spc="5" dirty="0"/>
              <a:t> </a:t>
            </a:r>
            <a:r>
              <a:rPr sz="1090" dirty="0"/>
              <a:t>Lecturer</a:t>
            </a:r>
            <a:r>
              <a:rPr sz="1090" spc="-45" dirty="0"/>
              <a:t> </a:t>
            </a:r>
            <a:r>
              <a:rPr sz="1090" spc="5" dirty="0"/>
              <a:t>[DEC]</a:t>
            </a:r>
            <a:r>
              <a:rPr sz="1090" spc="-45" dirty="0"/>
              <a:t> </a:t>
            </a:r>
            <a:r>
              <a:rPr sz="1090" dirty="0"/>
              <a:t>-</a:t>
            </a:r>
            <a:r>
              <a:rPr sz="1090" spc="5" dirty="0"/>
              <a:t> </a:t>
            </a:r>
            <a:r>
              <a:rPr sz="1090" dirty="0"/>
              <a:t>Information</a:t>
            </a:r>
            <a:r>
              <a:rPr sz="1090" spc="-45" dirty="0"/>
              <a:t> </a:t>
            </a:r>
            <a:r>
              <a:rPr sz="1090" dirty="0"/>
              <a:t>System</a:t>
            </a:r>
            <a:endParaRPr sz="1090" dirty="0"/>
          </a:p>
        </p:txBody>
      </p:sp>
      <p:sp>
        <p:nvSpPr>
          <p:cNvPr id="5" name="object 5"/>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38100">
              <a:lnSpc>
                <a:spcPts val="1095"/>
              </a:lnSpc>
            </a:pPr>
            <a:fld id="{81D60167-4931-47E6-BA6A-407CBD079E47}" type="slidenum">
              <a:rPr sz="1090" dirty="0"/>
            </a:fld>
            <a:endParaRPr sz="1090" dirty="0"/>
          </a:p>
        </p:txBody>
      </p:sp>
      <p:sp>
        <p:nvSpPr>
          <p:cNvPr id="3" name="object 3"/>
          <p:cNvSpPr txBox="1"/>
          <p:nvPr/>
        </p:nvSpPr>
        <p:spPr>
          <a:xfrm>
            <a:off x="0" y="610870"/>
            <a:ext cx="12192000" cy="3015615"/>
          </a:xfrm>
          <a:prstGeom prst="rect">
            <a:avLst/>
          </a:prstGeom>
        </p:spPr>
        <p:txBody>
          <a:bodyPr vert="horz" wrap="square" lIns="0" tIns="57581" rIns="0" bIns="0" rtlCol="0">
            <a:spAutoFit/>
          </a:bodyPr>
          <a:lstStyle/>
          <a:p>
            <a:pPr marL="253365" indent="-241300">
              <a:lnSpc>
                <a:spcPct val="100000"/>
              </a:lnSpc>
              <a:spcBef>
                <a:spcPts val="500"/>
              </a:spcBef>
              <a:buFont typeface="Times New Roman" panose="02020603050405020304"/>
              <a:buChar char="▪"/>
              <a:tabLst>
                <a:tab pos="253365" algn="l"/>
                <a:tab pos="254000" algn="l"/>
              </a:tabLst>
            </a:pPr>
            <a:r>
              <a:rPr sz="2000"/>
              <a:t>For Example:</a:t>
            </a:r>
            <a:endParaRPr sz="2000"/>
          </a:p>
          <a:p>
            <a:pPr marL="494030" marR="5080" lvl="1" indent="-241300">
              <a:lnSpc>
                <a:spcPts val="1900"/>
              </a:lnSpc>
              <a:spcBef>
                <a:spcPts val="570"/>
              </a:spcBef>
              <a:buFont typeface="Consolas"/>
              <a:buChar char="–"/>
              <a:tabLst>
                <a:tab pos="494665" algn="l"/>
              </a:tabLst>
            </a:pPr>
            <a:r>
              <a:rPr sz="2000"/>
              <a:t>Linear Programming is mathematical modeling technique useful for guiding  quantitative decisions in business planning, industrial engineering.</a:t>
            </a:r>
            <a:endParaRPr sz="2000"/>
          </a:p>
          <a:p>
            <a:pPr marL="494030" lvl="1" indent="-241300">
              <a:lnSpc>
                <a:spcPct val="100000"/>
              </a:lnSpc>
              <a:spcBef>
                <a:spcPts val="290"/>
              </a:spcBef>
              <a:buFont typeface="Consolas"/>
              <a:buChar char="–"/>
              <a:tabLst>
                <a:tab pos="494665" algn="l"/>
              </a:tabLst>
            </a:pPr>
            <a:r>
              <a:rPr sz="2000"/>
              <a:t>Network Flow Programming</a:t>
            </a:r>
            <a:endParaRPr sz="2000"/>
          </a:p>
          <a:p>
            <a:pPr marL="494030" lvl="1" indent="-241300">
              <a:lnSpc>
                <a:spcPct val="100000"/>
              </a:lnSpc>
              <a:spcBef>
                <a:spcPts val="310"/>
              </a:spcBef>
              <a:buFont typeface="Consolas"/>
              <a:buChar char="–"/>
              <a:tabLst>
                <a:tab pos="494665" algn="l"/>
              </a:tabLst>
            </a:pPr>
            <a:r>
              <a:rPr sz="2000"/>
              <a:t>Integer Programming</a:t>
            </a:r>
            <a:endParaRPr sz="2000"/>
          </a:p>
          <a:p>
            <a:pPr marL="494030" lvl="1" indent="-241300">
              <a:lnSpc>
                <a:spcPct val="100000"/>
              </a:lnSpc>
              <a:spcBef>
                <a:spcPts val="325"/>
              </a:spcBef>
              <a:buFont typeface="Consolas"/>
              <a:buChar char="–"/>
              <a:tabLst>
                <a:tab pos="494665" algn="l"/>
              </a:tabLst>
            </a:pPr>
            <a:r>
              <a:rPr sz="2000"/>
              <a:t>Nonlinear Programming</a:t>
            </a:r>
            <a:endParaRPr sz="2000"/>
          </a:p>
          <a:p>
            <a:pPr marL="494030" lvl="1" indent="-241300">
              <a:lnSpc>
                <a:spcPct val="100000"/>
              </a:lnSpc>
              <a:spcBef>
                <a:spcPts val="325"/>
              </a:spcBef>
              <a:buFont typeface="Consolas"/>
              <a:buChar char="–"/>
              <a:tabLst>
                <a:tab pos="494665" algn="l"/>
              </a:tabLst>
            </a:pPr>
            <a:r>
              <a:rPr sz="2000"/>
              <a:t>Dynamic Programming</a:t>
            </a:r>
            <a:endParaRPr sz="2000"/>
          </a:p>
          <a:p>
            <a:pPr marL="494030" lvl="1" indent="-241300">
              <a:lnSpc>
                <a:spcPct val="100000"/>
              </a:lnSpc>
              <a:spcBef>
                <a:spcPts val="325"/>
              </a:spcBef>
              <a:buFont typeface="Consolas"/>
              <a:buChar char="–"/>
              <a:tabLst>
                <a:tab pos="494665" algn="l"/>
              </a:tabLst>
            </a:pPr>
            <a:r>
              <a:rPr sz="2000"/>
              <a:t>Simulation</a:t>
            </a:r>
            <a:endParaRPr sz="2000"/>
          </a:p>
          <a:p>
            <a:pPr marL="494030" lvl="1" indent="-241300">
              <a:lnSpc>
                <a:spcPct val="100000"/>
              </a:lnSpc>
              <a:spcBef>
                <a:spcPts val="325"/>
              </a:spcBef>
              <a:buFont typeface="Consolas"/>
              <a:buChar char="–"/>
              <a:tabLst>
                <a:tab pos="494665" algn="l"/>
              </a:tabLst>
            </a:pPr>
            <a:r>
              <a:rPr sz="2000"/>
              <a:t>Queuing</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735330"/>
          </a:xfrm>
        </p:spPr>
        <p:txBody>
          <a:bodyPr>
            <a:noAutofit/>
            <a:scene3d>
              <a:camera prst="orthographicFront"/>
              <a:lightRig rig="threePt" dir="t"/>
            </a:scene3d>
          </a:bodyPr>
          <a:lstStyle/>
          <a:p>
            <a:r>
              <a:rPr sz="3600" b="1"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Group</a:t>
            </a:r>
            <a:r>
              <a:rPr sz="3600" b="1" spc="35"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 </a:t>
            </a:r>
            <a:r>
              <a:rPr sz="3600" b="1"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Decision</a:t>
            </a:r>
            <a:r>
              <a:rPr sz="3600" b="1" spc="-20"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 </a:t>
            </a:r>
            <a:r>
              <a:rPr sz="3600" b="1"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Support</a:t>
            </a:r>
            <a:r>
              <a:rPr sz="3600" b="1" spc="10"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 </a:t>
            </a:r>
            <a:r>
              <a:rPr sz="3600" b="1" spc="5"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System </a:t>
            </a:r>
            <a:r>
              <a:rPr sz="3600" b="1" spc="-1525"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 </a:t>
            </a:r>
            <a:r>
              <a:rPr sz="3600" b="1" spc="5"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rPr>
              <a:t>(GDSS)</a:t>
            </a:r>
            <a:endParaRPr lang="en-US" sz="3600" b="1" spc="5" dirty="0">
              <a:solidFill>
                <a:schemeClr val="accent1"/>
              </a:solidFill>
              <a:effectLst>
                <a:outerShdw blurRad="38100" dist="25400" dir="5400000" algn="ctr" rotWithShape="0">
                  <a:srgbClr val="6E747A">
                    <a:alpha val="43000"/>
                    <a:alpha val="43000"/>
                  </a:srgbClr>
                </a:outerShdw>
              </a:effectLst>
              <a:latin typeface="tim" charset="0"/>
              <a:cs typeface="tim" charset="0"/>
              <a:sym typeface="+mn-ea"/>
            </a:endParaRPr>
          </a:p>
        </p:txBody>
      </p:sp>
      <p:sp>
        <p:nvSpPr>
          <p:cNvPr id="3" name="Text Box 2"/>
          <p:cNvSpPr txBox="1"/>
          <p:nvPr/>
        </p:nvSpPr>
        <p:spPr>
          <a:xfrm>
            <a:off x="0" y="735965"/>
            <a:ext cx="12192635" cy="645160"/>
          </a:xfrm>
          <a:prstGeom prst="rect">
            <a:avLst/>
          </a:prstGeom>
          <a:noFill/>
        </p:spPr>
        <p:txBody>
          <a:bodyPr wrap="square" rtlCol="0" anchor="t">
            <a:spAutoFit/>
          </a:bodyPr>
          <a:p>
            <a:pPr marL="285750" indent="-285750">
              <a:buFont typeface="Wingdings" panose="05000000000000000000" charset="0"/>
              <a:buChar char=""/>
            </a:pPr>
            <a:r>
              <a:rPr lang="en-US"/>
              <a:t>GDSS are computer-based systems designed to support group decision-making processes by providing tools and technologies that facilitate communication, collaboration, and information sharing among group members.</a:t>
            </a:r>
            <a:endParaRPr lang="en-US"/>
          </a:p>
        </p:txBody>
      </p:sp>
      <p:sp>
        <p:nvSpPr>
          <p:cNvPr id="4" name="Text Box 3"/>
          <p:cNvSpPr txBox="1"/>
          <p:nvPr/>
        </p:nvSpPr>
        <p:spPr>
          <a:xfrm>
            <a:off x="0" y="1502410"/>
            <a:ext cx="12193270" cy="645160"/>
          </a:xfrm>
          <a:prstGeom prst="rect">
            <a:avLst/>
          </a:prstGeom>
          <a:noFill/>
        </p:spPr>
        <p:txBody>
          <a:bodyPr wrap="square" rtlCol="0" anchor="t">
            <a:spAutoFit/>
          </a:bodyPr>
          <a:p>
            <a:pPr marL="285750" indent="-285750">
              <a:buFont typeface="Wingdings" panose="05000000000000000000" charset="0"/>
              <a:buChar char=""/>
            </a:pPr>
            <a:r>
              <a:rPr lang="en-US"/>
              <a:t>These systems are commonly used in business, government, and academic settings to enhance the effectiveness and efficiency of group decision-making processes.</a:t>
            </a:r>
            <a:endParaRPr lang="en-US"/>
          </a:p>
        </p:txBody>
      </p:sp>
      <p:pic>
        <p:nvPicPr>
          <p:cNvPr id="7" name="object 3"/>
          <p:cNvPicPr/>
          <p:nvPr/>
        </p:nvPicPr>
        <p:blipFill>
          <a:blip r:embed="rId1" cstate="print"/>
          <a:stretch>
            <a:fillRect/>
          </a:stretch>
        </p:blipFill>
        <p:spPr>
          <a:xfrm>
            <a:off x="2432050" y="2268728"/>
            <a:ext cx="6906767" cy="39745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115253"/>
            <a:ext cx="12191365" cy="608330"/>
          </a:xfrm>
          <a:prstGeom prst="rect">
            <a:avLst/>
          </a:prstGeom>
        </p:spPr>
        <p:txBody>
          <a:bodyPr vert="horz" wrap="square" lIns="0" tIns="54702" rIns="0" bIns="0" rtlCol="0">
            <a:spAutoFit/>
            <a:scene3d>
              <a:camera prst="orthographicFront"/>
              <a:lightRig rig="threePt" dir="t"/>
            </a:scene3d>
          </a:bodyPr>
          <a:lstStyle/>
          <a:p>
            <a:pPr marL="2663825" marR="5080" indent="-2060575" algn="ctr">
              <a:lnSpc>
                <a:spcPct val="100000"/>
              </a:lnSpc>
              <a:spcBef>
                <a:spcPts val="475"/>
              </a:spcBef>
            </a:pPr>
            <a:r>
              <a:rPr sz="3600" b="1">
                <a:solidFill>
                  <a:schemeClr val="accent1"/>
                </a:solidFill>
                <a:effectLst>
                  <a:outerShdw blurRad="38100" dist="25400" dir="5400000" algn="ctr" rotWithShape="0">
                    <a:srgbClr val="6E747A">
                      <a:alpha val="43000"/>
                      <a:alpha val="43000"/>
                    </a:srgbClr>
                  </a:outerShdw>
                </a:effectLst>
                <a:latin typeface="times" charset="0"/>
                <a:cs typeface="times" charset="0"/>
              </a:rPr>
              <a:t>Features of Group Decision Support  System (GDSS)</a:t>
            </a:r>
            <a:endParaRPr sz="3600" b="1">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5" name="object 5"/>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3" name="object 3"/>
          <p:cNvSpPr txBox="1"/>
          <p:nvPr/>
        </p:nvSpPr>
        <p:spPr>
          <a:xfrm>
            <a:off x="561340" y="899795"/>
            <a:ext cx="9089390" cy="3232150"/>
          </a:xfrm>
          <a:prstGeom prst="rect">
            <a:avLst/>
          </a:prstGeom>
        </p:spPr>
        <p:txBody>
          <a:bodyPr vert="horz" wrap="square" lIns="0" tIns="164684" rIns="0" bIns="0" rtlCol="0">
            <a:spAutoFit/>
          </a:bodyPr>
          <a:lstStyle/>
          <a:p>
            <a:pPr marL="253365" indent="-241300">
              <a:lnSpc>
                <a:spcPct val="100000"/>
              </a:lnSpc>
              <a:spcBef>
                <a:spcPts val="1430"/>
              </a:spcBef>
              <a:buFont typeface="Microsoft Sans Serif" panose="020B0604020202020204"/>
              <a:buChar char="▪"/>
              <a:tabLst>
                <a:tab pos="253365" algn="l"/>
                <a:tab pos="254000" algn="l"/>
              </a:tabLst>
            </a:pPr>
            <a:r>
              <a:rPr sz="2400"/>
              <a:t>Ease of use</a:t>
            </a:r>
            <a:endParaRPr sz="2400"/>
          </a:p>
          <a:p>
            <a:pPr marL="253365" indent="-241300">
              <a:lnSpc>
                <a:spcPct val="100000"/>
              </a:lnSpc>
              <a:spcBef>
                <a:spcPts val="1330"/>
              </a:spcBef>
              <a:buFont typeface="Microsoft Sans Serif" panose="020B0604020202020204"/>
              <a:buChar char="▪"/>
              <a:tabLst>
                <a:tab pos="253365" algn="l"/>
                <a:tab pos="254000" algn="l"/>
              </a:tabLst>
            </a:pPr>
            <a:r>
              <a:rPr sz="2400"/>
              <a:t>Better Decision Making</a:t>
            </a:r>
            <a:endParaRPr sz="2400"/>
          </a:p>
          <a:p>
            <a:pPr marL="253365" indent="-241300">
              <a:lnSpc>
                <a:spcPct val="100000"/>
              </a:lnSpc>
              <a:spcBef>
                <a:spcPts val="1335"/>
              </a:spcBef>
              <a:buFont typeface="Microsoft Sans Serif" panose="020B0604020202020204"/>
              <a:buChar char="▪"/>
              <a:tabLst>
                <a:tab pos="253365" algn="l"/>
                <a:tab pos="254000" algn="l"/>
              </a:tabLst>
            </a:pPr>
            <a:r>
              <a:rPr sz="2400"/>
              <a:t>Emphasis on Semi-structured and Unstructured Decisions</a:t>
            </a:r>
            <a:endParaRPr sz="2400"/>
          </a:p>
          <a:p>
            <a:pPr marL="253365" indent="-241300">
              <a:lnSpc>
                <a:spcPct val="100000"/>
              </a:lnSpc>
              <a:spcBef>
                <a:spcPts val="1330"/>
              </a:spcBef>
              <a:buFont typeface="Microsoft Sans Serif" panose="020B0604020202020204"/>
              <a:buChar char="▪"/>
              <a:tabLst>
                <a:tab pos="253365" algn="l"/>
                <a:tab pos="254000" algn="l"/>
              </a:tabLst>
            </a:pPr>
            <a:r>
              <a:rPr sz="2400"/>
              <a:t>Specific and General Support</a:t>
            </a:r>
            <a:endParaRPr sz="2400"/>
          </a:p>
          <a:p>
            <a:pPr marL="253365" indent="-241300">
              <a:lnSpc>
                <a:spcPct val="100000"/>
              </a:lnSpc>
              <a:spcBef>
                <a:spcPts val="1330"/>
              </a:spcBef>
              <a:buFont typeface="Microsoft Sans Serif" panose="020B0604020202020204"/>
              <a:buChar char="▪"/>
              <a:tabLst>
                <a:tab pos="253365" algn="l"/>
                <a:tab pos="254000" algn="l"/>
              </a:tabLst>
            </a:pPr>
            <a:r>
              <a:rPr sz="2400"/>
              <a:t>Supports all Phases of the Decision Making</a:t>
            </a:r>
            <a:endParaRPr sz="2400"/>
          </a:p>
          <a:p>
            <a:pPr marL="253365" indent="-241300">
              <a:lnSpc>
                <a:spcPct val="100000"/>
              </a:lnSpc>
              <a:spcBef>
                <a:spcPts val="1320"/>
              </a:spcBef>
              <a:buFont typeface="Microsoft Sans Serif" panose="020B0604020202020204"/>
              <a:buChar char="▪"/>
              <a:tabLst>
                <a:tab pos="253365" algn="l"/>
                <a:tab pos="254000" algn="l"/>
              </a:tabLst>
            </a:pPr>
            <a:r>
              <a:rPr sz="2400"/>
              <a:t>Supports Positive Group Behavior</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4360" y="-317"/>
            <a:ext cx="10328910" cy="750570"/>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Advantages</a:t>
            </a:r>
            <a:r>
              <a:rPr sz="4800" b="1" spc="10" dirty="0">
                <a:solidFill>
                  <a:schemeClr val="accent1"/>
                </a:solidFill>
                <a:effectLst>
                  <a:outerShdw blurRad="38100" dist="25400" dir="5400000" algn="ctr" rotWithShape="0">
                    <a:srgbClr val="6E747A">
                      <a:alpha val="43000"/>
                      <a:alpha val="43000"/>
                    </a:srgbClr>
                  </a:outerShdw>
                </a:effectLst>
                <a:latin typeface="times" charset="0"/>
                <a:cs typeface="times" charset="0"/>
              </a:rPr>
              <a:t> </a:t>
            </a:r>
            <a:r>
              <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of</a:t>
            </a:r>
            <a:r>
              <a:rPr sz="4800" b="1" spc="-40" dirty="0">
                <a:solidFill>
                  <a:schemeClr val="accent1"/>
                </a:solidFill>
                <a:effectLst>
                  <a:outerShdw blurRad="38100" dist="25400" dir="5400000" algn="ctr" rotWithShape="0">
                    <a:srgbClr val="6E747A">
                      <a:alpha val="43000"/>
                      <a:alpha val="43000"/>
                    </a:srgbClr>
                  </a:outerShdw>
                </a:effectLst>
                <a:latin typeface="times" charset="0"/>
                <a:cs typeface="times" charset="0"/>
              </a:rPr>
              <a:t> </a:t>
            </a:r>
            <a:r>
              <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GDSS</a:t>
            </a:r>
            <a:endPar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5" name="object 5"/>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3" name="object 3"/>
          <p:cNvSpPr txBox="1"/>
          <p:nvPr/>
        </p:nvSpPr>
        <p:spPr>
          <a:xfrm>
            <a:off x="334645" y="750570"/>
            <a:ext cx="10415905" cy="3565525"/>
          </a:xfrm>
          <a:prstGeom prst="rect">
            <a:avLst/>
          </a:prstGeom>
        </p:spPr>
        <p:txBody>
          <a:bodyPr vert="horz" wrap="square" lIns="0" tIns="135893" rIns="0" bIns="0" rtlCol="0">
            <a:spAutoFit/>
          </a:bodyPr>
          <a:lstStyle/>
          <a:p>
            <a:pPr marL="253365" indent="-241300">
              <a:lnSpc>
                <a:spcPct val="100000"/>
              </a:lnSpc>
              <a:spcBef>
                <a:spcPts val="1180"/>
              </a:spcBef>
              <a:buFont typeface="Microsoft Sans Serif" panose="020B0604020202020204"/>
              <a:buChar char="▪"/>
              <a:tabLst>
                <a:tab pos="253365" algn="l"/>
                <a:tab pos="254000" algn="l"/>
              </a:tabLst>
            </a:pPr>
            <a:r>
              <a:rPr sz="2000"/>
              <a:t>More precise communication</a:t>
            </a:r>
            <a:endParaRPr sz="2000"/>
          </a:p>
          <a:p>
            <a:pPr marL="253365" indent="-241300">
              <a:lnSpc>
                <a:spcPct val="100000"/>
              </a:lnSpc>
              <a:spcBef>
                <a:spcPts val="1080"/>
              </a:spcBef>
              <a:buFont typeface="Microsoft Sans Serif" panose="020B0604020202020204"/>
              <a:buChar char="▪"/>
              <a:tabLst>
                <a:tab pos="253365" algn="l"/>
                <a:tab pos="254000" algn="l"/>
              </a:tabLst>
            </a:pPr>
            <a:r>
              <a:rPr sz="2000"/>
              <a:t>Improves personal efficiency</a:t>
            </a:r>
            <a:endParaRPr sz="2000"/>
          </a:p>
          <a:p>
            <a:pPr marL="253365" indent="-241300">
              <a:lnSpc>
                <a:spcPct val="100000"/>
              </a:lnSpc>
              <a:spcBef>
                <a:spcPts val="1080"/>
              </a:spcBef>
              <a:buFont typeface="Microsoft Sans Serif" panose="020B0604020202020204"/>
              <a:buChar char="▪"/>
              <a:tabLst>
                <a:tab pos="253365" algn="l"/>
                <a:tab pos="254000" algn="l"/>
              </a:tabLst>
            </a:pPr>
            <a:r>
              <a:rPr sz="2000"/>
              <a:t>Promotes learning or training</a:t>
            </a:r>
            <a:endParaRPr sz="2000"/>
          </a:p>
          <a:p>
            <a:pPr marL="253365" indent="-241300">
              <a:lnSpc>
                <a:spcPct val="100000"/>
              </a:lnSpc>
              <a:spcBef>
                <a:spcPts val="1080"/>
              </a:spcBef>
              <a:buFont typeface="Microsoft Sans Serif" panose="020B0604020202020204"/>
              <a:buChar char="▪"/>
              <a:tabLst>
                <a:tab pos="253365" algn="l"/>
                <a:tab pos="254000" algn="l"/>
              </a:tabLst>
            </a:pPr>
            <a:r>
              <a:rPr sz="2000"/>
              <a:t>Promotes group work in other areas</a:t>
            </a:r>
            <a:endParaRPr sz="2000"/>
          </a:p>
          <a:p>
            <a:pPr marL="253365" indent="-241300">
              <a:lnSpc>
                <a:spcPct val="100000"/>
              </a:lnSpc>
              <a:spcBef>
                <a:spcPts val="1080"/>
              </a:spcBef>
              <a:buFont typeface="Microsoft Sans Serif" panose="020B0604020202020204"/>
              <a:buChar char="▪"/>
              <a:tabLst>
                <a:tab pos="253365" algn="l"/>
                <a:tab pos="254000" algn="l"/>
              </a:tabLst>
            </a:pPr>
            <a:r>
              <a:rPr sz="2000"/>
              <a:t>Synergy (building on ideas of others)</a:t>
            </a:r>
            <a:endParaRPr sz="2000"/>
          </a:p>
          <a:p>
            <a:pPr marL="253365" indent="-241300">
              <a:lnSpc>
                <a:spcPct val="100000"/>
              </a:lnSpc>
              <a:spcBef>
                <a:spcPts val="1065"/>
              </a:spcBef>
              <a:buFont typeface="Microsoft Sans Serif" panose="020B0604020202020204"/>
              <a:buChar char="▪"/>
              <a:tabLst>
                <a:tab pos="253365" algn="l"/>
                <a:tab pos="254000" algn="l"/>
              </a:tabLst>
            </a:pPr>
            <a:r>
              <a:rPr sz="2000"/>
              <a:t>Objective evaluation of ideas</a:t>
            </a:r>
            <a:endParaRPr sz="2000"/>
          </a:p>
          <a:p>
            <a:pPr marL="253365" indent="-241300">
              <a:lnSpc>
                <a:spcPct val="100000"/>
              </a:lnSpc>
              <a:spcBef>
                <a:spcPts val="1080"/>
              </a:spcBef>
              <a:buFont typeface="Microsoft Sans Serif" panose="020B0604020202020204"/>
              <a:buChar char="▪"/>
              <a:tabLst>
                <a:tab pos="253365" algn="l"/>
                <a:tab pos="254000" algn="l"/>
              </a:tabLst>
            </a:pPr>
            <a:r>
              <a:rPr sz="2000"/>
              <a:t>Increased participation due to stimulation of individuals</a:t>
            </a:r>
            <a:endParaRPr sz="2000"/>
          </a:p>
          <a:p>
            <a:pPr marL="253365" indent="-241300">
              <a:lnSpc>
                <a:spcPct val="100000"/>
              </a:lnSpc>
              <a:spcBef>
                <a:spcPts val="1080"/>
              </a:spcBef>
              <a:buFont typeface="Microsoft Sans Serif" panose="020B0604020202020204"/>
              <a:buChar char="▪"/>
              <a:tabLst>
                <a:tab pos="253365" algn="l"/>
                <a:tab pos="254000" algn="l"/>
              </a:tabLst>
            </a:pPr>
            <a:r>
              <a:rPr sz="2000"/>
              <a:t>Possibility of global participation</a:t>
            </a:r>
            <a:endParaRPr sz="2000"/>
          </a:p>
        </p:txBody>
      </p:sp>
      <p:sp>
        <p:nvSpPr>
          <p:cNvPr id="6" name="object 4"/>
          <p:cNvSpPr txBox="1"/>
          <p:nvPr/>
        </p:nvSpPr>
        <p:spPr>
          <a:xfrm>
            <a:off x="334645" y="5294630"/>
            <a:ext cx="4846320" cy="1314450"/>
          </a:xfrm>
          <a:prstGeom prst="rect">
            <a:avLst/>
          </a:prstGeom>
        </p:spPr>
        <p:txBody>
          <a:bodyPr vert="horz" wrap="square" lIns="0" tIns="164684" rIns="0" bIns="0" rtlCol="0">
            <a:spAutoFit/>
          </a:bodyPr>
          <a:p>
            <a:pPr marL="253365" marR="5080" indent="-241300" algn="just">
              <a:lnSpc>
                <a:spcPct val="90000"/>
              </a:lnSpc>
              <a:spcBef>
                <a:spcPts val="1575"/>
              </a:spcBef>
              <a:buFont typeface="Microsoft Sans Serif" panose="020B0604020202020204"/>
              <a:buChar char="▪"/>
              <a:tabLst>
                <a:tab pos="254000" algn="l"/>
              </a:tabLst>
            </a:pPr>
            <a:r>
              <a:rPr>
                <a:sym typeface="+mn-ea"/>
              </a:rPr>
              <a:t>Cost:</a:t>
            </a:r>
            <a:endParaRPr>
              <a:sym typeface="+mn-ea"/>
            </a:endParaRPr>
          </a:p>
          <a:p>
            <a:pPr marL="253365" marR="5080" indent="-241300" algn="just">
              <a:lnSpc>
                <a:spcPct val="90000"/>
              </a:lnSpc>
              <a:spcBef>
                <a:spcPts val="1575"/>
              </a:spcBef>
              <a:buFont typeface="Microsoft Sans Serif" panose="020B0604020202020204"/>
              <a:buChar char="▪"/>
              <a:tabLst>
                <a:tab pos="254000" algn="l"/>
              </a:tabLst>
            </a:pPr>
            <a:r>
              <a:t>Security: </a:t>
            </a:r>
          </a:p>
          <a:p>
            <a:pPr marL="253365" marR="5080" indent="-241300" algn="just">
              <a:lnSpc>
                <a:spcPct val="90000"/>
              </a:lnSpc>
              <a:spcBef>
                <a:spcPts val="1575"/>
              </a:spcBef>
              <a:buFont typeface="Microsoft Sans Serif" panose="020B0604020202020204"/>
              <a:buChar char="▪"/>
              <a:tabLst>
                <a:tab pos="254000" algn="l"/>
              </a:tabLst>
            </a:pPr>
            <a:r>
              <a:t>Technical Failure: </a:t>
            </a:r>
          </a:p>
        </p:txBody>
      </p:sp>
      <p:sp>
        <p:nvSpPr>
          <p:cNvPr id="7" name="object 2"/>
          <p:cNvSpPr txBox="1">
            <a:spLocks noGrp="1"/>
          </p:cNvSpPr>
          <p:nvPr/>
        </p:nvSpPr>
        <p:spPr>
          <a:xfrm>
            <a:off x="199390" y="4544060"/>
            <a:ext cx="11992610" cy="750570"/>
          </a:xfrm>
          <a:prstGeom prst="rect">
            <a:avLst/>
          </a:prstGeom>
        </p:spPr>
        <p:txBody>
          <a:bodyPr vert="horz" wrap="square" lIns="0" tIns="12092" rIns="0" bIns="0" rtlCol="0" anchor="ctr">
            <a:sp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lnSpc>
                <a:spcPct val="100000"/>
              </a:lnSpc>
              <a:spcBef>
                <a:spcPts val="105"/>
              </a:spcBef>
            </a:pPr>
            <a:r>
              <a:rPr lang="en-US"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Disa</a:t>
            </a:r>
            <a:r>
              <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dvantages</a:t>
            </a:r>
            <a:r>
              <a:rPr sz="4800" b="1" spc="10" dirty="0">
                <a:solidFill>
                  <a:schemeClr val="accent1"/>
                </a:solidFill>
                <a:effectLst>
                  <a:outerShdw blurRad="38100" dist="25400" dir="5400000" algn="ctr" rotWithShape="0">
                    <a:srgbClr val="6E747A">
                      <a:alpha val="43000"/>
                      <a:alpha val="43000"/>
                    </a:srgbClr>
                  </a:outerShdw>
                </a:effectLst>
                <a:latin typeface="times" charset="0"/>
                <a:cs typeface="times" charset="0"/>
              </a:rPr>
              <a:t> </a:t>
            </a:r>
            <a:r>
              <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of</a:t>
            </a:r>
            <a:r>
              <a:rPr sz="4800" b="1" spc="-40" dirty="0">
                <a:solidFill>
                  <a:schemeClr val="accent1"/>
                </a:solidFill>
                <a:effectLst>
                  <a:outerShdw blurRad="38100" dist="25400" dir="5400000" algn="ctr" rotWithShape="0">
                    <a:srgbClr val="6E747A">
                      <a:alpha val="43000"/>
                      <a:alpha val="43000"/>
                    </a:srgbClr>
                  </a:outerShdw>
                </a:effectLst>
                <a:latin typeface="times" charset="0"/>
                <a:cs typeface="times" charset="0"/>
              </a:rPr>
              <a:t> </a:t>
            </a:r>
            <a:r>
              <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GDSS</a:t>
            </a:r>
            <a:endParaRPr sz="4800" b="1"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0070" y="0"/>
            <a:ext cx="11631930"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dirty="0">
                <a:solidFill>
                  <a:schemeClr val="accent1"/>
                </a:solidFill>
                <a:effectLst>
                  <a:outerShdw blurRad="38100" dist="25400" dir="5400000" algn="ctr" rotWithShape="0">
                    <a:srgbClr val="6E747A">
                      <a:alpha val="43000"/>
                      <a:alpha val="43000"/>
                    </a:srgbClr>
                  </a:outerShdw>
                </a:effectLst>
              </a:rPr>
              <a:t>5.4.1.1 Phases of</a:t>
            </a:r>
            <a:r>
              <a:rPr spc="30" dirty="0">
                <a:solidFill>
                  <a:schemeClr val="accent1"/>
                </a:solidFill>
                <a:effectLst>
                  <a:outerShdw blurRad="38100" dist="25400" dir="5400000" algn="ctr" rotWithShape="0">
                    <a:srgbClr val="6E747A">
                      <a:alpha val="43000"/>
                      <a:alpha val="43000"/>
                    </a:srgbClr>
                  </a:outerShdw>
                </a:effectLst>
              </a:rPr>
              <a:t> </a:t>
            </a:r>
            <a:r>
              <a:rPr spc="-5" dirty="0">
                <a:solidFill>
                  <a:schemeClr val="accent1"/>
                </a:solidFill>
                <a:effectLst>
                  <a:outerShdw blurRad="38100" dist="25400" dir="5400000" algn="ctr" rotWithShape="0">
                    <a:srgbClr val="6E747A">
                      <a:alpha val="43000"/>
                      <a:alpha val="43000"/>
                    </a:srgbClr>
                  </a:outerShdw>
                </a:effectLst>
              </a:rPr>
              <a:t>GDSS</a:t>
            </a:r>
            <a:r>
              <a:rPr dirty="0">
                <a:solidFill>
                  <a:schemeClr val="accent1"/>
                </a:solidFill>
                <a:effectLst>
                  <a:outerShdw blurRad="38100" dist="25400" dir="5400000" algn="ctr" rotWithShape="0">
                    <a:srgbClr val="6E747A">
                      <a:alpha val="43000"/>
                      <a:alpha val="43000"/>
                    </a:srgbClr>
                  </a:outerShdw>
                </a:effectLst>
              </a:rPr>
              <a:t> process</a:t>
            </a:r>
            <a:endParaRPr dirty="0">
              <a:solidFill>
                <a:schemeClr val="accent1"/>
              </a:solidFill>
              <a:effectLst>
                <a:outerShdw blurRad="38100" dist="25400" dir="5400000" algn="ctr" rotWithShape="0">
                  <a:srgbClr val="6E747A">
                    <a:alpha val="43000"/>
                    <a:alpha val="43000"/>
                  </a:srgbClr>
                </a:outerShdw>
              </a:effectLst>
            </a:endParaRPr>
          </a:p>
        </p:txBody>
      </p:sp>
      <p:sp>
        <p:nvSpPr>
          <p:cNvPr id="3" name="object 3"/>
          <p:cNvSpPr txBox="1"/>
          <p:nvPr/>
        </p:nvSpPr>
        <p:spPr>
          <a:xfrm>
            <a:off x="-635" y="2625725"/>
            <a:ext cx="12192000" cy="1905635"/>
          </a:xfrm>
          <a:prstGeom prst="rect">
            <a:avLst/>
          </a:prstGeom>
        </p:spPr>
        <p:txBody>
          <a:bodyPr vert="horz" wrap="square" lIns="0" tIns="43762" rIns="0" bIns="0" rtlCol="0">
            <a:spAutoFit/>
          </a:bodyPr>
          <a:lstStyle/>
          <a:p>
            <a:pPr marL="253365" marR="5080" indent="-241300">
              <a:lnSpc>
                <a:spcPts val="2270"/>
              </a:lnSpc>
              <a:spcBef>
                <a:spcPts val="380"/>
              </a:spcBef>
              <a:buFont typeface="Microsoft Sans Serif" panose="020B0604020202020204"/>
              <a:buChar char="▪"/>
              <a:tabLst>
                <a:tab pos="253365" algn="l"/>
                <a:tab pos="254000" algn="l"/>
              </a:tabLst>
            </a:pPr>
            <a:r>
              <a:rPr b="1"/>
              <a:t>Brainstorming </a:t>
            </a:r>
            <a:r>
              <a:t>– group members will come up with ideas to solve  problem</a:t>
            </a:r>
          </a:p>
          <a:p>
            <a:pPr marL="253365" marR="6985" indent="-241300">
              <a:lnSpc>
                <a:spcPts val="2280"/>
              </a:lnSpc>
              <a:spcBef>
                <a:spcPts val="1575"/>
              </a:spcBef>
              <a:buFont typeface="Microsoft Sans Serif" panose="020B0604020202020204"/>
              <a:buChar char="▪"/>
              <a:tabLst>
                <a:tab pos="253365" algn="l"/>
                <a:tab pos="254000" algn="l"/>
              </a:tabLst>
            </a:pPr>
            <a:r>
              <a:rPr b="1"/>
              <a:t>Issue categorization &amp; analysis </a:t>
            </a:r>
            <a:r>
              <a:t>– group members will sort the ideas  based on the classification &amp; the idea will be evaluated.</a:t>
            </a:r>
          </a:p>
          <a:p>
            <a:pPr marL="253365" marR="8890" indent="-241300">
              <a:lnSpc>
                <a:spcPts val="2270"/>
              </a:lnSpc>
              <a:spcBef>
                <a:spcPts val="1580"/>
              </a:spcBef>
              <a:buFont typeface="Microsoft Sans Serif" panose="020B0604020202020204"/>
              <a:buChar char="▪"/>
              <a:tabLst>
                <a:tab pos="253365" algn="l"/>
                <a:tab pos="254000" algn="l"/>
              </a:tabLst>
            </a:pPr>
            <a:r>
              <a:rPr b="1"/>
              <a:t>Ranking &amp; voting </a:t>
            </a:r>
            <a:r>
              <a:t>– every group member will chose the suitable  ideas in solving the problem. Highest voted idea will </a:t>
            </a:r>
            <a:r>
              <a:t>be selected.</a:t>
            </a:r>
          </a:p>
        </p:txBody>
      </p:sp>
      <p:pic>
        <p:nvPicPr>
          <p:cNvPr id="4" name="object 4"/>
          <p:cNvPicPr/>
          <p:nvPr/>
        </p:nvPicPr>
        <p:blipFill>
          <a:blip r:embed="rId1" cstate="print"/>
          <a:stretch>
            <a:fillRect/>
          </a:stretch>
        </p:blipFill>
        <p:spPr>
          <a:xfrm>
            <a:off x="2521588" y="1097131"/>
            <a:ext cx="2526231" cy="1018507"/>
          </a:xfrm>
          <a:prstGeom prst="rect">
            <a:avLst/>
          </a:prstGeom>
        </p:spPr>
      </p:pic>
      <p:sp>
        <p:nvSpPr>
          <p:cNvPr id="5" name="object 5"/>
          <p:cNvSpPr txBox="1"/>
          <p:nvPr/>
        </p:nvSpPr>
        <p:spPr>
          <a:xfrm>
            <a:off x="3135987" y="1440665"/>
            <a:ext cx="1512100" cy="268605"/>
          </a:xfrm>
          <a:prstGeom prst="rect">
            <a:avLst/>
          </a:prstGeom>
        </p:spPr>
        <p:txBody>
          <a:bodyPr vert="horz" wrap="square" lIns="0" tIns="10940" rIns="0" bIns="0" rtlCol="0">
            <a:spAutoFit/>
          </a:bodyPr>
          <a:lstStyle/>
          <a:p>
            <a:pPr marL="12700">
              <a:lnSpc>
                <a:spcPct val="100000"/>
              </a:lnSpc>
              <a:spcBef>
                <a:spcPts val="95"/>
              </a:spcBef>
            </a:pPr>
            <a:r>
              <a:rPr sz="1680" b="1" spc="-10" dirty="0">
                <a:solidFill>
                  <a:srgbClr val="0070BF"/>
                </a:solidFill>
                <a:latin typeface="Corbel"/>
                <a:cs typeface="Corbel"/>
              </a:rPr>
              <a:t>Brainstorming</a:t>
            </a:r>
            <a:endParaRPr sz="1680">
              <a:latin typeface="Corbel"/>
              <a:cs typeface="Corbel"/>
            </a:endParaRPr>
          </a:p>
        </p:txBody>
      </p:sp>
      <p:pic>
        <p:nvPicPr>
          <p:cNvPr id="6" name="object 6"/>
          <p:cNvPicPr/>
          <p:nvPr/>
        </p:nvPicPr>
        <p:blipFill>
          <a:blip r:embed="rId2" cstate="print"/>
          <a:stretch>
            <a:fillRect/>
          </a:stretch>
        </p:blipFill>
        <p:spPr>
          <a:xfrm>
            <a:off x="4778972" y="1097131"/>
            <a:ext cx="2526231" cy="1018507"/>
          </a:xfrm>
          <a:prstGeom prst="rect">
            <a:avLst/>
          </a:prstGeom>
        </p:spPr>
      </p:pic>
      <p:sp>
        <p:nvSpPr>
          <p:cNvPr id="7" name="object 7"/>
          <p:cNvSpPr txBox="1"/>
          <p:nvPr/>
        </p:nvSpPr>
        <p:spPr>
          <a:xfrm>
            <a:off x="5387438" y="1208610"/>
            <a:ext cx="1634173" cy="737235"/>
          </a:xfrm>
          <a:prstGeom prst="rect">
            <a:avLst/>
          </a:prstGeom>
        </p:spPr>
        <p:txBody>
          <a:bodyPr vert="horz" wrap="square" lIns="0" tIns="33973" rIns="0" bIns="0" rtlCol="0">
            <a:spAutoFit/>
          </a:bodyPr>
          <a:lstStyle/>
          <a:p>
            <a:pPr marL="12700" marR="5080" indent="-1270" algn="ctr">
              <a:lnSpc>
                <a:spcPct val="91000"/>
              </a:lnSpc>
              <a:spcBef>
                <a:spcPts val="295"/>
              </a:spcBef>
            </a:pPr>
            <a:r>
              <a:rPr sz="1680" b="1" spc="-10" dirty="0">
                <a:solidFill>
                  <a:srgbClr val="0070BF"/>
                </a:solidFill>
                <a:latin typeface="Corbel"/>
                <a:cs typeface="Corbel"/>
              </a:rPr>
              <a:t>Issue </a:t>
            </a:r>
            <a:r>
              <a:rPr sz="1680" b="1" spc="-5" dirty="0">
                <a:solidFill>
                  <a:srgbClr val="0070BF"/>
                </a:solidFill>
                <a:latin typeface="Corbel"/>
                <a:cs typeface="Corbel"/>
              </a:rPr>
              <a:t> </a:t>
            </a:r>
            <a:r>
              <a:rPr sz="1680" b="1" spc="-10" dirty="0">
                <a:solidFill>
                  <a:srgbClr val="0070BF"/>
                </a:solidFill>
                <a:latin typeface="Corbel"/>
                <a:cs typeface="Corbel"/>
              </a:rPr>
              <a:t>c</a:t>
            </a:r>
            <a:r>
              <a:rPr sz="1680" b="1" spc="-15" dirty="0">
                <a:solidFill>
                  <a:srgbClr val="0070BF"/>
                </a:solidFill>
                <a:latin typeface="Corbel"/>
                <a:cs typeface="Corbel"/>
              </a:rPr>
              <a:t>a</a:t>
            </a:r>
            <a:r>
              <a:rPr sz="1680" b="1" spc="-5" dirty="0">
                <a:solidFill>
                  <a:srgbClr val="0070BF"/>
                </a:solidFill>
                <a:latin typeface="Corbel"/>
                <a:cs typeface="Corbel"/>
              </a:rPr>
              <a:t>t</a:t>
            </a:r>
            <a:r>
              <a:rPr sz="1680" b="1" spc="-10" dirty="0">
                <a:solidFill>
                  <a:srgbClr val="0070BF"/>
                </a:solidFill>
                <a:latin typeface="Corbel"/>
                <a:cs typeface="Corbel"/>
              </a:rPr>
              <a:t>e</a:t>
            </a:r>
            <a:r>
              <a:rPr sz="1680" b="1" spc="10" dirty="0">
                <a:solidFill>
                  <a:srgbClr val="0070BF"/>
                </a:solidFill>
                <a:latin typeface="Corbel"/>
                <a:cs typeface="Corbel"/>
              </a:rPr>
              <a:t>g</a:t>
            </a:r>
            <a:r>
              <a:rPr sz="1680" b="1" spc="-15" dirty="0">
                <a:solidFill>
                  <a:srgbClr val="0070BF"/>
                </a:solidFill>
                <a:latin typeface="Corbel"/>
                <a:cs typeface="Corbel"/>
              </a:rPr>
              <a:t>o</a:t>
            </a:r>
            <a:r>
              <a:rPr sz="1680" b="1" spc="-5" dirty="0">
                <a:solidFill>
                  <a:srgbClr val="0070BF"/>
                </a:solidFill>
                <a:latin typeface="Corbel"/>
                <a:cs typeface="Corbel"/>
              </a:rPr>
              <a:t>ri</a:t>
            </a:r>
            <a:r>
              <a:rPr sz="1680" b="1" spc="-20" dirty="0">
                <a:solidFill>
                  <a:srgbClr val="0070BF"/>
                </a:solidFill>
                <a:latin typeface="Corbel"/>
                <a:cs typeface="Corbel"/>
              </a:rPr>
              <a:t>z</a:t>
            </a:r>
            <a:r>
              <a:rPr sz="1680" b="1" dirty="0">
                <a:solidFill>
                  <a:srgbClr val="0070BF"/>
                </a:solidFill>
                <a:latin typeface="Corbel"/>
                <a:cs typeface="Corbel"/>
              </a:rPr>
              <a:t>a</a:t>
            </a:r>
            <a:r>
              <a:rPr sz="1680" b="1" spc="-25" dirty="0">
                <a:solidFill>
                  <a:srgbClr val="0070BF"/>
                </a:solidFill>
                <a:latin typeface="Corbel"/>
                <a:cs typeface="Corbel"/>
              </a:rPr>
              <a:t>t</a:t>
            </a:r>
            <a:r>
              <a:rPr sz="1680" b="1" spc="-5" dirty="0">
                <a:solidFill>
                  <a:srgbClr val="0070BF"/>
                </a:solidFill>
                <a:latin typeface="Corbel"/>
                <a:cs typeface="Corbel"/>
              </a:rPr>
              <a:t>i</a:t>
            </a:r>
            <a:r>
              <a:rPr sz="1680" b="1" spc="-15" dirty="0">
                <a:solidFill>
                  <a:srgbClr val="0070BF"/>
                </a:solidFill>
                <a:latin typeface="Corbel"/>
                <a:cs typeface="Corbel"/>
              </a:rPr>
              <a:t>o</a:t>
            </a:r>
            <a:r>
              <a:rPr sz="1680" b="1" spc="-5" dirty="0">
                <a:solidFill>
                  <a:srgbClr val="0070BF"/>
                </a:solidFill>
                <a:latin typeface="Corbel"/>
                <a:cs typeface="Corbel"/>
              </a:rPr>
              <a:t>n  &amp;</a:t>
            </a:r>
            <a:r>
              <a:rPr sz="1680" b="1" spc="-10" dirty="0">
                <a:solidFill>
                  <a:srgbClr val="0070BF"/>
                </a:solidFill>
                <a:latin typeface="Corbel"/>
                <a:cs typeface="Corbel"/>
              </a:rPr>
              <a:t> analysis</a:t>
            </a:r>
            <a:endParaRPr sz="1680">
              <a:latin typeface="Corbel"/>
              <a:cs typeface="Corbel"/>
            </a:endParaRPr>
          </a:p>
        </p:txBody>
      </p:sp>
      <p:pic>
        <p:nvPicPr>
          <p:cNvPr id="8" name="object 8"/>
          <p:cNvPicPr/>
          <p:nvPr/>
        </p:nvPicPr>
        <p:blipFill>
          <a:blip r:embed="rId3" cstate="print"/>
          <a:stretch>
            <a:fillRect/>
          </a:stretch>
        </p:blipFill>
        <p:spPr>
          <a:xfrm>
            <a:off x="7040613" y="1097131"/>
            <a:ext cx="2522086" cy="1018507"/>
          </a:xfrm>
          <a:prstGeom prst="rect">
            <a:avLst/>
          </a:prstGeom>
        </p:spPr>
      </p:pic>
      <p:sp>
        <p:nvSpPr>
          <p:cNvPr id="9" name="object 9"/>
          <p:cNvSpPr txBox="1"/>
          <p:nvPr/>
        </p:nvSpPr>
        <p:spPr>
          <a:xfrm>
            <a:off x="7838698" y="1324925"/>
            <a:ext cx="1377934" cy="556895"/>
          </a:xfrm>
          <a:prstGeom prst="rect">
            <a:avLst/>
          </a:prstGeom>
        </p:spPr>
        <p:txBody>
          <a:bodyPr vert="horz" wrap="square" lIns="0" tIns="36852" rIns="0" bIns="0" rtlCol="0">
            <a:spAutoFit/>
          </a:bodyPr>
          <a:lstStyle/>
          <a:p>
            <a:pPr marL="200025" marR="5080" indent="-187960">
              <a:lnSpc>
                <a:spcPts val="2030"/>
              </a:lnSpc>
              <a:spcBef>
                <a:spcPts val="320"/>
              </a:spcBef>
            </a:pPr>
            <a:r>
              <a:rPr sz="1680" b="1" spc="-10" dirty="0">
                <a:solidFill>
                  <a:srgbClr val="0070BF"/>
                </a:solidFill>
                <a:latin typeface="Corbel"/>
                <a:cs typeface="Corbel"/>
              </a:rPr>
              <a:t>Ranking</a:t>
            </a:r>
            <a:r>
              <a:rPr sz="1680" b="1" spc="-75" dirty="0">
                <a:solidFill>
                  <a:srgbClr val="0070BF"/>
                </a:solidFill>
                <a:latin typeface="Corbel"/>
                <a:cs typeface="Corbel"/>
              </a:rPr>
              <a:t> </a:t>
            </a:r>
            <a:r>
              <a:rPr sz="1680" b="1" spc="-5" dirty="0">
                <a:solidFill>
                  <a:srgbClr val="0070BF"/>
                </a:solidFill>
                <a:latin typeface="Corbel"/>
                <a:cs typeface="Corbel"/>
              </a:rPr>
              <a:t>&amp; </a:t>
            </a:r>
            <a:r>
              <a:rPr sz="1680" b="1" spc="-365" dirty="0">
                <a:solidFill>
                  <a:srgbClr val="0070BF"/>
                </a:solidFill>
                <a:latin typeface="Corbel"/>
                <a:cs typeface="Corbel"/>
              </a:rPr>
              <a:t> </a:t>
            </a:r>
            <a:r>
              <a:rPr sz="1680" b="1" spc="-25" dirty="0">
                <a:solidFill>
                  <a:srgbClr val="0070BF"/>
                </a:solidFill>
                <a:latin typeface="Corbel"/>
                <a:cs typeface="Corbel"/>
              </a:rPr>
              <a:t>Voting</a:t>
            </a:r>
            <a:endParaRPr sz="1680">
              <a:latin typeface="Corbel"/>
              <a:cs typeface="Corbel"/>
            </a:endParaRPr>
          </a:p>
        </p:txBody>
      </p:sp>
      <p:sp>
        <p:nvSpPr>
          <p:cNvPr id="11" name="object 11"/>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5460" y="0"/>
            <a:ext cx="11278870"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b="1" dirty="0">
                <a:solidFill>
                  <a:schemeClr val="accent1"/>
                </a:solidFill>
                <a:effectLst>
                  <a:outerShdw blurRad="38100" dist="25400" dir="5400000" algn="ctr" rotWithShape="0">
                    <a:srgbClr val="6E747A">
                      <a:alpha val="43000"/>
                      <a:alpha val="43000"/>
                    </a:srgbClr>
                  </a:outerShdw>
                </a:effectLst>
              </a:rPr>
              <a:t>5.4.1.2</a:t>
            </a:r>
            <a:r>
              <a:rPr b="1" spc="-5" dirty="0">
                <a:solidFill>
                  <a:schemeClr val="accent1"/>
                </a:solidFill>
                <a:effectLst>
                  <a:outerShdw blurRad="38100" dist="25400" dir="5400000" algn="ctr" rotWithShape="0">
                    <a:srgbClr val="6E747A">
                      <a:alpha val="43000"/>
                      <a:alpha val="43000"/>
                    </a:srgbClr>
                  </a:outerShdw>
                </a:effectLst>
              </a:rPr>
              <a:t> </a:t>
            </a:r>
            <a:r>
              <a:rPr b="1" dirty="0">
                <a:solidFill>
                  <a:schemeClr val="accent1"/>
                </a:solidFill>
                <a:effectLst>
                  <a:outerShdw blurRad="38100" dist="25400" dir="5400000" algn="ctr" rotWithShape="0">
                    <a:srgbClr val="6E747A">
                      <a:alpha val="43000"/>
                      <a:alpha val="43000"/>
                    </a:srgbClr>
                  </a:outerShdw>
                </a:effectLst>
              </a:rPr>
              <a:t>Components</a:t>
            </a:r>
            <a:r>
              <a:rPr b="1" spc="20" dirty="0">
                <a:solidFill>
                  <a:schemeClr val="accent1"/>
                </a:solidFill>
                <a:effectLst>
                  <a:outerShdw blurRad="38100" dist="25400" dir="5400000" algn="ctr" rotWithShape="0">
                    <a:srgbClr val="6E747A">
                      <a:alpha val="43000"/>
                      <a:alpha val="43000"/>
                    </a:srgbClr>
                  </a:outerShdw>
                </a:effectLst>
              </a:rPr>
              <a:t> </a:t>
            </a:r>
            <a:r>
              <a:rPr b="1" spc="-15" dirty="0">
                <a:solidFill>
                  <a:schemeClr val="accent1"/>
                </a:solidFill>
                <a:effectLst>
                  <a:outerShdw blurRad="38100" dist="25400" dir="5400000" algn="ctr" rotWithShape="0">
                    <a:srgbClr val="6E747A">
                      <a:alpha val="43000"/>
                      <a:alpha val="43000"/>
                    </a:srgbClr>
                  </a:outerShdw>
                </a:effectLst>
              </a:rPr>
              <a:t>of</a:t>
            </a:r>
            <a:r>
              <a:rPr b="1" dirty="0">
                <a:solidFill>
                  <a:schemeClr val="accent1"/>
                </a:solidFill>
                <a:effectLst>
                  <a:outerShdw blurRad="38100" dist="25400" dir="5400000" algn="ctr" rotWithShape="0">
                    <a:srgbClr val="6E747A">
                      <a:alpha val="43000"/>
                      <a:alpha val="43000"/>
                    </a:srgbClr>
                  </a:outerShdw>
                </a:effectLst>
              </a:rPr>
              <a:t> </a:t>
            </a:r>
            <a:r>
              <a:rPr b="1" spc="10" dirty="0">
                <a:solidFill>
                  <a:schemeClr val="accent1"/>
                </a:solidFill>
                <a:effectLst>
                  <a:outerShdw blurRad="38100" dist="25400" dir="5400000" algn="ctr" rotWithShape="0">
                    <a:srgbClr val="6E747A">
                      <a:alpha val="43000"/>
                      <a:alpha val="43000"/>
                    </a:srgbClr>
                  </a:outerShdw>
                </a:effectLst>
              </a:rPr>
              <a:t>GDSS</a:t>
            </a:r>
            <a:endParaRPr b="1" spc="10" dirty="0">
              <a:solidFill>
                <a:schemeClr val="accent1"/>
              </a:solidFill>
              <a:effectLst>
                <a:outerShdw blurRad="38100" dist="25400" dir="5400000" algn="ctr" rotWithShape="0">
                  <a:srgbClr val="6E747A">
                    <a:alpha val="43000"/>
                    <a:alpha val="43000"/>
                  </a:srgbClr>
                </a:outerShdw>
              </a:effectLst>
            </a:endParaRPr>
          </a:p>
        </p:txBody>
      </p:sp>
      <p:sp>
        <p:nvSpPr>
          <p:cNvPr id="3" name="object 3"/>
          <p:cNvSpPr txBox="1"/>
          <p:nvPr/>
        </p:nvSpPr>
        <p:spPr>
          <a:xfrm>
            <a:off x="2521354" y="2198254"/>
            <a:ext cx="7148213" cy="916305"/>
          </a:xfrm>
          <a:prstGeom prst="rect">
            <a:avLst/>
          </a:prstGeom>
        </p:spPr>
        <p:txBody>
          <a:bodyPr vert="horz" wrap="square" lIns="0" tIns="43762" rIns="0" bIns="0" rtlCol="0">
            <a:spAutoFit/>
          </a:bodyPr>
          <a:lstStyle/>
          <a:p>
            <a:pPr marL="253365" marR="5080" indent="-241300">
              <a:lnSpc>
                <a:spcPts val="2270"/>
              </a:lnSpc>
              <a:spcBef>
                <a:spcPts val="380"/>
              </a:spcBef>
              <a:buFont typeface="Microsoft Sans Serif" panose="020B0604020202020204"/>
              <a:buChar char="▪"/>
              <a:tabLst>
                <a:tab pos="253365" algn="l"/>
                <a:tab pos="254000" algn="l"/>
              </a:tabLst>
            </a:pPr>
            <a:r>
              <a:rPr sz="1905" dirty="0">
                <a:solidFill>
                  <a:srgbClr val="FFFFFF"/>
                </a:solidFill>
                <a:latin typeface="Corbel"/>
                <a:cs typeface="Corbel"/>
              </a:rPr>
              <a:t>A</a:t>
            </a:r>
            <a:r>
              <a:rPr sz="1905" spc="114" dirty="0">
                <a:solidFill>
                  <a:srgbClr val="FFFFFF"/>
                </a:solidFill>
                <a:latin typeface="Corbel"/>
                <a:cs typeface="Corbel"/>
              </a:rPr>
              <a:t> </a:t>
            </a:r>
            <a:r>
              <a:rPr sz="1905" dirty="0">
                <a:solidFill>
                  <a:srgbClr val="FFFFFF"/>
                </a:solidFill>
                <a:latin typeface="Corbel"/>
                <a:cs typeface="Corbel"/>
              </a:rPr>
              <a:t>group</a:t>
            </a:r>
            <a:r>
              <a:rPr sz="1905" spc="105" dirty="0">
                <a:solidFill>
                  <a:srgbClr val="FFFFFF"/>
                </a:solidFill>
                <a:latin typeface="Corbel"/>
                <a:cs typeface="Corbel"/>
              </a:rPr>
              <a:t> </a:t>
            </a:r>
            <a:r>
              <a:rPr sz="1905" dirty="0">
                <a:solidFill>
                  <a:srgbClr val="FFFFFF"/>
                </a:solidFill>
                <a:latin typeface="Corbel"/>
                <a:cs typeface="Corbel"/>
              </a:rPr>
              <a:t>decision</a:t>
            </a:r>
            <a:r>
              <a:rPr sz="1905" spc="135" dirty="0">
                <a:solidFill>
                  <a:srgbClr val="FFFFFF"/>
                </a:solidFill>
                <a:latin typeface="Corbel"/>
                <a:cs typeface="Corbel"/>
              </a:rPr>
              <a:t> </a:t>
            </a:r>
            <a:r>
              <a:rPr sz="1905" spc="-5" dirty="0">
                <a:solidFill>
                  <a:srgbClr val="FFFFFF"/>
                </a:solidFill>
                <a:latin typeface="Corbel"/>
                <a:cs typeface="Corbel"/>
              </a:rPr>
              <a:t>support</a:t>
            </a:r>
            <a:r>
              <a:rPr sz="1905" spc="120" dirty="0">
                <a:solidFill>
                  <a:srgbClr val="FFFFFF"/>
                </a:solidFill>
                <a:latin typeface="Corbel"/>
                <a:cs typeface="Corbel"/>
              </a:rPr>
              <a:t> </a:t>
            </a:r>
            <a:r>
              <a:rPr sz="1905" dirty="0">
                <a:solidFill>
                  <a:srgbClr val="FFFFFF"/>
                </a:solidFill>
                <a:latin typeface="Corbel"/>
                <a:cs typeface="Corbel"/>
              </a:rPr>
              <a:t>system</a:t>
            </a:r>
            <a:r>
              <a:rPr sz="1905" spc="110" dirty="0">
                <a:solidFill>
                  <a:srgbClr val="FFFFFF"/>
                </a:solidFill>
                <a:latin typeface="Corbel"/>
                <a:cs typeface="Corbel"/>
              </a:rPr>
              <a:t> </a:t>
            </a:r>
            <a:r>
              <a:rPr sz="1905" spc="-20" dirty="0">
                <a:solidFill>
                  <a:srgbClr val="FFFFFF"/>
                </a:solidFill>
                <a:latin typeface="Corbel"/>
                <a:cs typeface="Corbel"/>
              </a:rPr>
              <a:t>(GDSS)</a:t>
            </a:r>
            <a:r>
              <a:rPr sz="1905" spc="125" dirty="0">
                <a:solidFill>
                  <a:srgbClr val="FFFFFF"/>
                </a:solidFill>
                <a:latin typeface="Corbel"/>
                <a:cs typeface="Corbel"/>
              </a:rPr>
              <a:t> </a:t>
            </a:r>
            <a:r>
              <a:rPr sz="1905" spc="5" dirty="0">
                <a:solidFill>
                  <a:srgbClr val="FFFFFF"/>
                </a:solidFill>
                <a:latin typeface="Corbel"/>
                <a:cs typeface="Corbel"/>
              </a:rPr>
              <a:t>is</a:t>
            </a:r>
            <a:r>
              <a:rPr sz="1905" spc="114" dirty="0">
                <a:solidFill>
                  <a:srgbClr val="FFFFFF"/>
                </a:solidFill>
                <a:latin typeface="Corbel"/>
                <a:cs typeface="Corbel"/>
              </a:rPr>
              <a:t> </a:t>
            </a:r>
            <a:r>
              <a:rPr sz="1905" spc="-5" dirty="0">
                <a:solidFill>
                  <a:srgbClr val="FFFFFF"/>
                </a:solidFill>
                <a:latin typeface="Corbel"/>
                <a:cs typeface="Corbel"/>
              </a:rPr>
              <a:t>composed</a:t>
            </a:r>
            <a:r>
              <a:rPr sz="1905" spc="140" dirty="0">
                <a:solidFill>
                  <a:srgbClr val="FFFFFF"/>
                </a:solidFill>
                <a:latin typeface="Corbel"/>
                <a:cs typeface="Corbel"/>
              </a:rPr>
              <a:t> </a:t>
            </a:r>
            <a:r>
              <a:rPr sz="1905" spc="-5" dirty="0">
                <a:solidFill>
                  <a:srgbClr val="FFFFFF"/>
                </a:solidFill>
                <a:latin typeface="Corbel"/>
                <a:cs typeface="Corbel"/>
              </a:rPr>
              <a:t>of</a:t>
            </a:r>
            <a:r>
              <a:rPr sz="1905" spc="135" dirty="0">
                <a:solidFill>
                  <a:srgbClr val="FFFFFF"/>
                </a:solidFill>
                <a:latin typeface="Corbel"/>
                <a:cs typeface="Corbel"/>
              </a:rPr>
              <a:t> </a:t>
            </a:r>
            <a:r>
              <a:rPr sz="1905" dirty="0">
                <a:solidFill>
                  <a:srgbClr val="FFFFFF"/>
                </a:solidFill>
                <a:latin typeface="Corbel"/>
                <a:cs typeface="Corbel"/>
              </a:rPr>
              <a:t>3</a:t>
            </a:r>
            <a:r>
              <a:rPr sz="1905" spc="100" dirty="0">
                <a:solidFill>
                  <a:srgbClr val="FFFFFF"/>
                </a:solidFill>
                <a:latin typeface="Corbel"/>
                <a:cs typeface="Corbel"/>
              </a:rPr>
              <a:t> </a:t>
            </a:r>
            <a:r>
              <a:rPr sz="1905" dirty="0">
                <a:solidFill>
                  <a:srgbClr val="FFFFFF"/>
                </a:solidFill>
                <a:latin typeface="Corbel"/>
                <a:cs typeface="Corbel"/>
              </a:rPr>
              <a:t>main </a:t>
            </a:r>
            <a:r>
              <a:rPr sz="1905" spc="-409" dirty="0">
                <a:solidFill>
                  <a:srgbClr val="FFFFFF"/>
                </a:solidFill>
                <a:latin typeface="Corbel"/>
                <a:cs typeface="Corbel"/>
              </a:rPr>
              <a:t> </a:t>
            </a:r>
            <a:r>
              <a:rPr sz="1905" spc="-5" dirty="0">
                <a:solidFill>
                  <a:srgbClr val="FFFFFF"/>
                </a:solidFill>
                <a:latin typeface="Corbel"/>
                <a:cs typeface="Corbel"/>
              </a:rPr>
              <a:t>components,</a:t>
            </a:r>
            <a:r>
              <a:rPr sz="1905" spc="5" dirty="0">
                <a:solidFill>
                  <a:srgbClr val="FFFFFF"/>
                </a:solidFill>
                <a:latin typeface="Corbel"/>
                <a:cs typeface="Corbel"/>
              </a:rPr>
              <a:t> </a:t>
            </a:r>
            <a:r>
              <a:rPr sz="1905" dirty="0">
                <a:solidFill>
                  <a:srgbClr val="FFFFFF"/>
                </a:solidFill>
                <a:latin typeface="Corbel"/>
                <a:cs typeface="Corbel"/>
              </a:rPr>
              <a:t>namely hardware,</a:t>
            </a:r>
            <a:r>
              <a:rPr sz="1905" spc="-10" dirty="0">
                <a:solidFill>
                  <a:srgbClr val="FFFFFF"/>
                </a:solidFill>
                <a:latin typeface="Corbel"/>
                <a:cs typeface="Corbel"/>
              </a:rPr>
              <a:t> </a:t>
            </a:r>
            <a:r>
              <a:rPr sz="1905" dirty="0">
                <a:solidFill>
                  <a:srgbClr val="FFFFFF"/>
                </a:solidFill>
                <a:latin typeface="Corbel"/>
                <a:cs typeface="Corbel"/>
              </a:rPr>
              <a:t>software </a:t>
            </a:r>
            <a:r>
              <a:rPr sz="1905" spc="-5" dirty="0">
                <a:solidFill>
                  <a:srgbClr val="FFFFFF"/>
                </a:solidFill>
                <a:latin typeface="Corbel"/>
                <a:cs typeface="Corbel"/>
              </a:rPr>
              <a:t>tools,</a:t>
            </a:r>
            <a:r>
              <a:rPr sz="1905" spc="10" dirty="0">
                <a:solidFill>
                  <a:srgbClr val="FFFFFF"/>
                </a:solidFill>
                <a:latin typeface="Corbel"/>
                <a:cs typeface="Corbel"/>
              </a:rPr>
              <a:t> </a:t>
            </a:r>
            <a:r>
              <a:rPr sz="1905" dirty="0">
                <a:solidFill>
                  <a:srgbClr val="FFFFFF"/>
                </a:solidFill>
                <a:latin typeface="Corbel"/>
                <a:cs typeface="Corbel"/>
              </a:rPr>
              <a:t>and</a:t>
            </a:r>
            <a:r>
              <a:rPr sz="1905" spc="-15" dirty="0">
                <a:solidFill>
                  <a:srgbClr val="FFFFFF"/>
                </a:solidFill>
                <a:latin typeface="Corbel"/>
                <a:cs typeface="Corbel"/>
              </a:rPr>
              <a:t> </a:t>
            </a:r>
            <a:r>
              <a:rPr sz="1905" dirty="0">
                <a:solidFill>
                  <a:srgbClr val="FFFFFF"/>
                </a:solidFill>
                <a:latin typeface="Corbel"/>
                <a:cs typeface="Corbel"/>
              </a:rPr>
              <a:t>people.</a:t>
            </a:r>
            <a:endParaRPr sz="1905">
              <a:latin typeface="Corbel"/>
              <a:cs typeface="Corbel"/>
            </a:endParaRPr>
          </a:p>
        </p:txBody>
      </p:sp>
      <p:pic>
        <p:nvPicPr>
          <p:cNvPr id="4" name="object 4"/>
          <p:cNvPicPr/>
          <p:nvPr/>
        </p:nvPicPr>
        <p:blipFill>
          <a:blip r:embed="rId1" cstate="print"/>
          <a:stretch>
            <a:fillRect/>
          </a:stretch>
        </p:blipFill>
        <p:spPr>
          <a:xfrm>
            <a:off x="1965325" y="887730"/>
            <a:ext cx="8865235" cy="5083175"/>
          </a:xfrm>
          <a:prstGeom prst="rect">
            <a:avLst/>
          </a:prstGeom>
        </p:spPr>
      </p:pic>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 y="0"/>
            <a:ext cx="11983720"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solidFill>
                  <a:schemeClr val="accent1"/>
                </a:solidFill>
                <a:effectLst>
                  <a:outerShdw blurRad="38100" dist="25400" dir="5400000" algn="ctr" rotWithShape="0">
                    <a:srgbClr val="6E747A">
                      <a:alpha val="43000"/>
                      <a:alpha val="43000"/>
                    </a:srgbClr>
                  </a:outerShdw>
                </a:effectLst>
                <a:sym typeface="+mn-ea"/>
              </a:rPr>
              <a:t>Different kinds of GDSS based on Time/place:</a:t>
            </a:r>
            <a:endParaRPr lang="en-US" b="1" spc="10" dirty="0">
              <a:solidFill>
                <a:schemeClr val="accent1"/>
              </a:solidFill>
              <a:effectLst>
                <a:outerShdw blurRad="38100" dist="25400" dir="5400000" algn="ctr" rotWithShape="0">
                  <a:srgbClr val="6E747A">
                    <a:alpha val="43000"/>
                    <a:alpha val="43000"/>
                  </a:srgbClr>
                </a:outerShdw>
              </a:effectLst>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pic>
        <p:nvPicPr>
          <p:cNvPr id="7" name="Picture 6"/>
          <p:cNvPicPr>
            <a:picLocks noChangeAspect="1"/>
          </p:cNvPicPr>
          <p:nvPr/>
        </p:nvPicPr>
        <p:blipFill>
          <a:blip r:embed="rId1"/>
          <a:stretch>
            <a:fillRect/>
          </a:stretch>
        </p:blipFill>
        <p:spPr>
          <a:xfrm>
            <a:off x="2173605" y="983615"/>
            <a:ext cx="8218805" cy="51657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97473"/>
            <a:ext cx="12191365" cy="627380"/>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IN" sz="40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Enterprise decision support systems</a:t>
            </a:r>
            <a:endParaRPr lang="en-IN" sz="4000"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4" name="Text Box 3"/>
          <p:cNvSpPr txBox="1"/>
          <p:nvPr/>
        </p:nvSpPr>
        <p:spPr>
          <a:xfrm>
            <a:off x="73660" y="725170"/>
            <a:ext cx="11716385" cy="3138170"/>
          </a:xfrm>
          <a:prstGeom prst="rect">
            <a:avLst/>
          </a:prstGeom>
          <a:noFill/>
        </p:spPr>
        <p:txBody>
          <a:bodyPr wrap="square" rtlCol="0" anchor="t">
            <a:spAutoFit/>
          </a:bodyPr>
          <a:p>
            <a:pPr marL="285750" indent="-285750">
              <a:buFont typeface="Wingdings" panose="05000000000000000000" charset="0"/>
              <a:buChar char=""/>
            </a:pPr>
            <a:r>
              <a:rPr lang="en-US"/>
              <a:t>software applications designed to assist in decision-making processes within organizations. </a:t>
            </a:r>
            <a:endParaRPr lang="en-US"/>
          </a:p>
          <a:p>
            <a:endParaRPr lang="en-US"/>
          </a:p>
          <a:p>
            <a:r>
              <a:rPr lang="en-US"/>
              <a:t> key components and features of Enterprise Decision Support Systems:</a:t>
            </a:r>
            <a:endParaRPr lang="en-US"/>
          </a:p>
          <a:p>
            <a:endParaRPr lang="en-US"/>
          </a:p>
          <a:p>
            <a:pPr marL="285750" indent="-285750">
              <a:buFont typeface="Wingdings" panose="05000000000000000000" charset="0"/>
              <a:buChar char=""/>
            </a:pPr>
            <a:r>
              <a:rPr lang="en-US" b="1"/>
              <a:t>Data Integration:</a:t>
            </a:r>
            <a:endParaRPr lang="en-US" b="1"/>
          </a:p>
          <a:p>
            <a:pPr marL="285750" indent="-285750">
              <a:buFont typeface="Wingdings" panose="05000000000000000000" charset="0"/>
              <a:buChar char=""/>
            </a:pPr>
            <a:r>
              <a:rPr lang="en-US" b="1"/>
              <a:t>Analysis and Visualization: </a:t>
            </a:r>
            <a:endParaRPr lang="en-US" b="1"/>
          </a:p>
          <a:p>
            <a:pPr marL="285750" indent="-285750">
              <a:buFont typeface="Wingdings" panose="05000000000000000000" charset="0"/>
              <a:buChar char=""/>
            </a:pPr>
            <a:r>
              <a:rPr lang="en-US" b="1"/>
              <a:t>Collaboration:</a:t>
            </a:r>
            <a:endParaRPr lang="en-US" b="1"/>
          </a:p>
          <a:p>
            <a:pPr marL="285750" indent="-285750">
              <a:buFont typeface="Wingdings" panose="05000000000000000000" charset="0"/>
              <a:buChar char=""/>
            </a:pPr>
            <a:r>
              <a:rPr lang="en-US" b="1"/>
              <a:t>Customization:</a:t>
            </a:r>
            <a:endParaRPr lang="en-US" b="1"/>
          </a:p>
          <a:p>
            <a:pPr marL="285750" indent="-285750">
              <a:buFont typeface="Wingdings" panose="05000000000000000000" charset="0"/>
              <a:buChar char=""/>
            </a:pPr>
            <a:r>
              <a:rPr lang="en-US" b="1"/>
              <a:t>Scalability:</a:t>
            </a:r>
            <a:endParaRPr lang="en-US" b="1"/>
          </a:p>
          <a:p>
            <a:pPr marL="285750" indent="-285750">
              <a:buFont typeface="Wingdings" panose="05000000000000000000" charset="0"/>
              <a:buChar char=""/>
            </a:pPr>
            <a:r>
              <a:rPr lang="en-US" b="1"/>
              <a:t>Security:</a:t>
            </a:r>
            <a:endParaRPr lang="en-US" b="1"/>
          </a:p>
          <a:p>
            <a:pPr marL="285750" indent="-285750">
              <a:buFont typeface="Wingdings" panose="05000000000000000000" charset="0"/>
              <a:buChar char=""/>
            </a:pPr>
            <a:r>
              <a:rPr lang="en-US" b="1"/>
              <a:t>Integration with other Systems:</a:t>
            </a:r>
            <a:endParaRPr lang="en-US"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97473"/>
            <a:ext cx="12191365" cy="627380"/>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IN" sz="40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Executive decision support systems</a:t>
            </a:r>
            <a:endParaRPr lang="en-IN" sz="4000"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3" name="Text Box 2"/>
          <p:cNvSpPr txBox="1"/>
          <p:nvPr/>
        </p:nvSpPr>
        <p:spPr>
          <a:xfrm>
            <a:off x="53975" y="855345"/>
            <a:ext cx="12084050" cy="4831080"/>
          </a:xfrm>
          <a:prstGeom prst="rect">
            <a:avLst/>
          </a:prstGeom>
          <a:noFill/>
        </p:spPr>
        <p:txBody>
          <a:bodyPr wrap="square" rtlCol="0" anchor="t">
            <a:spAutoFit/>
          </a:bodyPr>
          <a:p>
            <a:pPr marL="285750" indent="-285750">
              <a:buFont typeface="Wingdings" panose="05000000000000000000" charset="0"/>
              <a:buChar char=""/>
            </a:pPr>
            <a:r>
              <a:rPr>
                <a:sym typeface="+mn-ea"/>
              </a:rPr>
              <a:t>An executive decision support system is a type of computerized </a:t>
            </a:r>
            <a:r>
              <a:rPr lang="en-US">
                <a:sym typeface="+mn-ea"/>
              </a:rPr>
              <a:t>IS</a:t>
            </a:r>
            <a:r>
              <a:rPr>
                <a:sym typeface="+mn-ea"/>
              </a:rPr>
              <a:t> designed to aid business executives in the decision-making process.</a:t>
            </a:r>
            <a:endParaRPr>
              <a:sym typeface="+mn-ea"/>
            </a:endParaRPr>
          </a:p>
          <a:p>
            <a:pPr marL="285750" indent="-285750">
              <a:buFont typeface="Wingdings" panose="05000000000000000000" charset="0"/>
              <a:buChar char=""/>
            </a:pPr>
            <a:r>
              <a:rPr lang="en-US"/>
              <a:t>These systems provide strategic decision support by offering insights, analysis, and information relevant to high-level management decisions.</a:t>
            </a:r>
            <a:endParaRPr lang="en-US"/>
          </a:p>
          <a:p>
            <a:endParaRPr lang="en-US"/>
          </a:p>
          <a:p>
            <a:r>
              <a:rPr lang="en-US" sz="2000" b="1">
                <a:solidFill>
                  <a:srgbClr val="FF0000"/>
                </a:solidFill>
              </a:rPr>
              <a:t> key features and characteristics of Executive Decision Support Systems:</a:t>
            </a:r>
            <a:endParaRPr lang="en-US" sz="2000" b="1">
              <a:solidFill>
                <a:srgbClr val="FF0000"/>
              </a:solidFill>
            </a:endParaRPr>
          </a:p>
          <a:p>
            <a:endParaRPr lang="en-US" b="1"/>
          </a:p>
          <a:p>
            <a:pPr marL="342900" indent="-342900">
              <a:buFont typeface="+mj-lt"/>
              <a:buAutoNum type="arabicPeriod"/>
            </a:pPr>
            <a:r>
              <a:rPr lang="en-US" b="1"/>
              <a:t>Aggregating Information:</a:t>
            </a:r>
            <a:endParaRPr lang="en-US" b="1"/>
          </a:p>
          <a:p>
            <a:pPr marL="342900" indent="-342900">
              <a:buFont typeface="+mj-lt"/>
              <a:buAutoNum type="arabicPeriod"/>
            </a:pPr>
            <a:r>
              <a:rPr lang="en-US" b="1"/>
              <a:t>Strategic Focus:</a:t>
            </a:r>
            <a:endParaRPr lang="en-US" b="1"/>
          </a:p>
          <a:p>
            <a:pPr marL="342900" indent="-342900">
              <a:buFont typeface="+mj-lt"/>
              <a:buAutoNum type="arabicPeriod"/>
            </a:pPr>
            <a:r>
              <a:rPr lang="en-US" b="1"/>
              <a:t>Visualization and Dashboards:</a:t>
            </a:r>
            <a:endParaRPr lang="en-US" b="1"/>
          </a:p>
          <a:p>
            <a:pPr marL="342900" indent="-342900">
              <a:buFont typeface="+mj-lt"/>
              <a:buAutoNum type="arabicPeriod"/>
            </a:pPr>
            <a:r>
              <a:rPr lang="en-US" b="1"/>
              <a:t>Scenario Planning: </a:t>
            </a:r>
            <a:endParaRPr lang="en-US" b="1"/>
          </a:p>
          <a:p>
            <a:pPr marL="342900" indent="-342900">
              <a:buFont typeface="+mj-lt"/>
              <a:buAutoNum type="arabicPeriod"/>
            </a:pPr>
            <a:r>
              <a:rPr lang="en-US" b="1"/>
              <a:t>Risk Analysis: </a:t>
            </a:r>
            <a:endParaRPr lang="en-US" b="1"/>
          </a:p>
          <a:p>
            <a:pPr marL="342900" indent="-342900">
              <a:buFont typeface="+mj-lt"/>
              <a:buAutoNum type="arabicPeriod"/>
            </a:pPr>
            <a:r>
              <a:rPr lang="en-US" b="1"/>
              <a:t>Forecasting and Predictive Analytics:</a:t>
            </a:r>
            <a:endParaRPr lang="en-US" b="1"/>
          </a:p>
          <a:p>
            <a:pPr marL="342900" indent="-342900">
              <a:buFont typeface="+mj-lt"/>
              <a:buAutoNum type="arabicPeriod"/>
            </a:pPr>
            <a:r>
              <a:rPr lang="en-US" b="1"/>
              <a:t>Decision Collaboration:</a:t>
            </a:r>
            <a:endParaRPr lang="en-US" b="1"/>
          </a:p>
          <a:p>
            <a:pPr marL="342900" indent="-342900">
              <a:buFont typeface="+mj-lt"/>
              <a:buAutoNum type="arabicPeriod"/>
            </a:pPr>
            <a:r>
              <a:rPr lang="en-US" b="1"/>
              <a:t>Real-time Updates: </a:t>
            </a:r>
            <a:endParaRPr lang="en-US" b="1"/>
          </a:p>
          <a:p>
            <a:pPr marL="342900" indent="-342900">
              <a:buFont typeface="+mj-lt"/>
              <a:buAutoNum type="arabicPeriod"/>
            </a:pPr>
            <a:r>
              <a:rPr lang="en-US" b="1"/>
              <a:t>Integration with Business Processes:</a:t>
            </a:r>
            <a:endParaRPr lang="en-US" b="1"/>
          </a:p>
          <a:p>
            <a:pPr marL="342900" indent="-342900">
              <a:buFont typeface="+mj-lt"/>
              <a:buAutoNum type="arabicPeriod"/>
            </a:pPr>
            <a:r>
              <a:rPr lang="en-US" b="1"/>
              <a:t>Security and Privacy:</a:t>
            </a:r>
            <a:endParaRPr 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Knowledge Management</a:t>
            </a:r>
            <a:endParaRPr lang="en-IN"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4" name="Text Box 3"/>
          <p:cNvSpPr txBox="1"/>
          <p:nvPr/>
        </p:nvSpPr>
        <p:spPr>
          <a:xfrm>
            <a:off x="0" y="755650"/>
            <a:ext cx="12190730" cy="368300"/>
          </a:xfrm>
          <a:prstGeom prst="rect">
            <a:avLst/>
          </a:prstGeom>
          <a:noFill/>
        </p:spPr>
        <p:txBody>
          <a:bodyPr wrap="square" rtlCol="0" anchor="t">
            <a:spAutoFit/>
          </a:bodyPr>
          <a:p>
            <a:pPr marL="285750" indent="-285750">
              <a:buFont typeface="Wingdings" panose="05000000000000000000" charset="0"/>
              <a:buChar char=""/>
            </a:pPr>
            <a:r>
              <a:rPr lang="en-US"/>
              <a:t>process of identifying, creating, sharing, and effectively utilizing knowledge within an organization.</a:t>
            </a:r>
            <a:endParaRPr lang="en-US"/>
          </a:p>
        </p:txBody>
      </p:sp>
      <p:pic>
        <p:nvPicPr>
          <p:cNvPr id="5" name="Picture 4"/>
          <p:cNvPicPr>
            <a:picLocks noChangeAspect="1"/>
          </p:cNvPicPr>
          <p:nvPr/>
        </p:nvPicPr>
        <p:blipFill>
          <a:blip r:embed="rId1"/>
          <a:srcRect l="3688" t="5844" r="2972" b="19741"/>
          <a:stretch>
            <a:fillRect/>
          </a:stretch>
        </p:blipFill>
        <p:spPr>
          <a:xfrm>
            <a:off x="1056640" y="1169670"/>
            <a:ext cx="10296525" cy="51682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Components of </a:t>
            </a:r>
            <a:r>
              <a:rPr 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Knowledge Management</a:t>
            </a:r>
            <a:endParaRPr lang="en-IN"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pic>
        <p:nvPicPr>
          <p:cNvPr id="3" name="Picture 2"/>
          <p:cNvPicPr>
            <a:picLocks noChangeAspect="1"/>
          </p:cNvPicPr>
          <p:nvPr/>
        </p:nvPicPr>
        <p:blipFill>
          <a:blip r:embed="rId1"/>
          <a:srcRect l="3215" t="35361" r="2139" b="12056"/>
          <a:stretch>
            <a:fillRect/>
          </a:stretch>
        </p:blipFill>
        <p:spPr>
          <a:xfrm>
            <a:off x="676275" y="989330"/>
            <a:ext cx="11057890" cy="52412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Benefits of </a:t>
            </a:r>
            <a:r>
              <a:rPr 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Knowledge Management</a:t>
            </a:r>
            <a:endParaRPr lang="en-IN"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pic>
        <p:nvPicPr>
          <p:cNvPr id="3" name="Picture 2"/>
          <p:cNvPicPr>
            <a:picLocks noChangeAspect="1"/>
          </p:cNvPicPr>
          <p:nvPr/>
        </p:nvPicPr>
        <p:blipFill>
          <a:blip r:embed="rId1"/>
          <a:srcRect l="4275" t="18267" r="2425" b="10656"/>
          <a:stretch>
            <a:fillRect/>
          </a:stretch>
        </p:blipFill>
        <p:spPr>
          <a:xfrm>
            <a:off x="1247775" y="1048385"/>
            <a:ext cx="9696450" cy="51269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 </a:t>
            </a:r>
            <a:r>
              <a:rPr 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Knowledge </a:t>
            </a: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Based System</a:t>
            </a:r>
            <a:endParaRPr lang="en-US" altLang="en-IN"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468745"/>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4" name="Text Box 3"/>
          <p:cNvSpPr txBox="1"/>
          <p:nvPr/>
        </p:nvSpPr>
        <p:spPr>
          <a:xfrm>
            <a:off x="635" y="850900"/>
            <a:ext cx="12192000" cy="645160"/>
          </a:xfrm>
          <a:prstGeom prst="rect">
            <a:avLst/>
          </a:prstGeom>
          <a:noFill/>
        </p:spPr>
        <p:txBody>
          <a:bodyPr wrap="square" rtlCol="0" anchor="t">
            <a:spAutoFit/>
          </a:bodyPr>
          <a:p>
            <a:pPr marL="285750" indent="-285750">
              <a:buFont typeface="Wingdings" panose="05000000000000000000" charset="0"/>
              <a:buChar char=""/>
            </a:pPr>
            <a:r>
              <a:rPr lang="en-US"/>
              <a:t>They are form of artificial intelligence (AI) designed to capture the knowledge of human experts to support decision-making</a:t>
            </a:r>
            <a:endParaRPr lang="en-US"/>
          </a:p>
        </p:txBody>
      </p:sp>
      <p:pic>
        <p:nvPicPr>
          <p:cNvPr id="5" name="Picture 4"/>
          <p:cNvPicPr>
            <a:picLocks noChangeAspect="1"/>
          </p:cNvPicPr>
          <p:nvPr/>
        </p:nvPicPr>
        <p:blipFill>
          <a:blip r:embed="rId1"/>
          <a:srcRect l="7647" t="14173" r="8107" b="16998"/>
          <a:stretch>
            <a:fillRect/>
          </a:stretch>
        </p:blipFill>
        <p:spPr>
          <a:xfrm>
            <a:off x="1057275" y="1737995"/>
            <a:ext cx="10079355" cy="42735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 </a:t>
            </a:r>
            <a:r>
              <a:rPr 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Knowledge </a:t>
            </a: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Base</a:t>
            </a:r>
            <a:endParaRPr lang="en-US" altLang="en-IN"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4" name="Text Box 3"/>
          <p:cNvSpPr txBox="1"/>
          <p:nvPr/>
        </p:nvSpPr>
        <p:spPr>
          <a:xfrm>
            <a:off x="635" y="570230"/>
            <a:ext cx="12192000" cy="368300"/>
          </a:xfrm>
          <a:prstGeom prst="rect">
            <a:avLst/>
          </a:prstGeom>
          <a:noFill/>
        </p:spPr>
        <p:txBody>
          <a:bodyPr wrap="square" rtlCol="0" anchor="t">
            <a:spAutoFit/>
          </a:bodyPr>
          <a:p>
            <a:pPr marL="285750" indent="-285750">
              <a:buFont typeface="Wingdings" panose="05000000000000000000" charset="0"/>
              <a:buChar char=""/>
            </a:pPr>
            <a:r>
              <a:rPr lang="en-US"/>
              <a:t>Library of Knowledge</a:t>
            </a:r>
            <a:endParaRPr lang="en-US"/>
          </a:p>
        </p:txBody>
      </p:sp>
      <p:pic>
        <p:nvPicPr>
          <p:cNvPr id="3" name="Picture 2"/>
          <p:cNvPicPr>
            <a:picLocks noChangeAspect="1"/>
          </p:cNvPicPr>
          <p:nvPr/>
        </p:nvPicPr>
        <p:blipFill>
          <a:blip r:embed="rId1"/>
          <a:srcRect l="4758" t="6299" r="4249" b="8667"/>
          <a:stretch>
            <a:fillRect/>
          </a:stretch>
        </p:blipFill>
        <p:spPr>
          <a:xfrm>
            <a:off x="593090" y="1080135"/>
            <a:ext cx="10760710" cy="53886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 </a:t>
            </a:r>
            <a:r>
              <a:rPr lang="en-US"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Expert System</a:t>
            </a:r>
            <a:endParaRPr lang="en-US"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7" name="Text Box 6"/>
          <p:cNvSpPr txBox="1"/>
          <p:nvPr/>
        </p:nvSpPr>
        <p:spPr>
          <a:xfrm>
            <a:off x="3594735" y="5563235"/>
            <a:ext cx="5160010" cy="398780"/>
          </a:xfrm>
          <a:prstGeom prst="rect">
            <a:avLst/>
          </a:prstGeom>
          <a:noFill/>
        </p:spPr>
        <p:txBody>
          <a:bodyPr wrap="square" rtlCol="0" anchor="t">
            <a:spAutoFit/>
          </a:bodyPr>
          <a:p>
            <a:pPr algn="ctr"/>
            <a:r>
              <a:rPr lang="en-US" sz="2000" b="1"/>
              <a:t>Components of an Expert System </a:t>
            </a:r>
            <a:endParaRPr lang="en-US" sz="2000" b="1"/>
          </a:p>
        </p:txBody>
      </p:sp>
      <p:sp>
        <p:nvSpPr>
          <p:cNvPr id="8" name="Text Box 7"/>
          <p:cNvSpPr txBox="1"/>
          <p:nvPr/>
        </p:nvSpPr>
        <p:spPr>
          <a:xfrm>
            <a:off x="0" y="690245"/>
            <a:ext cx="12350115" cy="645160"/>
          </a:xfrm>
          <a:prstGeom prst="rect">
            <a:avLst/>
          </a:prstGeom>
          <a:noFill/>
        </p:spPr>
        <p:txBody>
          <a:bodyPr wrap="square" rtlCol="0" anchor="t">
            <a:spAutoFit/>
          </a:bodyPr>
          <a:p>
            <a:pPr marL="285750" indent="-285750">
              <a:buFont typeface="Wingdings" panose="05000000000000000000" charset="0"/>
              <a:buChar char=""/>
            </a:pPr>
            <a:r>
              <a:rPr lang="en-US"/>
              <a:t>computer program that is designed to solve complex problems and to provide decision-making ability like a human expert.</a:t>
            </a:r>
            <a:endParaRPr lang="en-US"/>
          </a:p>
        </p:txBody>
      </p:sp>
      <p:pic>
        <p:nvPicPr>
          <p:cNvPr id="9" name="Picture 8"/>
          <p:cNvPicPr>
            <a:picLocks noChangeAspect="1"/>
          </p:cNvPicPr>
          <p:nvPr/>
        </p:nvPicPr>
        <p:blipFill>
          <a:blip r:embed="rId1"/>
          <a:stretch>
            <a:fillRect/>
          </a:stretch>
        </p:blipFill>
        <p:spPr>
          <a:xfrm>
            <a:off x="753110" y="1795780"/>
            <a:ext cx="9707245" cy="36252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 </a:t>
            </a:r>
            <a:r>
              <a:rPr lang="en-US"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Expert System</a:t>
            </a:r>
            <a:endParaRPr lang="en-US"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pic>
        <p:nvPicPr>
          <p:cNvPr id="4" name="Picture 3"/>
          <p:cNvPicPr>
            <a:picLocks noChangeAspect="1"/>
          </p:cNvPicPr>
          <p:nvPr/>
        </p:nvPicPr>
        <p:blipFill>
          <a:blip r:embed="rId1"/>
          <a:stretch>
            <a:fillRect/>
          </a:stretch>
        </p:blipFill>
        <p:spPr>
          <a:xfrm>
            <a:off x="1748790" y="1023620"/>
            <a:ext cx="8465820" cy="52343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 y="66676"/>
            <a:ext cx="12191365"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lang="en-US" altLang="en-IN"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 </a:t>
            </a:r>
            <a:r>
              <a:rPr lang="en-US"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Expert System</a:t>
            </a:r>
            <a:endParaRPr lang="en-US" b="1" spc="10" dirty="0">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4" name="Text Box 3"/>
          <p:cNvSpPr txBox="1"/>
          <p:nvPr/>
        </p:nvSpPr>
        <p:spPr>
          <a:xfrm>
            <a:off x="635" y="755650"/>
            <a:ext cx="11849100" cy="3969385"/>
          </a:xfrm>
          <a:prstGeom prst="rect">
            <a:avLst/>
          </a:prstGeom>
          <a:noFill/>
        </p:spPr>
        <p:txBody>
          <a:bodyPr wrap="square" rtlCol="0" anchor="t">
            <a:spAutoFit/>
          </a:bodyPr>
          <a:p>
            <a:r>
              <a:rPr lang="en-US" b="1"/>
              <a:t>Advantages of Expert System</a:t>
            </a:r>
            <a:endParaRPr lang="en-US"/>
          </a:p>
          <a:p>
            <a:pPr marL="285750" indent="-285750">
              <a:buFont typeface="Wingdings" panose="05000000000000000000" charset="0"/>
              <a:buChar char=""/>
            </a:pPr>
            <a:r>
              <a:rPr lang="en-US"/>
              <a:t>These systems are highly reproducible.</a:t>
            </a:r>
            <a:endParaRPr lang="en-US"/>
          </a:p>
          <a:p>
            <a:pPr marL="285750" indent="-285750">
              <a:buFont typeface="Wingdings" panose="05000000000000000000" charset="0"/>
              <a:buChar char=""/>
            </a:pPr>
            <a:r>
              <a:rPr lang="en-US"/>
              <a:t>They can be used for risky places where the human presence is not safe.</a:t>
            </a:r>
            <a:endParaRPr lang="en-US"/>
          </a:p>
          <a:p>
            <a:pPr marL="285750" indent="-285750">
              <a:buFont typeface="Wingdings" panose="05000000000000000000" charset="0"/>
              <a:buChar char=""/>
            </a:pPr>
            <a:r>
              <a:rPr lang="en-US"/>
              <a:t>Error possibilities are less if the KB contains correct knowledge.</a:t>
            </a:r>
            <a:endParaRPr lang="en-US"/>
          </a:p>
          <a:p>
            <a:pPr marL="285750" indent="-285750">
              <a:buFont typeface="Wingdings" panose="05000000000000000000" charset="0"/>
              <a:buChar char=""/>
            </a:pPr>
            <a:r>
              <a:rPr lang="en-US"/>
              <a:t>The performance of these systems remains steady as it is not affected by emotions, tension, or fatigue.</a:t>
            </a:r>
            <a:endParaRPr lang="en-US"/>
          </a:p>
          <a:p>
            <a:pPr marL="285750" indent="-285750">
              <a:buFont typeface="Wingdings" panose="05000000000000000000" charset="0"/>
              <a:buChar char=""/>
            </a:pPr>
            <a:r>
              <a:rPr lang="en-US"/>
              <a:t>They provide a very high speed to respond to a particular query.</a:t>
            </a:r>
            <a:endParaRPr lang="en-US"/>
          </a:p>
          <a:p>
            <a:pPr indent="0">
              <a:buFont typeface="Wingdings" panose="05000000000000000000" charset="0"/>
              <a:buNone/>
            </a:pPr>
            <a:endParaRPr lang="en-US"/>
          </a:p>
          <a:p>
            <a:pPr indent="0">
              <a:buFont typeface="Wingdings" panose="05000000000000000000" charset="0"/>
              <a:buNone/>
            </a:pPr>
            <a:r>
              <a:rPr lang="en-US" b="1"/>
              <a:t>Limitations of Expert System</a:t>
            </a:r>
            <a:endParaRPr lang="en-US" b="1"/>
          </a:p>
          <a:p>
            <a:pPr marL="285750" indent="-285750">
              <a:buFont typeface="Wingdings" panose="05000000000000000000" charset="0"/>
              <a:buChar char=""/>
            </a:pPr>
            <a:r>
              <a:rPr lang="en-US"/>
              <a:t>The response of the expert system may get wrong if the knowledge base contains the wrong information.</a:t>
            </a:r>
            <a:endParaRPr lang="en-US"/>
          </a:p>
          <a:p>
            <a:pPr marL="285750" indent="-285750">
              <a:buFont typeface="Wingdings" panose="05000000000000000000" charset="0"/>
              <a:buChar char=""/>
            </a:pPr>
            <a:r>
              <a:rPr lang="en-US"/>
              <a:t>Like a human being, it cannot produce a creative output for different scenarios.</a:t>
            </a:r>
            <a:endParaRPr lang="en-US"/>
          </a:p>
          <a:p>
            <a:pPr marL="285750" indent="-285750">
              <a:buFont typeface="Wingdings" panose="05000000000000000000" charset="0"/>
              <a:buChar char=""/>
            </a:pPr>
            <a:r>
              <a:rPr lang="en-US"/>
              <a:t>Its maintenance and development costs are very high.</a:t>
            </a:r>
            <a:endParaRPr lang="en-US"/>
          </a:p>
          <a:p>
            <a:pPr marL="285750" indent="-285750">
              <a:buFont typeface="Wingdings" panose="05000000000000000000" charset="0"/>
              <a:buChar char=""/>
            </a:pPr>
            <a:r>
              <a:rPr lang="en-US"/>
              <a:t>Knowledge acquisition for designing is much difficult.</a:t>
            </a:r>
            <a:endParaRPr lang="en-US"/>
          </a:p>
          <a:p>
            <a:pPr marL="285750" indent="-285750">
              <a:buFont typeface="Wingdings" panose="05000000000000000000" charset="0"/>
              <a:buChar char=""/>
            </a:pPr>
            <a:r>
              <a:rPr lang="en-US"/>
              <a:t>For each domain, we require a specific ES, which is one of the big limitations.</a:t>
            </a:r>
            <a:endParaRPr lang="en-US"/>
          </a:p>
          <a:p>
            <a:pPr marL="285750" indent="-285750">
              <a:buFont typeface="Wingdings" panose="05000000000000000000" charset="0"/>
              <a:buChar char=""/>
            </a:pPr>
            <a:r>
              <a:rPr lang="en-US"/>
              <a:t>It cannot learn from itself and hence requires manual updates.</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3" name="Text Box 2"/>
          <p:cNvSpPr txBox="1"/>
          <p:nvPr/>
        </p:nvSpPr>
        <p:spPr>
          <a:xfrm>
            <a:off x="76200" y="95250"/>
            <a:ext cx="11654155" cy="2399665"/>
          </a:xfrm>
          <a:prstGeom prst="rect">
            <a:avLst/>
          </a:prstGeom>
          <a:noFill/>
        </p:spPr>
        <p:txBody>
          <a:bodyPr wrap="square" rtlCol="0" anchor="t">
            <a:spAutoFit/>
          </a:bodyPr>
          <a:p>
            <a:r>
              <a:rPr lang="en-US" sz="2000" b="1"/>
              <a:t>               		</a:t>
            </a:r>
            <a:r>
              <a:rPr lang="en-US" sz="2400" b="1">
                <a:solidFill>
                  <a:schemeClr val="accent1"/>
                </a:solidFill>
                <a:effectLst>
                  <a:outerShdw blurRad="38100" dist="25400" dir="5400000" algn="ctr" rotWithShape="0">
                    <a:srgbClr val="6E747A">
                      <a:alpha val="43000"/>
                      <a:alpha val="43000"/>
                    </a:srgbClr>
                  </a:outerShdw>
                </a:effectLst>
              </a:rPr>
              <a:t>	  Applications of Expert System</a:t>
            </a:r>
            <a:endParaRPr lang="en-US" sz="2000" b="1"/>
          </a:p>
          <a:p>
            <a:endParaRPr lang="en-US"/>
          </a:p>
          <a:p>
            <a:pPr marL="285750" indent="-285750">
              <a:buFont typeface="Wingdings" panose="05000000000000000000" charset="0"/>
              <a:buChar char=""/>
            </a:pPr>
            <a:r>
              <a:rPr lang="en-US"/>
              <a:t>In designing and manufacturing domain</a:t>
            </a:r>
            <a:endParaRPr lang="en-US"/>
          </a:p>
          <a:p>
            <a:pPr marL="285750" indent="-285750">
              <a:buFont typeface="Wingdings" panose="05000000000000000000" charset="0"/>
              <a:buChar char=""/>
            </a:pPr>
            <a:r>
              <a:rPr lang="en-US"/>
              <a:t>In the knowledge domain</a:t>
            </a:r>
            <a:endParaRPr lang="en-US"/>
          </a:p>
          <a:p>
            <a:pPr marL="285750" indent="-285750">
              <a:buFont typeface="Wingdings" panose="05000000000000000000" charset="0"/>
              <a:buChar char=""/>
            </a:pPr>
            <a:r>
              <a:rPr lang="en-US"/>
              <a:t>In the finance domain</a:t>
            </a:r>
            <a:endParaRPr lang="en-US"/>
          </a:p>
          <a:p>
            <a:pPr marL="285750" indent="-285750">
              <a:buFont typeface="Wingdings" panose="05000000000000000000" charset="0"/>
              <a:buChar char=""/>
            </a:pPr>
            <a:r>
              <a:rPr lang="en-US"/>
              <a:t>In the diagnosis and troubleshooting of devices</a:t>
            </a:r>
            <a:endParaRPr lang="en-US"/>
          </a:p>
          <a:p>
            <a:pPr marL="285750" indent="-285750">
              <a:buFont typeface="Wingdings" panose="05000000000000000000" charset="0"/>
              <a:buChar char=""/>
            </a:pPr>
            <a:r>
              <a:rPr lang="en-US"/>
              <a:t>Planning and Scheduling</a:t>
            </a:r>
            <a:endParaRPr lang="en-US"/>
          </a:p>
          <a:p>
            <a:endParaRPr lang="en-US"/>
          </a:p>
        </p:txBody>
      </p:sp>
      <p:sp>
        <p:nvSpPr>
          <p:cNvPr id="7" name="Text Box 6"/>
          <p:cNvSpPr txBox="1"/>
          <p:nvPr/>
        </p:nvSpPr>
        <p:spPr>
          <a:xfrm>
            <a:off x="160655" y="2494915"/>
            <a:ext cx="12031345" cy="1845310"/>
          </a:xfrm>
          <a:prstGeom prst="rect">
            <a:avLst/>
          </a:prstGeom>
          <a:noFill/>
        </p:spPr>
        <p:txBody>
          <a:bodyPr wrap="square" rtlCol="0" anchor="t">
            <a:spAutoFit/>
          </a:bodyPr>
          <a:p>
            <a:pPr algn="ctr"/>
            <a:r>
              <a:rPr lang="en-US" sz="2400" b="1">
                <a:solidFill>
                  <a:schemeClr val="accent1"/>
                </a:solidFill>
                <a:effectLst>
                  <a:outerShdw blurRad="38100" dist="25400" dir="5400000" algn="ctr" rotWithShape="0">
                    <a:srgbClr val="6E747A">
                      <a:alpha val="43000"/>
                      <a:alpha val="43000"/>
                    </a:srgbClr>
                  </a:outerShdw>
                </a:effectLst>
              </a:rPr>
              <a:t>       Characteristics of Expert System</a:t>
            </a:r>
            <a:endParaRPr lang="en-US" sz="2400" b="1">
              <a:solidFill>
                <a:schemeClr val="accent1"/>
              </a:solidFill>
              <a:effectLst>
                <a:outerShdw blurRad="38100" dist="25400" dir="5400000" algn="ctr" rotWithShape="0">
                  <a:srgbClr val="6E747A">
                    <a:alpha val="43000"/>
                    <a:alpha val="43000"/>
                  </a:srgbClr>
                </a:outerShdw>
              </a:effectLst>
            </a:endParaRPr>
          </a:p>
          <a:p>
            <a:endParaRPr lang="en-US"/>
          </a:p>
          <a:p>
            <a:pPr marL="285750" indent="-285750">
              <a:buFont typeface="Wingdings" panose="05000000000000000000" charset="0"/>
              <a:buChar char=""/>
            </a:pPr>
            <a:r>
              <a:rPr lang="en-US"/>
              <a:t>High Performance</a:t>
            </a:r>
            <a:endParaRPr lang="en-US"/>
          </a:p>
          <a:p>
            <a:pPr marL="285750" indent="-285750">
              <a:buFont typeface="Wingdings" panose="05000000000000000000" charset="0"/>
              <a:buChar char=""/>
            </a:pPr>
            <a:r>
              <a:rPr lang="en-US"/>
              <a:t>Understandable: </a:t>
            </a:r>
            <a:endParaRPr lang="en-US"/>
          </a:p>
          <a:p>
            <a:pPr marL="285750" indent="-285750">
              <a:buFont typeface="Wingdings" panose="05000000000000000000" charset="0"/>
              <a:buChar char=""/>
            </a:pPr>
            <a:r>
              <a:rPr lang="en-US"/>
              <a:t>Reliable:</a:t>
            </a:r>
            <a:endParaRPr lang="en-US"/>
          </a:p>
          <a:p>
            <a:pPr marL="285750" indent="-285750">
              <a:buFont typeface="Wingdings" panose="05000000000000000000" charset="0"/>
              <a:buChar char=""/>
            </a:pPr>
            <a:r>
              <a:rPr lang="en-US"/>
              <a:t>Highly responsive:</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2137410" y="0"/>
            <a:ext cx="7520940" cy="645160"/>
          </a:xfrm>
          <a:prstGeom prst="rect">
            <a:avLst/>
          </a:prstGeom>
          <a:noFill/>
        </p:spPr>
        <p:txBody>
          <a:bodyPr wrap="square" rtlCol="0" anchor="t">
            <a:spAutoFit/>
            <a:scene3d>
              <a:camera prst="orthographicFront"/>
              <a:lightRig rig="threePt" dir="t"/>
            </a:scene3d>
          </a:bodyPr>
          <a:p>
            <a:pPr marL="25400" indent="0" algn="ctr">
              <a:lnSpc>
                <a:spcPct val="100000"/>
              </a:lnSpc>
              <a:buFont typeface="Wingdings" panose="05000000000000000000" charset="0"/>
              <a:buNone/>
            </a:pPr>
            <a:r>
              <a:rPr 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AI</a:t>
            </a:r>
            <a:r>
              <a:rPr lang="en-US" alt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t>
            </a:r>
            <a:r>
              <a:rPr lang="en-US" altLang="en-IN" sz="3600" b="1">
                <a:solidFill>
                  <a:srgbClr val="FF0000"/>
                </a:solidFill>
                <a:effectLst>
                  <a:outerShdw blurRad="38100" dist="25400" dir="5400000" algn="ctr" rotWithShape="0">
                    <a:srgbClr val="6E747A">
                      <a:alpha val="43000"/>
                      <a:alpha val="43000"/>
                    </a:srgbClr>
                  </a:outerShdw>
                </a:effectLst>
                <a:latin typeface="times" charset="0"/>
                <a:cs typeface="times" charset="0"/>
                <a:sym typeface="+mn-ea"/>
              </a:rPr>
              <a:t>Artificial Intelligence]</a:t>
            </a:r>
            <a:endParaRPr lang="en-US" altLang="en-IN" sz="3600" b="1">
              <a:solidFill>
                <a:srgbClr val="FF0000"/>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4" name="Picture 3"/>
          <p:cNvPicPr>
            <a:picLocks noChangeAspect="1"/>
          </p:cNvPicPr>
          <p:nvPr/>
        </p:nvPicPr>
        <p:blipFill>
          <a:blip r:embed="rId1"/>
          <a:stretch>
            <a:fillRect/>
          </a:stretch>
        </p:blipFill>
        <p:spPr>
          <a:xfrm>
            <a:off x="4096385" y="1329690"/>
            <a:ext cx="3410585" cy="3370580"/>
          </a:xfrm>
          <a:prstGeom prst="rect">
            <a:avLst/>
          </a:prstGeom>
        </p:spPr>
      </p:pic>
      <p:sp>
        <p:nvSpPr>
          <p:cNvPr id="8" name="Text Box 7"/>
          <p:cNvSpPr txBox="1"/>
          <p:nvPr/>
        </p:nvSpPr>
        <p:spPr>
          <a:xfrm>
            <a:off x="0" y="664845"/>
            <a:ext cx="12049125" cy="645160"/>
          </a:xfrm>
          <a:prstGeom prst="rect">
            <a:avLst/>
          </a:prstGeom>
          <a:noFill/>
        </p:spPr>
        <p:txBody>
          <a:bodyPr wrap="square" rtlCol="0">
            <a:spAutoFit/>
          </a:bodyPr>
          <a:p>
            <a:pPr marL="285750" indent="-285750">
              <a:buFont typeface="Wingdings" panose="05000000000000000000" charset="0"/>
              <a:buChar char=""/>
            </a:pPr>
            <a:r>
              <a:rPr lang="en-US"/>
              <a:t>Branch of Computer science that deals with making things intelligent</a:t>
            </a:r>
            <a:endParaRPr lang="en-US"/>
          </a:p>
          <a:p>
            <a:pPr marL="285750" indent="-285750">
              <a:buFont typeface="Wingdings" panose="05000000000000000000" charset="0"/>
              <a:buChar char=""/>
            </a:pPr>
            <a:r>
              <a:rPr lang="en-US"/>
              <a:t>John McCarthy</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1415" y="81915"/>
            <a:ext cx="9869170" cy="688975"/>
          </a:xfrm>
          <a:prstGeom prst="rect">
            <a:avLst/>
          </a:prstGeom>
        </p:spPr>
        <p:txBody>
          <a:bodyPr vert="horz" wrap="square" lIns="0" tIns="12092" rIns="0" bIns="0" rtlCol="0">
            <a:spAutoFit/>
            <a:scene3d>
              <a:camera prst="orthographicFront"/>
              <a:lightRig rig="threePt" dir="t"/>
            </a:scene3d>
          </a:bodyPr>
          <a:lstStyle/>
          <a:p>
            <a:pPr marL="12700" algn="ctr">
              <a:lnSpc>
                <a:spcPct val="100000"/>
              </a:lnSpc>
              <a:spcBef>
                <a:spcPts val="105"/>
              </a:spcBef>
            </a:pPr>
            <a:r>
              <a:rPr dirty="0">
                <a:solidFill>
                  <a:schemeClr val="accent1"/>
                </a:solidFill>
                <a:effectLst>
                  <a:outerShdw blurRad="38100" dist="25400" dir="5400000" algn="ctr" rotWithShape="0">
                    <a:srgbClr val="6E747A">
                      <a:alpha val="43000"/>
                      <a:alpha val="43000"/>
                    </a:srgbClr>
                  </a:outerShdw>
                </a:effectLst>
              </a:rPr>
              <a:t>Domains</a:t>
            </a:r>
            <a:r>
              <a:rPr spc="-10" dirty="0">
                <a:solidFill>
                  <a:schemeClr val="accent1"/>
                </a:solidFill>
                <a:effectLst>
                  <a:outerShdw blurRad="38100" dist="25400" dir="5400000" algn="ctr" rotWithShape="0">
                    <a:srgbClr val="6E747A">
                      <a:alpha val="43000"/>
                      <a:alpha val="43000"/>
                    </a:srgbClr>
                  </a:outerShdw>
                </a:effectLst>
              </a:rPr>
              <a:t> </a:t>
            </a:r>
            <a:r>
              <a:rPr dirty="0">
                <a:solidFill>
                  <a:schemeClr val="accent1"/>
                </a:solidFill>
                <a:effectLst>
                  <a:outerShdw blurRad="38100" dist="25400" dir="5400000" algn="ctr" rotWithShape="0">
                    <a:srgbClr val="6E747A">
                      <a:alpha val="43000"/>
                      <a:alpha val="43000"/>
                    </a:srgbClr>
                  </a:outerShdw>
                </a:effectLst>
              </a:rPr>
              <a:t>of</a:t>
            </a:r>
            <a:r>
              <a:rPr spc="15" dirty="0">
                <a:solidFill>
                  <a:schemeClr val="accent1"/>
                </a:solidFill>
                <a:effectLst>
                  <a:outerShdw blurRad="38100" dist="25400" dir="5400000" algn="ctr" rotWithShape="0">
                    <a:srgbClr val="6E747A">
                      <a:alpha val="43000"/>
                      <a:alpha val="43000"/>
                    </a:srgbClr>
                  </a:outerShdw>
                </a:effectLst>
              </a:rPr>
              <a:t> </a:t>
            </a:r>
            <a:r>
              <a:rPr dirty="0">
                <a:solidFill>
                  <a:schemeClr val="accent1"/>
                </a:solidFill>
                <a:effectLst>
                  <a:outerShdw blurRad="38100" dist="25400" dir="5400000" algn="ctr" rotWithShape="0">
                    <a:srgbClr val="6E747A">
                      <a:alpha val="43000"/>
                      <a:alpha val="43000"/>
                    </a:srgbClr>
                  </a:outerShdw>
                </a:effectLst>
              </a:rPr>
              <a:t>Artificial</a:t>
            </a:r>
            <a:r>
              <a:rPr spc="-10" dirty="0">
                <a:solidFill>
                  <a:schemeClr val="accent1"/>
                </a:solidFill>
                <a:effectLst>
                  <a:outerShdw blurRad="38100" dist="25400" dir="5400000" algn="ctr" rotWithShape="0">
                    <a:srgbClr val="6E747A">
                      <a:alpha val="43000"/>
                      <a:alpha val="43000"/>
                    </a:srgbClr>
                  </a:outerShdw>
                </a:effectLst>
              </a:rPr>
              <a:t> </a:t>
            </a:r>
            <a:r>
              <a:rPr spc="5" dirty="0">
                <a:solidFill>
                  <a:schemeClr val="accent1"/>
                </a:solidFill>
                <a:effectLst>
                  <a:outerShdw blurRad="38100" dist="25400" dir="5400000" algn="ctr" rotWithShape="0">
                    <a:srgbClr val="6E747A">
                      <a:alpha val="43000"/>
                      <a:alpha val="43000"/>
                    </a:srgbClr>
                  </a:outerShdw>
                </a:effectLst>
              </a:rPr>
              <a:t>Intelligence</a:t>
            </a:r>
            <a:endParaRPr spc="5" dirty="0">
              <a:solidFill>
                <a:schemeClr val="accent1"/>
              </a:solidFill>
              <a:effectLst>
                <a:outerShdw blurRad="38100" dist="25400" dir="5400000" algn="ctr" rotWithShape="0">
                  <a:srgbClr val="6E747A">
                    <a:alpha val="43000"/>
                    <a:alpha val="43000"/>
                  </a:srgbClr>
                </a:outerShdw>
              </a:effectLst>
            </a:endParaRPr>
          </a:p>
        </p:txBody>
      </p:sp>
      <p:sp>
        <p:nvSpPr>
          <p:cNvPr id="5" name="object 5"/>
          <p:cNvSpPr txBox="1"/>
          <p:nvPr/>
        </p:nvSpPr>
        <p:spPr>
          <a:xfrm>
            <a:off x="9527506" y="5841925"/>
            <a:ext cx="145106" cy="280670"/>
          </a:xfrm>
          <a:prstGeom prst="rect">
            <a:avLst/>
          </a:prstGeom>
        </p:spPr>
        <p:txBody>
          <a:bodyPr vert="horz" wrap="square" lIns="0" tIns="0" rIns="0" bIns="0" rtlCol="0">
            <a:spAutoFit/>
          </a:bodyPr>
          <a:lstStyle/>
          <a:p>
            <a:pPr marL="12700">
              <a:lnSpc>
                <a:spcPts val="1095"/>
              </a:lnSpc>
            </a:pPr>
            <a:r>
              <a:rPr sz="950" dirty="0">
                <a:solidFill>
                  <a:srgbClr val="FFFFFF"/>
                </a:solidFill>
                <a:latin typeface="Corbel"/>
                <a:cs typeface="Corbel"/>
              </a:rPr>
              <a:t>45</a:t>
            </a:r>
            <a:endParaRPr sz="950">
              <a:latin typeface="Corbel"/>
              <a:cs typeface="Corbel"/>
            </a:endParaRPr>
          </a:p>
        </p:txBody>
      </p:sp>
      <p:sp>
        <p:nvSpPr>
          <p:cNvPr id="3" name="object 3"/>
          <p:cNvSpPr txBox="1"/>
          <p:nvPr/>
        </p:nvSpPr>
        <p:spPr>
          <a:xfrm>
            <a:off x="221615" y="949960"/>
            <a:ext cx="11969750" cy="4034155"/>
          </a:xfrm>
          <a:prstGeom prst="rect">
            <a:avLst/>
          </a:prstGeom>
        </p:spPr>
        <p:txBody>
          <a:bodyPr vert="horz" wrap="square" lIns="0" tIns="14971" rIns="0" bIns="0" rtlCol="0">
            <a:spAutoFit/>
          </a:bodyPr>
          <a:lstStyle/>
          <a:p>
            <a:pPr marL="245745" indent="-233680">
              <a:lnSpc>
                <a:spcPts val="2255"/>
              </a:lnSpc>
              <a:spcBef>
                <a:spcPts val="130"/>
              </a:spcBef>
              <a:buAutoNum type="arabicPeriod"/>
              <a:tabLst>
                <a:tab pos="245745" algn="l"/>
              </a:tabLst>
            </a:pPr>
            <a:r>
              <a:rPr b="1">
                <a:solidFill>
                  <a:srgbClr val="FF0000"/>
                </a:solidFill>
              </a:rPr>
              <a:t>Cognitive science:</a:t>
            </a:r>
            <a:endParaRPr b="1">
              <a:solidFill>
                <a:srgbClr val="FF0000"/>
              </a:solidFill>
            </a:endParaRPr>
          </a:p>
          <a:p>
            <a:pPr marL="494030" lvl="1" indent="-241300">
              <a:lnSpc>
                <a:spcPts val="1930"/>
              </a:lnSpc>
              <a:buFont typeface="Consolas"/>
              <a:buChar char="–"/>
              <a:tabLst>
                <a:tab pos="494665" algn="l"/>
              </a:tabLst>
            </a:pPr>
            <a:r>
              <a:t>Focuses on researching how the human brain works &amp; how humans think and learn</a:t>
            </a:r>
          </a:p>
          <a:p>
            <a:pPr marL="494030" lvl="1" indent="-241300">
              <a:lnSpc>
                <a:spcPts val="1955"/>
              </a:lnSpc>
              <a:buFont typeface="Consolas"/>
              <a:buChar char="–"/>
              <a:tabLst>
                <a:tab pos="494665" algn="l"/>
              </a:tabLst>
            </a:pPr>
            <a:r>
              <a:rPr b="1"/>
              <a:t>Applications:</a:t>
            </a:r>
            <a:endParaRPr b="1"/>
          </a:p>
          <a:p>
            <a:pPr marL="693420" lvl="2" indent="-200025">
              <a:lnSpc>
                <a:spcPct val="100000"/>
              </a:lnSpc>
              <a:spcBef>
                <a:spcPts val="30"/>
              </a:spcBef>
              <a:buFont typeface="Times New Roman" panose="02020603050405020304"/>
              <a:buChar char="▪"/>
              <a:tabLst>
                <a:tab pos="693420" algn="l"/>
                <a:tab pos="694055" algn="l"/>
              </a:tabLst>
            </a:pPr>
            <a:r>
              <a:t>Expert systems</a:t>
            </a:r>
          </a:p>
          <a:p>
            <a:pPr marL="693420" lvl="2" indent="-200025">
              <a:lnSpc>
                <a:spcPct val="100000"/>
              </a:lnSpc>
              <a:spcBef>
                <a:spcPts val="40"/>
              </a:spcBef>
              <a:buFont typeface="Times New Roman" panose="02020603050405020304"/>
              <a:buChar char="▪"/>
              <a:tabLst>
                <a:tab pos="693420" algn="l"/>
                <a:tab pos="694055" algn="l"/>
              </a:tabLst>
            </a:pPr>
            <a:r>
              <a:t>Adaptive learning systems</a:t>
            </a:r>
          </a:p>
          <a:p>
            <a:pPr marL="693420" lvl="2" indent="-200025">
              <a:lnSpc>
                <a:spcPct val="100000"/>
              </a:lnSpc>
              <a:spcBef>
                <a:spcPts val="35"/>
              </a:spcBef>
              <a:buFont typeface="Times New Roman" panose="02020603050405020304"/>
              <a:buChar char="▪"/>
              <a:tabLst>
                <a:tab pos="693420" algn="l"/>
                <a:tab pos="694055" algn="l"/>
              </a:tabLst>
            </a:pPr>
            <a:r>
              <a:t>Fuzzy logic systems</a:t>
            </a:r>
          </a:p>
          <a:p>
            <a:pPr marL="693420" lvl="2" indent="-200025">
              <a:lnSpc>
                <a:spcPct val="100000"/>
              </a:lnSpc>
              <a:spcBef>
                <a:spcPts val="35"/>
              </a:spcBef>
              <a:buFont typeface="Times New Roman" panose="02020603050405020304"/>
              <a:buChar char="▪"/>
              <a:tabLst>
                <a:tab pos="693420" algn="l"/>
                <a:tab pos="694055" algn="l"/>
              </a:tabLst>
            </a:pPr>
            <a:r>
              <a:t>Neural networks</a:t>
            </a:r>
          </a:p>
          <a:p>
            <a:pPr marL="693420" lvl="2" indent="-200025">
              <a:lnSpc>
                <a:spcPct val="100000"/>
              </a:lnSpc>
              <a:spcBef>
                <a:spcPts val="50"/>
              </a:spcBef>
              <a:buFont typeface="Times New Roman" panose="02020603050405020304"/>
              <a:buChar char="▪"/>
              <a:tabLst>
                <a:tab pos="693420" algn="l"/>
                <a:tab pos="694055" algn="l"/>
              </a:tabLst>
            </a:pPr>
            <a:r>
              <a:t>Intelligent agents</a:t>
            </a:r>
          </a:p>
          <a:p>
            <a:pPr marL="255270" indent="-243205">
              <a:lnSpc>
                <a:spcPts val="2255"/>
              </a:lnSpc>
              <a:spcBef>
                <a:spcPts val="905"/>
              </a:spcBef>
              <a:buAutoNum type="arabicPeriod"/>
              <a:tabLst>
                <a:tab pos="255270" algn="l"/>
              </a:tabLst>
            </a:pPr>
            <a:r>
              <a:rPr b="1">
                <a:solidFill>
                  <a:srgbClr val="FF0000"/>
                </a:solidFill>
              </a:rPr>
              <a:t>Robotics:</a:t>
            </a:r>
            <a:endParaRPr b="1">
              <a:solidFill>
                <a:srgbClr val="FF0000"/>
              </a:solidFill>
            </a:endParaRPr>
          </a:p>
          <a:p>
            <a:pPr marL="494030" marR="5080" lvl="1" indent="-241300">
              <a:lnSpc>
                <a:spcPct val="71000"/>
              </a:lnSpc>
              <a:spcBef>
                <a:spcPts val="550"/>
              </a:spcBef>
              <a:buFont typeface="Consolas"/>
              <a:buChar char="–"/>
              <a:tabLst>
                <a:tab pos="494665" algn="l"/>
              </a:tabLst>
            </a:pPr>
            <a:r>
              <a:t>Produces robot machines with computer intelligence and computer controlled,  human like physical capabilities</a:t>
            </a:r>
          </a:p>
          <a:p>
            <a:pPr marL="252730" indent="-240665">
              <a:lnSpc>
                <a:spcPts val="2255"/>
              </a:lnSpc>
              <a:spcBef>
                <a:spcPts val="915"/>
              </a:spcBef>
              <a:buAutoNum type="arabicPeriod"/>
              <a:tabLst>
                <a:tab pos="253365" algn="l"/>
              </a:tabLst>
            </a:pPr>
            <a:r>
              <a:rPr b="1">
                <a:solidFill>
                  <a:srgbClr val="FF0000"/>
                </a:solidFill>
              </a:rPr>
              <a:t>Natural interfaces:</a:t>
            </a:r>
            <a:endParaRPr b="1">
              <a:solidFill>
                <a:srgbClr val="FF0000"/>
              </a:solidFill>
            </a:endParaRPr>
          </a:p>
          <a:p>
            <a:pPr marL="494030" lvl="1" indent="-241300">
              <a:lnSpc>
                <a:spcPts val="1925"/>
              </a:lnSpc>
              <a:buFont typeface="Consolas"/>
              <a:buChar char="–"/>
              <a:tabLst>
                <a:tab pos="494665" algn="l"/>
              </a:tabLst>
            </a:pPr>
            <a:r>
              <a:t>Natural language and speech recognition</a:t>
            </a:r>
          </a:p>
          <a:p>
            <a:pPr marL="494030" lvl="1" indent="-241300">
              <a:lnSpc>
                <a:spcPts val="1925"/>
              </a:lnSpc>
              <a:buFont typeface="Consolas"/>
              <a:buChar char="–"/>
              <a:tabLst>
                <a:tab pos="494665" algn="l"/>
              </a:tabLst>
            </a:pPr>
            <a:r>
              <a:t>Talking to a computer and having it understand</a:t>
            </a:r>
          </a:p>
          <a:p>
            <a:pPr marL="494030" lvl="1" indent="-241300">
              <a:lnSpc>
                <a:spcPts val="1955"/>
              </a:lnSpc>
              <a:buFont typeface="Consolas"/>
              <a:buChar char="–"/>
              <a:tabLst>
                <a:tab pos="494665" algn="l"/>
              </a:tabLst>
            </a:pPr>
            <a:r>
              <a:t>Virtual </a:t>
            </a:r>
            <a:r>
              <a:t>reality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5095875" y="0"/>
            <a:ext cx="2279015"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History of AI</a:t>
            </a:r>
            <a:endPar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5" name="Picture 4"/>
          <p:cNvPicPr>
            <a:picLocks noChangeAspect="1"/>
          </p:cNvPicPr>
          <p:nvPr/>
        </p:nvPicPr>
        <p:blipFill>
          <a:blip r:embed="rId1"/>
          <a:srcRect l="1038" t="11913" r="1560" b="8992"/>
          <a:stretch>
            <a:fillRect/>
          </a:stretch>
        </p:blipFill>
        <p:spPr>
          <a:xfrm>
            <a:off x="0" y="988060"/>
            <a:ext cx="12192635" cy="42157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5095875" y="0"/>
            <a:ext cx="3136900"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Applications of AI</a:t>
            </a:r>
            <a:endPar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3" name="Picture 2"/>
          <p:cNvPicPr>
            <a:picLocks noChangeAspect="1"/>
          </p:cNvPicPr>
          <p:nvPr/>
        </p:nvPicPr>
        <p:blipFill>
          <a:blip r:embed="rId1"/>
          <a:srcRect t="17952"/>
          <a:stretch>
            <a:fillRect/>
          </a:stretch>
        </p:blipFill>
        <p:spPr>
          <a:xfrm>
            <a:off x="895350" y="668020"/>
            <a:ext cx="10934065" cy="53213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279900" y="0"/>
            <a:ext cx="3700145"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Neural Network</a:t>
            </a:r>
            <a:r>
              <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/ANN</a:t>
            </a:r>
            <a:endPar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3" name="Text Box 2"/>
          <p:cNvSpPr txBox="1"/>
          <p:nvPr/>
        </p:nvSpPr>
        <p:spPr>
          <a:xfrm>
            <a:off x="0" y="452755"/>
            <a:ext cx="12086590" cy="645160"/>
          </a:xfrm>
          <a:prstGeom prst="rect">
            <a:avLst/>
          </a:prstGeom>
          <a:noFill/>
        </p:spPr>
        <p:txBody>
          <a:bodyPr wrap="square" rtlCol="0" anchor="t">
            <a:spAutoFit/>
          </a:bodyPr>
          <a:p>
            <a:pPr marL="285750" indent="-285750">
              <a:buFont typeface="Wingdings" panose="05000000000000000000" charset="0"/>
              <a:buChar char=""/>
            </a:pPr>
            <a:r>
              <a:rPr lang="en-US"/>
              <a:t>method in artificial intelligence that teaches computers to process data in a way that is inspired by the human brain.</a:t>
            </a:r>
            <a:endParaRPr lang="en-US"/>
          </a:p>
        </p:txBody>
      </p:sp>
      <p:pic>
        <p:nvPicPr>
          <p:cNvPr id="5" name="Picture 4"/>
          <p:cNvPicPr>
            <a:picLocks noChangeAspect="1"/>
          </p:cNvPicPr>
          <p:nvPr/>
        </p:nvPicPr>
        <p:blipFill>
          <a:blip r:embed="rId1"/>
          <a:stretch>
            <a:fillRect/>
          </a:stretch>
        </p:blipFill>
        <p:spPr>
          <a:xfrm>
            <a:off x="952500" y="1014095"/>
            <a:ext cx="10401300" cy="517715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3351530" y="0"/>
            <a:ext cx="6309360"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Applications of </a:t>
            </a:r>
            <a:r>
              <a:rPr 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Neural Network</a:t>
            </a:r>
            <a:r>
              <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/ANN</a:t>
            </a:r>
            <a:endPar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4" name="Picture 3"/>
          <p:cNvPicPr>
            <a:picLocks noChangeAspect="1"/>
          </p:cNvPicPr>
          <p:nvPr/>
        </p:nvPicPr>
        <p:blipFill>
          <a:blip r:embed="rId1"/>
          <a:srcRect l="12272" t="21093" r="6467" b="4183"/>
          <a:stretch>
            <a:fillRect/>
          </a:stretch>
        </p:blipFill>
        <p:spPr>
          <a:xfrm>
            <a:off x="1207135" y="1070610"/>
            <a:ext cx="10146665" cy="471614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269105" y="0"/>
            <a:ext cx="2506345"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Virtual Reality</a:t>
            </a:r>
            <a:endParaRPr 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3" name="Picture 2"/>
          <p:cNvPicPr>
            <a:picLocks noChangeAspect="1"/>
          </p:cNvPicPr>
          <p:nvPr/>
        </p:nvPicPr>
        <p:blipFill>
          <a:blip r:embed="rId1"/>
          <a:stretch>
            <a:fillRect/>
          </a:stretch>
        </p:blipFill>
        <p:spPr>
          <a:xfrm>
            <a:off x="3076575" y="1924685"/>
            <a:ext cx="6257290" cy="4009390"/>
          </a:xfrm>
          <a:prstGeom prst="rect">
            <a:avLst/>
          </a:prstGeom>
        </p:spPr>
      </p:pic>
      <p:sp>
        <p:nvSpPr>
          <p:cNvPr id="5" name="Text Box 4"/>
          <p:cNvSpPr txBox="1"/>
          <p:nvPr/>
        </p:nvSpPr>
        <p:spPr>
          <a:xfrm>
            <a:off x="0" y="603250"/>
            <a:ext cx="11455400" cy="645160"/>
          </a:xfrm>
          <a:prstGeom prst="rect">
            <a:avLst/>
          </a:prstGeom>
          <a:noFill/>
        </p:spPr>
        <p:txBody>
          <a:bodyPr wrap="square" rtlCol="0" anchor="t">
            <a:spAutoFit/>
          </a:bodyPr>
          <a:p>
            <a:pPr marL="285750" indent="-285750">
              <a:buFont typeface="Wingdings" panose="05000000000000000000" charset="0"/>
              <a:buChar char=""/>
            </a:pPr>
            <a:r>
              <a:rPr lang="en-US"/>
              <a:t>virtual reality (VR), the use of computer modeling and simulation that enables a person to interact with an artificial three-dimensional (3-D) visual or other sensory environment.</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051300" y="0"/>
            <a:ext cx="5115560"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Applications of </a:t>
            </a:r>
            <a:r>
              <a:rPr 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Virtual Reality</a:t>
            </a:r>
            <a:endParaRPr lang="en-IN"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4" name="Picture 3"/>
          <p:cNvPicPr>
            <a:picLocks noChangeAspect="1"/>
          </p:cNvPicPr>
          <p:nvPr/>
        </p:nvPicPr>
        <p:blipFill>
          <a:blip r:embed="rId1"/>
          <a:srcRect t="36481" b="5861"/>
          <a:stretch>
            <a:fillRect/>
          </a:stretch>
        </p:blipFill>
        <p:spPr>
          <a:xfrm>
            <a:off x="741680" y="708025"/>
            <a:ext cx="11057255" cy="56388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290695" y="0"/>
            <a:ext cx="3082290"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Intelligent Agents</a:t>
            </a:r>
            <a:endParaRPr lang="en-US"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3" name="Text Box 2"/>
          <p:cNvSpPr txBox="1"/>
          <p:nvPr/>
        </p:nvSpPr>
        <p:spPr>
          <a:xfrm>
            <a:off x="150495" y="935355"/>
            <a:ext cx="12041505" cy="3138170"/>
          </a:xfrm>
          <a:prstGeom prst="rect">
            <a:avLst/>
          </a:prstGeom>
          <a:noFill/>
        </p:spPr>
        <p:txBody>
          <a:bodyPr wrap="square" rtlCol="0" anchor="t">
            <a:spAutoFit/>
          </a:bodyPr>
          <a:p>
            <a:pPr marL="285750" indent="-285750">
              <a:buFont typeface="Wingdings" panose="05000000000000000000" charset="0"/>
              <a:buChar char=""/>
            </a:pPr>
            <a:r>
              <a:rPr lang="en-US"/>
              <a:t>AI has agents to perform its task</a:t>
            </a:r>
            <a:endParaRPr lang="en-US"/>
          </a:p>
          <a:p>
            <a:pPr marL="285750" indent="-285750">
              <a:buFont typeface="Wingdings" panose="05000000000000000000" charset="0"/>
              <a:buChar char=""/>
            </a:pPr>
            <a:r>
              <a:rPr lang="en-US"/>
              <a:t>An agent can be anything that understands environment through sensors and act upon that environment through actuators. </a:t>
            </a:r>
            <a:endParaRPr lang="en-US"/>
          </a:p>
          <a:p>
            <a:pPr marL="285750" indent="-285750">
              <a:buFont typeface="Wingdings" panose="05000000000000000000" charset="0"/>
              <a:buChar char=""/>
            </a:pPr>
            <a:r>
              <a:rPr lang="en-US"/>
              <a:t>An Agent runs in the cycle of perceiving, thinking, and acting. </a:t>
            </a:r>
            <a:endParaRPr lang="en-US"/>
          </a:p>
          <a:p>
            <a:pPr marL="285750" indent="-285750">
              <a:buFont typeface="Wingdings" panose="05000000000000000000" charset="0"/>
              <a:buChar char=""/>
            </a:pPr>
            <a:r>
              <a:rPr lang="en-US"/>
              <a:t>An agent can be:</a:t>
            </a:r>
            <a:endParaRPr lang="en-US"/>
          </a:p>
          <a:p>
            <a:pPr indent="0">
              <a:buFont typeface="Wingdings" panose="05000000000000000000" charset="0"/>
              <a:buNone/>
            </a:pPr>
            <a:r>
              <a:rPr lang="en-US" b="1"/>
              <a:t>Human-Agent: </a:t>
            </a:r>
            <a:endParaRPr lang="en-US" b="1"/>
          </a:p>
          <a:p>
            <a:pPr marL="285750" indent="-285750">
              <a:buFont typeface="Arial" panose="020B0604020202020204" pitchFamily="34" charset="0"/>
              <a:buChar char="•"/>
            </a:pPr>
            <a:r>
              <a:rPr lang="en-US"/>
              <a:t> eyes, ears, and other organs which work for sensors and hand, legs, vocal tract work for actuators.</a:t>
            </a:r>
            <a:endParaRPr lang="en-US"/>
          </a:p>
          <a:p>
            <a:pPr indent="0">
              <a:buFont typeface="Wingdings" panose="05000000000000000000" charset="0"/>
              <a:buNone/>
            </a:pPr>
            <a:r>
              <a:rPr lang="en-US" b="1"/>
              <a:t>Robotic Agent: </a:t>
            </a:r>
            <a:endParaRPr lang="en-US" b="1"/>
          </a:p>
          <a:p>
            <a:pPr marL="285750" indent="-285750">
              <a:buFont typeface="Arial" panose="020B0604020202020204" pitchFamily="34" charset="0"/>
              <a:buChar char="•"/>
            </a:pPr>
            <a:r>
              <a:rPr lang="en-US"/>
              <a:t>A robotic agent can have cameras, infrared range finder, NLP for sensors and various motors for actuators.</a:t>
            </a:r>
            <a:endParaRPr lang="en-US"/>
          </a:p>
          <a:p>
            <a:pPr indent="0">
              <a:buFont typeface="Wingdings" panose="05000000000000000000" charset="0"/>
              <a:buNone/>
            </a:pPr>
            <a:r>
              <a:rPr lang="en-US" b="1"/>
              <a:t>Software Agent:</a:t>
            </a:r>
            <a:r>
              <a:rPr lang="en-US"/>
              <a:t> </a:t>
            </a:r>
            <a:endParaRPr lang="en-US"/>
          </a:p>
          <a:p>
            <a:pPr marL="285750" indent="-285750">
              <a:buFont typeface="Arial" panose="020B0604020202020204" pitchFamily="34" charset="0"/>
              <a:buChar char="•"/>
            </a:pPr>
            <a:r>
              <a:rPr lang="en-US"/>
              <a:t> keystrokes, file contents as sensory input and act on those inputs and display output on the screen.</a:t>
            </a:r>
            <a:endParaRPr lang="en-US"/>
          </a:p>
        </p:txBody>
      </p:sp>
      <p:sp>
        <p:nvSpPr>
          <p:cNvPr id="8" name="Text Box 7"/>
          <p:cNvSpPr txBox="1"/>
          <p:nvPr/>
        </p:nvSpPr>
        <p:spPr>
          <a:xfrm>
            <a:off x="271145" y="4245610"/>
            <a:ext cx="4843780" cy="645160"/>
          </a:xfrm>
          <a:prstGeom prst="rect">
            <a:avLst/>
          </a:prstGeom>
          <a:noFill/>
        </p:spPr>
        <p:txBody>
          <a:bodyPr wrap="square" rtlCol="0" anchor="t">
            <a:spAutoFit/>
          </a:bodyPr>
          <a:p>
            <a:r>
              <a:rPr lang="en-US" b="1"/>
              <a:t>Example:</a:t>
            </a:r>
            <a:endParaRPr lang="en-US" b="1"/>
          </a:p>
          <a:p>
            <a:r>
              <a:t>Alexa and Siri</a:t>
            </a:r>
            <a:r>
              <a:rPr lang="en-US"/>
              <a:t> etc.</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290695" y="0"/>
            <a:ext cx="3082290" cy="52197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Intelligent Agents</a:t>
            </a:r>
            <a:endParaRPr lang="en-US" sz="28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5" name="Picture 4"/>
          <p:cNvPicPr>
            <a:picLocks noChangeAspect="1"/>
          </p:cNvPicPr>
          <p:nvPr/>
        </p:nvPicPr>
        <p:blipFill>
          <a:blip r:embed="rId1"/>
          <a:stretch>
            <a:fillRect/>
          </a:stretch>
        </p:blipFill>
        <p:spPr>
          <a:xfrm>
            <a:off x="2923540" y="767080"/>
            <a:ext cx="6191250" cy="2840355"/>
          </a:xfrm>
          <a:prstGeom prst="rect">
            <a:avLst/>
          </a:prstGeom>
        </p:spPr>
      </p:pic>
      <p:sp>
        <p:nvSpPr>
          <p:cNvPr id="7" name="Text Box 6"/>
          <p:cNvSpPr txBox="1"/>
          <p:nvPr/>
        </p:nvSpPr>
        <p:spPr>
          <a:xfrm>
            <a:off x="90170" y="3749040"/>
            <a:ext cx="12101830" cy="2861310"/>
          </a:xfrm>
          <a:prstGeom prst="rect">
            <a:avLst/>
          </a:prstGeom>
          <a:noFill/>
        </p:spPr>
        <p:txBody>
          <a:bodyPr wrap="square" rtlCol="0" anchor="t">
            <a:spAutoFit/>
          </a:bodyPr>
          <a:p>
            <a:r>
              <a:rPr lang="en-US" b="1"/>
              <a:t>Sensor:</a:t>
            </a:r>
            <a:r>
              <a:rPr lang="en-US"/>
              <a:t> </a:t>
            </a:r>
            <a:endParaRPr lang="en-US"/>
          </a:p>
          <a:p>
            <a:r>
              <a:rPr lang="en-US"/>
              <a:t>Sensor is a device which detects the change in the environment and sends information.</a:t>
            </a:r>
            <a:endParaRPr lang="en-US"/>
          </a:p>
          <a:p>
            <a:endParaRPr lang="en-US"/>
          </a:p>
          <a:p>
            <a:r>
              <a:rPr lang="en-US" b="1"/>
              <a:t>Actuators:</a:t>
            </a:r>
            <a:r>
              <a:rPr lang="en-US"/>
              <a:t> </a:t>
            </a:r>
            <a:endParaRPr lang="en-US"/>
          </a:p>
          <a:p>
            <a:r>
              <a:rPr lang="en-US"/>
              <a:t>Actuators are the component of machines that converts energy into motion. </a:t>
            </a:r>
            <a:endParaRPr lang="en-US"/>
          </a:p>
          <a:p>
            <a:r>
              <a:rPr lang="en-US"/>
              <a:t>An actuator can be an electric motor, gears, etc.</a:t>
            </a:r>
            <a:endParaRPr lang="en-US"/>
          </a:p>
          <a:p>
            <a:endParaRPr lang="en-US"/>
          </a:p>
          <a:p>
            <a:r>
              <a:rPr lang="en-US" b="1"/>
              <a:t>Effectors: </a:t>
            </a:r>
            <a:endParaRPr lang="en-US" b="1"/>
          </a:p>
          <a:p>
            <a:r>
              <a:rPr lang="en-US"/>
              <a:t>Effectors are the devices which affect the environment. </a:t>
            </a:r>
            <a:endParaRPr lang="en-US"/>
          </a:p>
          <a:p>
            <a:r>
              <a:rPr lang="en-US"/>
              <a:t>Effectors can be legs, wheels, arms, fingers, wings, fins, and display screen.</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290695" y="0"/>
            <a:ext cx="3488690" cy="583565"/>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Intelligent Agents</a:t>
            </a:r>
            <a:endParaRPr lang="en-US"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4" name="Text Box 3"/>
          <p:cNvSpPr txBox="1"/>
          <p:nvPr/>
        </p:nvSpPr>
        <p:spPr>
          <a:xfrm>
            <a:off x="6985" y="625475"/>
            <a:ext cx="12185015" cy="922020"/>
          </a:xfrm>
          <a:prstGeom prst="rect">
            <a:avLst/>
          </a:prstGeom>
          <a:noFill/>
        </p:spPr>
        <p:txBody>
          <a:bodyPr wrap="square" rtlCol="0" anchor="t">
            <a:spAutoFit/>
          </a:bodyPr>
          <a:p>
            <a:pPr marL="285750" indent="-285750">
              <a:buFont typeface="Wingdings" panose="05000000000000000000" charset="0"/>
              <a:buChar char=""/>
            </a:pPr>
            <a:r>
              <a:rPr lang="en-US"/>
              <a:t>An autonomous entity which act upon an environment using sensors and actuators for achieving goals. </a:t>
            </a:r>
            <a:endParaRPr lang="en-US"/>
          </a:p>
          <a:p>
            <a:pPr marL="285750" indent="-285750">
              <a:buFont typeface="Wingdings" panose="05000000000000000000" charset="0"/>
              <a:buChar char=""/>
            </a:pPr>
            <a:r>
              <a:rPr lang="en-US"/>
              <a:t>An intelligent agent may learn from the environment to achieve their goals. </a:t>
            </a:r>
            <a:endParaRPr lang="en-US"/>
          </a:p>
          <a:p>
            <a:pPr marL="285750" indent="-285750">
              <a:buFont typeface="Wingdings" panose="05000000000000000000" charset="0"/>
              <a:buChar char=""/>
            </a:pPr>
            <a:r>
              <a:rPr lang="en-US"/>
              <a:t>A </a:t>
            </a:r>
            <a:r>
              <a:rPr lang="en-US" b="1"/>
              <a:t>thermostat </a:t>
            </a:r>
            <a:r>
              <a:rPr lang="en-US"/>
              <a:t>is an example of an intelligent agent.</a:t>
            </a:r>
            <a:endParaRPr lang="en-US"/>
          </a:p>
        </p:txBody>
      </p:sp>
      <p:sp>
        <p:nvSpPr>
          <p:cNvPr id="7" name="Text Box 6"/>
          <p:cNvSpPr txBox="1"/>
          <p:nvPr/>
        </p:nvSpPr>
        <p:spPr>
          <a:xfrm>
            <a:off x="138430" y="1651000"/>
            <a:ext cx="10370820" cy="1783715"/>
          </a:xfrm>
          <a:prstGeom prst="rect">
            <a:avLst/>
          </a:prstGeom>
          <a:noFill/>
        </p:spPr>
        <p:txBody>
          <a:bodyPr wrap="square" rtlCol="0" anchor="t">
            <a:spAutoFit/>
          </a:bodyPr>
          <a:p>
            <a:pPr algn="ctr"/>
            <a:r>
              <a:rPr lang="en-US" sz="2000" b="1">
                <a:solidFill>
                  <a:srgbClr val="FF0000"/>
                </a:solidFill>
              </a:rPr>
              <a:t>Following are the main four rules for an AI agent:</a:t>
            </a:r>
            <a:endParaRPr lang="en-US" sz="2000" b="1">
              <a:solidFill>
                <a:srgbClr val="FF0000"/>
              </a:solidFill>
            </a:endParaRPr>
          </a:p>
          <a:p>
            <a:endParaRPr lang="en-US"/>
          </a:p>
          <a:p>
            <a:r>
              <a:rPr lang="en-US" b="1"/>
              <a:t>Rule 1:</a:t>
            </a:r>
            <a:r>
              <a:rPr lang="en-US"/>
              <a:t> An AI agent must have the ability to perceive the environment.</a:t>
            </a:r>
            <a:endParaRPr lang="en-US"/>
          </a:p>
          <a:p>
            <a:r>
              <a:rPr lang="en-US" b="1"/>
              <a:t>Rule 2:</a:t>
            </a:r>
            <a:r>
              <a:rPr lang="en-US"/>
              <a:t> The observation must be used to make decisions.</a:t>
            </a:r>
            <a:endParaRPr lang="en-US"/>
          </a:p>
          <a:p>
            <a:r>
              <a:rPr lang="en-US" b="1"/>
              <a:t>Rule 3:</a:t>
            </a:r>
            <a:r>
              <a:rPr lang="en-US"/>
              <a:t> Decision should result in an action.</a:t>
            </a:r>
            <a:endParaRPr lang="en-US"/>
          </a:p>
          <a:p>
            <a:r>
              <a:rPr lang="en-US" b="1"/>
              <a:t>Rule 4:</a:t>
            </a:r>
            <a:r>
              <a:rPr lang="en-US"/>
              <a:t> The action taken by an AI agent must be a rational action.</a:t>
            </a:r>
            <a:endParaRPr lang="en-US"/>
          </a:p>
        </p:txBody>
      </p:sp>
      <p:sp>
        <p:nvSpPr>
          <p:cNvPr id="8" name="object 2"/>
          <p:cNvSpPr txBox="1">
            <a:spLocks noGrp="1"/>
          </p:cNvSpPr>
          <p:nvPr>
            <p:ph type="title"/>
          </p:nvPr>
        </p:nvSpPr>
        <p:spPr>
          <a:xfrm>
            <a:off x="608330" y="3434715"/>
            <a:ext cx="11242675" cy="567055"/>
          </a:xfrm>
          <a:prstGeom prst="rect">
            <a:avLst/>
          </a:prstGeom>
        </p:spPr>
        <p:txBody>
          <a:bodyPr vert="horz" wrap="square" lIns="0" tIns="13335" rIns="0" bIns="0" rtlCol="0">
            <a:spAutoFit/>
            <a:scene3d>
              <a:camera prst="orthographicFront"/>
              <a:lightRig rig="threePt" dir="t"/>
            </a:scene3d>
          </a:bodyPr>
          <a:p>
            <a:pPr marL="12700" algn="ctr">
              <a:lnSpc>
                <a:spcPct val="100000"/>
              </a:lnSpc>
              <a:spcBef>
                <a:spcPts val="105"/>
              </a:spcBef>
            </a:pPr>
            <a:r>
              <a:rPr sz="3600" b="1" spc="5" dirty="0">
                <a:solidFill>
                  <a:schemeClr val="accent1"/>
                </a:solidFill>
                <a:effectLst>
                  <a:outerShdw blurRad="38100" dist="25400" dir="5400000" algn="ctr" rotWithShape="0">
                    <a:srgbClr val="6E747A">
                      <a:alpha val="43000"/>
                      <a:alpha val="43000"/>
                    </a:srgbClr>
                  </a:outerShdw>
                </a:effectLst>
              </a:rPr>
              <a:t>Types</a:t>
            </a:r>
            <a:r>
              <a:rPr sz="3600" b="1" spc="-40" dirty="0">
                <a:solidFill>
                  <a:schemeClr val="accent1"/>
                </a:solidFill>
                <a:effectLst>
                  <a:outerShdw blurRad="38100" dist="25400" dir="5400000" algn="ctr" rotWithShape="0">
                    <a:srgbClr val="6E747A">
                      <a:alpha val="43000"/>
                      <a:alpha val="43000"/>
                    </a:srgbClr>
                  </a:outerShdw>
                </a:effectLst>
              </a:rPr>
              <a:t> </a:t>
            </a:r>
            <a:r>
              <a:rPr sz="3600" b="1" dirty="0">
                <a:solidFill>
                  <a:schemeClr val="accent1"/>
                </a:solidFill>
                <a:effectLst>
                  <a:outerShdw blurRad="38100" dist="25400" dir="5400000" algn="ctr" rotWithShape="0">
                    <a:srgbClr val="6E747A">
                      <a:alpha val="43000"/>
                      <a:alpha val="43000"/>
                    </a:srgbClr>
                  </a:outerShdw>
                </a:effectLst>
              </a:rPr>
              <a:t>of</a:t>
            </a:r>
            <a:r>
              <a:rPr sz="3600" b="1" spc="-5" dirty="0">
                <a:solidFill>
                  <a:schemeClr val="accent1"/>
                </a:solidFill>
                <a:effectLst>
                  <a:outerShdw blurRad="38100" dist="25400" dir="5400000" algn="ctr" rotWithShape="0">
                    <a:srgbClr val="6E747A">
                      <a:alpha val="43000"/>
                      <a:alpha val="43000"/>
                    </a:srgbClr>
                  </a:outerShdw>
                </a:effectLst>
              </a:rPr>
              <a:t> </a:t>
            </a:r>
            <a:r>
              <a:rPr sz="3600" b="1" spc="5" dirty="0">
                <a:solidFill>
                  <a:schemeClr val="accent1"/>
                </a:solidFill>
                <a:effectLst>
                  <a:outerShdw blurRad="38100" dist="25400" dir="5400000" algn="ctr" rotWithShape="0">
                    <a:srgbClr val="6E747A">
                      <a:alpha val="43000"/>
                      <a:alpha val="43000"/>
                    </a:srgbClr>
                  </a:outerShdw>
                </a:effectLst>
              </a:rPr>
              <a:t>Intelligent</a:t>
            </a:r>
            <a:r>
              <a:rPr sz="3600" b="1" spc="-35" dirty="0">
                <a:solidFill>
                  <a:schemeClr val="accent1"/>
                </a:solidFill>
                <a:effectLst>
                  <a:outerShdw blurRad="38100" dist="25400" dir="5400000" algn="ctr" rotWithShape="0">
                    <a:srgbClr val="6E747A">
                      <a:alpha val="43000"/>
                      <a:alpha val="43000"/>
                    </a:srgbClr>
                  </a:outerShdw>
                </a:effectLst>
              </a:rPr>
              <a:t> </a:t>
            </a:r>
            <a:r>
              <a:rPr sz="3600" b="1" spc="5" dirty="0">
                <a:solidFill>
                  <a:schemeClr val="accent1"/>
                </a:solidFill>
                <a:effectLst>
                  <a:outerShdw blurRad="38100" dist="25400" dir="5400000" algn="ctr" rotWithShape="0">
                    <a:srgbClr val="6E747A">
                      <a:alpha val="43000"/>
                      <a:alpha val="43000"/>
                    </a:srgbClr>
                  </a:outerShdw>
                </a:effectLst>
              </a:rPr>
              <a:t>Agents</a:t>
            </a:r>
            <a:endParaRPr sz="3600" b="1" spc="5" dirty="0">
              <a:solidFill>
                <a:schemeClr val="accent1"/>
              </a:solidFill>
              <a:effectLst>
                <a:outerShdw blurRad="38100" dist="25400" dir="5400000" algn="ctr" rotWithShape="0">
                  <a:srgbClr val="6E747A">
                    <a:alpha val="43000"/>
                    <a:alpha val="43000"/>
                  </a:srgbClr>
                </a:outerShdw>
              </a:effectLst>
            </a:endParaRPr>
          </a:p>
        </p:txBody>
      </p:sp>
      <p:sp>
        <p:nvSpPr>
          <p:cNvPr id="9" name="object 3"/>
          <p:cNvSpPr txBox="1"/>
          <p:nvPr/>
        </p:nvSpPr>
        <p:spPr>
          <a:xfrm>
            <a:off x="316230" y="4070985"/>
            <a:ext cx="8006080" cy="2249170"/>
          </a:xfrm>
          <a:prstGeom prst="rect">
            <a:avLst/>
          </a:prstGeom>
        </p:spPr>
        <p:txBody>
          <a:bodyPr vert="horz" wrap="square" lIns="0" tIns="181610" rIns="0" bIns="0" rtlCol="0">
            <a:spAutoFit/>
          </a:bodyPr>
          <a:p>
            <a:pPr marL="253365" indent="-241300">
              <a:lnSpc>
                <a:spcPct val="100000"/>
              </a:lnSpc>
              <a:spcBef>
                <a:spcPts val="1430"/>
              </a:spcBef>
              <a:buFont typeface="Times New Roman" panose="02020603050405020304"/>
              <a:buChar char="▪"/>
              <a:tabLst>
                <a:tab pos="253365" algn="l"/>
                <a:tab pos="254000" algn="l"/>
              </a:tabLst>
            </a:pPr>
            <a:r>
              <a:rPr b="1"/>
              <a:t>Simple Reflex Agents.</a:t>
            </a:r>
            <a:endParaRPr b="1"/>
          </a:p>
          <a:p>
            <a:pPr marL="253365" indent="-241300">
              <a:lnSpc>
                <a:spcPct val="100000"/>
              </a:lnSpc>
              <a:spcBef>
                <a:spcPts val="1330"/>
              </a:spcBef>
              <a:buFont typeface="Times New Roman" panose="02020603050405020304"/>
              <a:buChar char="▪"/>
              <a:tabLst>
                <a:tab pos="253365" algn="l"/>
                <a:tab pos="254000" algn="l"/>
              </a:tabLst>
            </a:pPr>
            <a:r>
              <a:rPr b="1"/>
              <a:t>Model-Based Reflex Agents.</a:t>
            </a:r>
            <a:endParaRPr b="1"/>
          </a:p>
          <a:p>
            <a:pPr marL="253365" indent="-241300">
              <a:lnSpc>
                <a:spcPct val="100000"/>
              </a:lnSpc>
              <a:spcBef>
                <a:spcPts val="1335"/>
              </a:spcBef>
              <a:buFont typeface="Times New Roman" panose="02020603050405020304"/>
              <a:buChar char="▪"/>
              <a:tabLst>
                <a:tab pos="253365" algn="l"/>
                <a:tab pos="254000" algn="l"/>
              </a:tabLst>
            </a:pPr>
            <a:r>
              <a:rPr b="1"/>
              <a:t>Goal-Based Agents.</a:t>
            </a:r>
            <a:endParaRPr b="1"/>
          </a:p>
          <a:p>
            <a:pPr marL="253365" indent="-241300">
              <a:lnSpc>
                <a:spcPct val="100000"/>
              </a:lnSpc>
              <a:spcBef>
                <a:spcPts val="1330"/>
              </a:spcBef>
              <a:buFont typeface="Times New Roman" panose="02020603050405020304"/>
              <a:buChar char="▪"/>
              <a:tabLst>
                <a:tab pos="253365" algn="l"/>
                <a:tab pos="254000" algn="l"/>
              </a:tabLst>
            </a:pPr>
            <a:r>
              <a:rPr b="1"/>
              <a:t>Utility-Based Agents.</a:t>
            </a:r>
            <a:endParaRPr b="1"/>
          </a:p>
          <a:p>
            <a:pPr marL="253365" indent="-241300">
              <a:lnSpc>
                <a:spcPct val="100000"/>
              </a:lnSpc>
              <a:spcBef>
                <a:spcPts val="1330"/>
              </a:spcBef>
              <a:buFont typeface="Times New Roman" panose="02020603050405020304"/>
              <a:buChar char="▪"/>
              <a:tabLst>
                <a:tab pos="253365" algn="l"/>
                <a:tab pos="254000" algn="l"/>
              </a:tabLst>
            </a:pPr>
            <a:r>
              <a:rPr b="1"/>
              <a:t>Learning Agent.</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1788160" y="0"/>
            <a:ext cx="9565640" cy="583565"/>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Data mining, Data Warehousing, OLAP and OLTP</a:t>
            </a:r>
            <a:endPar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5" name="Text Box 4"/>
          <p:cNvSpPr txBox="1"/>
          <p:nvPr/>
        </p:nvSpPr>
        <p:spPr>
          <a:xfrm>
            <a:off x="0" y="695325"/>
            <a:ext cx="11191240" cy="645160"/>
          </a:xfrm>
          <a:prstGeom prst="rect">
            <a:avLst/>
          </a:prstGeom>
          <a:noFill/>
        </p:spPr>
        <p:txBody>
          <a:bodyPr wrap="none" rtlCol="0" anchor="t">
            <a:spAutoFit/>
          </a:bodyPr>
          <a:p>
            <a:pPr marL="285750" indent="-285750">
              <a:buFont typeface="Wingdings" panose="05000000000000000000" charset="0"/>
              <a:buChar char=""/>
            </a:pPr>
            <a:r>
              <a:t>It is the process used to find new, hidden or unexpected patterns in  data to predict the future of the </a:t>
            </a:r>
            <a:r>
              <a:rPr lang="en-US"/>
              <a:t>data</a:t>
            </a:r>
            <a:endParaRPr lang="en-US"/>
          </a:p>
          <a:p>
            <a:pPr marL="285750" indent="-285750">
              <a:buFont typeface="Wingdings" panose="05000000000000000000" charset="0"/>
              <a:buChar char=""/>
            </a:pPr>
            <a:r>
              <a:rPr lang="en-US"/>
              <a:t>Process of Finding the required pattern from huge mass of Data.</a:t>
            </a:r>
            <a:endParaRPr lang="en-US"/>
          </a:p>
        </p:txBody>
      </p:sp>
      <p:sp>
        <p:nvSpPr>
          <p:cNvPr id="10" name="object 3"/>
          <p:cNvSpPr txBox="1"/>
          <p:nvPr/>
        </p:nvSpPr>
        <p:spPr>
          <a:xfrm>
            <a:off x="0" y="1783080"/>
            <a:ext cx="12191365" cy="2678430"/>
          </a:xfrm>
          <a:prstGeom prst="rect">
            <a:avLst/>
          </a:prstGeom>
        </p:spPr>
        <p:txBody>
          <a:bodyPr vert="horz" wrap="square" lIns="0" tIns="63500" rIns="0" bIns="0" rtlCol="0">
            <a:spAutoFit/>
          </a:bodyPr>
          <a:p>
            <a:pPr marL="253365" indent="-241300">
              <a:lnSpc>
                <a:spcPct val="100000"/>
              </a:lnSpc>
              <a:spcBef>
                <a:spcPts val="500"/>
              </a:spcBef>
              <a:buFont typeface="Times New Roman" panose="02020603050405020304"/>
              <a:buChar char="▪"/>
              <a:tabLst>
                <a:tab pos="253365" algn="l"/>
                <a:tab pos="254000" algn="l"/>
              </a:tabLst>
            </a:pPr>
            <a:r>
              <a:rPr b="1"/>
              <a:t>What is not Data Mining?</a:t>
            </a:r>
            <a:endParaRPr b="1"/>
          </a:p>
          <a:p>
            <a:pPr marL="494030" lvl="1" indent="-241300">
              <a:lnSpc>
                <a:spcPct val="100000"/>
              </a:lnSpc>
              <a:spcBef>
                <a:spcPts val="340"/>
              </a:spcBef>
              <a:buFont typeface="Consolas"/>
              <a:buChar char="–"/>
              <a:tabLst>
                <a:tab pos="494665" algn="l"/>
              </a:tabLst>
            </a:pPr>
            <a:r>
              <a:t>Look up phone number in phone directory.</a:t>
            </a:r>
          </a:p>
          <a:p>
            <a:pPr marL="494030" lvl="1" indent="-241300">
              <a:lnSpc>
                <a:spcPct val="100000"/>
              </a:lnSpc>
              <a:spcBef>
                <a:spcPts val="325"/>
              </a:spcBef>
              <a:buFont typeface="Consolas"/>
              <a:buChar char="–"/>
              <a:tabLst>
                <a:tab pos="494665" algn="l"/>
              </a:tabLst>
            </a:pPr>
            <a:r>
              <a:t>Query a Web search engine for information about “Amazon”.</a:t>
            </a:r>
          </a:p>
          <a:p>
            <a:pPr lvl="1">
              <a:lnSpc>
                <a:spcPct val="100000"/>
              </a:lnSpc>
              <a:buClr>
                <a:srgbClr val="FFFFFF"/>
              </a:buClr>
              <a:buFont typeface="Consolas"/>
              <a:buChar char="–"/>
            </a:pPr>
          </a:p>
          <a:p>
            <a:pPr lvl="1">
              <a:lnSpc>
                <a:spcPct val="100000"/>
              </a:lnSpc>
              <a:spcBef>
                <a:spcPts val="5"/>
              </a:spcBef>
              <a:buClr>
                <a:srgbClr val="FFFFFF"/>
              </a:buClr>
              <a:buFont typeface="Consolas"/>
              <a:buChar char="–"/>
            </a:pPr>
          </a:p>
          <a:p>
            <a:pPr marL="253365" indent="-241300">
              <a:lnSpc>
                <a:spcPct val="100000"/>
              </a:lnSpc>
              <a:buFont typeface="Times New Roman" panose="02020603050405020304"/>
              <a:buChar char="▪"/>
              <a:tabLst>
                <a:tab pos="253365" algn="l"/>
                <a:tab pos="254000" algn="l"/>
              </a:tabLst>
            </a:pPr>
            <a:r>
              <a:rPr b="1"/>
              <a:t>What is Data Mining?</a:t>
            </a:r>
            <a:endParaRPr b="1"/>
          </a:p>
          <a:p>
            <a:pPr marL="494030" marR="5080" lvl="1" indent="-241300">
              <a:lnSpc>
                <a:spcPts val="1900"/>
              </a:lnSpc>
              <a:spcBef>
                <a:spcPts val="570"/>
              </a:spcBef>
              <a:buFont typeface="Consolas"/>
              <a:buChar char="–"/>
              <a:tabLst>
                <a:tab pos="494665" algn="l"/>
              </a:tabLst>
            </a:pPr>
            <a:r>
              <a:t>Certain names are more prevalent in certain US locations (O’Brien, O’Rurke,  O’Reilly… in Boston area).</a:t>
            </a:r>
          </a:p>
          <a:p>
            <a:pPr marL="494030" marR="115570" lvl="1" indent="-241300">
              <a:lnSpc>
                <a:spcPts val="1880"/>
              </a:lnSpc>
              <a:spcBef>
                <a:spcPts val="535"/>
              </a:spcBef>
              <a:buFont typeface="Consolas"/>
              <a:buChar char="–"/>
              <a:tabLst>
                <a:tab pos="494665" algn="l"/>
              </a:tabLst>
            </a:pPr>
            <a:r>
              <a:t>Group together similar documents returned by search engine according to their  context (e.g. Amazon rainforest, </a:t>
            </a:r>
            <a:r>
              <a:t>Amazon.com).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pic>
        <p:nvPicPr>
          <p:cNvPr id="3" name="Picture 2"/>
          <p:cNvPicPr>
            <a:picLocks noChangeAspect="1"/>
          </p:cNvPicPr>
          <p:nvPr/>
        </p:nvPicPr>
        <p:blipFill>
          <a:blip r:embed="rId1"/>
          <a:stretch>
            <a:fillRect/>
          </a:stretch>
        </p:blipFill>
        <p:spPr>
          <a:xfrm>
            <a:off x="1333500" y="-635"/>
            <a:ext cx="9525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3533140" y="0"/>
            <a:ext cx="3686810" cy="583565"/>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Data Warehousing</a:t>
            </a:r>
            <a:endPar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4" name="Text Box 3"/>
          <p:cNvSpPr txBox="1"/>
          <p:nvPr/>
        </p:nvSpPr>
        <p:spPr>
          <a:xfrm>
            <a:off x="0" y="752475"/>
            <a:ext cx="10763250" cy="922020"/>
          </a:xfrm>
          <a:prstGeom prst="rect">
            <a:avLst/>
          </a:prstGeom>
          <a:noFill/>
        </p:spPr>
        <p:txBody>
          <a:bodyPr wrap="none" rtlCol="0" anchor="t">
            <a:spAutoFit/>
          </a:bodyPr>
          <a:p>
            <a:pPr marL="285750" indent="-285750" algn="l">
              <a:buFont typeface="Wingdings" panose="05000000000000000000" charset="0"/>
              <a:buChar char=""/>
            </a:pPr>
            <a:r>
              <a:t>A data warehouse is a large collection of business data used to help  an organization make decisions</a:t>
            </a:r>
          </a:p>
          <a:p>
            <a:pPr marL="285750" indent="-285750" algn="l">
              <a:buFont typeface="Wingdings" panose="05000000000000000000" charset="0"/>
              <a:buChar char=""/>
            </a:pPr>
            <a:r>
              <a:rPr lang="en-US"/>
              <a:t>Repository of HIstorical Data.</a:t>
            </a:r>
            <a:endParaRPr lang="en-US"/>
          </a:p>
          <a:p>
            <a:pPr marL="285750" indent="-285750" algn="l">
              <a:buFont typeface="Wingdings" panose="05000000000000000000" charset="0"/>
              <a:buChar char=""/>
            </a:pPr>
            <a:r>
              <a:t>Data warehousing is an electronic method of organizing information.</a:t>
            </a:r>
            <a:endParaRPr lang="en-US"/>
          </a:p>
        </p:txBody>
      </p:sp>
      <p:pic>
        <p:nvPicPr>
          <p:cNvPr id="5" name="Picture 4"/>
          <p:cNvPicPr>
            <a:picLocks noChangeAspect="1"/>
          </p:cNvPicPr>
          <p:nvPr/>
        </p:nvPicPr>
        <p:blipFill>
          <a:blip r:embed="rId1"/>
          <a:stretch>
            <a:fillRect/>
          </a:stretch>
        </p:blipFill>
        <p:spPr>
          <a:xfrm>
            <a:off x="2176780" y="1843405"/>
            <a:ext cx="7362825" cy="42195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2842260" y="0"/>
            <a:ext cx="7272655" cy="583565"/>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Basic Structure of </a:t>
            </a:r>
            <a:r>
              <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Data Warehousing</a:t>
            </a:r>
            <a:endPar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3" name="Picture 2"/>
          <p:cNvPicPr>
            <a:picLocks noChangeAspect="1"/>
          </p:cNvPicPr>
          <p:nvPr/>
        </p:nvPicPr>
        <p:blipFill>
          <a:blip r:embed="rId1"/>
          <a:stretch>
            <a:fillRect/>
          </a:stretch>
        </p:blipFill>
        <p:spPr>
          <a:xfrm>
            <a:off x="427355" y="924560"/>
            <a:ext cx="11381740" cy="534733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3456940" y="0"/>
            <a:ext cx="5278120" cy="583565"/>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Uses of </a:t>
            </a:r>
            <a:r>
              <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Data Warehous</a:t>
            </a:r>
            <a:r>
              <a:rPr lang="en-US" alt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ing</a:t>
            </a:r>
            <a:endParaRPr lang="en-US" alt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pic>
        <p:nvPicPr>
          <p:cNvPr id="4" name="Picture 3"/>
          <p:cNvPicPr>
            <a:picLocks noChangeAspect="1"/>
          </p:cNvPicPr>
          <p:nvPr/>
        </p:nvPicPr>
        <p:blipFill>
          <a:blip r:embed="rId1"/>
          <a:srcRect l="1601" t="17185" b="7602"/>
          <a:stretch>
            <a:fillRect/>
          </a:stretch>
        </p:blipFill>
        <p:spPr>
          <a:xfrm>
            <a:off x="358775" y="678180"/>
            <a:ext cx="11073765" cy="55016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4435475" y="0"/>
            <a:ext cx="3321050" cy="583565"/>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OLAP and OLTP</a:t>
            </a:r>
            <a:endParaRPr lang="en-IN" sz="32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3" name="Text Box 2"/>
          <p:cNvSpPr txBox="1"/>
          <p:nvPr/>
        </p:nvSpPr>
        <p:spPr>
          <a:xfrm>
            <a:off x="0" y="729615"/>
            <a:ext cx="12192000" cy="2030095"/>
          </a:xfrm>
          <a:prstGeom prst="rect">
            <a:avLst/>
          </a:prstGeom>
          <a:noFill/>
        </p:spPr>
        <p:txBody>
          <a:bodyPr wrap="square" rtlCol="0" anchor="t">
            <a:spAutoFit/>
          </a:bodyPr>
          <a:p>
            <a:pPr marL="285750" indent="-285750">
              <a:buFont typeface="Wingdings" panose="05000000000000000000" charset="0"/>
              <a:buChar char=""/>
            </a:pPr>
            <a:r>
              <a:rPr lang="en-US"/>
              <a:t>OLAP stands for Online Analytical Processing. </a:t>
            </a:r>
            <a:endParaRPr lang="en-US"/>
          </a:p>
          <a:p>
            <a:pPr marL="285750" indent="-285750">
              <a:buFont typeface="Wingdings" panose="05000000000000000000" charset="0"/>
              <a:buChar char=""/>
            </a:pPr>
            <a:r>
              <a:rPr lang="en-US"/>
              <a:t>OLAP systems have the capability to analyze database information of multiple systems at the current time. </a:t>
            </a:r>
            <a:endParaRPr lang="en-US"/>
          </a:p>
          <a:p>
            <a:pPr marL="285750" indent="-285750">
              <a:buFont typeface="Wingdings" panose="05000000000000000000" charset="0"/>
              <a:buChar char=""/>
            </a:pPr>
            <a:r>
              <a:rPr lang="en-US"/>
              <a:t>The primary goal of OLAP Service is data analysis and not data processing. </a:t>
            </a:r>
            <a:endParaRPr lang="en-US"/>
          </a:p>
          <a:p>
            <a:endParaRPr lang="en-US"/>
          </a:p>
          <a:p>
            <a:pPr marL="285750" indent="-285750">
              <a:buFont typeface="Wingdings" panose="05000000000000000000" charset="0"/>
              <a:buChar char=""/>
            </a:pPr>
            <a:r>
              <a:rPr lang="en-US"/>
              <a:t>OLTP stands for Online Transaction Processing. </a:t>
            </a:r>
            <a:endParaRPr lang="en-US"/>
          </a:p>
          <a:p>
            <a:pPr marL="285750" indent="-285750">
              <a:buFont typeface="Wingdings" panose="05000000000000000000" charset="0"/>
              <a:buChar char=""/>
            </a:pPr>
            <a:r>
              <a:rPr lang="en-US"/>
              <a:t>OLTP has the work to administer day-to-day transactions in any organization. </a:t>
            </a:r>
            <a:endParaRPr lang="en-US"/>
          </a:p>
          <a:p>
            <a:pPr marL="285750" indent="-285750">
              <a:buFont typeface="Wingdings" panose="05000000000000000000" charset="0"/>
              <a:buChar char=""/>
            </a:pPr>
            <a:r>
              <a:rPr lang="en-US"/>
              <a:t>The main goal of OLTP is data processing not data analysis.</a:t>
            </a:r>
            <a:endParaRPr lang="en-US"/>
          </a:p>
        </p:txBody>
      </p:sp>
      <p:sp>
        <p:nvSpPr>
          <p:cNvPr id="4" name="Text Box 3"/>
          <p:cNvSpPr txBox="1"/>
          <p:nvPr/>
        </p:nvSpPr>
        <p:spPr>
          <a:xfrm>
            <a:off x="113030" y="2759710"/>
            <a:ext cx="11943080" cy="1198880"/>
          </a:xfrm>
          <a:prstGeom prst="rect">
            <a:avLst/>
          </a:prstGeom>
          <a:noFill/>
        </p:spPr>
        <p:txBody>
          <a:bodyPr wrap="square" rtlCol="0" anchor="t">
            <a:spAutoFit/>
          </a:bodyPr>
          <a:p>
            <a:r>
              <a:rPr lang="en-US" b="1"/>
              <a:t>OLAP Examples</a:t>
            </a:r>
            <a:endParaRPr lang="en-US" b="1"/>
          </a:p>
          <a:p>
            <a:endParaRPr lang="en-US"/>
          </a:p>
          <a:p>
            <a:r>
              <a:rPr lang="en-US" b="1"/>
              <a:t>Spotify</a:t>
            </a:r>
            <a:r>
              <a:rPr lang="en-US"/>
              <a:t> analyzed songs by users to come up with a personalized homepage of their songs and playlist.</a:t>
            </a:r>
            <a:endParaRPr lang="en-US"/>
          </a:p>
          <a:p>
            <a:r>
              <a:rPr lang="en-US" b="1"/>
              <a:t>Netflix </a:t>
            </a:r>
            <a:r>
              <a:rPr lang="en-US"/>
              <a:t>movie recommendation system</a:t>
            </a:r>
            <a:endParaRPr lang="en-US"/>
          </a:p>
        </p:txBody>
      </p:sp>
      <p:sp>
        <p:nvSpPr>
          <p:cNvPr id="5" name="Text Box 4"/>
          <p:cNvSpPr txBox="1"/>
          <p:nvPr/>
        </p:nvSpPr>
        <p:spPr>
          <a:xfrm>
            <a:off x="113030" y="4039870"/>
            <a:ext cx="9008110" cy="1198880"/>
          </a:xfrm>
          <a:prstGeom prst="rect">
            <a:avLst/>
          </a:prstGeom>
          <a:noFill/>
        </p:spPr>
        <p:txBody>
          <a:bodyPr wrap="square" rtlCol="0" anchor="t">
            <a:spAutoFit/>
          </a:bodyPr>
          <a:p>
            <a:r>
              <a:rPr lang="en-US" b="1">
                <a:sym typeface="+mn-ea"/>
              </a:rPr>
              <a:t>OLTP Examples</a:t>
            </a:r>
            <a:endParaRPr lang="en-US"/>
          </a:p>
          <a:p>
            <a:r>
              <a:rPr lang="en-US"/>
              <a:t>ATMs, </a:t>
            </a:r>
            <a:endParaRPr lang="en-US"/>
          </a:p>
          <a:p>
            <a:r>
              <a:rPr lang="en-US"/>
              <a:t>financial transaction systems</a:t>
            </a:r>
            <a:endParaRPr lang="en-US"/>
          </a:p>
          <a:p>
            <a:r>
              <a:rPr lang="en-US"/>
              <a:t>online banking applications etc.</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pic>
        <p:nvPicPr>
          <p:cNvPr id="10" name="Picture 9"/>
          <p:cNvPicPr>
            <a:picLocks noChangeAspect="1"/>
          </p:cNvPicPr>
          <p:nvPr/>
        </p:nvPicPr>
        <p:blipFill>
          <a:blip r:embed="rId1"/>
          <a:stretch>
            <a:fillRect/>
          </a:stretch>
        </p:blipFill>
        <p:spPr>
          <a:xfrm>
            <a:off x="1416685" y="196850"/>
            <a:ext cx="9744075" cy="62947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3589020" y="0"/>
            <a:ext cx="4221480" cy="64516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Anomaly Detection</a:t>
            </a:r>
            <a:endParaRPr 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4" name="Text Box 3"/>
          <p:cNvSpPr txBox="1"/>
          <p:nvPr/>
        </p:nvSpPr>
        <p:spPr>
          <a:xfrm>
            <a:off x="635" y="1016000"/>
            <a:ext cx="12191365" cy="2738120"/>
          </a:xfrm>
          <a:prstGeom prst="rect">
            <a:avLst/>
          </a:prstGeom>
          <a:noFill/>
        </p:spPr>
        <p:txBody>
          <a:bodyPr wrap="square" rtlCol="0" anchor="t">
            <a:spAutoFit/>
          </a:bodyPr>
          <a:p>
            <a:pPr marL="285750" indent="-285750">
              <a:buFont typeface="Wingdings" panose="05000000000000000000" charset="0"/>
              <a:buChar char=""/>
            </a:pPr>
            <a:r>
              <a:rPr lang="en-US"/>
              <a:t>Anomaly detection in information systems involves identifying unusual or abnormal behavior within the data generated by the system. </a:t>
            </a:r>
            <a:endParaRPr lang="en-US"/>
          </a:p>
          <a:p>
            <a:pPr indent="0" algn="ctr">
              <a:buFont typeface="Wingdings" panose="05000000000000000000" charset="0"/>
              <a:buNone/>
            </a:pPr>
            <a:r>
              <a:rPr lang="en-US" sz="2800">
                <a:solidFill>
                  <a:srgbClr val="FF0000"/>
                </a:solidFill>
              </a:rPr>
              <a:t> Applications:</a:t>
            </a:r>
            <a:endParaRPr lang="en-US" sz="2800">
              <a:solidFill>
                <a:srgbClr val="FF0000"/>
              </a:solidFill>
            </a:endParaRPr>
          </a:p>
          <a:p>
            <a:endParaRPr lang="en-US"/>
          </a:p>
          <a:p>
            <a:r>
              <a:rPr lang="en-US"/>
              <a:t>1. Network Intrusion Detection:</a:t>
            </a:r>
            <a:endParaRPr lang="en-US"/>
          </a:p>
          <a:p>
            <a:r>
              <a:rPr lang="en-US"/>
              <a:t>2. System Performance Monitoring:</a:t>
            </a:r>
            <a:endParaRPr lang="en-US"/>
          </a:p>
          <a:p>
            <a:r>
              <a:rPr lang="en-US"/>
              <a:t>3. User Behavior Analysis:</a:t>
            </a:r>
            <a:endParaRPr lang="en-US"/>
          </a:p>
          <a:p>
            <a:r>
              <a:rPr lang="en-US"/>
              <a:t>4. Application Performance Monitoring (APM):</a:t>
            </a:r>
            <a:endParaRPr lang="en-US"/>
          </a:p>
          <a:p>
            <a:r>
              <a:rPr lang="en-US"/>
              <a:t>5. Fraud Detection: </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610600" y="6610350"/>
            <a:ext cx="2743200" cy="140335"/>
          </a:xfrm>
          <a:prstGeom prst="rect">
            <a:avLst/>
          </a:prstGeom>
        </p:spPr>
        <p:txBody>
          <a:bodyPr vert="horz" wrap="square" lIns="0" tIns="0" rIns="0" bIns="0" rtlCol="0">
            <a:spAutoFit/>
          </a:bodyPr>
          <a:lstStyle/>
          <a:p>
            <a:pPr marL="46990">
              <a:lnSpc>
                <a:spcPts val="1095"/>
              </a:lnSpc>
            </a:pPr>
            <a:fld id="{81D60167-4931-47E6-BA6A-407CBD079E47}" type="slidenum">
              <a:rPr sz="1090" dirty="0"/>
            </a:fld>
            <a:endParaRPr sz="1090" dirty="0"/>
          </a:p>
        </p:txBody>
      </p:sp>
      <p:sp>
        <p:nvSpPr>
          <p:cNvPr id="2" name="Text Box 1"/>
          <p:cNvSpPr txBox="1"/>
          <p:nvPr/>
        </p:nvSpPr>
        <p:spPr>
          <a:xfrm>
            <a:off x="3940175" y="0"/>
            <a:ext cx="3625850" cy="645160"/>
          </a:xfrm>
          <a:prstGeom prst="rect">
            <a:avLst/>
          </a:prstGeom>
          <a:noFill/>
        </p:spPr>
        <p:txBody>
          <a:bodyPr wrap="none" rtlCol="0" anchor="t">
            <a:spAutoFit/>
            <a:scene3d>
              <a:camera prst="orthographicFront"/>
              <a:lightRig rig="threePt" dir="t"/>
            </a:scene3d>
          </a:bodyPr>
          <a:p>
            <a:pPr marL="25400" indent="0" algn="l">
              <a:lnSpc>
                <a:spcPct val="100000"/>
              </a:lnSpc>
              <a:buFont typeface="Wingdings" panose="05000000000000000000" charset="0"/>
              <a:buNone/>
            </a:pPr>
            <a:r>
              <a:rPr lang="en-US" alt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F</a:t>
            </a:r>
            <a:r>
              <a:rPr 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rPr>
              <a:t>raud Detection</a:t>
            </a:r>
            <a:endParaRPr lang="en-IN" sz="3600" b="1">
              <a:solidFill>
                <a:schemeClr val="accent1"/>
              </a:solidFill>
              <a:effectLst>
                <a:outerShdw blurRad="38100" dist="25400" dir="5400000" algn="ctr" rotWithShape="0">
                  <a:srgbClr val="6E747A">
                    <a:alpha val="43000"/>
                    <a:alpha val="43000"/>
                  </a:srgbClr>
                </a:outerShdw>
              </a:effectLst>
              <a:latin typeface="times" charset="0"/>
              <a:cs typeface="times" charset="0"/>
              <a:sym typeface="+mn-ea"/>
            </a:endParaRPr>
          </a:p>
        </p:txBody>
      </p:sp>
      <p:sp>
        <p:nvSpPr>
          <p:cNvPr id="3" name="Text Box 2"/>
          <p:cNvSpPr txBox="1"/>
          <p:nvPr/>
        </p:nvSpPr>
        <p:spPr>
          <a:xfrm>
            <a:off x="-635" y="645160"/>
            <a:ext cx="12192635" cy="3169285"/>
          </a:xfrm>
          <a:prstGeom prst="rect">
            <a:avLst/>
          </a:prstGeom>
          <a:noFill/>
        </p:spPr>
        <p:txBody>
          <a:bodyPr wrap="square" rtlCol="0" anchor="t">
            <a:spAutoFit/>
          </a:bodyPr>
          <a:p>
            <a:pPr marL="285750" indent="-285750">
              <a:buFont typeface="Wingdings" panose="05000000000000000000" charset="0"/>
              <a:buChar char=""/>
            </a:pPr>
            <a:r>
              <a:rPr lang="en-US"/>
              <a:t>It is a critical component of maintaining security and integrity in various domains, including finance, e-commerce, healthcare, and more. </a:t>
            </a:r>
            <a:endParaRPr lang="en-US"/>
          </a:p>
          <a:p>
            <a:pPr indent="0" algn="ctr">
              <a:buFont typeface="Wingdings" panose="05000000000000000000" charset="0"/>
              <a:buNone/>
            </a:pPr>
            <a:r>
              <a:rPr lang="en-US" b="1">
                <a:solidFill>
                  <a:srgbClr val="FF0000"/>
                </a:solidFill>
              </a:rPr>
              <a:t> F</a:t>
            </a:r>
            <a:r>
              <a:rPr lang="en-US" sz="2000" b="1">
                <a:solidFill>
                  <a:srgbClr val="FF0000"/>
                </a:solidFill>
              </a:rPr>
              <a:t>raud detection  approach in information systems:</a:t>
            </a:r>
            <a:endParaRPr lang="en-US"/>
          </a:p>
          <a:p>
            <a:endParaRPr lang="en-US"/>
          </a:p>
          <a:p>
            <a:r>
              <a:rPr lang="en-US"/>
              <a:t>1. Data Collection: </a:t>
            </a:r>
            <a:endParaRPr lang="en-US"/>
          </a:p>
          <a:p>
            <a:r>
              <a:rPr lang="en-US"/>
              <a:t>2. Data Preprocessing: </a:t>
            </a:r>
            <a:endParaRPr lang="en-US"/>
          </a:p>
          <a:p>
            <a:r>
              <a:rPr lang="en-US"/>
              <a:t>3. Feature Extraction: </a:t>
            </a:r>
            <a:endParaRPr lang="en-US"/>
          </a:p>
          <a:p>
            <a:r>
              <a:rPr lang="en-US"/>
              <a:t>4. Model Training: </a:t>
            </a:r>
            <a:endParaRPr lang="en-US"/>
          </a:p>
          <a:p>
            <a:r>
              <a:rPr lang="en-US"/>
              <a:t>5. Model Evaluation: </a:t>
            </a:r>
            <a:endParaRPr lang="en-US"/>
          </a:p>
          <a:p>
            <a:r>
              <a:rPr lang="en-US"/>
              <a:t>6. Deployment and Monitoring: </a:t>
            </a:r>
            <a:endParaRPr lang="en-US"/>
          </a:p>
          <a:p>
            <a:r>
              <a:rPr lang="en-US"/>
              <a:t>7. Feedback Loop: </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16701" y="2780417"/>
            <a:ext cx="9758598" cy="706755"/>
          </a:xfrm>
          <a:prstGeom prst="rect">
            <a:avLst/>
          </a:prstGeom>
          <a:noFill/>
        </p:spPr>
        <p:txBody>
          <a:bodyPr wrap="square">
            <a:spAutoFit/>
          </a:bodyPr>
          <a:lstStyle/>
          <a:p>
            <a:pPr algn="ctr"/>
            <a:r>
              <a:rPr lang="en-US" altLang="en-GB" sz="4000" b="1" dirty="0">
                <a:latin typeface="Times New Roman" panose="02020603050405020304" pitchFamily="18" charset="0"/>
                <a:cs typeface="Times New Roman" panose="02020603050405020304" pitchFamily="18" charset="0"/>
              </a:rPr>
              <a:t>END of The Unit 4</a:t>
            </a:r>
            <a:endParaRPr lang="en-US" altLang="en-GB"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11333</Words>
  <Application>WPS Presentation</Application>
  <PresentationFormat>Widescreen</PresentationFormat>
  <Paragraphs>448</Paragraphs>
  <Slides>49</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49</vt:i4>
      </vt:variant>
    </vt:vector>
  </HeadingPairs>
  <TitlesOfParts>
    <vt:vector size="71" baseType="lpstr">
      <vt:lpstr>Arial</vt:lpstr>
      <vt:lpstr>SimSun</vt:lpstr>
      <vt:lpstr>Wingdings</vt:lpstr>
      <vt:lpstr>tim</vt:lpstr>
      <vt:lpstr>苹方-简</vt:lpstr>
      <vt:lpstr>Times New Roman</vt:lpstr>
      <vt:lpstr>Wingdings</vt:lpstr>
      <vt:lpstr>times</vt:lpstr>
      <vt:lpstr>Times New Roman Bold</vt:lpstr>
      <vt:lpstr>Times New Roman</vt:lpstr>
      <vt:lpstr>Consolas</vt:lpstr>
      <vt:lpstr>Thonburi</vt:lpstr>
      <vt:lpstr>Microsoft Sans Serif</vt:lpstr>
      <vt:lpstr>Corbel</vt:lpstr>
      <vt:lpstr>Microsoft YaHei</vt:lpstr>
      <vt:lpstr>汉仪旗黑</vt:lpstr>
      <vt:lpstr>Arial Unicode MS</vt:lpstr>
      <vt:lpstr>Calibri Light</vt:lpstr>
      <vt:lpstr>Helvetica Neue</vt:lpstr>
      <vt:lpstr>Calibri</vt:lpstr>
      <vt:lpstr>宋体-简</vt:lpstr>
      <vt:lpstr>Office Theme</vt:lpstr>
      <vt:lpstr>DECISION SUPPORT AND INTELLIGENT SYSTEMS  </vt:lpstr>
      <vt:lpstr>OUTLINES</vt:lpstr>
      <vt:lpstr>Concept of Decision Support System (DSS)</vt:lpstr>
      <vt:lpstr>Phases of Decision Support System (DSS)</vt:lpstr>
      <vt:lpstr>PowerPoint 演示文稿</vt:lpstr>
      <vt:lpstr>Cons of  Decision Support System (DSS)</vt:lpstr>
      <vt:lpstr>Components  of  Decision Support System (DSS)</vt:lpstr>
      <vt:lpstr>Types of  Decision Support System (DSS)</vt:lpstr>
      <vt:lpstr>Uses of  Decision Support System (DSS)</vt:lpstr>
      <vt:lpstr>Operation Research Models</vt:lpstr>
      <vt:lpstr>PowerPoint 演示文稿</vt:lpstr>
      <vt:lpstr>Group Decision Support System  (GDSS)</vt:lpstr>
      <vt:lpstr>Features of Group Decision Support  System (GDSS)</vt:lpstr>
      <vt:lpstr>Advantages of GDSS</vt:lpstr>
      <vt:lpstr>5.4.1.1 Phases of GDSS process</vt:lpstr>
      <vt:lpstr>5.4.1.2 Components of GDSS</vt:lpstr>
      <vt:lpstr>Different kinds of GDSS based on Time/place:</vt:lpstr>
      <vt:lpstr>Enterprise decision support systems</vt:lpstr>
      <vt:lpstr>Executive decision support systems</vt:lpstr>
      <vt:lpstr>Knowledge Management</vt:lpstr>
      <vt:lpstr>Components of Knowledge Management</vt:lpstr>
      <vt:lpstr>Benefits of Knowledge Management</vt:lpstr>
      <vt:lpstr> Knowledge Based System</vt:lpstr>
      <vt:lpstr> Knowledge Base</vt:lpstr>
      <vt:lpstr> Expert System</vt:lpstr>
      <vt:lpstr> Expert System</vt:lpstr>
      <vt:lpstr> Expert System</vt:lpstr>
      <vt:lpstr>PowerPoint 演示文稿</vt:lpstr>
      <vt:lpstr>PowerPoint 演示文稿</vt:lpstr>
      <vt:lpstr>Domains of Artificial Intelligence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Types of Intelligent Agents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E-Business</dc:title>
  <dc:creator>Harendra Bikram Shah</dc:creator>
  <cp:lastModifiedBy>hbs</cp:lastModifiedBy>
  <cp:revision>196</cp:revision>
  <dcterms:created xsi:type="dcterms:W3CDTF">2024-06-01T15:34:25Z</dcterms:created>
  <dcterms:modified xsi:type="dcterms:W3CDTF">2024-06-01T15:34:25Z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1033-5.7.1.8093</vt:lpwstr>
  </property>
</Properties>
</file>