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68" r:id="rId5"/>
    <p:sldId id="269" r:id="rId6"/>
    <p:sldId id="271" r:id="rId7"/>
    <p:sldId id="272" r:id="rId8"/>
    <p:sldId id="273" r:id="rId9"/>
    <p:sldId id="274" r:id="rId10"/>
    <p:sldId id="275" r:id="rId11"/>
    <p:sldId id="276" r:id="rId12"/>
    <p:sldId id="277" r:id="rId13"/>
    <p:sldId id="279" r:id="rId14"/>
    <p:sldId id="280" r:id="rId15"/>
    <p:sldId id="278" r:id="rId16"/>
    <p:sldId id="281" r:id="rId17"/>
    <p:sldId id="26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291" autoAdjust="0"/>
  </p:normalViewPr>
  <p:slideViewPr>
    <p:cSldViewPr snapToGrid="0">
      <p:cViewPr varScale="1">
        <p:scale>
          <a:sx n="72" d="100"/>
          <a:sy n="72" d="100"/>
        </p:scale>
        <p:origin x="63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33E0B8D6-C4BD-46A4-9A82-08D4E8E6001C}"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8E9A205-56FA-4820-9B78-BADF71C7EFD0}"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33E0B8D6-C4BD-46A4-9A82-08D4E8E6001C}"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8E9A205-56FA-4820-9B78-BADF71C7EFD0}"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33E0B8D6-C4BD-46A4-9A82-08D4E8E6001C}"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8E9A205-56FA-4820-9B78-BADF71C7EFD0}"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33E0B8D6-C4BD-46A4-9A82-08D4E8E6001C}"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8E9A205-56FA-4820-9B78-BADF71C7EFD0}"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33E0B8D6-C4BD-46A4-9A82-08D4E8E6001C}"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8E9A205-56FA-4820-9B78-BADF71C7EFD0}"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33E0B8D6-C4BD-46A4-9A82-08D4E8E6001C}"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8E9A205-56FA-4820-9B78-BADF71C7EFD0}"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3E0B8D6-C4BD-46A4-9A82-08D4E8E6001C}"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8E9A205-56FA-4820-9B78-BADF71C7EFD0}"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33E0B8D6-C4BD-46A4-9A82-08D4E8E6001C}"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8E9A205-56FA-4820-9B78-BADF71C7EFD0}"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33E0B8D6-C4BD-46A4-9A82-08D4E8E6001C}"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8E9A205-56FA-4820-9B78-BADF71C7EFD0}"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33E0B8D6-C4BD-46A4-9A82-08D4E8E6001C}"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8E9A205-56FA-4820-9B78-BADF71C7EFD0}"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33E0B8D6-C4BD-46A4-9A82-08D4E8E6001C}"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8E9A205-56FA-4820-9B78-BADF71C7EFD0}"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3E0B8D6-C4BD-46A4-9A82-08D4E8E6001C}" type="datetimeFigureOut">
              <a:rPr lang="en-IN" smtClean="0"/>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E9A205-56FA-4820-9B78-BADF71C7EFD0}"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604520"/>
            <a:ext cx="12084050" cy="732155"/>
          </a:xfrm>
        </p:spPr>
        <p:txBody>
          <a:bodyPr>
            <a:noAutofit/>
            <a:scene3d>
              <a:camera prst="orthographicFront"/>
              <a:lightRig rig="threePt" dir="t"/>
            </a:scene3d>
          </a:bodyPr>
          <a:lstStyle/>
          <a:p>
            <a:r>
              <a:rPr lang="en-US" altLang="en-IN" sz="3600" b="1">
                <a:solidFill>
                  <a:schemeClr val="accent1"/>
                </a:solidFill>
                <a:effectLst>
                  <a:outerShdw blurRad="38100" dist="25400" dir="5400000" algn="ctr" rotWithShape="0">
                    <a:srgbClr val="6E747A">
                      <a:alpha val="43000"/>
                      <a:alpha val="43000"/>
                    </a:srgbClr>
                  </a:outerShdw>
                </a:effectLst>
                <a:latin typeface="Times New Roman Bold" panose="02020603050405020304" charset="0"/>
                <a:cs typeface="Times New Roman Bold" panose="02020603050405020304" charset="0"/>
              </a:rPr>
              <a:t>I</a:t>
            </a:r>
            <a:r>
              <a:rPr lang="en-IN" sz="3600" b="1">
                <a:solidFill>
                  <a:schemeClr val="accent1"/>
                </a:solidFill>
                <a:effectLst>
                  <a:outerShdw blurRad="38100" dist="25400" dir="5400000" algn="ctr" rotWithShape="0">
                    <a:srgbClr val="6E747A">
                      <a:alpha val="43000"/>
                      <a:alpha val="43000"/>
                    </a:srgbClr>
                  </a:outerShdw>
                </a:effectLst>
                <a:latin typeface="Times New Roman Bold" panose="02020603050405020304" charset="0"/>
                <a:cs typeface="Times New Roman Bold" panose="02020603050405020304" charset="0"/>
              </a:rPr>
              <a:t>MPLEMENTATION OF INFORMATION SYSTEMS</a:t>
            </a:r>
            <a:endParaRPr lang="en-IN" sz="3600" b="1">
              <a:solidFill>
                <a:schemeClr val="accent1"/>
              </a:solidFill>
              <a:effectLst>
                <a:outerShdw blurRad="38100" dist="25400" dir="5400000" algn="ctr" rotWithShape="0">
                  <a:srgbClr val="6E747A">
                    <a:alpha val="43000"/>
                    <a:alpha val="43000"/>
                  </a:srgbClr>
                </a:outerShdw>
              </a:effectLst>
              <a:latin typeface="Times New Roman Bold" panose="02020603050405020304" charset="0"/>
              <a:cs typeface="Times New Roman Bold" panose="02020603050405020304" charset="0"/>
            </a:endParaRPr>
          </a:p>
        </p:txBody>
      </p:sp>
      <p:sp>
        <p:nvSpPr>
          <p:cNvPr id="3" name="Subtitle 2"/>
          <p:cNvSpPr>
            <a:spLocks noGrp="1"/>
          </p:cNvSpPr>
          <p:nvPr>
            <p:ph type="subTitle" idx="1"/>
          </p:nvPr>
        </p:nvSpPr>
        <p:spPr>
          <a:xfrm>
            <a:off x="1833490" y="3429000"/>
            <a:ext cx="9144000" cy="2934325"/>
          </a:xfrm>
        </p:spPr>
        <p:txBody>
          <a:bodyPr>
            <a:normAutofit/>
          </a:bodyPr>
          <a:lstStyle/>
          <a:p>
            <a:pPr algn="l"/>
            <a:r>
              <a:rPr lang="en-GB" sz="3600" b="1" dirty="0">
                <a:latin typeface="Times New Roman" panose="02020603050405020304" pitchFamily="18" charset="0"/>
                <a:cs typeface="Times New Roman" panose="02020603050405020304" pitchFamily="18" charset="0"/>
              </a:rPr>
              <a:t>Presented by</a:t>
            </a:r>
            <a:endParaRPr lang="en-GB" sz="3600" b="1" dirty="0">
              <a:latin typeface="Times New Roman" panose="02020603050405020304" pitchFamily="18" charset="0"/>
              <a:cs typeface="Times New Roman" panose="02020603050405020304" pitchFamily="18" charset="0"/>
            </a:endParaRPr>
          </a:p>
          <a:p>
            <a:r>
              <a:rPr lang="en-GB" sz="2800" dirty="0">
                <a:solidFill>
                  <a:srgbClr val="FF0000"/>
                </a:solidFill>
                <a:latin typeface="Times New Roman" panose="02020603050405020304" pitchFamily="18" charset="0"/>
                <a:cs typeface="Times New Roman" panose="02020603050405020304" pitchFamily="18" charset="0"/>
              </a:rPr>
              <a:t>Er.Harendra Bikram Shah</a:t>
            </a:r>
            <a:endParaRPr lang="en-GB" sz="2800" dirty="0">
              <a:solidFill>
                <a:srgbClr val="FF0000"/>
              </a:solidFill>
              <a:latin typeface="Times New Roman" panose="02020603050405020304" pitchFamily="18" charset="0"/>
              <a:cs typeface="Times New Roman" panose="02020603050405020304" pitchFamily="18" charset="0"/>
            </a:endParaRPr>
          </a:p>
          <a:p>
            <a:r>
              <a:rPr lang="en-GB" sz="2800" dirty="0">
                <a:solidFill>
                  <a:srgbClr val="FF0000"/>
                </a:solidFill>
                <a:latin typeface="Times New Roman" panose="02020603050405020304" pitchFamily="18" charset="0"/>
                <a:cs typeface="Times New Roman" panose="02020603050405020304" pitchFamily="18" charset="0"/>
              </a:rPr>
              <a:t>Lecturer</a:t>
            </a:r>
            <a:endParaRPr lang="en-GB" sz="2800" dirty="0">
              <a:solidFill>
                <a:srgbClr val="FF0000"/>
              </a:solidFill>
              <a:latin typeface="Times New Roman" panose="02020603050405020304" pitchFamily="18" charset="0"/>
              <a:cs typeface="Times New Roman" panose="02020603050405020304" pitchFamily="18" charset="0"/>
            </a:endParaRPr>
          </a:p>
          <a:p>
            <a:r>
              <a:rPr lang="en-GB" sz="2800" dirty="0">
                <a:solidFill>
                  <a:srgbClr val="7030A0"/>
                </a:solidFill>
                <a:latin typeface="Times New Roman" panose="02020603050405020304" pitchFamily="18" charset="0"/>
                <a:cs typeface="Times New Roman" panose="02020603050405020304" pitchFamily="18" charset="0"/>
              </a:rPr>
              <a:t>Department of BE Computer</a:t>
            </a:r>
            <a:endParaRPr lang="en-IN" dirty="0">
              <a:solidFill>
                <a:srgbClr val="7030A0"/>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9562455" y="1814733"/>
            <a:ext cx="1967865" cy="398780"/>
          </a:xfrm>
          <a:prstGeom prst="rect">
            <a:avLst/>
          </a:prstGeom>
          <a:noFill/>
        </p:spPr>
        <p:txBody>
          <a:bodyPr wrap="none" rtlCol="0">
            <a:spAutoFit/>
          </a:bodyPr>
          <a:lstStyle/>
          <a:p>
            <a:r>
              <a:rPr lang="en-GB" sz="2000" b="1" dirty="0">
                <a:solidFill>
                  <a:srgbClr val="00B0F0"/>
                </a:solidFill>
                <a:latin typeface="Times New Roman" panose="02020603050405020304" pitchFamily="18" charset="0"/>
                <a:cs typeface="Times New Roman" panose="02020603050405020304" pitchFamily="18" charset="0"/>
              </a:rPr>
              <a:t>Total Hour:</a:t>
            </a:r>
            <a:r>
              <a:rPr lang="en-US" altLang="en-GB" sz="2000" b="1" dirty="0">
                <a:solidFill>
                  <a:srgbClr val="00B0F0"/>
                </a:solidFill>
                <a:latin typeface="Times New Roman" panose="02020603050405020304" pitchFamily="18" charset="0"/>
                <a:cs typeface="Times New Roman" panose="02020603050405020304" pitchFamily="18" charset="0"/>
              </a:rPr>
              <a:t>9</a:t>
            </a:r>
            <a:r>
              <a:rPr lang="en-GB" sz="2000" b="1" dirty="0">
                <a:solidFill>
                  <a:srgbClr val="00B0F0"/>
                </a:solidFill>
                <a:latin typeface="Times New Roman" panose="02020603050405020304" pitchFamily="18" charset="0"/>
                <a:cs typeface="Times New Roman" panose="02020603050405020304" pitchFamily="18" charset="0"/>
              </a:rPr>
              <a:t>hrs</a:t>
            </a:r>
            <a:endParaRPr lang="en-IN" sz="2000" b="1" dirty="0">
              <a:solidFill>
                <a:srgbClr val="00B0F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37943"/>
            <a:ext cx="9144000" cy="961270"/>
          </a:xfrm>
        </p:spPr>
        <p:txBody>
          <a:bodyPr>
            <a:normAutofit/>
          </a:bodyPr>
          <a:lstStyle/>
          <a:p>
            <a:r>
              <a:rPr lang="en-GB" b="1" dirty="0">
                <a:solidFill>
                  <a:srgbClr val="00B0F0"/>
                </a:solidFill>
                <a:latin typeface="Times New Roman" panose="02020603050405020304" pitchFamily="18" charset="0"/>
                <a:cs typeface="Times New Roman" panose="02020603050405020304" pitchFamily="18" charset="0"/>
              </a:rPr>
              <a:t>OUTLINES</a:t>
            </a:r>
            <a:endParaRPr lang="en-IN" b="1" dirty="0">
              <a:solidFill>
                <a:srgbClr val="00B0F0"/>
              </a:solidFill>
              <a:latin typeface="Times New Roman" panose="02020603050405020304" pitchFamily="18" charset="0"/>
              <a:cs typeface="Times New Roman" panose="02020603050405020304" pitchFamily="18" charset="0"/>
            </a:endParaRPr>
          </a:p>
        </p:txBody>
      </p:sp>
      <p:sp>
        <p:nvSpPr>
          <p:cNvPr id="5" name="Text Box 4"/>
          <p:cNvSpPr txBox="1"/>
          <p:nvPr/>
        </p:nvSpPr>
        <p:spPr>
          <a:xfrm>
            <a:off x="257810" y="1199515"/>
            <a:ext cx="11095355" cy="3415030"/>
          </a:xfrm>
          <a:prstGeom prst="rect">
            <a:avLst/>
          </a:prstGeom>
          <a:noFill/>
        </p:spPr>
        <p:txBody>
          <a:bodyPr wrap="square" rtlCol="0" anchor="t">
            <a:spAutoFit/>
          </a:bodyPr>
          <a:p>
            <a:pPr marL="152400"/>
            <a:r>
              <a:rPr lang="en-IN" sz="2400" b="1"/>
              <a:t>6.1.Change Management</a:t>
            </a:r>
            <a:endParaRPr lang="en-IN" sz="2400" b="1"/>
          </a:p>
          <a:p>
            <a:pPr marL="152400"/>
            <a:r>
              <a:rPr lang="en-IN" sz="2400" b="1"/>
              <a:t>6.2.Critical Success Factors</a:t>
            </a:r>
            <a:endParaRPr lang="en-IN" sz="2400" b="1"/>
          </a:p>
          <a:p>
            <a:pPr marL="152400"/>
            <a:r>
              <a:rPr lang="en-IN" sz="2400" b="1"/>
              <a:t>6.3.Advanced Balanced Scorecard</a:t>
            </a:r>
            <a:endParaRPr lang="en-IN" sz="2400" b="1"/>
          </a:p>
          <a:p>
            <a:pPr marL="0" marR="0" lvl="0" indent="0" algn="l" defTabSz="914400" rtl="0" eaLnBrk="0" fontAlgn="base" latinLnBrk="0" hangingPunct="0">
              <a:lnSpc>
                <a:spcPct val="100000"/>
              </a:lnSpc>
              <a:spcBef>
                <a:spcPct val="0"/>
              </a:spcBef>
              <a:spcAft>
                <a:spcPct val="0"/>
              </a:spcAft>
              <a:buClrTx/>
              <a:buSzTx/>
              <a:buFontTx/>
              <a:buChar char="•"/>
              <a:tabLst>
                <a:tab pos="863600" algn="l"/>
              </a:tabLst>
            </a:pPr>
            <a:r>
              <a:rPr lang="en-US" altLang="en-US" sz="2400"/>
              <a:t>Advanced Strategic foundation development</a:t>
            </a:r>
            <a:endParaRPr lang="en-US" altLang="en-US" sz="2400"/>
          </a:p>
          <a:p>
            <a:pPr marL="0" marR="0" lvl="0" indent="0" algn="l" defTabSz="914400" rtl="0" eaLnBrk="0" fontAlgn="base" latinLnBrk="0" hangingPunct="0">
              <a:lnSpc>
                <a:spcPct val="100000"/>
              </a:lnSpc>
              <a:spcBef>
                <a:spcPct val="0"/>
              </a:spcBef>
              <a:spcAft>
                <a:spcPct val="0"/>
              </a:spcAft>
              <a:buClrTx/>
              <a:buSzTx/>
              <a:buFontTx/>
              <a:buChar char="•"/>
              <a:tabLst>
                <a:tab pos="863600" algn="l"/>
              </a:tabLst>
            </a:pPr>
            <a:r>
              <a:rPr lang="en-US" altLang="en-US" sz="2400"/>
              <a:t>Advanced objective and Strategy map development</a:t>
            </a:r>
            <a:endParaRPr lang="en-US" altLang="en-US" sz="2400"/>
          </a:p>
          <a:p>
            <a:pPr marL="0" marR="0" lvl="0" indent="0" algn="l" defTabSz="914400" rtl="0" eaLnBrk="0" fontAlgn="base" latinLnBrk="0" hangingPunct="0">
              <a:lnSpc>
                <a:spcPct val="100000"/>
              </a:lnSpc>
              <a:spcBef>
                <a:spcPct val="0"/>
              </a:spcBef>
              <a:spcAft>
                <a:spcPct val="0"/>
              </a:spcAft>
              <a:buClrTx/>
              <a:buSzTx/>
              <a:buFontTx/>
              <a:buChar char="•"/>
              <a:tabLst>
                <a:tab pos="863600" algn="l"/>
              </a:tabLst>
            </a:pPr>
            <a:r>
              <a:rPr lang="en-US" altLang="en-US" sz="2400"/>
              <a:t>Advanced performance management</a:t>
            </a:r>
            <a:endParaRPr lang="en-US" altLang="en-US" sz="2400"/>
          </a:p>
          <a:p>
            <a:pPr marL="0" marR="0" lvl="0" indent="0" algn="l" defTabSz="914400" rtl="0" eaLnBrk="0" fontAlgn="base" latinLnBrk="0" hangingPunct="0">
              <a:lnSpc>
                <a:spcPct val="100000"/>
              </a:lnSpc>
              <a:spcBef>
                <a:spcPct val="0"/>
              </a:spcBef>
              <a:spcAft>
                <a:spcPct val="0"/>
              </a:spcAft>
              <a:buClrTx/>
              <a:buSzTx/>
              <a:buFontTx/>
              <a:buChar char="•"/>
              <a:tabLst>
                <a:tab pos="863600" algn="l"/>
              </a:tabLst>
            </a:pPr>
            <a:r>
              <a:rPr lang="en-US" altLang="en-US" sz="2400"/>
              <a:t>Implementation and Visualization</a:t>
            </a:r>
            <a:endParaRPr lang="en-US" altLang="en-US" sz="2400"/>
          </a:p>
          <a:p>
            <a:pPr marL="0" marR="0" lvl="0" indent="0" algn="l" defTabSz="914400" rtl="0" eaLnBrk="0" fontAlgn="base" latinLnBrk="0" hangingPunct="0">
              <a:lnSpc>
                <a:spcPct val="100000"/>
              </a:lnSpc>
              <a:spcBef>
                <a:spcPct val="0"/>
              </a:spcBef>
              <a:spcAft>
                <a:spcPct val="0"/>
              </a:spcAft>
              <a:buClrTx/>
              <a:buSzTx/>
              <a:buFontTx/>
              <a:buChar char="•"/>
              <a:tabLst>
                <a:tab pos="863600" algn="l"/>
              </a:tabLst>
            </a:pPr>
            <a:r>
              <a:rPr lang="en-US" altLang="en-US" sz="2400"/>
              <a:t>Strategic initiative prioritization and management</a:t>
            </a:r>
            <a:endParaRPr lang="en-US" altLang="en-US" sz="2400"/>
          </a:p>
          <a:p>
            <a:pPr marL="0" marR="0" lvl="0" indent="0" algn="l" defTabSz="914400" rtl="0" eaLnBrk="0" fontAlgn="base" latinLnBrk="0" hangingPunct="0">
              <a:lnSpc>
                <a:spcPct val="100000"/>
              </a:lnSpc>
              <a:spcBef>
                <a:spcPct val="0"/>
              </a:spcBef>
              <a:spcAft>
                <a:spcPct val="0"/>
              </a:spcAft>
              <a:buClrTx/>
              <a:buSzTx/>
              <a:buFontTx/>
              <a:buChar char="•"/>
              <a:tabLst>
                <a:tab pos="863600" algn="l"/>
              </a:tabLst>
            </a:pPr>
            <a:r>
              <a:rPr lang="en-US" altLang="en-US" sz="2400"/>
              <a:t>Advanced scorecard alignment and cascading Dashboard</a:t>
            </a:r>
            <a:endParaRPr lang="en-US" altLang="en-US" sz="2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37943"/>
            <a:ext cx="9144000" cy="961270"/>
          </a:xfrm>
        </p:spPr>
        <p:txBody>
          <a:bodyPr>
            <a:normAutofit/>
          </a:bodyPr>
          <a:lstStyle/>
          <a:p>
            <a:r>
              <a:rPr lang="en-US" altLang="en-GB" b="1" dirty="0">
                <a:solidFill>
                  <a:srgbClr val="00B0F0"/>
                </a:solidFill>
                <a:latin typeface="Times New Roman" panose="02020603050405020304" pitchFamily="18" charset="0"/>
                <a:cs typeface="Times New Roman" panose="02020603050405020304" pitchFamily="18" charset="0"/>
              </a:rPr>
              <a:t>INTRODUCTION</a:t>
            </a:r>
            <a:endParaRPr lang="en-US" altLang="en-GB" b="1" dirty="0">
              <a:solidFill>
                <a:srgbClr val="00B0F0"/>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186690" y="1402080"/>
            <a:ext cx="11523345" cy="1459865"/>
          </a:xfrm>
          <a:prstGeom prst="rect">
            <a:avLst/>
          </a:prstGeom>
        </p:spPr>
        <p:txBody>
          <a:bodyPr vert="horz" wrap="square" lIns="0" tIns="12700" rIns="0" bIns="0" rtlCol="0">
            <a:spAutoFit/>
          </a:bodyPr>
          <a:p>
            <a:pPr marL="12700">
              <a:lnSpc>
                <a:spcPct val="100000"/>
              </a:lnSpc>
              <a:spcBef>
                <a:spcPts val="100"/>
              </a:spcBef>
            </a:pPr>
            <a:r>
              <a:rPr sz="2000"/>
              <a:t>Systems implementation is the process of:</a:t>
            </a:r>
            <a:endParaRPr sz="2000"/>
          </a:p>
          <a:p>
            <a:pPr marL="494030" marR="6985" indent="-241300">
              <a:lnSpc>
                <a:spcPts val="1900"/>
              </a:lnSpc>
              <a:spcBef>
                <a:spcPts val="1855"/>
              </a:spcBef>
              <a:buFont typeface="Consolas"/>
              <a:buChar char="–"/>
              <a:tabLst>
                <a:tab pos="494665" algn="l"/>
              </a:tabLst>
            </a:pPr>
            <a:r>
              <a:rPr sz="2000"/>
              <a:t>defining how the information system should be built (i.e., physical system  design),</a:t>
            </a:r>
            <a:endParaRPr sz="2000"/>
          </a:p>
          <a:p>
            <a:pPr marL="494030" indent="-241300">
              <a:lnSpc>
                <a:spcPct val="100000"/>
              </a:lnSpc>
              <a:spcBef>
                <a:spcPts val="290"/>
              </a:spcBef>
              <a:buFont typeface="Consolas"/>
              <a:buChar char="–"/>
              <a:tabLst>
                <a:tab pos="494665" algn="l"/>
              </a:tabLst>
            </a:pPr>
            <a:r>
              <a:rPr sz="2000"/>
              <a:t>ensuring that the information system is operational and used,</a:t>
            </a:r>
            <a:endParaRPr sz="2000"/>
          </a:p>
          <a:p>
            <a:pPr marL="494030" marR="5080" indent="-241300">
              <a:lnSpc>
                <a:spcPts val="1900"/>
              </a:lnSpc>
              <a:spcBef>
                <a:spcPts val="540"/>
              </a:spcBef>
              <a:buFont typeface="Consolas"/>
              <a:buChar char="–"/>
              <a:tabLst>
                <a:tab pos="494665" algn="l"/>
              </a:tabLst>
            </a:pPr>
            <a:r>
              <a:rPr sz="2000"/>
              <a:t>ensuring that the information system meets quality standard (i.e., quality  assurance).</a:t>
            </a:r>
            <a:endParaRPr sz="2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0"/>
            <a:ext cx="9144000" cy="679450"/>
          </a:xfrm>
        </p:spPr>
        <p:txBody>
          <a:bodyPr>
            <a:normAutofit fontScale="90000"/>
            <a:scene3d>
              <a:camera prst="orthographicFront"/>
              <a:lightRig rig="threePt" dir="t"/>
            </a:scene3d>
          </a:bodyPr>
          <a:lstStyle/>
          <a:p>
            <a:r>
              <a:rPr lang="en-IN" sz="4000" b="1">
                <a:solidFill>
                  <a:schemeClr val="accent1"/>
                </a:solidFill>
                <a:effectLst>
                  <a:outerShdw blurRad="38100" dist="25400" dir="5400000" algn="ctr" rotWithShape="0">
                    <a:srgbClr val="6E747A">
                      <a:alpha val="43000"/>
                      <a:alpha val="43000"/>
                    </a:srgbClr>
                  </a:outerShdw>
                </a:effectLst>
                <a:sym typeface="+mn-ea"/>
              </a:rPr>
              <a:t>Change Management</a:t>
            </a:r>
            <a:endParaRPr lang="en-IN" altLang="en-GB" sz="4000" b="1" dirty="0">
              <a:solidFill>
                <a:schemeClr val="accent1"/>
              </a:solidFill>
              <a:effectLst>
                <a:outerShdw blurRad="38100" dist="25400" dir="5400000" algn="ctr" rotWithShape="0">
                  <a:srgbClr val="6E747A">
                    <a:alpha val="43000"/>
                    <a:alpha val="43000"/>
                  </a:srgbClr>
                </a:outerShdw>
              </a:effectLst>
              <a:latin typeface="Times New Roman" panose="02020603050405020304" pitchFamily="18" charset="0"/>
              <a:cs typeface="Times New Roman" panose="02020603050405020304" pitchFamily="18" charset="0"/>
              <a:sym typeface="+mn-ea"/>
            </a:endParaRPr>
          </a:p>
        </p:txBody>
      </p:sp>
      <p:sp>
        <p:nvSpPr>
          <p:cNvPr id="3" name="object 3"/>
          <p:cNvSpPr txBox="1"/>
          <p:nvPr/>
        </p:nvSpPr>
        <p:spPr>
          <a:xfrm>
            <a:off x="0" y="963295"/>
            <a:ext cx="12191365" cy="1261745"/>
          </a:xfrm>
          <a:prstGeom prst="rect">
            <a:avLst/>
          </a:prstGeom>
        </p:spPr>
        <p:txBody>
          <a:bodyPr vert="horz" wrap="square" lIns="0" tIns="41910" rIns="0" bIns="0" rtlCol="0">
            <a:spAutoFit/>
          </a:bodyPr>
          <a:p>
            <a:pPr marL="253365" marR="6350" indent="-241300" algn="just">
              <a:lnSpc>
                <a:spcPts val="1900"/>
              </a:lnSpc>
              <a:spcBef>
                <a:spcPts val="330"/>
              </a:spcBef>
              <a:buFont typeface="Times New Roman" panose="02020603050405020304"/>
              <a:buChar char="▪"/>
              <a:tabLst>
                <a:tab pos="254000" algn="l"/>
              </a:tabLst>
            </a:pPr>
            <a:r>
              <a:t>Change management is the process, tools and techniques to manage the people side of change to achieve the required business outcome.</a:t>
            </a:r>
          </a:p>
          <a:p>
            <a:pPr marL="253365" marR="5080" indent="-241300" algn="just">
              <a:lnSpc>
                <a:spcPts val="1900"/>
              </a:lnSpc>
              <a:spcBef>
                <a:spcPts val="5"/>
              </a:spcBef>
              <a:buFont typeface="Times New Roman" panose="02020603050405020304"/>
              <a:buChar char="▪"/>
              <a:tabLst>
                <a:tab pos="254000" algn="l"/>
              </a:tabLst>
            </a:pPr>
            <a:r>
              <a:t>Change management is an approach to transitioning individuals, teams, and organizations to a desired future state.</a:t>
            </a:r>
          </a:p>
          <a:p>
            <a:pPr marL="253365" marR="5080" indent="-241300" algn="just">
              <a:lnSpc>
                <a:spcPts val="1900"/>
              </a:lnSpc>
              <a:spcBef>
                <a:spcPts val="5"/>
              </a:spcBef>
              <a:buFont typeface="Times New Roman" panose="02020603050405020304"/>
              <a:buChar char="▪"/>
              <a:tabLst>
                <a:tab pos="254000" algn="l"/>
              </a:tabLst>
            </a:pPr>
            <a:r>
              <a:t>Change management is a method for reducing and managing resistance</a:t>
            </a:r>
          </a:p>
          <a:p>
            <a:pPr marL="253365" marR="5080" indent="-241300" algn="just">
              <a:lnSpc>
                <a:spcPts val="1900"/>
              </a:lnSpc>
              <a:spcBef>
                <a:spcPts val="5"/>
              </a:spcBef>
              <a:buFont typeface="Times New Roman" panose="02020603050405020304"/>
              <a:buChar char="▪"/>
              <a:tabLst>
                <a:tab pos="254000" algn="l"/>
              </a:tabLst>
            </a:pPr>
            <a:r>
              <a:t>Change management is not a stand-alone technique for improving organizational performance. </a:t>
            </a:r>
          </a:p>
        </p:txBody>
      </p:sp>
      <p:pic>
        <p:nvPicPr>
          <p:cNvPr id="51" name="object 51"/>
          <p:cNvPicPr/>
          <p:nvPr/>
        </p:nvPicPr>
        <p:blipFill>
          <a:blip r:embed="rId1" cstate="print"/>
          <a:stretch>
            <a:fillRect/>
          </a:stretch>
        </p:blipFill>
        <p:spPr>
          <a:xfrm>
            <a:off x="2009140" y="2384425"/>
            <a:ext cx="8658225" cy="416179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0"/>
            <a:ext cx="9144000" cy="679450"/>
          </a:xfrm>
        </p:spPr>
        <p:txBody>
          <a:bodyPr>
            <a:normAutofit/>
            <a:scene3d>
              <a:camera prst="orthographicFront"/>
              <a:lightRig rig="threePt" dir="t"/>
            </a:scene3d>
          </a:bodyPr>
          <a:lstStyle/>
          <a:p>
            <a:r>
              <a:rPr sz="4000" dirty="0">
                <a:ln/>
                <a:solidFill>
                  <a:schemeClr val="accent1"/>
                </a:solidFill>
                <a:effectLst>
                  <a:outerShdw blurRad="38100" dist="25400" dir="5400000" algn="ctr" rotWithShape="0">
                    <a:srgbClr val="6E747A">
                      <a:alpha val="43000"/>
                      <a:alpha val="43000"/>
                    </a:srgbClr>
                  </a:outerShdw>
                </a:effectLst>
                <a:latin typeface="Times New Roman Regular" panose="02020603050405020304" charset="0"/>
                <a:cs typeface="Times New Roman Regular" panose="02020603050405020304" charset="0"/>
                <a:sym typeface="+mn-ea"/>
              </a:rPr>
              <a:t>What</a:t>
            </a:r>
            <a:r>
              <a:rPr sz="4000" spc="25" dirty="0">
                <a:ln/>
                <a:solidFill>
                  <a:schemeClr val="accent1"/>
                </a:solidFill>
                <a:effectLst>
                  <a:outerShdw blurRad="38100" dist="25400" dir="5400000" algn="ctr" rotWithShape="0">
                    <a:srgbClr val="6E747A">
                      <a:alpha val="43000"/>
                      <a:alpha val="43000"/>
                    </a:srgbClr>
                  </a:outerShdw>
                </a:effectLst>
                <a:latin typeface="Times New Roman Regular" panose="02020603050405020304" charset="0"/>
                <a:cs typeface="Times New Roman Regular" panose="02020603050405020304" charset="0"/>
                <a:sym typeface="+mn-ea"/>
              </a:rPr>
              <a:t> </a:t>
            </a:r>
            <a:r>
              <a:rPr sz="4000" spc="-15" dirty="0">
                <a:ln/>
                <a:solidFill>
                  <a:schemeClr val="accent1"/>
                </a:solidFill>
                <a:effectLst>
                  <a:outerShdw blurRad="38100" dist="25400" dir="5400000" algn="ctr" rotWithShape="0">
                    <a:srgbClr val="6E747A">
                      <a:alpha val="43000"/>
                      <a:alpha val="43000"/>
                    </a:srgbClr>
                  </a:outerShdw>
                </a:effectLst>
                <a:latin typeface="Times New Roman Regular" panose="02020603050405020304" charset="0"/>
                <a:cs typeface="Times New Roman Regular" panose="02020603050405020304" charset="0"/>
                <a:sym typeface="+mn-ea"/>
              </a:rPr>
              <a:t>is</a:t>
            </a:r>
            <a:r>
              <a:rPr sz="4000" dirty="0">
                <a:ln/>
                <a:solidFill>
                  <a:schemeClr val="accent1"/>
                </a:solidFill>
                <a:effectLst>
                  <a:outerShdw blurRad="38100" dist="25400" dir="5400000" algn="ctr" rotWithShape="0">
                    <a:srgbClr val="6E747A">
                      <a:alpha val="43000"/>
                      <a:alpha val="43000"/>
                    </a:srgbClr>
                  </a:outerShdw>
                </a:effectLst>
                <a:latin typeface="Times New Roman Regular" panose="02020603050405020304" charset="0"/>
                <a:cs typeface="Times New Roman Regular" panose="02020603050405020304" charset="0"/>
                <a:sym typeface="+mn-ea"/>
              </a:rPr>
              <a:t> </a:t>
            </a:r>
            <a:r>
              <a:rPr sz="4000" spc="5" dirty="0">
                <a:ln/>
                <a:solidFill>
                  <a:schemeClr val="accent1"/>
                </a:solidFill>
                <a:effectLst>
                  <a:outerShdw blurRad="38100" dist="25400" dir="5400000" algn="ctr" rotWithShape="0">
                    <a:srgbClr val="6E747A">
                      <a:alpha val="43000"/>
                      <a:alpha val="43000"/>
                    </a:srgbClr>
                  </a:outerShdw>
                </a:effectLst>
                <a:latin typeface="Times New Roman Regular" panose="02020603050405020304" charset="0"/>
                <a:cs typeface="Times New Roman Regular" panose="02020603050405020304" charset="0"/>
                <a:sym typeface="+mn-ea"/>
              </a:rPr>
              <a:t>(not)</a:t>
            </a:r>
            <a:r>
              <a:rPr sz="4000" spc="-30" dirty="0">
                <a:ln/>
                <a:solidFill>
                  <a:schemeClr val="accent1"/>
                </a:solidFill>
                <a:effectLst>
                  <a:outerShdw blurRad="38100" dist="25400" dir="5400000" algn="ctr" rotWithShape="0">
                    <a:srgbClr val="6E747A">
                      <a:alpha val="43000"/>
                      <a:alpha val="43000"/>
                    </a:srgbClr>
                  </a:outerShdw>
                </a:effectLst>
                <a:latin typeface="Times New Roman Regular" panose="02020603050405020304" charset="0"/>
                <a:cs typeface="Times New Roman Regular" panose="02020603050405020304" charset="0"/>
                <a:sym typeface="+mn-ea"/>
              </a:rPr>
              <a:t> </a:t>
            </a:r>
            <a:r>
              <a:rPr sz="4000" spc="5" dirty="0">
                <a:ln/>
                <a:solidFill>
                  <a:schemeClr val="accent1"/>
                </a:solidFill>
                <a:effectLst>
                  <a:outerShdw blurRad="38100" dist="25400" dir="5400000" algn="ctr" rotWithShape="0">
                    <a:srgbClr val="6E747A">
                      <a:alpha val="43000"/>
                      <a:alpha val="43000"/>
                    </a:srgbClr>
                  </a:outerShdw>
                </a:effectLst>
                <a:latin typeface="Times New Roman Regular" panose="02020603050405020304" charset="0"/>
                <a:cs typeface="Times New Roman Regular" panose="02020603050405020304" charset="0"/>
                <a:sym typeface="+mn-ea"/>
              </a:rPr>
              <a:t>Change</a:t>
            </a:r>
            <a:r>
              <a:rPr sz="4000" spc="-30" dirty="0">
                <a:ln/>
                <a:solidFill>
                  <a:schemeClr val="accent1"/>
                </a:solidFill>
                <a:effectLst>
                  <a:outerShdw blurRad="38100" dist="25400" dir="5400000" algn="ctr" rotWithShape="0">
                    <a:srgbClr val="6E747A">
                      <a:alpha val="43000"/>
                      <a:alpha val="43000"/>
                    </a:srgbClr>
                  </a:outerShdw>
                </a:effectLst>
                <a:latin typeface="Times New Roman Regular" panose="02020603050405020304" charset="0"/>
                <a:cs typeface="Times New Roman Regular" panose="02020603050405020304" charset="0"/>
                <a:sym typeface="+mn-ea"/>
              </a:rPr>
              <a:t> </a:t>
            </a:r>
            <a:r>
              <a:rPr sz="4000" spc="5" dirty="0">
                <a:ln/>
                <a:solidFill>
                  <a:schemeClr val="accent1"/>
                </a:solidFill>
                <a:effectLst>
                  <a:outerShdw blurRad="38100" dist="25400" dir="5400000" algn="ctr" rotWithShape="0">
                    <a:srgbClr val="6E747A">
                      <a:alpha val="43000"/>
                      <a:alpha val="43000"/>
                    </a:srgbClr>
                  </a:outerShdw>
                </a:effectLst>
                <a:latin typeface="Times New Roman Regular" panose="02020603050405020304" charset="0"/>
                <a:cs typeface="Times New Roman Regular" panose="02020603050405020304" charset="0"/>
                <a:sym typeface="+mn-ea"/>
              </a:rPr>
              <a:t>Management?</a:t>
            </a:r>
            <a:endParaRPr lang="en-IN" altLang="en-GB" sz="4000" spc="5" dirty="0">
              <a:ln/>
              <a:solidFill>
                <a:schemeClr val="accent1"/>
              </a:solidFill>
              <a:effectLst>
                <a:outerShdw blurRad="38100" dist="25400" dir="5400000" algn="ctr" rotWithShape="0">
                  <a:srgbClr val="6E747A">
                    <a:alpha val="43000"/>
                    <a:alpha val="43000"/>
                  </a:srgbClr>
                </a:outerShdw>
              </a:effectLst>
              <a:latin typeface="Times New Roman Regular" panose="02020603050405020304" charset="0"/>
              <a:cs typeface="Times New Roman Regular" panose="02020603050405020304" charset="0"/>
              <a:sym typeface="+mn-ea"/>
            </a:endParaRPr>
          </a:p>
        </p:txBody>
      </p:sp>
      <p:sp>
        <p:nvSpPr>
          <p:cNvPr id="100" name="Text Box 99"/>
          <p:cNvSpPr txBox="1"/>
          <p:nvPr/>
        </p:nvSpPr>
        <p:spPr>
          <a:xfrm>
            <a:off x="64770" y="823595"/>
            <a:ext cx="12127230" cy="1014730"/>
          </a:xfrm>
          <a:prstGeom prst="rect">
            <a:avLst/>
          </a:prstGeom>
          <a:noFill/>
          <a:ln w="9525">
            <a:noFill/>
          </a:ln>
        </p:spPr>
        <p:txBody>
          <a:bodyPr wrap="square">
            <a:spAutoFit/>
          </a:bodyPr>
          <a:p>
            <a:pPr marL="342900" indent="-342900" algn="l">
              <a:buFont typeface="Wingdings" panose="05000000000000000000" charset="0"/>
              <a:buChar char=""/>
            </a:pPr>
            <a:r>
              <a:rPr lang="en-US" sz="2000" b="0">
                <a:latin typeface="Times New Roman" panose="02020603050405020304" pitchFamily="18" charset="0"/>
                <a:cs typeface="Calibri" charset="0"/>
              </a:rPr>
              <a:t>Change management is not a stand-alone process for designing a business solution.</a:t>
            </a:r>
            <a:endParaRPr lang="en-US" sz="2000" b="0">
              <a:latin typeface="Times New Roman" panose="02020603050405020304" pitchFamily="18" charset="0"/>
              <a:cs typeface="Calibri" charset="0"/>
            </a:endParaRPr>
          </a:p>
          <a:p>
            <a:pPr marL="342900" indent="-342900" algn="l">
              <a:buFont typeface="Wingdings" panose="05000000000000000000" charset="0"/>
              <a:buChar char=""/>
            </a:pPr>
            <a:r>
              <a:rPr lang="en-US" sz="2000" b="0">
                <a:latin typeface="Times New Roman" panose="02020603050405020304" pitchFamily="18" charset="0"/>
                <a:cs typeface="Calibri" charset="0"/>
              </a:rPr>
              <a:t>Change management is not a process improvement method.</a:t>
            </a:r>
            <a:endParaRPr lang="en-US" sz="2000" b="0">
              <a:latin typeface="Times New Roman" panose="02020603050405020304" pitchFamily="18" charset="0"/>
              <a:cs typeface="Calibri" charset="0"/>
            </a:endParaRPr>
          </a:p>
          <a:p>
            <a:pPr marL="342900" indent="-342900" algn="l">
              <a:buFont typeface="Wingdings" panose="05000000000000000000" charset="0"/>
              <a:buChar char=""/>
            </a:pPr>
            <a:r>
              <a:rPr lang="en-US" sz="2000" b="0">
                <a:latin typeface="Times New Roman" panose="02020603050405020304" pitchFamily="18" charset="0"/>
                <a:cs typeface="Calibri" charset="0"/>
              </a:rPr>
              <a:t>Change management is not a stand-alone technique for improving organizational performance.</a:t>
            </a:r>
            <a:endParaRPr lang="en-US" sz="2000" b="0">
              <a:latin typeface="Times New Roman" panose="02020603050405020304" pitchFamily="18" charset="0"/>
              <a:cs typeface="Calibri"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12192000" cy="560705"/>
          </a:xfrm>
        </p:spPr>
        <p:txBody>
          <a:bodyPr>
            <a:scene3d>
              <a:camera prst="orthographicFront"/>
              <a:lightRig rig="threePt" dir="t"/>
            </a:scene3d>
          </a:bodyPr>
          <a:lstStyle/>
          <a:p>
            <a:r>
              <a:rPr sz="2800" b="1" spc="5" dirty="0">
                <a:ln/>
                <a:solidFill>
                  <a:schemeClr val="accent1"/>
                </a:solidFill>
                <a:effectLst>
                  <a:outerShdw blurRad="38100" dist="25400" dir="5400000" algn="ctr" rotWithShape="0">
                    <a:srgbClr val="6E747A">
                      <a:alpha val="43000"/>
                      <a:alpha val="43000"/>
                    </a:srgbClr>
                  </a:outerShdw>
                </a:effectLst>
                <a:sym typeface="+mn-ea"/>
              </a:rPr>
              <a:t>Steps </a:t>
            </a:r>
            <a:r>
              <a:rPr sz="2800" b="1" dirty="0">
                <a:ln/>
                <a:solidFill>
                  <a:schemeClr val="accent1"/>
                </a:solidFill>
                <a:effectLst>
                  <a:outerShdw blurRad="38100" dist="25400" dir="5400000" algn="ctr" rotWithShape="0">
                    <a:srgbClr val="6E747A">
                      <a:alpha val="43000"/>
                      <a:alpha val="43000"/>
                    </a:srgbClr>
                  </a:outerShdw>
                </a:effectLst>
                <a:sym typeface="+mn-ea"/>
              </a:rPr>
              <a:t>for </a:t>
            </a:r>
            <a:r>
              <a:rPr sz="2800" b="1" spc="15" dirty="0">
                <a:ln/>
                <a:solidFill>
                  <a:schemeClr val="accent1"/>
                </a:solidFill>
                <a:effectLst>
                  <a:outerShdw blurRad="38100" dist="25400" dir="5400000" algn="ctr" rotWithShape="0">
                    <a:srgbClr val="6E747A">
                      <a:alpha val="43000"/>
                      <a:alpha val="43000"/>
                    </a:srgbClr>
                  </a:outerShdw>
                </a:effectLst>
                <a:sym typeface="+mn-ea"/>
              </a:rPr>
              <a:t>an </a:t>
            </a:r>
            <a:r>
              <a:rPr sz="2800" b="1" dirty="0">
                <a:ln/>
                <a:solidFill>
                  <a:schemeClr val="accent1"/>
                </a:solidFill>
                <a:effectLst>
                  <a:outerShdw blurRad="38100" dist="25400" dir="5400000" algn="ctr" rotWithShape="0">
                    <a:srgbClr val="6E747A">
                      <a:alpha val="43000"/>
                      <a:alpha val="43000"/>
                    </a:srgbClr>
                  </a:outerShdw>
                </a:effectLst>
                <a:sym typeface="+mn-ea"/>
              </a:rPr>
              <a:t>Effective Change </a:t>
            </a:r>
            <a:r>
              <a:rPr sz="2800" b="1" spc="5" dirty="0">
                <a:ln/>
                <a:solidFill>
                  <a:schemeClr val="accent1"/>
                </a:solidFill>
                <a:effectLst>
                  <a:outerShdw blurRad="38100" dist="25400" dir="5400000" algn="ctr" rotWithShape="0">
                    <a:srgbClr val="6E747A">
                      <a:alpha val="43000"/>
                      <a:alpha val="43000"/>
                    </a:srgbClr>
                  </a:outerShdw>
                </a:effectLst>
                <a:sym typeface="+mn-ea"/>
              </a:rPr>
              <a:t>Management </a:t>
            </a:r>
            <a:r>
              <a:rPr sz="2800" b="1" spc="-1530" dirty="0">
                <a:ln/>
                <a:solidFill>
                  <a:schemeClr val="accent1"/>
                </a:solidFill>
                <a:effectLst>
                  <a:outerShdw blurRad="38100" dist="25400" dir="5400000" algn="ctr" rotWithShape="0">
                    <a:srgbClr val="6E747A">
                      <a:alpha val="43000"/>
                      <a:alpha val="43000"/>
                    </a:srgbClr>
                  </a:outerShdw>
                </a:effectLst>
                <a:sym typeface="+mn-ea"/>
              </a:rPr>
              <a:t> </a:t>
            </a:r>
            <a:r>
              <a:rPr sz="2800" b="1" dirty="0">
                <a:ln/>
                <a:solidFill>
                  <a:schemeClr val="accent1"/>
                </a:solidFill>
                <a:effectLst>
                  <a:outerShdw blurRad="38100" dist="25400" dir="5400000" algn="ctr" rotWithShape="0">
                    <a:srgbClr val="6E747A">
                      <a:alpha val="43000"/>
                      <a:alpha val="43000"/>
                    </a:srgbClr>
                  </a:outerShdw>
                </a:effectLst>
                <a:sym typeface="+mn-ea"/>
              </a:rPr>
              <a:t>Process</a:t>
            </a:r>
            <a:endParaRPr lang="en-IN" altLang="en-GB" sz="2800" b="1" spc="5" dirty="0">
              <a:ln/>
              <a:solidFill>
                <a:schemeClr val="accent1"/>
              </a:solidFill>
              <a:effectLst>
                <a:outerShdw blurRad="38100" dist="25400" dir="5400000" algn="ctr" rotWithShape="0">
                  <a:srgbClr val="6E747A">
                    <a:alpha val="43000"/>
                    <a:alpha val="43000"/>
                  </a:srgbClr>
                </a:outerShdw>
              </a:effectLst>
              <a:latin typeface="Times New Roman Regular" panose="02020603050405020304" charset="0"/>
              <a:cs typeface="Times New Roman Regular" panose="02020603050405020304" charset="0"/>
              <a:sym typeface="+mn-ea"/>
            </a:endParaRPr>
          </a:p>
        </p:txBody>
      </p:sp>
      <p:pic>
        <p:nvPicPr>
          <p:cNvPr id="4" name="Picture 2"/>
          <p:cNvPicPr>
            <a:picLocks noChangeAspect="1" noChangeArrowheads="1"/>
          </p:cNvPicPr>
          <p:nvPr/>
        </p:nvPicPr>
        <p:blipFill>
          <a:blip r:embed="rId1">
            <a:extLst>
              <a:ext uri="{28A0092B-C50C-407E-A947-70E740481C1C}">
                <a14:useLocalDpi xmlns:a14="http://schemas.microsoft.com/office/drawing/2010/main" val="0"/>
              </a:ext>
            </a:extLst>
          </a:blip>
          <a:srcRect t="7563"/>
          <a:stretch>
            <a:fillRect/>
          </a:stretch>
        </p:blipFill>
        <p:spPr>
          <a:xfrm>
            <a:off x="4610100" y="561340"/>
            <a:ext cx="4443095" cy="6296660"/>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6995" y="0"/>
            <a:ext cx="12192000" cy="679450"/>
          </a:xfrm>
        </p:spPr>
        <p:txBody>
          <a:bodyPr>
            <a:scene3d>
              <a:camera prst="orthographicFront"/>
              <a:lightRig rig="threePt" dir="t"/>
            </a:scene3d>
          </a:bodyPr>
          <a:lstStyle/>
          <a:p>
            <a:r>
              <a:rPr sz="3600" b="1" spc="5" dirty="0">
                <a:ln/>
                <a:solidFill>
                  <a:schemeClr val="accent1"/>
                </a:solidFill>
                <a:effectLst>
                  <a:outerShdw blurRad="38100" dist="25400" dir="5400000" algn="ctr" rotWithShape="0">
                    <a:srgbClr val="6E747A">
                      <a:alpha val="43000"/>
                      <a:alpha val="43000"/>
                    </a:srgbClr>
                  </a:outerShdw>
                </a:effectLst>
                <a:sym typeface="+mn-ea"/>
              </a:rPr>
              <a:t>Types</a:t>
            </a:r>
            <a:r>
              <a:rPr sz="3600" b="1" spc="-25" dirty="0">
                <a:ln/>
                <a:solidFill>
                  <a:schemeClr val="accent1"/>
                </a:solidFill>
                <a:effectLst>
                  <a:outerShdw blurRad="38100" dist="25400" dir="5400000" algn="ctr" rotWithShape="0">
                    <a:srgbClr val="6E747A">
                      <a:alpha val="43000"/>
                      <a:alpha val="43000"/>
                    </a:srgbClr>
                  </a:outerShdw>
                </a:effectLst>
                <a:sym typeface="+mn-ea"/>
              </a:rPr>
              <a:t> </a:t>
            </a:r>
            <a:r>
              <a:rPr sz="3600" b="1" dirty="0">
                <a:ln/>
                <a:solidFill>
                  <a:schemeClr val="accent1"/>
                </a:solidFill>
                <a:effectLst>
                  <a:outerShdw blurRad="38100" dist="25400" dir="5400000" algn="ctr" rotWithShape="0">
                    <a:srgbClr val="6E747A">
                      <a:alpha val="43000"/>
                      <a:alpha val="43000"/>
                    </a:srgbClr>
                  </a:outerShdw>
                </a:effectLst>
                <a:sym typeface="+mn-ea"/>
              </a:rPr>
              <a:t>of</a:t>
            </a:r>
            <a:r>
              <a:rPr sz="3600" b="1" spc="5" dirty="0">
                <a:ln/>
                <a:solidFill>
                  <a:schemeClr val="accent1"/>
                </a:solidFill>
                <a:effectLst>
                  <a:outerShdw blurRad="38100" dist="25400" dir="5400000" algn="ctr" rotWithShape="0">
                    <a:srgbClr val="6E747A">
                      <a:alpha val="43000"/>
                      <a:alpha val="43000"/>
                    </a:srgbClr>
                  </a:outerShdw>
                </a:effectLst>
                <a:sym typeface="+mn-ea"/>
              </a:rPr>
              <a:t> </a:t>
            </a:r>
            <a:r>
              <a:rPr sz="3600" b="1" dirty="0">
                <a:ln/>
                <a:solidFill>
                  <a:schemeClr val="accent1"/>
                </a:solidFill>
                <a:effectLst>
                  <a:outerShdw blurRad="38100" dist="25400" dir="5400000" algn="ctr" rotWithShape="0">
                    <a:srgbClr val="6E747A">
                      <a:alpha val="43000"/>
                      <a:alpha val="43000"/>
                    </a:srgbClr>
                  </a:outerShdw>
                </a:effectLst>
                <a:sym typeface="+mn-ea"/>
              </a:rPr>
              <a:t>change</a:t>
            </a:r>
            <a:r>
              <a:rPr sz="3600" b="1" spc="5" dirty="0">
                <a:ln/>
                <a:solidFill>
                  <a:schemeClr val="accent1"/>
                </a:solidFill>
                <a:effectLst>
                  <a:outerShdw blurRad="38100" dist="25400" dir="5400000" algn="ctr" rotWithShape="0">
                    <a:srgbClr val="6E747A">
                      <a:alpha val="43000"/>
                      <a:alpha val="43000"/>
                    </a:srgbClr>
                  </a:outerShdw>
                </a:effectLst>
                <a:sym typeface="+mn-ea"/>
              </a:rPr>
              <a:t> </a:t>
            </a:r>
            <a:r>
              <a:rPr sz="3600" b="1" dirty="0">
                <a:ln/>
                <a:solidFill>
                  <a:schemeClr val="accent1"/>
                </a:solidFill>
                <a:effectLst>
                  <a:outerShdw blurRad="38100" dist="25400" dir="5400000" algn="ctr" rotWithShape="0">
                    <a:srgbClr val="6E747A">
                      <a:alpha val="43000"/>
                      <a:alpha val="43000"/>
                    </a:srgbClr>
                  </a:outerShdw>
                </a:effectLst>
                <a:sym typeface="+mn-ea"/>
              </a:rPr>
              <a:t>within</a:t>
            </a:r>
            <a:r>
              <a:rPr sz="3600" b="1" spc="10" dirty="0">
                <a:ln/>
                <a:solidFill>
                  <a:schemeClr val="accent1"/>
                </a:solidFill>
                <a:effectLst>
                  <a:outerShdw blurRad="38100" dist="25400" dir="5400000" algn="ctr" rotWithShape="0">
                    <a:srgbClr val="6E747A">
                      <a:alpha val="43000"/>
                      <a:alpha val="43000"/>
                    </a:srgbClr>
                  </a:outerShdw>
                </a:effectLst>
                <a:sym typeface="+mn-ea"/>
              </a:rPr>
              <a:t> </a:t>
            </a:r>
            <a:r>
              <a:rPr sz="3600" b="1" dirty="0">
                <a:ln/>
                <a:solidFill>
                  <a:schemeClr val="accent1"/>
                </a:solidFill>
                <a:effectLst>
                  <a:outerShdw blurRad="38100" dist="25400" dir="5400000" algn="ctr" rotWithShape="0">
                    <a:srgbClr val="6E747A">
                      <a:alpha val="43000"/>
                      <a:alpha val="43000"/>
                    </a:srgbClr>
                  </a:outerShdw>
                </a:effectLst>
                <a:sym typeface="+mn-ea"/>
              </a:rPr>
              <a:t>a</a:t>
            </a:r>
            <a:r>
              <a:rPr sz="3600" b="1" spc="30" dirty="0">
                <a:ln/>
                <a:solidFill>
                  <a:schemeClr val="accent1"/>
                </a:solidFill>
                <a:effectLst>
                  <a:outerShdw blurRad="38100" dist="25400" dir="5400000" algn="ctr" rotWithShape="0">
                    <a:srgbClr val="6E747A">
                      <a:alpha val="43000"/>
                      <a:alpha val="43000"/>
                    </a:srgbClr>
                  </a:outerShdw>
                </a:effectLst>
                <a:sym typeface="+mn-ea"/>
              </a:rPr>
              <a:t> </a:t>
            </a:r>
            <a:r>
              <a:rPr sz="3600" b="1" dirty="0">
                <a:ln/>
                <a:solidFill>
                  <a:schemeClr val="accent1"/>
                </a:solidFill>
                <a:effectLst>
                  <a:outerShdw blurRad="38100" dist="25400" dir="5400000" algn="ctr" rotWithShape="0">
                    <a:srgbClr val="6E747A">
                      <a:alpha val="43000"/>
                      <a:alpha val="43000"/>
                    </a:srgbClr>
                  </a:outerShdw>
                </a:effectLst>
                <a:sym typeface="+mn-ea"/>
              </a:rPr>
              <a:t>business</a:t>
            </a:r>
            <a:endParaRPr lang="en-IN" altLang="en-GB" sz="3600" b="1" spc="5" dirty="0">
              <a:ln/>
              <a:solidFill>
                <a:schemeClr val="accent1"/>
              </a:solidFill>
              <a:effectLst>
                <a:outerShdw blurRad="38100" dist="25400" dir="5400000" algn="ctr" rotWithShape="0">
                  <a:srgbClr val="6E747A">
                    <a:alpha val="43000"/>
                    <a:alpha val="43000"/>
                  </a:srgbClr>
                </a:outerShdw>
              </a:effectLst>
              <a:latin typeface="Times New Roman Regular" panose="02020603050405020304" charset="0"/>
              <a:cs typeface="Times New Roman Regular" panose="02020603050405020304" charset="0"/>
              <a:sym typeface="+mn-ea"/>
            </a:endParaRPr>
          </a:p>
        </p:txBody>
      </p:sp>
      <p:sp>
        <p:nvSpPr>
          <p:cNvPr id="4" name="object 3"/>
          <p:cNvSpPr txBox="1"/>
          <p:nvPr/>
        </p:nvSpPr>
        <p:spPr>
          <a:xfrm>
            <a:off x="635" y="1061085"/>
            <a:ext cx="12191365" cy="2090420"/>
          </a:xfrm>
          <a:prstGeom prst="rect">
            <a:avLst/>
          </a:prstGeom>
        </p:spPr>
        <p:txBody>
          <a:bodyPr vert="horz" wrap="square" lIns="0" tIns="12700" rIns="0" bIns="0" rtlCol="0">
            <a:spAutoFit/>
          </a:bodyPr>
          <a:p>
            <a:pPr marL="12700">
              <a:lnSpc>
                <a:spcPct val="100000"/>
              </a:lnSpc>
              <a:spcBef>
                <a:spcPts val="100"/>
              </a:spcBef>
            </a:pPr>
            <a:r>
              <a:t>Common types of organizational change include:</a:t>
            </a:r>
          </a:p>
          <a:p>
            <a:pPr>
              <a:lnSpc>
                <a:spcPct val="100000"/>
              </a:lnSpc>
              <a:spcBef>
                <a:spcPts val="40"/>
              </a:spcBef>
            </a:pPr>
          </a:p>
          <a:p>
            <a:pPr marL="253365" marR="6985" indent="-241300" algn="just">
              <a:lnSpc>
                <a:spcPts val="1880"/>
              </a:lnSpc>
              <a:buFont typeface="Times New Roman" panose="02020603050405020304"/>
              <a:buChar char="▪"/>
              <a:tabLst>
                <a:tab pos="254000" algn="l"/>
              </a:tabLst>
            </a:pPr>
            <a:r>
              <a:rPr b="1"/>
              <a:t>Developmental change:</a:t>
            </a:r>
            <a:r>
              <a:t>  include any improvement on  existing operations within a company.</a:t>
            </a:r>
          </a:p>
          <a:p>
            <a:pPr>
              <a:lnSpc>
                <a:spcPct val="100000"/>
              </a:lnSpc>
              <a:spcBef>
                <a:spcPts val="40"/>
              </a:spcBef>
              <a:buClr>
                <a:srgbClr val="FFFF00"/>
              </a:buClr>
              <a:buFont typeface="Times New Roman" panose="02020603050405020304"/>
              <a:buChar char="▪"/>
            </a:pPr>
          </a:p>
          <a:p>
            <a:pPr marL="253365" marR="5080" indent="-241300" algn="just">
              <a:lnSpc>
                <a:spcPct val="90000"/>
              </a:lnSpc>
              <a:buFont typeface="Times New Roman" panose="02020603050405020304"/>
              <a:buChar char="▪"/>
              <a:tabLst>
                <a:tab pos="254000" algn="l"/>
              </a:tabLst>
            </a:pPr>
            <a:r>
              <a:rPr b="1"/>
              <a:t>Transitional change: </a:t>
            </a:r>
            <a:r>
              <a:t>happen when a business makes a  transition into a new state of being.</a:t>
            </a:r>
          </a:p>
          <a:p>
            <a:pPr marL="12065" marR="5080" indent="0" algn="just">
              <a:lnSpc>
                <a:spcPct val="90000"/>
              </a:lnSpc>
              <a:buFont typeface="Times New Roman" panose="02020603050405020304"/>
              <a:buNone/>
              <a:tabLst>
                <a:tab pos="254000" algn="l"/>
              </a:tabLst>
            </a:pPr>
          </a:p>
          <a:p>
            <a:pPr marL="253365" marR="5080" indent="-241300" algn="just">
              <a:lnSpc>
                <a:spcPct val="90000"/>
              </a:lnSpc>
              <a:spcBef>
                <a:spcPts val="5"/>
              </a:spcBef>
              <a:buFont typeface="Times New Roman" panose="02020603050405020304"/>
              <a:buChar char="▪"/>
              <a:tabLst>
                <a:tab pos="254000" algn="l"/>
              </a:tabLst>
            </a:pPr>
            <a:r>
              <a:rPr b="1"/>
              <a:t>Transformational change:</a:t>
            </a:r>
            <a:r>
              <a:t> This is the most drastic form of change within a  business and is when a company decides to completely revise its current way of  doing things.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 y="0"/>
            <a:ext cx="12192000" cy="679450"/>
          </a:xfrm>
        </p:spPr>
        <p:txBody>
          <a:bodyPr>
            <a:noAutofit/>
            <a:scene3d>
              <a:camera prst="orthographicFront"/>
              <a:lightRig rig="threePt" dir="t"/>
            </a:scene3d>
          </a:bodyPr>
          <a:lstStyle/>
          <a:p>
            <a:r>
              <a:rPr sz="4400" dirty="0">
                <a:ln/>
                <a:solidFill>
                  <a:schemeClr val="accent1"/>
                </a:solidFill>
                <a:effectLst>
                  <a:outerShdw blurRad="38100" dist="25400" dir="5400000" algn="ctr" rotWithShape="0">
                    <a:srgbClr val="6E747A">
                      <a:alpha val="43000"/>
                      <a:alpha val="43000"/>
                    </a:srgbClr>
                  </a:outerShdw>
                </a:effectLst>
                <a:latin typeface="Times New Roman Regular" panose="02020603050405020304" charset="0"/>
                <a:cs typeface="Times New Roman Regular" panose="02020603050405020304" charset="0"/>
                <a:sym typeface="+mn-ea"/>
              </a:rPr>
              <a:t>Why</a:t>
            </a:r>
            <a:r>
              <a:rPr sz="4400" spc="5" dirty="0">
                <a:ln/>
                <a:solidFill>
                  <a:schemeClr val="accent1"/>
                </a:solidFill>
                <a:effectLst>
                  <a:outerShdw blurRad="38100" dist="25400" dir="5400000" algn="ctr" rotWithShape="0">
                    <a:srgbClr val="6E747A">
                      <a:alpha val="43000"/>
                      <a:alpha val="43000"/>
                    </a:srgbClr>
                  </a:outerShdw>
                </a:effectLst>
                <a:latin typeface="Times New Roman Regular" panose="02020603050405020304" charset="0"/>
                <a:cs typeface="Times New Roman Regular" panose="02020603050405020304" charset="0"/>
                <a:sym typeface="+mn-ea"/>
              </a:rPr>
              <a:t> </a:t>
            </a:r>
            <a:r>
              <a:rPr sz="4400" spc="-5" dirty="0">
                <a:ln/>
                <a:solidFill>
                  <a:schemeClr val="accent1"/>
                </a:solidFill>
                <a:effectLst>
                  <a:outerShdw blurRad="38100" dist="25400" dir="5400000" algn="ctr" rotWithShape="0">
                    <a:srgbClr val="6E747A">
                      <a:alpha val="43000"/>
                      <a:alpha val="43000"/>
                    </a:srgbClr>
                  </a:outerShdw>
                </a:effectLst>
                <a:latin typeface="Times New Roman Regular" panose="02020603050405020304" charset="0"/>
                <a:cs typeface="Times New Roman Regular" panose="02020603050405020304" charset="0"/>
                <a:sym typeface="+mn-ea"/>
              </a:rPr>
              <a:t>Change</a:t>
            </a:r>
            <a:r>
              <a:rPr sz="4400" spc="5" dirty="0">
                <a:ln/>
                <a:solidFill>
                  <a:schemeClr val="accent1"/>
                </a:solidFill>
                <a:effectLst>
                  <a:outerShdw blurRad="38100" dist="25400" dir="5400000" algn="ctr" rotWithShape="0">
                    <a:srgbClr val="6E747A">
                      <a:alpha val="43000"/>
                      <a:alpha val="43000"/>
                    </a:srgbClr>
                  </a:outerShdw>
                </a:effectLst>
                <a:latin typeface="Times New Roman Regular" panose="02020603050405020304" charset="0"/>
                <a:cs typeface="Times New Roman Regular" panose="02020603050405020304" charset="0"/>
                <a:sym typeface="+mn-ea"/>
              </a:rPr>
              <a:t> </a:t>
            </a:r>
            <a:r>
              <a:rPr sz="4400" dirty="0">
                <a:ln/>
                <a:solidFill>
                  <a:schemeClr val="accent1"/>
                </a:solidFill>
                <a:effectLst>
                  <a:outerShdw blurRad="38100" dist="25400" dir="5400000" algn="ctr" rotWithShape="0">
                    <a:srgbClr val="6E747A">
                      <a:alpha val="43000"/>
                      <a:alpha val="43000"/>
                    </a:srgbClr>
                  </a:outerShdw>
                </a:effectLst>
                <a:latin typeface="Times New Roman Regular" panose="02020603050405020304" charset="0"/>
                <a:cs typeface="Times New Roman Regular" panose="02020603050405020304" charset="0"/>
                <a:sym typeface="+mn-ea"/>
              </a:rPr>
              <a:t>Management</a:t>
            </a:r>
            <a:endParaRPr lang="en-IN" altLang="en-GB" sz="4400" spc="5" dirty="0">
              <a:ln/>
              <a:solidFill>
                <a:schemeClr val="accent1"/>
              </a:solidFill>
              <a:effectLst>
                <a:outerShdw blurRad="38100" dist="25400" dir="5400000" algn="ctr" rotWithShape="0">
                  <a:srgbClr val="6E747A">
                    <a:alpha val="43000"/>
                    <a:alpha val="43000"/>
                  </a:srgbClr>
                </a:outerShdw>
              </a:effectLst>
              <a:latin typeface="Times New Roman Regular" panose="02020603050405020304" charset="0"/>
              <a:cs typeface="Times New Roman Regular" panose="02020603050405020304" charset="0"/>
              <a:sym typeface="+mn-ea"/>
            </a:endParaRPr>
          </a:p>
        </p:txBody>
      </p:sp>
      <p:sp>
        <p:nvSpPr>
          <p:cNvPr id="3" name="object 3"/>
          <p:cNvSpPr txBox="1"/>
          <p:nvPr/>
        </p:nvSpPr>
        <p:spPr>
          <a:xfrm>
            <a:off x="76200" y="786765"/>
            <a:ext cx="11748135" cy="1800860"/>
          </a:xfrm>
          <a:prstGeom prst="rect">
            <a:avLst/>
          </a:prstGeom>
        </p:spPr>
        <p:txBody>
          <a:bodyPr vert="horz" wrap="square" lIns="0" tIns="181610" rIns="0" bIns="0" rtlCol="0">
            <a:spAutoFit/>
          </a:bodyPr>
          <a:p>
            <a:pPr marL="253365" indent="-241300">
              <a:lnSpc>
                <a:spcPct val="100000"/>
              </a:lnSpc>
              <a:spcBef>
                <a:spcPts val="1430"/>
              </a:spcBef>
              <a:buFont typeface="Times New Roman" panose="02020603050405020304"/>
              <a:buChar char="▪"/>
              <a:tabLst>
                <a:tab pos="253365" algn="l"/>
                <a:tab pos="254000" algn="l"/>
              </a:tabLst>
            </a:pPr>
            <a:r>
              <a:t>Change is </a:t>
            </a:r>
            <a:r>
              <a:rPr lang="en-US"/>
              <a:t>always </a:t>
            </a:r>
            <a:r>
              <a:t>happening in organization.</a:t>
            </a:r>
          </a:p>
          <a:p>
            <a:pPr marL="253365" indent="-241300">
              <a:lnSpc>
                <a:spcPct val="100000"/>
              </a:lnSpc>
              <a:spcBef>
                <a:spcPts val="1330"/>
              </a:spcBef>
              <a:buFont typeface="Times New Roman" panose="02020603050405020304"/>
              <a:buChar char="▪"/>
              <a:tabLst>
                <a:tab pos="253365" algn="l"/>
                <a:tab pos="254000" algn="l"/>
              </a:tabLst>
            </a:pPr>
            <a:r>
              <a:t>Every day, new initiatives and projects are launched.</a:t>
            </a:r>
          </a:p>
          <a:p>
            <a:pPr marL="253365" indent="-241300">
              <a:lnSpc>
                <a:spcPct val="100000"/>
              </a:lnSpc>
              <a:spcBef>
                <a:spcPts val="1330"/>
              </a:spcBef>
              <a:buFont typeface="Times New Roman" panose="02020603050405020304"/>
              <a:buChar char="▪"/>
              <a:tabLst>
                <a:tab pos="253365" algn="l"/>
                <a:tab pos="254000" algn="l"/>
              </a:tabLst>
            </a:pPr>
            <a:r>
              <a:t>There	is</a:t>
            </a:r>
            <a:r>
              <a:rPr lang="en-US"/>
              <a:t> </a:t>
            </a:r>
            <a:r>
              <a:t>a</a:t>
            </a:r>
            <a:r>
              <a:rPr lang="en-US"/>
              <a:t> </a:t>
            </a:r>
            <a:r>
              <a:t>common</a:t>
            </a:r>
            <a:r>
              <a:rPr lang="en-US"/>
              <a:t> </a:t>
            </a:r>
            <a:r>
              <a:t>denominator	for</a:t>
            </a:r>
            <a:r>
              <a:rPr lang="en-US"/>
              <a:t> </a:t>
            </a:r>
            <a:r>
              <a:t>achieving</a:t>
            </a:r>
            <a:r>
              <a:rPr lang="en-US"/>
              <a:t> </a:t>
            </a:r>
            <a:r>
              <a:t>the</a:t>
            </a:r>
            <a:r>
              <a:rPr lang="en-US"/>
              <a:t> </a:t>
            </a:r>
            <a:r>
              <a:t>intended</a:t>
            </a:r>
            <a:r>
              <a:rPr lang="en-US"/>
              <a:t> </a:t>
            </a:r>
            <a:r>
              <a:t>outcomes of </a:t>
            </a:r>
            <a:r>
              <a:rPr lang="en-US"/>
              <a:t> </a:t>
            </a:r>
            <a:r>
              <a:t>initiative</a:t>
            </a:r>
            <a:r>
              <a:rPr lang="en-US"/>
              <a:t> </a:t>
            </a:r>
            <a:r>
              <a:t>people.</a:t>
            </a:r>
          </a:p>
          <a:p>
            <a:pPr marL="253365" indent="-241300">
              <a:lnSpc>
                <a:spcPct val="100000"/>
              </a:lnSpc>
              <a:spcBef>
                <a:spcPts val="1330"/>
              </a:spcBef>
              <a:buFont typeface="Times New Roman" panose="02020603050405020304"/>
              <a:buChar char="▪"/>
              <a:tabLst>
                <a:tab pos="253365" algn="l"/>
                <a:tab pos="254000" algn="l"/>
              </a:tabLst>
            </a:pPr>
            <a:r>
              <a:rPr lang="en-US">
                <a:sym typeface="+mn-ea"/>
              </a:rPr>
              <a:t>A</a:t>
            </a:r>
            <a:r>
              <a:rPr>
                <a:sym typeface="+mn-ea"/>
              </a:rPr>
              <a:t>pproach driving adoption and usage so  that initiatives deliver expected results and outcomes.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 y="0"/>
            <a:ext cx="12192000" cy="679450"/>
          </a:xfrm>
        </p:spPr>
        <p:txBody>
          <a:bodyPr>
            <a:noAutofit/>
            <a:scene3d>
              <a:camera prst="orthographicFront"/>
              <a:lightRig rig="threePt" dir="t"/>
            </a:scene3d>
          </a:bodyPr>
          <a:lstStyle/>
          <a:p>
            <a:r>
              <a:rPr lang="en-US" sz="4400" dirty="0">
                <a:solidFill>
                  <a:schemeClr val="accent1"/>
                </a:solidFill>
                <a:effectLst>
                  <a:outerShdw blurRad="38100" dist="25400" dir="5400000" algn="ctr" rotWithShape="0">
                    <a:srgbClr val="6E747A">
                      <a:alpha val="43000"/>
                      <a:alpha val="43000"/>
                    </a:srgbClr>
                  </a:outerShdw>
                </a:effectLst>
                <a:latin typeface="Times New Roman Regular" panose="02020603050405020304" charset="0"/>
                <a:cs typeface="Times New Roman Regular" panose="02020603050405020304" charset="0"/>
                <a:sym typeface="+mn-ea"/>
              </a:rPr>
              <a:t>Benefits of </a:t>
            </a:r>
            <a:r>
              <a:rPr sz="4400" spc="-5" dirty="0">
                <a:solidFill>
                  <a:schemeClr val="accent1"/>
                </a:solidFill>
                <a:effectLst>
                  <a:outerShdw blurRad="38100" dist="25400" dir="5400000" algn="ctr" rotWithShape="0">
                    <a:srgbClr val="6E747A">
                      <a:alpha val="43000"/>
                      <a:alpha val="43000"/>
                    </a:srgbClr>
                  </a:outerShdw>
                </a:effectLst>
                <a:latin typeface="Times New Roman Regular" panose="02020603050405020304" charset="0"/>
                <a:cs typeface="Times New Roman Regular" panose="02020603050405020304" charset="0"/>
                <a:sym typeface="+mn-ea"/>
              </a:rPr>
              <a:t>Change</a:t>
            </a:r>
            <a:r>
              <a:rPr sz="4400" spc="5" dirty="0">
                <a:solidFill>
                  <a:schemeClr val="accent1"/>
                </a:solidFill>
                <a:effectLst>
                  <a:outerShdw blurRad="38100" dist="25400" dir="5400000" algn="ctr" rotWithShape="0">
                    <a:srgbClr val="6E747A">
                      <a:alpha val="43000"/>
                      <a:alpha val="43000"/>
                    </a:srgbClr>
                  </a:outerShdw>
                </a:effectLst>
                <a:latin typeface="Times New Roman Regular" panose="02020603050405020304" charset="0"/>
                <a:cs typeface="Times New Roman Regular" panose="02020603050405020304" charset="0"/>
                <a:sym typeface="+mn-ea"/>
              </a:rPr>
              <a:t> </a:t>
            </a:r>
            <a:r>
              <a:rPr sz="4400" dirty="0">
                <a:solidFill>
                  <a:schemeClr val="accent1"/>
                </a:solidFill>
                <a:effectLst>
                  <a:outerShdw blurRad="38100" dist="25400" dir="5400000" algn="ctr" rotWithShape="0">
                    <a:srgbClr val="6E747A">
                      <a:alpha val="43000"/>
                      <a:alpha val="43000"/>
                    </a:srgbClr>
                  </a:outerShdw>
                </a:effectLst>
                <a:latin typeface="Times New Roman Regular" panose="02020603050405020304" charset="0"/>
                <a:cs typeface="Times New Roman Regular" panose="02020603050405020304" charset="0"/>
                <a:sym typeface="+mn-ea"/>
              </a:rPr>
              <a:t>Management</a:t>
            </a:r>
            <a:endParaRPr lang="en-IN" altLang="en-GB" sz="4400" spc="5" dirty="0">
              <a:solidFill>
                <a:schemeClr val="accent1"/>
              </a:solidFill>
              <a:effectLst>
                <a:outerShdw blurRad="38100" dist="25400" dir="5400000" algn="ctr" rotWithShape="0">
                  <a:srgbClr val="6E747A">
                    <a:alpha val="43000"/>
                    <a:alpha val="43000"/>
                  </a:srgbClr>
                </a:outerShdw>
              </a:effectLst>
              <a:latin typeface="Times New Roman Regular" panose="02020603050405020304" charset="0"/>
              <a:cs typeface="Times New Roman Regular" panose="02020603050405020304" charset="0"/>
              <a:sym typeface="+mn-ea"/>
            </a:endParaRPr>
          </a:p>
        </p:txBody>
      </p:sp>
      <p:pic>
        <p:nvPicPr>
          <p:cNvPr id="3" name="Picture 2"/>
          <p:cNvPicPr>
            <a:picLocks noChangeAspect="1"/>
          </p:cNvPicPr>
          <p:nvPr/>
        </p:nvPicPr>
        <p:blipFill>
          <a:blip r:embed="rId1"/>
          <a:srcRect t="32194" r="31567" b="7296"/>
          <a:stretch>
            <a:fillRect/>
          </a:stretch>
        </p:blipFill>
        <p:spPr>
          <a:xfrm>
            <a:off x="3150870" y="1033145"/>
            <a:ext cx="5706110" cy="492188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 y="0"/>
            <a:ext cx="12192000" cy="679450"/>
          </a:xfrm>
        </p:spPr>
        <p:txBody>
          <a:bodyPr>
            <a:noAutofit/>
            <a:scene3d>
              <a:camera prst="orthographicFront"/>
              <a:lightRig rig="threePt" dir="t"/>
            </a:scene3d>
          </a:bodyPr>
          <a:lstStyle/>
          <a:p>
            <a:r>
              <a:rPr sz="4400" dirty="0">
                <a:ln/>
                <a:solidFill>
                  <a:schemeClr val="accent1"/>
                </a:solidFill>
                <a:effectLst>
                  <a:outerShdw blurRad="38100" dist="25400" dir="5400000" algn="ctr" rotWithShape="0">
                    <a:srgbClr val="6E747A">
                      <a:alpha val="43000"/>
                      <a:alpha val="43000"/>
                    </a:srgbClr>
                  </a:outerShdw>
                </a:effectLst>
                <a:latin typeface="Times New Roman Regular" panose="02020603050405020304" charset="0"/>
                <a:cs typeface="Times New Roman Regular" panose="02020603050405020304" charset="0"/>
                <a:sym typeface="+mn-ea"/>
              </a:rPr>
              <a:t>Why</a:t>
            </a:r>
            <a:r>
              <a:rPr sz="4400" spc="25" dirty="0">
                <a:ln/>
                <a:solidFill>
                  <a:schemeClr val="accent1"/>
                </a:solidFill>
                <a:effectLst>
                  <a:outerShdw blurRad="38100" dist="25400" dir="5400000" algn="ctr" rotWithShape="0">
                    <a:srgbClr val="6E747A">
                      <a:alpha val="43000"/>
                      <a:alpha val="43000"/>
                    </a:srgbClr>
                  </a:outerShdw>
                </a:effectLst>
                <a:latin typeface="Times New Roman Regular" panose="02020603050405020304" charset="0"/>
                <a:cs typeface="Times New Roman Regular" panose="02020603050405020304" charset="0"/>
                <a:sym typeface="+mn-ea"/>
              </a:rPr>
              <a:t> </a:t>
            </a:r>
            <a:r>
              <a:rPr sz="4400" spc="-5" dirty="0">
                <a:ln/>
                <a:solidFill>
                  <a:schemeClr val="accent1"/>
                </a:solidFill>
                <a:effectLst>
                  <a:outerShdw blurRad="38100" dist="25400" dir="5400000" algn="ctr" rotWithShape="0">
                    <a:srgbClr val="6E747A">
                      <a:alpha val="43000"/>
                      <a:alpha val="43000"/>
                    </a:srgbClr>
                  </a:outerShdw>
                </a:effectLst>
                <a:latin typeface="Times New Roman Regular" panose="02020603050405020304" charset="0"/>
                <a:cs typeface="Times New Roman Regular" panose="02020603050405020304" charset="0"/>
                <a:sym typeface="+mn-ea"/>
              </a:rPr>
              <a:t>Change</a:t>
            </a:r>
            <a:r>
              <a:rPr sz="4400" spc="30" dirty="0">
                <a:ln/>
                <a:solidFill>
                  <a:schemeClr val="accent1"/>
                </a:solidFill>
                <a:effectLst>
                  <a:outerShdw blurRad="38100" dist="25400" dir="5400000" algn="ctr" rotWithShape="0">
                    <a:srgbClr val="6E747A">
                      <a:alpha val="43000"/>
                      <a:alpha val="43000"/>
                    </a:srgbClr>
                  </a:outerShdw>
                </a:effectLst>
                <a:latin typeface="Times New Roman Regular" panose="02020603050405020304" charset="0"/>
                <a:cs typeface="Times New Roman Regular" panose="02020603050405020304" charset="0"/>
                <a:sym typeface="+mn-ea"/>
              </a:rPr>
              <a:t> </a:t>
            </a:r>
            <a:r>
              <a:rPr sz="4400" dirty="0">
                <a:ln/>
                <a:solidFill>
                  <a:schemeClr val="accent1"/>
                </a:solidFill>
                <a:effectLst>
                  <a:outerShdw blurRad="38100" dist="25400" dir="5400000" algn="ctr" rotWithShape="0">
                    <a:srgbClr val="6E747A">
                      <a:alpha val="43000"/>
                      <a:alpha val="43000"/>
                    </a:srgbClr>
                  </a:outerShdw>
                </a:effectLst>
                <a:latin typeface="Times New Roman Regular" panose="02020603050405020304" charset="0"/>
                <a:cs typeface="Times New Roman Regular" panose="02020603050405020304" charset="0"/>
                <a:sym typeface="+mn-ea"/>
              </a:rPr>
              <a:t>Management is</a:t>
            </a:r>
            <a:r>
              <a:rPr sz="4400" spc="30" dirty="0">
                <a:ln/>
                <a:solidFill>
                  <a:schemeClr val="accent1"/>
                </a:solidFill>
                <a:effectLst>
                  <a:outerShdw blurRad="38100" dist="25400" dir="5400000" algn="ctr" rotWithShape="0">
                    <a:srgbClr val="6E747A">
                      <a:alpha val="43000"/>
                      <a:alpha val="43000"/>
                    </a:srgbClr>
                  </a:outerShdw>
                </a:effectLst>
                <a:latin typeface="Times New Roman Regular" panose="02020603050405020304" charset="0"/>
                <a:cs typeface="Times New Roman Regular" panose="02020603050405020304" charset="0"/>
                <a:sym typeface="+mn-ea"/>
              </a:rPr>
              <a:t> </a:t>
            </a:r>
            <a:r>
              <a:rPr sz="4400" dirty="0">
                <a:ln/>
                <a:solidFill>
                  <a:schemeClr val="accent1"/>
                </a:solidFill>
                <a:effectLst>
                  <a:outerShdw blurRad="38100" dist="25400" dir="5400000" algn="ctr" rotWithShape="0">
                    <a:srgbClr val="6E747A">
                      <a:alpha val="43000"/>
                      <a:alpha val="43000"/>
                    </a:srgbClr>
                  </a:outerShdw>
                </a:effectLst>
                <a:latin typeface="Times New Roman Regular" panose="02020603050405020304" charset="0"/>
                <a:cs typeface="Times New Roman Regular" panose="02020603050405020304" charset="0"/>
                <a:sym typeface="+mn-ea"/>
              </a:rPr>
              <a:t>important</a:t>
            </a:r>
            <a:endParaRPr lang="en-IN" altLang="en-GB" sz="4400" spc="5" dirty="0">
              <a:ln/>
              <a:solidFill>
                <a:schemeClr val="accent1"/>
              </a:solidFill>
              <a:effectLst>
                <a:outerShdw blurRad="38100" dist="25400" dir="5400000" algn="ctr" rotWithShape="0">
                  <a:srgbClr val="6E747A">
                    <a:alpha val="43000"/>
                    <a:alpha val="43000"/>
                  </a:srgbClr>
                </a:outerShdw>
              </a:effectLst>
              <a:latin typeface="Times New Roman Regular" panose="02020603050405020304" charset="0"/>
              <a:cs typeface="Times New Roman Regular" panose="02020603050405020304" charset="0"/>
              <a:sym typeface="+mn-ea"/>
            </a:endParaRPr>
          </a:p>
        </p:txBody>
      </p:sp>
      <p:sp>
        <p:nvSpPr>
          <p:cNvPr id="4" name="object 3"/>
          <p:cNvSpPr txBox="1"/>
          <p:nvPr/>
        </p:nvSpPr>
        <p:spPr>
          <a:xfrm>
            <a:off x="1350645" y="1200150"/>
            <a:ext cx="7562215" cy="3143885"/>
          </a:xfrm>
          <a:prstGeom prst="rect">
            <a:avLst/>
          </a:prstGeom>
        </p:spPr>
        <p:txBody>
          <a:bodyPr vert="horz" wrap="square" lIns="0" tIns="181610" rIns="0" bIns="0" rtlCol="0">
            <a:spAutoFit/>
          </a:bodyPr>
          <a:p>
            <a:pPr marL="412750" indent="-400050">
              <a:lnSpc>
                <a:spcPct val="100000"/>
              </a:lnSpc>
              <a:spcBef>
                <a:spcPts val="1430"/>
              </a:spcBef>
              <a:buAutoNum type="arabicPeriod"/>
              <a:tabLst>
                <a:tab pos="412115" algn="l"/>
                <a:tab pos="412750" algn="l"/>
              </a:tabLst>
            </a:pPr>
            <a:r>
              <a:t>External factors</a:t>
            </a:r>
          </a:p>
          <a:p>
            <a:pPr marL="412750" indent="-400050">
              <a:lnSpc>
                <a:spcPct val="100000"/>
              </a:lnSpc>
              <a:spcBef>
                <a:spcPts val="1330"/>
              </a:spcBef>
              <a:buAutoNum type="arabicPeriod"/>
              <a:tabLst>
                <a:tab pos="412115" algn="l"/>
                <a:tab pos="412750" algn="l"/>
              </a:tabLst>
            </a:pPr>
            <a:r>
              <a:t>Making ideas succeed</a:t>
            </a:r>
          </a:p>
          <a:p>
            <a:pPr marL="412750" indent="-400050">
              <a:lnSpc>
                <a:spcPct val="100000"/>
              </a:lnSpc>
              <a:spcBef>
                <a:spcPts val="1335"/>
              </a:spcBef>
              <a:buAutoNum type="arabicPeriod"/>
              <a:tabLst>
                <a:tab pos="412115" algn="l"/>
                <a:tab pos="412750" algn="l"/>
              </a:tabLst>
            </a:pPr>
            <a:r>
              <a:t>Enabling cross-functional changes</a:t>
            </a:r>
          </a:p>
          <a:p>
            <a:pPr marL="412750" indent="-400050">
              <a:lnSpc>
                <a:spcPct val="100000"/>
              </a:lnSpc>
              <a:spcBef>
                <a:spcPts val="1330"/>
              </a:spcBef>
              <a:buAutoNum type="arabicPeriod"/>
              <a:tabLst>
                <a:tab pos="412115" algn="l"/>
                <a:tab pos="412750" algn="l"/>
              </a:tabLst>
            </a:pPr>
            <a:r>
              <a:t>Engaging people with the change process</a:t>
            </a:r>
          </a:p>
          <a:p>
            <a:pPr marL="412750" indent="-400050">
              <a:lnSpc>
                <a:spcPct val="100000"/>
              </a:lnSpc>
              <a:spcBef>
                <a:spcPts val="1330"/>
              </a:spcBef>
              <a:buAutoNum type="arabicPeriod"/>
              <a:tabLst>
                <a:tab pos="412115" algn="l"/>
                <a:tab pos="412750" algn="l"/>
              </a:tabLst>
            </a:pPr>
            <a:r>
              <a:t>Preparing for organizational transition</a:t>
            </a:r>
          </a:p>
          <a:p>
            <a:pPr marL="412750" indent="-400050">
              <a:lnSpc>
                <a:spcPct val="100000"/>
              </a:lnSpc>
              <a:spcBef>
                <a:spcPts val="1320"/>
              </a:spcBef>
              <a:buAutoNum type="arabicPeriod"/>
              <a:tabLst>
                <a:tab pos="412115" algn="l"/>
                <a:tab pos="412750" algn="l"/>
              </a:tabLst>
            </a:pPr>
            <a:r>
              <a:t>Improving performance and productivity</a:t>
            </a:r>
          </a:p>
          <a:p>
            <a:pPr marL="412750" indent="-400050">
              <a:lnSpc>
                <a:spcPct val="100000"/>
              </a:lnSpc>
              <a:spcBef>
                <a:spcPts val="1335"/>
              </a:spcBef>
              <a:buAutoNum type="arabicPeriod"/>
              <a:tabLst>
                <a:tab pos="412115" algn="l"/>
                <a:tab pos="412750" algn="l"/>
              </a:tabLst>
            </a:pPr>
            <a:r>
              <a:t>Reducing </a:t>
            </a:r>
            <a:r>
              <a:t>costs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 y="0"/>
            <a:ext cx="12192000" cy="679450"/>
          </a:xfrm>
        </p:spPr>
        <p:txBody>
          <a:bodyPr>
            <a:noAutofit/>
            <a:scene3d>
              <a:camera prst="orthographicFront"/>
              <a:lightRig rig="threePt" dir="t"/>
            </a:scene3d>
          </a:bodyPr>
          <a:lstStyle/>
          <a:p>
            <a:r>
              <a:rPr lang="en-IN" sz="4400" b="1">
                <a:ln/>
                <a:solidFill>
                  <a:schemeClr val="accent1"/>
                </a:solidFill>
                <a:effectLst>
                  <a:outerShdw blurRad="38100" dist="25400" dir="5400000" algn="ctr" rotWithShape="0">
                    <a:srgbClr val="6E747A">
                      <a:alpha val="43000"/>
                      <a:alpha val="43000"/>
                    </a:srgbClr>
                  </a:outerShdw>
                </a:effectLst>
                <a:latin typeface="Times Regular" charset="0"/>
                <a:cs typeface="Times Regular" charset="0"/>
                <a:sym typeface="+mn-ea"/>
              </a:rPr>
              <a:t>Critical Success Factors</a:t>
            </a:r>
            <a:r>
              <a:rPr lang="en-US" altLang="en-IN" sz="4400" b="1">
                <a:ln/>
                <a:solidFill>
                  <a:schemeClr val="accent1"/>
                </a:solidFill>
                <a:effectLst>
                  <a:outerShdw blurRad="38100" dist="25400" dir="5400000" algn="ctr" rotWithShape="0">
                    <a:srgbClr val="6E747A">
                      <a:alpha val="43000"/>
                      <a:alpha val="43000"/>
                    </a:srgbClr>
                  </a:outerShdw>
                </a:effectLst>
                <a:latin typeface="Times Regular" charset="0"/>
                <a:cs typeface="Times Regular" charset="0"/>
                <a:sym typeface="+mn-ea"/>
              </a:rPr>
              <a:t>[CSF]</a:t>
            </a:r>
            <a:endParaRPr lang="en-US" altLang="en-IN" sz="4400" b="1" spc="5" dirty="0">
              <a:ln/>
              <a:solidFill>
                <a:schemeClr val="accent1"/>
              </a:solidFill>
              <a:effectLst>
                <a:outerShdw blurRad="38100" dist="25400" dir="5400000" algn="ctr" rotWithShape="0">
                  <a:srgbClr val="6E747A">
                    <a:alpha val="43000"/>
                    <a:alpha val="43000"/>
                  </a:srgbClr>
                </a:outerShdw>
              </a:effectLst>
              <a:latin typeface="Times Regular" charset="0"/>
              <a:cs typeface="Times Regular" charset="0"/>
              <a:sym typeface="+mn-ea"/>
            </a:endParaRPr>
          </a:p>
        </p:txBody>
      </p:sp>
      <p:sp>
        <p:nvSpPr>
          <p:cNvPr id="3" name="object 3"/>
          <p:cNvSpPr txBox="1"/>
          <p:nvPr/>
        </p:nvSpPr>
        <p:spPr>
          <a:xfrm>
            <a:off x="0" y="875030"/>
            <a:ext cx="12192000" cy="3126105"/>
          </a:xfrm>
          <a:prstGeom prst="rect">
            <a:avLst/>
          </a:prstGeom>
        </p:spPr>
        <p:txBody>
          <a:bodyPr vert="horz" wrap="square" lIns="0" tIns="17145" rIns="0" bIns="0" rtlCol="0">
            <a:spAutoFit/>
          </a:bodyPr>
          <a:p>
            <a:pPr indent="0">
              <a:lnSpc>
                <a:spcPct val="100000"/>
              </a:lnSpc>
              <a:spcBef>
                <a:spcPts val="50"/>
              </a:spcBef>
              <a:buClr>
                <a:srgbClr val="FFFFFF"/>
              </a:buClr>
              <a:buFont typeface="Times New Roman" panose="02020603050405020304"/>
              <a:buNone/>
            </a:pPr>
            <a:endParaRPr>
              <a:latin typeface="Times New Roman Regular" panose="02020603050405020304" charset="0"/>
              <a:cs typeface="Times New Roman Regular" panose="02020603050405020304" charset="0"/>
            </a:endParaRPr>
          </a:p>
          <a:p>
            <a:pPr marL="253365" marR="7620" indent="-241300">
              <a:lnSpc>
                <a:spcPts val="1430"/>
              </a:lnSpc>
              <a:spcBef>
                <a:spcPts val="5"/>
              </a:spcBef>
              <a:buFont typeface="Times New Roman" panose="02020603050405020304"/>
              <a:buChar char="▪"/>
              <a:tabLst>
                <a:tab pos="253365" algn="l"/>
                <a:tab pos="254000" algn="l"/>
              </a:tabLst>
            </a:pPr>
            <a:r>
              <a:rPr>
                <a:latin typeface="Times New Roman Regular" panose="02020603050405020304" charset="0"/>
                <a:cs typeface="Times New Roman Regular" panose="02020603050405020304" charset="0"/>
              </a:rPr>
              <a:t>The concept of "success factors" was developed by D. Ronald Daniel of McKinsey &amp; Company in  1961.</a:t>
            </a:r>
            <a:endParaRPr>
              <a:latin typeface="Times New Roman Regular" panose="02020603050405020304" charset="0"/>
              <a:cs typeface="Times New Roman Regular" panose="02020603050405020304" charset="0"/>
            </a:endParaRPr>
          </a:p>
          <a:p>
            <a:pPr marL="253365" indent="-241300">
              <a:lnSpc>
                <a:spcPct val="100000"/>
              </a:lnSpc>
              <a:spcBef>
                <a:spcPts val="1270"/>
              </a:spcBef>
              <a:buFont typeface="Times New Roman" panose="02020603050405020304"/>
              <a:buChar char="▪"/>
              <a:tabLst>
                <a:tab pos="253365" algn="l"/>
                <a:tab pos="254000" algn="l"/>
              </a:tabLst>
            </a:pPr>
            <a:r>
              <a:rPr>
                <a:latin typeface="Times New Roman Regular" panose="02020603050405020304" charset="0"/>
                <a:cs typeface="Times New Roman Regular" panose="02020603050405020304" charset="0"/>
              </a:rPr>
              <a:t>The process was refined into “critical success factors” by John F. Rockart between 1979 and 1981.</a:t>
            </a:r>
            <a:endParaRPr>
              <a:latin typeface="Times New Roman Regular" panose="02020603050405020304" charset="0"/>
              <a:cs typeface="Times New Roman Regular" panose="02020603050405020304" charset="0"/>
            </a:endParaRPr>
          </a:p>
          <a:p>
            <a:pPr>
              <a:lnSpc>
                <a:spcPct val="100000"/>
              </a:lnSpc>
              <a:spcBef>
                <a:spcPts val="55"/>
              </a:spcBef>
              <a:buClr>
                <a:srgbClr val="FFFFFF"/>
              </a:buClr>
              <a:buFont typeface="Times New Roman" panose="02020603050405020304"/>
              <a:buChar char="▪"/>
            </a:pPr>
            <a:endParaRPr>
              <a:latin typeface="Times New Roman Regular" panose="02020603050405020304" charset="0"/>
              <a:cs typeface="Times New Roman Regular" panose="02020603050405020304" charset="0"/>
            </a:endParaRPr>
          </a:p>
          <a:p>
            <a:pPr marL="253365" marR="6985" indent="-241300">
              <a:lnSpc>
                <a:spcPts val="1430"/>
              </a:lnSpc>
              <a:buFont typeface="Times New Roman" panose="02020603050405020304"/>
              <a:buChar char="▪"/>
              <a:tabLst>
                <a:tab pos="253365" algn="l"/>
                <a:tab pos="254000" algn="l"/>
              </a:tabLst>
            </a:pPr>
            <a:r>
              <a:rPr>
                <a:latin typeface="Times New Roman Regular" panose="02020603050405020304" charset="0"/>
                <a:cs typeface="Times New Roman Regular" panose="02020603050405020304" charset="0"/>
              </a:rPr>
              <a:t>CSF is a management term for an element that is necessary for an organization or project to  achieve its mission.</a:t>
            </a:r>
            <a:endParaRPr>
              <a:latin typeface="Times New Roman Regular" panose="02020603050405020304" charset="0"/>
              <a:cs typeface="Times New Roman Regular" panose="02020603050405020304" charset="0"/>
            </a:endParaRPr>
          </a:p>
          <a:p>
            <a:pPr>
              <a:lnSpc>
                <a:spcPct val="100000"/>
              </a:lnSpc>
              <a:spcBef>
                <a:spcPts val="50"/>
              </a:spcBef>
              <a:buClr>
                <a:srgbClr val="FFFFFF"/>
              </a:buClr>
              <a:buFont typeface="Times New Roman" panose="02020603050405020304"/>
              <a:buChar char="▪"/>
            </a:pPr>
            <a:endParaRPr>
              <a:latin typeface="Times New Roman Regular" panose="02020603050405020304" charset="0"/>
              <a:cs typeface="Times New Roman Regular" panose="02020603050405020304" charset="0"/>
            </a:endParaRPr>
          </a:p>
          <a:p>
            <a:pPr marL="253365" marR="6350" indent="-241300">
              <a:lnSpc>
                <a:spcPts val="1430"/>
              </a:lnSpc>
              <a:buFont typeface="Times New Roman" panose="02020603050405020304"/>
              <a:buChar char="▪"/>
              <a:tabLst>
                <a:tab pos="253365" algn="l"/>
                <a:tab pos="254000" algn="l"/>
              </a:tabLst>
            </a:pPr>
            <a:r>
              <a:rPr>
                <a:latin typeface="Times New Roman Regular" panose="02020603050405020304" charset="0"/>
                <a:cs typeface="Times New Roman Regular" panose="02020603050405020304" charset="0"/>
              </a:rPr>
              <a:t>A CSF is a critical factor or activity required for ensuring the success of a company or an  organization.</a:t>
            </a:r>
            <a:endParaRPr>
              <a:latin typeface="Times New Roman Regular" panose="02020603050405020304" charset="0"/>
              <a:cs typeface="Times New Roman Regular" panose="02020603050405020304" charset="0"/>
            </a:endParaRPr>
          </a:p>
          <a:p>
            <a:pPr>
              <a:lnSpc>
                <a:spcPct val="100000"/>
              </a:lnSpc>
              <a:spcBef>
                <a:spcPts val="35"/>
              </a:spcBef>
              <a:buClr>
                <a:srgbClr val="FFFFFF"/>
              </a:buClr>
              <a:buFont typeface="Times New Roman" panose="02020603050405020304"/>
              <a:buChar char="▪"/>
            </a:pPr>
            <a:endParaRPr>
              <a:latin typeface="Times New Roman Regular" panose="02020603050405020304" charset="0"/>
              <a:cs typeface="Times New Roman Regular" panose="02020603050405020304" charset="0"/>
            </a:endParaRPr>
          </a:p>
          <a:p>
            <a:pPr marL="253365" marR="5080" indent="-241300">
              <a:lnSpc>
                <a:spcPct val="100000"/>
              </a:lnSpc>
              <a:buFont typeface="Times New Roman" panose="02020603050405020304"/>
              <a:buChar char="▪"/>
              <a:tabLst>
                <a:tab pos="253365" algn="l"/>
                <a:tab pos="254000" algn="l"/>
              </a:tabLst>
            </a:pPr>
            <a:r>
              <a:rPr>
                <a:latin typeface="Times New Roman Regular" panose="02020603050405020304" charset="0"/>
                <a:cs typeface="Times New Roman Regular" panose="02020603050405020304" charset="0"/>
              </a:rPr>
              <a:t>A critical success factor (CSF) is a concept used in business and project management to denote an element that is essential for the success of an organization or project.</a:t>
            </a:r>
            <a:endParaRPr>
              <a:latin typeface="Times New Roman Regular" panose="02020603050405020304" charset="0"/>
              <a:cs typeface="Times New Roman Regular" panose="02020603050405020304" charset="0"/>
            </a:endParaRPr>
          </a:p>
          <a:p>
            <a:pPr marL="253365" indent="-241300">
              <a:lnSpc>
                <a:spcPct val="100000"/>
              </a:lnSpc>
              <a:spcBef>
                <a:spcPts val="1260"/>
              </a:spcBef>
              <a:buFont typeface="Times New Roman" panose="02020603050405020304"/>
              <a:buChar char="▪"/>
              <a:tabLst>
                <a:tab pos="253365" algn="l"/>
                <a:tab pos="254000" algn="l"/>
              </a:tabLst>
            </a:pPr>
            <a:r>
              <a:rPr>
                <a:latin typeface="Times New Roman Regular" panose="02020603050405020304" charset="0"/>
                <a:cs typeface="Times New Roman Regular" panose="02020603050405020304" charset="0"/>
              </a:rPr>
              <a:t>For example: Understanding of Market, Marketing </a:t>
            </a:r>
            <a:r>
              <a:rPr lang="en-US">
                <a:latin typeface="Times New Roman Regular" panose="02020603050405020304" charset="0"/>
                <a:cs typeface="Times New Roman Regular" panose="02020603050405020304" charset="0"/>
              </a:rPr>
              <a:t>trends</a:t>
            </a:r>
            <a:r>
              <a:rPr>
                <a:latin typeface="Times New Roman Regular" panose="02020603050405020304" charset="0"/>
                <a:cs typeface="Times New Roman Regular" panose="02020603050405020304" charset="0"/>
              </a:rPr>
              <a:t>, Decision Making.</a:t>
            </a:r>
            <a:endParaRPr>
              <a:latin typeface="Times New Roman Regular" panose="02020603050405020304" charset="0"/>
              <a:cs typeface="Times New Roman Regular" panose="0202060305040502030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 y="0"/>
            <a:ext cx="12192000" cy="679450"/>
          </a:xfrm>
        </p:spPr>
        <p:txBody>
          <a:bodyPr>
            <a:noAutofit/>
            <a:scene3d>
              <a:camera prst="orthographicFront"/>
              <a:lightRig rig="threePt" dir="t"/>
            </a:scene3d>
          </a:bodyPr>
          <a:lstStyle/>
          <a:p>
            <a:r>
              <a:rPr lang="en-US" sz="4400" b="1">
                <a:ln/>
                <a:solidFill>
                  <a:schemeClr val="accent1"/>
                </a:solidFill>
                <a:effectLst>
                  <a:outerShdw blurRad="38100" dist="25400" dir="5400000" algn="ctr" rotWithShape="0">
                    <a:srgbClr val="6E747A">
                      <a:alpha val="43000"/>
                      <a:alpha val="43000"/>
                    </a:srgbClr>
                  </a:outerShdw>
                </a:effectLst>
                <a:uFill>
                  <a:solidFill>
                    <a:srgbClr val="000000"/>
                  </a:solidFill>
                </a:uFill>
                <a:latin typeface="Times New Roman" panose="02020603050405020304" pitchFamily="18" charset="0"/>
                <a:cs typeface="Calibri" charset="0"/>
                <a:sym typeface="+mn-ea"/>
              </a:rPr>
              <a:t>Types of Critical Success Factor:</a:t>
            </a:r>
            <a:endParaRPr lang="en-US" altLang="en-IN" sz="4400" b="1" spc="5" dirty="0">
              <a:ln/>
              <a:solidFill>
                <a:schemeClr val="accent1"/>
              </a:solidFill>
              <a:effectLst>
                <a:outerShdw blurRad="38100" dist="25400" dir="5400000" algn="ctr" rotWithShape="0">
                  <a:srgbClr val="6E747A">
                    <a:alpha val="43000"/>
                    <a:alpha val="43000"/>
                  </a:srgbClr>
                </a:outerShdw>
              </a:effectLst>
              <a:uFill>
                <a:solidFill>
                  <a:srgbClr val="000000"/>
                </a:solidFill>
              </a:uFill>
              <a:latin typeface="Times New Roman" panose="02020603050405020304" pitchFamily="18" charset="0"/>
              <a:cs typeface="Calibri" charset="0"/>
              <a:sym typeface="+mn-ea"/>
            </a:endParaRPr>
          </a:p>
        </p:txBody>
      </p:sp>
      <p:sp>
        <p:nvSpPr>
          <p:cNvPr id="100" name="Text Box 99"/>
          <p:cNvSpPr txBox="1"/>
          <p:nvPr/>
        </p:nvSpPr>
        <p:spPr>
          <a:xfrm>
            <a:off x="76200" y="679450"/>
            <a:ext cx="9589770" cy="1630045"/>
          </a:xfrm>
          <a:prstGeom prst="rect">
            <a:avLst/>
          </a:prstGeom>
          <a:noFill/>
          <a:ln w="9525">
            <a:noFill/>
          </a:ln>
        </p:spPr>
        <p:txBody>
          <a:bodyPr wrap="square">
            <a:spAutoFit/>
          </a:bodyPr>
          <a:p>
            <a:pPr marL="228600" indent="-228600" algn="l"/>
            <a:r>
              <a:rPr lang="en-US" sz="2000" b="0">
                <a:latin typeface="Times New Roman" panose="02020603050405020304" pitchFamily="18" charset="0"/>
                <a:cs typeface="Calibri" charset="0"/>
              </a:rPr>
              <a:t> There are four basic types of CSF’s, they are:</a:t>
            </a:r>
            <a:r>
              <a:rPr lang="en-US" sz="2000" b="0">
                <a:latin typeface="Wingdings" panose="05000000000000000000" charset="0"/>
                <a:cs typeface="Calibri" charset="0"/>
              </a:rPr>
              <a:t>ü </a:t>
            </a:r>
            <a:r>
              <a:rPr lang="en-US" sz="2000" b="1">
                <a:latin typeface="Times New Roman Bold" panose="02020603050405020304" charset="0"/>
                <a:cs typeface="Times New Roman Bold" panose="02020603050405020304" charset="0"/>
              </a:rPr>
              <a:t>Industry CSF’s</a:t>
            </a:r>
            <a:r>
              <a:rPr lang="en-US" sz="2000" b="0">
                <a:latin typeface="Times New Roman" panose="02020603050405020304" pitchFamily="18" charset="0"/>
                <a:cs typeface="Calibri" charset="0"/>
              </a:rPr>
              <a:t> resulting from specific industry characteristics;</a:t>
            </a:r>
            <a:r>
              <a:rPr lang="en-US" sz="2000" b="0">
                <a:latin typeface="Wingdings" panose="05000000000000000000" charset="0"/>
                <a:cs typeface="Calibri" charset="0"/>
              </a:rPr>
              <a:t>ü </a:t>
            </a:r>
            <a:r>
              <a:rPr lang="en-US" sz="2000" b="1">
                <a:latin typeface="Times New Roman Bold" panose="02020603050405020304" charset="0"/>
                <a:cs typeface="Times New Roman Bold" panose="02020603050405020304" charset="0"/>
              </a:rPr>
              <a:t>Strategy CSF’s</a:t>
            </a:r>
            <a:r>
              <a:rPr lang="en-US" sz="2000" b="0">
                <a:latin typeface="Times New Roman" panose="02020603050405020304" pitchFamily="18" charset="0"/>
                <a:cs typeface="Calibri" charset="0"/>
              </a:rPr>
              <a:t> resulting from the chosen competitive strategy of the business;</a:t>
            </a:r>
            <a:r>
              <a:rPr lang="en-US" sz="2000" b="0">
                <a:latin typeface="Wingdings" panose="05000000000000000000" charset="0"/>
                <a:cs typeface="Calibri" charset="0"/>
              </a:rPr>
              <a:t>ü </a:t>
            </a:r>
            <a:r>
              <a:rPr lang="en-US" sz="2000" b="1">
                <a:latin typeface="Times New Roman Bold" panose="02020603050405020304" charset="0"/>
                <a:cs typeface="Times New Roman Bold" panose="02020603050405020304" charset="0"/>
              </a:rPr>
              <a:t>Environmental CSF’s</a:t>
            </a:r>
            <a:r>
              <a:rPr lang="en-US" sz="2000" b="0">
                <a:latin typeface="Times New Roman" panose="02020603050405020304" pitchFamily="18" charset="0"/>
                <a:cs typeface="Calibri" charset="0"/>
              </a:rPr>
              <a:t> resulting from economic or technological changes;</a:t>
            </a:r>
            <a:r>
              <a:rPr lang="en-US" sz="2000" b="0">
                <a:latin typeface="Wingdings" panose="05000000000000000000" charset="0"/>
                <a:cs typeface="Calibri" charset="0"/>
              </a:rPr>
              <a:t>ü </a:t>
            </a:r>
            <a:r>
              <a:rPr lang="en-US" sz="2000" b="1">
                <a:latin typeface="Times New Roman Bold" panose="02020603050405020304" charset="0"/>
                <a:cs typeface="Times New Roman Bold" panose="02020603050405020304" charset="0"/>
              </a:rPr>
              <a:t>Temporal CSF’s </a:t>
            </a:r>
            <a:r>
              <a:rPr lang="en-US" sz="2000" b="0">
                <a:latin typeface="Times New Roman" panose="02020603050405020304" pitchFamily="18" charset="0"/>
                <a:cs typeface="Calibri" charset="0"/>
              </a:rPr>
              <a:t>resulting from internal organizational needs and changes.</a:t>
            </a:r>
            <a:endParaRPr lang="en-US" sz="2000" b="0">
              <a:latin typeface="Times New Roman" panose="02020603050405020304" pitchFamily="18" charset="0"/>
              <a:cs typeface="Calibri" charset="0"/>
            </a:endParaRPr>
          </a:p>
        </p:txBody>
      </p:sp>
      <p:sp>
        <p:nvSpPr>
          <p:cNvPr id="4" name="Text Box 3"/>
          <p:cNvSpPr txBox="1"/>
          <p:nvPr/>
        </p:nvSpPr>
        <p:spPr>
          <a:xfrm>
            <a:off x="3729990" y="2309495"/>
            <a:ext cx="5687695" cy="460375"/>
          </a:xfrm>
          <a:prstGeom prst="rect">
            <a:avLst/>
          </a:prstGeom>
          <a:noFill/>
        </p:spPr>
        <p:txBody>
          <a:bodyPr wrap="none" rtlCol="0" anchor="t">
            <a:spAutoFit/>
            <a:scene3d>
              <a:camera prst="orthographicFront"/>
              <a:lightRig rig="threePt" dir="t"/>
            </a:scene3d>
          </a:bodyPr>
          <a:p>
            <a:pPr>
              <a:lnSpc>
                <a:spcPct val="100000"/>
              </a:lnSpc>
              <a:spcBef>
                <a:spcPts val="105"/>
              </a:spcBef>
            </a:pPr>
            <a:r>
              <a:rPr sz="2400" b="1" dirty="0">
                <a:ln/>
                <a:solidFill>
                  <a:schemeClr val="accent1"/>
                </a:solidFill>
                <a:effectLst>
                  <a:outerShdw blurRad="38100" dist="25400" dir="5400000" algn="ctr" rotWithShape="0">
                    <a:srgbClr val="6E747A">
                      <a:alpha val="43000"/>
                      <a:alpha val="43000"/>
                    </a:srgbClr>
                  </a:outerShdw>
                </a:effectLst>
                <a:sym typeface="+mn-ea"/>
              </a:rPr>
              <a:t>CSFs</a:t>
            </a:r>
            <a:r>
              <a:rPr sz="2400" b="1" spc="30" dirty="0">
                <a:ln/>
                <a:solidFill>
                  <a:schemeClr val="accent1"/>
                </a:solidFill>
                <a:effectLst>
                  <a:outerShdw blurRad="38100" dist="25400" dir="5400000" algn="ctr" rotWithShape="0">
                    <a:srgbClr val="6E747A">
                      <a:alpha val="43000"/>
                      <a:alpha val="43000"/>
                    </a:srgbClr>
                  </a:outerShdw>
                </a:effectLst>
                <a:sym typeface="+mn-ea"/>
              </a:rPr>
              <a:t> </a:t>
            </a:r>
            <a:r>
              <a:rPr sz="2400" b="1" spc="-10" dirty="0">
                <a:ln/>
                <a:solidFill>
                  <a:schemeClr val="accent1"/>
                </a:solidFill>
                <a:effectLst>
                  <a:outerShdw blurRad="38100" dist="25400" dir="5400000" algn="ctr" rotWithShape="0">
                    <a:srgbClr val="6E747A">
                      <a:alpha val="43000"/>
                      <a:alpha val="43000"/>
                    </a:srgbClr>
                  </a:outerShdw>
                </a:effectLst>
                <a:sym typeface="+mn-ea"/>
              </a:rPr>
              <a:t>are</a:t>
            </a:r>
            <a:r>
              <a:rPr sz="2400" b="1" spc="5" dirty="0">
                <a:ln/>
                <a:solidFill>
                  <a:schemeClr val="accent1"/>
                </a:solidFill>
                <a:effectLst>
                  <a:outerShdw blurRad="38100" dist="25400" dir="5400000" algn="ctr" rotWithShape="0">
                    <a:srgbClr val="6E747A">
                      <a:alpha val="43000"/>
                      <a:alpha val="43000"/>
                    </a:srgbClr>
                  </a:outerShdw>
                </a:effectLst>
                <a:sym typeface="+mn-ea"/>
              </a:rPr>
              <a:t> classified</a:t>
            </a:r>
            <a:r>
              <a:rPr sz="2400" b="1" spc="-20" dirty="0">
                <a:ln/>
                <a:solidFill>
                  <a:schemeClr val="accent1"/>
                </a:solidFill>
                <a:effectLst>
                  <a:outerShdw blurRad="38100" dist="25400" dir="5400000" algn="ctr" rotWithShape="0">
                    <a:srgbClr val="6E747A">
                      <a:alpha val="43000"/>
                      <a:alpha val="43000"/>
                    </a:srgbClr>
                  </a:outerShdw>
                </a:effectLst>
                <a:sym typeface="+mn-ea"/>
              </a:rPr>
              <a:t> </a:t>
            </a:r>
            <a:r>
              <a:rPr sz="2400" b="1" dirty="0">
                <a:ln/>
                <a:solidFill>
                  <a:schemeClr val="accent1"/>
                </a:solidFill>
                <a:effectLst>
                  <a:outerShdw blurRad="38100" dist="25400" dir="5400000" algn="ctr" rotWithShape="0">
                    <a:srgbClr val="6E747A">
                      <a:alpha val="43000"/>
                      <a:alpha val="43000"/>
                    </a:srgbClr>
                  </a:outerShdw>
                </a:effectLst>
                <a:sym typeface="+mn-ea"/>
              </a:rPr>
              <a:t>into</a:t>
            </a:r>
            <a:r>
              <a:rPr sz="2400" b="1" spc="30" dirty="0">
                <a:ln/>
                <a:solidFill>
                  <a:schemeClr val="accent1"/>
                </a:solidFill>
                <a:effectLst>
                  <a:outerShdw blurRad="38100" dist="25400" dir="5400000" algn="ctr" rotWithShape="0">
                    <a:srgbClr val="6E747A">
                      <a:alpha val="43000"/>
                      <a:alpha val="43000"/>
                    </a:srgbClr>
                  </a:outerShdw>
                </a:effectLst>
                <a:sym typeface="+mn-ea"/>
              </a:rPr>
              <a:t> </a:t>
            </a:r>
            <a:r>
              <a:rPr sz="2400" b="1" spc="-10" dirty="0">
                <a:ln/>
                <a:solidFill>
                  <a:schemeClr val="accent1"/>
                </a:solidFill>
                <a:effectLst>
                  <a:outerShdw blurRad="38100" dist="25400" dir="5400000" algn="ctr" rotWithShape="0">
                    <a:srgbClr val="6E747A">
                      <a:alpha val="43000"/>
                      <a:alpha val="43000"/>
                    </a:srgbClr>
                  </a:outerShdw>
                </a:effectLst>
                <a:sym typeface="+mn-ea"/>
              </a:rPr>
              <a:t>two</a:t>
            </a:r>
            <a:r>
              <a:rPr sz="2400" b="1" spc="10" dirty="0">
                <a:ln/>
                <a:solidFill>
                  <a:schemeClr val="accent1"/>
                </a:solidFill>
                <a:effectLst>
                  <a:outerShdw blurRad="38100" dist="25400" dir="5400000" algn="ctr" rotWithShape="0">
                    <a:srgbClr val="6E747A">
                      <a:alpha val="43000"/>
                      <a:alpha val="43000"/>
                    </a:srgbClr>
                  </a:outerShdw>
                </a:effectLst>
                <a:sym typeface="+mn-ea"/>
              </a:rPr>
              <a:t> </a:t>
            </a:r>
            <a:r>
              <a:rPr sz="2400" b="1" dirty="0">
                <a:ln/>
                <a:solidFill>
                  <a:schemeClr val="accent1"/>
                </a:solidFill>
                <a:effectLst>
                  <a:outerShdw blurRad="38100" dist="25400" dir="5400000" algn="ctr" rotWithShape="0">
                    <a:srgbClr val="6E747A">
                      <a:alpha val="43000"/>
                      <a:alpha val="43000"/>
                    </a:srgbClr>
                  </a:outerShdw>
                </a:effectLst>
                <a:sym typeface="+mn-ea"/>
              </a:rPr>
              <a:t>category:</a:t>
            </a:r>
            <a:endParaRPr lang="en-US" sz="2400" b="1" dirty="0">
              <a:ln/>
              <a:solidFill>
                <a:schemeClr val="accent1"/>
              </a:solidFill>
              <a:effectLst>
                <a:outerShdw blurRad="38100" dist="25400" dir="5400000" algn="ctr" rotWithShape="0">
                  <a:srgbClr val="6E747A">
                    <a:alpha val="43000"/>
                    <a:alpha val="43000"/>
                  </a:srgbClr>
                </a:outerShdw>
              </a:effectLst>
              <a:sym typeface="+mn-ea"/>
            </a:endParaRPr>
          </a:p>
        </p:txBody>
      </p:sp>
      <p:sp>
        <p:nvSpPr>
          <p:cNvPr id="5" name="object 3"/>
          <p:cNvSpPr txBox="1"/>
          <p:nvPr/>
        </p:nvSpPr>
        <p:spPr>
          <a:xfrm>
            <a:off x="374015" y="2769870"/>
            <a:ext cx="8255635" cy="3990340"/>
          </a:xfrm>
          <a:prstGeom prst="rect">
            <a:avLst/>
          </a:prstGeom>
        </p:spPr>
        <p:txBody>
          <a:bodyPr vert="horz" wrap="square" lIns="0" tIns="35560" rIns="0" bIns="0" rtlCol="0">
            <a:spAutoFit/>
          </a:bodyPr>
          <a:p>
            <a:pPr marL="412115" indent="-400050">
              <a:lnSpc>
                <a:spcPct val="100000"/>
              </a:lnSpc>
              <a:spcBef>
                <a:spcPts val="280"/>
              </a:spcBef>
              <a:buAutoNum type="arabicParenR"/>
              <a:tabLst>
                <a:tab pos="412115" algn="l"/>
                <a:tab pos="412750" algn="l"/>
              </a:tabLst>
            </a:pPr>
            <a:r>
              <a:rPr b="1"/>
              <a:t>Primary</a:t>
            </a:r>
            <a:endParaRPr b="1"/>
          </a:p>
          <a:p>
            <a:pPr marL="494030" lvl="1" indent="-241300">
              <a:lnSpc>
                <a:spcPct val="100000"/>
              </a:lnSpc>
              <a:spcBef>
                <a:spcPts val="155"/>
              </a:spcBef>
              <a:buFont typeface="Consolas"/>
              <a:buChar char="–"/>
              <a:tabLst>
                <a:tab pos="494665" algn="l"/>
              </a:tabLst>
            </a:pPr>
            <a:r>
              <a:t>Within Time</a:t>
            </a:r>
          </a:p>
          <a:p>
            <a:pPr marL="494030" lvl="1" indent="-241300">
              <a:lnSpc>
                <a:spcPct val="100000"/>
              </a:lnSpc>
              <a:spcBef>
                <a:spcPts val="145"/>
              </a:spcBef>
              <a:buFont typeface="Consolas"/>
              <a:buChar char="–"/>
              <a:tabLst>
                <a:tab pos="494665" algn="l"/>
              </a:tabLst>
            </a:pPr>
            <a:r>
              <a:t>Within Cost</a:t>
            </a:r>
          </a:p>
          <a:p>
            <a:pPr marL="494030" lvl="1" indent="-241300">
              <a:lnSpc>
                <a:spcPct val="100000"/>
              </a:lnSpc>
              <a:spcBef>
                <a:spcPts val="145"/>
              </a:spcBef>
              <a:buFont typeface="Consolas"/>
              <a:buChar char="–"/>
              <a:tabLst>
                <a:tab pos="494665" algn="l"/>
              </a:tabLst>
            </a:pPr>
            <a:r>
              <a:t>Within Quality Limits</a:t>
            </a:r>
          </a:p>
          <a:p>
            <a:pPr marL="494030" lvl="1" indent="-241300">
              <a:lnSpc>
                <a:spcPct val="100000"/>
              </a:lnSpc>
              <a:spcBef>
                <a:spcPts val="145"/>
              </a:spcBef>
              <a:buFont typeface="Consolas"/>
              <a:buChar char="–"/>
              <a:tabLst>
                <a:tab pos="494665" algn="l"/>
              </a:tabLst>
            </a:pPr>
            <a:r>
              <a:t>Accepted by the Customer</a:t>
            </a:r>
          </a:p>
          <a:p>
            <a:pPr marL="412115" indent="-400050">
              <a:lnSpc>
                <a:spcPct val="100000"/>
              </a:lnSpc>
              <a:spcBef>
                <a:spcPts val="1140"/>
              </a:spcBef>
              <a:buAutoNum type="arabicParenR"/>
              <a:tabLst>
                <a:tab pos="412115" algn="l"/>
                <a:tab pos="412750" algn="l"/>
              </a:tabLst>
            </a:pPr>
            <a:r>
              <a:rPr b="1"/>
              <a:t>Secondary</a:t>
            </a:r>
            <a:endParaRPr b="1"/>
          </a:p>
          <a:p>
            <a:pPr marL="494030" lvl="1" indent="-241300">
              <a:lnSpc>
                <a:spcPct val="100000"/>
              </a:lnSpc>
              <a:spcBef>
                <a:spcPts val="155"/>
              </a:spcBef>
              <a:buFont typeface="Consolas"/>
              <a:buChar char="–"/>
              <a:tabLst>
                <a:tab pos="494665" algn="l"/>
              </a:tabLst>
            </a:pPr>
            <a:r>
              <a:t>Follow-on work from this customer</a:t>
            </a:r>
          </a:p>
          <a:p>
            <a:pPr marL="494030" lvl="1" indent="-241300">
              <a:lnSpc>
                <a:spcPct val="100000"/>
              </a:lnSpc>
              <a:spcBef>
                <a:spcPts val="140"/>
              </a:spcBef>
              <a:buFont typeface="Consolas"/>
              <a:buChar char="–"/>
              <a:tabLst>
                <a:tab pos="494665" algn="l"/>
              </a:tabLst>
            </a:pPr>
            <a:r>
              <a:t>Using the customer’s name as a reference on your literature</a:t>
            </a:r>
          </a:p>
          <a:p>
            <a:pPr marL="494030" lvl="1" indent="-241300">
              <a:lnSpc>
                <a:spcPct val="100000"/>
              </a:lnSpc>
              <a:spcBef>
                <a:spcPts val="145"/>
              </a:spcBef>
              <a:buFont typeface="Consolas"/>
              <a:buChar char="–"/>
              <a:tabLst>
                <a:tab pos="494665" algn="l"/>
              </a:tabLst>
            </a:pPr>
            <a:r>
              <a:t>With minimum or mutually agreed upon scope changes</a:t>
            </a:r>
          </a:p>
          <a:p>
            <a:pPr marL="494030" lvl="1" indent="-241300">
              <a:lnSpc>
                <a:spcPct val="100000"/>
              </a:lnSpc>
              <a:spcBef>
                <a:spcPts val="145"/>
              </a:spcBef>
              <a:buFont typeface="Consolas"/>
              <a:buChar char="–"/>
              <a:tabLst>
                <a:tab pos="494665" algn="l"/>
              </a:tabLst>
            </a:pPr>
            <a:r>
              <a:t>Without distributing the main flow of work</a:t>
            </a:r>
          </a:p>
          <a:p>
            <a:pPr marL="494030" lvl="1" indent="-241300">
              <a:lnSpc>
                <a:spcPct val="100000"/>
              </a:lnSpc>
              <a:spcBef>
                <a:spcPts val="155"/>
              </a:spcBef>
              <a:buFont typeface="Consolas"/>
              <a:buChar char="–"/>
              <a:tabLst>
                <a:tab pos="494665" algn="l"/>
              </a:tabLst>
            </a:pPr>
            <a:r>
              <a:t>Without changing the corporate culture</a:t>
            </a:r>
          </a:p>
          <a:p>
            <a:pPr marL="494030" lvl="1" indent="-241300">
              <a:lnSpc>
                <a:spcPct val="100000"/>
              </a:lnSpc>
              <a:spcBef>
                <a:spcPts val="145"/>
              </a:spcBef>
              <a:buFont typeface="Consolas"/>
              <a:buChar char="–"/>
              <a:tabLst>
                <a:tab pos="494665" algn="l"/>
              </a:tabLst>
            </a:pPr>
            <a:r>
              <a:t>Without violating safety requirements</a:t>
            </a:r>
          </a:p>
          <a:p>
            <a:pPr marL="494030" lvl="1" indent="-241300">
              <a:lnSpc>
                <a:spcPct val="100000"/>
              </a:lnSpc>
              <a:spcBef>
                <a:spcPts val="145"/>
              </a:spcBef>
              <a:buFont typeface="Consolas"/>
              <a:buChar char="–"/>
              <a:tabLst>
                <a:tab pos="494665" algn="l"/>
              </a:tabLst>
            </a:pPr>
            <a:r>
              <a:t>Providing efficiency and effectiveness of operations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 y="0"/>
            <a:ext cx="12192000" cy="679450"/>
          </a:xfrm>
        </p:spPr>
        <p:txBody>
          <a:bodyPr>
            <a:noAutofit/>
            <a:scene3d>
              <a:camera prst="orthographicFront"/>
              <a:lightRig rig="threePt" dir="t"/>
            </a:scene3d>
          </a:bodyPr>
          <a:lstStyle/>
          <a:p>
            <a:r>
              <a:rPr lang="en-US" sz="4400" b="1">
                <a:solidFill>
                  <a:schemeClr val="accent1"/>
                </a:solidFill>
                <a:effectLst>
                  <a:outerShdw blurRad="38100" dist="25400" dir="5400000" algn="ctr" rotWithShape="0">
                    <a:srgbClr val="6E747A">
                      <a:alpha val="43000"/>
                      <a:alpha val="43000"/>
                    </a:srgbClr>
                  </a:outerShdw>
                </a:effectLst>
                <a:uFill>
                  <a:solidFill>
                    <a:srgbClr val="000000"/>
                  </a:solidFill>
                </a:uFill>
                <a:latin typeface="Times New Roman" panose="02020603050405020304" pitchFamily="18" charset="0"/>
                <a:cs typeface="Calibri" charset="0"/>
                <a:sym typeface="+mn-ea"/>
              </a:rPr>
              <a:t>Need of Critical Success Factor:</a:t>
            </a:r>
            <a:endParaRPr lang="en-US" altLang="en-IN" sz="4400" b="1" spc="5" dirty="0">
              <a:solidFill>
                <a:schemeClr val="accent1"/>
              </a:solidFill>
              <a:effectLst>
                <a:outerShdw blurRad="38100" dist="25400" dir="5400000" algn="ctr" rotWithShape="0">
                  <a:srgbClr val="6E747A">
                    <a:alpha val="43000"/>
                    <a:alpha val="43000"/>
                  </a:srgbClr>
                </a:outerShdw>
              </a:effectLst>
              <a:uFill>
                <a:solidFill>
                  <a:srgbClr val="000000"/>
                </a:solidFill>
              </a:uFill>
              <a:latin typeface="Times New Roman" panose="02020603050405020304" pitchFamily="18" charset="0"/>
              <a:cs typeface="Calibri" charset="0"/>
              <a:sym typeface="+mn-ea"/>
            </a:endParaRPr>
          </a:p>
        </p:txBody>
      </p:sp>
      <p:sp>
        <p:nvSpPr>
          <p:cNvPr id="3" name="Text Box 2"/>
          <p:cNvSpPr txBox="1"/>
          <p:nvPr/>
        </p:nvSpPr>
        <p:spPr>
          <a:xfrm>
            <a:off x="0" y="487045"/>
            <a:ext cx="12192000" cy="2030095"/>
          </a:xfrm>
          <a:prstGeom prst="rect">
            <a:avLst/>
          </a:prstGeom>
          <a:noFill/>
        </p:spPr>
        <p:txBody>
          <a:bodyPr wrap="square" rtlCol="0" anchor="t">
            <a:spAutoFit/>
          </a:bodyPr>
          <a:p>
            <a:r>
              <a:rPr lang="en-US"/>
              <a:t>Focus on Key Objectives: </a:t>
            </a:r>
            <a:endParaRPr lang="en-US"/>
          </a:p>
          <a:p>
            <a:r>
              <a:rPr lang="en-US"/>
              <a:t>Prioritization of Efforts: </a:t>
            </a:r>
            <a:endParaRPr lang="en-US"/>
          </a:p>
          <a:p>
            <a:r>
              <a:rPr lang="en-US"/>
              <a:t>Measurement and Evaluation: </a:t>
            </a:r>
            <a:endParaRPr lang="en-US"/>
          </a:p>
          <a:p>
            <a:r>
              <a:rPr lang="en-US"/>
              <a:t>Risk Management: </a:t>
            </a:r>
            <a:endParaRPr lang="en-US"/>
          </a:p>
          <a:p>
            <a:r>
              <a:rPr lang="en-US"/>
              <a:t>Strategic Alignment: </a:t>
            </a:r>
            <a:endParaRPr lang="en-US"/>
          </a:p>
          <a:p>
            <a:r>
              <a:rPr lang="en-US"/>
              <a:t>Competitive Advantage: </a:t>
            </a:r>
            <a:endParaRPr lang="en-US"/>
          </a:p>
          <a:p>
            <a:r>
              <a:rPr lang="en-US"/>
              <a:t>Continuous Improvement:</a:t>
            </a:r>
            <a:endParaRPr lang="en-US"/>
          </a:p>
        </p:txBody>
      </p:sp>
      <p:pic>
        <p:nvPicPr>
          <p:cNvPr id="49" name="object 49"/>
          <p:cNvPicPr/>
          <p:nvPr/>
        </p:nvPicPr>
        <p:blipFill>
          <a:blip r:embed="rId1" cstate="print"/>
          <a:stretch>
            <a:fillRect/>
          </a:stretch>
        </p:blipFill>
        <p:spPr>
          <a:xfrm>
            <a:off x="1721485" y="3825875"/>
            <a:ext cx="8901430" cy="2567940"/>
          </a:xfrm>
          <a:prstGeom prst="rect">
            <a:avLst/>
          </a:prstGeom>
        </p:spPr>
      </p:pic>
      <p:sp>
        <p:nvSpPr>
          <p:cNvPr id="6" name="Text Box 5"/>
          <p:cNvSpPr txBox="1"/>
          <p:nvPr/>
        </p:nvSpPr>
        <p:spPr>
          <a:xfrm>
            <a:off x="5180330" y="3244850"/>
            <a:ext cx="2874645" cy="521970"/>
          </a:xfrm>
          <a:prstGeom prst="rect">
            <a:avLst/>
          </a:prstGeom>
          <a:noFill/>
        </p:spPr>
        <p:txBody>
          <a:bodyPr wrap="none" rtlCol="0" anchor="t">
            <a:spAutoFit/>
            <a:scene3d>
              <a:camera prst="orthographicFront"/>
              <a:lightRig rig="threePt" dir="t"/>
            </a:scene3d>
          </a:bodyPr>
          <a:p>
            <a:pPr>
              <a:lnSpc>
                <a:spcPct val="100000"/>
              </a:lnSpc>
              <a:spcBef>
                <a:spcPts val="105"/>
              </a:spcBef>
            </a:pPr>
            <a:r>
              <a:rPr sz="2800" b="1" dirty="0">
                <a:ln/>
                <a:solidFill>
                  <a:schemeClr val="accent1"/>
                </a:solidFill>
                <a:effectLst>
                  <a:outerShdw blurRad="38100" dist="25400" dir="5400000" algn="ctr" rotWithShape="0">
                    <a:srgbClr val="6E747A">
                      <a:alpha val="43000"/>
                      <a:alpha val="43000"/>
                    </a:srgbClr>
                  </a:outerShdw>
                </a:effectLst>
                <a:sym typeface="+mn-ea"/>
              </a:rPr>
              <a:t>Example</a:t>
            </a:r>
            <a:r>
              <a:rPr sz="2800" b="1" spc="-20" dirty="0">
                <a:ln/>
                <a:solidFill>
                  <a:schemeClr val="accent1"/>
                </a:solidFill>
                <a:effectLst>
                  <a:outerShdw blurRad="38100" dist="25400" dir="5400000" algn="ctr" rotWithShape="0">
                    <a:srgbClr val="6E747A">
                      <a:alpha val="43000"/>
                      <a:alpha val="43000"/>
                    </a:srgbClr>
                  </a:outerShdw>
                </a:effectLst>
                <a:sym typeface="+mn-ea"/>
              </a:rPr>
              <a:t> </a:t>
            </a:r>
            <a:r>
              <a:rPr sz="2800" b="1" dirty="0">
                <a:ln/>
                <a:solidFill>
                  <a:schemeClr val="accent1"/>
                </a:solidFill>
                <a:effectLst>
                  <a:outerShdw blurRad="38100" dist="25400" dir="5400000" algn="ctr" rotWithShape="0">
                    <a:srgbClr val="6E747A">
                      <a:alpha val="43000"/>
                      <a:alpha val="43000"/>
                    </a:srgbClr>
                  </a:outerShdw>
                </a:effectLst>
                <a:sym typeface="+mn-ea"/>
              </a:rPr>
              <a:t>of </a:t>
            </a:r>
            <a:r>
              <a:rPr sz="2800" b="1" spc="-10" dirty="0">
                <a:ln/>
                <a:solidFill>
                  <a:schemeClr val="accent1"/>
                </a:solidFill>
                <a:effectLst>
                  <a:outerShdw blurRad="38100" dist="25400" dir="5400000" algn="ctr" rotWithShape="0">
                    <a:srgbClr val="6E747A">
                      <a:alpha val="43000"/>
                      <a:alpha val="43000"/>
                    </a:srgbClr>
                  </a:outerShdw>
                </a:effectLst>
                <a:sym typeface="+mn-ea"/>
              </a:rPr>
              <a:t>CSF</a:t>
            </a:r>
            <a:endParaRPr lang="en-US" sz="2800" b="1" spc="-10" dirty="0">
              <a:ln/>
              <a:solidFill>
                <a:schemeClr val="accent1"/>
              </a:solidFill>
              <a:effectLst>
                <a:outerShdw blurRad="38100" dist="25400" dir="5400000" algn="ctr" rotWithShape="0">
                  <a:srgbClr val="6E747A">
                    <a:alpha val="43000"/>
                    <a:alpha val="43000"/>
                  </a:srgbClr>
                </a:outerShdw>
              </a:effectLst>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Box 4"/>
          <p:cNvSpPr txBox="1"/>
          <p:nvPr/>
        </p:nvSpPr>
        <p:spPr>
          <a:xfrm>
            <a:off x="3637280" y="0"/>
            <a:ext cx="6610985" cy="460375"/>
          </a:xfrm>
          <a:prstGeom prst="rect">
            <a:avLst/>
          </a:prstGeom>
          <a:noFill/>
        </p:spPr>
        <p:txBody>
          <a:bodyPr wrap="none" rtlCol="0" anchor="t">
            <a:spAutoFit/>
            <a:scene3d>
              <a:camera prst="orthographicFront"/>
              <a:lightRig rig="threePt" dir="t"/>
            </a:scene3d>
          </a:bodyPr>
          <a:p>
            <a:pPr>
              <a:lnSpc>
                <a:spcPct val="100000"/>
              </a:lnSpc>
              <a:spcBef>
                <a:spcPts val="105"/>
              </a:spcBef>
            </a:pPr>
            <a:r>
              <a:rPr sz="2400" b="1" dirty="0">
                <a:ln/>
                <a:solidFill>
                  <a:schemeClr val="accent1"/>
                </a:solidFill>
                <a:effectLst>
                  <a:outerShdw blurRad="38100" dist="25400" dir="5400000" algn="ctr" rotWithShape="0">
                    <a:srgbClr val="6E747A">
                      <a:alpha val="43000"/>
                      <a:alpha val="43000"/>
                    </a:srgbClr>
                  </a:outerShdw>
                </a:effectLst>
                <a:sym typeface="+mn-ea"/>
              </a:rPr>
              <a:t>Six</a:t>
            </a:r>
            <a:r>
              <a:rPr sz="2400" b="1" spc="30" dirty="0">
                <a:ln/>
                <a:solidFill>
                  <a:schemeClr val="accent1"/>
                </a:solidFill>
                <a:effectLst>
                  <a:outerShdw blurRad="38100" dist="25400" dir="5400000" algn="ctr" rotWithShape="0">
                    <a:srgbClr val="6E747A">
                      <a:alpha val="43000"/>
                      <a:alpha val="43000"/>
                    </a:srgbClr>
                  </a:outerShdw>
                </a:effectLst>
                <a:sym typeface="+mn-ea"/>
              </a:rPr>
              <a:t> </a:t>
            </a:r>
            <a:r>
              <a:rPr sz="2400" b="1" spc="-5" dirty="0">
                <a:ln/>
                <a:solidFill>
                  <a:schemeClr val="accent1"/>
                </a:solidFill>
                <a:effectLst>
                  <a:outerShdw blurRad="38100" dist="25400" dir="5400000" algn="ctr" rotWithShape="0">
                    <a:srgbClr val="6E747A">
                      <a:alpha val="43000"/>
                      <a:alpha val="43000"/>
                    </a:srgbClr>
                  </a:outerShdw>
                </a:effectLst>
                <a:sym typeface="+mn-ea"/>
              </a:rPr>
              <a:t>Steps</a:t>
            </a:r>
            <a:r>
              <a:rPr sz="2400" b="1" spc="5" dirty="0">
                <a:ln/>
                <a:solidFill>
                  <a:schemeClr val="accent1"/>
                </a:solidFill>
                <a:effectLst>
                  <a:outerShdw blurRad="38100" dist="25400" dir="5400000" algn="ctr" rotWithShape="0">
                    <a:srgbClr val="6E747A">
                      <a:alpha val="43000"/>
                      <a:alpha val="43000"/>
                    </a:srgbClr>
                  </a:outerShdw>
                </a:effectLst>
                <a:sym typeface="+mn-ea"/>
              </a:rPr>
              <a:t> </a:t>
            </a:r>
            <a:r>
              <a:rPr sz="2400" b="1" spc="15" dirty="0">
                <a:ln/>
                <a:solidFill>
                  <a:schemeClr val="accent1"/>
                </a:solidFill>
                <a:effectLst>
                  <a:outerShdw blurRad="38100" dist="25400" dir="5400000" algn="ctr" rotWithShape="0">
                    <a:srgbClr val="6E747A">
                      <a:alpha val="43000"/>
                      <a:alpha val="43000"/>
                    </a:srgbClr>
                  </a:outerShdw>
                </a:effectLst>
                <a:sym typeface="+mn-ea"/>
              </a:rPr>
              <a:t>to</a:t>
            </a:r>
            <a:r>
              <a:rPr sz="2400" b="1" spc="-20" dirty="0">
                <a:ln/>
                <a:solidFill>
                  <a:schemeClr val="accent1"/>
                </a:solidFill>
                <a:effectLst>
                  <a:outerShdw blurRad="38100" dist="25400" dir="5400000" algn="ctr" rotWithShape="0">
                    <a:srgbClr val="6E747A">
                      <a:alpha val="43000"/>
                      <a:alpha val="43000"/>
                    </a:srgbClr>
                  </a:outerShdw>
                </a:effectLst>
                <a:sym typeface="+mn-ea"/>
              </a:rPr>
              <a:t> </a:t>
            </a:r>
            <a:r>
              <a:rPr sz="2400" b="1" dirty="0">
                <a:ln/>
                <a:solidFill>
                  <a:schemeClr val="accent1"/>
                </a:solidFill>
                <a:effectLst>
                  <a:outerShdw blurRad="38100" dist="25400" dir="5400000" algn="ctr" rotWithShape="0">
                    <a:srgbClr val="6E747A">
                      <a:alpha val="43000"/>
                      <a:alpha val="43000"/>
                    </a:srgbClr>
                  </a:outerShdw>
                </a:effectLst>
                <a:sym typeface="+mn-ea"/>
              </a:rPr>
              <a:t>Identify</a:t>
            </a:r>
            <a:r>
              <a:rPr sz="2400" b="1" spc="5" dirty="0">
                <a:ln/>
                <a:solidFill>
                  <a:schemeClr val="accent1"/>
                </a:solidFill>
                <a:effectLst>
                  <a:outerShdw blurRad="38100" dist="25400" dir="5400000" algn="ctr" rotWithShape="0">
                    <a:srgbClr val="6E747A">
                      <a:alpha val="43000"/>
                      <a:alpha val="43000"/>
                    </a:srgbClr>
                  </a:outerShdw>
                </a:effectLst>
                <a:sym typeface="+mn-ea"/>
              </a:rPr>
              <a:t> </a:t>
            </a:r>
            <a:r>
              <a:rPr sz="2400" b="1" spc="10" dirty="0">
                <a:ln/>
                <a:solidFill>
                  <a:schemeClr val="accent1"/>
                </a:solidFill>
                <a:effectLst>
                  <a:outerShdw blurRad="38100" dist="25400" dir="5400000" algn="ctr" rotWithShape="0">
                    <a:srgbClr val="6E747A">
                      <a:alpha val="43000"/>
                      <a:alpha val="43000"/>
                    </a:srgbClr>
                  </a:outerShdw>
                </a:effectLst>
                <a:sym typeface="+mn-ea"/>
              </a:rPr>
              <a:t>and</a:t>
            </a:r>
            <a:r>
              <a:rPr sz="2400" b="1" spc="5" dirty="0">
                <a:ln/>
                <a:solidFill>
                  <a:schemeClr val="accent1"/>
                </a:solidFill>
                <a:effectLst>
                  <a:outerShdw blurRad="38100" dist="25400" dir="5400000" algn="ctr" rotWithShape="0">
                    <a:srgbClr val="6E747A">
                      <a:alpha val="43000"/>
                      <a:alpha val="43000"/>
                    </a:srgbClr>
                  </a:outerShdw>
                </a:effectLst>
                <a:sym typeface="+mn-ea"/>
              </a:rPr>
              <a:t> </a:t>
            </a:r>
            <a:r>
              <a:rPr sz="2400" b="1" dirty="0">
                <a:ln/>
                <a:solidFill>
                  <a:schemeClr val="accent1"/>
                </a:solidFill>
                <a:effectLst>
                  <a:outerShdw blurRad="38100" dist="25400" dir="5400000" algn="ctr" rotWithShape="0">
                    <a:srgbClr val="6E747A">
                      <a:alpha val="43000"/>
                      <a:alpha val="43000"/>
                    </a:srgbClr>
                  </a:outerShdw>
                </a:effectLst>
                <a:sym typeface="+mn-ea"/>
              </a:rPr>
              <a:t>Develop</a:t>
            </a:r>
            <a:r>
              <a:rPr sz="2400" b="1" spc="10" dirty="0">
                <a:ln/>
                <a:solidFill>
                  <a:schemeClr val="accent1"/>
                </a:solidFill>
                <a:effectLst>
                  <a:outerShdw blurRad="38100" dist="25400" dir="5400000" algn="ctr" rotWithShape="0">
                    <a:srgbClr val="6E747A">
                      <a:alpha val="43000"/>
                      <a:alpha val="43000"/>
                    </a:srgbClr>
                  </a:outerShdw>
                </a:effectLst>
                <a:sym typeface="+mn-ea"/>
              </a:rPr>
              <a:t> </a:t>
            </a:r>
            <a:r>
              <a:rPr sz="2400" b="1" spc="-5" dirty="0">
                <a:ln/>
                <a:solidFill>
                  <a:schemeClr val="accent1"/>
                </a:solidFill>
                <a:effectLst>
                  <a:outerShdw blurRad="38100" dist="25400" dir="5400000" algn="ctr" rotWithShape="0">
                    <a:srgbClr val="6E747A">
                      <a:alpha val="43000"/>
                      <a:alpha val="43000"/>
                    </a:srgbClr>
                  </a:outerShdw>
                </a:effectLst>
                <a:sym typeface="+mn-ea"/>
              </a:rPr>
              <a:t>Your</a:t>
            </a:r>
            <a:r>
              <a:rPr sz="2400" b="1" spc="30" dirty="0">
                <a:ln/>
                <a:solidFill>
                  <a:schemeClr val="accent1"/>
                </a:solidFill>
                <a:effectLst>
                  <a:outerShdw blurRad="38100" dist="25400" dir="5400000" algn="ctr" rotWithShape="0">
                    <a:srgbClr val="6E747A">
                      <a:alpha val="43000"/>
                      <a:alpha val="43000"/>
                    </a:srgbClr>
                  </a:outerShdw>
                </a:effectLst>
                <a:sym typeface="+mn-ea"/>
              </a:rPr>
              <a:t> </a:t>
            </a:r>
            <a:r>
              <a:rPr sz="2400" b="1" spc="-5" dirty="0">
                <a:ln/>
                <a:solidFill>
                  <a:schemeClr val="accent1"/>
                </a:solidFill>
                <a:effectLst>
                  <a:outerShdw blurRad="38100" dist="25400" dir="5400000" algn="ctr" rotWithShape="0">
                    <a:srgbClr val="6E747A">
                      <a:alpha val="43000"/>
                      <a:alpha val="43000"/>
                    </a:srgbClr>
                  </a:outerShdw>
                </a:effectLst>
                <a:sym typeface="+mn-ea"/>
              </a:rPr>
              <a:t>CSFs</a:t>
            </a:r>
            <a:endParaRPr lang="en-US" sz="2400" b="1" spc="-5" dirty="0">
              <a:ln/>
              <a:solidFill>
                <a:schemeClr val="accent1"/>
              </a:solidFill>
              <a:effectLst>
                <a:outerShdw blurRad="38100" dist="25400" dir="5400000" algn="ctr" rotWithShape="0">
                  <a:srgbClr val="6E747A">
                    <a:alpha val="43000"/>
                    <a:alpha val="43000"/>
                  </a:srgbClr>
                </a:outerShdw>
              </a:effectLst>
              <a:sym typeface="+mn-ea"/>
            </a:endParaRPr>
          </a:p>
        </p:txBody>
      </p:sp>
      <p:sp>
        <p:nvSpPr>
          <p:cNvPr id="6" name="object 3"/>
          <p:cNvSpPr txBox="1"/>
          <p:nvPr/>
        </p:nvSpPr>
        <p:spPr>
          <a:xfrm>
            <a:off x="0" y="653415"/>
            <a:ext cx="12191365" cy="3651885"/>
          </a:xfrm>
          <a:prstGeom prst="rect">
            <a:avLst/>
          </a:prstGeom>
        </p:spPr>
        <p:txBody>
          <a:bodyPr vert="horz" wrap="square" lIns="0" tIns="12700" rIns="0" bIns="0" rtlCol="0">
            <a:spAutoFit/>
          </a:bodyPr>
          <a:p>
            <a:pPr marL="12700">
              <a:lnSpc>
                <a:spcPct val="100000"/>
              </a:lnSpc>
              <a:spcBef>
                <a:spcPts val="100"/>
              </a:spcBef>
            </a:pPr>
            <a:r>
              <a:t>To identify and develop CSFs for your organization, follow these six steps:</a:t>
            </a:r>
          </a:p>
          <a:p>
            <a:pPr marL="412750" indent="-400685">
              <a:lnSpc>
                <a:spcPct val="100000"/>
              </a:lnSpc>
              <a:spcBef>
                <a:spcPts val="1380"/>
              </a:spcBef>
              <a:buAutoNum type="arabicPeriod"/>
              <a:tabLst>
                <a:tab pos="412750" algn="l"/>
                <a:tab pos="412750" algn="l"/>
              </a:tabLst>
            </a:pPr>
            <a:r>
              <a:t>Establish your organization's mission and strategic goals .</a:t>
            </a:r>
          </a:p>
          <a:p>
            <a:pPr>
              <a:lnSpc>
                <a:spcPct val="100000"/>
              </a:lnSpc>
              <a:spcBef>
                <a:spcPts val="50"/>
              </a:spcBef>
              <a:buClr>
                <a:srgbClr val="FFFFFF"/>
              </a:buClr>
              <a:buFont typeface="Corbel"/>
              <a:buAutoNum type="arabicPeriod"/>
            </a:pPr>
          </a:p>
          <a:p>
            <a:pPr marL="413385" marR="8255" indent="-401320" algn="just">
              <a:lnSpc>
                <a:spcPct val="90000"/>
              </a:lnSpc>
              <a:spcBef>
                <a:spcPts val="5"/>
              </a:spcBef>
              <a:buAutoNum type="arabicPeriod"/>
              <a:tabLst>
                <a:tab pos="412750" algn="l"/>
              </a:tabLst>
            </a:pPr>
            <a:r>
              <a:t>For each strategic goal, ask yourself, "Success in what area of business or project  activity is essential to achieve this goal?" The answers to the question are your  potential (or "candidate") CSFs.</a:t>
            </a:r>
          </a:p>
          <a:p>
            <a:pPr>
              <a:lnSpc>
                <a:spcPct val="100000"/>
              </a:lnSpc>
              <a:spcBef>
                <a:spcPts val="55"/>
              </a:spcBef>
              <a:buClr>
                <a:srgbClr val="FFFFFF"/>
              </a:buClr>
              <a:buFont typeface="Corbel"/>
              <a:buAutoNum type="arabicPeriod"/>
            </a:pPr>
          </a:p>
          <a:p>
            <a:pPr marL="413385" marR="5080" indent="-401320" algn="just">
              <a:lnSpc>
                <a:spcPct val="90000"/>
              </a:lnSpc>
              <a:spcBef>
                <a:spcPts val="5"/>
              </a:spcBef>
              <a:buAutoNum type="arabicPeriod"/>
              <a:tabLst>
                <a:tab pos="412750" algn="l"/>
              </a:tabLst>
            </a:pPr>
            <a:r>
              <a:t>Evaluate </a:t>
            </a:r>
            <a:r>
              <a:rPr lang="en-US"/>
              <a:t>the</a:t>
            </a:r>
            <a:r>
              <a:t> list of candidate CSFs to identify the ones that are truly essential  for achieving goals</a:t>
            </a:r>
            <a:r>
              <a:rPr lang="en-US"/>
              <a:t>.</a:t>
            </a:r>
            <a:endParaRPr lang="en-US"/>
          </a:p>
          <a:p>
            <a:pPr marL="12065" marR="5080" indent="0" algn="just">
              <a:lnSpc>
                <a:spcPct val="90000"/>
              </a:lnSpc>
              <a:spcBef>
                <a:spcPts val="5"/>
              </a:spcBef>
              <a:buNone/>
              <a:tabLst>
                <a:tab pos="412750" algn="l"/>
              </a:tabLst>
            </a:pPr>
            <a:endParaRPr lang="en-US"/>
          </a:p>
          <a:p>
            <a:pPr marL="412750" indent="-400685">
              <a:lnSpc>
                <a:spcPct val="100000"/>
              </a:lnSpc>
              <a:spcBef>
                <a:spcPts val="100"/>
              </a:spcBef>
              <a:buAutoNum type="arabicPeriod" startAt="4"/>
              <a:tabLst>
                <a:tab pos="412750" algn="l"/>
                <a:tab pos="412750" algn="l"/>
              </a:tabLst>
            </a:pPr>
            <a:r>
              <a:rPr>
                <a:sym typeface="+mn-ea"/>
              </a:rPr>
              <a:t>Work out how </a:t>
            </a:r>
            <a:r>
              <a:rPr lang="en-US">
                <a:sym typeface="+mn-ea"/>
              </a:rPr>
              <a:t>you</a:t>
            </a:r>
            <a:r>
              <a:rPr>
                <a:sym typeface="+mn-ea"/>
              </a:rPr>
              <a:t> will monitor and measure each of your CSFs.</a:t>
            </a:r>
            <a:endParaRPr>
              <a:sym typeface="+mn-ea"/>
            </a:endParaRPr>
          </a:p>
          <a:p>
            <a:pPr>
              <a:lnSpc>
                <a:spcPct val="100000"/>
              </a:lnSpc>
              <a:spcBef>
                <a:spcPts val="40"/>
              </a:spcBef>
              <a:buClr>
                <a:srgbClr val="FFFFFF"/>
              </a:buClr>
              <a:buFont typeface="Corbel"/>
              <a:buAutoNum type="arabicPeriod" startAt="4"/>
            </a:pPr>
            <a:endParaRPr lang="en-US"/>
          </a:p>
          <a:p>
            <a:pPr marL="413385" marR="5715" indent="-401320" algn="just">
              <a:lnSpc>
                <a:spcPts val="1880"/>
              </a:lnSpc>
              <a:buAutoNum type="arabicPeriod" startAt="4"/>
              <a:tabLst>
                <a:tab pos="412750" algn="l"/>
              </a:tabLst>
            </a:pPr>
            <a:r>
              <a:rPr>
                <a:sym typeface="+mn-ea"/>
              </a:rPr>
              <a:t>Clearly communicate your CSFs to those responsible for delivering them and to  rest of the business.</a:t>
            </a:r>
            <a:endParaRPr>
              <a:sym typeface="+mn-ea"/>
            </a:endParaRPr>
          </a:p>
          <a:p>
            <a:pPr>
              <a:lnSpc>
                <a:spcPct val="100000"/>
              </a:lnSpc>
              <a:spcBef>
                <a:spcPts val="40"/>
              </a:spcBef>
              <a:buClr>
                <a:srgbClr val="FFFFFF"/>
              </a:buClr>
              <a:buFont typeface="Corbel"/>
              <a:buAutoNum type="arabicPeriod" startAt="4"/>
            </a:pPr>
            <a:endParaRPr lang="en-US"/>
          </a:p>
          <a:p>
            <a:pPr marL="413385" marR="5080" indent="-401320" algn="just">
              <a:lnSpc>
                <a:spcPct val="90000"/>
              </a:lnSpc>
              <a:buAutoNum type="arabicPeriod" startAt="4"/>
              <a:tabLst>
                <a:tab pos="412750" algn="l"/>
              </a:tabLst>
            </a:pPr>
            <a:r>
              <a:rPr>
                <a:sym typeface="+mn-ea"/>
              </a:rPr>
              <a:t>Continually monitor and reassess your CSFs to make sure that you stay on track  toward your goals.</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Box 4"/>
          <p:cNvSpPr txBox="1"/>
          <p:nvPr/>
        </p:nvSpPr>
        <p:spPr>
          <a:xfrm>
            <a:off x="3648710" y="0"/>
            <a:ext cx="6155055" cy="583565"/>
          </a:xfrm>
          <a:prstGeom prst="rect">
            <a:avLst/>
          </a:prstGeom>
          <a:noFill/>
        </p:spPr>
        <p:txBody>
          <a:bodyPr wrap="none" rtlCol="0" anchor="t">
            <a:spAutoFit/>
            <a:scene3d>
              <a:camera prst="orthographicFront"/>
              <a:lightRig rig="threePt" dir="t"/>
            </a:scene3d>
          </a:bodyPr>
          <a:p>
            <a:pPr algn="l">
              <a:lnSpc>
                <a:spcPct val="100000"/>
              </a:lnSpc>
              <a:spcBef>
                <a:spcPts val="105"/>
              </a:spcBef>
            </a:pPr>
            <a:r>
              <a:rPr sz="3200" b="1" dirty="0">
                <a:ln/>
                <a:solidFill>
                  <a:schemeClr val="accent1"/>
                </a:solidFill>
                <a:effectLst>
                  <a:outerShdw blurRad="38100" dist="25400" dir="5400000" algn="ctr" rotWithShape="0">
                    <a:srgbClr val="6E747A">
                      <a:alpha val="43000"/>
                      <a:alpha val="43000"/>
                    </a:srgbClr>
                  </a:outerShdw>
                </a:effectLst>
                <a:sym typeface="+mn-ea"/>
              </a:rPr>
              <a:t>Advanced</a:t>
            </a:r>
            <a:r>
              <a:rPr sz="3200" b="1" spc="-20" dirty="0">
                <a:ln/>
                <a:solidFill>
                  <a:schemeClr val="accent1"/>
                </a:solidFill>
                <a:effectLst>
                  <a:outerShdw blurRad="38100" dist="25400" dir="5400000" algn="ctr" rotWithShape="0">
                    <a:srgbClr val="6E747A">
                      <a:alpha val="43000"/>
                      <a:alpha val="43000"/>
                    </a:srgbClr>
                  </a:outerShdw>
                </a:effectLst>
                <a:sym typeface="+mn-ea"/>
              </a:rPr>
              <a:t> </a:t>
            </a:r>
            <a:r>
              <a:rPr sz="3200" b="1" dirty="0">
                <a:ln/>
                <a:solidFill>
                  <a:schemeClr val="accent1"/>
                </a:solidFill>
                <a:effectLst>
                  <a:outerShdw blurRad="38100" dist="25400" dir="5400000" algn="ctr" rotWithShape="0">
                    <a:srgbClr val="6E747A">
                      <a:alpha val="43000"/>
                      <a:alpha val="43000"/>
                    </a:srgbClr>
                  </a:outerShdw>
                </a:effectLst>
                <a:sym typeface="+mn-ea"/>
              </a:rPr>
              <a:t>Balanced</a:t>
            </a:r>
            <a:r>
              <a:rPr sz="3200" b="1" spc="5" dirty="0">
                <a:ln/>
                <a:solidFill>
                  <a:schemeClr val="accent1"/>
                </a:solidFill>
                <a:effectLst>
                  <a:outerShdw blurRad="38100" dist="25400" dir="5400000" algn="ctr" rotWithShape="0">
                    <a:srgbClr val="6E747A">
                      <a:alpha val="43000"/>
                      <a:alpha val="43000"/>
                    </a:srgbClr>
                  </a:outerShdw>
                </a:effectLst>
                <a:sym typeface="+mn-ea"/>
              </a:rPr>
              <a:t> </a:t>
            </a:r>
            <a:r>
              <a:rPr sz="3200" b="1" dirty="0">
                <a:ln/>
                <a:solidFill>
                  <a:schemeClr val="accent1"/>
                </a:solidFill>
                <a:effectLst>
                  <a:outerShdw blurRad="38100" dist="25400" dir="5400000" algn="ctr" rotWithShape="0">
                    <a:srgbClr val="6E747A">
                      <a:alpha val="43000"/>
                      <a:alpha val="43000"/>
                    </a:srgbClr>
                  </a:outerShdw>
                </a:effectLst>
                <a:sym typeface="+mn-ea"/>
              </a:rPr>
              <a:t>Scorecard</a:t>
            </a:r>
            <a:endParaRPr lang="en-US" sz="3200" b="1" spc="-5" dirty="0">
              <a:ln/>
              <a:solidFill>
                <a:schemeClr val="accent1"/>
              </a:solidFill>
              <a:effectLst>
                <a:outerShdw blurRad="38100" dist="25400" dir="5400000" algn="ctr" rotWithShape="0">
                  <a:srgbClr val="6E747A">
                    <a:alpha val="43000"/>
                    <a:alpha val="43000"/>
                  </a:srgbClr>
                </a:outerShdw>
              </a:effectLst>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216701" y="3075057"/>
            <a:ext cx="9758598" cy="707886"/>
          </a:xfrm>
          <a:prstGeom prst="rect">
            <a:avLst/>
          </a:prstGeom>
          <a:noFill/>
        </p:spPr>
        <p:txBody>
          <a:bodyPr wrap="square">
            <a:spAutoFit/>
          </a:bodyPr>
          <a:lstStyle/>
          <a:p>
            <a:pPr algn="ctr"/>
            <a:r>
              <a:rPr lang="en-GB" sz="4000" b="1" dirty="0">
                <a:latin typeface="Times New Roman" panose="02020603050405020304" pitchFamily="18" charset="0"/>
                <a:cs typeface="Times New Roman" panose="02020603050405020304" pitchFamily="18" charset="0"/>
              </a:rPr>
              <a:t>THANK YOU</a:t>
            </a:r>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4935</Words>
  <Application>WPS Presentation</Application>
  <PresentationFormat>Widescreen</PresentationFormat>
  <Paragraphs>139</Paragraphs>
  <Slides>16</Slides>
  <Notes>0</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16</vt:i4>
      </vt:variant>
    </vt:vector>
  </HeadingPairs>
  <TitlesOfParts>
    <vt:vector size="36" baseType="lpstr">
      <vt:lpstr>Arial</vt:lpstr>
      <vt:lpstr>SimSun</vt:lpstr>
      <vt:lpstr>Wingdings</vt:lpstr>
      <vt:lpstr>Times New Roman Bold</vt:lpstr>
      <vt:lpstr>Times New Roman</vt:lpstr>
      <vt:lpstr>Consolas</vt:lpstr>
      <vt:lpstr>Thonburi</vt:lpstr>
      <vt:lpstr>Microsoft YaHei</vt:lpstr>
      <vt:lpstr>汉仪旗黑</vt:lpstr>
      <vt:lpstr>Calibri Light</vt:lpstr>
      <vt:lpstr>Helvetica Neue</vt:lpstr>
      <vt:lpstr>Calibri</vt:lpstr>
      <vt:lpstr>宋体-简</vt:lpstr>
      <vt:lpstr>Arial Unicode MS</vt:lpstr>
      <vt:lpstr>Times New Roman</vt:lpstr>
      <vt:lpstr>Corbel</vt:lpstr>
      <vt:lpstr>Times New Roman Regular</vt:lpstr>
      <vt:lpstr>Wingdings</vt:lpstr>
      <vt:lpstr>Times Regular</vt:lpstr>
      <vt:lpstr>Office Theme</vt:lpstr>
      <vt:lpstr>IMPLEMENTATION OF INFORMATION SYSTEMS</vt:lpstr>
      <vt:lpstr>OUTLINES</vt:lpstr>
      <vt:lpstr>INTRODUCTION</vt:lpstr>
      <vt:lpstr>Change Management</vt:lpstr>
      <vt:lpstr>What is (not) Change Management?</vt:lpstr>
      <vt:lpstr>What is (not) Change Management?</vt:lpstr>
      <vt:lpstr>Steps for an Effective Change Management  Process</vt:lpstr>
      <vt:lpstr>Types of change within a business</vt:lpstr>
      <vt:lpstr>Why Change Management</vt:lpstr>
      <vt:lpstr>Benefits of Change Management</vt:lpstr>
      <vt:lpstr>Why Change Management is important</vt:lpstr>
      <vt:lpstr>Critical Success Factors[CSF]</vt:lpstr>
      <vt:lpstr>Types of Critical Success Factor:</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E-Business</dc:title>
  <dc:creator>Harendra Bikram Shah</dc:creator>
  <cp:lastModifiedBy>hbs</cp:lastModifiedBy>
  <cp:revision>109</cp:revision>
  <dcterms:created xsi:type="dcterms:W3CDTF">2024-06-17T07:52:59Z</dcterms:created>
  <dcterms:modified xsi:type="dcterms:W3CDTF">2024-06-17T07:52:59Z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1033-5.7.1.8093</vt:lpwstr>
  </property>
</Properties>
</file>