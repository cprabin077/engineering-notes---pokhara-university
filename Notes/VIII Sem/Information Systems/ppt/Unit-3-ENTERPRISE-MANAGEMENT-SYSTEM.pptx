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6" r:id="rId4"/>
    <p:sldId id="257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8" r:id="rId18"/>
    <p:sldId id="287" r:id="rId19"/>
    <p:sldId id="279" r:id="rId20"/>
    <p:sldId id="276" r:id="rId21"/>
    <p:sldId id="277" r:id="rId22"/>
    <p:sldId id="281" r:id="rId23"/>
    <p:sldId id="280" r:id="rId24"/>
    <p:sldId id="282" r:id="rId25"/>
    <p:sldId id="283" r:id="rId26"/>
    <p:sldId id="284" r:id="rId27"/>
    <p:sldId id="285" r:id="rId28"/>
    <p:sldId id="286" r:id="rId29"/>
    <p:sldId id="299" r:id="rId30"/>
    <p:sldId id="300" r:id="rId31"/>
    <p:sldId id="302" r:id="rId32"/>
    <p:sldId id="304" r:id="rId33"/>
    <p:sldId id="303" r:id="rId34"/>
    <p:sldId id="305" r:id="rId35"/>
    <p:sldId id="307" r:id="rId36"/>
    <p:sldId id="324" r:id="rId37"/>
    <p:sldId id="308" r:id="rId38"/>
    <p:sldId id="309" r:id="rId39"/>
    <p:sldId id="310" r:id="rId40"/>
    <p:sldId id="311" r:id="rId41"/>
    <p:sldId id="312" r:id="rId42"/>
    <p:sldId id="313" r:id="rId43"/>
    <p:sldId id="314" r:id="rId44"/>
    <p:sldId id="315" r:id="rId45"/>
    <p:sldId id="317" r:id="rId46"/>
    <p:sldId id="318" r:id="rId47"/>
    <p:sldId id="319" r:id="rId48"/>
    <p:sldId id="263" r:id="rId4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291" autoAdjust="0"/>
  </p:normalViewPr>
  <p:slideViewPr>
    <p:cSldViewPr snapToGrid="0">
      <p:cViewPr varScale="1">
        <p:scale>
          <a:sx n="72" d="100"/>
          <a:sy n="72" d="100"/>
        </p:scale>
        <p:origin x="6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2" Type="http://schemas.openxmlformats.org/officeDocument/2006/relationships/tableStyles" Target="tableStyles.xml"/><Relationship Id="rId51" Type="http://schemas.openxmlformats.org/officeDocument/2006/relationships/viewProps" Target="viewProps.xml"/><Relationship Id="rId50" Type="http://schemas.openxmlformats.org/officeDocument/2006/relationships/presProps" Target="presProps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E0B8D6-C4BD-46A4-9A82-08D4E8E6001C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E9A205-56FA-4820-9B78-BADF71C7EFD0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E0B8D6-C4BD-46A4-9A82-08D4E8E6001C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E9A205-56FA-4820-9B78-BADF71C7EFD0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8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0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1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2.jpe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3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4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5.wmf"/><Relationship Id="rId1" Type="http://schemas.openxmlformats.org/officeDocument/2006/relationships/oleObject" Target="../embeddings/oleObject1.bin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6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12035"/>
            <a:ext cx="12084148" cy="1509933"/>
          </a:xfrm>
        </p:spPr>
        <p:txBody>
          <a:bodyPr>
            <a:noAutofit/>
          </a:bodyPr>
          <a:lstStyle/>
          <a:p>
            <a:pPr algn="l"/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UNIT 3</a:t>
            </a:r>
            <a:b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4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ENTERPRISE MANAGEMENT SYSTEM </a:t>
            </a:r>
            <a:endParaRPr lang="en-IN" sz="48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175995"/>
            <a:ext cx="9144000" cy="2934325"/>
          </a:xfrm>
        </p:spPr>
        <p:txBody>
          <a:bodyPr>
            <a:normAutofit/>
          </a:bodyPr>
          <a:lstStyle/>
          <a:p>
            <a:pPr algn="l"/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  <a:endParaRPr lang="en-GB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Er.Harendra Bikram Shah</a:t>
            </a:r>
            <a:endParaRPr lang="en-GB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Lecturer</a:t>
            </a:r>
            <a:endParaRPr lang="en-GB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BE Computer</a:t>
            </a:r>
            <a:endParaRPr lang="en-IN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562455" y="1814733"/>
            <a:ext cx="19613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Hour:8hrs</a:t>
            </a:r>
            <a:endParaRPr lang="en-IN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37943"/>
            <a:ext cx="9144000" cy="961270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OUTLINES</a:t>
            </a:r>
            <a:endParaRPr lang="en-IN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1199213"/>
            <a:ext cx="1204622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3.1. Enterprise management system (EMS)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3.2. Enterprise Software: ERP/SCM/CRM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3.3. Information Management and Technology of Enterprise Software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3.4. Role of IS and IT in Enterprise Management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3.5. Enterprise Engineering, Electronic organism, Loose integration vs full Integration, Process alignment, Frame work to manage integrated change, future trends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37943"/>
            <a:ext cx="9144000" cy="530683"/>
          </a:xfrm>
        </p:spPr>
        <p:txBody>
          <a:bodyPr>
            <a:noAutofit/>
          </a:bodyPr>
          <a:lstStyle/>
          <a:p>
            <a:r>
              <a:rPr lang="en-US" altLang="en-US" sz="3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ENTERPRISE MANAGEMENT SYSTEM (EMS)</a:t>
            </a:r>
            <a:endParaRPr lang="en-IN" sz="32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51791" y="768626"/>
            <a:ext cx="1168841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Enterprise –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entire company, everything, all-inclusive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 –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monitoring and controlling of entities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 –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Technology Infrastructure, hardware and software, data, information, and processes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2766" y="1691956"/>
            <a:ext cx="116884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EMS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concerned with control, monitoring and the management of IT infrastructure and applications in order to optimize IT service delivery in Company.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5"/>
          <p:cNvSpPr txBox="1"/>
          <p:nvPr/>
        </p:nvSpPr>
        <p:spPr>
          <a:xfrm>
            <a:off x="410818" y="2100230"/>
            <a:ext cx="11290852" cy="4519827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L="253365" algn="ctr">
              <a:lnSpc>
                <a:spcPct val="100000"/>
              </a:lnSpc>
              <a:spcBef>
                <a:spcPts val="1165"/>
              </a:spcBef>
            </a:pPr>
            <a:r>
              <a:rPr lang="en-IN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COMPONENTS OF EMS</a:t>
            </a:r>
            <a:endParaRPr lang="en-IN" sz="24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9115" indent="-285750">
              <a:lnSpc>
                <a:spcPct val="100000"/>
              </a:lnSpc>
              <a:spcBef>
                <a:spcPts val="1165"/>
              </a:spcBef>
              <a:buFont typeface="Wingdings" panose="05000000000000000000" pitchFamily="2" charset="2"/>
              <a:buChar char="§"/>
            </a:pPr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CAD/CAM/CAE [Computer Aided Design/Computer Aided Manufacturing Computer Aided </a:t>
            </a:r>
            <a:r>
              <a:rPr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Engineering System)</a:t>
            </a:r>
            <a:endParaRPr lang="en-GB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9115" indent="-285750">
              <a:lnSpc>
                <a:spcPct val="100000"/>
              </a:lnSpc>
              <a:spcBef>
                <a:spcPts val="1165"/>
              </a:spcBef>
              <a:buFont typeface="Wingdings" panose="05000000000000000000" pitchFamily="2" charset="2"/>
              <a:buChar char="§"/>
            </a:pPr>
            <a:r>
              <a:rPr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AMS (Attendance Management System)</a:t>
            </a:r>
            <a:endParaRPr lang="en-GB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9115" indent="-285750">
              <a:lnSpc>
                <a:spcPct val="100000"/>
              </a:lnSpc>
              <a:spcBef>
                <a:spcPts val="1165"/>
              </a:spcBef>
              <a:buFont typeface="Wingdings" panose="05000000000000000000" pitchFamily="2" charset="2"/>
              <a:buChar char="§"/>
            </a:pPr>
            <a:r>
              <a:rPr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DMS (Document Management System)</a:t>
            </a:r>
            <a:endParaRPr lang="en-GB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9115" indent="-285750">
              <a:lnSpc>
                <a:spcPct val="100000"/>
              </a:lnSpc>
              <a:spcBef>
                <a:spcPts val="1165"/>
              </a:spcBef>
              <a:buFont typeface="Wingdings" panose="05000000000000000000" pitchFamily="2" charset="2"/>
              <a:buChar char="§"/>
            </a:pPr>
            <a:r>
              <a:rPr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CMS (Communication Management System)</a:t>
            </a:r>
            <a:endParaRPr lang="en-GB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9115" indent="-285750">
              <a:lnSpc>
                <a:spcPct val="100000"/>
              </a:lnSpc>
              <a:spcBef>
                <a:spcPts val="1165"/>
              </a:spcBef>
              <a:buFont typeface="Wingdings" panose="05000000000000000000" pitchFamily="2" charset="2"/>
              <a:buChar char="§"/>
            </a:pPr>
            <a:r>
              <a:rPr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SMS (Security Management System)</a:t>
            </a:r>
            <a:endParaRPr lang="en-GB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9115" indent="-285750">
              <a:lnSpc>
                <a:spcPct val="100000"/>
              </a:lnSpc>
              <a:spcBef>
                <a:spcPts val="1165"/>
              </a:spcBef>
              <a:buFont typeface="Wingdings" panose="05000000000000000000" pitchFamily="2" charset="2"/>
              <a:buChar char="§"/>
            </a:pPr>
            <a:r>
              <a:rPr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HR (Human Resource)</a:t>
            </a:r>
            <a:endParaRPr lang="en-GB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9115" indent="-285750">
              <a:lnSpc>
                <a:spcPct val="100000"/>
              </a:lnSpc>
              <a:spcBef>
                <a:spcPts val="1165"/>
              </a:spcBef>
              <a:buFont typeface="Wingdings" panose="05000000000000000000" pitchFamily="2" charset="2"/>
              <a:buChar char="§"/>
            </a:pPr>
            <a:r>
              <a:rPr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IMS (Inventory Management System)</a:t>
            </a:r>
            <a:endParaRPr lang="en-GB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9115" indent="-285750">
              <a:lnSpc>
                <a:spcPct val="100000"/>
              </a:lnSpc>
              <a:spcBef>
                <a:spcPts val="1165"/>
              </a:spcBef>
              <a:buFont typeface="Wingdings" panose="05000000000000000000" pitchFamily="2" charset="2"/>
              <a:buChar char="§"/>
            </a:pPr>
            <a:r>
              <a:rPr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FM (Financial Management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37943"/>
            <a:ext cx="9144000" cy="530683"/>
          </a:xfrm>
        </p:spPr>
        <p:txBody>
          <a:bodyPr>
            <a:noAutofit/>
          </a:bodyPr>
          <a:lstStyle/>
          <a:p>
            <a:r>
              <a:rPr lang="en-GB" sz="3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FOUR MAJOR COMPONENTS OF EMS</a:t>
            </a:r>
            <a:endParaRPr lang="en-IN" sz="32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873483" y="768626"/>
            <a:ext cx="8005473" cy="2160848"/>
          </a:xfrm>
          <a:prstGeom prst="rect">
            <a:avLst/>
          </a:prstGeom>
        </p:spPr>
        <p:txBody>
          <a:bodyPr vert="horz" wrap="square" lIns="0" tIns="181610" rIns="0" bIns="0" rtlCol="0">
            <a:spAutoFit/>
          </a:bodyPr>
          <a:lstStyle/>
          <a:p>
            <a:pPr marL="253365" indent="-240665">
              <a:lnSpc>
                <a:spcPct val="100000"/>
              </a:lnSpc>
              <a:spcBef>
                <a:spcPts val="1430"/>
              </a:spcBef>
              <a:buFont typeface="Microsoft Sans Serif" panose="020B0604020202020204"/>
              <a:buChar char="▪"/>
              <a:tabLst>
                <a:tab pos="253365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ERP (Enterprise Resource Planning)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3365" indent="-240665">
              <a:lnSpc>
                <a:spcPct val="100000"/>
              </a:lnSpc>
              <a:spcBef>
                <a:spcPts val="1335"/>
              </a:spcBef>
              <a:buFont typeface="Microsoft Sans Serif" panose="020B0604020202020204"/>
              <a:buChar char="▪"/>
              <a:tabLst>
                <a:tab pos="253365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CRM (Customer Relationship Management)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3365" indent="-240665">
              <a:lnSpc>
                <a:spcPct val="100000"/>
              </a:lnSpc>
              <a:spcBef>
                <a:spcPts val="1330"/>
              </a:spcBef>
              <a:buFont typeface="Microsoft Sans Serif" panose="020B0604020202020204"/>
              <a:buChar char="▪"/>
              <a:tabLst>
                <a:tab pos="253365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SCM (Supply Chain Management)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3365" indent="-240665">
              <a:lnSpc>
                <a:spcPct val="100000"/>
              </a:lnSpc>
              <a:spcBef>
                <a:spcPts val="1330"/>
              </a:spcBef>
              <a:buFont typeface="Microsoft Sans Serif" panose="020B0604020202020204"/>
              <a:buChar char="▪"/>
              <a:tabLst>
                <a:tab pos="253365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 (Business Intelligence)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73425" y="3808799"/>
            <a:ext cx="7805531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Data Management: 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Streamlined Processes: 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Decision Making: 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Collaboration: 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Compliance and Risk Management: 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 and Adaptability: 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Relationship Management (CRM): 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Efficiency: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itle 1"/>
          <p:cNvSpPr txBox="1"/>
          <p:nvPr/>
        </p:nvSpPr>
        <p:spPr>
          <a:xfrm>
            <a:off x="1331843" y="3163658"/>
            <a:ext cx="9144000" cy="5306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NEED OF EMS</a:t>
            </a:r>
            <a:endParaRPr lang="en-IN" sz="32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1364974" y="0"/>
            <a:ext cx="10827025" cy="587167"/>
          </a:xfrm>
        </p:spPr>
        <p:txBody>
          <a:bodyPr>
            <a:normAutofit fontScale="90000"/>
          </a:bodyPr>
          <a:lstStyle/>
          <a:p>
            <a:r>
              <a:rPr lang="en-US" altLang="en-US" sz="4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ENTERPRISE SOFTWARE: ERP/SCM/CRM</a:t>
            </a:r>
            <a:endParaRPr lang="en-IN" sz="4000" b="1" dirty="0">
              <a:solidFill>
                <a:srgbClr val="00B0F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18052" y="1072562"/>
            <a:ext cx="1155589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Enterprise software, also known as enterprise application software (EAS), is computer software used to satisfy the needs of an organization rather than individual users.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Enterprise  software  is  an  integral  part  of  a  CBIS  (Computer  Based Information System); a collection of such software is called an enterprise system.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i="1" dirty="0">
                <a:solidFill>
                  <a:srgbClr val="FF0000"/>
                </a:solidFill>
                <a:latin typeface="Corbel"/>
                <a:cs typeface="Corbel"/>
              </a:rPr>
              <a:t>A</a:t>
            </a:r>
            <a:r>
              <a:rPr lang="en-GB" sz="1800" spc="5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sz="1800" i="1" dirty="0">
                <a:solidFill>
                  <a:srgbClr val="FF0000"/>
                </a:solidFill>
                <a:latin typeface="Corbel"/>
                <a:cs typeface="Corbel"/>
              </a:rPr>
              <a:t>CBIS</a:t>
            </a:r>
            <a:r>
              <a:rPr lang="en-GB" sz="1800" spc="5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sz="1800" i="1" dirty="0">
                <a:solidFill>
                  <a:srgbClr val="FF0000"/>
                </a:solidFill>
                <a:latin typeface="Corbel"/>
                <a:cs typeface="Corbel"/>
              </a:rPr>
              <a:t>is</a:t>
            </a:r>
            <a:r>
              <a:rPr lang="en-GB" sz="1800" spc="5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sz="1800" i="1" dirty="0">
                <a:solidFill>
                  <a:srgbClr val="FF0000"/>
                </a:solidFill>
                <a:latin typeface="Corbel"/>
                <a:cs typeface="Corbel"/>
              </a:rPr>
              <a:t>an</a:t>
            </a:r>
            <a:r>
              <a:rPr lang="en-GB" sz="1800" spc="4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sz="1800" i="1" dirty="0">
                <a:solidFill>
                  <a:srgbClr val="FF0000"/>
                </a:solidFill>
                <a:latin typeface="Corbel"/>
                <a:cs typeface="Corbel"/>
              </a:rPr>
              <a:t>organized</a:t>
            </a:r>
            <a:r>
              <a:rPr lang="en-GB" sz="1800" spc="5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sz="1800" i="1" dirty="0">
                <a:solidFill>
                  <a:srgbClr val="FF0000"/>
                </a:solidFill>
                <a:latin typeface="Corbel"/>
                <a:cs typeface="Corbel"/>
              </a:rPr>
              <a:t>integration</a:t>
            </a:r>
            <a:r>
              <a:rPr lang="en-GB" sz="1800" spc="6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sz="1800" i="1" dirty="0">
                <a:solidFill>
                  <a:srgbClr val="FF0000"/>
                </a:solidFill>
                <a:latin typeface="Corbel"/>
                <a:cs typeface="Corbel"/>
              </a:rPr>
              <a:t>of</a:t>
            </a:r>
            <a:r>
              <a:rPr lang="en-GB" sz="1800" spc="4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sz="1800" i="1" dirty="0">
                <a:solidFill>
                  <a:srgbClr val="FF0000"/>
                </a:solidFill>
                <a:latin typeface="Corbel"/>
                <a:cs typeface="Corbel"/>
              </a:rPr>
              <a:t>hardware</a:t>
            </a:r>
            <a:r>
              <a:rPr lang="en-GB" sz="1800" spc="5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sz="1800" i="1" dirty="0">
                <a:solidFill>
                  <a:srgbClr val="FF0000"/>
                </a:solidFill>
                <a:latin typeface="Corbel"/>
                <a:cs typeface="Corbel"/>
              </a:rPr>
              <a:t>and</a:t>
            </a:r>
            <a:r>
              <a:rPr lang="en-GB" sz="1800" spc="5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sz="1800" i="1" dirty="0">
                <a:solidFill>
                  <a:srgbClr val="FF0000"/>
                </a:solidFill>
                <a:latin typeface="Corbel"/>
                <a:cs typeface="Corbel"/>
              </a:rPr>
              <a:t>software</a:t>
            </a:r>
            <a:r>
              <a:rPr lang="en-GB" sz="1800" spc="6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sz="1800" i="1" spc="-10" dirty="0">
                <a:solidFill>
                  <a:srgbClr val="FF0000"/>
                </a:solidFill>
                <a:latin typeface="Corbel"/>
                <a:cs typeface="Corbel"/>
              </a:rPr>
              <a:t>technologies</a:t>
            </a:r>
            <a:r>
              <a:rPr lang="en-GB" sz="1800" spc="-1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	</a:t>
            </a:r>
            <a:r>
              <a:rPr lang="en-GB" sz="1800" i="1" dirty="0">
                <a:solidFill>
                  <a:srgbClr val="FF0000"/>
                </a:solidFill>
                <a:latin typeface="Corbel"/>
                <a:cs typeface="Corbel"/>
              </a:rPr>
              <a:t>and</a:t>
            </a:r>
            <a:r>
              <a:rPr lang="en-GB" sz="1800" spc="1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sz="1800" i="1" dirty="0">
                <a:solidFill>
                  <a:srgbClr val="FF0000"/>
                </a:solidFill>
                <a:latin typeface="Corbel"/>
                <a:cs typeface="Corbel"/>
              </a:rPr>
              <a:t>human</a:t>
            </a:r>
            <a:r>
              <a:rPr lang="en-GB" sz="1800" spc="1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sz="1800" i="1" dirty="0">
                <a:solidFill>
                  <a:srgbClr val="FF0000"/>
                </a:solidFill>
                <a:latin typeface="Corbel"/>
                <a:cs typeface="Corbel"/>
              </a:rPr>
              <a:t>elements</a:t>
            </a:r>
            <a:r>
              <a:rPr lang="en-GB" sz="1800" spc="1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sz="1800" i="1" dirty="0">
                <a:solidFill>
                  <a:srgbClr val="FF0000"/>
                </a:solidFill>
                <a:latin typeface="Corbel"/>
                <a:cs typeface="Corbel"/>
              </a:rPr>
              <a:t>designed</a:t>
            </a:r>
            <a:r>
              <a:rPr lang="en-GB" sz="1800" spc="2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sz="1800" i="1" dirty="0">
                <a:solidFill>
                  <a:srgbClr val="FF0000"/>
                </a:solidFill>
                <a:latin typeface="Corbel"/>
                <a:cs typeface="Corbel"/>
              </a:rPr>
              <a:t>to</a:t>
            </a:r>
            <a:r>
              <a:rPr lang="en-GB" sz="1800" spc="1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sz="1800" i="1" dirty="0">
                <a:solidFill>
                  <a:srgbClr val="FF0000"/>
                </a:solidFill>
                <a:latin typeface="Corbel"/>
                <a:cs typeface="Corbel"/>
              </a:rPr>
              <a:t>produce</a:t>
            </a:r>
            <a:r>
              <a:rPr lang="en-GB" sz="1800" spc="1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sz="1800" i="1" dirty="0">
                <a:solidFill>
                  <a:srgbClr val="FF0000"/>
                </a:solidFill>
                <a:latin typeface="Corbel"/>
                <a:cs typeface="Corbel"/>
              </a:rPr>
              <a:t>timely,</a:t>
            </a:r>
            <a:r>
              <a:rPr lang="en-GB" sz="1800" spc="1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sz="1800" i="1" dirty="0">
                <a:solidFill>
                  <a:srgbClr val="FF0000"/>
                </a:solidFill>
                <a:latin typeface="Corbel"/>
                <a:cs typeface="Corbel"/>
              </a:rPr>
              <a:t>integrated,</a:t>
            </a:r>
            <a:r>
              <a:rPr lang="en-GB" sz="1800" spc="1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sz="1800" i="1" dirty="0">
                <a:solidFill>
                  <a:srgbClr val="FF0000"/>
                </a:solidFill>
                <a:latin typeface="Corbel"/>
                <a:cs typeface="Corbel"/>
              </a:rPr>
              <a:t>accurate</a:t>
            </a:r>
            <a:r>
              <a:rPr lang="en-GB" sz="1800" spc="1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sz="1800" i="1" spc="-25" dirty="0">
                <a:solidFill>
                  <a:srgbClr val="FF0000"/>
                </a:solidFill>
                <a:latin typeface="Corbel"/>
                <a:cs typeface="Corbel"/>
              </a:rPr>
              <a:t>and</a:t>
            </a:r>
            <a:r>
              <a:rPr lang="en-GB" sz="1800" spc="-2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sz="1800" i="1" spc="-10" dirty="0">
                <a:solidFill>
                  <a:srgbClr val="FF0000"/>
                </a:solidFill>
                <a:latin typeface="Corbel"/>
                <a:cs typeface="Corbel"/>
              </a:rPr>
              <a:t>useful</a:t>
            </a:r>
            <a:r>
              <a:rPr lang="en-GB" sz="1800" spc="-6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sz="1800" i="1" spc="-10" dirty="0">
                <a:solidFill>
                  <a:srgbClr val="FF0000"/>
                </a:solidFill>
                <a:latin typeface="Corbel"/>
                <a:cs typeface="Corbel"/>
              </a:rPr>
              <a:t>information</a:t>
            </a:r>
            <a:r>
              <a:rPr lang="en-GB" sz="1800" spc="-10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sz="1800" i="1" spc="-10" dirty="0">
                <a:solidFill>
                  <a:srgbClr val="FF0000"/>
                </a:solidFill>
                <a:latin typeface="Corbel"/>
                <a:cs typeface="Corbel"/>
              </a:rPr>
              <a:t>for</a:t>
            </a:r>
            <a:r>
              <a:rPr lang="en-GB" sz="1800" spc="-9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sz="1800" i="1" spc="-10" dirty="0">
                <a:solidFill>
                  <a:srgbClr val="FF0000"/>
                </a:solidFill>
                <a:latin typeface="Corbel"/>
                <a:cs typeface="Corbel"/>
              </a:rPr>
              <a:t>decision</a:t>
            </a:r>
            <a:r>
              <a:rPr lang="en-GB" sz="1800" spc="-8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sz="1800" i="1" spc="-10" dirty="0">
                <a:solidFill>
                  <a:srgbClr val="FF0000"/>
                </a:solidFill>
                <a:latin typeface="Corbel"/>
                <a:cs typeface="Corbel"/>
              </a:rPr>
              <a:t>making</a:t>
            </a:r>
            <a:r>
              <a:rPr lang="en-GB" sz="1800" spc="-9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sz="1800" i="1" spc="-10" dirty="0">
                <a:solidFill>
                  <a:srgbClr val="FF0000"/>
                </a:solidFill>
                <a:latin typeface="Corbel"/>
                <a:cs typeface="Corbel"/>
              </a:rPr>
              <a:t>purposes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3582" y="251791"/>
            <a:ext cx="10959547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7 Examples of Great Enterprise Software for 2024 | FounderJar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174" y="0"/>
            <a:ext cx="10535478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756453" y="146638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ENTERPRISE SYSTEMS</a:t>
            </a:r>
            <a:endParaRPr lang="en-IN" sz="24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3"/>
          <p:cNvSpPr txBox="1"/>
          <p:nvPr/>
        </p:nvSpPr>
        <p:spPr>
          <a:xfrm>
            <a:off x="0" y="965246"/>
            <a:ext cx="12192000" cy="282385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413385" indent="-400685">
              <a:lnSpc>
                <a:spcPct val="100000"/>
              </a:lnSpc>
              <a:spcBef>
                <a:spcPts val="500"/>
              </a:spcBef>
              <a:buAutoNum type="arabicPeriod"/>
              <a:tabLst>
                <a:tab pos="412750" algn="l"/>
              </a:tabLst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ERP - Enterprise Resource Planning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4030" lvl="1" indent="-240665">
              <a:lnSpc>
                <a:spcPct val="100000"/>
              </a:lnSpc>
              <a:spcBef>
                <a:spcPts val="340"/>
              </a:spcBef>
              <a:buFont typeface="Corbel"/>
              <a:buChar char="-"/>
              <a:tabLst>
                <a:tab pos="494030" algn="l"/>
              </a:tabLst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ERP is to improve and streamline internal business processes.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  <a:spcBef>
                <a:spcPts val="1590"/>
              </a:spcBef>
              <a:buClr>
                <a:srgbClr val="FFFF00"/>
              </a:buClr>
              <a:buFont typeface="Corbel"/>
              <a:buChar char="-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13385" indent="-400685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412750" algn="l"/>
              </a:tabLst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CRM - Customer Relationship Management.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4030" lvl="1" indent="-240665">
              <a:lnSpc>
                <a:spcPct val="100000"/>
              </a:lnSpc>
              <a:spcBef>
                <a:spcPts val="350"/>
              </a:spcBef>
              <a:buFont typeface="Corbel"/>
              <a:buChar char="-"/>
              <a:tabLst>
                <a:tab pos="494030" algn="l"/>
              </a:tabLst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CRM attempts to enhance the relationship with customers.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  <a:spcBef>
                <a:spcPts val="1580"/>
              </a:spcBef>
              <a:buClr>
                <a:srgbClr val="FFFF00"/>
              </a:buClr>
              <a:buFont typeface="Corbel"/>
              <a:buChar char="-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13385" indent="-400685">
              <a:lnSpc>
                <a:spcPct val="100000"/>
              </a:lnSpc>
              <a:buAutoNum type="arabicPeriod"/>
              <a:tabLst>
                <a:tab pos="412750" algn="l"/>
              </a:tabLst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SCM - Supply Chain Management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4030" marR="5080" lvl="1" indent="-241300">
              <a:lnSpc>
                <a:spcPts val="1880"/>
              </a:lnSpc>
              <a:spcBef>
                <a:spcPts val="595"/>
              </a:spcBef>
              <a:buFont typeface="Corbel"/>
              <a:buChar char="-"/>
              <a:tabLst>
                <a:tab pos="494030" algn="l"/>
                <a:tab pos="1089660" algn="l"/>
                <a:tab pos="1697355" algn="l"/>
                <a:tab pos="2060575" algn="l"/>
                <a:tab pos="3066415" algn="l"/>
                <a:tab pos="3544570" algn="l"/>
                <a:tab pos="4975860" algn="l"/>
                <a:tab pos="5970905" algn="l"/>
                <a:tab pos="6449695" algn="l"/>
                <a:tab pos="7898765" algn="l"/>
              </a:tabLst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facilitate	the	collaboration	between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organization,	its suppliers, the manufacturers, the distributors and the partners.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36035" y="146638"/>
            <a:ext cx="85211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500"/>
              </a:spcBef>
              <a:tabLst>
                <a:tab pos="412750" algn="l"/>
              </a:tabLst>
            </a:pPr>
            <a:r>
              <a:rPr lang="en-IN" sz="2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ERP - ENTERPRISE RESOURCE PLANNING</a:t>
            </a:r>
            <a:endParaRPr lang="en-IN" sz="28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object 48"/>
          <p:cNvSpPr txBox="1"/>
          <p:nvPr/>
        </p:nvSpPr>
        <p:spPr>
          <a:xfrm>
            <a:off x="1" y="408248"/>
            <a:ext cx="12191999" cy="112146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90"/>
              </a:spcBef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3365" indent="-240665">
              <a:lnSpc>
                <a:spcPct val="100000"/>
              </a:lnSpc>
              <a:buFont typeface="Microsoft Sans Serif" panose="020B0604020202020204"/>
              <a:buChar char="▪"/>
              <a:tabLst>
                <a:tab pos="253365" algn="l"/>
              </a:tabLst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ERP software can integrate all of the processes needed to run a company.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3365" indent="-240665">
              <a:lnSpc>
                <a:spcPct val="100000"/>
              </a:lnSpc>
              <a:buFont typeface="Microsoft Sans Serif" panose="020B0604020202020204"/>
              <a:buChar char="▪"/>
              <a:tabLst>
                <a:tab pos="253365" algn="l"/>
              </a:tabLst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refers to a type of software that organizations use to manage day-to-day business activities 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3365" indent="-240665">
              <a:lnSpc>
                <a:spcPct val="100000"/>
              </a:lnSpc>
              <a:buFont typeface="Microsoft Sans Serif" panose="020B0604020202020204"/>
              <a:buChar char="▪"/>
              <a:tabLst>
                <a:tab pos="253365" algn="l"/>
              </a:tabLst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 as accounting, procurement, project management, risk Management and compliance, and supply chain operations. 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2" descr="http://www.enterprisecioforum.com/sites/default/files/featured_img/online-erp-software-solution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0948" y="2033532"/>
            <a:ext cx="5410200" cy="4942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791817" y="1599088"/>
            <a:ext cx="1060836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500"/>
              </a:spcBef>
              <a:tabLst>
                <a:tab pos="412750" algn="l"/>
              </a:tabLst>
            </a:pPr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COMPONENTS OF ENTERPRISE RESOURCE PLANNING</a:t>
            </a:r>
            <a:endParaRPr lang="en-IN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57739" y="0"/>
            <a:ext cx="96475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500"/>
              </a:spcBef>
              <a:tabLst>
                <a:tab pos="412750" algn="l"/>
              </a:tabLst>
            </a:pPr>
            <a:r>
              <a:rPr lang="en-IN" sz="2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 OF ENTERPRISE RESOURCE PLANNING</a:t>
            </a:r>
            <a:endParaRPr lang="en-IN" sz="28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2" name="Picture 2" descr="What function does enterprise resource planning (ERP) serve? - Quora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523220"/>
            <a:ext cx="8733183" cy="5817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57739" y="0"/>
            <a:ext cx="96475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500"/>
              </a:spcBef>
              <a:tabLst>
                <a:tab pos="412750" algn="l"/>
              </a:tabLst>
            </a:pPr>
            <a:r>
              <a:rPr lang="en-IN" sz="2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BENEFITS OF ENTERPRISE RESOURCE PLANNING</a:t>
            </a:r>
            <a:endParaRPr lang="en-IN" sz="28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170" name="Picture 2" descr="Top 6 Benefits Of ERP Systems for Small and Mid-size Business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81" b="5860"/>
          <a:stretch>
            <a:fillRect/>
          </a:stretch>
        </p:blipFill>
        <p:spPr bwMode="auto">
          <a:xfrm>
            <a:off x="1333500" y="781878"/>
            <a:ext cx="9525000" cy="5565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7809" y="0"/>
            <a:ext cx="11277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500"/>
              </a:spcBef>
              <a:tabLst>
                <a:tab pos="412750" algn="l"/>
              </a:tabLst>
            </a:pPr>
            <a:r>
              <a:rPr lang="en-IN" sz="2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 OF ENTERPRISE RESOURCE PLANNING</a:t>
            </a:r>
            <a:endParaRPr lang="en-IN" sz="28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194" name="Picture 2" descr="Benefits of ERP: Main Advantages and Disadvantages in 2024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19" t="24699" r="3391" b="14290"/>
          <a:stretch>
            <a:fillRect/>
          </a:stretch>
        </p:blipFill>
        <p:spPr bwMode="auto">
          <a:xfrm>
            <a:off x="821634" y="1179444"/>
            <a:ext cx="10548731" cy="3922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7809" y="0"/>
            <a:ext cx="11277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500"/>
              </a:spcBef>
              <a:tabLst>
                <a:tab pos="412750" algn="l"/>
              </a:tabLst>
            </a:pPr>
            <a:r>
              <a:rPr lang="en-IN" sz="2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ENTERPRISE RESOURCE PLANNING</a:t>
            </a:r>
            <a:endParaRPr lang="en-IN" sz="28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4852" y="808384"/>
            <a:ext cx="9422296" cy="549965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7809" y="0"/>
            <a:ext cx="11277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500"/>
              </a:spcBef>
              <a:tabLst>
                <a:tab pos="412750" algn="l"/>
              </a:tabLst>
            </a:pPr>
            <a:r>
              <a:rPr lang="en-IN" sz="2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CRM [ Customer Relationship Management]</a:t>
            </a:r>
            <a:endParaRPr lang="en-IN" sz="28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009" y="523220"/>
            <a:ext cx="11781182" cy="7407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2095" marR="5080" indent="-240030" algn="just">
              <a:lnSpc>
                <a:spcPct val="80000"/>
              </a:lnSpc>
              <a:spcBef>
                <a:spcPts val="1580"/>
              </a:spcBef>
              <a:buFont typeface="Microsoft Sans Serif" panose="020B0604020202020204"/>
              <a:buChar char="▪"/>
              <a:tabLst>
                <a:tab pos="253365" algn="l"/>
              </a:tabLst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for managing 	all the company’s relationships and interactions with customers and potential customers.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2095" marR="5080" indent="-240030" algn="just">
              <a:lnSpc>
                <a:spcPct val="80000"/>
              </a:lnSpc>
              <a:spcBef>
                <a:spcPts val="1580"/>
              </a:spcBef>
              <a:buFont typeface="Microsoft Sans Serif" panose="020B0604020202020204"/>
              <a:buChar char="▪"/>
              <a:tabLst>
                <a:tab pos="253365" algn="l"/>
              </a:tabLst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2087" y="924098"/>
            <a:ext cx="9303026" cy="541068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7809" y="0"/>
            <a:ext cx="11277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500"/>
              </a:spcBef>
              <a:tabLst>
                <a:tab pos="412750" algn="l"/>
              </a:tabLst>
            </a:pPr>
            <a:r>
              <a:rPr lang="en-IN" sz="2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CRM [ Customer Relationship Management]</a:t>
            </a:r>
            <a:endParaRPr lang="en-IN" sz="28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 descr="CRM Definition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8069" y="523220"/>
            <a:ext cx="8203095" cy="6142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://www.ithinkinfotech.com/images/crm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0835" y="467140"/>
            <a:ext cx="7447720" cy="6390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259495" y="-13252"/>
            <a:ext cx="8229600" cy="768626"/>
          </a:xfrm>
        </p:spPr>
        <p:txBody>
          <a:bodyPr/>
          <a:lstStyle/>
          <a:p>
            <a:pPr algn="ctr"/>
            <a:r>
              <a:rPr lang="en-US" altLang="en-US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CRM STRATEGIES</a:t>
            </a:r>
            <a:endParaRPr lang="en-US" altLang="en-US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7809" y="0"/>
            <a:ext cx="11277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500"/>
              </a:spcBef>
              <a:tabLst>
                <a:tab pos="412750" algn="l"/>
              </a:tabLst>
            </a:pPr>
            <a:r>
              <a:rPr lang="en-IN" sz="2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CRM [ Customer Relationship Management]</a:t>
            </a:r>
            <a:endParaRPr lang="en-IN" sz="28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 descr="CRM Definition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97" b="12289"/>
          <a:stretch>
            <a:fillRect/>
          </a:stretch>
        </p:blipFill>
        <p:spPr bwMode="auto">
          <a:xfrm>
            <a:off x="1099930" y="914400"/>
            <a:ext cx="9541566" cy="4598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7809" y="0"/>
            <a:ext cx="11277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500"/>
              </a:spcBef>
              <a:tabLst>
                <a:tab pos="412750" algn="l"/>
              </a:tabLst>
            </a:pPr>
            <a:r>
              <a:rPr lang="en-IN" sz="2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CRM [ Customer Relationship Management]</a:t>
            </a:r>
            <a:endParaRPr lang="en-IN" sz="28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CRM Tools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165" y="622852"/>
            <a:ext cx="10296939" cy="6082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7809" y="0"/>
            <a:ext cx="11277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500"/>
              </a:spcBef>
              <a:tabLst>
                <a:tab pos="412750" algn="l"/>
              </a:tabLst>
            </a:pPr>
            <a:r>
              <a:rPr lang="en-IN" sz="2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CRM [ Customer Relationship Management]</a:t>
            </a:r>
            <a:endParaRPr lang="en-IN" sz="28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CRM Tools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9773" y="523220"/>
            <a:ext cx="8746435" cy="6334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7809" y="0"/>
            <a:ext cx="11277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500"/>
              </a:spcBef>
              <a:tabLst>
                <a:tab pos="412750" algn="l"/>
              </a:tabLst>
            </a:pPr>
            <a:r>
              <a:rPr lang="en-IN" sz="2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CRM [ Customer Relationship Management]</a:t>
            </a:r>
            <a:endParaRPr lang="en-IN" sz="28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930" y="523220"/>
            <a:ext cx="10310191" cy="5459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7809" y="0"/>
            <a:ext cx="11277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500"/>
              </a:spcBef>
              <a:tabLst>
                <a:tab pos="412750" algn="l"/>
              </a:tabLst>
            </a:pPr>
            <a:r>
              <a:rPr lang="en-IN" sz="2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CRM [ Customer Relationship Management]</a:t>
            </a:r>
            <a:endParaRPr lang="en-IN" sz="28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2" name="Picture 2" descr="Top CRM tools for your Business in 2019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034" y="692426"/>
            <a:ext cx="10243931" cy="5473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7809" y="0"/>
            <a:ext cx="11277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500"/>
              </a:spcBef>
              <a:tabLst>
                <a:tab pos="412750" algn="l"/>
              </a:tabLst>
            </a:pPr>
            <a:r>
              <a:rPr lang="en-IN" sz="2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SCM [ Supply Chain Management]</a:t>
            </a:r>
            <a:endParaRPr lang="en-IN" sz="28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33131" y="523220"/>
            <a:ext cx="1213236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the network of people, processes, and technologies that work together to get a product or service to the consumer. 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supply chain comprises a variety of operations, including the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getting of raw materials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 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 of items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their distribution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their delivery to end-users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2668" y="1446550"/>
            <a:ext cx="8266664" cy="5197373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7809" y="0"/>
            <a:ext cx="11277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500"/>
              </a:spcBef>
              <a:tabLst>
                <a:tab pos="412750" algn="l"/>
              </a:tabLst>
            </a:pPr>
            <a:r>
              <a:rPr lang="en-IN" sz="2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 of SCM [ Supply Chain Management]</a:t>
            </a:r>
            <a:endParaRPr lang="en-IN" sz="28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170" name="Picture 2" descr="Objectives of Supply Chain Management - Intellipaat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346" b="11198"/>
          <a:stretch>
            <a:fillRect/>
          </a:stretch>
        </p:blipFill>
        <p:spPr bwMode="auto">
          <a:xfrm>
            <a:off x="496957" y="1162878"/>
            <a:ext cx="10999303" cy="3846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7809" y="0"/>
            <a:ext cx="11277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500"/>
              </a:spcBef>
              <a:tabLst>
                <a:tab pos="412750" algn="l"/>
              </a:tabLst>
            </a:pPr>
            <a:r>
              <a:rPr lang="en-IN" sz="2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COMPONENTS of SCM [ Supply Chain Management]</a:t>
            </a:r>
            <a:endParaRPr lang="en-IN" sz="28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1"/>
          <a:srcRect t="24734" b="14203"/>
          <a:stretch>
            <a:fillRect/>
          </a:stretch>
        </p:blipFill>
        <p:spPr>
          <a:xfrm>
            <a:off x="1404730" y="689114"/>
            <a:ext cx="9409044" cy="560567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No.97 ~ Advantages of Supply Chain Management (Hindi) #scm #supplychain  #supplychainmanagement - YouTube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830" b="13591"/>
          <a:stretch>
            <a:fillRect/>
          </a:stretch>
        </p:blipFill>
        <p:spPr bwMode="auto">
          <a:xfrm>
            <a:off x="1020417" y="357809"/>
            <a:ext cx="9819861" cy="5645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2453" y="394252"/>
            <a:ext cx="9727094" cy="606949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2446020" y="0"/>
            <a:ext cx="8750935" cy="460375"/>
          </a:xfrm>
          <a:prstGeom prst="rect">
            <a:avLst/>
          </a:prstGeom>
          <a:noFill/>
        </p:spPr>
        <p:txBody>
          <a:bodyPr wrap="none" rtlCol="0" anchor="t">
            <a:spAutoFit/>
            <a:scene3d>
              <a:camera prst="orthographicFront"/>
              <a:lightRig rig="threePt" dir="t"/>
            </a:scene3d>
          </a:bodyPr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Information Management and Technology of Enterprise Software</a:t>
            </a:r>
            <a:endParaRPr lang="en-US" altLang="en-US" sz="24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latin typeface="Times New Roman Bold" panose="02020603050405020304" charset="0"/>
              <a:cs typeface="Times New Roman Bold" panose="02020603050405020304" charset="0"/>
              <a:sym typeface="+mn-ea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4885" y="1621155"/>
            <a:ext cx="7682230" cy="485203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421005" y="612140"/>
            <a:ext cx="1131951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Wingdings" panose="05000000000000000000" charset="0"/>
              <a:buChar char=""/>
            </a:pPr>
            <a:r>
              <a:rPr lang="en-US">
                <a:latin typeface="times" charset="0"/>
                <a:cs typeface="times" charset="0"/>
              </a:rPr>
              <a:t>It is the collection, storage, management and maintenance of data and other types of information</a:t>
            </a:r>
            <a:endParaRPr lang="en-US">
              <a:latin typeface="times" charset="0"/>
              <a:cs typeface="times" charset="0"/>
            </a:endParaRPr>
          </a:p>
          <a:p>
            <a:pPr marL="285750" indent="-285750">
              <a:buFont typeface="Wingdings" panose="05000000000000000000" charset="0"/>
              <a:buChar char=""/>
            </a:pPr>
            <a:r>
              <a:rPr lang="en-US">
                <a:latin typeface="times" charset="0"/>
                <a:cs typeface="times" charset="0"/>
              </a:rPr>
              <a:t>Managing the vital aspect of data that allows to make better decisions and achieve goals. </a:t>
            </a:r>
            <a:endParaRPr lang="en-US">
              <a:latin typeface="times" charset="0"/>
              <a:cs typeface="times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34135" y="90488"/>
            <a:ext cx="10325100" cy="688975"/>
          </a:xfrm>
          <a:prstGeom prst="rect">
            <a:avLst/>
          </a:prstGeom>
        </p:spPr>
        <p:txBody>
          <a:bodyPr vert="horz" wrap="square" lIns="0" tIns="12092" rIns="0" bIns="0" rtlCol="0">
            <a:spAutoFit/>
            <a:scene3d>
              <a:camera prst="orthographicFront"/>
              <a:lightRig rig="threePt" dir="t"/>
            </a:scene3d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  <a:tabLst>
                <a:tab pos="2171700" algn="l"/>
                <a:tab pos="2758440" algn="l"/>
                <a:tab pos="4918075" algn="l"/>
              </a:tabLst>
            </a:pPr>
            <a:r>
              <a:rPr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" charset="0"/>
                <a:cs typeface="times" charset="0"/>
              </a:rPr>
              <a:t>Technology</a:t>
            </a:r>
            <a:r>
              <a:rPr 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" charset="0"/>
                <a:cs typeface="times" charset="0"/>
              </a:rPr>
              <a:t> </a:t>
            </a:r>
            <a:r>
              <a:rPr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" charset="0"/>
                <a:cs typeface="times" charset="0"/>
              </a:rPr>
              <a:t>of</a:t>
            </a:r>
            <a:r>
              <a:rPr 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" charset="0"/>
                <a:cs typeface="times" charset="0"/>
              </a:rPr>
              <a:t> </a:t>
            </a:r>
            <a:r>
              <a:rPr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" charset="0"/>
                <a:cs typeface="times" charset="0"/>
              </a:rPr>
              <a:t>Enterprise</a:t>
            </a:r>
            <a:r>
              <a:rPr 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" charset="0"/>
                <a:cs typeface="times" charset="0"/>
              </a:rPr>
              <a:t> </a:t>
            </a:r>
            <a:r>
              <a:rPr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" charset="0"/>
                <a:cs typeface="times" charset="0"/>
              </a:rPr>
              <a:t>Software</a:t>
            </a:r>
            <a:endParaRPr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latin typeface="times" charset="0"/>
              <a:cs typeface="times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-635" y="1329055"/>
            <a:ext cx="7158990" cy="4579620"/>
          </a:xfrm>
          <a:prstGeom prst="rect">
            <a:avLst/>
          </a:prstGeom>
        </p:spPr>
        <p:txBody>
          <a:bodyPr vert="horz" wrap="square" lIns="0" tIns="1364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t>Top 10 Popular Technologies For Enterprise Software Development:</a:t>
            </a:r>
          </a:p>
          <a:p>
            <a:pPr marL="413385" indent="-400685">
              <a:lnSpc>
                <a:spcPct val="100000"/>
              </a:lnSpc>
              <a:spcBef>
                <a:spcPts val="1090"/>
              </a:spcBef>
              <a:buAutoNum type="arabicPeriod"/>
              <a:tabLst>
                <a:tab pos="412750" algn="l"/>
              </a:tabLst>
            </a:pPr>
            <a:r>
              <a:t>.NET Core</a:t>
            </a:r>
          </a:p>
          <a:p>
            <a:pPr marL="413385" indent="-400685">
              <a:lnSpc>
                <a:spcPct val="100000"/>
              </a:lnSpc>
              <a:spcBef>
                <a:spcPts val="1090"/>
              </a:spcBef>
              <a:buAutoNum type="arabicPeriod"/>
              <a:tabLst>
                <a:tab pos="412750" algn="l"/>
              </a:tabLst>
            </a:pPr>
            <a:r>
              <a:t>Artificial Intelligence (AI)</a:t>
            </a:r>
          </a:p>
          <a:p>
            <a:pPr marL="413385" indent="-400685">
              <a:lnSpc>
                <a:spcPct val="100000"/>
              </a:lnSpc>
              <a:spcBef>
                <a:spcPts val="1095"/>
              </a:spcBef>
              <a:buAutoNum type="arabicPeriod"/>
              <a:tabLst>
                <a:tab pos="412750" algn="l"/>
              </a:tabLst>
            </a:pPr>
            <a:r>
              <a:t>Internet of Things (IoT)</a:t>
            </a:r>
          </a:p>
          <a:p>
            <a:pPr marL="413385" indent="-400685">
              <a:lnSpc>
                <a:spcPct val="100000"/>
              </a:lnSpc>
              <a:spcBef>
                <a:spcPts val="1090"/>
              </a:spcBef>
              <a:buAutoNum type="arabicPeriod"/>
              <a:tabLst>
                <a:tab pos="412750" algn="l"/>
              </a:tabLst>
            </a:pPr>
            <a:r>
              <a:t>Information Security/DevSecOps (DevOps + Security)</a:t>
            </a:r>
          </a:p>
          <a:p>
            <a:pPr marL="413385" indent="-400685">
              <a:lnSpc>
                <a:spcPct val="100000"/>
              </a:lnSpc>
              <a:spcBef>
                <a:spcPts val="1080"/>
              </a:spcBef>
              <a:buAutoNum type="arabicPeriod"/>
              <a:tabLst>
                <a:tab pos="412750" algn="l"/>
              </a:tabLst>
            </a:pPr>
            <a:r>
              <a:t>Serverless Computing And Microservices</a:t>
            </a:r>
          </a:p>
          <a:p>
            <a:pPr marL="413385" indent="-400685">
              <a:lnSpc>
                <a:spcPct val="100000"/>
              </a:lnSpc>
              <a:spcBef>
                <a:spcPts val="1095"/>
              </a:spcBef>
              <a:buAutoNum type="arabicPeriod"/>
              <a:tabLst>
                <a:tab pos="412750" algn="l"/>
              </a:tabLst>
            </a:pPr>
            <a:r>
              <a:t>Predictive Analytics</a:t>
            </a:r>
          </a:p>
          <a:p>
            <a:pPr marL="413385" indent="-400685">
              <a:lnSpc>
                <a:spcPct val="100000"/>
              </a:lnSpc>
              <a:spcBef>
                <a:spcPts val="1090"/>
              </a:spcBef>
              <a:buAutoNum type="arabicPeriod"/>
              <a:tabLst>
                <a:tab pos="412750" algn="l"/>
              </a:tabLst>
            </a:pPr>
            <a:r>
              <a:t>Angular JS</a:t>
            </a:r>
          </a:p>
          <a:p>
            <a:pPr marL="413385" indent="-400685">
              <a:lnSpc>
                <a:spcPct val="100000"/>
              </a:lnSpc>
              <a:spcBef>
                <a:spcPts val="1090"/>
              </a:spcBef>
              <a:buAutoNum type="arabicPeriod"/>
              <a:tabLst>
                <a:tab pos="412750" algn="l"/>
              </a:tabLst>
            </a:pPr>
            <a:r>
              <a:t>Cloud Computing</a:t>
            </a:r>
          </a:p>
          <a:p>
            <a:pPr marL="413385" indent="-400685">
              <a:lnSpc>
                <a:spcPct val="100000"/>
              </a:lnSpc>
              <a:spcBef>
                <a:spcPts val="1095"/>
              </a:spcBef>
              <a:buAutoNum type="arabicPeriod"/>
              <a:tabLst>
                <a:tab pos="412750" algn="l"/>
              </a:tabLst>
            </a:pPr>
            <a:r>
              <a:t>Container Technology (Kubernetes, Docker)</a:t>
            </a:r>
          </a:p>
          <a:p>
            <a:pPr marL="413385" indent="-400685">
              <a:lnSpc>
                <a:spcPct val="100000"/>
              </a:lnSpc>
              <a:spcBef>
                <a:spcPts val="1080"/>
              </a:spcBef>
              <a:buAutoNum type="arabicPeriod"/>
              <a:tabLst>
                <a:tab pos="412750" algn="l"/>
              </a:tabLst>
            </a:pPr>
            <a:r>
              <a:t>DevOps</a:t>
            </a:r>
          </a:p>
        </p:txBody>
      </p:sp>
      <p:pic>
        <p:nvPicPr>
          <p:cNvPr id="5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20940" y="1824990"/>
            <a:ext cx="3803650" cy="328231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5790" y="335915"/>
            <a:ext cx="11473815" cy="443865"/>
          </a:xfrm>
          <a:prstGeom prst="rect">
            <a:avLst/>
          </a:prstGeom>
        </p:spPr>
        <p:txBody>
          <a:bodyPr vert="horz" wrap="square" lIns="0" tIns="54702" rIns="0" bIns="0" rtlCol="0">
            <a:spAutoFit/>
            <a:scene3d>
              <a:camera prst="orthographicFront"/>
              <a:lightRig rig="threePt" dir="t"/>
            </a:scene3d>
          </a:bodyPr>
          <a:lstStyle/>
          <a:p>
            <a:pPr marL="1876425" marR="5080" indent="-1864360" algn="ctr">
              <a:lnSpc>
                <a:spcPts val="3040"/>
              </a:lnSpc>
              <a:spcBef>
                <a:spcPts val="475"/>
              </a:spcBef>
              <a:tabLst>
                <a:tab pos="1778635" algn="l"/>
                <a:tab pos="3544570" algn="l"/>
                <a:tab pos="4131945" algn="l"/>
              </a:tabLst>
            </a:pPr>
            <a:r>
              <a:rPr sz="3600" spc="-1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Service</a:t>
            </a:r>
            <a:r>
              <a:rPr lang="en-US" sz="3600" spc="-1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s </a:t>
            </a:r>
            <a:r>
              <a:rPr sz="3600" spc="-1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Provided</a:t>
            </a:r>
            <a:r>
              <a:rPr lang="en-US" sz="3600" spc="-1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 </a:t>
            </a:r>
            <a:r>
              <a:rPr sz="3600" spc="-25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by</a:t>
            </a:r>
            <a:r>
              <a:rPr lang="en-US" sz="3600" spc="-25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 </a:t>
            </a:r>
            <a:r>
              <a:rPr sz="3600" spc="-1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Enterprise</a:t>
            </a:r>
            <a:r>
              <a:rPr sz="3600" b="0" spc="-1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spc="-1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Applications</a:t>
            </a:r>
            <a:endParaRPr sz="3600" spc="-1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80695" y="1861820"/>
            <a:ext cx="5814060" cy="3444875"/>
          </a:xfrm>
          <a:prstGeom prst="rect">
            <a:avLst/>
          </a:prstGeom>
        </p:spPr>
        <p:txBody>
          <a:bodyPr vert="horz" wrap="square" lIns="0" tIns="90979" rIns="0" bIns="0" rtlCol="0">
            <a:spAutoFit/>
          </a:bodyPr>
          <a:lstStyle/>
          <a:p>
            <a:pPr marL="253365" marR="541655" indent="-241300">
              <a:lnSpc>
                <a:spcPct val="71000"/>
              </a:lnSpc>
              <a:spcBef>
                <a:spcPts val="790"/>
              </a:spcBef>
              <a:buFont typeface="Microsoft Sans Serif" panose="020B0604020202020204"/>
              <a:buChar char="▪"/>
              <a:tabLst>
                <a:tab pos="253365" algn="l"/>
                <a:tab pos="1048385" algn="l"/>
                <a:tab pos="2220595" algn="l"/>
                <a:tab pos="2772410" algn="l"/>
              </a:tabLst>
            </a:pPr>
            <a:r>
              <a:t>online	shopping,	and	online processing,</a:t>
            </a:r>
          </a:p>
          <a:p>
            <a:pPr marL="253365" indent="-240665">
              <a:lnSpc>
                <a:spcPct val="100000"/>
              </a:lnSpc>
              <a:spcBef>
                <a:spcPts val="925"/>
              </a:spcBef>
              <a:buFont typeface="Microsoft Sans Serif" panose="020B0604020202020204"/>
              <a:buChar char="▪"/>
              <a:tabLst>
                <a:tab pos="253365" algn="l"/>
              </a:tabLst>
            </a:pPr>
            <a:r>
              <a:t>interactive product catalogue,</a:t>
            </a:r>
          </a:p>
          <a:p>
            <a:pPr marL="253365" indent="-240665">
              <a:lnSpc>
                <a:spcPct val="100000"/>
              </a:lnSpc>
              <a:spcBef>
                <a:spcPts val="910"/>
              </a:spcBef>
              <a:buFont typeface="Microsoft Sans Serif" panose="020B0604020202020204"/>
              <a:buChar char="▪"/>
              <a:tabLst>
                <a:tab pos="253365" algn="l"/>
              </a:tabLst>
            </a:pPr>
            <a:r>
              <a:t>automated billing systems,</a:t>
            </a:r>
          </a:p>
          <a:p>
            <a:pPr marL="253365" indent="-240665">
              <a:lnSpc>
                <a:spcPct val="100000"/>
              </a:lnSpc>
              <a:spcBef>
                <a:spcPts val="925"/>
              </a:spcBef>
              <a:buFont typeface="Microsoft Sans Serif" panose="020B0604020202020204"/>
              <a:buChar char="▪"/>
              <a:tabLst>
                <a:tab pos="253365" algn="l"/>
              </a:tabLst>
            </a:pPr>
            <a:r>
              <a:t>security</a:t>
            </a:r>
          </a:p>
          <a:p>
            <a:pPr marL="253365" indent="-240665">
              <a:lnSpc>
                <a:spcPct val="100000"/>
              </a:lnSpc>
              <a:spcBef>
                <a:spcPts val="910"/>
              </a:spcBef>
              <a:buFont typeface="Microsoft Sans Serif" panose="020B0604020202020204"/>
              <a:buChar char="▪"/>
              <a:tabLst>
                <a:tab pos="253365" algn="l"/>
              </a:tabLst>
            </a:pPr>
            <a:r>
              <a:t>Business Process Management,</a:t>
            </a:r>
          </a:p>
          <a:p>
            <a:pPr marL="253365" indent="-240665">
              <a:lnSpc>
                <a:spcPct val="100000"/>
              </a:lnSpc>
              <a:spcBef>
                <a:spcPts val="925"/>
              </a:spcBef>
              <a:buFont typeface="Microsoft Sans Serif" panose="020B0604020202020204"/>
              <a:buChar char="▪"/>
              <a:tabLst>
                <a:tab pos="253365" algn="l"/>
              </a:tabLst>
            </a:pPr>
            <a:r>
              <a:t>enterprise content management,</a:t>
            </a:r>
          </a:p>
          <a:p>
            <a:pPr marL="253365" indent="-240665">
              <a:lnSpc>
                <a:spcPct val="100000"/>
              </a:lnSpc>
              <a:spcBef>
                <a:spcPts val="910"/>
              </a:spcBef>
              <a:buFont typeface="Microsoft Sans Serif" panose="020B0604020202020204"/>
              <a:buChar char="▪"/>
              <a:tabLst>
                <a:tab pos="253365" algn="l"/>
              </a:tabLst>
            </a:pPr>
            <a:r>
              <a:t>IT Service Management,</a:t>
            </a:r>
          </a:p>
          <a:p>
            <a:pPr marL="253365" indent="-240665">
              <a:lnSpc>
                <a:spcPct val="100000"/>
              </a:lnSpc>
              <a:spcBef>
                <a:spcPts val="925"/>
              </a:spcBef>
              <a:buFont typeface="Microsoft Sans Serif" panose="020B0604020202020204"/>
              <a:buChar char="▪"/>
              <a:tabLst>
                <a:tab pos="253365" algn="l"/>
              </a:tabLst>
            </a:pPr>
            <a:r>
              <a:t>customer relationship management,</a:t>
            </a:r>
          </a:p>
          <a:p>
            <a:pPr marL="253365" indent="-240665">
              <a:lnSpc>
                <a:spcPct val="100000"/>
              </a:lnSpc>
              <a:spcBef>
                <a:spcPts val="915"/>
              </a:spcBef>
              <a:buFont typeface="Microsoft Sans Serif" panose="020B0604020202020204"/>
              <a:buChar char="▪"/>
              <a:tabLst>
                <a:tab pos="253365" algn="l"/>
              </a:tabLst>
            </a:pPr>
            <a:r>
              <a:t>enterprise resource </a:t>
            </a:r>
            <a:r>
              <a:t>planning,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93388" y="2337828"/>
            <a:ext cx="901156" cy="546735"/>
          </a:xfrm>
          <a:prstGeom prst="rect">
            <a:avLst/>
          </a:prstGeom>
        </p:spPr>
        <p:txBody>
          <a:bodyPr vert="horz" wrap="square" lIns="0" tIns="14971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1725" spc="-10" dirty="0">
                <a:solidFill>
                  <a:srgbClr val="FFFFFF"/>
                </a:solidFill>
                <a:latin typeface="Corbel"/>
                <a:cs typeface="Corbel"/>
              </a:rPr>
              <a:t>payment</a:t>
            </a:r>
            <a:r>
              <a:rPr sz="1725" spc="-10" dirty="0">
                <a:solidFill>
                  <a:srgbClr val="FFFFFF"/>
                </a:solidFill>
                <a:latin typeface="Microsoft Sans Serif" panose="020B0604020202020204"/>
                <a:cs typeface="Microsoft Sans Serif" panose="020B0604020202020204"/>
              </a:rPr>
              <a:t>▪</a:t>
            </a:r>
            <a:endParaRPr sz="1725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24320" y="2047875"/>
            <a:ext cx="4578350" cy="2762250"/>
          </a:xfrm>
          <a:prstGeom prst="rect">
            <a:avLst/>
          </a:prstGeom>
        </p:spPr>
        <p:txBody>
          <a:bodyPr vert="horz" wrap="square" lIns="0" tIns="116891" rIns="0" bIns="0" rtlCol="0">
            <a:spAutoFit/>
          </a:bodyPr>
          <a:lstStyle/>
          <a:p>
            <a:pPr marL="253365" indent="-240665">
              <a:lnSpc>
                <a:spcPct val="100000"/>
              </a:lnSpc>
              <a:spcBef>
                <a:spcPts val="925"/>
              </a:spcBef>
              <a:buFont typeface="Microsoft Sans Serif" panose="020B0604020202020204"/>
              <a:buChar char="▪"/>
              <a:tabLst>
                <a:tab pos="253365" algn="l"/>
              </a:tabLst>
            </a:pPr>
            <a:r>
              <a:t>project management,</a:t>
            </a:r>
          </a:p>
          <a:p>
            <a:pPr marL="253365" indent="-240665">
              <a:lnSpc>
                <a:spcPct val="100000"/>
              </a:lnSpc>
              <a:spcBef>
                <a:spcPts val="910"/>
              </a:spcBef>
              <a:buFont typeface="Microsoft Sans Serif" panose="020B0604020202020204"/>
              <a:buChar char="▪"/>
              <a:tabLst>
                <a:tab pos="253365" algn="l"/>
              </a:tabLst>
            </a:pPr>
            <a:r>
              <a:t>collaboration,</a:t>
            </a:r>
          </a:p>
          <a:p>
            <a:pPr marL="253365" indent="-240665">
              <a:lnSpc>
                <a:spcPct val="100000"/>
              </a:lnSpc>
              <a:spcBef>
                <a:spcPts val="925"/>
              </a:spcBef>
              <a:buFont typeface="Microsoft Sans Serif" panose="020B0604020202020204"/>
              <a:buChar char="▪"/>
              <a:tabLst>
                <a:tab pos="253365" algn="l"/>
              </a:tabLst>
            </a:pPr>
            <a:r>
              <a:t>human resource management,</a:t>
            </a:r>
          </a:p>
          <a:p>
            <a:pPr marL="253365" indent="-240665">
              <a:lnSpc>
                <a:spcPct val="100000"/>
              </a:lnSpc>
              <a:spcBef>
                <a:spcPts val="915"/>
              </a:spcBef>
              <a:buFont typeface="Microsoft Sans Serif" panose="020B0604020202020204"/>
              <a:buChar char="▪"/>
              <a:tabLst>
                <a:tab pos="253365" algn="l"/>
              </a:tabLst>
            </a:pPr>
            <a:r>
              <a:t>manufacturing,</a:t>
            </a:r>
          </a:p>
          <a:p>
            <a:pPr marL="253365" indent="-240665">
              <a:lnSpc>
                <a:spcPct val="100000"/>
              </a:lnSpc>
              <a:spcBef>
                <a:spcPts val="920"/>
              </a:spcBef>
              <a:buFont typeface="Microsoft Sans Serif" panose="020B0604020202020204"/>
              <a:buChar char="▪"/>
              <a:tabLst>
                <a:tab pos="253365" algn="l"/>
              </a:tabLst>
            </a:pPr>
            <a:r>
              <a:t>occupational health and safety,</a:t>
            </a:r>
          </a:p>
          <a:p>
            <a:pPr marL="253365" indent="-240665">
              <a:lnSpc>
                <a:spcPct val="100000"/>
              </a:lnSpc>
              <a:spcBef>
                <a:spcPts val="915"/>
              </a:spcBef>
              <a:buFont typeface="Microsoft Sans Serif" panose="020B0604020202020204"/>
              <a:buChar char="▪"/>
              <a:tabLst>
                <a:tab pos="253365" algn="l"/>
              </a:tabLst>
            </a:pPr>
            <a:r>
              <a:t>enterprise application integration, and</a:t>
            </a:r>
          </a:p>
          <a:p>
            <a:pPr marL="253365" indent="-240665">
              <a:lnSpc>
                <a:spcPct val="100000"/>
              </a:lnSpc>
              <a:spcBef>
                <a:spcPts val="925"/>
              </a:spcBef>
              <a:buFont typeface="Microsoft Sans Serif" panose="020B0604020202020204"/>
              <a:buChar char="▪"/>
              <a:tabLst>
                <a:tab pos="253365" algn="l"/>
              </a:tabLst>
            </a:pPr>
            <a:r>
              <a:t>enterprise forms </a:t>
            </a:r>
            <a:r>
              <a:t>automation.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09550" y="869315"/>
            <a:ext cx="11870055" cy="291465"/>
          </a:xfrm>
          <a:prstGeom prst="rect">
            <a:avLst/>
          </a:prstGeom>
        </p:spPr>
        <p:txBody>
          <a:bodyPr vert="horz" wrap="square" lIns="0" tIns="1497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t>Services provided by enterprise software are typically business-oriented tools, such </a:t>
            </a:r>
            <a:r>
              <a:t>as: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5790" y="335915"/>
            <a:ext cx="11473815" cy="443865"/>
          </a:xfrm>
          <a:prstGeom prst="rect">
            <a:avLst/>
          </a:prstGeom>
        </p:spPr>
        <p:txBody>
          <a:bodyPr vert="horz" wrap="square" lIns="0" tIns="54702" rIns="0" bIns="0" rtlCol="0">
            <a:spAutoFit/>
            <a:scene3d>
              <a:camera prst="orthographicFront"/>
              <a:lightRig rig="threePt" dir="t"/>
            </a:scene3d>
          </a:bodyPr>
          <a:lstStyle/>
          <a:p>
            <a:pPr marL="1876425" marR="5080" indent="-1864360" algn="ctr">
              <a:lnSpc>
                <a:spcPts val="3040"/>
              </a:lnSpc>
              <a:spcBef>
                <a:spcPts val="475"/>
              </a:spcBef>
              <a:tabLst>
                <a:tab pos="1778635" algn="l"/>
                <a:tab pos="3544570" algn="l"/>
                <a:tab pos="4131945" algn="l"/>
              </a:tabLst>
            </a:pPr>
            <a:r>
              <a:rPr lang="en-US" sz="3600" spc="-1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IT and IS </a:t>
            </a:r>
            <a:endParaRPr sz="3600" spc="-1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</a:endParaRPr>
          </a:p>
        </p:txBody>
      </p:sp>
      <p:pic>
        <p:nvPicPr>
          <p:cNvPr id="7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781432" y="779525"/>
            <a:ext cx="7330440" cy="5550408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5790" y="335915"/>
            <a:ext cx="11473815" cy="443865"/>
          </a:xfrm>
          <a:prstGeom prst="rect">
            <a:avLst/>
          </a:prstGeom>
        </p:spPr>
        <p:txBody>
          <a:bodyPr vert="horz" wrap="square" lIns="0" tIns="54702" rIns="0" bIns="0" rtlCol="0">
            <a:spAutoFit/>
            <a:scene3d>
              <a:camera prst="orthographicFront"/>
              <a:lightRig rig="threePt" dir="t"/>
            </a:scene3d>
          </a:bodyPr>
          <a:lstStyle/>
          <a:p>
            <a:pPr marL="1876425" marR="5080" indent="-1864360" algn="ctr">
              <a:lnSpc>
                <a:spcPts val="3040"/>
              </a:lnSpc>
              <a:spcBef>
                <a:spcPts val="475"/>
              </a:spcBef>
              <a:tabLst>
                <a:tab pos="1778635" algn="l"/>
                <a:tab pos="3544570" algn="l"/>
                <a:tab pos="4131945" algn="l"/>
              </a:tabLst>
            </a:pPr>
            <a:r>
              <a:rPr lang="en-US" sz="3600" spc="-1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IS vs IT</a:t>
            </a:r>
            <a:endParaRPr lang="en-US" sz="3600" spc="-1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93388" y="2337828"/>
            <a:ext cx="901156" cy="546735"/>
          </a:xfrm>
          <a:prstGeom prst="rect">
            <a:avLst/>
          </a:prstGeom>
        </p:spPr>
        <p:txBody>
          <a:bodyPr vert="horz" wrap="square" lIns="0" tIns="14971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1725" spc="-10" dirty="0">
                <a:solidFill>
                  <a:srgbClr val="FFFFFF"/>
                </a:solidFill>
                <a:latin typeface="Corbel"/>
                <a:cs typeface="Corbel"/>
              </a:rPr>
              <a:t>payment</a:t>
            </a:r>
            <a:r>
              <a:rPr sz="1725" spc="-10" dirty="0">
                <a:solidFill>
                  <a:srgbClr val="FFFFFF"/>
                </a:solidFill>
                <a:latin typeface="Microsoft Sans Serif" panose="020B0604020202020204"/>
                <a:cs typeface="Microsoft Sans Serif" panose="020B0604020202020204"/>
              </a:rPr>
              <a:t>▪</a:t>
            </a:r>
            <a:endParaRPr sz="1725">
              <a:latin typeface="Microsoft Sans Serif" panose="020B0604020202020204"/>
              <a:cs typeface="Microsoft Sans Serif" panose="020B0604020202020204"/>
            </a:endParaRPr>
          </a:p>
        </p:txBody>
      </p:sp>
      <p:pic>
        <p:nvPicPr>
          <p:cNvPr id="7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192020" y="932180"/>
            <a:ext cx="8618220" cy="575373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187643"/>
            <a:ext cx="10916285" cy="750570"/>
          </a:xfrm>
          <a:prstGeom prst="rect">
            <a:avLst/>
          </a:prstGeom>
        </p:spPr>
        <p:txBody>
          <a:bodyPr vert="horz" wrap="square" lIns="0" tIns="12092" rIns="0" bIns="0" rtlCol="0">
            <a:spAutoFit/>
            <a:scene3d>
              <a:camera prst="orthographicFront"/>
              <a:lightRig rig="threePt" dir="t"/>
            </a:scene3d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994410" algn="l"/>
                <a:tab pos="1581785" algn="l"/>
                <a:tab pos="2171700" algn="l"/>
                <a:tab pos="2758440" algn="l"/>
                <a:tab pos="4918075" algn="l"/>
              </a:tabLst>
            </a:pPr>
            <a:r>
              <a:rPr sz="48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Role</a:t>
            </a:r>
            <a:r>
              <a:rPr lang="en-US" sz="48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 </a:t>
            </a:r>
            <a:r>
              <a:rPr sz="48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of	IS	</a:t>
            </a:r>
            <a:r>
              <a:rPr lang="en-US" sz="48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 </a:t>
            </a:r>
            <a:r>
              <a:rPr sz="48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in</a:t>
            </a:r>
            <a:r>
              <a:rPr lang="en-US" sz="48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 </a:t>
            </a:r>
            <a:r>
              <a:rPr sz="48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Enterprise</a:t>
            </a:r>
            <a:r>
              <a:rPr lang="en-US" sz="48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 </a:t>
            </a:r>
            <a:r>
              <a:rPr sz="48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Management</a:t>
            </a:r>
            <a:endParaRPr sz="48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8610600" y="6468745"/>
            <a:ext cx="2743200" cy="140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95"/>
              </a:lnSpc>
            </a:pPr>
            <a:fld id="{81D60167-4931-47E6-BA6A-407CBD079E47}" type="slidenum">
              <a:rPr sz="1090" spc="-25" dirty="0"/>
            </a:fld>
            <a:endParaRPr sz="1090"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466725" y="1035685"/>
            <a:ext cx="8837930" cy="3242310"/>
          </a:xfrm>
          <a:prstGeom prst="rect">
            <a:avLst/>
          </a:prstGeom>
        </p:spPr>
        <p:txBody>
          <a:bodyPr vert="horz" wrap="square" lIns="0" tIns="14971" rIns="0" bIns="0" rtlCol="0">
            <a:spAutoFit/>
          </a:bodyPr>
          <a:lstStyle/>
          <a:p>
            <a:pPr marL="0" indent="0" algn="just">
              <a:lnSpc>
                <a:spcPct val="100000"/>
              </a:lnSpc>
              <a:spcBef>
                <a:spcPts val="130"/>
              </a:spcBef>
              <a:buNone/>
            </a:pPr>
            <a:r>
              <a:rPr lang="en-US" sz="2000">
                <a:latin typeface="times" charset="0"/>
                <a:cs typeface="times" charset="0"/>
              </a:rPr>
              <a:t>1. </a:t>
            </a:r>
            <a:r>
              <a:rPr sz="2000">
                <a:latin typeface="times" charset="0"/>
                <a:cs typeface="times" charset="0"/>
              </a:rPr>
              <a:t>Automation of Manual Tasks</a:t>
            </a:r>
            <a:endParaRPr sz="2000">
              <a:latin typeface="times" charset="0"/>
              <a:cs typeface="times" charset="0"/>
            </a:endParaRPr>
          </a:p>
          <a:p>
            <a:pPr marL="0" indent="0" algn="just">
              <a:lnSpc>
                <a:spcPct val="100000"/>
              </a:lnSpc>
              <a:spcBef>
                <a:spcPts val="130"/>
              </a:spcBef>
              <a:buNone/>
            </a:pPr>
            <a:r>
              <a:rPr lang="en-US" sz="2000">
                <a:latin typeface="times" charset="0"/>
                <a:cs typeface="times" charset="0"/>
              </a:rPr>
              <a:t>2.</a:t>
            </a:r>
            <a:r>
              <a:rPr sz="2000">
                <a:latin typeface="times" charset="0"/>
                <a:cs typeface="times" charset="0"/>
              </a:rPr>
              <a:t>Hardware and Software Integration</a:t>
            </a:r>
            <a:endParaRPr sz="2000">
              <a:latin typeface="times" charset="0"/>
              <a:cs typeface="times" charset="0"/>
            </a:endParaRPr>
          </a:p>
          <a:p>
            <a:pPr marL="0" indent="0" algn="just">
              <a:lnSpc>
                <a:spcPct val="100000"/>
              </a:lnSpc>
              <a:spcBef>
                <a:spcPts val="130"/>
              </a:spcBef>
              <a:buNone/>
            </a:pPr>
            <a:r>
              <a:rPr lang="en-US" sz="2000">
                <a:latin typeface="times" charset="0"/>
                <a:cs typeface="times" charset="0"/>
              </a:rPr>
              <a:t>3.</a:t>
            </a:r>
            <a:r>
              <a:rPr sz="2000">
                <a:latin typeface="times" charset="0"/>
                <a:cs typeface="times" charset="0"/>
              </a:rPr>
              <a:t>Support of a Multi-Processing Environment</a:t>
            </a:r>
            <a:endParaRPr sz="2000">
              <a:latin typeface="times" charset="0"/>
              <a:cs typeface="times" charset="0"/>
            </a:endParaRPr>
          </a:p>
          <a:p>
            <a:pPr marL="0" indent="0" algn="just">
              <a:lnSpc>
                <a:spcPct val="100000"/>
              </a:lnSpc>
              <a:spcBef>
                <a:spcPts val="130"/>
              </a:spcBef>
              <a:buNone/>
            </a:pPr>
            <a:r>
              <a:rPr lang="en-US" sz="2000">
                <a:latin typeface="times" charset="0"/>
                <a:cs typeface="times" charset="0"/>
              </a:rPr>
              <a:t>4.</a:t>
            </a:r>
            <a:r>
              <a:rPr sz="2000">
                <a:latin typeface="times" charset="0"/>
                <a:cs typeface="times" charset="0"/>
              </a:rPr>
              <a:t>Provides Data for System Support</a:t>
            </a:r>
            <a:endParaRPr sz="2000">
              <a:latin typeface="times" charset="0"/>
              <a:cs typeface="times" charset="0"/>
            </a:endParaRPr>
          </a:p>
          <a:p>
            <a:pPr marL="0" indent="0" algn="just">
              <a:lnSpc>
                <a:spcPct val="100000"/>
              </a:lnSpc>
              <a:spcBef>
                <a:spcPts val="130"/>
              </a:spcBef>
              <a:buNone/>
            </a:pPr>
            <a:r>
              <a:rPr lang="en-US" sz="2000">
                <a:latin typeface="times" charset="0"/>
                <a:cs typeface="times" charset="0"/>
              </a:rPr>
              <a:t>5.</a:t>
            </a:r>
            <a:r>
              <a:rPr sz="2000">
                <a:latin typeface="times" charset="0"/>
                <a:cs typeface="times" charset="0"/>
              </a:rPr>
              <a:t>Results in improving productivity.</a:t>
            </a:r>
            <a:endParaRPr sz="2000">
              <a:latin typeface="times" charset="0"/>
              <a:cs typeface="times" charset="0"/>
            </a:endParaRPr>
          </a:p>
          <a:p>
            <a:pPr marL="0" indent="0" algn="just">
              <a:lnSpc>
                <a:spcPct val="100000"/>
              </a:lnSpc>
              <a:spcBef>
                <a:spcPts val="130"/>
              </a:spcBef>
              <a:buNone/>
            </a:pPr>
            <a:r>
              <a:rPr lang="en-US" sz="2000">
                <a:latin typeface="times" charset="0"/>
                <a:cs typeface="times" charset="0"/>
              </a:rPr>
              <a:t>6.</a:t>
            </a:r>
            <a:r>
              <a:rPr sz="2000">
                <a:latin typeface="times" charset="0"/>
                <a:cs typeface="times" charset="0"/>
              </a:rPr>
              <a:t>Communication</a:t>
            </a:r>
            <a:endParaRPr sz="2000">
              <a:latin typeface="times" charset="0"/>
              <a:cs typeface="times" charset="0"/>
            </a:endParaRPr>
          </a:p>
          <a:p>
            <a:pPr marL="0" indent="0" algn="just">
              <a:lnSpc>
                <a:spcPct val="100000"/>
              </a:lnSpc>
              <a:spcBef>
                <a:spcPts val="130"/>
              </a:spcBef>
              <a:buNone/>
            </a:pPr>
            <a:r>
              <a:rPr lang="en-US" sz="2000">
                <a:latin typeface="times" charset="0"/>
                <a:cs typeface="times" charset="0"/>
              </a:rPr>
              <a:t>7.</a:t>
            </a:r>
            <a:r>
              <a:rPr sz="2000">
                <a:latin typeface="times" charset="0"/>
                <a:cs typeface="times" charset="0"/>
              </a:rPr>
              <a:t>Inventory Management</a:t>
            </a:r>
            <a:endParaRPr sz="2000">
              <a:latin typeface="times" charset="0"/>
              <a:cs typeface="times" charset="0"/>
            </a:endParaRPr>
          </a:p>
          <a:p>
            <a:pPr marL="0" indent="0" algn="just">
              <a:lnSpc>
                <a:spcPct val="100000"/>
              </a:lnSpc>
              <a:spcBef>
                <a:spcPts val="130"/>
              </a:spcBef>
              <a:buNone/>
            </a:pPr>
            <a:r>
              <a:rPr lang="en-US" sz="2000">
                <a:latin typeface="times" charset="0"/>
                <a:cs typeface="times" charset="0"/>
              </a:rPr>
              <a:t>8.</a:t>
            </a:r>
            <a:r>
              <a:rPr sz="2000">
                <a:latin typeface="times" charset="0"/>
                <a:cs typeface="times" charset="0"/>
              </a:rPr>
              <a:t>Data Management</a:t>
            </a:r>
            <a:endParaRPr sz="2000">
              <a:latin typeface="times" charset="0"/>
              <a:cs typeface="times" charset="0"/>
            </a:endParaRPr>
          </a:p>
          <a:p>
            <a:pPr marL="0" indent="0" algn="just">
              <a:lnSpc>
                <a:spcPct val="100000"/>
              </a:lnSpc>
              <a:spcBef>
                <a:spcPts val="130"/>
              </a:spcBef>
              <a:buNone/>
            </a:pPr>
            <a:r>
              <a:rPr lang="en-US" sz="2000">
                <a:latin typeface="times" charset="0"/>
                <a:cs typeface="times" charset="0"/>
              </a:rPr>
              <a:t>9.</a:t>
            </a:r>
            <a:r>
              <a:rPr sz="2000">
                <a:latin typeface="times" charset="0"/>
                <a:cs typeface="times" charset="0"/>
              </a:rPr>
              <a:t>Management Information Systems</a:t>
            </a:r>
            <a:endParaRPr sz="2000">
              <a:latin typeface="times" charset="0"/>
              <a:cs typeface="times" charset="0"/>
            </a:endParaRPr>
          </a:p>
          <a:p>
            <a:pPr marL="0" indent="0" algn="just">
              <a:lnSpc>
                <a:spcPct val="100000"/>
              </a:lnSpc>
              <a:spcBef>
                <a:spcPts val="130"/>
              </a:spcBef>
              <a:buNone/>
            </a:pPr>
            <a:r>
              <a:rPr lang="en-US" sz="2000">
                <a:latin typeface="times" charset="0"/>
                <a:cs typeface="times" charset="0"/>
              </a:rPr>
              <a:t>10.</a:t>
            </a:r>
            <a:r>
              <a:rPr sz="2000">
                <a:latin typeface="times" charset="0"/>
                <a:cs typeface="times" charset="0"/>
              </a:rPr>
              <a:t>Customer Relationship Management</a:t>
            </a:r>
            <a:endParaRPr lang="en-US" sz="2000">
              <a:latin typeface="times" charset="0"/>
              <a:cs typeface="times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43200" y="278130"/>
            <a:ext cx="7278370" cy="750570"/>
          </a:xfrm>
          <a:prstGeom prst="rect">
            <a:avLst/>
          </a:prstGeom>
        </p:spPr>
        <p:txBody>
          <a:bodyPr vert="horz" wrap="square" lIns="0" tIns="12092" rIns="0" bIns="0" rtlCol="0">
            <a:spAutoFit/>
            <a:scene3d>
              <a:camera prst="orthographicFront"/>
              <a:lightRig rig="threePt" dir="t"/>
            </a:scene3d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171700" algn="l"/>
              </a:tabLst>
            </a:pPr>
            <a:r>
              <a:rPr sz="4800" spc="-1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Enterprise</a:t>
            </a:r>
            <a:r>
              <a:rPr lang="en-US" sz="4800" spc="-1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 </a:t>
            </a:r>
            <a:r>
              <a:rPr sz="4800" spc="-1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Engineering</a:t>
            </a:r>
            <a:endParaRPr sz="4800" spc="-1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8610600" y="6468745"/>
            <a:ext cx="2743200" cy="140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95"/>
              </a:lnSpc>
            </a:pPr>
            <a:fld id="{81D60167-4931-47E6-BA6A-407CBD079E47}" type="slidenum">
              <a:rPr sz="1090" spc="-25" dirty="0"/>
            </a:fld>
            <a:endParaRPr sz="1090"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0" y="1445260"/>
            <a:ext cx="12192000" cy="3399790"/>
          </a:xfrm>
          <a:prstGeom prst="rect">
            <a:avLst/>
          </a:prstGeom>
        </p:spPr>
        <p:txBody>
          <a:bodyPr vert="horz" wrap="square" lIns="0" tIns="66219" rIns="0" bIns="0" rtlCol="0">
            <a:spAutoFit/>
          </a:bodyPr>
          <a:lstStyle/>
          <a:p>
            <a:pPr marL="252095" marR="7620" indent="-240030" algn="just">
              <a:lnSpc>
                <a:spcPts val="2030"/>
              </a:lnSpc>
              <a:spcBef>
                <a:spcPts val="575"/>
              </a:spcBef>
              <a:buFont typeface="Microsoft Sans Serif" panose="020B0604020202020204"/>
              <a:buChar char="▪"/>
              <a:tabLst>
                <a:tab pos="253365" algn="l"/>
              </a:tabLst>
            </a:pPr>
            <a:r>
              <a:rPr sz="2400" dirty="0"/>
              <a:t>Enterprise</a:t>
            </a:r>
            <a:r>
              <a:rPr sz="2400" spc="170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2400" dirty="0"/>
              <a:t>engineering</a:t>
            </a:r>
            <a:r>
              <a:rPr sz="2400" spc="175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2400" dirty="0"/>
              <a:t>is</a:t>
            </a:r>
            <a:r>
              <a:rPr sz="2400" spc="185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2400" dirty="0"/>
              <a:t>defined</a:t>
            </a:r>
            <a:r>
              <a:rPr sz="2400" spc="175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2400" dirty="0"/>
              <a:t>as</a:t>
            </a:r>
            <a:r>
              <a:rPr sz="2400" spc="180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2400" dirty="0"/>
              <a:t>the</a:t>
            </a:r>
            <a:r>
              <a:rPr sz="2400" spc="175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2400" dirty="0"/>
              <a:t>body</a:t>
            </a:r>
            <a:r>
              <a:rPr sz="2400" spc="180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2400" dirty="0"/>
              <a:t>of</a:t>
            </a:r>
            <a:r>
              <a:rPr sz="2400" spc="175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2400" spc="-10" dirty="0"/>
              <a:t>knowledge,</a:t>
            </a: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" dirty="0"/>
              <a:t>principles,</a:t>
            </a:r>
            <a:r>
              <a:rPr sz="2400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" dirty="0"/>
              <a:t>and</a:t>
            </a:r>
            <a:r>
              <a:rPr sz="24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" dirty="0"/>
              <a:t>practices</a:t>
            </a:r>
            <a:r>
              <a:rPr sz="24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/>
              <a:t>to</a:t>
            </a:r>
            <a:r>
              <a:rPr sz="24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" dirty="0"/>
              <a:t>design</a:t>
            </a:r>
            <a:r>
              <a:rPr sz="24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/>
              <a:t>an</a:t>
            </a:r>
            <a:r>
              <a:rPr sz="24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" dirty="0"/>
              <a:t>enterprise.</a:t>
            </a:r>
            <a:endParaRPr sz="2400" spc="-10" dirty="0"/>
          </a:p>
          <a:p>
            <a:pPr marL="252095" marR="5080" indent="-240030" algn="just">
              <a:lnSpc>
                <a:spcPct val="80000"/>
              </a:lnSpc>
              <a:spcBef>
                <a:spcPts val="1580"/>
              </a:spcBef>
              <a:buFont typeface="Microsoft Sans Serif" panose="020B0604020202020204"/>
              <a:buChar char="▪"/>
              <a:tabLst>
                <a:tab pos="253365" algn="l"/>
              </a:tabLst>
            </a:pPr>
            <a:r>
              <a:rPr sz="2400" dirty="0"/>
              <a:t>An</a:t>
            </a:r>
            <a:r>
              <a:rPr sz="2400" spc="2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/>
              <a:t>enterprise</a:t>
            </a:r>
            <a:r>
              <a:rPr sz="2400" spc="2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/>
              <a:t>is</a:t>
            </a:r>
            <a:r>
              <a:rPr sz="2400" spc="2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/>
              <a:t>a</a:t>
            </a:r>
            <a:r>
              <a:rPr sz="2400" spc="2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/>
              <a:t>complex,</a:t>
            </a:r>
            <a:r>
              <a:rPr sz="2400" spc="2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20" dirty="0"/>
              <a:t>socio-</a:t>
            </a:r>
            <a:r>
              <a:rPr sz="2400" dirty="0"/>
              <a:t>technical</a:t>
            </a:r>
            <a:r>
              <a:rPr sz="2400" spc="2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/>
              <a:t>system</a:t>
            </a:r>
            <a:r>
              <a:rPr sz="2400" spc="2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/>
              <a:t>that</a:t>
            </a:r>
            <a:r>
              <a:rPr sz="2400" spc="2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" dirty="0"/>
              <a:t>comprises</a:t>
            </a: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/>
              <a:t>interdependent</a:t>
            </a:r>
            <a:r>
              <a:rPr sz="2400" spc="3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/>
              <a:t>resources</a:t>
            </a:r>
            <a:r>
              <a:rPr sz="2400" spc="4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/>
              <a:t>of</a:t>
            </a:r>
            <a:r>
              <a:rPr sz="2400" spc="4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/>
              <a:t>people,</a:t>
            </a:r>
            <a:r>
              <a:rPr sz="2400" spc="3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/>
              <a:t>information,</a:t>
            </a:r>
            <a:r>
              <a:rPr sz="2400" spc="3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/>
              <a:t>and</a:t>
            </a:r>
            <a:r>
              <a:rPr sz="2400" spc="4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" dirty="0"/>
              <a:t>technology</a:t>
            </a: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 	</a:t>
            </a:r>
            <a:r>
              <a:rPr sz="2400" dirty="0"/>
              <a:t>that</a:t>
            </a:r>
            <a:r>
              <a:rPr sz="24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/>
              <a:t>must</a:t>
            </a:r>
            <a:r>
              <a:rPr sz="24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/>
              <a:t>interact</a:t>
            </a:r>
            <a:r>
              <a:rPr sz="24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/>
              <a:t>with</a:t>
            </a:r>
            <a:r>
              <a:rPr sz="24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/>
              <a:t>each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/>
              <a:t>other</a:t>
            </a:r>
            <a:r>
              <a:rPr sz="24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/>
              <a:t>and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/>
              <a:t>their</a:t>
            </a:r>
            <a:r>
              <a:rPr sz="24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/>
              <a:t>environment</a:t>
            </a:r>
            <a:r>
              <a:rPr sz="24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/>
              <a:t>in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" dirty="0"/>
              <a:t>support</a:t>
            </a: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4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/>
              <a:t>of</a:t>
            </a:r>
            <a:r>
              <a:rPr sz="2400" spc="-1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/>
              <a:t>a</a:t>
            </a:r>
            <a:r>
              <a:rPr sz="2400" spc="-1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" dirty="0"/>
              <a:t>common</a:t>
            </a:r>
            <a:r>
              <a:rPr sz="2400" spc="-1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" dirty="0"/>
              <a:t>mission.</a:t>
            </a:r>
            <a:endParaRPr sz="2400" spc="-10" dirty="0"/>
          </a:p>
          <a:p>
            <a:pPr marL="252730" indent="-240030" algn="just">
              <a:lnSpc>
                <a:spcPct val="100000"/>
              </a:lnSpc>
              <a:spcBef>
                <a:spcPts val="1080"/>
              </a:spcBef>
              <a:buFont typeface="Microsoft Sans Serif" panose="020B0604020202020204"/>
              <a:buChar char="▪"/>
              <a:tabLst>
                <a:tab pos="252095" algn="l"/>
              </a:tabLst>
            </a:pPr>
            <a:r>
              <a:rPr sz="2400" spc="-10" dirty="0"/>
              <a:t>Enterprise</a:t>
            </a:r>
            <a:r>
              <a:rPr sz="2400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" dirty="0"/>
              <a:t>engineering</a:t>
            </a:r>
            <a:r>
              <a:rPr sz="240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/>
              <a:t>is</a:t>
            </a:r>
            <a:r>
              <a:rPr sz="2400" spc="-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/>
              <a:t>a</a:t>
            </a:r>
            <a:r>
              <a:rPr sz="2400" spc="-11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/>
              <a:t>sub</a:t>
            </a:r>
            <a:r>
              <a:rPr sz="2400" spc="-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" dirty="0"/>
              <a:t>discipline</a:t>
            </a:r>
            <a:r>
              <a:rPr sz="24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/>
              <a:t>of</a:t>
            </a:r>
            <a:r>
              <a:rPr sz="2400" spc="-10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" dirty="0"/>
              <a:t>systems</a:t>
            </a:r>
            <a:r>
              <a:rPr sz="2400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" dirty="0"/>
              <a:t>engineering.</a:t>
            </a:r>
            <a:endParaRPr sz="2400" spc="-10" dirty="0"/>
          </a:p>
          <a:p>
            <a:pPr marL="252095" marR="5080" indent="-240030" algn="just">
              <a:lnSpc>
                <a:spcPts val="2020"/>
              </a:lnSpc>
              <a:spcBef>
                <a:spcPts val="1560"/>
              </a:spcBef>
              <a:buFont typeface="Microsoft Sans Serif" panose="020B0604020202020204"/>
              <a:buChar char="▪"/>
              <a:tabLst>
                <a:tab pos="253365" algn="l"/>
              </a:tabLst>
            </a:pPr>
            <a:r>
              <a:rPr sz="2400" dirty="0"/>
              <a:t>The</a:t>
            </a:r>
            <a:r>
              <a:rPr sz="2400" spc="4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/>
              <a:t>discipline</a:t>
            </a:r>
            <a:r>
              <a:rPr sz="2400" spc="4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/>
              <a:t>examines</a:t>
            </a:r>
            <a:r>
              <a:rPr sz="2400" spc="4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/>
              <a:t>each</a:t>
            </a:r>
            <a:r>
              <a:rPr sz="2400" spc="4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/>
              <a:t>aspect</a:t>
            </a:r>
            <a:r>
              <a:rPr sz="2400" spc="48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/>
              <a:t>of</a:t>
            </a:r>
            <a:r>
              <a:rPr sz="2400" spc="48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/>
              <a:t>the</a:t>
            </a:r>
            <a:r>
              <a:rPr sz="2400" spc="4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/>
              <a:t>enterprise,</a:t>
            </a:r>
            <a:r>
              <a:rPr sz="2400" spc="4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" dirty="0"/>
              <a:t>including</a:t>
            </a: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4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" dirty="0"/>
              <a:t>business</a:t>
            </a:r>
            <a:r>
              <a:rPr sz="240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" dirty="0"/>
              <a:t>processes,</a:t>
            </a:r>
            <a:r>
              <a:rPr sz="24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" dirty="0"/>
              <a:t>information</a:t>
            </a:r>
            <a:r>
              <a:rPr sz="24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" dirty="0"/>
              <a:t>flows,</a:t>
            </a:r>
            <a:r>
              <a:rPr sz="24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" dirty="0"/>
              <a:t>and</a:t>
            </a:r>
            <a:r>
              <a:rPr sz="240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" dirty="0"/>
              <a:t>organizational</a:t>
            </a:r>
            <a:r>
              <a:rPr sz="240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" dirty="0"/>
              <a:t>structure.</a:t>
            </a:r>
            <a:endParaRPr sz="2400" spc="-10" dirty="0"/>
          </a:p>
          <a:p>
            <a:pPr marL="252095" marR="5080" indent="-240030" algn="just">
              <a:lnSpc>
                <a:spcPct val="80000"/>
              </a:lnSpc>
              <a:spcBef>
                <a:spcPts val="1600"/>
              </a:spcBef>
              <a:buFont typeface="Microsoft Sans Serif" panose="020B0604020202020204"/>
              <a:buChar char="▪"/>
              <a:tabLst>
                <a:tab pos="253365" algn="l"/>
              </a:tabLst>
            </a:pPr>
            <a:r>
              <a:rPr sz="2400" spc="-10" dirty="0"/>
              <a:t>Enterprise</a:t>
            </a:r>
            <a:r>
              <a:rPr sz="24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" dirty="0"/>
              <a:t>engineering</a:t>
            </a:r>
            <a:r>
              <a:rPr sz="240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/>
              <a:t>may</a:t>
            </a:r>
            <a:r>
              <a:rPr sz="2400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/>
              <a:t>focus</a:t>
            </a:r>
            <a:r>
              <a:rPr sz="240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/>
              <a:t>on</a:t>
            </a:r>
            <a:r>
              <a:rPr sz="24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/>
              <a:t>the</a:t>
            </a:r>
            <a:r>
              <a:rPr sz="2400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" dirty="0"/>
              <a:t>design</a:t>
            </a:r>
            <a:r>
              <a:rPr sz="2400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/>
              <a:t>of</a:t>
            </a:r>
            <a:r>
              <a:rPr sz="2400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/>
              <a:t>the</a:t>
            </a:r>
            <a:r>
              <a:rPr sz="2400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" dirty="0"/>
              <a:t>enterprise</a:t>
            </a:r>
            <a:r>
              <a:rPr sz="24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/>
              <a:t>as</a:t>
            </a:r>
            <a:r>
              <a:rPr sz="240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50" dirty="0"/>
              <a:t>a</a:t>
            </a:r>
            <a:r>
              <a:rPr sz="2400" spc="-50" dirty="0">
                <a:latin typeface="Times New Roman" panose="02020603050405020304"/>
                <a:cs typeface="Times New Roman" panose="02020603050405020304"/>
              </a:rPr>
              <a:t> 	</a:t>
            </a:r>
            <a:r>
              <a:rPr sz="2400" spc="-10" dirty="0"/>
              <a:t>whole.</a:t>
            </a:r>
            <a:endParaRPr sz="2400" spc="-1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7" name="Rectangle 2"/>
          <p:cNvSpPr>
            <a:spLocks noGrp="1"/>
          </p:cNvSpPr>
          <p:nvPr>
            <p:ph type="title"/>
          </p:nvPr>
        </p:nvSpPr>
        <p:spPr>
          <a:xfrm>
            <a:off x="1113155" y="0"/>
            <a:ext cx="9890760" cy="1066800"/>
          </a:xfrm>
        </p:spPr>
        <p:txBody>
          <a:bodyPr vert="horz" wrap="square" lIns="91440" tIns="45720" rIns="91440" bIns="45720" anchor="ctr" anchorCtr="0">
            <a:noAutofit/>
            <a:scene3d>
              <a:camera prst="orthographicFront"/>
              <a:lightRig rig="threePt" dir="t"/>
            </a:scene3d>
          </a:bodyPr>
          <a:p>
            <a:r>
              <a:rPr sz="360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Two questions Enterprise Engineers always ask</a:t>
            </a:r>
            <a:endParaRPr sz="360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</a:endParaRPr>
          </a:p>
        </p:txBody>
      </p:sp>
      <p:sp>
        <p:nvSpPr>
          <p:cNvPr id="1028" name="Rectangle 3"/>
          <p:cNvSpPr>
            <a:spLocks noGrp="1"/>
          </p:cNvSpPr>
          <p:nvPr>
            <p:ph idx="1"/>
          </p:nvPr>
        </p:nvSpPr>
        <p:spPr>
          <a:xfrm>
            <a:off x="1417320" y="990600"/>
            <a:ext cx="8564880" cy="2209800"/>
          </a:xfrm>
        </p:spPr>
        <p:txBody>
          <a:bodyPr vert="horz" wrap="square" lIns="91440" tIns="45720" rIns="91440" bIns="45720" anchor="t" anchorCtr="0"/>
          <a:p>
            <a:pPr marL="0" indent="0">
              <a:buNone/>
            </a:pPr>
          </a:p>
          <a:p>
            <a:r>
              <a:t>What should the enterprise be?</a:t>
            </a:r>
          </a:p>
          <a:p>
            <a:r>
              <a:t>How do we get there from here?</a:t>
            </a:r>
          </a:p>
        </p:txBody>
      </p:sp>
      <p:grpSp>
        <p:nvGrpSpPr>
          <p:cNvPr id="1029" name="Group 5"/>
          <p:cNvGrpSpPr/>
          <p:nvPr/>
        </p:nvGrpSpPr>
        <p:grpSpPr>
          <a:xfrm>
            <a:off x="4585335" y="3494405"/>
            <a:ext cx="3741738" cy="2176463"/>
            <a:chOff x="1147" y="1269"/>
            <a:chExt cx="3439" cy="2210"/>
          </a:xfrm>
        </p:grpSpPr>
        <p:sp>
          <p:nvSpPr>
            <p:cNvPr id="1030" name="Rectangle 6"/>
            <p:cNvSpPr/>
            <p:nvPr/>
          </p:nvSpPr>
          <p:spPr>
            <a:xfrm>
              <a:off x="1341" y="1492"/>
              <a:ext cx="3008" cy="190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/>
            <a:p>
              <a:endParaRPr>
                <a:latin typeface="Calibri" charset="0"/>
              </a:endParaRPr>
            </a:p>
          </p:txBody>
        </p:sp>
        <p:sp>
          <p:nvSpPr>
            <p:cNvPr id="1031" name="Rectangle 7"/>
            <p:cNvSpPr/>
            <p:nvPr/>
          </p:nvSpPr>
          <p:spPr>
            <a:xfrm>
              <a:off x="1335" y="1492"/>
              <a:ext cx="3019" cy="1900"/>
            </a:xfrm>
            <a:prstGeom prst="rect">
              <a:avLst/>
            </a:prstGeom>
            <a:noFill/>
            <a:ln w="101600" cap="flat" cmpd="sng">
              <a:solidFill>
                <a:srgbClr val="80808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>
                <a:latin typeface="Calibri" charset="0"/>
              </a:endParaRPr>
            </a:p>
          </p:txBody>
        </p:sp>
        <p:sp>
          <p:nvSpPr>
            <p:cNvPr id="1032" name="Oval 8" descr="Wide downward diagonal"/>
            <p:cNvSpPr/>
            <p:nvPr/>
          </p:nvSpPr>
          <p:spPr>
            <a:xfrm>
              <a:off x="2982" y="2080"/>
              <a:ext cx="763" cy="138"/>
            </a:xfrm>
            <a:prstGeom prst="ellipse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>
                <a:latin typeface="Calibri" charset="0"/>
              </a:endParaRPr>
            </a:p>
          </p:txBody>
        </p:sp>
        <p:sp>
          <p:nvSpPr>
            <p:cNvPr id="1033" name="Rectangle 9"/>
            <p:cNvSpPr/>
            <p:nvPr/>
          </p:nvSpPr>
          <p:spPr>
            <a:xfrm>
              <a:off x="3052" y="2089"/>
              <a:ext cx="150" cy="106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/>
            <a:p>
              <a:endParaRPr>
                <a:latin typeface="Calibri" charset="0"/>
              </a:endParaRPr>
            </a:p>
          </p:txBody>
        </p:sp>
        <p:sp>
          <p:nvSpPr>
            <p:cNvPr id="1034" name="Rectangle 10"/>
            <p:cNvSpPr/>
            <p:nvPr/>
          </p:nvSpPr>
          <p:spPr>
            <a:xfrm>
              <a:off x="3065" y="2102"/>
              <a:ext cx="123" cy="78"/>
            </a:xfrm>
            <a:prstGeom prst="rect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>
                <a:latin typeface="Calibri" charset="0"/>
              </a:endParaRPr>
            </a:p>
          </p:txBody>
        </p:sp>
        <p:sp>
          <p:nvSpPr>
            <p:cNvPr id="1035" name="Rectangle 11"/>
            <p:cNvSpPr/>
            <p:nvPr/>
          </p:nvSpPr>
          <p:spPr>
            <a:xfrm>
              <a:off x="3507" y="2089"/>
              <a:ext cx="150" cy="106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/>
            <a:p>
              <a:endParaRPr>
                <a:latin typeface="Calibri" charset="0"/>
              </a:endParaRPr>
            </a:p>
          </p:txBody>
        </p:sp>
        <p:sp>
          <p:nvSpPr>
            <p:cNvPr id="1036" name="Rectangle 12"/>
            <p:cNvSpPr/>
            <p:nvPr/>
          </p:nvSpPr>
          <p:spPr>
            <a:xfrm>
              <a:off x="3520" y="2102"/>
              <a:ext cx="123" cy="78"/>
            </a:xfrm>
            <a:prstGeom prst="rect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>
                <a:latin typeface="Calibri" charset="0"/>
              </a:endParaRPr>
            </a:p>
          </p:txBody>
        </p:sp>
        <p:sp>
          <p:nvSpPr>
            <p:cNvPr id="1037" name="Oval 13"/>
            <p:cNvSpPr/>
            <p:nvPr/>
          </p:nvSpPr>
          <p:spPr>
            <a:xfrm>
              <a:off x="1555" y="2672"/>
              <a:ext cx="1223" cy="195"/>
            </a:xfrm>
            <a:prstGeom prst="ellipse">
              <a:avLst/>
            </a:prstGeom>
            <a:noFill/>
            <a:ln w="12700">
              <a:noFill/>
            </a:ln>
          </p:spPr>
          <p:txBody>
            <a:bodyPr wrap="none" anchor="ctr" anchorCtr="0"/>
            <a:p>
              <a:endParaRPr>
                <a:latin typeface="Calibri" charset="0"/>
              </a:endParaRPr>
            </a:p>
          </p:txBody>
        </p:sp>
        <p:sp>
          <p:nvSpPr>
            <p:cNvPr id="1038" name="Oval 14" descr="Wide downward diagonal"/>
            <p:cNvSpPr/>
            <p:nvPr/>
          </p:nvSpPr>
          <p:spPr>
            <a:xfrm>
              <a:off x="1576" y="2689"/>
              <a:ext cx="1189" cy="158"/>
            </a:xfrm>
            <a:prstGeom prst="ellipse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>
                <a:latin typeface="Calibri" charset="0"/>
              </a:endParaRPr>
            </a:p>
          </p:txBody>
        </p:sp>
        <p:sp>
          <p:nvSpPr>
            <p:cNvPr id="1039" name="Rectangle 15"/>
            <p:cNvSpPr/>
            <p:nvPr/>
          </p:nvSpPr>
          <p:spPr>
            <a:xfrm>
              <a:off x="1713" y="2719"/>
              <a:ext cx="150" cy="106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/>
            <a:p>
              <a:endParaRPr>
                <a:latin typeface="Calibri" charset="0"/>
              </a:endParaRPr>
            </a:p>
          </p:txBody>
        </p:sp>
        <p:sp>
          <p:nvSpPr>
            <p:cNvPr id="1040" name="Rectangle 16"/>
            <p:cNvSpPr/>
            <p:nvPr/>
          </p:nvSpPr>
          <p:spPr>
            <a:xfrm>
              <a:off x="1727" y="2732"/>
              <a:ext cx="123" cy="78"/>
            </a:xfrm>
            <a:prstGeom prst="rect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>
                <a:latin typeface="Calibri" charset="0"/>
              </a:endParaRPr>
            </a:p>
          </p:txBody>
        </p:sp>
        <p:sp>
          <p:nvSpPr>
            <p:cNvPr id="1041" name="Rectangle 17"/>
            <p:cNvSpPr/>
            <p:nvPr/>
          </p:nvSpPr>
          <p:spPr>
            <a:xfrm>
              <a:off x="2498" y="2713"/>
              <a:ext cx="149" cy="10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/>
            <a:p>
              <a:endParaRPr>
                <a:latin typeface="Calibri" charset="0"/>
              </a:endParaRPr>
            </a:p>
          </p:txBody>
        </p:sp>
        <p:sp>
          <p:nvSpPr>
            <p:cNvPr id="1042" name="Rectangle 18"/>
            <p:cNvSpPr/>
            <p:nvPr/>
          </p:nvSpPr>
          <p:spPr>
            <a:xfrm>
              <a:off x="2511" y="2728"/>
              <a:ext cx="123" cy="76"/>
            </a:xfrm>
            <a:prstGeom prst="rect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>
                <a:latin typeface="Calibri" charset="0"/>
              </a:endParaRPr>
            </a:p>
          </p:txBody>
        </p:sp>
        <p:sp>
          <p:nvSpPr>
            <p:cNvPr id="1043" name="Oval 19"/>
            <p:cNvSpPr/>
            <p:nvPr/>
          </p:nvSpPr>
          <p:spPr>
            <a:xfrm>
              <a:off x="1565" y="2052"/>
              <a:ext cx="1224" cy="194"/>
            </a:xfrm>
            <a:prstGeom prst="ellipse">
              <a:avLst/>
            </a:prstGeom>
            <a:noFill/>
            <a:ln w="12700">
              <a:noFill/>
            </a:ln>
          </p:spPr>
          <p:txBody>
            <a:bodyPr wrap="none" anchor="ctr" anchorCtr="0"/>
            <a:p>
              <a:endParaRPr>
                <a:latin typeface="Calibri" charset="0"/>
              </a:endParaRPr>
            </a:p>
          </p:txBody>
        </p:sp>
        <p:sp>
          <p:nvSpPr>
            <p:cNvPr id="1044" name="Oval 20" descr="Wide downward diagonal"/>
            <p:cNvSpPr/>
            <p:nvPr/>
          </p:nvSpPr>
          <p:spPr>
            <a:xfrm>
              <a:off x="1579" y="2062"/>
              <a:ext cx="1187" cy="159"/>
            </a:xfrm>
            <a:prstGeom prst="ellipse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>
                <a:latin typeface="Calibri" charset="0"/>
              </a:endParaRPr>
            </a:p>
          </p:txBody>
        </p:sp>
        <p:sp>
          <p:nvSpPr>
            <p:cNvPr id="1045" name="Rectangle 21"/>
            <p:cNvSpPr/>
            <p:nvPr/>
          </p:nvSpPr>
          <p:spPr>
            <a:xfrm>
              <a:off x="1697" y="2089"/>
              <a:ext cx="150" cy="106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/>
            <a:p>
              <a:endParaRPr>
                <a:latin typeface="Calibri" charset="0"/>
              </a:endParaRPr>
            </a:p>
          </p:txBody>
        </p:sp>
        <p:sp>
          <p:nvSpPr>
            <p:cNvPr id="1046" name="Rectangle 22"/>
            <p:cNvSpPr/>
            <p:nvPr/>
          </p:nvSpPr>
          <p:spPr>
            <a:xfrm>
              <a:off x="1710" y="2102"/>
              <a:ext cx="123" cy="78"/>
            </a:xfrm>
            <a:prstGeom prst="rect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>
                <a:latin typeface="Calibri" charset="0"/>
              </a:endParaRPr>
            </a:p>
          </p:txBody>
        </p:sp>
        <p:sp>
          <p:nvSpPr>
            <p:cNvPr id="1047" name="Rectangle 23"/>
            <p:cNvSpPr/>
            <p:nvPr/>
          </p:nvSpPr>
          <p:spPr>
            <a:xfrm>
              <a:off x="2081" y="2089"/>
              <a:ext cx="149" cy="106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/>
            <a:p>
              <a:endParaRPr>
                <a:latin typeface="Calibri" charset="0"/>
              </a:endParaRPr>
            </a:p>
          </p:txBody>
        </p:sp>
        <p:sp>
          <p:nvSpPr>
            <p:cNvPr id="1048" name="Rectangle 24"/>
            <p:cNvSpPr/>
            <p:nvPr/>
          </p:nvSpPr>
          <p:spPr>
            <a:xfrm>
              <a:off x="2094" y="2102"/>
              <a:ext cx="123" cy="78"/>
            </a:xfrm>
            <a:prstGeom prst="rect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>
                <a:latin typeface="Calibri" charset="0"/>
              </a:endParaRPr>
            </a:p>
          </p:txBody>
        </p:sp>
        <p:sp>
          <p:nvSpPr>
            <p:cNvPr id="1049" name="Rectangle 25"/>
            <p:cNvSpPr/>
            <p:nvPr/>
          </p:nvSpPr>
          <p:spPr>
            <a:xfrm>
              <a:off x="2487" y="2093"/>
              <a:ext cx="150" cy="106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/>
            <a:p>
              <a:endParaRPr>
                <a:latin typeface="Calibri" charset="0"/>
              </a:endParaRPr>
            </a:p>
          </p:txBody>
        </p:sp>
        <p:sp>
          <p:nvSpPr>
            <p:cNvPr id="1050" name="Rectangle 26"/>
            <p:cNvSpPr/>
            <p:nvPr/>
          </p:nvSpPr>
          <p:spPr>
            <a:xfrm>
              <a:off x="2500" y="2108"/>
              <a:ext cx="122" cy="78"/>
            </a:xfrm>
            <a:prstGeom prst="rect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>
                <a:latin typeface="Calibri" charset="0"/>
              </a:endParaRPr>
            </a:p>
          </p:txBody>
        </p:sp>
        <p:sp>
          <p:nvSpPr>
            <p:cNvPr id="1051" name="Freeform 27"/>
            <p:cNvSpPr/>
            <p:nvPr/>
          </p:nvSpPr>
          <p:spPr>
            <a:xfrm>
              <a:off x="2388" y="2124"/>
              <a:ext cx="89" cy="39"/>
            </a:xfrm>
            <a:custGeom>
              <a:avLst/>
              <a:gdLst>
                <a:gd name="txL" fmla="*/ 0 w 100"/>
                <a:gd name="txT" fmla="*/ 0 h 39"/>
                <a:gd name="txR" fmla="*/ 100 w 100"/>
                <a:gd name="txB" fmla="*/ 39 h 39"/>
              </a:gdLst>
              <a:ahLst/>
              <a:cxnLst>
                <a:cxn ang="0">
                  <a:pos x="99" y="19"/>
                </a:cxn>
                <a:cxn ang="0">
                  <a:pos x="0" y="38"/>
                </a:cxn>
                <a:cxn ang="0">
                  <a:pos x="0" y="19"/>
                </a:cxn>
                <a:cxn ang="0">
                  <a:pos x="0" y="0"/>
                </a:cxn>
                <a:cxn ang="0">
                  <a:pos x="99" y="19"/>
                </a:cxn>
              </a:cxnLst>
              <a:rect l="txL" t="txT" r="txR" b="txB"/>
              <a:pathLst>
                <a:path w="100" h="39">
                  <a:moveTo>
                    <a:pt x="99" y="19"/>
                  </a:moveTo>
                  <a:lnTo>
                    <a:pt x="0" y="38"/>
                  </a:lnTo>
                  <a:lnTo>
                    <a:pt x="0" y="19"/>
                  </a:lnTo>
                  <a:lnTo>
                    <a:pt x="0" y="0"/>
                  </a:lnTo>
                  <a:lnTo>
                    <a:pt x="99" y="19"/>
                  </a:lnTo>
                </a:path>
              </a:pathLst>
            </a:custGeom>
            <a:noFill/>
            <a:ln w="12700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52" name="Line 28"/>
            <p:cNvSpPr/>
            <p:nvPr/>
          </p:nvSpPr>
          <p:spPr>
            <a:xfrm>
              <a:off x="2244" y="2146"/>
              <a:ext cx="130" cy="0"/>
            </a:xfrm>
            <a:prstGeom prst="line">
              <a:avLst/>
            </a:prstGeom>
            <a:ln w="254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53" name="Oval 29" descr="Wide downward diagonal"/>
            <p:cNvSpPr/>
            <p:nvPr/>
          </p:nvSpPr>
          <p:spPr>
            <a:xfrm>
              <a:off x="1562" y="1592"/>
              <a:ext cx="1220" cy="189"/>
            </a:xfrm>
            <a:prstGeom prst="ellipse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>
                <a:latin typeface="Calibri" charset="0"/>
              </a:endParaRPr>
            </a:p>
          </p:txBody>
        </p:sp>
        <p:sp>
          <p:nvSpPr>
            <p:cNvPr id="1054" name="Rectangle 30"/>
            <p:cNvSpPr/>
            <p:nvPr/>
          </p:nvSpPr>
          <p:spPr>
            <a:xfrm>
              <a:off x="1692" y="1626"/>
              <a:ext cx="149" cy="10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/>
            <a:p>
              <a:endParaRPr>
                <a:latin typeface="Calibri" charset="0"/>
              </a:endParaRPr>
            </a:p>
          </p:txBody>
        </p:sp>
        <p:sp>
          <p:nvSpPr>
            <p:cNvPr id="1055" name="Rectangle 31"/>
            <p:cNvSpPr/>
            <p:nvPr/>
          </p:nvSpPr>
          <p:spPr>
            <a:xfrm>
              <a:off x="1705" y="1641"/>
              <a:ext cx="123" cy="77"/>
            </a:xfrm>
            <a:prstGeom prst="rect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>
                <a:latin typeface="Calibri" charset="0"/>
              </a:endParaRPr>
            </a:p>
          </p:txBody>
        </p:sp>
        <p:sp>
          <p:nvSpPr>
            <p:cNvPr id="1056" name="Rectangle 32"/>
            <p:cNvSpPr/>
            <p:nvPr/>
          </p:nvSpPr>
          <p:spPr>
            <a:xfrm>
              <a:off x="2075" y="1626"/>
              <a:ext cx="150" cy="10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/>
            <a:p>
              <a:endParaRPr>
                <a:latin typeface="Calibri" charset="0"/>
              </a:endParaRPr>
            </a:p>
          </p:txBody>
        </p:sp>
        <p:sp>
          <p:nvSpPr>
            <p:cNvPr id="1057" name="Rectangle 33"/>
            <p:cNvSpPr/>
            <p:nvPr/>
          </p:nvSpPr>
          <p:spPr>
            <a:xfrm>
              <a:off x="2089" y="1641"/>
              <a:ext cx="123" cy="77"/>
            </a:xfrm>
            <a:prstGeom prst="rect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>
                <a:latin typeface="Calibri" charset="0"/>
              </a:endParaRPr>
            </a:p>
          </p:txBody>
        </p:sp>
        <p:sp>
          <p:nvSpPr>
            <p:cNvPr id="1058" name="Rectangle 34"/>
            <p:cNvSpPr/>
            <p:nvPr/>
          </p:nvSpPr>
          <p:spPr>
            <a:xfrm>
              <a:off x="2482" y="1632"/>
              <a:ext cx="149" cy="106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/>
            <a:p>
              <a:endParaRPr>
                <a:latin typeface="Calibri" charset="0"/>
              </a:endParaRPr>
            </a:p>
          </p:txBody>
        </p:sp>
        <p:sp>
          <p:nvSpPr>
            <p:cNvPr id="1059" name="Rectangle 35"/>
            <p:cNvSpPr/>
            <p:nvPr/>
          </p:nvSpPr>
          <p:spPr>
            <a:xfrm>
              <a:off x="2495" y="1646"/>
              <a:ext cx="123" cy="78"/>
            </a:xfrm>
            <a:prstGeom prst="rect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>
                <a:latin typeface="Calibri" charset="0"/>
              </a:endParaRPr>
            </a:p>
          </p:txBody>
        </p:sp>
        <p:sp>
          <p:nvSpPr>
            <p:cNvPr id="1060" name="Freeform 36"/>
            <p:cNvSpPr/>
            <p:nvPr/>
          </p:nvSpPr>
          <p:spPr>
            <a:xfrm>
              <a:off x="1982" y="1652"/>
              <a:ext cx="89" cy="44"/>
            </a:xfrm>
            <a:custGeom>
              <a:avLst/>
              <a:gdLst>
                <a:gd name="txL" fmla="*/ 0 w 100"/>
                <a:gd name="txT" fmla="*/ 0 h 44"/>
                <a:gd name="txR" fmla="*/ 100 w 100"/>
                <a:gd name="txB" fmla="*/ 44 h 44"/>
              </a:gdLst>
              <a:ahLst/>
              <a:cxnLst>
                <a:cxn ang="0">
                  <a:pos x="99" y="19"/>
                </a:cxn>
                <a:cxn ang="0">
                  <a:pos x="0" y="43"/>
                </a:cxn>
                <a:cxn ang="0">
                  <a:pos x="0" y="19"/>
                </a:cxn>
                <a:cxn ang="0">
                  <a:pos x="0" y="0"/>
                </a:cxn>
                <a:cxn ang="0">
                  <a:pos x="99" y="19"/>
                </a:cxn>
              </a:cxnLst>
              <a:rect l="txL" t="txT" r="txR" b="txB"/>
              <a:pathLst>
                <a:path w="100" h="44">
                  <a:moveTo>
                    <a:pt x="99" y="19"/>
                  </a:moveTo>
                  <a:lnTo>
                    <a:pt x="0" y="43"/>
                  </a:lnTo>
                  <a:lnTo>
                    <a:pt x="0" y="19"/>
                  </a:lnTo>
                  <a:lnTo>
                    <a:pt x="0" y="0"/>
                  </a:lnTo>
                  <a:lnTo>
                    <a:pt x="99" y="19"/>
                  </a:lnTo>
                </a:path>
              </a:pathLst>
            </a:custGeom>
            <a:noFill/>
            <a:ln w="12700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61" name="Line 37"/>
            <p:cNvSpPr/>
            <p:nvPr/>
          </p:nvSpPr>
          <p:spPr>
            <a:xfrm>
              <a:off x="1855" y="1674"/>
              <a:ext cx="114" cy="0"/>
            </a:xfrm>
            <a:prstGeom prst="line">
              <a:avLst/>
            </a:prstGeom>
            <a:ln w="254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62" name="Freeform 38"/>
            <p:cNvSpPr/>
            <p:nvPr/>
          </p:nvSpPr>
          <p:spPr>
            <a:xfrm>
              <a:off x="2382" y="1657"/>
              <a:ext cx="89" cy="44"/>
            </a:xfrm>
            <a:custGeom>
              <a:avLst/>
              <a:gdLst>
                <a:gd name="txL" fmla="*/ 0 w 100"/>
                <a:gd name="txT" fmla="*/ 0 h 44"/>
                <a:gd name="txR" fmla="*/ 100 w 100"/>
                <a:gd name="txB" fmla="*/ 44 h 44"/>
              </a:gdLst>
              <a:ahLst/>
              <a:cxnLst>
                <a:cxn ang="0">
                  <a:pos x="99" y="19"/>
                </a:cxn>
                <a:cxn ang="0">
                  <a:pos x="0" y="43"/>
                </a:cxn>
                <a:cxn ang="0">
                  <a:pos x="0" y="19"/>
                </a:cxn>
                <a:cxn ang="0">
                  <a:pos x="0" y="0"/>
                </a:cxn>
                <a:cxn ang="0">
                  <a:pos x="99" y="19"/>
                </a:cxn>
              </a:cxnLst>
              <a:rect l="txL" t="txT" r="txR" b="txB"/>
              <a:pathLst>
                <a:path w="100" h="44">
                  <a:moveTo>
                    <a:pt x="99" y="19"/>
                  </a:moveTo>
                  <a:lnTo>
                    <a:pt x="0" y="43"/>
                  </a:lnTo>
                  <a:lnTo>
                    <a:pt x="0" y="19"/>
                  </a:lnTo>
                  <a:lnTo>
                    <a:pt x="0" y="0"/>
                  </a:lnTo>
                  <a:lnTo>
                    <a:pt x="99" y="19"/>
                  </a:lnTo>
                </a:path>
              </a:pathLst>
            </a:custGeom>
            <a:noFill/>
            <a:ln w="12700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63" name="Line 39"/>
            <p:cNvSpPr/>
            <p:nvPr/>
          </p:nvSpPr>
          <p:spPr>
            <a:xfrm>
              <a:off x="2238" y="1680"/>
              <a:ext cx="131" cy="0"/>
            </a:xfrm>
            <a:prstGeom prst="line">
              <a:avLst/>
            </a:prstGeom>
            <a:ln w="254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64" name="Oval 40" descr="Wide downward diagonal"/>
            <p:cNvSpPr/>
            <p:nvPr/>
          </p:nvSpPr>
          <p:spPr>
            <a:xfrm>
              <a:off x="1583" y="2352"/>
              <a:ext cx="1220" cy="188"/>
            </a:xfrm>
            <a:prstGeom prst="ellipse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>
                <a:latin typeface="Calibri" charset="0"/>
              </a:endParaRPr>
            </a:p>
          </p:txBody>
        </p:sp>
        <p:sp>
          <p:nvSpPr>
            <p:cNvPr id="1065" name="Rectangle 41"/>
            <p:cNvSpPr/>
            <p:nvPr/>
          </p:nvSpPr>
          <p:spPr>
            <a:xfrm>
              <a:off x="1713" y="2389"/>
              <a:ext cx="150" cy="10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/>
            <a:p>
              <a:endParaRPr>
                <a:latin typeface="Calibri" charset="0"/>
              </a:endParaRPr>
            </a:p>
          </p:txBody>
        </p:sp>
        <p:sp>
          <p:nvSpPr>
            <p:cNvPr id="1066" name="Rectangle 42"/>
            <p:cNvSpPr/>
            <p:nvPr/>
          </p:nvSpPr>
          <p:spPr>
            <a:xfrm>
              <a:off x="1727" y="2405"/>
              <a:ext cx="123" cy="76"/>
            </a:xfrm>
            <a:prstGeom prst="rect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>
                <a:latin typeface="Calibri" charset="0"/>
              </a:endParaRPr>
            </a:p>
          </p:txBody>
        </p:sp>
        <p:sp>
          <p:nvSpPr>
            <p:cNvPr id="1067" name="Rectangle 43"/>
            <p:cNvSpPr/>
            <p:nvPr/>
          </p:nvSpPr>
          <p:spPr>
            <a:xfrm>
              <a:off x="2097" y="2389"/>
              <a:ext cx="150" cy="10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/>
            <a:p>
              <a:endParaRPr>
                <a:latin typeface="Calibri" charset="0"/>
              </a:endParaRPr>
            </a:p>
          </p:txBody>
        </p:sp>
        <p:sp>
          <p:nvSpPr>
            <p:cNvPr id="1068" name="Rectangle 44"/>
            <p:cNvSpPr/>
            <p:nvPr/>
          </p:nvSpPr>
          <p:spPr>
            <a:xfrm>
              <a:off x="2110" y="2405"/>
              <a:ext cx="123" cy="76"/>
            </a:xfrm>
            <a:prstGeom prst="rect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>
                <a:latin typeface="Calibri" charset="0"/>
              </a:endParaRPr>
            </a:p>
          </p:txBody>
        </p:sp>
        <p:sp>
          <p:nvSpPr>
            <p:cNvPr id="1069" name="Rectangle 45"/>
            <p:cNvSpPr/>
            <p:nvPr/>
          </p:nvSpPr>
          <p:spPr>
            <a:xfrm>
              <a:off x="2503" y="2397"/>
              <a:ext cx="150" cy="10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/>
            <a:p>
              <a:endParaRPr>
                <a:latin typeface="Calibri" charset="0"/>
              </a:endParaRPr>
            </a:p>
          </p:txBody>
        </p:sp>
        <p:sp>
          <p:nvSpPr>
            <p:cNvPr id="1070" name="Rectangle 46"/>
            <p:cNvSpPr/>
            <p:nvPr/>
          </p:nvSpPr>
          <p:spPr>
            <a:xfrm>
              <a:off x="2517" y="2410"/>
              <a:ext cx="123" cy="77"/>
            </a:xfrm>
            <a:prstGeom prst="rect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>
                <a:latin typeface="Calibri" charset="0"/>
              </a:endParaRPr>
            </a:p>
          </p:txBody>
        </p:sp>
        <p:sp>
          <p:nvSpPr>
            <p:cNvPr id="1071" name="Freeform 47"/>
            <p:cNvSpPr/>
            <p:nvPr/>
          </p:nvSpPr>
          <p:spPr>
            <a:xfrm>
              <a:off x="2004" y="2415"/>
              <a:ext cx="89" cy="44"/>
            </a:xfrm>
            <a:custGeom>
              <a:avLst/>
              <a:gdLst>
                <a:gd name="txL" fmla="*/ 0 w 100"/>
                <a:gd name="txT" fmla="*/ 0 h 44"/>
                <a:gd name="txR" fmla="*/ 100 w 100"/>
                <a:gd name="txB" fmla="*/ 44 h 44"/>
              </a:gdLst>
              <a:ahLst/>
              <a:cxnLst>
                <a:cxn ang="0">
                  <a:pos x="99" y="19"/>
                </a:cxn>
                <a:cxn ang="0">
                  <a:pos x="0" y="43"/>
                </a:cxn>
                <a:cxn ang="0">
                  <a:pos x="0" y="19"/>
                </a:cxn>
                <a:cxn ang="0">
                  <a:pos x="0" y="0"/>
                </a:cxn>
                <a:cxn ang="0">
                  <a:pos x="99" y="19"/>
                </a:cxn>
              </a:cxnLst>
              <a:rect l="txL" t="txT" r="txR" b="txB"/>
              <a:pathLst>
                <a:path w="100" h="44">
                  <a:moveTo>
                    <a:pt x="99" y="19"/>
                  </a:moveTo>
                  <a:lnTo>
                    <a:pt x="0" y="43"/>
                  </a:lnTo>
                  <a:lnTo>
                    <a:pt x="0" y="19"/>
                  </a:lnTo>
                  <a:lnTo>
                    <a:pt x="0" y="0"/>
                  </a:lnTo>
                  <a:lnTo>
                    <a:pt x="99" y="19"/>
                  </a:lnTo>
                </a:path>
              </a:pathLst>
            </a:custGeom>
            <a:noFill/>
            <a:ln w="12700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72" name="Line 48"/>
            <p:cNvSpPr/>
            <p:nvPr/>
          </p:nvSpPr>
          <p:spPr>
            <a:xfrm>
              <a:off x="1876" y="2436"/>
              <a:ext cx="114" cy="0"/>
            </a:xfrm>
            <a:prstGeom prst="line">
              <a:avLst/>
            </a:prstGeom>
            <a:ln w="254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73" name="Freeform 49"/>
            <p:cNvSpPr/>
            <p:nvPr/>
          </p:nvSpPr>
          <p:spPr>
            <a:xfrm>
              <a:off x="2405" y="2396"/>
              <a:ext cx="88" cy="41"/>
            </a:xfrm>
            <a:custGeom>
              <a:avLst/>
              <a:gdLst>
                <a:gd name="txL" fmla="*/ 0 w 100"/>
                <a:gd name="txT" fmla="*/ 0 h 41"/>
                <a:gd name="txR" fmla="*/ 100 w 100"/>
                <a:gd name="txB" fmla="*/ 41 h 41"/>
              </a:gdLst>
              <a:ahLst/>
              <a:cxnLst>
                <a:cxn ang="0">
                  <a:pos x="99" y="18"/>
                </a:cxn>
                <a:cxn ang="0">
                  <a:pos x="0" y="40"/>
                </a:cxn>
                <a:cxn ang="0">
                  <a:pos x="0" y="18"/>
                </a:cxn>
                <a:cxn ang="0">
                  <a:pos x="0" y="0"/>
                </a:cxn>
                <a:cxn ang="0">
                  <a:pos x="99" y="18"/>
                </a:cxn>
              </a:cxnLst>
              <a:rect l="txL" t="txT" r="txR" b="txB"/>
              <a:pathLst>
                <a:path w="100" h="41">
                  <a:moveTo>
                    <a:pt x="99" y="18"/>
                  </a:moveTo>
                  <a:lnTo>
                    <a:pt x="0" y="40"/>
                  </a:lnTo>
                  <a:lnTo>
                    <a:pt x="0" y="18"/>
                  </a:lnTo>
                  <a:lnTo>
                    <a:pt x="0" y="0"/>
                  </a:lnTo>
                  <a:lnTo>
                    <a:pt x="99" y="18"/>
                  </a:lnTo>
                </a:path>
              </a:pathLst>
            </a:custGeom>
            <a:noFill/>
            <a:ln w="12700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74" name="Oval 50" descr="Wide downward diagonal"/>
            <p:cNvSpPr/>
            <p:nvPr/>
          </p:nvSpPr>
          <p:spPr>
            <a:xfrm>
              <a:off x="3350" y="2378"/>
              <a:ext cx="762" cy="135"/>
            </a:xfrm>
            <a:prstGeom prst="ellipse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>
                <a:latin typeface="Calibri" charset="0"/>
              </a:endParaRPr>
            </a:p>
          </p:txBody>
        </p:sp>
        <p:sp>
          <p:nvSpPr>
            <p:cNvPr id="1075" name="Rectangle 51"/>
            <p:cNvSpPr/>
            <p:nvPr/>
          </p:nvSpPr>
          <p:spPr>
            <a:xfrm>
              <a:off x="3420" y="2389"/>
              <a:ext cx="149" cy="10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/>
            <a:p>
              <a:endParaRPr>
                <a:latin typeface="Calibri" charset="0"/>
              </a:endParaRPr>
            </a:p>
          </p:txBody>
        </p:sp>
        <p:sp>
          <p:nvSpPr>
            <p:cNvPr id="1076" name="Rectangle 52"/>
            <p:cNvSpPr/>
            <p:nvPr/>
          </p:nvSpPr>
          <p:spPr>
            <a:xfrm>
              <a:off x="3433" y="2405"/>
              <a:ext cx="123" cy="76"/>
            </a:xfrm>
            <a:prstGeom prst="rect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>
                <a:latin typeface="Calibri" charset="0"/>
              </a:endParaRPr>
            </a:p>
          </p:txBody>
        </p:sp>
        <p:sp>
          <p:nvSpPr>
            <p:cNvPr id="1077" name="Rectangle 53"/>
            <p:cNvSpPr/>
            <p:nvPr/>
          </p:nvSpPr>
          <p:spPr>
            <a:xfrm>
              <a:off x="3875" y="2389"/>
              <a:ext cx="149" cy="10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/>
            <a:p>
              <a:endParaRPr>
                <a:latin typeface="Calibri" charset="0"/>
              </a:endParaRPr>
            </a:p>
          </p:txBody>
        </p:sp>
        <p:sp>
          <p:nvSpPr>
            <p:cNvPr id="1078" name="Rectangle 54"/>
            <p:cNvSpPr/>
            <p:nvPr/>
          </p:nvSpPr>
          <p:spPr>
            <a:xfrm>
              <a:off x="3888" y="2405"/>
              <a:ext cx="123" cy="76"/>
            </a:xfrm>
            <a:prstGeom prst="rect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>
                <a:latin typeface="Calibri" charset="0"/>
              </a:endParaRPr>
            </a:p>
          </p:txBody>
        </p:sp>
        <p:sp>
          <p:nvSpPr>
            <p:cNvPr id="1079" name="Oval 55" descr="Wide downward diagonal"/>
            <p:cNvSpPr/>
            <p:nvPr/>
          </p:nvSpPr>
          <p:spPr>
            <a:xfrm>
              <a:off x="3339" y="2711"/>
              <a:ext cx="762" cy="136"/>
            </a:xfrm>
            <a:prstGeom prst="ellipse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>
                <a:latin typeface="Calibri" charset="0"/>
              </a:endParaRPr>
            </a:p>
          </p:txBody>
        </p:sp>
        <p:sp>
          <p:nvSpPr>
            <p:cNvPr id="1080" name="Rectangle 56"/>
            <p:cNvSpPr/>
            <p:nvPr/>
          </p:nvSpPr>
          <p:spPr>
            <a:xfrm>
              <a:off x="3409" y="2724"/>
              <a:ext cx="148" cy="10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/>
            <a:p>
              <a:endParaRPr>
                <a:latin typeface="Calibri" charset="0"/>
              </a:endParaRPr>
            </a:p>
          </p:txBody>
        </p:sp>
        <p:sp>
          <p:nvSpPr>
            <p:cNvPr id="1081" name="Rectangle 57"/>
            <p:cNvSpPr/>
            <p:nvPr/>
          </p:nvSpPr>
          <p:spPr>
            <a:xfrm>
              <a:off x="3422" y="2738"/>
              <a:ext cx="123" cy="77"/>
            </a:xfrm>
            <a:prstGeom prst="rect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>
                <a:latin typeface="Calibri" charset="0"/>
              </a:endParaRPr>
            </a:p>
          </p:txBody>
        </p:sp>
        <p:sp>
          <p:nvSpPr>
            <p:cNvPr id="1082" name="Rectangle 58"/>
            <p:cNvSpPr/>
            <p:nvPr/>
          </p:nvSpPr>
          <p:spPr>
            <a:xfrm>
              <a:off x="3864" y="2724"/>
              <a:ext cx="148" cy="10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/>
            <a:p>
              <a:endParaRPr>
                <a:latin typeface="Calibri" charset="0"/>
              </a:endParaRPr>
            </a:p>
          </p:txBody>
        </p:sp>
        <p:sp>
          <p:nvSpPr>
            <p:cNvPr id="1083" name="Rectangle 59"/>
            <p:cNvSpPr/>
            <p:nvPr/>
          </p:nvSpPr>
          <p:spPr>
            <a:xfrm>
              <a:off x="3877" y="2738"/>
              <a:ext cx="123" cy="77"/>
            </a:xfrm>
            <a:prstGeom prst="rect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>
                <a:latin typeface="Calibri" charset="0"/>
              </a:endParaRPr>
            </a:p>
          </p:txBody>
        </p:sp>
        <p:sp>
          <p:nvSpPr>
            <p:cNvPr id="1084" name="Freeform 60"/>
            <p:cNvSpPr/>
            <p:nvPr/>
          </p:nvSpPr>
          <p:spPr>
            <a:xfrm>
              <a:off x="3414" y="2129"/>
              <a:ext cx="89" cy="40"/>
            </a:xfrm>
            <a:custGeom>
              <a:avLst/>
              <a:gdLst>
                <a:gd name="txL" fmla="*/ 0 w 100"/>
                <a:gd name="txT" fmla="*/ 0 h 40"/>
                <a:gd name="txR" fmla="*/ 100 w 100"/>
                <a:gd name="txB" fmla="*/ 40 h 40"/>
              </a:gdLst>
              <a:ahLst/>
              <a:cxnLst>
                <a:cxn ang="0">
                  <a:pos x="99" y="20"/>
                </a:cxn>
                <a:cxn ang="0">
                  <a:pos x="0" y="39"/>
                </a:cxn>
                <a:cxn ang="0">
                  <a:pos x="0" y="20"/>
                </a:cxn>
                <a:cxn ang="0">
                  <a:pos x="0" y="0"/>
                </a:cxn>
                <a:cxn ang="0">
                  <a:pos x="99" y="20"/>
                </a:cxn>
              </a:cxnLst>
              <a:rect l="txL" t="txT" r="txR" b="txB"/>
              <a:pathLst>
                <a:path w="100" h="40">
                  <a:moveTo>
                    <a:pt x="99" y="20"/>
                  </a:moveTo>
                  <a:lnTo>
                    <a:pt x="0" y="39"/>
                  </a:lnTo>
                  <a:lnTo>
                    <a:pt x="0" y="20"/>
                  </a:lnTo>
                  <a:lnTo>
                    <a:pt x="0" y="0"/>
                  </a:lnTo>
                  <a:lnTo>
                    <a:pt x="99" y="20"/>
                  </a:lnTo>
                </a:path>
              </a:pathLst>
            </a:custGeom>
            <a:noFill/>
            <a:ln w="12700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85" name="Freeform 61"/>
            <p:cNvSpPr/>
            <p:nvPr/>
          </p:nvSpPr>
          <p:spPr>
            <a:xfrm>
              <a:off x="3782" y="2426"/>
              <a:ext cx="89" cy="38"/>
            </a:xfrm>
            <a:custGeom>
              <a:avLst/>
              <a:gdLst>
                <a:gd name="txL" fmla="*/ 0 w 100"/>
                <a:gd name="txT" fmla="*/ 0 h 38"/>
                <a:gd name="txR" fmla="*/ 100 w 100"/>
                <a:gd name="txB" fmla="*/ 38 h 38"/>
              </a:gdLst>
              <a:ahLst/>
              <a:cxnLst>
                <a:cxn ang="0">
                  <a:pos x="99" y="19"/>
                </a:cxn>
                <a:cxn ang="0">
                  <a:pos x="0" y="37"/>
                </a:cxn>
                <a:cxn ang="0">
                  <a:pos x="0" y="19"/>
                </a:cxn>
                <a:cxn ang="0">
                  <a:pos x="0" y="0"/>
                </a:cxn>
                <a:cxn ang="0">
                  <a:pos x="99" y="19"/>
                </a:cxn>
              </a:cxnLst>
              <a:rect l="txL" t="txT" r="txR" b="txB"/>
              <a:pathLst>
                <a:path w="100" h="38">
                  <a:moveTo>
                    <a:pt x="99" y="19"/>
                  </a:moveTo>
                  <a:lnTo>
                    <a:pt x="0" y="37"/>
                  </a:lnTo>
                  <a:lnTo>
                    <a:pt x="0" y="19"/>
                  </a:lnTo>
                  <a:lnTo>
                    <a:pt x="0" y="0"/>
                  </a:lnTo>
                  <a:lnTo>
                    <a:pt x="99" y="19"/>
                  </a:lnTo>
                </a:path>
              </a:pathLst>
            </a:custGeom>
            <a:noFill/>
            <a:ln w="12700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86" name="Freeform 62"/>
            <p:cNvSpPr/>
            <p:nvPr/>
          </p:nvSpPr>
          <p:spPr>
            <a:xfrm>
              <a:off x="3771" y="2760"/>
              <a:ext cx="88" cy="38"/>
            </a:xfrm>
            <a:custGeom>
              <a:avLst/>
              <a:gdLst>
                <a:gd name="txL" fmla="*/ 0 w 100"/>
                <a:gd name="txT" fmla="*/ 0 h 38"/>
                <a:gd name="txR" fmla="*/ 100 w 100"/>
                <a:gd name="txB" fmla="*/ 38 h 38"/>
              </a:gdLst>
              <a:ahLst/>
              <a:cxnLst>
                <a:cxn ang="0">
                  <a:pos x="99" y="19"/>
                </a:cxn>
                <a:cxn ang="0">
                  <a:pos x="0" y="37"/>
                </a:cxn>
                <a:cxn ang="0">
                  <a:pos x="0" y="19"/>
                </a:cxn>
                <a:cxn ang="0">
                  <a:pos x="0" y="0"/>
                </a:cxn>
                <a:cxn ang="0">
                  <a:pos x="99" y="19"/>
                </a:cxn>
              </a:cxnLst>
              <a:rect l="txL" t="txT" r="txR" b="txB"/>
              <a:pathLst>
                <a:path w="100" h="38">
                  <a:moveTo>
                    <a:pt x="99" y="19"/>
                  </a:moveTo>
                  <a:lnTo>
                    <a:pt x="0" y="37"/>
                  </a:lnTo>
                  <a:lnTo>
                    <a:pt x="0" y="19"/>
                  </a:lnTo>
                  <a:lnTo>
                    <a:pt x="0" y="0"/>
                  </a:lnTo>
                  <a:lnTo>
                    <a:pt x="99" y="19"/>
                  </a:lnTo>
                </a:path>
              </a:pathLst>
            </a:custGeom>
            <a:noFill/>
            <a:ln w="12700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87" name="Line 63"/>
            <p:cNvSpPr/>
            <p:nvPr/>
          </p:nvSpPr>
          <p:spPr>
            <a:xfrm>
              <a:off x="1450" y="1517"/>
              <a:ext cx="0" cy="152"/>
            </a:xfrm>
            <a:prstGeom prst="line">
              <a:avLst/>
            </a:prstGeom>
            <a:ln w="254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88" name="Line 64"/>
            <p:cNvSpPr/>
            <p:nvPr/>
          </p:nvSpPr>
          <p:spPr>
            <a:xfrm>
              <a:off x="1784" y="1520"/>
              <a:ext cx="758" cy="0"/>
            </a:xfrm>
            <a:prstGeom prst="line">
              <a:avLst/>
            </a:prstGeom>
            <a:ln w="254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89" name="Line 65"/>
            <p:cNvSpPr/>
            <p:nvPr/>
          </p:nvSpPr>
          <p:spPr>
            <a:xfrm>
              <a:off x="2152" y="1497"/>
              <a:ext cx="0" cy="9"/>
            </a:xfrm>
            <a:prstGeom prst="line">
              <a:avLst/>
            </a:prstGeom>
            <a:ln w="254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90" name="Freeform 66"/>
            <p:cNvSpPr/>
            <p:nvPr/>
          </p:nvSpPr>
          <p:spPr>
            <a:xfrm>
              <a:off x="1751" y="1552"/>
              <a:ext cx="24" cy="59"/>
            </a:xfrm>
            <a:custGeom>
              <a:avLst/>
              <a:gdLst>
                <a:gd name="txL" fmla="*/ 0 w 27"/>
                <a:gd name="txT" fmla="*/ 0 h 59"/>
                <a:gd name="txR" fmla="*/ 27 w 27"/>
                <a:gd name="txB" fmla="*/ 59 h 59"/>
              </a:gdLst>
              <a:ahLst/>
              <a:cxnLst>
                <a:cxn ang="0">
                  <a:pos x="16" y="58"/>
                </a:cxn>
                <a:cxn ang="0">
                  <a:pos x="0" y="0"/>
                </a:cxn>
                <a:cxn ang="0">
                  <a:pos x="16" y="0"/>
                </a:cxn>
                <a:cxn ang="0">
                  <a:pos x="26" y="0"/>
                </a:cxn>
                <a:cxn ang="0">
                  <a:pos x="16" y="58"/>
                </a:cxn>
              </a:cxnLst>
              <a:rect l="txL" t="txT" r="txR" b="txB"/>
              <a:pathLst>
                <a:path w="27" h="59">
                  <a:moveTo>
                    <a:pt x="16" y="58"/>
                  </a:moveTo>
                  <a:lnTo>
                    <a:pt x="0" y="0"/>
                  </a:lnTo>
                  <a:lnTo>
                    <a:pt x="16" y="0"/>
                  </a:lnTo>
                  <a:lnTo>
                    <a:pt x="26" y="0"/>
                  </a:lnTo>
                  <a:lnTo>
                    <a:pt x="16" y="58"/>
                  </a:lnTo>
                </a:path>
              </a:pathLst>
            </a:custGeom>
            <a:noFill/>
            <a:ln w="12700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91" name="Line 67"/>
            <p:cNvSpPr/>
            <p:nvPr/>
          </p:nvSpPr>
          <p:spPr>
            <a:xfrm>
              <a:off x="1769" y="1529"/>
              <a:ext cx="0" cy="14"/>
            </a:xfrm>
            <a:prstGeom prst="line">
              <a:avLst/>
            </a:prstGeom>
            <a:ln w="254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92" name="Freeform 68"/>
            <p:cNvSpPr/>
            <p:nvPr/>
          </p:nvSpPr>
          <p:spPr>
            <a:xfrm>
              <a:off x="2136" y="1552"/>
              <a:ext cx="23" cy="59"/>
            </a:xfrm>
            <a:custGeom>
              <a:avLst/>
              <a:gdLst>
                <a:gd name="txL" fmla="*/ 0 w 26"/>
                <a:gd name="txT" fmla="*/ 0 h 59"/>
                <a:gd name="txR" fmla="*/ 26 w 26"/>
                <a:gd name="txB" fmla="*/ 59 h 59"/>
              </a:gdLst>
              <a:ahLst/>
              <a:cxnLst>
                <a:cxn ang="0">
                  <a:pos x="10" y="58"/>
                </a:cxn>
                <a:cxn ang="0">
                  <a:pos x="0" y="0"/>
                </a:cxn>
                <a:cxn ang="0">
                  <a:pos x="10" y="0"/>
                </a:cxn>
                <a:cxn ang="0">
                  <a:pos x="25" y="0"/>
                </a:cxn>
                <a:cxn ang="0">
                  <a:pos x="10" y="58"/>
                </a:cxn>
              </a:cxnLst>
              <a:rect l="txL" t="txT" r="txR" b="txB"/>
              <a:pathLst>
                <a:path w="26" h="59">
                  <a:moveTo>
                    <a:pt x="10" y="58"/>
                  </a:moveTo>
                  <a:lnTo>
                    <a:pt x="0" y="0"/>
                  </a:lnTo>
                  <a:lnTo>
                    <a:pt x="10" y="0"/>
                  </a:lnTo>
                  <a:lnTo>
                    <a:pt x="25" y="0"/>
                  </a:lnTo>
                  <a:lnTo>
                    <a:pt x="10" y="58"/>
                  </a:lnTo>
                </a:path>
              </a:pathLst>
            </a:custGeom>
            <a:noFill/>
            <a:ln w="12700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93" name="Line 69"/>
            <p:cNvSpPr/>
            <p:nvPr/>
          </p:nvSpPr>
          <p:spPr>
            <a:xfrm>
              <a:off x="2147" y="1531"/>
              <a:ext cx="0" cy="4"/>
            </a:xfrm>
            <a:prstGeom prst="line">
              <a:avLst/>
            </a:prstGeom>
            <a:ln w="254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94" name="Freeform 70"/>
            <p:cNvSpPr/>
            <p:nvPr/>
          </p:nvSpPr>
          <p:spPr>
            <a:xfrm>
              <a:off x="2536" y="1558"/>
              <a:ext cx="29" cy="59"/>
            </a:xfrm>
            <a:custGeom>
              <a:avLst/>
              <a:gdLst>
                <a:gd name="txL" fmla="*/ 0 w 32"/>
                <a:gd name="txT" fmla="*/ 0 h 59"/>
                <a:gd name="txR" fmla="*/ 32 w 32"/>
                <a:gd name="txB" fmla="*/ 59 h 59"/>
              </a:gdLst>
              <a:ahLst/>
              <a:cxnLst>
                <a:cxn ang="0">
                  <a:pos x="16" y="58"/>
                </a:cxn>
                <a:cxn ang="0">
                  <a:pos x="0" y="0"/>
                </a:cxn>
                <a:cxn ang="0">
                  <a:pos x="16" y="0"/>
                </a:cxn>
                <a:cxn ang="0">
                  <a:pos x="31" y="0"/>
                </a:cxn>
                <a:cxn ang="0">
                  <a:pos x="16" y="58"/>
                </a:cxn>
              </a:cxnLst>
              <a:rect l="txL" t="txT" r="txR" b="txB"/>
              <a:pathLst>
                <a:path w="32" h="59">
                  <a:moveTo>
                    <a:pt x="16" y="58"/>
                  </a:moveTo>
                  <a:lnTo>
                    <a:pt x="0" y="0"/>
                  </a:lnTo>
                  <a:lnTo>
                    <a:pt x="16" y="0"/>
                  </a:lnTo>
                  <a:lnTo>
                    <a:pt x="31" y="0"/>
                  </a:lnTo>
                  <a:lnTo>
                    <a:pt x="16" y="58"/>
                  </a:lnTo>
                </a:path>
              </a:pathLst>
            </a:custGeom>
            <a:noFill/>
            <a:ln w="12700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95" name="Line 71"/>
            <p:cNvSpPr/>
            <p:nvPr/>
          </p:nvSpPr>
          <p:spPr>
            <a:xfrm>
              <a:off x="2553" y="1537"/>
              <a:ext cx="0" cy="4"/>
            </a:xfrm>
            <a:prstGeom prst="line">
              <a:avLst/>
            </a:prstGeom>
            <a:ln w="254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96" name="Freeform 72"/>
            <p:cNvSpPr/>
            <p:nvPr/>
          </p:nvSpPr>
          <p:spPr>
            <a:xfrm>
              <a:off x="2136" y="1404"/>
              <a:ext cx="23" cy="60"/>
            </a:xfrm>
            <a:custGeom>
              <a:avLst/>
              <a:gdLst>
                <a:gd name="txL" fmla="*/ 0 w 26"/>
                <a:gd name="txT" fmla="*/ 0 h 60"/>
                <a:gd name="txR" fmla="*/ 26 w 26"/>
                <a:gd name="txB" fmla="*/ 60 h 60"/>
              </a:gdLst>
              <a:ahLst/>
              <a:cxnLst>
                <a:cxn ang="0">
                  <a:pos x="10" y="59"/>
                </a:cxn>
                <a:cxn ang="0">
                  <a:pos x="0" y="0"/>
                </a:cxn>
                <a:cxn ang="0">
                  <a:pos x="10" y="0"/>
                </a:cxn>
                <a:cxn ang="0">
                  <a:pos x="25" y="0"/>
                </a:cxn>
                <a:cxn ang="0">
                  <a:pos x="10" y="59"/>
                </a:cxn>
              </a:cxnLst>
              <a:rect l="txL" t="txT" r="txR" b="txB"/>
              <a:pathLst>
                <a:path w="26" h="60">
                  <a:moveTo>
                    <a:pt x="10" y="59"/>
                  </a:moveTo>
                  <a:lnTo>
                    <a:pt x="0" y="0"/>
                  </a:lnTo>
                  <a:lnTo>
                    <a:pt x="10" y="0"/>
                  </a:lnTo>
                  <a:lnTo>
                    <a:pt x="25" y="0"/>
                  </a:lnTo>
                  <a:lnTo>
                    <a:pt x="10" y="59"/>
                  </a:lnTo>
                </a:path>
              </a:pathLst>
            </a:custGeom>
            <a:noFill/>
            <a:ln w="12700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97" name="Line 73"/>
            <p:cNvSpPr/>
            <p:nvPr/>
          </p:nvSpPr>
          <p:spPr>
            <a:xfrm>
              <a:off x="2147" y="1341"/>
              <a:ext cx="0" cy="46"/>
            </a:xfrm>
            <a:prstGeom prst="line">
              <a:avLst/>
            </a:prstGeom>
            <a:ln w="2540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98" name="Freeform 74"/>
            <p:cNvSpPr/>
            <p:nvPr/>
          </p:nvSpPr>
          <p:spPr>
            <a:xfrm>
              <a:off x="1434" y="1398"/>
              <a:ext cx="28" cy="58"/>
            </a:xfrm>
            <a:custGeom>
              <a:avLst/>
              <a:gdLst>
                <a:gd name="txL" fmla="*/ 0 w 31"/>
                <a:gd name="txT" fmla="*/ 0 h 58"/>
                <a:gd name="txR" fmla="*/ 31 w 31"/>
                <a:gd name="txB" fmla="*/ 58 h 58"/>
              </a:gdLst>
              <a:ahLst/>
              <a:cxnLst>
                <a:cxn ang="0">
                  <a:pos x="15" y="57"/>
                </a:cxn>
                <a:cxn ang="0">
                  <a:pos x="0" y="0"/>
                </a:cxn>
                <a:cxn ang="0">
                  <a:pos x="15" y="0"/>
                </a:cxn>
                <a:cxn ang="0">
                  <a:pos x="30" y="0"/>
                </a:cxn>
                <a:cxn ang="0">
                  <a:pos x="15" y="57"/>
                </a:cxn>
              </a:cxnLst>
              <a:rect l="txL" t="txT" r="txR" b="txB"/>
              <a:pathLst>
                <a:path w="31" h="58">
                  <a:moveTo>
                    <a:pt x="15" y="57"/>
                  </a:moveTo>
                  <a:lnTo>
                    <a:pt x="0" y="0"/>
                  </a:lnTo>
                  <a:lnTo>
                    <a:pt x="15" y="0"/>
                  </a:lnTo>
                  <a:lnTo>
                    <a:pt x="30" y="0"/>
                  </a:lnTo>
                  <a:lnTo>
                    <a:pt x="15" y="57"/>
                  </a:lnTo>
                </a:path>
              </a:pathLst>
            </a:custGeom>
            <a:noFill/>
            <a:ln w="12700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99" name="Line 75"/>
            <p:cNvSpPr/>
            <p:nvPr/>
          </p:nvSpPr>
          <p:spPr>
            <a:xfrm>
              <a:off x="1450" y="1272"/>
              <a:ext cx="0" cy="192"/>
            </a:xfrm>
            <a:prstGeom prst="line">
              <a:avLst/>
            </a:prstGeom>
            <a:ln w="25400" cap="flat" cmpd="sng">
              <a:solidFill>
                <a:schemeClr val="tx2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100" name="Line 76"/>
            <p:cNvSpPr/>
            <p:nvPr/>
          </p:nvSpPr>
          <p:spPr>
            <a:xfrm>
              <a:off x="1471" y="1685"/>
              <a:ext cx="70" cy="0"/>
            </a:xfrm>
            <a:prstGeom prst="line">
              <a:avLst/>
            </a:prstGeom>
            <a:ln w="254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01" name="Line 77"/>
            <p:cNvSpPr/>
            <p:nvPr/>
          </p:nvSpPr>
          <p:spPr>
            <a:xfrm>
              <a:off x="2162" y="1954"/>
              <a:ext cx="913" cy="0"/>
            </a:xfrm>
            <a:prstGeom prst="line">
              <a:avLst/>
            </a:prstGeom>
            <a:ln w="254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02" name="Line 78"/>
            <p:cNvSpPr/>
            <p:nvPr/>
          </p:nvSpPr>
          <p:spPr>
            <a:xfrm>
              <a:off x="2656" y="1689"/>
              <a:ext cx="147" cy="0"/>
            </a:xfrm>
            <a:prstGeom prst="line">
              <a:avLst/>
            </a:prstGeom>
            <a:ln w="254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03" name="Line 79"/>
            <p:cNvSpPr/>
            <p:nvPr/>
          </p:nvSpPr>
          <p:spPr>
            <a:xfrm>
              <a:off x="1359" y="1869"/>
              <a:ext cx="2969" cy="0"/>
            </a:xfrm>
            <a:prstGeom prst="line">
              <a:avLst/>
            </a:prstGeom>
            <a:ln w="50800" cap="flat" cmpd="sng">
              <a:solidFill>
                <a:srgbClr val="80808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04" name="Freeform 80"/>
            <p:cNvSpPr/>
            <p:nvPr/>
          </p:nvSpPr>
          <p:spPr>
            <a:xfrm>
              <a:off x="2799" y="1892"/>
              <a:ext cx="22" cy="59"/>
            </a:xfrm>
            <a:custGeom>
              <a:avLst/>
              <a:gdLst>
                <a:gd name="txL" fmla="*/ 0 w 25"/>
                <a:gd name="txT" fmla="*/ 0 h 59"/>
                <a:gd name="txR" fmla="*/ 25 w 25"/>
                <a:gd name="txB" fmla="*/ 59 h 59"/>
              </a:gdLst>
              <a:ahLst/>
              <a:cxnLst>
                <a:cxn ang="0">
                  <a:pos x="15" y="58"/>
                </a:cxn>
                <a:cxn ang="0">
                  <a:pos x="0" y="0"/>
                </a:cxn>
                <a:cxn ang="0">
                  <a:pos x="15" y="0"/>
                </a:cxn>
                <a:cxn ang="0">
                  <a:pos x="24" y="0"/>
                </a:cxn>
                <a:cxn ang="0">
                  <a:pos x="15" y="58"/>
                </a:cxn>
              </a:cxnLst>
              <a:rect l="txL" t="txT" r="txR" b="txB"/>
              <a:pathLst>
                <a:path w="25" h="59">
                  <a:moveTo>
                    <a:pt x="15" y="58"/>
                  </a:moveTo>
                  <a:lnTo>
                    <a:pt x="0" y="0"/>
                  </a:lnTo>
                  <a:lnTo>
                    <a:pt x="15" y="0"/>
                  </a:lnTo>
                  <a:lnTo>
                    <a:pt x="24" y="0"/>
                  </a:lnTo>
                  <a:lnTo>
                    <a:pt x="15" y="58"/>
                  </a:lnTo>
                </a:path>
              </a:pathLst>
            </a:custGeom>
            <a:noFill/>
            <a:ln w="12700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105" name="Freeform 81"/>
            <p:cNvSpPr/>
            <p:nvPr/>
          </p:nvSpPr>
          <p:spPr>
            <a:xfrm>
              <a:off x="2131" y="2015"/>
              <a:ext cx="28" cy="57"/>
            </a:xfrm>
            <a:custGeom>
              <a:avLst/>
              <a:gdLst>
                <a:gd name="txL" fmla="*/ 0 w 32"/>
                <a:gd name="txT" fmla="*/ 0 h 57"/>
                <a:gd name="txR" fmla="*/ 32 w 32"/>
                <a:gd name="txB" fmla="*/ 57 h 57"/>
              </a:gdLst>
              <a:ahLst/>
              <a:cxnLst>
                <a:cxn ang="0">
                  <a:pos x="16" y="56"/>
                </a:cxn>
                <a:cxn ang="0">
                  <a:pos x="0" y="0"/>
                </a:cxn>
                <a:cxn ang="0">
                  <a:pos x="16" y="0"/>
                </a:cxn>
                <a:cxn ang="0">
                  <a:pos x="31" y="0"/>
                </a:cxn>
                <a:cxn ang="0">
                  <a:pos x="16" y="56"/>
                </a:cxn>
              </a:cxnLst>
              <a:rect l="txL" t="txT" r="txR" b="txB"/>
              <a:pathLst>
                <a:path w="32" h="57">
                  <a:moveTo>
                    <a:pt x="16" y="56"/>
                  </a:moveTo>
                  <a:lnTo>
                    <a:pt x="0" y="0"/>
                  </a:lnTo>
                  <a:lnTo>
                    <a:pt x="16" y="0"/>
                  </a:lnTo>
                  <a:lnTo>
                    <a:pt x="31" y="0"/>
                  </a:lnTo>
                  <a:lnTo>
                    <a:pt x="16" y="56"/>
                  </a:lnTo>
                </a:path>
              </a:pathLst>
            </a:custGeom>
            <a:noFill/>
            <a:ln w="12700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106" name="Freeform 82"/>
            <p:cNvSpPr/>
            <p:nvPr/>
          </p:nvSpPr>
          <p:spPr>
            <a:xfrm>
              <a:off x="2542" y="2021"/>
              <a:ext cx="29" cy="58"/>
            </a:xfrm>
            <a:custGeom>
              <a:avLst/>
              <a:gdLst>
                <a:gd name="txL" fmla="*/ 0 w 32"/>
                <a:gd name="txT" fmla="*/ 0 h 58"/>
                <a:gd name="txR" fmla="*/ 32 w 32"/>
                <a:gd name="txB" fmla="*/ 58 h 58"/>
              </a:gdLst>
              <a:ahLst/>
              <a:cxnLst>
                <a:cxn ang="0">
                  <a:pos x="15" y="57"/>
                </a:cxn>
                <a:cxn ang="0">
                  <a:pos x="0" y="0"/>
                </a:cxn>
                <a:cxn ang="0">
                  <a:pos x="15" y="0"/>
                </a:cxn>
                <a:cxn ang="0">
                  <a:pos x="31" y="0"/>
                </a:cxn>
                <a:cxn ang="0">
                  <a:pos x="15" y="57"/>
                </a:cxn>
              </a:cxnLst>
              <a:rect l="txL" t="txT" r="txR" b="txB"/>
              <a:pathLst>
                <a:path w="32" h="58">
                  <a:moveTo>
                    <a:pt x="15" y="57"/>
                  </a:moveTo>
                  <a:lnTo>
                    <a:pt x="0" y="0"/>
                  </a:lnTo>
                  <a:lnTo>
                    <a:pt x="15" y="0"/>
                  </a:lnTo>
                  <a:lnTo>
                    <a:pt x="31" y="0"/>
                  </a:lnTo>
                  <a:lnTo>
                    <a:pt x="15" y="57"/>
                  </a:lnTo>
                </a:path>
              </a:pathLst>
            </a:custGeom>
            <a:noFill/>
            <a:ln w="12700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107" name="Freeform 83"/>
            <p:cNvSpPr/>
            <p:nvPr/>
          </p:nvSpPr>
          <p:spPr>
            <a:xfrm>
              <a:off x="3074" y="2021"/>
              <a:ext cx="27" cy="58"/>
            </a:xfrm>
            <a:custGeom>
              <a:avLst/>
              <a:gdLst>
                <a:gd name="txL" fmla="*/ 0 w 31"/>
                <a:gd name="txT" fmla="*/ 0 h 58"/>
                <a:gd name="txR" fmla="*/ 31 w 31"/>
                <a:gd name="txB" fmla="*/ 58 h 58"/>
              </a:gdLst>
              <a:ahLst/>
              <a:cxnLst>
                <a:cxn ang="0">
                  <a:pos x="15" y="57"/>
                </a:cxn>
                <a:cxn ang="0">
                  <a:pos x="0" y="0"/>
                </a:cxn>
                <a:cxn ang="0">
                  <a:pos x="15" y="0"/>
                </a:cxn>
                <a:cxn ang="0">
                  <a:pos x="30" y="0"/>
                </a:cxn>
                <a:cxn ang="0">
                  <a:pos x="15" y="57"/>
                </a:cxn>
              </a:cxnLst>
              <a:rect l="txL" t="txT" r="txR" b="txB"/>
              <a:pathLst>
                <a:path w="31" h="58">
                  <a:moveTo>
                    <a:pt x="15" y="57"/>
                  </a:moveTo>
                  <a:lnTo>
                    <a:pt x="0" y="0"/>
                  </a:lnTo>
                  <a:lnTo>
                    <a:pt x="15" y="0"/>
                  </a:lnTo>
                  <a:lnTo>
                    <a:pt x="30" y="0"/>
                  </a:lnTo>
                  <a:lnTo>
                    <a:pt x="15" y="57"/>
                  </a:lnTo>
                </a:path>
              </a:pathLst>
            </a:custGeom>
            <a:noFill/>
            <a:ln w="12700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108" name="Freeform 84"/>
            <p:cNvSpPr/>
            <p:nvPr/>
          </p:nvSpPr>
          <p:spPr>
            <a:xfrm>
              <a:off x="2980" y="2159"/>
              <a:ext cx="68" cy="29"/>
            </a:xfrm>
            <a:custGeom>
              <a:avLst/>
              <a:gdLst>
                <a:gd name="txL" fmla="*/ 0 w 76"/>
                <a:gd name="txT" fmla="*/ 0 h 29"/>
                <a:gd name="txR" fmla="*/ 76 w 76"/>
                <a:gd name="txB" fmla="*/ 29 h 29"/>
              </a:gdLst>
              <a:ahLst/>
              <a:cxnLst>
                <a:cxn ang="0">
                  <a:pos x="75" y="11"/>
                </a:cxn>
                <a:cxn ang="0">
                  <a:pos x="0" y="28"/>
                </a:cxn>
                <a:cxn ang="0">
                  <a:pos x="0" y="11"/>
                </a:cxn>
                <a:cxn ang="0">
                  <a:pos x="0" y="0"/>
                </a:cxn>
                <a:cxn ang="0">
                  <a:pos x="75" y="11"/>
                </a:cxn>
              </a:cxnLst>
              <a:rect l="txL" t="txT" r="txR" b="txB"/>
              <a:pathLst>
                <a:path w="76" h="29">
                  <a:moveTo>
                    <a:pt x="75" y="11"/>
                  </a:moveTo>
                  <a:lnTo>
                    <a:pt x="0" y="28"/>
                  </a:lnTo>
                  <a:lnTo>
                    <a:pt x="0" y="11"/>
                  </a:lnTo>
                  <a:lnTo>
                    <a:pt x="0" y="0"/>
                  </a:lnTo>
                  <a:lnTo>
                    <a:pt x="75" y="11"/>
                  </a:lnTo>
                </a:path>
              </a:pathLst>
            </a:custGeom>
            <a:noFill/>
            <a:ln w="12700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109" name="Freeform 85"/>
            <p:cNvSpPr/>
            <p:nvPr/>
          </p:nvSpPr>
          <p:spPr>
            <a:xfrm>
              <a:off x="2980" y="2098"/>
              <a:ext cx="62" cy="23"/>
            </a:xfrm>
            <a:custGeom>
              <a:avLst/>
              <a:gdLst>
                <a:gd name="txL" fmla="*/ 0 w 69"/>
                <a:gd name="txT" fmla="*/ 0 h 23"/>
                <a:gd name="txR" fmla="*/ 69 w 69"/>
                <a:gd name="txB" fmla="*/ 23 h 23"/>
              </a:gdLst>
              <a:ahLst/>
              <a:cxnLst>
                <a:cxn ang="0">
                  <a:pos x="68" y="13"/>
                </a:cxn>
                <a:cxn ang="0">
                  <a:pos x="0" y="22"/>
                </a:cxn>
                <a:cxn ang="0">
                  <a:pos x="0" y="13"/>
                </a:cxn>
                <a:cxn ang="0">
                  <a:pos x="0" y="0"/>
                </a:cxn>
                <a:cxn ang="0">
                  <a:pos x="68" y="13"/>
                </a:cxn>
              </a:cxnLst>
              <a:rect l="txL" t="txT" r="txR" b="txB"/>
              <a:pathLst>
                <a:path w="69" h="23">
                  <a:moveTo>
                    <a:pt x="68" y="13"/>
                  </a:moveTo>
                  <a:lnTo>
                    <a:pt x="0" y="22"/>
                  </a:lnTo>
                  <a:lnTo>
                    <a:pt x="0" y="13"/>
                  </a:lnTo>
                  <a:lnTo>
                    <a:pt x="0" y="0"/>
                  </a:lnTo>
                  <a:lnTo>
                    <a:pt x="68" y="13"/>
                  </a:lnTo>
                </a:path>
              </a:pathLst>
            </a:custGeom>
            <a:noFill/>
            <a:ln w="12700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110" name="Line 86"/>
            <p:cNvSpPr/>
            <p:nvPr/>
          </p:nvSpPr>
          <p:spPr>
            <a:xfrm>
              <a:off x="1980" y="2289"/>
              <a:ext cx="175" cy="0"/>
            </a:xfrm>
            <a:prstGeom prst="line">
              <a:avLst/>
            </a:prstGeom>
            <a:ln w="254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11" name="Freeform 87"/>
            <p:cNvSpPr/>
            <p:nvPr/>
          </p:nvSpPr>
          <p:spPr>
            <a:xfrm>
              <a:off x="2158" y="2317"/>
              <a:ext cx="23" cy="59"/>
            </a:xfrm>
            <a:custGeom>
              <a:avLst/>
              <a:gdLst>
                <a:gd name="txL" fmla="*/ 0 w 25"/>
                <a:gd name="txT" fmla="*/ 0 h 59"/>
                <a:gd name="txR" fmla="*/ 25 w 25"/>
                <a:gd name="txB" fmla="*/ 59 h 59"/>
              </a:gdLst>
              <a:ahLst/>
              <a:cxnLst>
                <a:cxn ang="0">
                  <a:pos x="9" y="58"/>
                </a:cxn>
                <a:cxn ang="0">
                  <a:pos x="0" y="0"/>
                </a:cxn>
                <a:cxn ang="0">
                  <a:pos x="9" y="0"/>
                </a:cxn>
                <a:cxn ang="0">
                  <a:pos x="24" y="0"/>
                </a:cxn>
                <a:cxn ang="0">
                  <a:pos x="9" y="58"/>
                </a:cxn>
              </a:cxnLst>
              <a:rect l="txL" t="txT" r="txR" b="txB"/>
              <a:pathLst>
                <a:path w="25" h="59">
                  <a:moveTo>
                    <a:pt x="9" y="58"/>
                  </a:moveTo>
                  <a:lnTo>
                    <a:pt x="0" y="0"/>
                  </a:lnTo>
                  <a:lnTo>
                    <a:pt x="9" y="0"/>
                  </a:lnTo>
                  <a:lnTo>
                    <a:pt x="24" y="0"/>
                  </a:lnTo>
                  <a:lnTo>
                    <a:pt x="9" y="58"/>
                  </a:lnTo>
                </a:path>
              </a:pathLst>
            </a:custGeom>
            <a:noFill/>
            <a:ln w="12700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112" name="Line 88"/>
            <p:cNvSpPr/>
            <p:nvPr/>
          </p:nvSpPr>
          <p:spPr>
            <a:xfrm>
              <a:off x="2168" y="2298"/>
              <a:ext cx="0" cy="10"/>
            </a:xfrm>
            <a:prstGeom prst="line">
              <a:avLst/>
            </a:prstGeom>
            <a:ln w="254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13" name="Freeform 89"/>
            <p:cNvSpPr/>
            <p:nvPr/>
          </p:nvSpPr>
          <p:spPr>
            <a:xfrm>
              <a:off x="2425" y="2767"/>
              <a:ext cx="49" cy="30"/>
            </a:xfrm>
            <a:custGeom>
              <a:avLst/>
              <a:gdLst>
                <a:gd name="txL" fmla="*/ 0 w 55"/>
                <a:gd name="txT" fmla="*/ 0 h 30"/>
                <a:gd name="txR" fmla="*/ 55 w 55"/>
                <a:gd name="txB" fmla="*/ 30 h 30"/>
              </a:gdLst>
              <a:ahLst/>
              <a:cxnLst>
                <a:cxn ang="0">
                  <a:pos x="54" y="15"/>
                </a:cxn>
                <a:cxn ang="0">
                  <a:pos x="0" y="29"/>
                </a:cxn>
                <a:cxn ang="0">
                  <a:pos x="0" y="15"/>
                </a:cxn>
                <a:cxn ang="0">
                  <a:pos x="0" y="0"/>
                </a:cxn>
                <a:cxn ang="0">
                  <a:pos x="54" y="15"/>
                </a:cxn>
              </a:cxnLst>
              <a:rect l="txL" t="txT" r="txR" b="txB"/>
              <a:pathLst>
                <a:path w="55" h="30">
                  <a:moveTo>
                    <a:pt x="54" y="15"/>
                  </a:moveTo>
                  <a:lnTo>
                    <a:pt x="0" y="29"/>
                  </a:lnTo>
                  <a:lnTo>
                    <a:pt x="0" y="15"/>
                  </a:lnTo>
                  <a:lnTo>
                    <a:pt x="0" y="0"/>
                  </a:lnTo>
                  <a:lnTo>
                    <a:pt x="54" y="15"/>
                  </a:lnTo>
                </a:path>
              </a:pathLst>
            </a:custGeom>
            <a:noFill/>
            <a:ln w="12700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114" name="Freeform 90"/>
            <p:cNvSpPr/>
            <p:nvPr/>
          </p:nvSpPr>
          <p:spPr>
            <a:xfrm>
              <a:off x="2421" y="2718"/>
              <a:ext cx="62" cy="29"/>
            </a:xfrm>
            <a:custGeom>
              <a:avLst/>
              <a:gdLst>
                <a:gd name="txL" fmla="*/ 0 w 70"/>
                <a:gd name="txT" fmla="*/ 0 h 29"/>
                <a:gd name="txR" fmla="*/ 70 w 70"/>
                <a:gd name="txB" fmla="*/ 29 h 29"/>
              </a:gdLst>
              <a:ahLst/>
              <a:cxnLst>
                <a:cxn ang="0">
                  <a:pos x="69" y="17"/>
                </a:cxn>
                <a:cxn ang="0">
                  <a:pos x="0" y="28"/>
                </a:cxn>
                <a:cxn ang="0">
                  <a:pos x="0" y="17"/>
                </a:cxn>
                <a:cxn ang="0">
                  <a:pos x="0" y="0"/>
                </a:cxn>
                <a:cxn ang="0">
                  <a:pos x="69" y="17"/>
                </a:cxn>
              </a:cxnLst>
              <a:rect l="txL" t="txT" r="txR" b="txB"/>
              <a:pathLst>
                <a:path w="70" h="29">
                  <a:moveTo>
                    <a:pt x="69" y="17"/>
                  </a:moveTo>
                  <a:lnTo>
                    <a:pt x="0" y="28"/>
                  </a:lnTo>
                  <a:lnTo>
                    <a:pt x="0" y="17"/>
                  </a:lnTo>
                  <a:lnTo>
                    <a:pt x="0" y="0"/>
                  </a:lnTo>
                  <a:lnTo>
                    <a:pt x="69" y="17"/>
                  </a:lnTo>
                </a:path>
              </a:pathLst>
            </a:custGeom>
            <a:noFill/>
            <a:ln w="12700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115" name="Freeform 91"/>
            <p:cNvSpPr/>
            <p:nvPr/>
          </p:nvSpPr>
          <p:spPr>
            <a:xfrm>
              <a:off x="3326" y="2760"/>
              <a:ext cx="62" cy="23"/>
            </a:xfrm>
            <a:custGeom>
              <a:avLst/>
              <a:gdLst>
                <a:gd name="txL" fmla="*/ 0 w 69"/>
                <a:gd name="txT" fmla="*/ 0 h 23"/>
                <a:gd name="txR" fmla="*/ 69 w 69"/>
                <a:gd name="txB" fmla="*/ 23 h 23"/>
              </a:gdLst>
              <a:ahLst/>
              <a:cxnLst>
                <a:cxn ang="0">
                  <a:pos x="68" y="14"/>
                </a:cxn>
                <a:cxn ang="0">
                  <a:pos x="0" y="22"/>
                </a:cxn>
                <a:cxn ang="0">
                  <a:pos x="0" y="14"/>
                </a:cxn>
                <a:cxn ang="0">
                  <a:pos x="0" y="0"/>
                </a:cxn>
                <a:cxn ang="0">
                  <a:pos x="68" y="14"/>
                </a:cxn>
              </a:cxnLst>
              <a:rect l="txL" t="txT" r="txR" b="txB"/>
              <a:pathLst>
                <a:path w="69" h="23">
                  <a:moveTo>
                    <a:pt x="68" y="14"/>
                  </a:moveTo>
                  <a:lnTo>
                    <a:pt x="0" y="22"/>
                  </a:lnTo>
                  <a:lnTo>
                    <a:pt x="0" y="14"/>
                  </a:lnTo>
                  <a:lnTo>
                    <a:pt x="0" y="0"/>
                  </a:lnTo>
                  <a:lnTo>
                    <a:pt x="68" y="14"/>
                  </a:lnTo>
                </a:path>
              </a:pathLst>
            </a:custGeom>
            <a:noFill/>
            <a:ln w="12700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116" name="Line 92"/>
            <p:cNvSpPr/>
            <p:nvPr/>
          </p:nvSpPr>
          <p:spPr>
            <a:xfrm>
              <a:off x="2672" y="2777"/>
              <a:ext cx="643" cy="0"/>
            </a:xfrm>
            <a:prstGeom prst="line">
              <a:avLst/>
            </a:prstGeom>
            <a:ln w="254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17" name="Freeform 93"/>
            <p:cNvSpPr/>
            <p:nvPr/>
          </p:nvSpPr>
          <p:spPr>
            <a:xfrm>
              <a:off x="1620" y="2136"/>
              <a:ext cx="61" cy="27"/>
            </a:xfrm>
            <a:custGeom>
              <a:avLst/>
              <a:gdLst>
                <a:gd name="txL" fmla="*/ 0 w 69"/>
                <a:gd name="txT" fmla="*/ 0 h 27"/>
                <a:gd name="txR" fmla="*/ 69 w 69"/>
                <a:gd name="txB" fmla="*/ 27 h 27"/>
              </a:gdLst>
              <a:ahLst/>
              <a:cxnLst>
                <a:cxn ang="0">
                  <a:pos x="68" y="13"/>
                </a:cxn>
                <a:cxn ang="0">
                  <a:pos x="0" y="26"/>
                </a:cxn>
                <a:cxn ang="0">
                  <a:pos x="0" y="13"/>
                </a:cxn>
                <a:cxn ang="0">
                  <a:pos x="0" y="0"/>
                </a:cxn>
                <a:cxn ang="0">
                  <a:pos x="68" y="13"/>
                </a:cxn>
              </a:cxnLst>
              <a:rect l="txL" t="txT" r="txR" b="txB"/>
              <a:pathLst>
                <a:path w="69" h="27">
                  <a:moveTo>
                    <a:pt x="68" y="13"/>
                  </a:moveTo>
                  <a:lnTo>
                    <a:pt x="0" y="26"/>
                  </a:lnTo>
                  <a:lnTo>
                    <a:pt x="0" y="13"/>
                  </a:lnTo>
                  <a:lnTo>
                    <a:pt x="0" y="0"/>
                  </a:lnTo>
                  <a:lnTo>
                    <a:pt x="68" y="13"/>
                  </a:lnTo>
                </a:path>
              </a:pathLst>
            </a:custGeom>
            <a:noFill/>
            <a:ln w="12700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118" name="Line 94"/>
            <p:cNvSpPr/>
            <p:nvPr/>
          </p:nvSpPr>
          <p:spPr>
            <a:xfrm>
              <a:off x="1372" y="2151"/>
              <a:ext cx="234" cy="0"/>
            </a:xfrm>
            <a:prstGeom prst="line">
              <a:avLst/>
            </a:prstGeom>
            <a:ln w="254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19" name="Freeform 95"/>
            <p:cNvSpPr/>
            <p:nvPr/>
          </p:nvSpPr>
          <p:spPr>
            <a:xfrm>
              <a:off x="1631" y="2431"/>
              <a:ext cx="62" cy="28"/>
            </a:xfrm>
            <a:custGeom>
              <a:avLst/>
              <a:gdLst>
                <a:gd name="txL" fmla="*/ 0 w 69"/>
                <a:gd name="txT" fmla="*/ 0 h 28"/>
                <a:gd name="txR" fmla="*/ 69 w 69"/>
                <a:gd name="txB" fmla="*/ 28 h 28"/>
              </a:gdLst>
              <a:ahLst/>
              <a:cxnLst>
                <a:cxn ang="0">
                  <a:pos x="68" y="14"/>
                </a:cxn>
                <a:cxn ang="0">
                  <a:pos x="0" y="27"/>
                </a:cxn>
                <a:cxn ang="0">
                  <a:pos x="0" y="14"/>
                </a:cxn>
                <a:cxn ang="0">
                  <a:pos x="0" y="0"/>
                </a:cxn>
                <a:cxn ang="0">
                  <a:pos x="68" y="14"/>
                </a:cxn>
              </a:cxnLst>
              <a:rect l="txL" t="txT" r="txR" b="txB"/>
              <a:pathLst>
                <a:path w="69" h="28">
                  <a:moveTo>
                    <a:pt x="68" y="14"/>
                  </a:moveTo>
                  <a:lnTo>
                    <a:pt x="0" y="27"/>
                  </a:lnTo>
                  <a:lnTo>
                    <a:pt x="0" y="14"/>
                  </a:lnTo>
                  <a:lnTo>
                    <a:pt x="0" y="0"/>
                  </a:lnTo>
                  <a:lnTo>
                    <a:pt x="68" y="14"/>
                  </a:lnTo>
                </a:path>
              </a:pathLst>
            </a:custGeom>
            <a:noFill/>
            <a:ln w="12700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120" name="Line 96"/>
            <p:cNvSpPr/>
            <p:nvPr/>
          </p:nvSpPr>
          <p:spPr>
            <a:xfrm>
              <a:off x="1377" y="2447"/>
              <a:ext cx="241" cy="0"/>
            </a:xfrm>
            <a:prstGeom prst="line">
              <a:avLst/>
            </a:prstGeom>
            <a:ln w="254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21" name="Freeform 97"/>
            <p:cNvSpPr/>
            <p:nvPr/>
          </p:nvSpPr>
          <p:spPr>
            <a:xfrm>
              <a:off x="1631" y="2755"/>
              <a:ext cx="62" cy="28"/>
            </a:xfrm>
            <a:custGeom>
              <a:avLst/>
              <a:gdLst>
                <a:gd name="txL" fmla="*/ 0 w 69"/>
                <a:gd name="txT" fmla="*/ 0 h 28"/>
                <a:gd name="txR" fmla="*/ 69 w 69"/>
                <a:gd name="txB" fmla="*/ 28 h 28"/>
              </a:gdLst>
              <a:ahLst/>
              <a:cxnLst>
                <a:cxn ang="0">
                  <a:pos x="68" y="14"/>
                </a:cxn>
                <a:cxn ang="0">
                  <a:pos x="0" y="27"/>
                </a:cxn>
                <a:cxn ang="0">
                  <a:pos x="0" y="14"/>
                </a:cxn>
                <a:cxn ang="0">
                  <a:pos x="0" y="0"/>
                </a:cxn>
                <a:cxn ang="0">
                  <a:pos x="68" y="14"/>
                </a:cxn>
              </a:cxnLst>
              <a:rect l="txL" t="txT" r="txR" b="txB"/>
              <a:pathLst>
                <a:path w="69" h="28">
                  <a:moveTo>
                    <a:pt x="68" y="14"/>
                  </a:moveTo>
                  <a:lnTo>
                    <a:pt x="0" y="27"/>
                  </a:lnTo>
                  <a:lnTo>
                    <a:pt x="0" y="14"/>
                  </a:lnTo>
                  <a:lnTo>
                    <a:pt x="0" y="0"/>
                  </a:lnTo>
                  <a:lnTo>
                    <a:pt x="68" y="14"/>
                  </a:lnTo>
                </a:path>
              </a:pathLst>
            </a:custGeom>
            <a:noFill/>
            <a:ln w="12700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122" name="Line 98"/>
            <p:cNvSpPr/>
            <p:nvPr/>
          </p:nvSpPr>
          <p:spPr>
            <a:xfrm>
              <a:off x="1372" y="2770"/>
              <a:ext cx="246" cy="0"/>
            </a:xfrm>
            <a:prstGeom prst="line">
              <a:avLst/>
            </a:prstGeom>
            <a:ln w="254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23" name="Freeform 99"/>
            <p:cNvSpPr/>
            <p:nvPr/>
          </p:nvSpPr>
          <p:spPr>
            <a:xfrm>
              <a:off x="1252" y="2136"/>
              <a:ext cx="62" cy="22"/>
            </a:xfrm>
            <a:custGeom>
              <a:avLst/>
              <a:gdLst>
                <a:gd name="txL" fmla="*/ 0 w 70"/>
                <a:gd name="txT" fmla="*/ 0 h 22"/>
                <a:gd name="txR" fmla="*/ 70 w 70"/>
                <a:gd name="txB" fmla="*/ 22 h 22"/>
              </a:gdLst>
              <a:ahLst/>
              <a:cxnLst>
                <a:cxn ang="0">
                  <a:pos x="69" y="8"/>
                </a:cxn>
                <a:cxn ang="0">
                  <a:pos x="0" y="21"/>
                </a:cxn>
                <a:cxn ang="0">
                  <a:pos x="0" y="8"/>
                </a:cxn>
                <a:cxn ang="0">
                  <a:pos x="0" y="0"/>
                </a:cxn>
                <a:cxn ang="0">
                  <a:pos x="69" y="8"/>
                </a:cxn>
              </a:cxnLst>
              <a:rect l="txL" t="txT" r="txR" b="txB"/>
              <a:pathLst>
                <a:path w="70" h="22">
                  <a:moveTo>
                    <a:pt x="69" y="8"/>
                  </a:moveTo>
                  <a:lnTo>
                    <a:pt x="0" y="21"/>
                  </a:lnTo>
                  <a:lnTo>
                    <a:pt x="0" y="8"/>
                  </a:lnTo>
                  <a:lnTo>
                    <a:pt x="0" y="0"/>
                  </a:lnTo>
                  <a:lnTo>
                    <a:pt x="69" y="8"/>
                  </a:lnTo>
                </a:path>
              </a:pathLst>
            </a:custGeom>
            <a:noFill/>
            <a:ln w="12700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124" name="Freeform 100"/>
            <p:cNvSpPr/>
            <p:nvPr/>
          </p:nvSpPr>
          <p:spPr>
            <a:xfrm>
              <a:off x="1247" y="2431"/>
              <a:ext cx="62" cy="24"/>
            </a:xfrm>
            <a:custGeom>
              <a:avLst/>
              <a:gdLst>
                <a:gd name="txL" fmla="*/ 0 w 69"/>
                <a:gd name="txT" fmla="*/ 0 h 24"/>
                <a:gd name="txR" fmla="*/ 69 w 69"/>
                <a:gd name="txB" fmla="*/ 24 h 24"/>
              </a:gdLst>
              <a:ahLst/>
              <a:cxnLst>
                <a:cxn ang="0">
                  <a:pos x="68" y="14"/>
                </a:cxn>
                <a:cxn ang="0">
                  <a:pos x="0" y="23"/>
                </a:cxn>
                <a:cxn ang="0">
                  <a:pos x="0" y="14"/>
                </a:cxn>
                <a:cxn ang="0">
                  <a:pos x="0" y="0"/>
                </a:cxn>
                <a:cxn ang="0">
                  <a:pos x="68" y="14"/>
                </a:cxn>
              </a:cxnLst>
              <a:rect l="txL" t="txT" r="txR" b="txB"/>
              <a:pathLst>
                <a:path w="69" h="24">
                  <a:moveTo>
                    <a:pt x="68" y="14"/>
                  </a:moveTo>
                  <a:lnTo>
                    <a:pt x="0" y="23"/>
                  </a:lnTo>
                  <a:lnTo>
                    <a:pt x="0" y="14"/>
                  </a:lnTo>
                  <a:lnTo>
                    <a:pt x="0" y="0"/>
                  </a:lnTo>
                  <a:lnTo>
                    <a:pt x="68" y="14"/>
                  </a:lnTo>
                </a:path>
              </a:pathLst>
            </a:custGeom>
            <a:noFill/>
            <a:ln w="12700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125" name="Freeform 101"/>
            <p:cNvSpPr/>
            <p:nvPr/>
          </p:nvSpPr>
          <p:spPr>
            <a:xfrm>
              <a:off x="1252" y="2760"/>
              <a:ext cx="62" cy="23"/>
            </a:xfrm>
            <a:custGeom>
              <a:avLst/>
              <a:gdLst>
                <a:gd name="txL" fmla="*/ 0 w 70"/>
                <a:gd name="txT" fmla="*/ 0 h 23"/>
                <a:gd name="txR" fmla="*/ 70 w 70"/>
                <a:gd name="txB" fmla="*/ 23 h 23"/>
              </a:gdLst>
              <a:ahLst/>
              <a:cxnLst>
                <a:cxn ang="0">
                  <a:pos x="69" y="9"/>
                </a:cxn>
                <a:cxn ang="0">
                  <a:pos x="0" y="22"/>
                </a:cxn>
                <a:cxn ang="0">
                  <a:pos x="0" y="9"/>
                </a:cxn>
                <a:cxn ang="0">
                  <a:pos x="0" y="0"/>
                </a:cxn>
                <a:cxn ang="0">
                  <a:pos x="69" y="9"/>
                </a:cxn>
              </a:cxnLst>
              <a:rect l="txL" t="txT" r="txR" b="txB"/>
              <a:pathLst>
                <a:path w="70" h="23">
                  <a:moveTo>
                    <a:pt x="69" y="9"/>
                  </a:moveTo>
                  <a:lnTo>
                    <a:pt x="0" y="22"/>
                  </a:lnTo>
                  <a:lnTo>
                    <a:pt x="0" y="9"/>
                  </a:lnTo>
                  <a:lnTo>
                    <a:pt x="0" y="0"/>
                  </a:lnTo>
                  <a:lnTo>
                    <a:pt x="69" y="9"/>
                  </a:lnTo>
                </a:path>
              </a:pathLst>
            </a:custGeom>
            <a:noFill/>
            <a:ln w="12700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126" name="Oval 102" descr="Wide downward diagonal"/>
            <p:cNvSpPr/>
            <p:nvPr/>
          </p:nvSpPr>
          <p:spPr>
            <a:xfrm>
              <a:off x="2026" y="3063"/>
              <a:ext cx="1221" cy="189"/>
            </a:xfrm>
            <a:prstGeom prst="ellipse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>
                <a:latin typeface="Calibri" charset="0"/>
              </a:endParaRPr>
            </a:p>
          </p:txBody>
        </p:sp>
        <p:sp>
          <p:nvSpPr>
            <p:cNvPr id="1127" name="Rectangle 103"/>
            <p:cNvSpPr/>
            <p:nvPr/>
          </p:nvSpPr>
          <p:spPr>
            <a:xfrm>
              <a:off x="2136" y="3101"/>
              <a:ext cx="149" cy="10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/>
            <a:p>
              <a:endParaRPr>
                <a:latin typeface="Calibri" charset="0"/>
              </a:endParaRPr>
            </a:p>
          </p:txBody>
        </p:sp>
        <p:sp>
          <p:nvSpPr>
            <p:cNvPr id="1128" name="Rectangle 104"/>
            <p:cNvSpPr/>
            <p:nvPr/>
          </p:nvSpPr>
          <p:spPr>
            <a:xfrm>
              <a:off x="2150" y="3114"/>
              <a:ext cx="122" cy="77"/>
            </a:xfrm>
            <a:prstGeom prst="rect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>
                <a:latin typeface="Calibri" charset="0"/>
              </a:endParaRPr>
            </a:p>
          </p:txBody>
        </p:sp>
        <p:sp>
          <p:nvSpPr>
            <p:cNvPr id="1129" name="Rectangle 105"/>
            <p:cNvSpPr/>
            <p:nvPr/>
          </p:nvSpPr>
          <p:spPr>
            <a:xfrm>
              <a:off x="2520" y="3101"/>
              <a:ext cx="149" cy="10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/>
            <a:p>
              <a:endParaRPr>
                <a:latin typeface="Calibri" charset="0"/>
              </a:endParaRPr>
            </a:p>
          </p:txBody>
        </p:sp>
        <p:sp>
          <p:nvSpPr>
            <p:cNvPr id="1130" name="Rectangle 106"/>
            <p:cNvSpPr/>
            <p:nvPr/>
          </p:nvSpPr>
          <p:spPr>
            <a:xfrm>
              <a:off x="2533" y="3114"/>
              <a:ext cx="123" cy="77"/>
            </a:xfrm>
            <a:prstGeom prst="rect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>
                <a:latin typeface="Calibri" charset="0"/>
              </a:endParaRPr>
            </a:p>
          </p:txBody>
        </p:sp>
        <p:sp>
          <p:nvSpPr>
            <p:cNvPr id="1131" name="Rectangle 107"/>
            <p:cNvSpPr/>
            <p:nvPr/>
          </p:nvSpPr>
          <p:spPr>
            <a:xfrm>
              <a:off x="2926" y="3105"/>
              <a:ext cx="149" cy="10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/>
            <a:p>
              <a:endParaRPr>
                <a:latin typeface="Calibri" charset="0"/>
              </a:endParaRPr>
            </a:p>
          </p:txBody>
        </p:sp>
        <p:sp>
          <p:nvSpPr>
            <p:cNvPr id="1132" name="Rectangle 108"/>
            <p:cNvSpPr/>
            <p:nvPr/>
          </p:nvSpPr>
          <p:spPr>
            <a:xfrm>
              <a:off x="2939" y="3119"/>
              <a:ext cx="122" cy="77"/>
            </a:xfrm>
            <a:prstGeom prst="rect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>
                <a:latin typeface="Calibri" charset="0"/>
              </a:endParaRPr>
            </a:p>
          </p:txBody>
        </p:sp>
        <p:sp>
          <p:nvSpPr>
            <p:cNvPr id="1133" name="Freeform 109"/>
            <p:cNvSpPr/>
            <p:nvPr/>
          </p:nvSpPr>
          <p:spPr>
            <a:xfrm>
              <a:off x="2427" y="3131"/>
              <a:ext cx="89" cy="39"/>
            </a:xfrm>
            <a:custGeom>
              <a:avLst/>
              <a:gdLst>
                <a:gd name="txL" fmla="*/ 0 w 100"/>
                <a:gd name="txT" fmla="*/ 0 h 39"/>
                <a:gd name="txR" fmla="*/ 100 w 100"/>
                <a:gd name="txB" fmla="*/ 39 h 39"/>
              </a:gdLst>
              <a:ahLst/>
              <a:cxnLst>
                <a:cxn ang="0">
                  <a:pos x="99" y="19"/>
                </a:cxn>
                <a:cxn ang="0">
                  <a:pos x="0" y="38"/>
                </a:cxn>
                <a:cxn ang="0">
                  <a:pos x="0" y="19"/>
                </a:cxn>
                <a:cxn ang="0">
                  <a:pos x="0" y="0"/>
                </a:cxn>
                <a:cxn ang="0">
                  <a:pos x="99" y="19"/>
                </a:cxn>
              </a:cxnLst>
              <a:rect l="txL" t="txT" r="txR" b="txB"/>
              <a:pathLst>
                <a:path w="100" h="39">
                  <a:moveTo>
                    <a:pt x="99" y="19"/>
                  </a:moveTo>
                  <a:lnTo>
                    <a:pt x="0" y="38"/>
                  </a:lnTo>
                  <a:lnTo>
                    <a:pt x="0" y="19"/>
                  </a:lnTo>
                  <a:lnTo>
                    <a:pt x="0" y="0"/>
                  </a:lnTo>
                  <a:lnTo>
                    <a:pt x="99" y="19"/>
                  </a:lnTo>
                </a:path>
              </a:pathLst>
            </a:custGeom>
            <a:noFill/>
            <a:ln w="12700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134" name="Line 110"/>
            <p:cNvSpPr/>
            <p:nvPr/>
          </p:nvSpPr>
          <p:spPr>
            <a:xfrm>
              <a:off x="2299" y="3153"/>
              <a:ext cx="114" cy="0"/>
            </a:xfrm>
            <a:prstGeom prst="line">
              <a:avLst/>
            </a:prstGeom>
            <a:ln w="254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35" name="Freeform 111"/>
            <p:cNvSpPr/>
            <p:nvPr/>
          </p:nvSpPr>
          <p:spPr>
            <a:xfrm>
              <a:off x="2854" y="3142"/>
              <a:ext cx="62" cy="23"/>
            </a:xfrm>
            <a:custGeom>
              <a:avLst/>
              <a:gdLst>
                <a:gd name="txL" fmla="*/ 0 w 69"/>
                <a:gd name="txT" fmla="*/ 0 h 23"/>
                <a:gd name="txR" fmla="*/ 69 w 69"/>
                <a:gd name="txB" fmla="*/ 23 h 23"/>
              </a:gdLst>
              <a:ahLst/>
              <a:cxnLst>
                <a:cxn ang="0">
                  <a:pos x="68" y="9"/>
                </a:cxn>
                <a:cxn ang="0">
                  <a:pos x="0" y="22"/>
                </a:cxn>
                <a:cxn ang="0">
                  <a:pos x="0" y="9"/>
                </a:cxn>
                <a:cxn ang="0">
                  <a:pos x="0" y="0"/>
                </a:cxn>
                <a:cxn ang="0">
                  <a:pos x="68" y="9"/>
                </a:cxn>
              </a:cxnLst>
              <a:rect l="txL" t="txT" r="txR" b="txB"/>
              <a:pathLst>
                <a:path w="69" h="23">
                  <a:moveTo>
                    <a:pt x="68" y="9"/>
                  </a:moveTo>
                  <a:lnTo>
                    <a:pt x="0" y="22"/>
                  </a:lnTo>
                  <a:lnTo>
                    <a:pt x="0" y="9"/>
                  </a:lnTo>
                  <a:lnTo>
                    <a:pt x="0" y="0"/>
                  </a:lnTo>
                  <a:lnTo>
                    <a:pt x="68" y="9"/>
                  </a:lnTo>
                </a:path>
              </a:pathLst>
            </a:custGeom>
            <a:noFill/>
            <a:ln w="12700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136" name="Line 112"/>
            <p:cNvSpPr/>
            <p:nvPr/>
          </p:nvSpPr>
          <p:spPr>
            <a:xfrm>
              <a:off x="2683" y="3153"/>
              <a:ext cx="158" cy="0"/>
            </a:xfrm>
            <a:prstGeom prst="line">
              <a:avLst/>
            </a:prstGeom>
            <a:ln w="254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37" name="Freeform 113"/>
            <p:cNvSpPr/>
            <p:nvPr/>
          </p:nvSpPr>
          <p:spPr>
            <a:xfrm>
              <a:off x="2065" y="3142"/>
              <a:ext cx="62" cy="23"/>
            </a:xfrm>
            <a:custGeom>
              <a:avLst/>
              <a:gdLst>
                <a:gd name="txL" fmla="*/ 0 w 70"/>
                <a:gd name="txT" fmla="*/ 0 h 23"/>
                <a:gd name="txR" fmla="*/ 70 w 70"/>
                <a:gd name="txB" fmla="*/ 23 h 23"/>
              </a:gdLst>
              <a:ahLst/>
              <a:cxnLst>
                <a:cxn ang="0">
                  <a:pos x="69" y="9"/>
                </a:cxn>
                <a:cxn ang="0">
                  <a:pos x="0" y="22"/>
                </a:cxn>
                <a:cxn ang="0">
                  <a:pos x="0" y="9"/>
                </a:cxn>
                <a:cxn ang="0">
                  <a:pos x="0" y="0"/>
                </a:cxn>
                <a:cxn ang="0">
                  <a:pos x="69" y="9"/>
                </a:cxn>
              </a:cxnLst>
              <a:rect l="txL" t="txT" r="txR" b="txB"/>
              <a:pathLst>
                <a:path w="70" h="23">
                  <a:moveTo>
                    <a:pt x="69" y="9"/>
                  </a:moveTo>
                  <a:lnTo>
                    <a:pt x="0" y="22"/>
                  </a:lnTo>
                  <a:lnTo>
                    <a:pt x="0" y="9"/>
                  </a:lnTo>
                  <a:lnTo>
                    <a:pt x="0" y="0"/>
                  </a:lnTo>
                  <a:lnTo>
                    <a:pt x="69" y="9"/>
                  </a:lnTo>
                </a:path>
              </a:pathLst>
            </a:custGeom>
            <a:noFill/>
            <a:ln w="12700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138" name="Line 114"/>
            <p:cNvSpPr/>
            <p:nvPr/>
          </p:nvSpPr>
          <p:spPr>
            <a:xfrm>
              <a:off x="1898" y="3153"/>
              <a:ext cx="154" cy="0"/>
            </a:xfrm>
            <a:prstGeom prst="line">
              <a:avLst/>
            </a:prstGeom>
            <a:ln w="254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39" name="Line 115"/>
            <p:cNvSpPr/>
            <p:nvPr/>
          </p:nvSpPr>
          <p:spPr>
            <a:xfrm>
              <a:off x="1370" y="2983"/>
              <a:ext cx="2967" cy="0"/>
            </a:xfrm>
            <a:prstGeom prst="line">
              <a:avLst/>
            </a:prstGeom>
            <a:ln w="50800" cap="flat" cmpd="sng">
              <a:solidFill>
                <a:srgbClr val="80808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40" name="Freeform 116"/>
            <p:cNvSpPr/>
            <p:nvPr/>
          </p:nvSpPr>
          <p:spPr>
            <a:xfrm>
              <a:off x="3529" y="2846"/>
              <a:ext cx="24" cy="58"/>
            </a:xfrm>
            <a:custGeom>
              <a:avLst/>
              <a:gdLst>
                <a:gd name="txL" fmla="*/ 0 w 27"/>
                <a:gd name="txT" fmla="*/ 0 h 58"/>
                <a:gd name="txR" fmla="*/ 27 w 27"/>
                <a:gd name="txB" fmla="*/ 58 h 58"/>
              </a:gdLst>
              <a:ahLst/>
              <a:cxnLst>
                <a:cxn ang="0">
                  <a:pos x="11" y="0"/>
                </a:cxn>
                <a:cxn ang="0">
                  <a:pos x="26" y="57"/>
                </a:cxn>
                <a:cxn ang="0">
                  <a:pos x="11" y="57"/>
                </a:cxn>
                <a:cxn ang="0">
                  <a:pos x="0" y="57"/>
                </a:cxn>
                <a:cxn ang="0">
                  <a:pos x="11" y="0"/>
                </a:cxn>
              </a:cxnLst>
              <a:rect l="txL" t="txT" r="txR" b="txB"/>
              <a:pathLst>
                <a:path w="27" h="58">
                  <a:moveTo>
                    <a:pt x="11" y="0"/>
                  </a:moveTo>
                  <a:lnTo>
                    <a:pt x="26" y="57"/>
                  </a:lnTo>
                  <a:lnTo>
                    <a:pt x="11" y="57"/>
                  </a:lnTo>
                  <a:lnTo>
                    <a:pt x="0" y="57"/>
                  </a:lnTo>
                  <a:lnTo>
                    <a:pt x="11" y="0"/>
                  </a:lnTo>
                </a:path>
              </a:pathLst>
            </a:custGeom>
            <a:noFill/>
            <a:ln w="12700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141" name="Freeform 117"/>
            <p:cNvSpPr/>
            <p:nvPr/>
          </p:nvSpPr>
          <p:spPr>
            <a:xfrm>
              <a:off x="3409" y="2851"/>
              <a:ext cx="23" cy="59"/>
            </a:xfrm>
            <a:custGeom>
              <a:avLst/>
              <a:gdLst>
                <a:gd name="txL" fmla="*/ 0 w 26"/>
                <a:gd name="txT" fmla="*/ 0 h 59"/>
                <a:gd name="txR" fmla="*/ 26 w 26"/>
                <a:gd name="txB" fmla="*/ 59 h 59"/>
              </a:gdLst>
              <a:ahLst/>
              <a:cxnLst>
                <a:cxn ang="0">
                  <a:pos x="10" y="0"/>
                </a:cxn>
                <a:cxn ang="0">
                  <a:pos x="25" y="58"/>
                </a:cxn>
                <a:cxn ang="0">
                  <a:pos x="10" y="58"/>
                </a:cxn>
                <a:cxn ang="0">
                  <a:pos x="0" y="58"/>
                </a:cxn>
                <a:cxn ang="0">
                  <a:pos x="10" y="0"/>
                </a:cxn>
              </a:cxnLst>
              <a:rect l="txL" t="txT" r="txR" b="txB"/>
              <a:pathLst>
                <a:path w="26" h="59">
                  <a:moveTo>
                    <a:pt x="10" y="0"/>
                  </a:moveTo>
                  <a:lnTo>
                    <a:pt x="25" y="58"/>
                  </a:lnTo>
                  <a:lnTo>
                    <a:pt x="10" y="58"/>
                  </a:lnTo>
                  <a:lnTo>
                    <a:pt x="0" y="58"/>
                  </a:lnTo>
                  <a:lnTo>
                    <a:pt x="10" y="0"/>
                  </a:lnTo>
                </a:path>
              </a:pathLst>
            </a:custGeom>
            <a:noFill/>
            <a:ln w="12700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142" name="Freeform 118"/>
            <p:cNvSpPr/>
            <p:nvPr/>
          </p:nvSpPr>
          <p:spPr>
            <a:xfrm>
              <a:off x="1867" y="3413"/>
              <a:ext cx="23" cy="60"/>
            </a:xfrm>
            <a:custGeom>
              <a:avLst/>
              <a:gdLst>
                <a:gd name="txL" fmla="*/ 0 w 26"/>
                <a:gd name="txT" fmla="*/ 0 h 60"/>
                <a:gd name="txR" fmla="*/ 26 w 26"/>
                <a:gd name="txB" fmla="*/ 60 h 60"/>
              </a:gdLst>
              <a:ahLst/>
              <a:cxnLst>
                <a:cxn ang="0">
                  <a:pos x="10" y="0"/>
                </a:cxn>
                <a:cxn ang="0">
                  <a:pos x="25" y="59"/>
                </a:cxn>
                <a:cxn ang="0">
                  <a:pos x="10" y="59"/>
                </a:cxn>
                <a:cxn ang="0">
                  <a:pos x="0" y="59"/>
                </a:cxn>
                <a:cxn ang="0">
                  <a:pos x="10" y="0"/>
                </a:cxn>
              </a:cxnLst>
              <a:rect l="txL" t="txT" r="txR" b="txB"/>
              <a:pathLst>
                <a:path w="26" h="60">
                  <a:moveTo>
                    <a:pt x="10" y="0"/>
                  </a:moveTo>
                  <a:lnTo>
                    <a:pt x="25" y="59"/>
                  </a:lnTo>
                  <a:lnTo>
                    <a:pt x="10" y="59"/>
                  </a:lnTo>
                  <a:lnTo>
                    <a:pt x="0" y="59"/>
                  </a:lnTo>
                  <a:lnTo>
                    <a:pt x="10" y="0"/>
                  </a:lnTo>
                </a:path>
              </a:pathLst>
            </a:custGeom>
            <a:noFill/>
            <a:ln w="12700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143" name="Freeform 119"/>
            <p:cNvSpPr/>
            <p:nvPr/>
          </p:nvSpPr>
          <p:spPr>
            <a:xfrm>
              <a:off x="3529" y="3420"/>
              <a:ext cx="24" cy="59"/>
            </a:xfrm>
            <a:custGeom>
              <a:avLst/>
              <a:gdLst>
                <a:gd name="txL" fmla="*/ 0 w 27"/>
                <a:gd name="txT" fmla="*/ 0 h 59"/>
                <a:gd name="txR" fmla="*/ 27 w 27"/>
                <a:gd name="txB" fmla="*/ 59 h 59"/>
              </a:gdLst>
              <a:ahLst/>
              <a:cxnLst>
                <a:cxn ang="0">
                  <a:pos x="11" y="0"/>
                </a:cxn>
                <a:cxn ang="0">
                  <a:pos x="26" y="58"/>
                </a:cxn>
                <a:cxn ang="0">
                  <a:pos x="11" y="58"/>
                </a:cxn>
                <a:cxn ang="0">
                  <a:pos x="0" y="58"/>
                </a:cxn>
                <a:cxn ang="0">
                  <a:pos x="11" y="0"/>
                </a:cxn>
              </a:cxnLst>
              <a:rect l="txL" t="txT" r="txR" b="txB"/>
              <a:pathLst>
                <a:path w="27" h="59">
                  <a:moveTo>
                    <a:pt x="11" y="0"/>
                  </a:moveTo>
                  <a:lnTo>
                    <a:pt x="26" y="58"/>
                  </a:lnTo>
                  <a:lnTo>
                    <a:pt x="11" y="58"/>
                  </a:lnTo>
                  <a:lnTo>
                    <a:pt x="0" y="58"/>
                  </a:lnTo>
                  <a:lnTo>
                    <a:pt x="11" y="0"/>
                  </a:lnTo>
                </a:path>
              </a:pathLst>
            </a:custGeom>
            <a:noFill/>
            <a:ln w="12700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144" name="Freeform 120"/>
            <p:cNvSpPr/>
            <p:nvPr/>
          </p:nvSpPr>
          <p:spPr>
            <a:xfrm>
              <a:off x="4247" y="2136"/>
              <a:ext cx="61" cy="27"/>
            </a:xfrm>
            <a:custGeom>
              <a:avLst/>
              <a:gdLst>
                <a:gd name="txL" fmla="*/ 0 w 69"/>
                <a:gd name="txT" fmla="*/ 0 h 27"/>
                <a:gd name="txR" fmla="*/ 69 w 69"/>
                <a:gd name="txB" fmla="*/ 27 h 27"/>
              </a:gdLst>
              <a:ahLst/>
              <a:cxnLst>
                <a:cxn ang="0">
                  <a:pos x="68" y="13"/>
                </a:cxn>
                <a:cxn ang="0">
                  <a:pos x="0" y="26"/>
                </a:cxn>
                <a:cxn ang="0">
                  <a:pos x="0" y="13"/>
                </a:cxn>
                <a:cxn ang="0">
                  <a:pos x="0" y="0"/>
                </a:cxn>
                <a:cxn ang="0">
                  <a:pos x="68" y="13"/>
                </a:cxn>
              </a:cxnLst>
              <a:rect l="txL" t="txT" r="txR" b="txB"/>
              <a:pathLst>
                <a:path w="69" h="27">
                  <a:moveTo>
                    <a:pt x="68" y="13"/>
                  </a:moveTo>
                  <a:lnTo>
                    <a:pt x="0" y="26"/>
                  </a:lnTo>
                  <a:lnTo>
                    <a:pt x="0" y="13"/>
                  </a:lnTo>
                  <a:lnTo>
                    <a:pt x="0" y="0"/>
                  </a:lnTo>
                  <a:lnTo>
                    <a:pt x="68" y="13"/>
                  </a:lnTo>
                </a:path>
              </a:pathLst>
            </a:custGeom>
            <a:noFill/>
            <a:ln w="12700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145" name="Freeform 121"/>
            <p:cNvSpPr/>
            <p:nvPr/>
          </p:nvSpPr>
          <p:spPr>
            <a:xfrm>
              <a:off x="4231" y="2431"/>
              <a:ext cx="61" cy="28"/>
            </a:xfrm>
            <a:custGeom>
              <a:avLst/>
              <a:gdLst>
                <a:gd name="txL" fmla="*/ 0 w 69"/>
                <a:gd name="txT" fmla="*/ 0 h 28"/>
                <a:gd name="txR" fmla="*/ 69 w 69"/>
                <a:gd name="txB" fmla="*/ 28 h 28"/>
              </a:gdLst>
              <a:ahLst/>
              <a:cxnLst>
                <a:cxn ang="0">
                  <a:pos x="68" y="14"/>
                </a:cxn>
                <a:cxn ang="0">
                  <a:pos x="0" y="27"/>
                </a:cxn>
                <a:cxn ang="0">
                  <a:pos x="0" y="14"/>
                </a:cxn>
                <a:cxn ang="0">
                  <a:pos x="0" y="0"/>
                </a:cxn>
                <a:cxn ang="0">
                  <a:pos x="68" y="14"/>
                </a:cxn>
              </a:cxnLst>
              <a:rect l="txL" t="txT" r="txR" b="txB"/>
              <a:pathLst>
                <a:path w="69" h="28">
                  <a:moveTo>
                    <a:pt x="68" y="14"/>
                  </a:moveTo>
                  <a:lnTo>
                    <a:pt x="0" y="27"/>
                  </a:lnTo>
                  <a:lnTo>
                    <a:pt x="0" y="14"/>
                  </a:lnTo>
                  <a:lnTo>
                    <a:pt x="0" y="0"/>
                  </a:lnTo>
                  <a:lnTo>
                    <a:pt x="68" y="14"/>
                  </a:lnTo>
                </a:path>
              </a:pathLst>
            </a:custGeom>
            <a:noFill/>
            <a:ln w="12700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146" name="Line 122"/>
            <p:cNvSpPr/>
            <p:nvPr/>
          </p:nvSpPr>
          <p:spPr>
            <a:xfrm>
              <a:off x="4048" y="2447"/>
              <a:ext cx="170" cy="0"/>
            </a:xfrm>
            <a:prstGeom prst="line">
              <a:avLst/>
            </a:prstGeom>
            <a:ln w="254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47" name="Freeform 123"/>
            <p:cNvSpPr/>
            <p:nvPr/>
          </p:nvSpPr>
          <p:spPr>
            <a:xfrm>
              <a:off x="4236" y="2765"/>
              <a:ext cx="62" cy="28"/>
            </a:xfrm>
            <a:custGeom>
              <a:avLst/>
              <a:gdLst>
                <a:gd name="txL" fmla="*/ 0 w 69"/>
                <a:gd name="txT" fmla="*/ 0 h 28"/>
                <a:gd name="txR" fmla="*/ 69 w 69"/>
                <a:gd name="txB" fmla="*/ 28 h 28"/>
              </a:gdLst>
              <a:ahLst/>
              <a:cxnLst>
                <a:cxn ang="0">
                  <a:pos x="68" y="14"/>
                </a:cxn>
                <a:cxn ang="0">
                  <a:pos x="0" y="27"/>
                </a:cxn>
                <a:cxn ang="0">
                  <a:pos x="0" y="14"/>
                </a:cxn>
                <a:cxn ang="0">
                  <a:pos x="0" y="0"/>
                </a:cxn>
                <a:cxn ang="0">
                  <a:pos x="68" y="14"/>
                </a:cxn>
              </a:cxnLst>
              <a:rect l="txL" t="txT" r="txR" b="txB"/>
              <a:pathLst>
                <a:path w="69" h="28">
                  <a:moveTo>
                    <a:pt x="68" y="14"/>
                  </a:moveTo>
                  <a:lnTo>
                    <a:pt x="0" y="27"/>
                  </a:lnTo>
                  <a:lnTo>
                    <a:pt x="0" y="14"/>
                  </a:lnTo>
                  <a:lnTo>
                    <a:pt x="0" y="0"/>
                  </a:lnTo>
                  <a:lnTo>
                    <a:pt x="68" y="14"/>
                  </a:lnTo>
                </a:path>
              </a:pathLst>
            </a:custGeom>
            <a:noFill/>
            <a:ln w="12700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148" name="Line 124"/>
            <p:cNvSpPr/>
            <p:nvPr/>
          </p:nvSpPr>
          <p:spPr>
            <a:xfrm>
              <a:off x="4400" y="2151"/>
              <a:ext cx="179" cy="0"/>
            </a:xfrm>
            <a:prstGeom prst="line">
              <a:avLst/>
            </a:prstGeom>
            <a:ln w="2540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49" name="Line 125"/>
            <p:cNvSpPr/>
            <p:nvPr/>
          </p:nvSpPr>
          <p:spPr>
            <a:xfrm>
              <a:off x="4394" y="2447"/>
              <a:ext cx="180" cy="0"/>
            </a:xfrm>
            <a:prstGeom prst="line">
              <a:avLst/>
            </a:prstGeom>
            <a:ln w="2540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50" name="Line 126"/>
            <p:cNvSpPr/>
            <p:nvPr/>
          </p:nvSpPr>
          <p:spPr>
            <a:xfrm>
              <a:off x="4394" y="2777"/>
              <a:ext cx="180" cy="0"/>
            </a:xfrm>
            <a:prstGeom prst="line">
              <a:avLst/>
            </a:prstGeom>
            <a:ln w="2540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51" name="Freeform 127"/>
            <p:cNvSpPr/>
            <p:nvPr/>
          </p:nvSpPr>
          <p:spPr>
            <a:xfrm>
              <a:off x="3161" y="1398"/>
              <a:ext cx="28" cy="66"/>
            </a:xfrm>
            <a:custGeom>
              <a:avLst/>
              <a:gdLst>
                <a:gd name="txL" fmla="*/ 0 w 32"/>
                <a:gd name="txT" fmla="*/ 0 h 66"/>
                <a:gd name="txR" fmla="*/ 32 w 32"/>
                <a:gd name="txB" fmla="*/ 66 h 66"/>
              </a:gdLst>
              <a:ahLst/>
              <a:cxnLst>
                <a:cxn ang="0">
                  <a:pos x="16" y="65"/>
                </a:cxn>
                <a:cxn ang="0">
                  <a:pos x="0" y="0"/>
                </a:cxn>
                <a:cxn ang="0">
                  <a:pos x="16" y="0"/>
                </a:cxn>
                <a:cxn ang="0">
                  <a:pos x="31" y="0"/>
                </a:cxn>
                <a:cxn ang="0">
                  <a:pos x="16" y="65"/>
                </a:cxn>
              </a:cxnLst>
              <a:rect l="txL" t="txT" r="txR" b="txB"/>
              <a:pathLst>
                <a:path w="32" h="66">
                  <a:moveTo>
                    <a:pt x="16" y="65"/>
                  </a:moveTo>
                  <a:lnTo>
                    <a:pt x="0" y="0"/>
                  </a:lnTo>
                  <a:lnTo>
                    <a:pt x="16" y="0"/>
                  </a:lnTo>
                  <a:lnTo>
                    <a:pt x="31" y="0"/>
                  </a:lnTo>
                  <a:lnTo>
                    <a:pt x="16" y="65"/>
                  </a:lnTo>
                </a:path>
              </a:pathLst>
            </a:custGeom>
            <a:noFill/>
            <a:ln w="12700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152" name="Freeform 128"/>
            <p:cNvSpPr/>
            <p:nvPr/>
          </p:nvSpPr>
          <p:spPr>
            <a:xfrm>
              <a:off x="3161" y="2008"/>
              <a:ext cx="28" cy="60"/>
            </a:xfrm>
            <a:custGeom>
              <a:avLst/>
              <a:gdLst>
                <a:gd name="txL" fmla="*/ 0 w 32"/>
                <a:gd name="txT" fmla="*/ 0 h 60"/>
                <a:gd name="txR" fmla="*/ 32 w 32"/>
                <a:gd name="txB" fmla="*/ 60 h 60"/>
              </a:gdLst>
              <a:ahLst/>
              <a:cxnLst>
                <a:cxn ang="0">
                  <a:pos x="16" y="59"/>
                </a:cxn>
                <a:cxn ang="0">
                  <a:pos x="0" y="0"/>
                </a:cxn>
                <a:cxn ang="0">
                  <a:pos x="16" y="0"/>
                </a:cxn>
                <a:cxn ang="0">
                  <a:pos x="31" y="0"/>
                </a:cxn>
                <a:cxn ang="0">
                  <a:pos x="16" y="59"/>
                </a:cxn>
              </a:cxnLst>
              <a:rect l="txL" t="txT" r="txR" b="txB"/>
              <a:pathLst>
                <a:path w="32" h="60">
                  <a:moveTo>
                    <a:pt x="16" y="59"/>
                  </a:moveTo>
                  <a:lnTo>
                    <a:pt x="0" y="0"/>
                  </a:lnTo>
                  <a:lnTo>
                    <a:pt x="16" y="0"/>
                  </a:lnTo>
                  <a:lnTo>
                    <a:pt x="31" y="0"/>
                  </a:lnTo>
                  <a:lnTo>
                    <a:pt x="16" y="59"/>
                  </a:lnTo>
                </a:path>
              </a:pathLst>
            </a:custGeom>
            <a:noFill/>
            <a:ln w="12700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153" name="Rectangle 129"/>
            <p:cNvSpPr/>
            <p:nvPr/>
          </p:nvSpPr>
          <p:spPr>
            <a:xfrm>
              <a:off x="3484" y="1543"/>
              <a:ext cx="167" cy="342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90488" tIns="44450" rIns="90488" bIns="44450">
              <a:spAutoFit/>
            </a:bodyPr>
            <a:p>
              <a:pPr>
                <a:lnSpc>
                  <a:spcPct val="90000"/>
                </a:lnSpc>
              </a:pPr>
              <a:endParaRPr sz="900">
                <a:solidFill>
                  <a:srgbClr val="000000"/>
                </a:solidFill>
                <a:latin typeface="Arial" panose="020B0604020202020204" pitchFamily="34" charset="0"/>
              </a:endParaRPr>
            </a:p>
            <a:p>
              <a:pPr latinLnBrk="1">
                <a:lnSpc>
                  <a:spcPct val="90000"/>
                </a:lnSpc>
              </a:pPr>
              <a:endParaRPr sz="9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54" name="Rectangle 130"/>
            <p:cNvSpPr/>
            <p:nvPr/>
          </p:nvSpPr>
          <p:spPr>
            <a:xfrm>
              <a:off x="3491" y="1901"/>
              <a:ext cx="700" cy="11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/>
            <a:p>
              <a:endParaRPr>
                <a:latin typeface="Calibri" charset="0"/>
              </a:endParaRPr>
            </a:p>
          </p:txBody>
        </p:sp>
        <p:sp>
          <p:nvSpPr>
            <p:cNvPr id="1155" name="Freeform 131"/>
            <p:cNvSpPr/>
            <p:nvPr/>
          </p:nvSpPr>
          <p:spPr>
            <a:xfrm>
              <a:off x="3348" y="2431"/>
              <a:ext cx="62" cy="28"/>
            </a:xfrm>
            <a:custGeom>
              <a:avLst/>
              <a:gdLst>
                <a:gd name="txL" fmla="*/ 0 w 70"/>
                <a:gd name="txT" fmla="*/ 0 h 28"/>
                <a:gd name="txR" fmla="*/ 70 w 70"/>
                <a:gd name="txB" fmla="*/ 28 h 28"/>
              </a:gdLst>
              <a:ahLst/>
              <a:cxnLst>
                <a:cxn ang="0">
                  <a:pos x="69" y="14"/>
                </a:cxn>
                <a:cxn ang="0">
                  <a:pos x="0" y="27"/>
                </a:cxn>
                <a:cxn ang="0">
                  <a:pos x="0" y="14"/>
                </a:cxn>
                <a:cxn ang="0">
                  <a:pos x="0" y="0"/>
                </a:cxn>
                <a:cxn ang="0">
                  <a:pos x="69" y="14"/>
                </a:cxn>
              </a:cxnLst>
              <a:rect l="txL" t="txT" r="txR" b="txB"/>
              <a:pathLst>
                <a:path w="70" h="28">
                  <a:moveTo>
                    <a:pt x="69" y="14"/>
                  </a:moveTo>
                  <a:lnTo>
                    <a:pt x="0" y="27"/>
                  </a:lnTo>
                  <a:lnTo>
                    <a:pt x="0" y="14"/>
                  </a:lnTo>
                  <a:lnTo>
                    <a:pt x="0" y="0"/>
                  </a:lnTo>
                  <a:lnTo>
                    <a:pt x="69" y="14"/>
                  </a:lnTo>
                </a:path>
              </a:pathLst>
            </a:custGeom>
            <a:noFill/>
            <a:ln w="12700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156" name="Rectangle 132"/>
            <p:cNvSpPr/>
            <p:nvPr/>
          </p:nvSpPr>
          <p:spPr>
            <a:xfrm>
              <a:off x="1341" y="1492"/>
              <a:ext cx="3008" cy="190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/>
            <a:p>
              <a:endParaRPr>
                <a:latin typeface="Calibri" charset="0"/>
              </a:endParaRPr>
            </a:p>
          </p:txBody>
        </p:sp>
        <p:sp>
          <p:nvSpPr>
            <p:cNvPr id="1157" name="Rectangle 133"/>
            <p:cNvSpPr/>
            <p:nvPr/>
          </p:nvSpPr>
          <p:spPr>
            <a:xfrm>
              <a:off x="1335" y="1492"/>
              <a:ext cx="3019" cy="1900"/>
            </a:xfrm>
            <a:prstGeom prst="rect">
              <a:avLst/>
            </a:prstGeom>
            <a:noFill/>
            <a:ln w="1016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>
                <a:latin typeface="Calibri" charset="0"/>
              </a:endParaRPr>
            </a:p>
          </p:txBody>
        </p:sp>
        <p:sp>
          <p:nvSpPr>
            <p:cNvPr id="1158" name="Oval 134" descr="Wide downward diagonal"/>
            <p:cNvSpPr/>
            <p:nvPr/>
          </p:nvSpPr>
          <p:spPr>
            <a:xfrm>
              <a:off x="2982" y="2080"/>
              <a:ext cx="763" cy="138"/>
            </a:xfrm>
            <a:prstGeom prst="ellipse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>
                <a:latin typeface="Calibri" charset="0"/>
              </a:endParaRPr>
            </a:p>
          </p:txBody>
        </p:sp>
        <p:sp>
          <p:nvSpPr>
            <p:cNvPr id="1159" name="Rectangle 135"/>
            <p:cNvSpPr/>
            <p:nvPr/>
          </p:nvSpPr>
          <p:spPr>
            <a:xfrm>
              <a:off x="3052" y="2089"/>
              <a:ext cx="150" cy="106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/>
            <a:p>
              <a:endParaRPr>
                <a:latin typeface="Calibri" charset="0"/>
              </a:endParaRPr>
            </a:p>
          </p:txBody>
        </p:sp>
        <p:sp>
          <p:nvSpPr>
            <p:cNvPr id="1160" name="Rectangle 136"/>
            <p:cNvSpPr/>
            <p:nvPr/>
          </p:nvSpPr>
          <p:spPr>
            <a:xfrm>
              <a:off x="3065" y="2102"/>
              <a:ext cx="123" cy="78"/>
            </a:xfrm>
            <a:prstGeom prst="rect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>
                <a:latin typeface="Calibri" charset="0"/>
              </a:endParaRPr>
            </a:p>
          </p:txBody>
        </p:sp>
        <p:sp>
          <p:nvSpPr>
            <p:cNvPr id="1161" name="Rectangle 137"/>
            <p:cNvSpPr/>
            <p:nvPr/>
          </p:nvSpPr>
          <p:spPr>
            <a:xfrm>
              <a:off x="3507" y="2089"/>
              <a:ext cx="150" cy="106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/>
            <a:p>
              <a:endParaRPr>
                <a:latin typeface="Calibri" charset="0"/>
              </a:endParaRPr>
            </a:p>
          </p:txBody>
        </p:sp>
        <p:sp>
          <p:nvSpPr>
            <p:cNvPr id="1162" name="Rectangle 138"/>
            <p:cNvSpPr/>
            <p:nvPr/>
          </p:nvSpPr>
          <p:spPr>
            <a:xfrm>
              <a:off x="3520" y="2102"/>
              <a:ext cx="123" cy="78"/>
            </a:xfrm>
            <a:prstGeom prst="rect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>
                <a:latin typeface="Calibri" charset="0"/>
              </a:endParaRPr>
            </a:p>
          </p:txBody>
        </p:sp>
        <p:sp>
          <p:nvSpPr>
            <p:cNvPr id="1163" name="Oval 139"/>
            <p:cNvSpPr/>
            <p:nvPr/>
          </p:nvSpPr>
          <p:spPr>
            <a:xfrm>
              <a:off x="1555" y="2672"/>
              <a:ext cx="1223" cy="195"/>
            </a:xfrm>
            <a:prstGeom prst="ellipse">
              <a:avLst/>
            </a:prstGeom>
            <a:noFill/>
            <a:ln w="12700">
              <a:noFill/>
            </a:ln>
          </p:spPr>
          <p:txBody>
            <a:bodyPr wrap="none" anchor="ctr" anchorCtr="0"/>
            <a:p>
              <a:endParaRPr>
                <a:latin typeface="Calibri" charset="0"/>
              </a:endParaRPr>
            </a:p>
          </p:txBody>
        </p:sp>
        <p:sp>
          <p:nvSpPr>
            <p:cNvPr id="1164" name="Oval 140" descr="Wide downward diagonal"/>
            <p:cNvSpPr/>
            <p:nvPr/>
          </p:nvSpPr>
          <p:spPr>
            <a:xfrm>
              <a:off x="1576" y="2689"/>
              <a:ext cx="1189" cy="158"/>
            </a:xfrm>
            <a:prstGeom prst="ellipse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>
                <a:latin typeface="Calibri" charset="0"/>
              </a:endParaRPr>
            </a:p>
          </p:txBody>
        </p:sp>
        <p:sp>
          <p:nvSpPr>
            <p:cNvPr id="1165" name="Rectangle 141"/>
            <p:cNvSpPr/>
            <p:nvPr/>
          </p:nvSpPr>
          <p:spPr>
            <a:xfrm>
              <a:off x="1713" y="2719"/>
              <a:ext cx="150" cy="106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/>
            <a:p>
              <a:endParaRPr>
                <a:latin typeface="Calibri" charset="0"/>
              </a:endParaRPr>
            </a:p>
          </p:txBody>
        </p:sp>
        <p:sp>
          <p:nvSpPr>
            <p:cNvPr id="1166" name="Rectangle 142"/>
            <p:cNvSpPr/>
            <p:nvPr/>
          </p:nvSpPr>
          <p:spPr>
            <a:xfrm>
              <a:off x="1727" y="2732"/>
              <a:ext cx="123" cy="78"/>
            </a:xfrm>
            <a:prstGeom prst="rect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>
                <a:latin typeface="Calibri" charset="0"/>
              </a:endParaRPr>
            </a:p>
          </p:txBody>
        </p:sp>
        <p:sp>
          <p:nvSpPr>
            <p:cNvPr id="1167" name="Rectangle 143"/>
            <p:cNvSpPr/>
            <p:nvPr/>
          </p:nvSpPr>
          <p:spPr>
            <a:xfrm>
              <a:off x="2498" y="2713"/>
              <a:ext cx="149" cy="10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/>
            <a:p>
              <a:endParaRPr>
                <a:latin typeface="Calibri" charset="0"/>
              </a:endParaRPr>
            </a:p>
          </p:txBody>
        </p:sp>
        <p:sp>
          <p:nvSpPr>
            <p:cNvPr id="1168" name="Rectangle 144"/>
            <p:cNvSpPr/>
            <p:nvPr/>
          </p:nvSpPr>
          <p:spPr>
            <a:xfrm>
              <a:off x="2511" y="2728"/>
              <a:ext cx="123" cy="76"/>
            </a:xfrm>
            <a:prstGeom prst="rect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>
                <a:latin typeface="Calibri" charset="0"/>
              </a:endParaRPr>
            </a:p>
          </p:txBody>
        </p:sp>
        <p:sp>
          <p:nvSpPr>
            <p:cNvPr id="1169" name="Oval 145"/>
            <p:cNvSpPr/>
            <p:nvPr/>
          </p:nvSpPr>
          <p:spPr>
            <a:xfrm>
              <a:off x="1565" y="2052"/>
              <a:ext cx="1224" cy="194"/>
            </a:xfrm>
            <a:prstGeom prst="ellipse">
              <a:avLst/>
            </a:prstGeom>
            <a:noFill/>
            <a:ln w="12700">
              <a:noFill/>
            </a:ln>
          </p:spPr>
          <p:txBody>
            <a:bodyPr wrap="none" anchor="ctr" anchorCtr="0"/>
            <a:p>
              <a:endParaRPr>
                <a:latin typeface="Calibri" charset="0"/>
              </a:endParaRPr>
            </a:p>
          </p:txBody>
        </p:sp>
        <p:sp>
          <p:nvSpPr>
            <p:cNvPr id="1170" name="Oval 146" descr="Wide downward diagonal"/>
            <p:cNvSpPr/>
            <p:nvPr/>
          </p:nvSpPr>
          <p:spPr>
            <a:xfrm>
              <a:off x="1579" y="2062"/>
              <a:ext cx="1187" cy="159"/>
            </a:xfrm>
            <a:prstGeom prst="ellipse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>
                <a:latin typeface="Calibri" charset="0"/>
              </a:endParaRPr>
            </a:p>
          </p:txBody>
        </p:sp>
        <p:sp>
          <p:nvSpPr>
            <p:cNvPr id="1171" name="Rectangle 147"/>
            <p:cNvSpPr/>
            <p:nvPr/>
          </p:nvSpPr>
          <p:spPr>
            <a:xfrm>
              <a:off x="1697" y="2089"/>
              <a:ext cx="150" cy="106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/>
            <a:p>
              <a:endParaRPr>
                <a:latin typeface="Calibri" charset="0"/>
              </a:endParaRPr>
            </a:p>
          </p:txBody>
        </p:sp>
        <p:sp>
          <p:nvSpPr>
            <p:cNvPr id="1172" name="Rectangle 148"/>
            <p:cNvSpPr/>
            <p:nvPr/>
          </p:nvSpPr>
          <p:spPr>
            <a:xfrm>
              <a:off x="1710" y="2102"/>
              <a:ext cx="123" cy="78"/>
            </a:xfrm>
            <a:prstGeom prst="rect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>
                <a:latin typeface="Calibri" charset="0"/>
              </a:endParaRPr>
            </a:p>
          </p:txBody>
        </p:sp>
        <p:sp>
          <p:nvSpPr>
            <p:cNvPr id="1173" name="Rectangle 149"/>
            <p:cNvSpPr/>
            <p:nvPr/>
          </p:nvSpPr>
          <p:spPr>
            <a:xfrm>
              <a:off x="2081" y="2089"/>
              <a:ext cx="149" cy="106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/>
            <a:p>
              <a:endParaRPr>
                <a:latin typeface="Calibri" charset="0"/>
              </a:endParaRPr>
            </a:p>
          </p:txBody>
        </p:sp>
        <p:sp>
          <p:nvSpPr>
            <p:cNvPr id="1174" name="Rectangle 150"/>
            <p:cNvSpPr/>
            <p:nvPr/>
          </p:nvSpPr>
          <p:spPr>
            <a:xfrm>
              <a:off x="2094" y="2102"/>
              <a:ext cx="123" cy="78"/>
            </a:xfrm>
            <a:prstGeom prst="rect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>
                <a:latin typeface="Calibri" charset="0"/>
              </a:endParaRPr>
            </a:p>
          </p:txBody>
        </p:sp>
        <p:sp>
          <p:nvSpPr>
            <p:cNvPr id="1175" name="Rectangle 151"/>
            <p:cNvSpPr/>
            <p:nvPr/>
          </p:nvSpPr>
          <p:spPr>
            <a:xfrm>
              <a:off x="2487" y="2093"/>
              <a:ext cx="150" cy="106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/>
            <a:p>
              <a:endParaRPr>
                <a:latin typeface="Calibri" charset="0"/>
              </a:endParaRPr>
            </a:p>
          </p:txBody>
        </p:sp>
        <p:sp>
          <p:nvSpPr>
            <p:cNvPr id="1176" name="Rectangle 152"/>
            <p:cNvSpPr/>
            <p:nvPr/>
          </p:nvSpPr>
          <p:spPr>
            <a:xfrm>
              <a:off x="2500" y="2108"/>
              <a:ext cx="122" cy="78"/>
            </a:xfrm>
            <a:prstGeom prst="rect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>
                <a:latin typeface="Calibri" charset="0"/>
              </a:endParaRPr>
            </a:p>
          </p:txBody>
        </p:sp>
        <p:sp>
          <p:nvSpPr>
            <p:cNvPr id="1177" name="Line 153"/>
            <p:cNvSpPr/>
            <p:nvPr/>
          </p:nvSpPr>
          <p:spPr>
            <a:xfrm>
              <a:off x="1841" y="2136"/>
              <a:ext cx="239" cy="0"/>
            </a:xfrm>
            <a:prstGeom prst="line">
              <a:avLst/>
            </a:prstGeom>
            <a:ln w="2540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178" name="Freeform 154"/>
            <p:cNvSpPr/>
            <p:nvPr/>
          </p:nvSpPr>
          <p:spPr>
            <a:xfrm>
              <a:off x="2388" y="2124"/>
              <a:ext cx="89" cy="39"/>
            </a:xfrm>
            <a:custGeom>
              <a:avLst/>
              <a:gdLst>
                <a:gd name="txL" fmla="*/ 0 w 100"/>
                <a:gd name="txT" fmla="*/ 0 h 39"/>
                <a:gd name="txR" fmla="*/ 100 w 100"/>
                <a:gd name="txB" fmla="*/ 39 h 39"/>
              </a:gdLst>
              <a:ahLst/>
              <a:cxnLst>
                <a:cxn ang="0">
                  <a:pos x="99" y="19"/>
                </a:cxn>
                <a:cxn ang="0">
                  <a:pos x="0" y="38"/>
                </a:cxn>
                <a:cxn ang="0">
                  <a:pos x="0" y="19"/>
                </a:cxn>
                <a:cxn ang="0">
                  <a:pos x="0" y="0"/>
                </a:cxn>
                <a:cxn ang="0">
                  <a:pos x="99" y="19"/>
                </a:cxn>
              </a:cxnLst>
              <a:rect l="txL" t="txT" r="txR" b="txB"/>
              <a:pathLst>
                <a:path w="100" h="39">
                  <a:moveTo>
                    <a:pt x="99" y="19"/>
                  </a:moveTo>
                  <a:lnTo>
                    <a:pt x="0" y="38"/>
                  </a:lnTo>
                  <a:lnTo>
                    <a:pt x="0" y="19"/>
                  </a:lnTo>
                  <a:lnTo>
                    <a:pt x="0" y="0"/>
                  </a:lnTo>
                  <a:lnTo>
                    <a:pt x="99" y="19"/>
                  </a:lnTo>
                </a:path>
              </a:pathLst>
            </a:custGeom>
            <a:noFill/>
            <a:ln w="12700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179" name="Line 155"/>
            <p:cNvSpPr/>
            <p:nvPr/>
          </p:nvSpPr>
          <p:spPr>
            <a:xfrm>
              <a:off x="2217" y="2146"/>
              <a:ext cx="270" cy="0"/>
            </a:xfrm>
            <a:prstGeom prst="line">
              <a:avLst/>
            </a:prstGeom>
            <a:ln w="2540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180" name="Oval 156" descr="Wide downward diagonal"/>
            <p:cNvSpPr/>
            <p:nvPr/>
          </p:nvSpPr>
          <p:spPr>
            <a:xfrm>
              <a:off x="1562" y="1592"/>
              <a:ext cx="1220" cy="189"/>
            </a:xfrm>
            <a:prstGeom prst="ellipse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>
                <a:latin typeface="Calibri" charset="0"/>
              </a:endParaRPr>
            </a:p>
          </p:txBody>
        </p:sp>
        <p:sp>
          <p:nvSpPr>
            <p:cNvPr id="1181" name="Rectangle 157"/>
            <p:cNvSpPr/>
            <p:nvPr/>
          </p:nvSpPr>
          <p:spPr>
            <a:xfrm>
              <a:off x="1692" y="1626"/>
              <a:ext cx="149" cy="10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/>
            <a:p>
              <a:endParaRPr>
                <a:latin typeface="Calibri" charset="0"/>
              </a:endParaRPr>
            </a:p>
          </p:txBody>
        </p:sp>
        <p:sp>
          <p:nvSpPr>
            <p:cNvPr id="1182" name="Rectangle 158"/>
            <p:cNvSpPr/>
            <p:nvPr/>
          </p:nvSpPr>
          <p:spPr>
            <a:xfrm>
              <a:off x="1705" y="1641"/>
              <a:ext cx="123" cy="77"/>
            </a:xfrm>
            <a:prstGeom prst="rect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>
                <a:latin typeface="Calibri" charset="0"/>
              </a:endParaRPr>
            </a:p>
          </p:txBody>
        </p:sp>
        <p:sp>
          <p:nvSpPr>
            <p:cNvPr id="1183" name="Rectangle 159"/>
            <p:cNvSpPr/>
            <p:nvPr/>
          </p:nvSpPr>
          <p:spPr>
            <a:xfrm>
              <a:off x="2075" y="1626"/>
              <a:ext cx="150" cy="10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/>
            <a:p>
              <a:endParaRPr>
                <a:latin typeface="Calibri" charset="0"/>
              </a:endParaRPr>
            </a:p>
          </p:txBody>
        </p:sp>
        <p:sp>
          <p:nvSpPr>
            <p:cNvPr id="1184" name="Rectangle 160"/>
            <p:cNvSpPr/>
            <p:nvPr/>
          </p:nvSpPr>
          <p:spPr>
            <a:xfrm>
              <a:off x="2089" y="1641"/>
              <a:ext cx="123" cy="77"/>
            </a:xfrm>
            <a:prstGeom prst="rect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>
                <a:latin typeface="Calibri" charset="0"/>
              </a:endParaRPr>
            </a:p>
          </p:txBody>
        </p:sp>
        <p:sp>
          <p:nvSpPr>
            <p:cNvPr id="1185" name="Rectangle 161"/>
            <p:cNvSpPr/>
            <p:nvPr/>
          </p:nvSpPr>
          <p:spPr>
            <a:xfrm>
              <a:off x="2482" y="1632"/>
              <a:ext cx="149" cy="106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/>
            <a:p>
              <a:endParaRPr>
                <a:latin typeface="Calibri" charset="0"/>
              </a:endParaRPr>
            </a:p>
          </p:txBody>
        </p:sp>
        <p:sp>
          <p:nvSpPr>
            <p:cNvPr id="1186" name="Rectangle 162"/>
            <p:cNvSpPr/>
            <p:nvPr/>
          </p:nvSpPr>
          <p:spPr>
            <a:xfrm>
              <a:off x="2495" y="1646"/>
              <a:ext cx="123" cy="78"/>
            </a:xfrm>
            <a:prstGeom prst="rect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>
                <a:latin typeface="Calibri" charset="0"/>
              </a:endParaRPr>
            </a:p>
          </p:txBody>
        </p:sp>
        <p:sp>
          <p:nvSpPr>
            <p:cNvPr id="1187" name="Freeform 163"/>
            <p:cNvSpPr/>
            <p:nvPr/>
          </p:nvSpPr>
          <p:spPr>
            <a:xfrm>
              <a:off x="1982" y="1652"/>
              <a:ext cx="89" cy="44"/>
            </a:xfrm>
            <a:custGeom>
              <a:avLst/>
              <a:gdLst>
                <a:gd name="txL" fmla="*/ 0 w 100"/>
                <a:gd name="txT" fmla="*/ 0 h 44"/>
                <a:gd name="txR" fmla="*/ 100 w 100"/>
                <a:gd name="txB" fmla="*/ 44 h 44"/>
              </a:gdLst>
              <a:ahLst/>
              <a:cxnLst>
                <a:cxn ang="0">
                  <a:pos x="99" y="19"/>
                </a:cxn>
                <a:cxn ang="0">
                  <a:pos x="0" y="43"/>
                </a:cxn>
                <a:cxn ang="0">
                  <a:pos x="0" y="19"/>
                </a:cxn>
                <a:cxn ang="0">
                  <a:pos x="0" y="0"/>
                </a:cxn>
                <a:cxn ang="0">
                  <a:pos x="99" y="19"/>
                </a:cxn>
              </a:cxnLst>
              <a:rect l="txL" t="txT" r="txR" b="txB"/>
              <a:pathLst>
                <a:path w="100" h="44">
                  <a:moveTo>
                    <a:pt x="99" y="19"/>
                  </a:moveTo>
                  <a:lnTo>
                    <a:pt x="0" y="43"/>
                  </a:lnTo>
                  <a:lnTo>
                    <a:pt x="0" y="19"/>
                  </a:lnTo>
                  <a:lnTo>
                    <a:pt x="0" y="0"/>
                  </a:lnTo>
                  <a:lnTo>
                    <a:pt x="99" y="19"/>
                  </a:lnTo>
                </a:path>
              </a:pathLst>
            </a:custGeom>
            <a:noFill/>
            <a:ln w="12700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188" name="Line 164"/>
            <p:cNvSpPr/>
            <p:nvPr/>
          </p:nvSpPr>
          <p:spPr>
            <a:xfrm>
              <a:off x="1847" y="1674"/>
              <a:ext cx="242" cy="6"/>
            </a:xfrm>
            <a:prstGeom prst="line">
              <a:avLst/>
            </a:prstGeom>
            <a:ln w="2540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189" name="Freeform 165"/>
            <p:cNvSpPr/>
            <p:nvPr/>
          </p:nvSpPr>
          <p:spPr>
            <a:xfrm>
              <a:off x="2382" y="1657"/>
              <a:ext cx="89" cy="44"/>
            </a:xfrm>
            <a:custGeom>
              <a:avLst/>
              <a:gdLst>
                <a:gd name="txL" fmla="*/ 0 w 100"/>
                <a:gd name="txT" fmla="*/ 0 h 44"/>
                <a:gd name="txR" fmla="*/ 100 w 100"/>
                <a:gd name="txB" fmla="*/ 44 h 44"/>
              </a:gdLst>
              <a:ahLst/>
              <a:cxnLst>
                <a:cxn ang="0">
                  <a:pos x="99" y="19"/>
                </a:cxn>
                <a:cxn ang="0">
                  <a:pos x="0" y="43"/>
                </a:cxn>
                <a:cxn ang="0">
                  <a:pos x="0" y="19"/>
                </a:cxn>
                <a:cxn ang="0">
                  <a:pos x="0" y="0"/>
                </a:cxn>
                <a:cxn ang="0">
                  <a:pos x="99" y="19"/>
                </a:cxn>
              </a:cxnLst>
              <a:rect l="txL" t="txT" r="txR" b="txB"/>
              <a:pathLst>
                <a:path w="100" h="44">
                  <a:moveTo>
                    <a:pt x="99" y="19"/>
                  </a:moveTo>
                  <a:lnTo>
                    <a:pt x="0" y="43"/>
                  </a:lnTo>
                  <a:lnTo>
                    <a:pt x="0" y="19"/>
                  </a:lnTo>
                  <a:lnTo>
                    <a:pt x="0" y="0"/>
                  </a:lnTo>
                  <a:lnTo>
                    <a:pt x="99" y="19"/>
                  </a:lnTo>
                </a:path>
              </a:pathLst>
            </a:custGeom>
            <a:noFill/>
            <a:ln w="12700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190" name="Line 166"/>
            <p:cNvSpPr/>
            <p:nvPr/>
          </p:nvSpPr>
          <p:spPr>
            <a:xfrm>
              <a:off x="2230" y="1680"/>
              <a:ext cx="263" cy="5"/>
            </a:xfrm>
            <a:prstGeom prst="line">
              <a:avLst/>
            </a:prstGeom>
            <a:ln w="2540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191" name="Oval 167" descr="Wide downward diagonal"/>
            <p:cNvSpPr/>
            <p:nvPr/>
          </p:nvSpPr>
          <p:spPr>
            <a:xfrm>
              <a:off x="1583" y="2352"/>
              <a:ext cx="1220" cy="188"/>
            </a:xfrm>
            <a:prstGeom prst="ellipse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>
                <a:latin typeface="Calibri" charset="0"/>
              </a:endParaRPr>
            </a:p>
          </p:txBody>
        </p:sp>
        <p:sp>
          <p:nvSpPr>
            <p:cNvPr id="1192" name="Rectangle 168"/>
            <p:cNvSpPr/>
            <p:nvPr/>
          </p:nvSpPr>
          <p:spPr>
            <a:xfrm>
              <a:off x="1713" y="2389"/>
              <a:ext cx="150" cy="10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/>
            <a:p>
              <a:endParaRPr>
                <a:latin typeface="Calibri" charset="0"/>
              </a:endParaRPr>
            </a:p>
          </p:txBody>
        </p:sp>
        <p:sp>
          <p:nvSpPr>
            <p:cNvPr id="1193" name="Rectangle 169"/>
            <p:cNvSpPr/>
            <p:nvPr/>
          </p:nvSpPr>
          <p:spPr>
            <a:xfrm>
              <a:off x="1727" y="2405"/>
              <a:ext cx="123" cy="76"/>
            </a:xfrm>
            <a:prstGeom prst="rect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>
                <a:latin typeface="Calibri" charset="0"/>
              </a:endParaRPr>
            </a:p>
          </p:txBody>
        </p:sp>
        <p:sp>
          <p:nvSpPr>
            <p:cNvPr id="1194" name="Rectangle 170"/>
            <p:cNvSpPr/>
            <p:nvPr/>
          </p:nvSpPr>
          <p:spPr>
            <a:xfrm>
              <a:off x="2097" y="2389"/>
              <a:ext cx="150" cy="10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/>
            <a:p>
              <a:endParaRPr>
                <a:latin typeface="Calibri" charset="0"/>
              </a:endParaRPr>
            </a:p>
          </p:txBody>
        </p:sp>
        <p:sp>
          <p:nvSpPr>
            <p:cNvPr id="1195" name="Rectangle 171"/>
            <p:cNvSpPr/>
            <p:nvPr/>
          </p:nvSpPr>
          <p:spPr>
            <a:xfrm>
              <a:off x="2110" y="2405"/>
              <a:ext cx="123" cy="76"/>
            </a:xfrm>
            <a:prstGeom prst="rect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>
                <a:latin typeface="Calibri" charset="0"/>
              </a:endParaRPr>
            </a:p>
          </p:txBody>
        </p:sp>
        <p:sp>
          <p:nvSpPr>
            <p:cNvPr id="1196" name="Rectangle 172"/>
            <p:cNvSpPr/>
            <p:nvPr/>
          </p:nvSpPr>
          <p:spPr>
            <a:xfrm>
              <a:off x="2503" y="2397"/>
              <a:ext cx="150" cy="10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/>
            <a:p>
              <a:endParaRPr>
                <a:latin typeface="Calibri" charset="0"/>
              </a:endParaRPr>
            </a:p>
          </p:txBody>
        </p:sp>
        <p:sp>
          <p:nvSpPr>
            <p:cNvPr id="1197" name="Rectangle 173"/>
            <p:cNvSpPr/>
            <p:nvPr/>
          </p:nvSpPr>
          <p:spPr>
            <a:xfrm>
              <a:off x="2517" y="2410"/>
              <a:ext cx="123" cy="77"/>
            </a:xfrm>
            <a:prstGeom prst="rect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>
                <a:latin typeface="Calibri" charset="0"/>
              </a:endParaRPr>
            </a:p>
          </p:txBody>
        </p:sp>
        <p:sp>
          <p:nvSpPr>
            <p:cNvPr id="1198" name="Freeform 174"/>
            <p:cNvSpPr/>
            <p:nvPr/>
          </p:nvSpPr>
          <p:spPr>
            <a:xfrm>
              <a:off x="2004" y="2415"/>
              <a:ext cx="89" cy="44"/>
            </a:xfrm>
            <a:custGeom>
              <a:avLst/>
              <a:gdLst>
                <a:gd name="txL" fmla="*/ 0 w 100"/>
                <a:gd name="txT" fmla="*/ 0 h 44"/>
                <a:gd name="txR" fmla="*/ 100 w 100"/>
                <a:gd name="txB" fmla="*/ 44 h 44"/>
              </a:gdLst>
              <a:ahLst/>
              <a:cxnLst>
                <a:cxn ang="0">
                  <a:pos x="99" y="19"/>
                </a:cxn>
                <a:cxn ang="0">
                  <a:pos x="0" y="43"/>
                </a:cxn>
                <a:cxn ang="0">
                  <a:pos x="0" y="19"/>
                </a:cxn>
                <a:cxn ang="0">
                  <a:pos x="0" y="0"/>
                </a:cxn>
                <a:cxn ang="0">
                  <a:pos x="99" y="19"/>
                </a:cxn>
              </a:cxnLst>
              <a:rect l="txL" t="txT" r="txR" b="txB"/>
              <a:pathLst>
                <a:path w="100" h="44">
                  <a:moveTo>
                    <a:pt x="99" y="19"/>
                  </a:moveTo>
                  <a:lnTo>
                    <a:pt x="0" y="43"/>
                  </a:lnTo>
                  <a:lnTo>
                    <a:pt x="0" y="19"/>
                  </a:lnTo>
                  <a:lnTo>
                    <a:pt x="0" y="0"/>
                  </a:lnTo>
                  <a:lnTo>
                    <a:pt x="99" y="19"/>
                  </a:lnTo>
                </a:path>
              </a:pathLst>
            </a:custGeom>
            <a:noFill/>
            <a:ln w="12700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199" name="Line 175"/>
            <p:cNvSpPr/>
            <p:nvPr/>
          </p:nvSpPr>
          <p:spPr>
            <a:xfrm>
              <a:off x="1868" y="2436"/>
              <a:ext cx="229" cy="0"/>
            </a:xfrm>
            <a:prstGeom prst="line">
              <a:avLst/>
            </a:prstGeom>
            <a:ln w="2540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200" name="Freeform 176"/>
            <p:cNvSpPr/>
            <p:nvPr/>
          </p:nvSpPr>
          <p:spPr>
            <a:xfrm>
              <a:off x="2405" y="2396"/>
              <a:ext cx="88" cy="41"/>
            </a:xfrm>
            <a:custGeom>
              <a:avLst/>
              <a:gdLst>
                <a:gd name="txL" fmla="*/ 0 w 100"/>
                <a:gd name="txT" fmla="*/ 0 h 41"/>
                <a:gd name="txR" fmla="*/ 100 w 100"/>
                <a:gd name="txB" fmla="*/ 41 h 41"/>
              </a:gdLst>
              <a:ahLst/>
              <a:cxnLst>
                <a:cxn ang="0">
                  <a:pos x="99" y="18"/>
                </a:cxn>
                <a:cxn ang="0">
                  <a:pos x="0" y="40"/>
                </a:cxn>
                <a:cxn ang="0">
                  <a:pos x="0" y="18"/>
                </a:cxn>
                <a:cxn ang="0">
                  <a:pos x="0" y="0"/>
                </a:cxn>
                <a:cxn ang="0">
                  <a:pos x="99" y="18"/>
                </a:cxn>
              </a:cxnLst>
              <a:rect l="txL" t="txT" r="txR" b="txB"/>
              <a:pathLst>
                <a:path w="100" h="41">
                  <a:moveTo>
                    <a:pt x="99" y="18"/>
                  </a:moveTo>
                  <a:lnTo>
                    <a:pt x="0" y="40"/>
                  </a:lnTo>
                  <a:lnTo>
                    <a:pt x="0" y="18"/>
                  </a:lnTo>
                  <a:lnTo>
                    <a:pt x="0" y="0"/>
                  </a:lnTo>
                  <a:lnTo>
                    <a:pt x="99" y="18"/>
                  </a:lnTo>
                </a:path>
              </a:pathLst>
            </a:custGeom>
            <a:noFill/>
            <a:ln w="12700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201" name="Line 177"/>
            <p:cNvSpPr/>
            <p:nvPr/>
          </p:nvSpPr>
          <p:spPr>
            <a:xfrm>
              <a:off x="2238" y="2447"/>
              <a:ext cx="282" cy="0"/>
            </a:xfrm>
            <a:prstGeom prst="line">
              <a:avLst/>
            </a:prstGeom>
            <a:ln w="2540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202" name="Oval 178" descr="Wide downward diagonal"/>
            <p:cNvSpPr/>
            <p:nvPr/>
          </p:nvSpPr>
          <p:spPr>
            <a:xfrm>
              <a:off x="3350" y="2378"/>
              <a:ext cx="762" cy="135"/>
            </a:xfrm>
            <a:prstGeom prst="ellipse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>
                <a:latin typeface="Calibri" charset="0"/>
              </a:endParaRPr>
            </a:p>
          </p:txBody>
        </p:sp>
        <p:sp>
          <p:nvSpPr>
            <p:cNvPr id="1203" name="Rectangle 179"/>
            <p:cNvSpPr/>
            <p:nvPr/>
          </p:nvSpPr>
          <p:spPr>
            <a:xfrm>
              <a:off x="3420" y="2389"/>
              <a:ext cx="149" cy="10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/>
            <a:p>
              <a:endParaRPr>
                <a:latin typeface="Calibri" charset="0"/>
              </a:endParaRPr>
            </a:p>
          </p:txBody>
        </p:sp>
        <p:sp>
          <p:nvSpPr>
            <p:cNvPr id="1204" name="Rectangle 180"/>
            <p:cNvSpPr/>
            <p:nvPr/>
          </p:nvSpPr>
          <p:spPr>
            <a:xfrm>
              <a:off x="3433" y="2405"/>
              <a:ext cx="123" cy="76"/>
            </a:xfrm>
            <a:prstGeom prst="rect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>
                <a:latin typeface="Calibri" charset="0"/>
              </a:endParaRPr>
            </a:p>
          </p:txBody>
        </p:sp>
        <p:sp>
          <p:nvSpPr>
            <p:cNvPr id="1205" name="Rectangle 181"/>
            <p:cNvSpPr/>
            <p:nvPr/>
          </p:nvSpPr>
          <p:spPr>
            <a:xfrm>
              <a:off x="3875" y="2389"/>
              <a:ext cx="149" cy="10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/>
            <a:p>
              <a:endParaRPr>
                <a:latin typeface="Calibri" charset="0"/>
              </a:endParaRPr>
            </a:p>
          </p:txBody>
        </p:sp>
        <p:sp>
          <p:nvSpPr>
            <p:cNvPr id="1206" name="Rectangle 182"/>
            <p:cNvSpPr/>
            <p:nvPr/>
          </p:nvSpPr>
          <p:spPr>
            <a:xfrm>
              <a:off x="3888" y="2405"/>
              <a:ext cx="123" cy="76"/>
            </a:xfrm>
            <a:prstGeom prst="rect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>
                <a:latin typeface="Calibri" charset="0"/>
              </a:endParaRPr>
            </a:p>
          </p:txBody>
        </p:sp>
        <p:sp>
          <p:nvSpPr>
            <p:cNvPr id="1207" name="Oval 183" descr="Wide downward diagonal"/>
            <p:cNvSpPr/>
            <p:nvPr/>
          </p:nvSpPr>
          <p:spPr>
            <a:xfrm>
              <a:off x="3339" y="2711"/>
              <a:ext cx="762" cy="136"/>
            </a:xfrm>
            <a:prstGeom prst="ellipse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>
                <a:latin typeface="Calibri" charset="0"/>
              </a:endParaRPr>
            </a:p>
          </p:txBody>
        </p:sp>
        <p:sp>
          <p:nvSpPr>
            <p:cNvPr id="1208" name="Rectangle 184"/>
            <p:cNvSpPr/>
            <p:nvPr/>
          </p:nvSpPr>
          <p:spPr>
            <a:xfrm>
              <a:off x="3409" y="2724"/>
              <a:ext cx="148" cy="10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/>
            <a:p>
              <a:endParaRPr>
                <a:latin typeface="Calibri" charset="0"/>
              </a:endParaRPr>
            </a:p>
          </p:txBody>
        </p:sp>
        <p:sp>
          <p:nvSpPr>
            <p:cNvPr id="1209" name="Rectangle 185"/>
            <p:cNvSpPr/>
            <p:nvPr/>
          </p:nvSpPr>
          <p:spPr>
            <a:xfrm>
              <a:off x="3422" y="2738"/>
              <a:ext cx="123" cy="77"/>
            </a:xfrm>
            <a:prstGeom prst="rect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>
                <a:latin typeface="Calibri" charset="0"/>
              </a:endParaRPr>
            </a:p>
          </p:txBody>
        </p:sp>
        <p:sp>
          <p:nvSpPr>
            <p:cNvPr id="1210" name="Rectangle 186"/>
            <p:cNvSpPr/>
            <p:nvPr/>
          </p:nvSpPr>
          <p:spPr>
            <a:xfrm>
              <a:off x="3864" y="2724"/>
              <a:ext cx="148" cy="10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/>
            <a:p>
              <a:endParaRPr>
                <a:latin typeface="Calibri" charset="0"/>
              </a:endParaRPr>
            </a:p>
          </p:txBody>
        </p:sp>
        <p:sp>
          <p:nvSpPr>
            <p:cNvPr id="1211" name="Rectangle 187"/>
            <p:cNvSpPr/>
            <p:nvPr/>
          </p:nvSpPr>
          <p:spPr>
            <a:xfrm>
              <a:off x="3877" y="2738"/>
              <a:ext cx="123" cy="77"/>
            </a:xfrm>
            <a:prstGeom prst="rect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>
                <a:latin typeface="Calibri" charset="0"/>
              </a:endParaRPr>
            </a:p>
          </p:txBody>
        </p:sp>
        <p:sp>
          <p:nvSpPr>
            <p:cNvPr id="1212" name="Freeform 188"/>
            <p:cNvSpPr/>
            <p:nvPr/>
          </p:nvSpPr>
          <p:spPr>
            <a:xfrm>
              <a:off x="3414" y="2129"/>
              <a:ext cx="89" cy="40"/>
            </a:xfrm>
            <a:custGeom>
              <a:avLst/>
              <a:gdLst>
                <a:gd name="txL" fmla="*/ 0 w 100"/>
                <a:gd name="txT" fmla="*/ 0 h 40"/>
                <a:gd name="txR" fmla="*/ 100 w 100"/>
                <a:gd name="txB" fmla="*/ 40 h 40"/>
              </a:gdLst>
              <a:ahLst/>
              <a:cxnLst>
                <a:cxn ang="0">
                  <a:pos x="99" y="20"/>
                </a:cxn>
                <a:cxn ang="0">
                  <a:pos x="0" y="39"/>
                </a:cxn>
                <a:cxn ang="0">
                  <a:pos x="0" y="20"/>
                </a:cxn>
                <a:cxn ang="0">
                  <a:pos x="0" y="0"/>
                </a:cxn>
                <a:cxn ang="0">
                  <a:pos x="99" y="20"/>
                </a:cxn>
              </a:cxnLst>
              <a:rect l="txL" t="txT" r="txR" b="txB"/>
              <a:pathLst>
                <a:path w="100" h="40">
                  <a:moveTo>
                    <a:pt x="99" y="20"/>
                  </a:moveTo>
                  <a:lnTo>
                    <a:pt x="0" y="39"/>
                  </a:lnTo>
                  <a:lnTo>
                    <a:pt x="0" y="20"/>
                  </a:lnTo>
                  <a:lnTo>
                    <a:pt x="0" y="0"/>
                  </a:lnTo>
                  <a:lnTo>
                    <a:pt x="99" y="20"/>
                  </a:lnTo>
                </a:path>
              </a:pathLst>
            </a:custGeom>
            <a:noFill/>
            <a:ln w="12700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213" name="Line 189"/>
            <p:cNvSpPr/>
            <p:nvPr/>
          </p:nvSpPr>
          <p:spPr>
            <a:xfrm flipV="1">
              <a:off x="3202" y="2136"/>
              <a:ext cx="305" cy="5"/>
            </a:xfrm>
            <a:prstGeom prst="line">
              <a:avLst/>
            </a:prstGeom>
            <a:ln w="2540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214" name="Freeform 190"/>
            <p:cNvSpPr/>
            <p:nvPr/>
          </p:nvSpPr>
          <p:spPr>
            <a:xfrm>
              <a:off x="3782" y="2426"/>
              <a:ext cx="89" cy="38"/>
            </a:xfrm>
            <a:custGeom>
              <a:avLst/>
              <a:gdLst>
                <a:gd name="txL" fmla="*/ 0 w 100"/>
                <a:gd name="txT" fmla="*/ 0 h 38"/>
                <a:gd name="txR" fmla="*/ 100 w 100"/>
                <a:gd name="txB" fmla="*/ 38 h 38"/>
              </a:gdLst>
              <a:ahLst/>
              <a:cxnLst>
                <a:cxn ang="0">
                  <a:pos x="99" y="19"/>
                </a:cxn>
                <a:cxn ang="0">
                  <a:pos x="0" y="37"/>
                </a:cxn>
                <a:cxn ang="0">
                  <a:pos x="0" y="19"/>
                </a:cxn>
                <a:cxn ang="0">
                  <a:pos x="0" y="0"/>
                </a:cxn>
                <a:cxn ang="0">
                  <a:pos x="99" y="19"/>
                </a:cxn>
              </a:cxnLst>
              <a:rect l="txL" t="txT" r="txR" b="txB"/>
              <a:pathLst>
                <a:path w="100" h="38">
                  <a:moveTo>
                    <a:pt x="99" y="19"/>
                  </a:moveTo>
                  <a:lnTo>
                    <a:pt x="0" y="37"/>
                  </a:lnTo>
                  <a:lnTo>
                    <a:pt x="0" y="19"/>
                  </a:lnTo>
                  <a:lnTo>
                    <a:pt x="0" y="0"/>
                  </a:lnTo>
                  <a:lnTo>
                    <a:pt x="99" y="19"/>
                  </a:lnTo>
                </a:path>
              </a:pathLst>
            </a:custGeom>
            <a:noFill/>
            <a:ln w="12700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215" name="Line 191"/>
            <p:cNvSpPr/>
            <p:nvPr/>
          </p:nvSpPr>
          <p:spPr>
            <a:xfrm>
              <a:off x="3561" y="2440"/>
              <a:ext cx="327" cy="0"/>
            </a:xfrm>
            <a:prstGeom prst="line">
              <a:avLst/>
            </a:prstGeom>
            <a:ln w="2540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216" name="Freeform 192"/>
            <p:cNvSpPr/>
            <p:nvPr/>
          </p:nvSpPr>
          <p:spPr>
            <a:xfrm>
              <a:off x="3771" y="2760"/>
              <a:ext cx="88" cy="38"/>
            </a:xfrm>
            <a:custGeom>
              <a:avLst/>
              <a:gdLst>
                <a:gd name="txL" fmla="*/ 0 w 100"/>
                <a:gd name="txT" fmla="*/ 0 h 38"/>
                <a:gd name="txR" fmla="*/ 100 w 100"/>
                <a:gd name="txB" fmla="*/ 38 h 38"/>
              </a:gdLst>
              <a:ahLst/>
              <a:cxnLst>
                <a:cxn ang="0">
                  <a:pos x="99" y="19"/>
                </a:cxn>
                <a:cxn ang="0">
                  <a:pos x="0" y="37"/>
                </a:cxn>
                <a:cxn ang="0">
                  <a:pos x="0" y="19"/>
                </a:cxn>
                <a:cxn ang="0">
                  <a:pos x="0" y="0"/>
                </a:cxn>
                <a:cxn ang="0">
                  <a:pos x="99" y="19"/>
                </a:cxn>
              </a:cxnLst>
              <a:rect l="txL" t="txT" r="txR" b="txB"/>
              <a:pathLst>
                <a:path w="100" h="38">
                  <a:moveTo>
                    <a:pt x="99" y="19"/>
                  </a:moveTo>
                  <a:lnTo>
                    <a:pt x="0" y="37"/>
                  </a:lnTo>
                  <a:lnTo>
                    <a:pt x="0" y="19"/>
                  </a:lnTo>
                  <a:lnTo>
                    <a:pt x="0" y="0"/>
                  </a:lnTo>
                  <a:lnTo>
                    <a:pt x="99" y="19"/>
                  </a:lnTo>
                </a:path>
              </a:pathLst>
            </a:custGeom>
            <a:noFill/>
            <a:ln w="12700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217" name="Line 193"/>
            <p:cNvSpPr/>
            <p:nvPr/>
          </p:nvSpPr>
          <p:spPr>
            <a:xfrm>
              <a:off x="3540" y="2777"/>
              <a:ext cx="331" cy="0"/>
            </a:xfrm>
            <a:prstGeom prst="line">
              <a:avLst/>
            </a:prstGeom>
            <a:ln w="2540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218" name="Line 194"/>
            <p:cNvSpPr/>
            <p:nvPr/>
          </p:nvSpPr>
          <p:spPr>
            <a:xfrm>
              <a:off x="1450" y="1508"/>
              <a:ext cx="0" cy="169"/>
            </a:xfrm>
            <a:prstGeom prst="line">
              <a:avLst/>
            </a:prstGeom>
            <a:ln w="25400" cap="flat" cmpd="sng">
              <a:solidFill>
                <a:srgbClr val="000000"/>
              </a:solidFill>
              <a:prstDash val="solid"/>
              <a:headEnd type="none" w="med" len="med"/>
              <a:tailEnd type="none" w="sm" len="sm"/>
            </a:ln>
          </p:spPr>
        </p:sp>
        <p:sp>
          <p:nvSpPr>
            <p:cNvPr id="1219" name="Line 195"/>
            <p:cNvSpPr/>
            <p:nvPr/>
          </p:nvSpPr>
          <p:spPr>
            <a:xfrm>
              <a:off x="1776" y="1520"/>
              <a:ext cx="773" cy="0"/>
            </a:xfrm>
            <a:prstGeom prst="line">
              <a:avLst/>
            </a:prstGeom>
            <a:ln w="254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20" name="Line 196"/>
            <p:cNvSpPr/>
            <p:nvPr/>
          </p:nvSpPr>
          <p:spPr>
            <a:xfrm flipH="1">
              <a:off x="2147" y="1496"/>
              <a:ext cx="5" cy="115"/>
            </a:xfrm>
            <a:prstGeom prst="line">
              <a:avLst/>
            </a:prstGeom>
            <a:ln w="2540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221" name="Freeform 197"/>
            <p:cNvSpPr/>
            <p:nvPr/>
          </p:nvSpPr>
          <p:spPr>
            <a:xfrm>
              <a:off x="1751" y="1552"/>
              <a:ext cx="24" cy="59"/>
            </a:xfrm>
            <a:custGeom>
              <a:avLst/>
              <a:gdLst>
                <a:gd name="txL" fmla="*/ 0 w 27"/>
                <a:gd name="txT" fmla="*/ 0 h 59"/>
                <a:gd name="txR" fmla="*/ 27 w 27"/>
                <a:gd name="txB" fmla="*/ 59 h 59"/>
              </a:gdLst>
              <a:ahLst/>
              <a:cxnLst>
                <a:cxn ang="0">
                  <a:pos x="16" y="58"/>
                </a:cxn>
                <a:cxn ang="0">
                  <a:pos x="0" y="0"/>
                </a:cxn>
                <a:cxn ang="0">
                  <a:pos x="16" y="0"/>
                </a:cxn>
                <a:cxn ang="0">
                  <a:pos x="26" y="0"/>
                </a:cxn>
                <a:cxn ang="0">
                  <a:pos x="16" y="58"/>
                </a:cxn>
              </a:cxnLst>
              <a:rect l="txL" t="txT" r="txR" b="txB"/>
              <a:pathLst>
                <a:path w="27" h="59">
                  <a:moveTo>
                    <a:pt x="16" y="58"/>
                  </a:moveTo>
                  <a:lnTo>
                    <a:pt x="0" y="0"/>
                  </a:lnTo>
                  <a:lnTo>
                    <a:pt x="16" y="0"/>
                  </a:lnTo>
                  <a:lnTo>
                    <a:pt x="26" y="0"/>
                  </a:lnTo>
                  <a:lnTo>
                    <a:pt x="16" y="58"/>
                  </a:lnTo>
                </a:path>
              </a:pathLst>
            </a:custGeom>
            <a:noFill/>
            <a:ln w="12700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222" name="Line 198"/>
            <p:cNvSpPr/>
            <p:nvPr/>
          </p:nvSpPr>
          <p:spPr>
            <a:xfrm>
              <a:off x="1775" y="1508"/>
              <a:ext cx="1" cy="132"/>
            </a:xfrm>
            <a:prstGeom prst="line">
              <a:avLst/>
            </a:prstGeom>
            <a:ln w="2540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223" name="Freeform 199"/>
            <p:cNvSpPr/>
            <p:nvPr/>
          </p:nvSpPr>
          <p:spPr>
            <a:xfrm>
              <a:off x="2136" y="1552"/>
              <a:ext cx="23" cy="59"/>
            </a:xfrm>
            <a:custGeom>
              <a:avLst/>
              <a:gdLst>
                <a:gd name="txL" fmla="*/ 0 w 26"/>
                <a:gd name="txT" fmla="*/ 0 h 59"/>
                <a:gd name="txR" fmla="*/ 26 w 26"/>
                <a:gd name="txB" fmla="*/ 59 h 59"/>
              </a:gdLst>
              <a:ahLst/>
              <a:cxnLst>
                <a:cxn ang="0">
                  <a:pos x="10" y="58"/>
                </a:cxn>
                <a:cxn ang="0">
                  <a:pos x="0" y="0"/>
                </a:cxn>
                <a:cxn ang="0">
                  <a:pos x="10" y="0"/>
                </a:cxn>
                <a:cxn ang="0">
                  <a:pos x="25" y="0"/>
                </a:cxn>
                <a:cxn ang="0">
                  <a:pos x="10" y="58"/>
                </a:cxn>
              </a:cxnLst>
              <a:rect l="txL" t="txT" r="txR" b="txB"/>
              <a:pathLst>
                <a:path w="26" h="59">
                  <a:moveTo>
                    <a:pt x="10" y="58"/>
                  </a:moveTo>
                  <a:lnTo>
                    <a:pt x="0" y="0"/>
                  </a:lnTo>
                  <a:lnTo>
                    <a:pt x="10" y="0"/>
                  </a:lnTo>
                  <a:lnTo>
                    <a:pt x="25" y="0"/>
                  </a:lnTo>
                  <a:lnTo>
                    <a:pt x="10" y="58"/>
                  </a:lnTo>
                </a:path>
              </a:pathLst>
            </a:custGeom>
            <a:noFill/>
            <a:ln w="12700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224" name="Freeform 200"/>
            <p:cNvSpPr/>
            <p:nvPr/>
          </p:nvSpPr>
          <p:spPr>
            <a:xfrm>
              <a:off x="2536" y="1558"/>
              <a:ext cx="29" cy="59"/>
            </a:xfrm>
            <a:custGeom>
              <a:avLst/>
              <a:gdLst>
                <a:gd name="txL" fmla="*/ 0 w 32"/>
                <a:gd name="txT" fmla="*/ 0 h 59"/>
                <a:gd name="txR" fmla="*/ 32 w 32"/>
                <a:gd name="txB" fmla="*/ 59 h 59"/>
              </a:gdLst>
              <a:ahLst/>
              <a:cxnLst>
                <a:cxn ang="0">
                  <a:pos x="16" y="58"/>
                </a:cxn>
                <a:cxn ang="0">
                  <a:pos x="0" y="0"/>
                </a:cxn>
                <a:cxn ang="0">
                  <a:pos x="16" y="0"/>
                </a:cxn>
                <a:cxn ang="0">
                  <a:pos x="31" y="0"/>
                </a:cxn>
                <a:cxn ang="0">
                  <a:pos x="16" y="58"/>
                </a:cxn>
              </a:cxnLst>
              <a:rect l="txL" t="txT" r="txR" b="txB"/>
              <a:pathLst>
                <a:path w="32" h="59">
                  <a:moveTo>
                    <a:pt x="16" y="58"/>
                  </a:moveTo>
                  <a:lnTo>
                    <a:pt x="0" y="0"/>
                  </a:lnTo>
                  <a:lnTo>
                    <a:pt x="16" y="0"/>
                  </a:lnTo>
                  <a:lnTo>
                    <a:pt x="31" y="0"/>
                  </a:lnTo>
                  <a:lnTo>
                    <a:pt x="16" y="58"/>
                  </a:lnTo>
                </a:path>
              </a:pathLst>
            </a:custGeom>
            <a:noFill/>
            <a:ln w="12700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225" name="Line 201"/>
            <p:cNvSpPr/>
            <p:nvPr/>
          </p:nvSpPr>
          <p:spPr>
            <a:xfrm>
              <a:off x="2558" y="1520"/>
              <a:ext cx="0" cy="93"/>
            </a:xfrm>
            <a:prstGeom prst="line">
              <a:avLst/>
            </a:prstGeom>
            <a:ln w="2540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226" name="Freeform 202"/>
            <p:cNvSpPr/>
            <p:nvPr/>
          </p:nvSpPr>
          <p:spPr>
            <a:xfrm>
              <a:off x="2136" y="1404"/>
              <a:ext cx="23" cy="60"/>
            </a:xfrm>
            <a:custGeom>
              <a:avLst/>
              <a:gdLst>
                <a:gd name="txL" fmla="*/ 0 w 26"/>
                <a:gd name="txT" fmla="*/ 0 h 60"/>
                <a:gd name="txR" fmla="*/ 26 w 26"/>
                <a:gd name="txB" fmla="*/ 60 h 60"/>
              </a:gdLst>
              <a:ahLst/>
              <a:cxnLst>
                <a:cxn ang="0">
                  <a:pos x="10" y="59"/>
                </a:cxn>
                <a:cxn ang="0">
                  <a:pos x="0" y="0"/>
                </a:cxn>
                <a:cxn ang="0">
                  <a:pos x="10" y="0"/>
                </a:cxn>
                <a:cxn ang="0">
                  <a:pos x="25" y="0"/>
                </a:cxn>
                <a:cxn ang="0">
                  <a:pos x="10" y="59"/>
                </a:cxn>
              </a:cxnLst>
              <a:rect l="txL" t="txT" r="txR" b="txB"/>
              <a:pathLst>
                <a:path w="26" h="60">
                  <a:moveTo>
                    <a:pt x="10" y="59"/>
                  </a:moveTo>
                  <a:lnTo>
                    <a:pt x="0" y="0"/>
                  </a:lnTo>
                  <a:lnTo>
                    <a:pt x="10" y="0"/>
                  </a:lnTo>
                  <a:lnTo>
                    <a:pt x="25" y="0"/>
                  </a:lnTo>
                  <a:lnTo>
                    <a:pt x="10" y="59"/>
                  </a:lnTo>
                </a:path>
              </a:pathLst>
            </a:custGeom>
            <a:noFill/>
            <a:ln w="12700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227" name="Line 203"/>
            <p:cNvSpPr/>
            <p:nvPr/>
          </p:nvSpPr>
          <p:spPr>
            <a:xfrm>
              <a:off x="2147" y="1269"/>
              <a:ext cx="5" cy="187"/>
            </a:xfrm>
            <a:prstGeom prst="line">
              <a:avLst/>
            </a:prstGeom>
            <a:ln w="25400" cap="flat" cmpd="sng">
              <a:solidFill>
                <a:schemeClr val="tx2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228" name="Freeform 204"/>
            <p:cNvSpPr/>
            <p:nvPr/>
          </p:nvSpPr>
          <p:spPr>
            <a:xfrm>
              <a:off x="1434" y="1398"/>
              <a:ext cx="28" cy="58"/>
            </a:xfrm>
            <a:custGeom>
              <a:avLst/>
              <a:gdLst>
                <a:gd name="txL" fmla="*/ 0 w 31"/>
                <a:gd name="txT" fmla="*/ 0 h 58"/>
                <a:gd name="txR" fmla="*/ 31 w 31"/>
                <a:gd name="txB" fmla="*/ 58 h 58"/>
              </a:gdLst>
              <a:ahLst/>
              <a:cxnLst>
                <a:cxn ang="0">
                  <a:pos x="15" y="57"/>
                </a:cxn>
                <a:cxn ang="0">
                  <a:pos x="0" y="0"/>
                </a:cxn>
                <a:cxn ang="0">
                  <a:pos x="15" y="0"/>
                </a:cxn>
                <a:cxn ang="0">
                  <a:pos x="30" y="0"/>
                </a:cxn>
                <a:cxn ang="0">
                  <a:pos x="15" y="57"/>
                </a:cxn>
              </a:cxnLst>
              <a:rect l="txL" t="txT" r="txR" b="txB"/>
              <a:pathLst>
                <a:path w="31" h="58">
                  <a:moveTo>
                    <a:pt x="15" y="57"/>
                  </a:moveTo>
                  <a:lnTo>
                    <a:pt x="0" y="0"/>
                  </a:lnTo>
                  <a:lnTo>
                    <a:pt x="15" y="0"/>
                  </a:lnTo>
                  <a:lnTo>
                    <a:pt x="30" y="0"/>
                  </a:lnTo>
                  <a:lnTo>
                    <a:pt x="15" y="57"/>
                  </a:lnTo>
                </a:path>
              </a:pathLst>
            </a:custGeom>
            <a:noFill/>
            <a:ln w="12700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229" name="Line 205"/>
            <p:cNvSpPr/>
            <p:nvPr/>
          </p:nvSpPr>
          <p:spPr>
            <a:xfrm>
              <a:off x="1463" y="1685"/>
              <a:ext cx="85" cy="0"/>
            </a:xfrm>
            <a:prstGeom prst="line">
              <a:avLst/>
            </a:prstGeom>
            <a:ln w="2540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230" name="Line 206"/>
            <p:cNvSpPr/>
            <p:nvPr/>
          </p:nvSpPr>
          <p:spPr>
            <a:xfrm>
              <a:off x="2168" y="1954"/>
              <a:ext cx="933" cy="0"/>
            </a:xfrm>
            <a:prstGeom prst="line">
              <a:avLst/>
            </a:prstGeom>
            <a:ln w="2540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231" name="Line 207"/>
            <p:cNvSpPr/>
            <p:nvPr/>
          </p:nvSpPr>
          <p:spPr>
            <a:xfrm>
              <a:off x="2618" y="1689"/>
              <a:ext cx="192" cy="0"/>
            </a:xfrm>
            <a:prstGeom prst="line">
              <a:avLst/>
            </a:prstGeom>
            <a:ln w="2540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232" name="Line 208"/>
            <p:cNvSpPr/>
            <p:nvPr/>
          </p:nvSpPr>
          <p:spPr>
            <a:xfrm>
              <a:off x="1344" y="1869"/>
              <a:ext cx="2998" cy="0"/>
            </a:xfrm>
            <a:prstGeom prst="line">
              <a:avLst/>
            </a:prstGeom>
            <a:ln w="50800" cap="flat" cmpd="sng">
              <a:solidFill>
                <a:srgbClr val="80808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3" name="Freeform 209"/>
            <p:cNvSpPr/>
            <p:nvPr/>
          </p:nvSpPr>
          <p:spPr>
            <a:xfrm>
              <a:off x="2799" y="1892"/>
              <a:ext cx="22" cy="59"/>
            </a:xfrm>
            <a:custGeom>
              <a:avLst/>
              <a:gdLst>
                <a:gd name="txL" fmla="*/ 0 w 25"/>
                <a:gd name="txT" fmla="*/ 0 h 59"/>
                <a:gd name="txR" fmla="*/ 25 w 25"/>
                <a:gd name="txB" fmla="*/ 59 h 59"/>
              </a:gdLst>
              <a:ahLst/>
              <a:cxnLst>
                <a:cxn ang="0">
                  <a:pos x="15" y="58"/>
                </a:cxn>
                <a:cxn ang="0">
                  <a:pos x="0" y="0"/>
                </a:cxn>
                <a:cxn ang="0">
                  <a:pos x="15" y="0"/>
                </a:cxn>
                <a:cxn ang="0">
                  <a:pos x="24" y="0"/>
                </a:cxn>
                <a:cxn ang="0">
                  <a:pos x="15" y="58"/>
                </a:cxn>
              </a:cxnLst>
              <a:rect l="txL" t="txT" r="txR" b="txB"/>
              <a:pathLst>
                <a:path w="25" h="59">
                  <a:moveTo>
                    <a:pt x="15" y="58"/>
                  </a:moveTo>
                  <a:lnTo>
                    <a:pt x="0" y="0"/>
                  </a:lnTo>
                  <a:lnTo>
                    <a:pt x="15" y="0"/>
                  </a:lnTo>
                  <a:lnTo>
                    <a:pt x="24" y="0"/>
                  </a:lnTo>
                  <a:lnTo>
                    <a:pt x="15" y="58"/>
                  </a:lnTo>
                </a:path>
              </a:pathLst>
            </a:custGeom>
            <a:noFill/>
            <a:ln w="12700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234" name="Line 210"/>
            <p:cNvSpPr/>
            <p:nvPr/>
          </p:nvSpPr>
          <p:spPr>
            <a:xfrm>
              <a:off x="2803" y="1701"/>
              <a:ext cx="0" cy="250"/>
            </a:xfrm>
            <a:prstGeom prst="line">
              <a:avLst/>
            </a:prstGeom>
            <a:ln w="2540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235" name="Freeform 211"/>
            <p:cNvSpPr/>
            <p:nvPr/>
          </p:nvSpPr>
          <p:spPr>
            <a:xfrm>
              <a:off x="2131" y="2015"/>
              <a:ext cx="28" cy="57"/>
            </a:xfrm>
            <a:custGeom>
              <a:avLst/>
              <a:gdLst>
                <a:gd name="txL" fmla="*/ 0 w 32"/>
                <a:gd name="txT" fmla="*/ 0 h 57"/>
                <a:gd name="txR" fmla="*/ 32 w 32"/>
                <a:gd name="txB" fmla="*/ 57 h 57"/>
              </a:gdLst>
              <a:ahLst/>
              <a:cxnLst>
                <a:cxn ang="0">
                  <a:pos x="16" y="56"/>
                </a:cxn>
                <a:cxn ang="0">
                  <a:pos x="0" y="0"/>
                </a:cxn>
                <a:cxn ang="0">
                  <a:pos x="16" y="0"/>
                </a:cxn>
                <a:cxn ang="0">
                  <a:pos x="31" y="0"/>
                </a:cxn>
                <a:cxn ang="0">
                  <a:pos x="16" y="56"/>
                </a:cxn>
              </a:cxnLst>
              <a:rect l="txL" t="txT" r="txR" b="txB"/>
              <a:pathLst>
                <a:path w="32" h="57">
                  <a:moveTo>
                    <a:pt x="16" y="56"/>
                  </a:moveTo>
                  <a:lnTo>
                    <a:pt x="0" y="0"/>
                  </a:lnTo>
                  <a:lnTo>
                    <a:pt x="16" y="0"/>
                  </a:lnTo>
                  <a:lnTo>
                    <a:pt x="31" y="0"/>
                  </a:lnTo>
                  <a:lnTo>
                    <a:pt x="16" y="56"/>
                  </a:lnTo>
                </a:path>
              </a:pathLst>
            </a:custGeom>
            <a:noFill/>
            <a:ln w="12700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236" name="Line 212"/>
            <p:cNvSpPr/>
            <p:nvPr/>
          </p:nvSpPr>
          <p:spPr>
            <a:xfrm>
              <a:off x="2168" y="1963"/>
              <a:ext cx="0" cy="145"/>
            </a:xfrm>
            <a:prstGeom prst="line">
              <a:avLst/>
            </a:prstGeom>
            <a:ln w="2540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237" name="Freeform 213"/>
            <p:cNvSpPr/>
            <p:nvPr/>
          </p:nvSpPr>
          <p:spPr>
            <a:xfrm>
              <a:off x="2542" y="2021"/>
              <a:ext cx="29" cy="58"/>
            </a:xfrm>
            <a:custGeom>
              <a:avLst/>
              <a:gdLst>
                <a:gd name="txL" fmla="*/ 0 w 32"/>
                <a:gd name="txT" fmla="*/ 0 h 58"/>
                <a:gd name="txR" fmla="*/ 32 w 32"/>
                <a:gd name="txB" fmla="*/ 58 h 58"/>
              </a:gdLst>
              <a:ahLst/>
              <a:cxnLst>
                <a:cxn ang="0">
                  <a:pos x="15" y="57"/>
                </a:cxn>
                <a:cxn ang="0">
                  <a:pos x="0" y="0"/>
                </a:cxn>
                <a:cxn ang="0">
                  <a:pos x="15" y="0"/>
                </a:cxn>
                <a:cxn ang="0">
                  <a:pos x="31" y="0"/>
                </a:cxn>
                <a:cxn ang="0">
                  <a:pos x="15" y="57"/>
                </a:cxn>
              </a:cxnLst>
              <a:rect l="txL" t="txT" r="txR" b="txB"/>
              <a:pathLst>
                <a:path w="32" h="58">
                  <a:moveTo>
                    <a:pt x="15" y="57"/>
                  </a:moveTo>
                  <a:lnTo>
                    <a:pt x="0" y="0"/>
                  </a:lnTo>
                  <a:lnTo>
                    <a:pt x="15" y="0"/>
                  </a:lnTo>
                  <a:lnTo>
                    <a:pt x="31" y="0"/>
                  </a:lnTo>
                  <a:lnTo>
                    <a:pt x="15" y="57"/>
                  </a:lnTo>
                </a:path>
              </a:pathLst>
            </a:custGeom>
            <a:noFill/>
            <a:ln w="12700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238" name="Line 214"/>
            <p:cNvSpPr/>
            <p:nvPr/>
          </p:nvSpPr>
          <p:spPr>
            <a:xfrm>
              <a:off x="2565" y="1963"/>
              <a:ext cx="0" cy="148"/>
            </a:xfrm>
            <a:prstGeom prst="line">
              <a:avLst/>
            </a:prstGeom>
            <a:ln w="2540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239" name="Freeform 215"/>
            <p:cNvSpPr/>
            <p:nvPr/>
          </p:nvSpPr>
          <p:spPr>
            <a:xfrm>
              <a:off x="3074" y="2021"/>
              <a:ext cx="27" cy="58"/>
            </a:xfrm>
            <a:custGeom>
              <a:avLst/>
              <a:gdLst>
                <a:gd name="txL" fmla="*/ 0 w 31"/>
                <a:gd name="txT" fmla="*/ 0 h 58"/>
                <a:gd name="txR" fmla="*/ 31 w 31"/>
                <a:gd name="txB" fmla="*/ 58 h 58"/>
              </a:gdLst>
              <a:ahLst/>
              <a:cxnLst>
                <a:cxn ang="0">
                  <a:pos x="15" y="57"/>
                </a:cxn>
                <a:cxn ang="0">
                  <a:pos x="0" y="0"/>
                </a:cxn>
                <a:cxn ang="0">
                  <a:pos x="15" y="0"/>
                </a:cxn>
                <a:cxn ang="0">
                  <a:pos x="30" y="0"/>
                </a:cxn>
                <a:cxn ang="0">
                  <a:pos x="15" y="57"/>
                </a:cxn>
              </a:cxnLst>
              <a:rect l="txL" t="txT" r="txR" b="txB"/>
              <a:pathLst>
                <a:path w="31" h="58">
                  <a:moveTo>
                    <a:pt x="15" y="57"/>
                  </a:moveTo>
                  <a:lnTo>
                    <a:pt x="0" y="0"/>
                  </a:lnTo>
                  <a:lnTo>
                    <a:pt x="15" y="0"/>
                  </a:lnTo>
                  <a:lnTo>
                    <a:pt x="30" y="0"/>
                  </a:lnTo>
                  <a:lnTo>
                    <a:pt x="15" y="57"/>
                  </a:lnTo>
                </a:path>
              </a:pathLst>
            </a:custGeom>
            <a:noFill/>
            <a:ln w="12700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240" name="Line 216"/>
            <p:cNvSpPr/>
            <p:nvPr/>
          </p:nvSpPr>
          <p:spPr>
            <a:xfrm flipV="1">
              <a:off x="2653" y="2440"/>
              <a:ext cx="200" cy="7"/>
            </a:xfrm>
            <a:prstGeom prst="line">
              <a:avLst/>
            </a:prstGeom>
            <a:ln w="2540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241" name="Line 217"/>
            <p:cNvSpPr/>
            <p:nvPr/>
          </p:nvSpPr>
          <p:spPr>
            <a:xfrm flipH="1">
              <a:off x="2867" y="2151"/>
              <a:ext cx="0" cy="313"/>
            </a:xfrm>
            <a:prstGeom prst="line">
              <a:avLst/>
            </a:prstGeom>
            <a:ln w="2540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242" name="Freeform 218"/>
            <p:cNvSpPr/>
            <p:nvPr/>
          </p:nvSpPr>
          <p:spPr>
            <a:xfrm>
              <a:off x="2980" y="2159"/>
              <a:ext cx="68" cy="29"/>
            </a:xfrm>
            <a:custGeom>
              <a:avLst/>
              <a:gdLst>
                <a:gd name="txL" fmla="*/ 0 w 76"/>
                <a:gd name="txT" fmla="*/ 0 h 29"/>
                <a:gd name="txR" fmla="*/ 76 w 76"/>
                <a:gd name="txB" fmla="*/ 29 h 29"/>
              </a:gdLst>
              <a:ahLst/>
              <a:cxnLst>
                <a:cxn ang="0">
                  <a:pos x="75" y="11"/>
                </a:cxn>
                <a:cxn ang="0">
                  <a:pos x="0" y="28"/>
                </a:cxn>
                <a:cxn ang="0">
                  <a:pos x="0" y="11"/>
                </a:cxn>
                <a:cxn ang="0">
                  <a:pos x="0" y="0"/>
                </a:cxn>
                <a:cxn ang="0">
                  <a:pos x="75" y="11"/>
                </a:cxn>
              </a:cxnLst>
              <a:rect l="txL" t="txT" r="txR" b="txB"/>
              <a:pathLst>
                <a:path w="76" h="29">
                  <a:moveTo>
                    <a:pt x="75" y="11"/>
                  </a:moveTo>
                  <a:lnTo>
                    <a:pt x="0" y="28"/>
                  </a:lnTo>
                  <a:lnTo>
                    <a:pt x="0" y="11"/>
                  </a:lnTo>
                  <a:lnTo>
                    <a:pt x="0" y="0"/>
                  </a:lnTo>
                  <a:lnTo>
                    <a:pt x="75" y="11"/>
                  </a:lnTo>
                </a:path>
              </a:pathLst>
            </a:custGeom>
            <a:noFill/>
            <a:ln w="12700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243" name="Freeform 219"/>
            <p:cNvSpPr/>
            <p:nvPr/>
          </p:nvSpPr>
          <p:spPr>
            <a:xfrm>
              <a:off x="2980" y="2098"/>
              <a:ext cx="62" cy="23"/>
            </a:xfrm>
            <a:custGeom>
              <a:avLst/>
              <a:gdLst>
                <a:gd name="txL" fmla="*/ 0 w 69"/>
                <a:gd name="txT" fmla="*/ 0 h 23"/>
                <a:gd name="txR" fmla="*/ 69 w 69"/>
                <a:gd name="txB" fmla="*/ 23 h 23"/>
              </a:gdLst>
              <a:ahLst/>
              <a:cxnLst>
                <a:cxn ang="0">
                  <a:pos x="68" y="13"/>
                </a:cxn>
                <a:cxn ang="0">
                  <a:pos x="0" y="22"/>
                </a:cxn>
                <a:cxn ang="0">
                  <a:pos x="0" y="13"/>
                </a:cxn>
                <a:cxn ang="0">
                  <a:pos x="0" y="0"/>
                </a:cxn>
                <a:cxn ang="0">
                  <a:pos x="68" y="13"/>
                </a:cxn>
              </a:cxnLst>
              <a:rect l="txL" t="txT" r="txR" b="txB"/>
              <a:pathLst>
                <a:path w="69" h="23">
                  <a:moveTo>
                    <a:pt x="68" y="13"/>
                  </a:moveTo>
                  <a:lnTo>
                    <a:pt x="0" y="22"/>
                  </a:lnTo>
                  <a:lnTo>
                    <a:pt x="0" y="13"/>
                  </a:lnTo>
                  <a:lnTo>
                    <a:pt x="0" y="0"/>
                  </a:lnTo>
                  <a:lnTo>
                    <a:pt x="68" y="13"/>
                  </a:lnTo>
                </a:path>
              </a:pathLst>
            </a:custGeom>
            <a:noFill/>
            <a:ln w="12700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244" name="Line 220"/>
            <p:cNvSpPr/>
            <p:nvPr/>
          </p:nvSpPr>
          <p:spPr>
            <a:xfrm>
              <a:off x="2631" y="2151"/>
              <a:ext cx="344" cy="0"/>
            </a:xfrm>
            <a:prstGeom prst="line">
              <a:avLst/>
            </a:prstGeom>
            <a:ln w="2540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245" name="Line 221"/>
            <p:cNvSpPr/>
            <p:nvPr/>
          </p:nvSpPr>
          <p:spPr>
            <a:xfrm>
              <a:off x="1898" y="2141"/>
              <a:ext cx="0" cy="157"/>
            </a:xfrm>
            <a:prstGeom prst="line">
              <a:avLst/>
            </a:prstGeom>
            <a:ln w="2540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246" name="Line 222"/>
            <p:cNvSpPr/>
            <p:nvPr/>
          </p:nvSpPr>
          <p:spPr>
            <a:xfrm>
              <a:off x="1898" y="2289"/>
              <a:ext cx="264" cy="0"/>
            </a:xfrm>
            <a:prstGeom prst="line">
              <a:avLst/>
            </a:prstGeom>
            <a:ln w="2540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247" name="Freeform 223"/>
            <p:cNvSpPr/>
            <p:nvPr/>
          </p:nvSpPr>
          <p:spPr>
            <a:xfrm>
              <a:off x="2158" y="2317"/>
              <a:ext cx="23" cy="59"/>
            </a:xfrm>
            <a:custGeom>
              <a:avLst/>
              <a:gdLst>
                <a:gd name="txL" fmla="*/ 0 w 25"/>
                <a:gd name="txT" fmla="*/ 0 h 59"/>
                <a:gd name="txR" fmla="*/ 25 w 25"/>
                <a:gd name="txB" fmla="*/ 59 h 59"/>
              </a:gdLst>
              <a:ahLst/>
              <a:cxnLst>
                <a:cxn ang="0">
                  <a:pos x="9" y="58"/>
                </a:cxn>
                <a:cxn ang="0">
                  <a:pos x="0" y="0"/>
                </a:cxn>
                <a:cxn ang="0">
                  <a:pos x="9" y="0"/>
                </a:cxn>
                <a:cxn ang="0">
                  <a:pos x="24" y="0"/>
                </a:cxn>
                <a:cxn ang="0">
                  <a:pos x="9" y="58"/>
                </a:cxn>
              </a:cxnLst>
              <a:rect l="txL" t="txT" r="txR" b="txB"/>
              <a:pathLst>
                <a:path w="25" h="59">
                  <a:moveTo>
                    <a:pt x="9" y="58"/>
                  </a:moveTo>
                  <a:lnTo>
                    <a:pt x="0" y="0"/>
                  </a:lnTo>
                  <a:lnTo>
                    <a:pt x="9" y="0"/>
                  </a:lnTo>
                  <a:lnTo>
                    <a:pt x="24" y="0"/>
                  </a:lnTo>
                  <a:lnTo>
                    <a:pt x="9" y="58"/>
                  </a:lnTo>
                </a:path>
              </a:pathLst>
            </a:custGeom>
            <a:noFill/>
            <a:ln w="12700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248" name="Line 224"/>
            <p:cNvSpPr/>
            <p:nvPr/>
          </p:nvSpPr>
          <p:spPr>
            <a:xfrm flipH="1">
              <a:off x="2168" y="2297"/>
              <a:ext cx="0" cy="100"/>
            </a:xfrm>
            <a:prstGeom prst="line">
              <a:avLst/>
            </a:prstGeom>
            <a:ln w="2540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249" name="Freeform 225"/>
            <p:cNvSpPr/>
            <p:nvPr/>
          </p:nvSpPr>
          <p:spPr>
            <a:xfrm>
              <a:off x="2425" y="2767"/>
              <a:ext cx="49" cy="30"/>
            </a:xfrm>
            <a:custGeom>
              <a:avLst/>
              <a:gdLst>
                <a:gd name="txL" fmla="*/ 0 w 55"/>
                <a:gd name="txT" fmla="*/ 0 h 30"/>
                <a:gd name="txR" fmla="*/ 55 w 55"/>
                <a:gd name="txB" fmla="*/ 30 h 30"/>
              </a:gdLst>
              <a:ahLst/>
              <a:cxnLst>
                <a:cxn ang="0">
                  <a:pos x="54" y="15"/>
                </a:cxn>
                <a:cxn ang="0">
                  <a:pos x="0" y="29"/>
                </a:cxn>
                <a:cxn ang="0">
                  <a:pos x="0" y="15"/>
                </a:cxn>
                <a:cxn ang="0">
                  <a:pos x="0" y="0"/>
                </a:cxn>
                <a:cxn ang="0">
                  <a:pos x="54" y="15"/>
                </a:cxn>
              </a:cxnLst>
              <a:rect l="txL" t="txT" r="txR" b="txB"/>
              <a:pathLst>
                <a:path w="55" h="30">
                  <a:moveTo>
                    <a:pt x="54" y="15"/>
                  </a:moveTo>
                  <a:lnTo>
                    <a:pt x="0" y="29"/>
                  </a:lnTo>
                  <a:lnTo>
                    <a:pt x="0" y="15"/>
                  </a:lnTo>
                  <a:lnTo>
                    <a:pt x="0" y="0"/>
                  </a:lnTo>
                  <a:lnTo>
                    <a:pt x="54" y="15"/>
                  </a:lnTo>
                </a:path>
              </a:pathLst>
            </a:custGeom>
            <a:noFill/>
            <a:ln w="12700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250" name="Line 226"/>
            <p:cNvSpPr/>
            <p:nvPr/>
          </p:nvSpPr>
          <p:spPr>
            <a:xfrm flipV="1">
              <a:off x="1847" y="2770"/>
              <a:ext cx="661" cy="0"/>
            </a:xfrm>
            <a:prstGeom prst="line">
              <a:avLst/>
            </a:prstGeom>
            <a:ln w="2540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251" name="Line 227"/>
            <p:cNvSpPr/>
            <p:nvPr/>
          </p:nvSpPr>
          <p:spPr>
            <a:xfrm>
              <a:off x="2369" y="2450"/>
              <a:ext cx="5" cy="332"/>
            </a:xfrm>
            <a:prstGeom prst="line">
              <a:avLst/>
            </a:prstGeom>
            <a:ln w="2540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252" name="Freeform 228"/>
            <p:cNvSpPr/>
            <p:nvPr/>
          </p:nvSpPr>
          <p:spPr>
            <a:xfrm>
              <a:off x="2421" y="2718"/>
              <a:ext cx="62" cy="29"/>
            </a:xfrm>
            <a:custGeom>
              <a:avLst/>
              <a:gdLst>
                <a:gd name="txL" fmla="*/ 0 w 70"/>
                <a:gd name="txT" fmla="*/ 0 h 29"/>
                <a:gd name="txR" fmla="*/ 70 w 70"/>
                <a:gd name="txB" fmla="*/ 29 h 29"/>
              </a:gdLst>
              <a:ahLst/>
              <a:cxnLst>
                <a:cxn ang="0">
                  <a:pos x="69" y="17"/>
                </a:cxn>
                <a:cxn ang="0">
                  <a:pos x="0" y="28"/>
                </a:cxn>
                <a:cxn ang="0">
                  <a:pos x="0" y="17"/>
                </a:cxn>
                <a:cxn ang="0">
                  <a:pos x="0" y="0"/>
                </a:cxn>
                <a:cxn ang="0">
                  <a:pos x="69" y="17"/>
                </a:cxn>
              </a:cxnLst>
              <a:rect l="txL" t="txT" r="txR" b="txB"/>
              <a:pathLst>
                <a:path w="70" h="29">
                  <a:moveTo>
                    <a:pt x="69" y="17"/>
                  </a:moveTo>
                  <a:lnTo>
                    <a:pt x="0" y="28"/>
                  </a:lnTo>
                  <a:lnTo>
                    <a:pt x="0" y="17"/>
                  </a:lnTo>
                  <a:lnTo>
                    <a:pt x="0" y="0"/>
                  </a:lnTo>
                  <a:lnTo>
                    <a:pt x="69" y="17"/>
                  </a:lnTo>
                </a:path>
              </a:pathLst>
            </a:custGeom>
            <a:noFill/>
            <a:ln w="12700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253" name="Freeform 229"/>
            <p:cNvSpPr/>
            <p:nvPr/>
          </p:nvSpPr>
          <p:spPr>
            <a:xfrm>
              <a:off x="3326" y="2760"/>
              <a:ext cx="62" cy="23"/>
            </a:xfrm>
            <a:custGeom>
              <a:avLst/>
              <a:gdLst>
                <a:gd name="txL" fmla="*/ 0 w 69"/>
                <a:gd name="txT" fmla="*/ 0 h 23"/>
                <a:gd name="txR" fmla="*/ 69 w 69"/>
                <a:gd name="txB" fmla="*/ 23 h 23"/>
              </a:gdLst>
              <a:ahLst/>
              <a:cxnLst>
                <a:cxn ang="0">
                  <a:pos x="68" y="14"/>
                </a:cxn>
                <a:cxn ang="0">
                  <a:pos x="0" y="22"/>
                </a:cxn>
                <a:cxn ang="0">
                  <a:pos x="0" y="14"/>
                </a:cxn>
                <a:cxn ang="0">
                  <a:pos x="0" y="0"/>
                </a:cxn>
                <a:cxn ang="0">
                  <a:pos x="68" y="14"/>
                </a:cxn>
              </a:cxnLst>
              <a:rect l="txL" t="txT" r="txR" b="txB"/>
              <a:pathLst>
                <a:path w="69" h="23">
                  <a:moveTo>
                    <a:pt x="68" y="14"/>
                  </a:moveTo>
                  <a:lnTo>
                    <a:pt x="0" y="22"/>
                  </a:lnTo>
                  <a:lnTo>
                    <a:pt x="0" y="14"/>
                  </a:lnTo>
                  <a:lnTo>
                    <a:pt x="0" y="0"/>
                  </a:lnTo>
                  <a:lnTo>
                    <a:pt x="68" y="14"/>
                  </a:lnTo>
                </a:path>
              </a:pathLst>
            </a:custGeom>
            <a:noFill/>
            <a:ln w="12700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254" name="Line 230"/>
            <p:cNvSpPr/>
            <p:nvPr/>
          </p:nvSpPr>
          <p:spPr>
            <a:xfrm>
              <a:off x="2631" y="2777"/>
              <a:ext cx="691" cy="0"/>
            </a:xfrm>
            <a:prstGeom prst="line">
              <a:avLst/>
            </a:prstGeom>
            <a:ln w="2540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255" name="Freeform 231"/>
            <p:cNvSpPr/>
            <p:nvPr/>
          </p:nvSpPr>
          <p:spPr>
            <a:xfrm>
              <a:off x="1620" y="2136"/>
              <a:ext cx="61" cy="27"/>
            </a:xfrm>
            <a:custGeom>
              <a:avLst/>
              <a:gdLst>
                <a:gd name="txL" fmla="*/ 0 w 69"/>
                <a:gd name="txT" fmla="*/ 0 h 27"/>
                <a:gd name="txR" fmla="*/ 69 w 69"/>
                <a:gd name="txB" fmla="*/ 27 h 27"/>
              </a:gdLst>
              <a:ahLst/>
              <a:cxnLst>
                <a:cxn ang="0">
                  <a:pos x="68" y="13"/>
                </a:cxn>
                <a:cxn ang="0">
                  <a:pos x="0" y="26"/>
                </a:cxn>
                <a:cxn ang="0">
                  <a:pos x="0" y="13"/>
                </a:cxn>
                <a:cxn ang="0">
                  <a:pos x="0" y="0"/>
                </a:cxn>
                <a:cxn ang="0">
                  <a:pos x="68" y="13"/>
                </a:cxn>
              </a:cxnLst>
              <a:rect l="txL" t="txT" r="txR" b="txB"/>
              <a:pathLst>
                <a:path w="69" h="27">
                  <a:moveTo>
                    <a:pt x="68" y="13"/>
                  </a:moveTo>
                  <a:lnTo>
                    <a:pt x="0" y="26"/>
                  </a:lnTo>
                  <a:lnTo>
                    <a:pt x="0" y="13"/>
                  </a:lnTo>
                  <a:lnTo>
                    <a:pt x="0" y="0"/>
                  </a:lnTo>
                  <a:lnTo>
                    <a:pt x="68" y="13"/>
                  </a:lnTo>
                </a:path>
              </a:pathLst>
            </a:custGeom>
            <a:noFill/>
            <a:ln w="12700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256" name="Line 232"/>
            <p:cNvSpPr/>
            <p:nvPr/>
          </p:nvSpPr>
          <p:spPr>
            <a:xfrm>
              <a:off x="1364" y="2151"/>
              <a:ext cx="346" cy="0"/>
            </a:xfrm>
            <a:prstGeom prst="line">
              <a:avLst/>
            </a:prstGeom>
            <a:ln w="2540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257" name="Freeform 233"/>
            <p:cNvSpPr/>
            <p:nvPr/>
          </p:nvSpPr>
          <p:spPr>
            <a:xfrm>
              <a:off x="1631" y="2431"/>
              <a:ext cx="62" cy="28"/>
            </a:xfrm>
            <a:custGeom>
              <a:avLst/>
              <a:gdLst>
                <a:gd name="txL" fmla="*/ 0 w 69"/>
                <a:gd name="txT" fmla="*/ 0 h 28"/>
                <a:gd name="txR" fmla="*/ 69 w 69"/>
                <a:gd name="txB" fmla="*/ 28 h 28"/>
              </a:gdLst>
              <a:ahLst/>
              <a:cxnLst>
                <a:cxn ang="0">
                  <a:pos x="68" y="14"/>
                </a:cxn>
                <a:cxn ang="0">
                  <a:pos x="0" y="27"/>
                </a:cxn>
                <a:cxn ang="0">
                  <a:pos x="0" y="14"/>
                </a:cxn>
                <a:cxn ang="0">
                  <a:pos x="0" y="0"/>
                </a:cxn>
                <a:cxn ang="0">
                  <a:pos x="68" y="14"/>
                </a:cxn>
              </a:cxnLst>
              <a:rect l="txL" t="txT" r="txR" b="txB"/>
              <a:pathLst>
                <a:path w="69" h="28">
                  <a:moveTo>
                    <a:pt x="68" y="14"/>
                  </a:moveTo>
                  <a:lnTo>
                    <a:pt x="0" y="27"/>
                  </a:lnTo>
                  <a:lnTo>
                    <a:pt x="0" y="14"/>
                  </a:lnTo>
                  <a:lnTo>
                    <a:pt x="0" y="0"/>
                  </a:lnTo>
                  <a:lnTo>
                    <a:pt x="68" y="14"/>
                  </a:lnTo>
                </a:path>
              </a:pathLst>
            </a:custGeom>
            <a:noFill/>
            <a:ln w="12700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258" name="Line 234"/>
            <p:cNvSpPr/>
            <p:nvPr/>
          </p:nvSpPr>
          <p:spPr>
            <a:xfrm>
              <a:off x="1369" y="2447"/>
              <a:ext cx="358" cy="0"/>
            </a:xfrm>
            <a:prstGeom prst="line">
              <a:avLst/>
            </a:prstGeom>
            <a:ln w="2540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259" name="Freeform 235"/>
            <p:cNvSpPr/>
            <p:nvPr/>
          </p:nvSpPr>
          <p:spPr>
            <a:xfrm>
              <a:off x="1631" y="2755"/>
              <a:ext cx="62" cy="28"/>
            </a:xfrm>
            <a:custGeom>
              <a:avLst/>
              <a:gdLst>
                <a:gd name="txL" fmla="*/ 0 w 69"/>
                <a:gd name="txT" fmla="*/ 0 h 28"/>
                <a:gd name="txR" fmla="*/ 69 w 69"/>
                <a:gd name="txB" fmla="*/ 28 h 28"/>
              </a:gdLst>
              <a:ahLst/>
              <a:cxnLst>
                <a:cxn ang="0">
                  <a:pos x="68" y="14"/>
                </a:cxn>
                <a:cxn ang="0">
                  <a:pos x="0" y="27"/>
                </a:cxn>
                <a:cxn ang="0">
                  <a:pos x="0" y="14"/>
                </a:cxn>
                <a:cxn ang="0">
                  <a:pos x="0" y="0"/>
                </a:cxn>
                <a:cxn ang="0">
                  <a:pos x="68" y="14"/>
                </a:cxn>
              </a:cxnLst>
              <a:rect l="txL" t="txT" r="txR" b="txB"/>
              <a:pathLst>
                <a:path w="69" h="28">
                  <a:moveTo>
                    <a:pt x="68" y="14"/>
                  </a:moveTo>
                  <a:lnTo>
                    <a:pt x="0" y="27"/>
                  </a:lnTo>
                  <a:lnTo>
                    <a:pt x="0" y="14"/>
                  </a:lnTo>
                  <a:lnTo>
                    <a:pt x="0" y="0"/>
                  </a:lnTo>
                  <a:lnTo>
                    <a:pt x="68" y="14"/>
                  </a:lnTo>
                </a:path>
              </a:pathLst>
            </a:custGeom>
            <a:noFill/>
            <a:ln w="12700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260" name="Line 236"/>
            <p:cNvSpPr/>
            <p:nvPr/>
          </p:nvSpPr>
          <p:spPr>
            <a:xfrm flipV="1">
              <a:off x="1364" y="2767"/>
              <a:ext cx="349" cy="3"/>
            </a:xfrm>
            <a:prstGeom prst="line">
              <a:avLst/>
            </a:prstGeom>
            <a:ln w="2540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261" name="Freeform 237"/>
            <p:cNvSpPr/>
            <p:nvPr/>
          </p:nvSpPr>
          <p:spPr>
            <a:xfrm>
              <a:off x="1252" y="2136"/>
              <a:ext cx="62" cy="22"/>
            </a:xfrm>
            <a:custGeom>
              <a:avLst/>
              <a:gdLst>
                <a:gd name="txL" fmla="*/ 0 w 70"/>
                <a:gd name="txT" fmla="*/ 0 h 22"/>
                <a:gd name="txR" fmla="*/ 70 w 70"/>
                <a:gd name="txB" fmla="*/ 22 h 22"/>
              </a:gdLst>
              <a:ahLst/>
              <a:cxnLst>
                <a:cxn ang="0">
                  <a:pos x="69" y="8"/>
                </a:cxn>
                <a:cxn ang="0">
                  <a:pos x="0" y="21"/>
                </a:cxn>
                <a:cxn ang="0">
                  <a:pos x="0" y="8"/>
                </a:cxn>
                <a:cxn ang="0">
                  <a:pos x="0" y="0"/>
                </a:cxn>
                <a:cxn ang="0">
                  <a:pos x="69" y="8"/>
                </a:cxn>
              </a:cxnLst>
              <a:rect l="txL" t="txT" r="txR" b="txB"/>
              <a:pathLst>
                <a:path w="70" h="22">
                  <a:moveTo>
                    <a:pt x="69" y="8"/>
                  </a:moveTo>
                  <a:lnTo>
                    <a:pt x="0" y="21"/>
                  </a:lnTo>
                  <a:lnTo>
                    <a:pt x="0" y="8"/>
                  </a:lnTo>
                  <a:lnTo>
                    <a:pt x="0" y="0"/>
                  </a:lnTo>
                  <a:lnTo>
                    <a:pt x="69" y="8"/>
                  </a:lnTo>
                </a:path>
              </a:pathLst>
            </a:custGeom>
            <a:noFill/>
            <a:ln w="12700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262" name="Line 238"/>
            <p:cNvSpPr/>
            <p:nvPr/>
          </p:nvSpPr>
          <p:spPr>
            <a:xfrm>
              <a:off x="1159" y="2153"/>
              <a:ext cx="150" cy="0"/>
            </a:xfrm>
            <a:prstGeom prst="line">
              <a:avLst/>
            </a:prstGeom>
            <a:ln w="25400" cap="flat" cmpd="sng">
              <a:solidFill>
                <a:schemeClr val="tx2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263" name="Freeform 239"/>
            <p:cNvSpPr/>
            <p:nvPr/>
          </p:nvSpPr>
          <p:spPr>
            <a:xfrm>
              <a:off x="1247" y="2431"/>
              <a:ext cx="62" cy="24"/>
            </a:xfrm>
            <a:custGeom>
              <a:avLst/>
              <a:gdLst>
                <a:gd name="txL" fmla="*/ 0 w 69"/>
                <a:gd name="txT" fmla="*/ 0 h 24"/>
                <a:gd name="txR" fmla="*/ 69 w 69"/>
                <a:gd name="txB" fmla="*/ 24 h 24"/>
              </a:gdLst>
              <a:ahLst/>
              <a:cxnLst>
                <a:cxn ang="0">
                  <a:pos x="68" y="14"/>
                </a:cxn>
                <a:cxn ang="0">
                  <a:pos x="0" y="23"/>
                </a:cxn>
                <a:cxn ang="0">
                  <a:pos x="0" y="14"/>
                </a:cxn>
                <a:cxn ang="0">
                  <a:pos x="0" y="0"/>
                </a:cxn>
                <a:cxn ang="0">
                  <a:pos x="68" y="14"/>
                </a:cxn>
              </a:cxnLst>
              <a:rect l="txL" t="txT" r="txR" b="txB"/>
              <a:pathLst>
                <a:path w="69" h="24">
                  <a:moveTo>
                    <a:pt x="68" y="14"/>
                  </a:moveTo>
                  <a:lnTo>
                    <a:pt x="0" y="23"/>
                  </a:lnTo>
                  <a:lnTo>
                    <a:pt x="0" y="14"/>
                  </a:lnTo>
                  <a:lnTo>
                    <a:pt x="0" y="0"/>
                  </a:lnTo>
                  <a:lnTo>
                    <a:pt x="68" y="14"/>
                  </a:lnTo>
                </a:path>
              </a:pathLst>
            </a:custGeom>
            <a:noFill/>
            <a:ln w="12700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264" name="Line 240"/>
            <p:cNvSpPr/>
            <p:nvPr/>
          </p:nvSpPr>
          <p:spPr>
            <a:xfrm>
              <a:off x="1147" y="2454"/>
              <a:ext cx="157" cy="0"/>
            </a:xfrm>
            <a:prstGeom prst="line">
              <a:avLst/>
            </a:prstGeom>
            <a:ln w="25400" cap="flat" cmpd="sng">
              <a:solidFill>
                <a:schemeClr val="tx2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265" name="Freeform 241"/>
            <p:cNvSpPr/>
            <p:nvPr/>
          </p:nvSpPr>
          <p:spPr>
            <a:xfrm>
              <a:off x="1252" y="2760"/>
              <a:ext cx="62" cy="23"/>
            </a:xfrm>
            <a:custGeom>
              <a:avLst/>
              <a:gdLst>
                <a:gd name="txL" fmla="*/ 0 w 70"/>
                <a:gd name="txT" fmla="*/ 0 h 23"/>
                <a:gd name="txR" fmla="*/ 70 w 70"/>
                <a:gd name="txB" fmla="*/ 23 h 23"/>
              </a:gdLst>
              <a:ahLst/>
              <a:cxnLst>
                <a:cxn ang="0">
                  <a:pos x="69" y="9"/>
                </a:cxn>
                <a:cxn ang="0">
                  <a:pos x="0" y="22"/>
                </a:cxn>
                <a:cxn ang="0">
                  <a:pos x="0" y="9"/>
                </a:cxn>
                <a:cxn ang="0">
                  <a:pos x="0" y="0"/>
                </a:cxn>
                <a:cxn ang="0">
                  <a:pos x="69" y="9"/>
                </a:cxn>
              </a:cxnLst>
              <a:rect l="txL" t="txT" r="txR" b="txB"/>
              <a:pathLst>
                <a:path w="70" h="23">
                  <a:moveTo>
                    <a:pt x="69" y="9"/>
                  </a:moveTo>
                  <a:lnTo>
                    <a:pt x="0" y="22"/>
                  </a:lnTo>
                  <a:lnTo>
                    <a:pt x="0" y="9"/>
                  </a:lnTo>
                  <a:lnTo>
                    <a:pt x="0" y="0"/>
                  </a:lnTo>
                  <a:lnTo>
                    <a:pt x="69" y="9"/>
                  </a:lnTo>
                </a:path>
              </a:pathLst>
            </a:custGeom>
            <a:noFill/>
            <a:ln w="12700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266" name="Line 242"/>
            <p:cNvSpPr/>
            <p:nvPr/>
          </p:nvSpPr>
          <p:spPr>
            <a:xfrm>
              <a:off x="1152" y="2777"/>
              <a:ext cx="157" cy="0"/>
            </a:xfrm>
            <a:prstGeom prst="line">
              <a:avLst/>
            </a:prstGeom>
            <a:ln w="25400" cap="flat" cmpd="sng">
              <a:solidFill>
                <a:schemeClr val="tx2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267" name="Line 243"/>
            <p:cNvSpPr/>
            <p:nvPr/>
          </p:nvSpPr>
          <p:spPr>
            <a:xfrm flipH="1">
              <a:off x="1890" y="3158"/>
              <a:ext cx="0" cy="219"/>
            </a:xfrm>
            <a:prstGeom prst="line">
              <a:avLst/>
            </a:prstGeom>
            <a:ln w="2540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268" name="Oval 244" descr="Wide downward diagonal"/>
            <p:cNvSpPr/>
            <p:nvPr/>
          </p:nvSpPr>
          <p:spPr>
            <a:xfrm>
              <a:off x="2026" y="3063"/>
              <a:ext cx="1221" cy="189"/>
            </a:xfrm>
            <a:prstGeom prst="ellipse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>
                <a:latin typeface="Calibri" charset="0"/>
              </a:endParaRPr>
            </a:p>
          </p:txBody>
        </p:sp>
        <p:sp>
          <p:nvSpPr>
            <p:cNvPr id="1269" name="Rectangle 245"/>
            <p:cNvSpPr/>
            <p:nvPr/>
          </p:nvSpPr>
          <p:spPr>
            <a:xfrm>
              <a:off x="2136" y="3101"/>
              <a:ext cx="149" cy="10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/>
            <a:p>
              <a:endParaRPr>
                <a:latin typeface="Calibri" charset="0"/>
              </a:endParaRPr>
            </a:p>
          </p:txBody>
        </p:sp>
        <p:sp>
          <p:nvSpPr>
            <p:cNvPr id="1270" name="Rectangle 246"/>
            <p:cNvSpPr/>
            <p:nvPr/>
          </p:nvSpPr>
          <p:spPr>
            <a:xfrm>
              <a:off x="2150" y="3114"/>
              <a:ext cx="122" cy="77"/>
            </a:xfrm>
            <a:prstGeom prst="rect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>
                <a:latin typeface="Calibri" charset="0"/>
              </a:endParaRPr>
            </a:p>
          </p:txBody>
        </p:sp>
        <p:sp>
          <p:nvSpPr>
            <p:cNvPr id="1271" name="Rectangle 247"/>
            <p:cNvSpPr/>
            <p:nvPr/>
          </p:nvSpPr>
          <p:spPr>
            <a:xfrm>
              <a:off x="2520" y="3101"/>
              <a:ext cx="149" cy="10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/>
            <a:p>
              <a:endParaRPr>
                <a:latin typeface="Calibri" charset="0"/>
              </a:endParaRPr>
            </a:p>
          </p:txBody>
        </p:sp>
        <p:sp>
          <p:nvSpPr>
            <p:cNvPr id="1272" name="Rectangle 248"/>
            <p:cNvSpPr/>
            <p:nvPr/>
          </p:nvSpPr>
          <p:spPr>
            <a:xfrm>
              <a:off x="2533" y="3114"/>
              <a:ext cx="123" cy="77"/>
            </a:xfrm>
            <a:prstGeom prst="rect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>
                <a:latin typeface="Calibri" charset="0"/>
              </a:endParaRPr>
            </a:p>
          </p:txBody>
        </p:sp>
        <p:sp>
          <p:nvSpPr>
            <p:cNvPr id="1273" name="Rectangle 249"/>
            <p:cNvSpPr/>
            <p:nvPr/>
          </p:nvSpPr>
          <p:spPr>
            <a:xfrm>
              <a:off x="2926" y="3105"/>
              <a:ext cx="149" cy="10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/>
            <a:p>
              <a:endParaRPr>
                <a:latin typeface="Calibri" charset="0"/>
              </a:endParaRPr>
            </a:p>
          </p:txBody>
        </p:sp>
        <p:sp>
          <p:nvSpPr>
            <p:cNvPr id="1274" name="Rectangle 250"/>
            <p:cNvSpPr/>
            <p:nvPr/>
          </p:nvSpPr>
          <p:spPr>
            <a:xfrm>
              <a:off x="2939" y="3119"/>
              <a:ext cx="122" cy="77"/>
            </a:xfrm>
            <a:prstGeom prst="rect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>
                <a:latin typeface="Calibri" charset="0"/>
              </a:endParaRPr>
            </a:p>
          </p:txBody>
        </p:sp>
        <p:sp>
          <p:nvSpPr>
            <p:cNvPr id="1275" name="Freeform 251"/>
            <p:cNvSpPr/>
            <p:nvPr/>
          </p:nvSpPr>
          <p:spPr>
            <a:xfrm>
              <a:off x="2427" y="3131"/>
              <a:ext cx="89" cy="39"/>
            </a:xfrm>
            <a:custGeom>
              <a:avLst/>
              <a:gdLst>
                <a:gd name="txL" fmla="*/ 0 w 100"/>
                <a:gd name="txT" fmla="*/ 0 h 39"/>
                <a:gd name="txR" fmla="*/ 100 w 100"/>
                <a:gd name="txB" fmla="*/ 39 h 39"/>
              </a:gdLst>
              <a:ahLst/>
              <a:cxnLst>
                <a:cxn ang="0">
                  <a:pos x="99" y="19"/>
                </a:cxn>
                <a:cxn ang="0">
                  <a:pos x="0" y="38"/>
                </a:cxn>
                <a:cxn ang="0">
                  <a:pos x="0" y="19"/>
                </a:cxn>
                <a:cxn ang="0">
                  <a:pos x="0" y="0"/>
                </a:cxn>
                <a:cxn ang="0">
                  <a:pos x="99" y="19"/>
                </a:cxn>
              </a:cxnLst>
              <a:rect l="txL" t="txT" r="txR" b="txB"/>
              <a:pathLst>
                <a:path w="100" h="39">
                  <a:moveTo>
                    <a:pt x="99" y="19"/>
                  </a:moveTo>
                  <a:lnTo>
                    <a:pt x="0" y="38"/>
                  </a:lnTo>
                  <a:lnTo>
                    <a:pt x="0" y="19"/>
                  </a:lnTo>
                  <a:lnTo>
                    <a:pt x="0" y="0"/>
                  </a:lnTo>
                  <a:lnTo>
                    <a:pt x="99" y="19"/>
                  </a:lnTo>
                </a:path>
              </a:pathLst>
            </a:custGeom>
            <a:noFill/>
            <a:ln w="12700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276" name="Line 252"/>
            <p:cNvSpPr/>
            <p:nvPr/>
          </p:nvSpPr>
          <p:spPr>
            <a:xfrm>
              <a:off x="2291" y="3153"/>
              <a:ext cx="242" cy="0"/>
            </a:xfrm>
            <a:prstGeom prst="line">
              <a:avLst/>
            </a:prstGeom>
            <a:ln w="2540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277" name="Freeform 253"/>
            <p:cNvSpPr/>
            <p:nvPr/>
          </p:nvSpPr>
          <p:spPr>
            <a:xfrm>
              <a:off x="2854" y="3142"/>
              <a:ext cx="62" cy="23"/>
            </a:xfrm>
            <a:custGeom>
              <a:avLst/>
              <a:gdLst>
                <a:gd name="txL" fmla="*/ 0 w 69"/>
                <a:gd name="txT" fmla="*/ 0 h 23"/>
                <a:gd name="txR" fmla="*/ 69 w 69"/>
                <a:gd name="txB" fmla="*/ 23 h 23"/>
              </a:gdLst>
              <a:ahLst/>
              <a:cxnLst>
                <a:cxn ang="0">
                  <a:pos x="68" y="9"/>
                </a:cxn>
                <a:cxn ang="0">
                  <a:pos x="0" y="22"/>
                </a:cxn>
                <a:cxn ang="0">
                  <a:pos x="0" y="9"/>
                </a:cxn>
                <a:cxn ang="0">
                  <a:pos x="0" y="0"/>
                </a:cxn>
                <a:cxn ang="0">
                  <a:pos x="68" y="9"/>
                </a:cxn>
              </a:cxnLst>
              <a:rect l="txL" t="txT" r="txR" b="txB"/>
              <a:pathLst>
                <a:path w="69" h="23">
                  <a:moveTo>
                    <a:pt x="68" y="9"/>
                  </a:moveTo>
                  <a:lnTo>
                    <a:pt x="0" y="22"/>
                  </a:lnTo>
                  <a:lnTo>
                    <a:pt x="0" y="9"/>
                  </a:lnTo>
                  <a:lnTo>
                    <a:pt x="0" y="0"/>
                  </a:lnTo>
                  <a:lnTo>
                    <a:pt x="68" y="9"/>
                  </a:lnTo>
                </a:path>
              </a:pathLst>
            </a:custGeom>
            <a:noFill/>
            <a:ln w="12700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278" name="Line 254"/>
            <p:cNvSpPr/>
            <p:nvPr/>
          </p:nvSpPr>
          <p:spPr>
            <a:xfrm>
              <a:off x="2675" y="3153"/>
              <a:ext cx="251" cy="0"/>
            </a:xfrm>
            <a:prstGeom prst="line">
              <a:avLst/>
            </a:prstGeom>
            <a:ln w="2540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279" name="Freeform 255"/>
            <p:cNvSpPr/>
            <p:nvPr/>
          </p:nvSpPr>
          <p:spPr>
            <a:xfrm>
              <a:off x="2065" y="3142"/>
              <a:ext cx="62" cy="23"/>
            </a:xfrm>
            <a:custGeom>
              <a:avLst/>
              <a:gdLst>
                <a:gd name="txL" fmla="*/ 0 w 70"/>
                <a:gd name="txT" fmla="*/ 0 h 23"/>
                <a:gd name="txR" fmla="*/ 70 w 70"/>
                <a:gd name="txB" fmla="*/ 23 h 23"/>
              </a:gdLst>
              <a:ahLst/>
              <a:cxnLst>
                <a:cxn ang="0">
                  <a:pos x="69" y="9"/>
                </a:cxn>
                <a:cxn ang="0">
                  <a:pos x="0" y="22"/>
                </a:cxn>
                <a:cxn ang="0">
                  <a:pos x="0" y="9"/>
                </a:cxn>
                <a:cxn ang="0">
                  <a:pos x="0" y="0"/>
                </a:cxn>
                <a:cxn ang="0">
                  <a:pos x="69" y="9"/>
                </a:cxn>
              </a:cxnLst>
              <a:rect l="txL" t="txT" r="txR" b="txB"/>
              <a:pathLst>
                <a:path w="70" h="23">
                  <a:moveTo>
                    <a:pt x="69" y="9"/>
                  </a:moveTo>
                  <a:lnTo>
                    <a:pt x="0" y="22"/>
                  </a:lnTo>
                  <a:lnTo>
                    <a:pt x="0" y="9"/>
                  </a:lnTo>
                  <a:lnTo>
                    <a:pt x="0" y="0"/>
                  </a:lnTo>
                  <a:lnTo>
                    <a:pt x="69" y="9"/>
                  </a:lnTo>
                </a:path>
              </a:pathLst>
            </a:custGeom>
            <a:noFill/>
            <a:ln w="12700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280" name="Line 256"/>
            <p:cNvSpPr/>
            <p:nvPr/>
          </p:nvSpPr>
          <p:spPr>
            <a:xfrm>
              <a:off x="1890" y="3153"/>
              <a:ext cx="246" cy="0"/>
            </a:xfrm>
            <a:prstGeom prst="line">
              <a:avLst/>
            </a:prstGeom>
            <a:ln w="2540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281" name="Line 257"/>
            <p:cNvSpPr/>
            <p:nvPr/>
          </p:nvSpPr>
          <p:spPr>
            <a:xfrm>
              <a:off x="1355" y="2983"/>
              <a:ext cx="2996" cy="0"/>
            </a:xfrm>
            <a:prstGeom prst="line">
              <a:avLst/>
            </a:prstGeom>
            <a:ln w="50800" cap="flat" cmpd="sng">
              <a:solidFill>
                <a:srgbClr val="80808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82" name="Freeform 258"/>
            <p:cNvSpPr/>
            <p:nvPr/>
          </p:nvSpPr>
          <p:spPr>
            <a:xfrm>
              <a:off x="3529" y="2846"/>
              <a:ext cx="24" cy="58"/>
            </a:xfrm>
            <a:custGeom>
              <a:avLst/>
              <a:gdLst>
                <a:gd name="txL" fmla="*/ 0 w 27"/>
                <a:gd name="txT" fmla="*/ 0 h 58"/>
                <a:gd name="txR" fmla="*/ 27 w 27"/>
                <a:gd name="txB" fmla="*/ 58 h 58"/>
              </a:gdLst>
              <a:ahLst/>
              <a:cxnLst>
                <a:cxn ang="0">
                  <a:pos x="11" y="0"/>
                </a:cxn>
                <a:cxn ang="0">
                  <a:pos x="26" y="57"/>
                </a:cxn>
                <a:cxn ang="0">
                  <a:pos x="11" y="57"/>
                </a:cxn>
                <a:cxn ang="0">
                  <a:pos x="0" y="57"/>
                </a:cxn>
                <a:cxn ang="0">
                  <a:pos x="11" y="0"/>
                </a:cxn>
              </a:cxnLst>
              <a:rect l="txL" t="txT" r="txR" b="txB"/>
              <a:pathLst>
                <a:path w="27" h="58">
                  <a:moveTo>
                    <a:pt x="11" y="0"/>
                  </a:moveTo>
                  <a:lnTo>
                    <a:pt x="26" y="57"/>
                  </a:lnTo>
                  <a:lnTo>
                    <a:pt x="11" y="57"/>
                  </a:lnTo>
                  <a:lnTo>
                    <a:pt x="0" y="57"/>
                  </a:lnTo>
                  <a:lnTo>
                    <a:pt x="11" y="0"/>
                  </a:lnTo>
                </a:path>
              </a:pathLst>
            </a:custGeom>
            <a:noFill/>
            <a:ln w="12700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283" name="Line 259"/>
            <p:cNvSpPr/>
            <p:nvPr/>
          </p:nvSpPr>
          <p:spPr>
            <a:xfrm flipV="1">
              <a:off x="3520" y="2829"/>
              <a:ext cx="0" cy="584"/>
            </a:xfrm>
            <a:prstGeom prst="line">
              <a:avLst/>
            </a:prstGeom>
            <a:ln w="2540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284" name="Line 260"/>
            <p:cNvSpPr/>
            <p:nvPr/>
          </p:nvSpPr>
          <p:spPr>
            <a:xfrm>
              <a:off x="3061" y="3164"/>
              <a:ext cx="430" cy="0"/>
            </a:xfrm>
            <a:prstGeom prst="line">
              <a:avLst/>
            </a:prstGeom>
            <a:ln w="2540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285" name="Freeform 261"/>
            <p:cNvSpPr/>
            <p:nvPr/>
          </p:nvSpPr>
          <p:spPr>
            <a:xfrm>
              <a:off x="3409" y="2851"/>
              <a:ext cx="23" cy="59"/>
            </a:xfrm>
            <a:custGeom>
              <a:avLst/>
              <a:gdLst>
                <a:gd name="txL" fmla="*/ 0 w 26"/>
                <a:gd name="txT" fmla="*/ 0 h 59"/>
                <a:gd name="txR" fmla="*/ 26 w 26"/>
                <a:gd name="txB" fmla="*/ 59 h 59"/>
              </a:gdLst>
              <a:ahLst/>
              <a:cxnLst>
                <a:cxn ang="0">
                  <a:pos x="10" y="0"/>
                </a:cxn>
                <a:cxn ang="0">
                  <a:pos x="25" y="58"/>
                </a:cxn>
                <a:cxn ang="0">
                  <a:pos x="10" y="58"/>
                </a:cxn>
                <a:cxn ang="0">
                  <a:pos x="0" y="58"/>
                </a:cxn>
                <a:cxn ang="0">
                  <a:pos x="10" y="0"/>
                </a:cxn>
              </a:cxnLst>
              <a:rect l="txL" t="txT" r="txR" b="txB"/>
              <a:pathLst>
                <a:path w="26" h="59">
                  <a:moveTo>
                    <a:pt x="10" y="0"/>
                  </a:moveTo>
                  <a:lnTo>
                    <a:pt x="25" y="58"/>
                  </a:lnTo>
                  <a:lnTo>
                    <a:pt x="10" y="58"/>
                  </a:lnTo>
                  <a:lnTo>
                    <a:pt x="0" y="58"/>
                  </a:lnTo>
                  <a:lnTo>
                    <a:pt x="10" y="0"/>
                  </a:lnTo>
                </a:path>
              </a:pathLst>
            </a:custGeom>
            <a:noFill/>
            <a:ln w="12700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286" name="Line 262"/>
            <p:cNvSpPr/>
            <p:nvPr/>
          </p:nvSpPr>
          <p:spPr>
            <a:xfrm flipV="1">
              <a:off x="3491" y="2818"/>
              <a:ext cx="0" cy="354"/>
            </a:xfrm>
            <a:prstGeom prst="line">
              <a:avLst/>
            </a:prstGeom>
            <a:ln w="2540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287" name="Freeform 263"/>
            <p:cNvSpPr/>
            <p:nvPr/>
          </p:nvSpPr>
          <p:spPr>
            <a:xfrm>
              <a:off x="1867" y="3413"/>
              <a:ext cx="23" cy="60"/>
            </a:xfrm>
            <a:custGeom>
              <a:avLst/>
              <a:gdLst>
                <a:gd name="txL" fmla="*/ 0 w 26"/>
                <a:gd name="txT" fmla="*/ 0 h 60"/>
                <a:gd name="txR" fmla="*/ 26 w 26"/>
                <a:gd name="txB" fmla="*/ 60 h 60"/>
              </a:gdLst>
              <a:ahLst/>
              <a:cxnLst>
                <a:cxn ang="0">
                  <a:pos x="10" y="0"/>
                </a:cxn>
                <a:cxn ang="0">
                  <a:pos x="25" y="59"/>
                </a:cxn>
                <a:cxn ang="0">
                  <a:pos x="10" y="59"/>
                </a:cxn>
                <a:cxn ang="0">
                  <a:pos x="0" y="59"/>
                </a:cxn>
                <a:cxn ang="0">
                  <a:pos x="10" y="0"/>
                </a:cxn>
              </a:cxnLst>
              <a:rect l="txL" t="txT" r="txR" b="txB"/>
              <a:pathLst>
                <a:path w="26" h="60">
                  <a:moveTo>
                    <a:pt x="10" y="0"/>
                  </a:moveTo>
                  <a:lnTo>
                    <a:pt x="25" y="59"/>
                  </a:lnTo>
                  <a:lnTo>
                    <a:pt x="10" y="59"/>
                  </a:lnTo>
                  <a:lnTo>
                    <a:pt x="0" y="59"/>
                  </a:lnTo>
                  <a:lnTo>
                    <a:pt x="10" y="0"/>
                  </a:lnTo>
                </a:path>
              </a:pathLst>
            </a:custGeom>
            <a:noFill/>
            <a:ln w="12700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288" name="Freeform 264"/>
            <p:cNvSpPr/>
            <p:nvPr/>
          </p:nvSpPr>
          <p:spPr>
            <a:xfrm>
              <a:off x="3529" y="3420"/>
              <a:ext cx="24" cy="59"/>
            </a:xfrm>
            <a:custGeom>
              <a:avLst/>
              <a:gdLst>
                <a:gd name="txL" fmla="*/ 0 w 27"/>
                <a:gd name="txT" fmla="*/ 0 h 59"/>
                <a:gd name="txR" fmla="*/ 27 w 27"/>
                <a:gd name="txB" fmla="*/ 59 h 59"/>
              </a:gdLst>
              <a:ahLst/>
              <a:cxnLst>
                <a:cxn ang="0">
                  <a:pos x="11" y="0"/>
                </a:cxn>
                <a:cxn ang="0">
                  <a:pos x="26" y="58"/>
                </a:cxn>
                <a:cxn ang="0">
                  <a:pos x="11" y="58"/>
                </a:cxn>
                <a:cxn ang="0">
                  <a:pos x="0" y="58"/>
                </a:cxn>
                <a:cxn ang="0">
                  <a:pos x="11" y="0"/>
                </a:cxn>
              </a:cxnLst>
              <a:rect l="txL" t="txT" r="txR" b="txB"/>
              <a:pathLst>
                <a:path w="27" h="59">
                  <a:moveTo>
                    <a:pt x="11" y="0"/>
                  </a:moveTo>
                  <a:lnTo>
                    <a:pt x="26" y="58"/>
                  </a:lnTo>
                  <a:lnTo>
                    <a:pt x="11" y="58"/>
                  </a:lnTo>
                  <a:lnTo>
                    <a:pt x="0" y="58"/>
                  </a:lnTo>
                  <a:lnTo>
                    <a:pt x="11" y="0"/>
                  </a:lnTo>
                </a:path>
              </a:pathLst>
            </a:custGeom>
            <a:noFill/>
            <a:ln w="12700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289" name="Freeform 265"/>
            <p:cNvSpPr/>
            <p:nvPr/>
          </p:nvSpPr>
          <p:spPr>
            <a:xfrm>
              <a:off x="4247" y="2136"/>
              <a:ext cx="61" cy="27"/>
            </a:xfrm>
            <a:custGeom>
              <a:avLst/>
              <a:gdLst>
                <a:gd name="txL" fmla="*/ 0 w 69"/>
                <a:gd name="txT" fmla="*/ 0 h 27"/>
                <a:gd name="txR" fmla="*/ 69 w 69"/>
                <a:gd name="txB" fmla="*/ 27 h 27"/>
              </a:gdLst>
              <a:ahLst/>
              <a:cxnLst>
                <a:cxn ang="0">
                  <a:pos x="68" y="13"/>
                </a:cxn>
                <a:cxn ang="0">
                  <a:pos x="0" y="26"/>
                </a:cxn>
                <a:cxn ang="0">
                  <a:pos x="0" y="13"/>
                </a:cxn>
                <a:cxn ang="0">
                  <a:pos x="0" y="0"/>
                </a:cxn>
                <a:cxn ang="0">
                  <a:pos x="68" y="13"/>
                </a:cxn>
              </a:cxnLst>
              <a:rect l="txL" t="txT" r="txR" b="txB"/>
              <a:pathLst>
                <a:path w="69" h="27">
                  <a:moveTo>
                    <a:pt x="68" y="13"/>
                  </a:moveTo>
                  <a:lnTo>
                    <a:pt x="0" y="26"/>
                  </a:lnTo>
                  <a:lnTo>
                    <a:pt x="0" y="13"/>
                  </a:lnTo>
                  <a:lnTo>
                    <a:pt x="0" y="0"/>
                  </a:lnTo>
                  <a:lnTo>
                    <a:pt x="68" y="13"/>
                  </a:lnTo>
                </a:path>
              </a:pathLst>
            </a:custGeom>
            <a:noFill/>
            <a:ln w="12700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290" name="Line 266"/>
            <p:cNvSpPr/>
            <p:nvPr/>
          </p:nvSpPr>
          <p:spPr>
            <a:xfrm>
              <a:off x="3653" y="2136"/>
              <a:ext cx="655" cy="0"/>
            </a:xfrm>
            <a:prstGeom prst="line">
              <a:avLst/>
            </a:prstGeom>
            <a:ln w="2540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291" name="Freeform 267"/>
            <p:cNvSpPr/>
            <p:nvPr/>
          </p:nvSpPr>
          <p:spPr>
            <a:xfrm>
              <a:off x="4231" y="2431"/>
              <a:ext cx="61" cy="28"/>
            </a:xfrm>
            <a:custGeom>
              <a:avLst/>
              <a:gdLst>
                <a:gd name="txL" fmla="*/ 0 w 69"/>
                <a:gd name="txT" fmla="*/ 0 h 28"/>
                <a:gd name="txR" fmla="*/ 69 w 69"/>
                <a:gd name="txB" fmla="*/ 28 h 28"/>
              </a:gdLst>
              <a:ahLst/>
              <a:cxnLst>
                <a:cxn ang="0">
                  <a:pos x="68" y="14"/>
                </a:cxn>
                <a:cxn ang="0">
                  <a:pos x="0" y="27"/>
                </a:cxn>
                <a:cxn ang="0">
                  <a:pos x="0" y="14"/>
                </a:cxn>
                <a:cxn ang="0">
                  <a:pos x="0" y="0"/>
                </a:cxn>
                <a:cxn ang="0">
                  <a:pos x="68" y="14"/>
                </a:cxn>
              </a:cxnLst>
              <a:rect l="txL" t="txT" r="txR" b="txB"/>
              <a:pathLst>
                <a:path w="69" h="28">
                  <a:moveTo>
                    <a:pt x="68" y="14"/>
                  </a:moveTo>
                  <a:lnTo>
                    <a:pt x="0" y="27"/>
                  </a:lnTo>
                  <a:lnTo>
                    <a:pt x="0" y="14"/>
                  </a:lnTo>
                  <a:lnTo>
                    <a:pt x="0" y="0"/>
                  </a:lnTo>
                  <a:lnTo>
                    <a:pt x="68" y="14"/>
                  </a:lnTo>
                </a:path>
              </a:pathLst>
            </a:custGeom>
            <a:noFill/>
            <a:ln w="12700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292" name="Line 268"/>
            <p:cNvSpPr/>
            <p:nvPr/>
          </p:nvSpPr>
          <p:spPr>
            <a:xfrm>
              <a:off x="4011" y="2447"/>
              <a:ext cx="297" cy="0"/>
            </a:xfrm>
            <a:prstGeom prst="line">
              <a:avLst/>
            </a:prstGeom>
            <a:ln w="2540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293" name="Freeform 269"/>
            <p:cNvSpPr/>
            <p:nvPr/>
          </p:nvSpPr>
          <p:spPr>
            <a:xfrm>
              <a:off x="4236" y="2765"/>
              <a:ext cx="62" cy="28"/>
            </a:xfrm>
            <a:custGeom>
              <a:avLst/>
              <a:gdLst>
                <a:gd name="txL" fmla="*/ 0 w 69"/>
                <a:gd name="txT" fmla="*/ 0 h 28"/>
                <a:gd name="txR" fmla="*/ 69 w 69"/>
                <a:gd name="txB" fmla="*/ 28 h 28"/>
              </a:gdLst>
              <a:ahLst/>
              <a:cxnLst>
                <a:cxn ang="0">
                  <a:pos x="68" y="14"/>
                </a:cxn>
                <a:cxn ang="0">
                  <a:pos x="0" y="27"/>
                </a:cxn>
                <a:cxn ang="0">
                  <a:pos x="0" y="14"/>
                </a:cxn>
                <a:cxn ang="0">
                  <a:pos x="0" y="0"/>
                </a:cxn>
                <a:cxn ang="0">
                  <a:pos x="68" y="14"/>
                </a:cxn>
              </a:cxnLst>
              <a:rect l="txL" t="txT" r="txR" b="txB"/>
              <a:pathLst>
                <a:path w="69" h="28">
                  <a:moveTo>
                    <a:pt x="68" y="14"/>
                  </a:moveTo>
                  <a:lnTo>
                    <a:pt x="0" y="27"/>
                  </a:lnTo>
                  <a:lnTo>
                    <a:pt x="0" y="14"/>
                  </a:lnTo>
                  <a:lnTo>
                    <a:pt x="0" y="0"/>
                  </a:lnTo>
                  <a:lnTo>
                    <a:pt x="68" y="14"/>
                  </a:lnTo>
                </a:path>
              </a:pathLst>
            </a:custGeom>
            <a:noFill/>
            <a:ln w="12700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294" name="Line 270"/>
            <p:cNvSpPr/>
            <p:nvPr/>
          </p:nvSpPr>
          <p:spPr>
            <a:xfrm>
              <a:off x="3991" y="2782"/>
              <a:ext cx="317" cy="6"/>
            </a:xfrm>
            <a:prstGeom prst="line">
              <a:avLst/>
            </a:prstGeom>
            <a:ln w="2540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295" name="Line 271"/>
            <p:cNvSpPr/>
            <p:nvPr/>
          </p:nvSpPr>
          <p:spPr>
            <a:xfrm>
              <a:off x="4392" y="2151"/>
              <a:ext cx="194" cy="0"/>
            </a:xfrm>
            <a:prstGeom prst="line">
              <a:avLst/>
            </a:prstGeom>
            <a:ln w="25400" cap="flat" cmpd="sng">
              <a:solidFill>
                <a:schemeClr val="tx2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296" name="Line 272"/>
            <p:cNvSpPr/>
            <p:nvPr/>
          </p:nvSpPr>
          <p:spPr>
            <a:xfrm>
              <a:off x="4386" y="2447"/>
              <a:ext cx="195" cy="0"/>
            </a:xfrm>
            <a:prstGeom prst="line">
              <a:avLst/>
            </a:prstGeom>
            <a:ln w="25400" cap="flat" cmpd="sng">
              <a:solidFill>
                <a:schemeClr val="tx2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297" name="Line 273"/>
            <p:cNvSpPr/>
            <p:nvPr/>
          </p:nvSpPr>
          <p:spPr>
            <a:xfrm>
              <a:off x="4386" y="2777"/>
              <a:ext cx="195" cy="0"/>
            </a:xfrm>
            <a:prstGeom prst="line">
              <a:avLst/>
            </a:prstGeom>
            <a:ln w="25400" cap="flat" cmpd="sng">
              <a:solidFill>
                <a:schemeClr val="tx2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298" name="Freeform 274"/>
            <p:cNvSpPr/>
            <p:nvPr/>
          </p:nvSpPr>
          <p:spPr>
            <a:xfrm>
              <a:off x="3161" y="1398"/>
              <a:ext cx="28" cy="66"/>
            </a:xfrm>
            <a:custGeom>
              <a:avLst/>
              <a:gdLst>
                <a:gd name="txL" fmla="*/ 0 w 32"/>
                <a:gd name="txT" fmla="*/ 0 h 66"/>
                <a:gd name="txR" fmla="*/ 32 w 32"/>
                <a:gd name="txB" fmla="*/ 66 h 66"/>
              </a:gdLst>
              <a:ahLst/>
              <a:cxnLst>
                <a:cxn ang="0">
                  <a:pos x="16" y="65"/>
                </a:cxn>
                <a:cxn ang="0">
                  <a:pos x="0" y="0"/>
                </a:cxn>
                <a:cxn ang="0">
                  <a:pos x="16" y="0"/>
                </a:cxn>
                <a:cxn ang="0">
                  <a:pos x="31" y="0"/>
                </a:cxn>
                <a:cxn ang="0">
                  <a:pos x="16" y="65"/>
                </a:cxn>
              </a:cxnLst>
              <a:rect l="txL" t="txT" r="txR" b="txB"/>
              <a:pathLst>
                <a:path w="32" h="66">
                  <a:moveTo>
                    <a:pt x="16" y="65"/>
                  </a:moveTo>
                  <a:lnTo>
                    <a:pt x="0" y="0"/>
                  </a:lnTo>
                  <a:lnTo>
                    <a:pt x="16" y="0"/>
                  </a:lnTo>
                  <a:lnTo>
                    <a:pt x="31" y="0"/>
                  </a:lnTo>
                  <a:lnTo>
                    <a:pt x="16" y="65"/>
                  </a:lnTo>
                </a:path>
              </a:pathLst>
            </a:custGeom>
            <a:noFill/>
            <a:ln w="12700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299" name="Line 275"/>
            <p:cNvSpPr/>
            <p:nvPr/>
          </p:nvSpPr>
          <p:spPr>
            <a:xfrm>
              <a:off x="3101" y="1335"/>
              <a:ext cx="0" cy="138"/>
            </a:xfrm>
            <a:prstGeom prst="line">
              <a:avLst/>
            </a:prstGeom>
            <a:ln w="25400" cap="flat" cmpd="sng">
              <a:solidFill>
                <a:schemeClr val="tx2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300" name="Freeform 276"/>
            <p:cNvSpPr/>
            <p:nvPr/>
          </p:nvSpPr>
          <p:spPr>
            <a:xfrm>
              <a:off x="3161" y="2008"/>
              <a:ext cx="28" cy="60"/>
            </a:xfrm>
            <a:custGeom>
              <a:avLst/>
              <a:gdLst>
                <a:gd name="txL" fmla="*/ 0 w 32"/>
                <a:gd name="txT" fmla="*/ 0 h 60"/>
                <a:gd name="txR" fmla="*/ 32 w 32"/>
                <a:gd name="txB" fmla="*/ 60 h 60"/>
              </a:gdLst>
              <a:ahLst/>
              <a:cxnLst>
                <a:cxn ang="0">
                  <a:pos x="16" y="59"/>
                </a:cxn>
                <a:cxn ang="0">
                  <a:pos x="0" y="0"/>
                </a:cxn>
                <a:cxn ang="0">
                  <a:pos x="16" y="0"/>
                </a:cxn>
                <a:cxn ang="0">
                  <a:pos x="31" y="0"/>
                </a:cxn>
                <a:cxn ang="0">
                  <a:pos x="16" y="59"/>
                </a:cxn>
              </a:cxnLst>
              <a:rect l="txL" t="txT" r="txR" b="txB"/>
              <a:pathLst>
                <a:path w="32" h="60">
                  <a:moveTo>
                    <a:pt x="16" y="59"/>
                  </a:moveTo>
                  <a:lnTo>
                    <a:pt x="0" y="0"/>
                  </a:lnTo>
                  <a:lnTo>
                    <a:pt x="16" y="0"/>
                  </a:lnTo>
                  <a:lnTo>
                    <a:pt x="31" y="0"/>
                  </a:lnTo>
                  <a:lnTo>
                    <a:pt x="16" y="59"/>
                  </a:lnTo>
                </a:path>
              </a:pathLst>
            </a:custGeom>
            <a:noFill/>
            <a:ln w="12700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301" name="Line 277"/>
            <p:cNvSpPr/>
            <p:nvPr/>
          </p:nvSpPr>
          <p:spPr>
            <a:xfrm>
              <a:off x="3101" y="1508"/>
              <a:ext cx="0" cy="600"/>
            </a:xfrm>
            <a:prstGeom prst="line">
              <a:avLst/>
            </a:prstGeom>
            <a:ln w="2540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302" name="Rectangle 278"/>
            <p:cNvSpPr/>
            <p:nvPr/>
          </p:nvSpPr>
          <p:spPr>
            <a:xfrm>
              <a:off x="3484" y="1543"/>
              <a:ext cx="167" cy="342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90488" tIns="44450" rIns="90488" bIns="44450">
              <a:spAutoFit/>
            </a:bodyPr>
            <a:p>
              <a:pPr>
                <a:lnSpc>
                  <a:spcPct val="90000"/>
                </a:lnSpc>
              </a:pPr>
              <a:endParaRPr sz="900">
                <a:solidFill>
                  <a:srgbClr val="000000"/>
                </a:solidFill>
                <a:latin typeface="Arial" panose="020B0604020202020204" pitchFamily="34" charset="0"/>
              </a:endParaRPr>
            </a:p>
            <a:p>
              <a:pPr latinLnBrk="1">
                <a:lnSpc>
                  <a:spcPct val="90000"/>
                </a:lnSpc>
              </a:pPr>
              <a:endParaRPr sz="9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03" name="Rectangle 279"/>
            <p:cNvSpPr/>
            <p:nvPr/>
          </p:nvSpPr>
          <p:spPr>
            <a:xfrm>
              <a:off x="3491" y="1901"/>
              <a:ext cx="700" cy="11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/>
            <a:p>
              <a:endParaRPr>
                <a:latin typeface="Calibri" charset="0"/>
              </a:endParaRPr>
            </a:p>
          </p:txBody>
        </p:sp>
        <p:sp>
          <p:nvSpPr>
            <p:cNvPr id="1304" name="Freeform 280"/>
            <p:cNvSpPr/>
            <p:nvPr/>
          </p:nvSpPr>
          <p:spPr>
            <a:xfrm>
              <a:off x="3348" y="2431"/>
              <a:ext cx="62" cy="28"/>
            </a:xfrm>
            <a:custGeom>
              <a:avLst/>
              <a:gdLst>
                <a:gd name="txL" fmla="*/ 0 w 70"/>
                <a:gd name="txT" fmla="*/ 0 h 28"/>
                <a:gd name="txR" fmla="*/ 70 w 70"/>
                <a:gd name="txB" fmla="*/ 28 h 28"/>
              </a:gdLst>
              <a:ahLst/>
              <a:cxnLst>
                <a:cxn ang="0">
                  <a:pos x="69" y="14"/>
                </a:cxn>
                <a:cxn ang="0">
                  <a:pos x="0" y="27"/>
                </a:cxn>
                <a:cxn ang="0">
                  <a:pos x="0" y="14"/>
                </a:cxn>
                <a:cxn ang="0">
                  <a:pos x="0" y="0"/>
                </a:cxn>
                <a:cxn ang="0">
                  <a:pos x="69" y="14"/>
                </a:cxn>
              </a:cxnLst>
              <a:rect l="txL" t="txT" r="txR" b="txB"/>
              <a:pathLst>
                <a:path w="70" h="28">
                  <a:moveTo>
                    <a:pt x="69" y="14"/>
                  </a:moveTo>
                  <a:lnTo>
                    <a:pt x="0" y="27"/>
                  </a:lnTo>
                  <a:lnTo>
                    <a:pt x="0" y="14"/>
                  </a:lnTo>
                  <a:lnTo>
                    <a:pt x="0" y="0"/>
                  </a:lnTo>
                  <a:lnTo>
                    <a:pt x="69" y="14"/>
                  </a:lnTo>
                </a:path>
              </a:pathLst>
            </a:custGeom>
            <a:noFill/>
            <a:ln w="12700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305" name="Line 281"/>
            <p:cNvSpPr/>
            <p:nvPr/>
          </p:nvSpPr>
          <p:spPr>
            <a:xfrm flipV="1">
              <a:off x="2864" y="2443"/>
              <a:ext cx="556" cy="7"/>
            </a:xfrm>
            <a:prstGeom prst="line">
              <a:avLst/>
            </a:prstGeom>
            <a:ln w="2540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</p:grpSp>
      <p:graphicFrame>
        <p:nvGraphicFramePr>
          <p:cNvPr id="1026" name="Object 1025"/>
          <p:cNvGraphicFramePr/>
          <p:nvPr/>
        </p:nvGraphicFramePr>
        <p:xfrm>
          <a:off x="1021715" y="3030220"/>
          <a:ext cx="3025775" cy="3252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3025775" imgH="3253105" progId="">
                  <p:embed/>
                </p:oleObj>
              </mc:Choice>
              <mc:Fallback>
                <p:oleObj name="" r:id="rId1" imgW="3025775" imgH="3253105" progId="">
                  <p:embed/>
                  <p:pic>
                    <p:nvPicPr>
                      <p:cNvPr id="0" name="Picture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021715" y="3030220"/>
                        <a:ext cx="3025775" cy="32527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07135" y="176530"/>
            <a:ext cx="10146665" cy="688975"/>
          </a:xfrm>
          <a:prstGeom prst="rect">
            <a:avLst/>
          </a:prstGeom>
        </p:spPr>
        <p:txBody>
          <a:bodyPr vert="horz" wrap="square" lIns="0" tIns="12092" rIns="0" bIns="0" rtlCol="0">
            <a:spAutoFit/>
            <a:scene3d>
              <a:camera prst="orthographicFront"/>
              <a:lightRig rig="threePt" dir="t"/>
            </a:scene3d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994410" algn="l"/>
                <a:tab pos="1581785" algn="l"/>
                <a:tab pos="3741420" algn="l"/>
                <a:tab pos="5701665" algn="l"/>
              </a:tabLst>
            </a:pPr>
            <a:r>
              <a:rPr b="1" spc="-2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What</a:t>
            </a:r>
            <a:r>
              <a:rPr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	</a:t>
            </a:r>
            <a:r>
              <a:rPr b="1" spc="-25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do</a:t>
            </a:r>
            <a:r>
              <a:rPr lang="en-US" b="1" spc="-25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 </a:t>
            </a:r>
            <a:r>
              <a:rPr b="1" spc="-1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Enterprise</a:t>
            </a:r>
            <a:r>
              <a:rPr lang="en-US" b="1" spc="-1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 </a:t>
            </a:r>
            <a:r>
              <a:rPr b="1" spc="-1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Engineers</a:t>
            </a:r>
            <a:r>
              <a:rPr lang="en-US" b="1" spc="-1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 </a:t>
            </a:r>
            <a:r>
              <a:rPr b="1" spc="-25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do?</a:t>
            </a:r>
            <a:endParaRPr b="1" spc="-25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8610600" y="6468745"/>
            <a:ext cx="2743200" cy="140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95"/>
              </a:lnSpc>
            </a:pPr>
            <a:fld id="{81D60167-4931-47E6-BA6A-407CBD079E47}" type="slidenum">
              <a:rPr sz="1090" spc="-25" dirty="0"/>
            </a:fld>
            <a:endParaRPr sz="1090"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878205" y="1412875"/>
            <a:ext cx="10702925" cy="2347595"/>
          </a:xfrm>
          <a:prstGeom prst="rect">
            <a:avLst/>
          </a:prstGeom>
        </p:spPr>
        <p:txBody>
          <a:bodyPr vert="horz" wrap="square" lIns="0" tIns="43762" rIns="0" bIns="0" rtlCol="0">
            <a:spAutoFit/>
          </a:bodyPr>
          <a:lstStyle/>
          <a:p>
            <a:pPr marL="253365" marR="5080" indent="-241300">
              <a:lnSpc>
                <a:spcPts val="2270"/>
              </a:lnSpc>
              <a:spcBef>
                <a:spcPts val="380"/>
              </a:spcBef>
              <a:buFont typeface="Microsoft Sans Serif" panose="020B0604020202020204"/>
              <a:buChar char="▪"/>
              <a:tabLst>
                <a:tab pos="253365" algn="l"/>
              </a:tabLst>
            </a:pPr>
            <a:r>
              <a:t>Identify and Integrate best and most successful ways to change an enterprise.</a:t>
            </a:r>
          </a:p>
          <a:p>
            <a:pPr marL="253365" indent="-240665">
              <a:lnSpc>
                <a:spcPct val="100000"/>
              </a:lnSpc>
              <a:spcBef>
                <a:spcPts val="1235"/>
              </a:spcBef>
              <a:buFont typeface="Microsoft Sans Serif" panose="020B0604020202020204"/>
              <a:buChar char="▪"/>
              <a:tabLst>
                <a:tab pos="253365" algn="l"/>
              </a:tabLst>
            </a:pPr>
            <a:r>
              <a:t>Two aspects-</a:t>
            </a:r>
          </a:p>
          <a:p>
            <a:pPr marL="493395" lvl="1" indent="-240030">
              <a:lnSpc>
                <a:spcPct val="100000"/>
              </a:lnSpc>
              <a:spcBef>
                <a:spcPts val="305"/>
              </a:spcBef>
              <a:buFont typeface="Consolas"/>
              <a:buChar char="–"/>
              <a:tabLst>
                <a:tab pos="493395" algn="l"/>
              </a:tabLst>
            </a:pPr>
            <a:r>
              <a:rPr b="1"/>
              <a:t>Understand new mechanisms</a:t>
            </a:r>
            <a:endParaRPr b="1"/>
          </a:p>
          <a:p>
            <a:pPr marL="693420" lvl="2" indent="-199390">
              <a:lnSpc>
                <a:spcPct val="100000"/>
              </a:lnSpc>
              <a:spcBef>
                <a:spcPts val="335"/>
              </a:spcBef>
              <a:buFont typeface="Microsoft Sans Serif" panose="020B0604020202020204"/>
              <a:buChar char="▪"/>
              <a:tabLst>
                <a:tab pos="693420" algn="l"/>
              </a:tabLst>
            </a:pPr>
            <a:r>
              <a:t>New ways of organizing work</a:t>
            </a:r>
          </a:p>
          <a:p>
            <a:pPr marL="693420" lvl="2" indent="-199390">
              <a:lnSpc>
                <a:spcPct val="100000"/>
              </a:lnSpc>
              <a:spcBef>
                <a:spcPts val="325"/>
              </a:spcBef>
              <a:buFont typeface="Microsoft Sans Serif" panose="020B0604020202020204"/>
              <a:buChar char="▪"/>
              <a:tabLst>
                <a:tab pos="693420" algn="l"/>
              </a:tabLst>
            </a:pPr>
            <a:r>
              <a:t>New corporate Architectures must be understood</a:t>
            </a:r>
          </a:p>
          <a:p>
            <a:pPr lvl="2">
              <a:lnSpc>
                <a:spcPct val="100000"/>
              </a:lnSpc>
              <a:spcBef>
                <a:spcPts val="535"/>
              </a:spcBef>
              <a:buClr>
                <a:srgbClr val="FFFFFF"/>
              </a:buClr>
              <a:buFont typeface="Microsoft Sans Serif" panose="020B0604020202020204"/>
              <a:buChar char="▪"/>
            </a:pPr>
          </a:p>
          <a:p>
            <a:pPr marL="493395" lvl="1" indent="-240030">
              <a:lnSpc>
                <a:spcPct val="100000"/>
              </a:lnSpc>
              <a:spcBef>
                <a:spcPts val="5"/>
              </a:spcBef>
              <a:buFont typeface="Consolas"/>
              <a:buChar char="–"/>
              <a:tabLst>
                <a:tab pos="493395" algn="l"/>
              </a:tabLst>
            </a:pPr>
            <a:r>
              <a:rPr b="1"/>
              <a:t>Understand methods that can change an enterprise</a:t>
            </a:r>
            <a:endParaRPr b="1"/>
          </a:p>
        </p:txBody>
      </p:sp>
      <p:grpSp>
        <p:nvGrpSpPr>
          <p:cNvPr id="39939" name="Group 20"/>
          <p:cNvGrpSpPr/>
          <p:nvPr/>
        </p:nvGrpSpPr>
        <p:grpSpPr>
          <a:xfrm>
            <a:off x="9653905" y="1661160"/>
            <a:ext cx="2047875" cy="3892550"/>
            <a:chOff x="2856" y="918"/>
            <a:chExt cx="1290" cy="2452"/>
          </a:xfrm>
        </p:grpSpPr>
        <p:sp>
          <p:nvSpPr>
            <p:cNvPr id="39940" name="Freeform 14"/>
            <p:cNvSpPr/>
            <p:nvPr/>
          </p:nvSpPr>
          <p:spPr>
            <a:xfrm>
              <a:off x="2856" y="1669"/>
              <a:ext cx="505" cy="835"/>
            </a:xfrm>
            <a:custGeom>
              <a:avLst/>
              <a:gdLst>
                <a:gd name="txL" fmla="*/ 0 w 505"/>
                <a:gd name="txT" fmla="*/ 0 h 835"/>
                <a:gd name="txR" fmla="*/ 505 w 505"/>
                <a:gd name="txB" fmla="*/ 835 h 835"/>
              </a:gdLst>
              <a:ahLst/>
              <a:cxnLst>
                <a:cxn ang="0">
                  <a:pos x="267" y="124"/>
                </a:cxn>
                <a:cxn ang="0">
                  <a:pos x="319" y="72"/>
                </a:cxn>
                <a:cxn ang="0">
                  <a:pos x="392" y="21"/>
                </a:cxn>
                <a:cxn ang="0">
                  <a:pos x="443" y="0"/>
                </a:cxn>
                <a:cxn ang="0">
                  <a:pos x="505" y="4"/>
                </a:cxn>
                <a:cxn ang="0">
                  <a:pos x="505" y="52"/>
                </a:cxn>
                <a:cxn ang="0">
                  <a:pos x="474" y="93"/>
                </a:cxn>
                <a:cxn ang="0">
                  <a:pos x="416" y="124"/>
                </a:cxn>
                <a:cxn ang="0">
                  <a:pos x="271" y="190"/>
                </a:cxn>
                <a:cxn ang="0">
                  <a:pos x="133" y="269"/>
                </a:cxn>
                <a:cxn ang="0">
                  <a:pos x="75" y="289"/>
                </a:cxn>
                <a:cxn ang="0">
                  <a:pos x="55" y="320"/>
                </a:cxn>
                <a:cxn ang="0">
                  <a:pos x="75" y="351"/>
                </a:cxn>
                <a:cxn ang="0">
                  <a:pos x="195" y="467"/>
                </a:cxn>
                <a:cxn ang="0">
                  <a:pos x="250" y="505"/>
                </a:cxn>
                <a:cxn ang="0">
                  <a:pos x="332" y="570"/>
                </a:cxn>
                <a:cxn ang="0">
                  <a:pos x="416" y="632"/>
                </a:cxn>
                <a:cxn ang="0">
                  <a:pos x="412" y="663"/>
                </a:cxn>
                <a:cxn ang="0">
                  <a:pos x="350" y="673"/>
                </a:cxn>
                <a:cxn ang="0">
                  <a:pos x="257" y="673"/>
                </a:cxn>
                <a:cxn ang="0">
                  <a:pos x="199" y="704"/>
                </a:cxn>
                <a:cxn ang="0">
                  <a:pos x="178" y="783"/>
                </a:cxn>
                <a:cxn ang="0">
                  <a:pos x="178" y="825"/>
                </a:cxn>
                <a:cxn ang="0">
                  <a:pos x="154" y="835"/>
                </a:cxn>
                <a:cxn ang="0">
                  <a:pos x="116" y="797"/>
                </a:cxn>
                <a:cxn ang="0">
                  <a:pos x="123" y="731"/>
                </a:cxn>
                <a:cxn ang="0">
                  <a:pos x="157" y="683"/>
                </a:cxn>
                <a:cxn ang="0">
                  <a:pos x="226" y="642"/>
                </a:cxn>
                <a:cxn ang="0">
                  <a:pos x="301" y="622"/>
                </a:cxn>
                <a:cxn ang="0">
                  <a:pos x="308" y="601"/>
                </a:cxn>
                <a:cxn ang="0">
                  <a:pos x="271" y="560"/>
                </a:cxn>
                <a:cxn ang="0">
                  <a:pos x="113" y="457"/>
                </a:cxn>
                <a:cxn ang="0">
                  <a:pos x="65" y="416"/>
                </a:cxn>
                <a:cxn ang="0">
                  <a:pos x="20" y="361"/>
                </a:cxn>
                <a:cxn ang="0">
                  <a:pos x="0" y="299"/>
                </a:cxn>
                <a:cxn ang="0">
                  <a:pos x="13" y="262"/>
                </a:cxn>
                <a:cxn ang="0">
                  <a:pos x="92" y="238"/>
                </a:cxn>
                <a:cxn ang="0">
                  <a:pos x="188" y="197"/>
                </a:cxn>
                <a:cxn ang="0">
                  <a:pos x="250" y="154"/>
                </a:cxn>
                <a:cxn ang="0">
                  <a:pos x="267" y="124"/>
                </a:cxn>
              </a:cxnLst>
              <a:rect l="txL" t="txT" r="txR" b="txB"/>
              <a:pathLst>
                <a:path w="505" h="835">
                  <a:moveTo>
                    <a:pt x="267" y="124"/>
                  </a:moveTo>
                  <a:lnTo>
                    <a:pt x="319" y="72"/>
                  </a:lnTo>
                  <a:lnTo>
                    <a:pt x="392" y="21"/>
                  </a:lnTo>
                  <a:lnTo>
                    <a:pt x="443" y="0"/>
                  </a:lnTo>
                  <a:lnTo>
                    <a:pt x="505" y="4"/>
                  </a:lnTo>
                  <a:lnTo>
                    <a:pt x="505" y="52"/>
                  </a:lnTo>
                  <a:lnTo>
                    <a:pt x="474" y="93"/>
                  </a:lnTo>
                  <a:lnTo>
                    <a:pt x="416" y="124"/>
                  </a:lnTo>
                  <a:lnTo>
                    <a:pt x="271" y="190"/>
                  </a:lnTo>
                  <a:lnTo>
                    <a:pt x="133" y="269"/>
                  </a:lnTo>
                  <a:lnTo>
                    <a:pt x="75" y="289"/>
                  </a:lnTo>
                  <a:lnTo>
                    <a:pt x="55" y="320"/>
                  </a:lnTo>
                  <a:lnTo>
                    <a:pt x="75" y="351"/>
                  </a:lnTo>
                  <a:lnTo>
                    <a:pt x="195" y="467"/>
                  </a:lnTo>
                  <a:lnTo>
                    <a:pt x="250" y="505"/>
                  </a:lnTo>
                  <a:lnTo>
                    <a:pt x="332" y="570"/>
                  </a:lnTo>
                  <a:lnTo>
                    <a:pt x="416" y="632"/>
                  </a:lnTo>
                  <a:lnTo>
                    <a:pt x="412" y="663"/>
                  </a:lnTo>
                  <a:lnTo>
                    <a:pt x="350" y="673"/>
                  </a:lnTo>
                  <a:lnTo>
                    <a:pt x="257" y="673"/>
                  </a:lnTo>
                  <a:lnTo>
                    <a:pt x="199" y="704"/>
                  </a:lnTo>
                  <a:lnTo>
                    <a:pt x="178" y="783"/>
                  </a:lnTo>
                  <a:lnTo>
                    <a:pt x="178" y="825"/>
                  </a:lnTo>
                  <a:lnTo>
                    <a:pt x="154" y="835"/>
                  </a:lnTo>
                  <a:lnTo>
                    <a:pt x="116" y="797"/>
                  </a:lnTo>
                  <a:lnTo>
                    <a:pt x="123" y="731"/>
                  </a:lnTo>
                  <a:lnTo>
                    <a:pt x="157" y="683"/>
                  </a:lnTo>
                  <a:lnTo>
                    <a:pt x="226" y="642"/>
                  </a:lnTo>
                  <a:lnTo>
                    <a:pt x="301" y="622"/>
                  </a:lnTo>
                  <a:lnTo>
                    <a:pt x="308" y="601"/>
                  </a:lnTo>
                  <a:lnTo>
                    <a:pt x="271" y="560"/>
                  </a:lnTo>
                  <a:lnTo>
                    <a:pt x="113" y="457"/>
                  </a:lnTo>
                  <a:lnTo>
                    <a:pt x="65" y="416"/>
                  </a:lnTo>
                  <a:lnTo>
                    <a:pt x="20" y="361"/>
                  </a:lnTo>
                  <a:lnTo>
                    <a:pt x="0" y="299"/>
                  </a:lnTo>
                  <a:lnTo>
                    <a:pt x="13" y="262"/>
                  </a:lnTo>
                  <a:lnTo>
                    <a:pt x="92" y="238"/>
                  </a:lnTo>
                  <a:lnTo>
                    <a:pt x="188" y="197"/>
                  </a:lnTo>
                  <a:lnTo>
                    <a:pt x="250" y="154"/>
                  </a:lnTo>
                  <a:lnTo>
                    <a:pt x="267" y="12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39941" name="Freeform 15"/>
            <p:cNvSpPr/>
            <p:nvPr/>
          </p:nvSpPr>
          <p:spPr>
            <a:xfrm>
              <a:off x="3306" y="1632"/>
              <a:ext cx="351" cy="799"/>
            </a:xfrm>
            <a:custGeom>
              <a:avLst/>
              <a:gdLst>
                <a:gd name="txL" fmla="*/ 0 w 351"/>
                <a:gd name="txT" fmla="*/ 0 h 799"/>
                <a:gd name="txR" fmla="*/ 351 w 351"/>
                <a:gd name="txB" fmla="*/ 799 h 799"/>
              </a:gdLst>
              <a:ahLst/>
              <a:cxnLst>
                <a:cxn ang="0">
                  <a:pos x="75" y="61"/>
                </a:cxn>
                <a:cxn ang="0">
                  <a:pos x="106" y="10"/>
                </a:cxn>
                <a:cxn ang="0">
                  <a:pos x="144" y="0"/>
                </a:cxn>
                <a:cxn ang="0">
                  <a:pos x="196" y="0"/>
                </a:cxn>
                <a:cxn ang="0">
                  <a:pos x="261" y="37"/>
                </a:cxn>
                <a:cxn ang="0">
                  <a:pos x="302" y="120"/>
                </a:cxn>
                <a:cxn ang="0">
                  <a:pos x="333" y="227"/>
                </a:cxn>
                <a:cxn ang="0">
                  <a:pos x="351" y="336"/>
                </a:cxn>
                <a:cxn ang="0">
                  <a:pos x="351" y="484"/>
                </a:cxn>
                <a:cxn ang="0">
                  <a:pos x="313" y="645"/>
                </a:cxn>
                <a:cxn ang="0">
                  <a:pos x="258" y="740"/>
                </a:cxn>
                <a:cxn ang="0">
                  <a:pos x="185" y="788"/>
                </a:cxn>
                <a:cxn ang="0">
                  <a:pos x="117" y="799"/>
                </a:cxn>
                <a:cxn ang="0">
                  <a:pos x="65" y="768"/>
                </a:cxn>
                <a:cxn ang="0">
                  <a:pos x="24" y="730"/>
                </a:cxn>
                <a:cxn ang="0">
                  <a:pos x="13" y="669"/>
                </a:cxn>
                <a:cxn ang="0">
                  <a:pos x="0" y="552"/>
                </a:cxn>
                <a:cxn ang="0">
                  <a:pos x="10" y="408"/>
                </a:cxn>
                <a:cxn ang="0">
                  <a:pos x="41" y="258"/>
                </a:cxn>
                <a:cxn ang="0">
                  <a:pos x="61" y="150"/>
                </a:cxn>
                <a:cxn ang="0">
                  <a:pos x="75" y="61"/>
                </a:cxn>
              </a:cxnLst>
              <a:rect l="txL" t="txT" r="txR" b="txB"/>
              <a:pathLst>
                <a:path w="351" h="799">
                  <a:moveTo>
                    <a:pt x="75" y="61"/>
                  </a:moveTo>
                  <a:lnTo>
                    <a:pt x="106" y="10"/>
                  </a:lnTo>
                  <a:lnTo>
                    <a:pt x="144" y="0"/>
                  </a:lnTo>
                  <a:lnTo>
                    <a:pt x="196" y="0"/>
                  </a:lnTo>
                  <a:lnTo>
                    <a:pt x="261" y="37"/>
                  </a:lnTo>
                  <a:lnTo>
                    <a:pt x="302" y="120"/>
                  </a:lnTo>
                  <a:lnTo>
                    <a:pt x="333" y="227"/>
                  </a:lnTo>
                  <a:lnTo>
                    <a:pt x="351" y="336"/>
                  </a:lnTo>
                  <a:lnTo>
                    <a:pt x="351" y="484"/>
                  </a:lnTo>
                  <a:lnTo>
                    <a:pt x="313" y="645"/>
                  </a:lnTo>
                  <a:lnTo>
                    <a:pt x="258" y="740"/>
                  </a:lnTo>
                  <a:lnTo>
                    <a:pt x="185" y="788"/>
                  </a:lnTo>
                  <a:lnTo>
                    <a:pt x="117" y="799"/>
                  </a:lnTo>
                  <a:lnTo>
                    <a:pt x="65" y="768"/>
                  </a:lnTo>
                  <a:lnTo>
                    <a:pt x="24" y="730"/>
                  </a:lnTo>
                  <a:lnTo>
                    <a:pt x="13" y="669"/>
                  </a:lnTo>
                  <a:lnTo>
                    <a:pt x="0" y="552"/>
                  </a:lnTo>
                  <a:lnTo>
                    <a:pt x="10" y="408"/>
                  </a:lnTo>
                  <a:lnTo>
                    <a:pt x="41" y="258"/>
                  </a:lnTo>
                  <a:lnTo>
                    <a:pt x="61" y="150"/>
                  </a:lnTo>
                  <a:lnTo>
                    <a:pt x="75" y="6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39942" name="Freeform 16"/>
            <p:cNvSpPr/>
            <p:nvPr/>
          </p:nvSpPr>
          <p:spPr>
            <a:xfrm>
              <a:off x="3403" y="2327"/>
              <a:ext cx="205" cy="1043"/>
            </a:xfrm>
            <a:custGeom>
              <a:avLst/>
              <a:gdLst>
                <a:gd name="txL" fmla="*/ 0 w 205"/>
                <a:gd name="txT" fmla="*/ 0 h 1043"/>
                <a:gd name="txR" fmla="*/ 205 w 205"/>
                <a:gd name="txB" fmla="*/ 1043 h 1043"/>
              </a:gdLst>
              <a:ahLst/>
              <a:cxnLst>
                <a:cxn ang="0">
                  <a:pos x="99" y="185"/>
                </a:cxn>
                <a:cxn ang="0">
                  <a:pos x="71" y="116"/>
                </a:cxn>
                <a:cxn ang="0">
                  <a:pos x="71" y="41"/>
                </a:cxn>
                <a:cxn ang="0">
                  <a:pos x="109" y="0"/>
                </a:cxn>
                <a:cxn ang="0">
                  <a:pos x="153" y="20"/>
                </a:cxn>
                <a:cxn ang="0">
                  <a:pos x="184" y="92"/>
                </a:cxn>
                <a:cxn ang="0">
                  <a:pos x="201" y="216"/>
                </a:cxn>
                <a:cxn ang="0">
                  <a:pos x="205" y="370"/>
                </a:cxn>
                <a:cxn ang="0">
                  <a:pos x="194" y="504"/>
                </a:cxn>
                <a:cxn ang="0">
                  <a:pos x="174" y="648"/>
                </a:cxn>
                <a:cxn ang="0">
                  <a:pos x="174" y="823"/>
                </a:cxn>
                <a:cxn ang="0">
                  <a:pos x="201" y="895"/>
                </a:cxn>
                <a:cxn ang="0">
                  <a:pos x="191" y="929"/>
                </a:cxn>
                <a:cxn ang="0">
                  <a:pos x="143" y="940"/>
                </a:cxn>
                <a:cxn ang="0">
                  <a:pos x="92" y="988"/>
                </a:cxn>
                <a:cxn ang="0">
                  <a:pos x="68" y="1029"/>
                </a:cxn>
                <a:cxn ang="0">
                  <a:pos x="10" y="1043"/>
                </a:cxn>
                <a:cxn ang="0">
                  <a:pos x="0" y="998"/>
                </a:cxn>
                <a:cxn ang="0">
                  <a:pos x="20" y="960"/>
                </a:cxn>
                <a:cxn ang="0">
                  <a:pos x="92" y="929"/>
                </a:cxn>
                <a:cxn ang="0">
                  <a:pos x="143" y="906"/>
                </a:cxn>
                <a:cxn ang="0">
                  <a:pos x="160" y="885"/>
                </a:cxn>
                <a:cxn ang="0">
                  <a:pos x="140" y="827"/>
                </a:cxn>
                <a:cxn ang="0">
                  <a:pos x="123" y="709"/>
                </a:cxn>
                <a:cxn ang="0">
                  <a:pos x="119" y="569"/>
                </a:cxn>
                <a:cxn ang="0">
                  <a:pos x="123" y="476"/>
                </a:cxn>
                <a:cxn ang="0">
                  <a:pos x="129" y="350"/>
                </a:cxn>
                <a:cxn ang="0">
                  <a:pos x="119" y="237"/>
                </a:cxn>
                <a:cxn ang="0">
                  <a:pos x="99" y="185"/>
                </a:cxn>
              </a:cxnLst>
              <a:rect l="txL" t="txT" r="txR" b="txB"/>
              <a:pathLst>
                <a:path w="205" h="1043">
                  <a:moveTo>
                    <a:pt x="99" y="185"/>
                  </a:moveTo>
                  <a:lnTo>
                    <a:pt x="71" y="116"/>
                  </a:lnTo>
                  <a:lnTo>
                    <a:pt x="71" y="41"/>
                  </a:lnTo>
                  <a:lnTo>
                    <a:pt x="109" y="0"/>
                  </a:lnTo>
                  <a:lnTo>
                    <a:pt x="153" y="20"/>
                  </a:lnTo>
                  <a:lnTo>
                    <a:pt x="184" y="92"/>
                  </a:lnTo>
                  <a:lnTo>
                    <a:pt x="201" y="216"/>
                  </a:lnTo>
                  <a:lnTo>
                    <a:pt x="205" y="370"/>
                  </a:lnTo>
                  <a:lnTo>
                    <a:pt x="194" y="504"/>
                  </a:lnTo>
                  <a:lnTo>
                    <a:pt x="174" y="648"/>
                  </a:lnTo>
                  <a:lnTo>
                    <a:pt x="174" y="823"/>
                  </a:lnTo>
                  <a:lnTo>
                    <a:pt x="201" y="895"/>
                  </a:lnTo>
                  <a:lnTo>
                    <a:pt x="191" y="929"/>
                  </a:lnTo>
                  <a:lnTo>
                    <a:pt x="143" y="940"/>
                  </a:lnTo>
                  <a:lnTo>
                    <a:pt x="92" y="988"/>
                  </a:lnTo>
                  <a:lnTo>
                    <a:pt x="68" y="1029"/>
                  </a:lnTo>
                  <a:lnTo>
                    <a:pt x="10" y="1043"/>
                  </a:lnTo>
                  <a:lnTo>
                    <a:pt x="0" y="998"/>
                  </a:lnTo>
                  <a:lnTo>
                    <a:pt x="20" y="960"/>
                  </a:lnTo>
                  <a:lnTo>
                    <a:pt x="92" y="929"/>
                  </a:lnTo>
                  <a:lnTo>
                    <a:pt x="143" y="906"/>
                  </a:lnTo>
                  <a:lnTo>
                    <a:pt x="160" y="885"/>
                  </a:lnTo>
                  <a:lnTo>
                    <a:pt x="140" y="827"/>
                  </a:lnTo>
                  <a:lnTo>
                    <a:pt x="123" y="709"/>
                  </a:lnTo>
                  <a:lnTo>
                    <a:pt x="119" y="569"/>
                  </a:lnTo>
                  <a:lnTo>
                    <a:pt x="123" y="476"/>
                  </a:lnTo>
                  <a:lnTo>
                    <a:pt x="129" y="350"/>
                  </a:lnTo>
                  <a:lnTo>
                    <a:pt x="119" y="237"/>
                  </a:lnTo>
                  <a:lnTo>
                    <a:pt x="99" y="185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39943" name="Freeform 17"/>
            <p:cNvSpPr/>
            <p:nvPr/>
          </p:nvSpPr>
          <p:spPr>
            <a:xfrm>
              <a:off x="3115" y="2329"/>
              <a:ext cx="320" cy="1040"/>
            </a:xfrm>
            <a:custGeom>
              <a:avLst/>
              <a:gdLst>
                <a:gd name="txL" fmla="*/ 0 w 320"/>
                <a:gd name="txT" fmla="*/ 0 h 1040"/>
                <a:gd name="txR" fmla="*/ 320 w 320"/>
                <a:gd name="txB" fmla="*/ 1040 h 1040"/>
              </a:gdLst>
              <a:ahLst/>
              <a:cxnLst>
                <a:cxn ang="0">
                  <a:pos x="197" y="96"/>
                </a:cxn>
                <a:cxn ang="0">
                  <a:pos x="231" y="31"/>
                </a:cxn>
                <a:cxn ang="0">
                  <a:pos x="272" y="0"/>
                </a:cxn>
                <a:cxn ang="0">
                  <a:pos x="320" y="20"/>
                </a:cxn>
                <a:cxn ang="0">
                  <a:pos x="313" y="82"/>
                </a:cxn>
                <a:cxn ang="0">
                  <a:pos x="282" y="126"/>
                </a:cxn>
                <a:cxn ang="0">
                  <a:pos x="221" y="237"/>
                </a:cxn>
                <a:cxn ang="0">
                  <a:pos x="180" y="343"/>
                </a:cxn>
                <a:cxn ang="0">
                  <a:pos x="156" y="456"/>
                </a:cxn>
                <a:cxn ang="0">
                  <a:pos x="159" y="566"/>
                </a:cxn>
                <a:cxn ang="0">
                  <a:pos x="197" y="713"/>
                </a:cxn>
                <a:cxn ang="0">
                  <a:pos x="228" y="855"/>
                </a:cxn>
                <a:cxn ang="0">
                  <a:pos x="272" y="916"/>
                </a:cxn>
                <a:cxn ang="0">
                  <a:pos x="269" y="951"/>
                </a:cxn>
                <a:cxn ang="0">
                  <a:pos x="231" y="968"/>
                </a:cxn>
                <a:cxn ang="0">
                  <a:pos x="145" y="981"/>
                </a:cxn>
                <a:cxn ang="0">
                  <a:pos x="84" y="1019"/>
                </a:cxn>
                <a:cxn ang="0">
                  <a:pos x="52" y="1040"/>
                </a:cxn>
                <a:cxn ang="0">
                  <a:pos x="0" y="992"/>
                </a:cxn>
                <a:cxn ang="0">
                  <a:pos x="11" y="961"/>
                </a:cxn>
                <a:cxn ang="0">
                  <a:pos x="62" y="940"/>
                </a:cxn>
                <a:cxn ang="0">
                  <a:pos x="128" y="930"/>
                </a:cxn>
                <a:cxn ang="0">
                  <a:pos x="190" y="930"/>
                </a:cxn>
                <a:cxn ang="0">
                  <a:pos x="200" y="910"/>
                </a:cxn>
                <a:cxn ang="0">
                  <a:pos x="190" y="875"/>
                </a:cxn>
                <a:cxn ang="0">
                  <a:pos x="138" y="741"/>
                </a:cxn>
                <a:cxn ang="0">
                  <a:pos x="104" y="610"/>
                </a:cxn>
                <a:cxn ang="0">
                  <a:pos x="87" y="515"/>
                </a:cxn>
                <a:cxn ang="0">
                  <a:pos x="84" y="426"/>
                </a:cxn>
                <a:cxn ang="0">
                  <a:pos x="97" y="340"/>
                </a:cxn>
                <a:cxn ang="0">
                  <a:pos x="128" y="251"/>
                </a:cxn>
                <a:cxn ang="0">
                  <a:pos x="176" y="133"/>
                </a:cxn>
                <a:cxn ang="0">
                  <a:pos x="197" y="96"/>
                </a:cxn>
              </a:cxnLst>
              <a:rect l="txL" t="txT" r="txR" b="txB"/>
              <a:pathLst>
                <a:path w="320" h="1040">
                  <a:moveTo>
                    <a:pt x="197" y="96"/>
                  </a:moveTo>
                  <a:lnTo>
                    <a:pt x="231" y="31"/>
                  </a:lnTo>
                  <a:lnTo>
                    <a:pt x="272" y="0"/>
                  </a:lnTo>
                  <a:lnTo>
                    <a:pt x="320" y="20"/>
                  </a:lnTo>
                  <a:lnTo>
                    <a:pt x="313" y="82"/>
                  </a:lnTo>
                  <a:lnTo>
                    <a:pt x="282" y="126"/>
                  </a:lnTo>
                  <a:lnTo>
                    <a:pt x="221" y="237"/>
                  </a:lnTo>
                  <a:lnTo>
                    <a:pt x="180" y="343"/>
                  </a:lnTo>
                  <a:lnTo>
                    <a:pt x="156" y="456"/>
                  </a:lnTo>
                  <a:lnTo>
                    <a:pt x="159" y="566"/>
                  </a:lnTo>
                  <a:lnTo>
                    <a:pt x="197" y="713"/>
                  </a:lnTo>
                  <a:lnTo>
                    <a:pt x="228" y="855"/>
                  </a:lnTo>
                  <a:lnTo>
                    <a:pt x="272" y="916"/>
                  </a:lnTo>
                  <a:lnTo>
                    <a:pt x="269" y="951"/>
                  </a:lnTo>
                  <a:lnTo>
                    <a:pt x="231" y="968"/>
                  </a:lnTo>
                  <a:lnTo>
                    <a:pt x="145" y="981"/>
                  </a:lnTo>
                  <a:lnTo>
                    <a:pt x="84" y="1019"/>
                  </a:lnTo>
                  <a:lnTo>
                    <a:pt x="52" y="1040"/>
                  </a:lnTo>
                  <a:lnTo>
                    <a:pt x="0" y="992"/>
                  </a:lnTo>
                  <a:lnTo>
                    <a:pt x="11" y="961"/>
                  </a:lnTo>
                  <a:lnTo>
                    <a:pt x="62" y="940"/>
                  </a:lnTo>
                  <a:lnTo>
                    <a:pt x="128" y="930"/>
                  </a:lnTo>
                  <a:lnTo>
                    <a:pt x="190" y="930"/>
                  </a:lnTo>
                  <a:lnTo>
                    <a:pt x="200" y="910"/>
                  </a:lnTo>
                  <a:lnTo>
                    <a:pt x="190" y="875"/>
                  </a:lnTo>
                  <a:lnTo>
                    <a:pt x="138" y="741"/>
                  </a:lnTo>
                  <a:lnTo>
                    <a:pt x="104" y="610"/>
                  </a:lnTo>
                  <a:lnTo>
                    <a:pt x="87" y="515"/>
                  </a:lnTo>
                  <a:lnTo>
                    <a:pt x="84" y="426"/>
                  </a:lnTo>
                  <a:lnTo>
                    <a:pt x="97" y="340"/>
                  </a:lnTo>
                  <a:lnTo>
                    <a:pt x="128" y="251"/>
                  </a:lnTo>
                  <a:lnTo>
                    <a:pt x="176" y="133"/>
                  </a:lnTo>
                  <a:lnTo>
                    <a:pt x="197" y="9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39944" name="Freeform 18"/>
            <p:cNvSpPr/>
            <p:nvPr/>
          </p:nvSpPr>
          <p:spPr>
            <a:xfrm>
              <a:off x="3176" y="1033"/>
              <a:ext cx="412" cy="543"/>
            </a:xfrm>
            <a:custGeom>
              <a:avLst/>
              <a:gdLst>
                <a:gd name="txL" fmla="*/ 0 w 412"/>
                <a:gd name="txT" fmla="*/ 0 h 543"/>
                <a:gd name="txR" fmla="*/ 412 w 412"/>
                <a:gd name="txB" fmla="*/ 543 h 543"/>
              </a:gdLst>
              <a:ahLst/>
              <a:cxnLst>
                <a:cxn ang="0">
                  <a:pos x="151" y="454"/>
                </a:cxn>
                <a:cxn ang="0">
                  <a:pos x="182" y="522"/>
                </a:cxn>
                <a:cxn ang="0">
                  <a:pos x="254" y="543"/>
                </a:cxn>
                <a:cxn ang="0">
                  <a:pos x="316" y="536"/>
                </a:cxn>
                <a:cxn ang="0">
                  <a:pos x="367" y="492"/>
                </a:cxn>
                <a:cxn ang="0">
                  <a:pos x="408" y="402"/>
                </a:cxn>
                <a:cxn ang="0">
                  <a:pos x="412" y="296"/>
                </a:cxn>
                <a:cxn ang="0">
                  <a:pos x="398" y="203"/>
                </a:cxn>
                <a:cxn ang="0">
                  <a:pos x="340" y="99"/>
                </a:cxn>
                <a:cxn ang="0">
                  <a:pos x="298" y="51"/>
                </a:cxn>
                <a:cxn ang="0">
                  <a:pos x="254" y="21"/>
                </a:cxn>
                <a:cxn ang="0">
                  <a:pos x="213" y="0"/>
                </a:cxn>
                <a:cxn ang="0">
                  <a:pos x="141" y="7"/>
                </a:cxn>
                <a:cxn ang="0">
                  <a:pos x="103" y="69"/>
                </a:cxn>
                <a:cxn ang="0">
                  <a:pos x="83" y="134"/>
                </a:cxn>
                <a:cxn ang="0">
                  <a:pos x="83" y="238"/>
                </a:cxn>
                <a:cxn ang="0">
                  <a:pos x="100" y="337"/>
                </a:cxn>
                <a:cxn ang="0">
                  <a:pos x="120" y="392"/>
                </a:cxn>
                <a:cxn ang="0">
                  <a:pos x="6" y="474"/>
                </a:cxn>
                <a:cxn ang="0">
                  <a:pos x="0" y="505"/>
                </a:cxn>
                <a:cxn ang="0">
                  <a:pos x="17" y="522"/>
                </a:cxn>
                <a:cxn ang="0">
                  <a:pos x="141" y="430"/>
                </a:cxn>
                <a:cxn ang="0">
                  <a:pos x="151" y="454"/>
                </a:cxn>
              </a:cxnLst>
              <a:rect l="txL" t="txT" r="txR" b="txB"/>
              <a:pathLst>
                <a:path w="412" h="543">
                  <a:moveTo>
                    <a:pt x="151" y="454"/>
                  </a:moveTo>
                  <a:lnTo>
                    <a:pt x="182" y="522"/>
                  </a:lnTo>
                  <a:lnTo>
                    <a:pt x="254" y="543"/>
                  </a:lnTo>
                  <a:lnTo>
                    <a:pt x="316" y="536"/>
                  </a:lnTo>
                  <a:lnTo>
                    <a:pt x="367" y="492"/>
                  </a:lnTo>
                  <a:lnTo>
                    <a:pt x="408" y="402"/>
                  </a:lnTo>
                  <a:lnTo>
                    <a:pt x="412" y="296"/>
                  </a:lnTo>
                  <a:lnTo>
                    <a:pt x="398" y="203"/>
                  </a:lnTo>
                  <a:lnTo>
                    <a:pt x="340" y="99"/>
                  </a:lnTo>
                  <a:lnTo>
                    <a:pt x="298" y="51"/>
                  </a:lnTo>
                  <a:lnTo>
                    <a:pt x="254" y="21"/>
                  </a:lnTo>
                  <a:lnTo>
                    <a:pt x="213" y="0"/>
                  </a:lnTo>
                  <a:lnTo>
                    <a:pt x="141" y="7"/>
                  </a:lnTo>
                  <a:lnTo>
                    <a:pt x="103" y="69"/>
                  </a:lnTo>
                  <a:lnTo>
                    <a:pt x="83" y="134"/>
                  </a:lnTo>
                  <a:lnTo>
                    <a:pt x="83" y="238"/>
                  </a:lnTo>
                  <a:lnTo>
                    <a:pt x="100" y="337"/>
                  </a:lnTo>
                  <a:lnTo>
                    <a:pt x="120" y="392"/>
                  </a:lnTo>
                  <a:lnTo>
                    <a:pt x="6" y="474"/>
                  </a:lnTo>
                  <a:lnTo>
                    <a:pt x="0" y="505"/>
                  </a:lnTo>
                  <a:lnTo>
                    <a:pt x="17" y="522"/>
                  </a:lnTo>
                  <a:lnTo>
                    <a:pt x="141" y="430"/>
                  </a:lnTo>
                  <a:lnTo>
                    <a:pt x="151" y="45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39945" name="Freeform 19"/>
            <p:cNvSpPr/>
            <p:nvPr/>
          </p:nvSpPr>
          <p:spPr>
            <a:xfrm>
              <a:off x="3327" y="918"/>
              <a:ext cx="819" cy="908"/>
            </a:xfrm>
            <a:custGeom>
              <a:avLst/>
              <a:gdLst>
                <a:gd name="txL" fmla="*/ 0 w 819"/>
                <a:gd name="txT" fmla="*/ 0 h 908"/>
                <a:gd name="txR" fmla="*/ 819 w 819"/>
                <a:gd name="txB" fmla="*/ 908 h 908"/>
              </a:gdLst>
              <a:ahLst/>
              <a:cxnLst>
                <a:cxn ang="0">
                  <a:pos x="545" y="628"/>
                </a:cxn>
                <a:cxn ang="0">
                  <a:pos x="504" y="669"/>
                </a:cxn>
                <a:cxn ang="0">
                  <a:pos x="417" y="720"/>
                </a:cxn>
                <a:cxn ang="0">
                  <a:pos x="339" y="751"/>
                </a:cxn>
                <a:cxn ang="0">
                  <a:pos x="284" y="782"/>
                </a:cxn>
                <a:cxn ang="0">
                  <a:pos x="232" y="823"/>
                </a:cxn>
                <a:cxn ang="0">
                  <a:pos x="226" y="895"/>
                </a:cxn>
                <a:cxn ang="0">
                  <a:pos x="277" y="908"/>
                </a:cxn>
                <a:cxn ang="0">
                  <a:pos x="407" y="833"/>
                </a:cxn>
                <a:cxn ang="0">
                  <a:pos x="504" y="744"/>
                </a:cxn>
                <a:cxn ang="0">
                  <a:pos x="617" y="631"/>
                </a:cxn>
                <a:cxn ang="0">
                  <a:pos x="709" y="559"/>
                </a:cxn>
                <a:cxn ang="0">
                  <a:pos x="788" y="504"/>
                </a:cxn>
                <a:cxn ang="0">
                  <a:pos x="819" y="477"/>
                </a:cxn>
                <a:cxn ang="0">
                  <a:pos x="808" y="443"/>
                </a:cxn>
                <a:cxn ang="0">
                  <a:pos x="771" y="395"/>
                </a:cxn>
                <a:cxn ang="0">
                  <a:pos x="634" y="320"/>
                </a:cxn>
                <a:cxn ang="0">
                  <a:pos x="504" y="250"/>
                </a:cxn>
                <a:cxn ang="0">
                  <a:pos x="345" y="178"/>
                </a:cxn>
                <a:cxn ang="0">
                  <a:pos x="287" y="137"/>
                </a:cxn>
                <a:cxn ang="0">
                  <a:pos x="226" y="82"/>
                </a:cxn>
                <a:cxn ang="0">
                  <a:pos x="164" y="21"/>
                </a:cxn>
                <a:cxn ang="0">
                  <a:pos x="109" y="0"/>
                </a:cxn>
                <a:cxn ang="0">
                  <a:pos x="0" y="76"/>
                </a:cxn>
                <a:cxn ang="0">
                  <a:pos x="7" y="147"/>
                </a:cxn>
                <a:cxn ang="0">
                  <a:pos x="27" y="175"/>
                </a:cxn>
                <a:cxn ang="0">
                  <a:pos x="82" y="164"/>
                </a:cxn>
                <a:cxn ang="0">
                  <a:pos x="72" y="134"/>
                </a:cxn>
                <a:cxn ang="0">
                  <a:pos x="51" y="123"/>
                </a:cxn>
                <a:cxn ang="0">
                  <a:pos x="41" y="86"/>
                </a:cxn>
                <a:cxn ang="0">
                  <a:pos x="102" y="45"/>
                </a:cxn>
                <a:cxn ang="0">
                  <a:pos x="154" y="86"/>
                </a:cxn>
                <a:cxn ang="0">
                  <a:pos x="154" y="123"/>
                </a:cxn>
                <a:cxn ang="0">
                  <a:pos x="133" y="168"/>
                </a:cxn>
                <a:cxn ang="0">
                  <a:pos x="150" y="199"/>
                </a:cxn>
                <a:cxn ang="0">
                  <a:pos x="253" y="226"/>
                </a:cxn>
                <a:cxn ang="0">
                  <a:pos x="294" y="188"/>
                </a:cxn>
                <a:cxn ang="0">
                  <a:pos x="431" y="271"/>
                </a:cxn>
                <a:cxn ang="0">
                  <a:pos x="545" y="323"/>
                </a:cxn>
                <a:cxn ang="0">
                  <a:pos x="607" y="354"/>
                </a:cxn>
                <a:cxn ang="0">
                  <a:pos x="668" y="385"/>
                </a:cxn>
                <a:cxn ang="0">
                  <a:pos x="716" y="426"/>
                </a:cxn>
                <a:cxn ang="0">
                  <a:pos x="747" y="467"/>
                </a:cxn>
                <a:cxn ang="0">
                  <a:pos x="719" y="497"/>
                </a:cxn>
                <a:cxn ang="0">
                  <a:pos x="654" y="539"/>
                </a:cxn>
                <a:cxn ang="0">
                  <a:pos x="586" y="586"/>
                </a:cxn>
                <a:cxn ang="0">
                  <a:pos x="545" y="628"/>
                </a:cxn>
              </a:cxnLst>
              <a:rect l="txL" t="txT" r="txR" b="txB"/>
              <a:pathLst>
                <a:path w="819" h="908">
                  <a:moveTo>
                    <a:pt x="545" y="628"/>
                  </a:moveTo>
                  <a:lnTo>
                    <a:pt x="504" y="669"/>
                  </a:lnTo>
                  <a:lnTo>
                    <a:pt x="417" y="720"/>
                  </a:lnTo>
                  <a:lnTo>
                    <a:pt x="339" y="751"/>
                  </a:lnTo>
                  <a:lnTo>
                    <a:pt x="284" y="782"/>
                  </a:lnTo>
                  <a:lnTo>
                    <a:pt x="232" y="823"/>
                  </a:lnTo>
                  <a:lnTo>
                    <a:pt x="226" y="895"/>
                  </a:lnTo>
                  <a:lnTo>
                    <a:pt x="277" y="908"/>
                  </a:lnTo>
                  <a:lnTo>
                    <a:pt x="407" y="833"/>
                  </a:lnTo>
                  <a:lnTo>
                    <a:pt x="504" y="744"/>
                  </a:lnTo>
                  <a:lnTo>
                    <a:pt x="617" y="631"/>
                  </a:lnTo>
                  <a:lnTo>
                    <a:pt x="709" y="559"/>
                  </a:lnTo>
                  <a:lnTo>
                    <a:pt x="788" y="504"/>
                  </a:lnTo>
                  <a:lnTo>
                    <a:pt x="819" y="477"/>
                  </a:lnTo>
                  <a:lnTo>
                    <a:pt x="808" y="443"/>
                  </a:lnTo>
                  <a:lnTo>
                    <a:pt x="771" y="395"/>
                  </a:lnTo>
                  <a:lnTo>
                    <a:pt x="634" y="320"/>
                  </a:lnTo>
                  <a:lnTo>
                    <a:pt x="504" y="250"/>
                  </a:lnTo>
                  <a:lnTo>
                    <a:pt x="345" y="178"/>
                  </a:lnTo>
                  <a:lnTo>
                    <a:pt x="287" y="137"/>
                  </a:lnTo>
                  <a:lnTo>
                    <a:pt x="226" y="82"/>
                  </a:lnTo>
                  <a:lnTo>
                    <a:pt x="164" y="21"/>
                  </a:lnTo>
                  <a:lnTo>
                    <a:pt x="109" y="0"/>
                  </a:lnTo>
                  <a:lnTo>
                    <a:pt x="0" y="76"/>
                  </a:lnTo>
                  <a:lnTo>
                    <a:pt x="7" y="147"/>
                  </a:lnTo>
                  <a:lnTo>
                    <a:pt x="27" y="175"/>
                  </a:lnTo>
                  <a:lnTo>
                    <a:pt x="82" y="164"/>
                  </a:lnTo>
                  <a:lnTo>
                    <a:pt x="72" y="134"/>
                  </a:lnTo>
                  <a:lnTo>
                    <a:pt x="51" y="123"/>
                  </a:lnTo>
                  <a:lnTo>
                    <a:pt x="41" y="86"/>
                  </a:lnTo>
                  <a:lnTo>
                    <a:pt x="102" y="45"/>
                  </a:lnTo>
                  <a:lnTo>
                    <a:pt x="154" y="86"/>
                  </a:lnTo>
                  <a:lnTo>
                    <a:pt x="154" y="123"/>
                  </a:lnTo>
                  <a:lnTo>
                    <a:pt x="133" y="168"/>
                  </a:lnTo>
                  <a:lnTo>
                    <a:pt x="150" y="199"/>
                  </a:lnTo>
                  <a:lnTo>
                    <a:pt x="253" y="226"/>
                  </a:lnTo>
                  <a:lnTo>
                    <a:pt x="294" y="188"/>
                  </a:lnTo>
                  <a:lnTo>
                    <a:pt x="431" y="271"/>
                  </a:lnTo>
                  <a:lnTo>
                    <a:pt x="545" y="323"/>
                  </a:lnTo>
                  <a:lnTo>
                    <a:pt x="607" y="354"/>
                  </a:lnTo>
                  <a:lnTo>
                    <a:pt x="668" y="385"/>
                  </a:lnTo>
                  <a:lnTo>
                    <a:pt x="716" y="426"/>
                  </a:lnTo>
                  <a:lnTo>
                    <a:pt x="747" y="467"/>
                  </a:lnTo>
                  <a:lnTo>
                    <a:pt x="719" y="497"/>
                  </a:lnTo>
                  <a:lnTo>
                    <a:pt x="654" y="539"/>
                  </a:lnTo>
                  <a:lnTo>
                    <a:pt x="586" y="586"/>
                  </a:lnTo>
                  <a:lnTo>
                    <a:pt x="545" y="62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34720" y="207645"/>
            <a:ext cx="10862945" cy="688975"/>
          </a:xfrm>
          <a:prstGeom prst="rect">
            <a:avLst/>
          </a:prstGeom>
        </p:spPr>
        <p:txBody>
          <a:bodyPr vert="horz" wrap="square" lIns="0" tIns="12092" rIns="0" bIns="0" rtlCol="0">
            <a:spAutoFit/>
            <a:scene3d>
              <a:camera prst="orthographicFront"/>
              <a:lightRig rig="threePt" dir="t"/>
            </a:scene3d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  <a:tabLst>
                <a:tab pos="994410" algn="l"/>
                <a:tab pos="1581785" algn="l"/>
                <a:tab pos="2368550" algn="l"/>
                <a:tab pos="4525010" algn="l"/>
              </a:tabLst>
            </a:pPr>
            <a:r>
              <a:rPr b="1" spc="-2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Goal</a:t>
            </a:r>
            <a:r>
              <a:rPr lang="en-US" b="1" spc="-2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 </a:t>
            </a:r>
            <a:r>
              <a:rPr b="1" spc="-25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of</a:t>
            </a:r>
            <a:r>
              <a:rPr lang="en-US" b="1" spc="-25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 </a:t>
            </a:r>
            <a:r>
              <a:rPr b="1" spc="-25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the</a:t>
            </a:r>
            <a:r>
              <a:rPr lang="en-US" b="1" spc="-25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 </a:t>
            </a:r>
            <a:r>
              <a:rPr b="1" spc="-1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Enterprise</a:t>
            </a:r>
            <a:r>
              <a:rPr lang="en-US" b="1" spc="-1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 </a:t>
            </a:r>
            <a:r>
              <a:rPr b="1" spc="-1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Engineer</a:t>
            </a:r>
            <a:endParaRPr b="1" spc="-1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8610600" y="6468745"/>
            <a:ext cx="2743200" cy="140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95"/>
              </a:lnSpc>
            </a:pPr>
            <a:fld id="{81D60167-4931-47E6-BA6A-407CBD079E47}" type="slidenum">
              <a:rPr sz="1090" spc="-25" dirty="0"/>
            </a:fld>
            <a:endParaRPr sz="1090"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-635" y="1231900"/>
            <a:ext cx="12192635" cy="828675"/>
          </a:xfrm>
          <a:prstGeom prst="rect">
            <a:avLst/>
          </a:prstGeom>
        </p:spPr>
        <p:txBody>
          <a:bodyPr vert="horz" wrap="square" lIns="0" tIns="43762" rIns="0" bIns="0" rtlCol="0">
            <a:spAutoFit/>
          </a:bodyPr>
          <a:lstStyle/>
          <a:p>
            <a:pPr marL="253365" marR="5080" indent="-241300">
              <a:lnSpc>
                <a:spcPts val="2270"/>
              </a:lnSpc>
              <a:spcBef>
                <a:spcPts val="380"/>
              </a:spcBef>
              <a:buFont typeface="Microsoft Sans Serif" panose="020B0604020202020204"/>
              <a:buChar char="▪"/>
              <a:tabLst>
                <a:tab pos="253365" algn="l"/>
                <a:tab pos="1231265" algn="l"/>
                <a:tab pos="1775460" algn="l"/>
                <a:tab pos="2920365" algn="l"/>
                <a:tab pos="3417570" algn="l"/>
                <a:tab pos="4109720" algn="l"/>
                <a:tab pos="5163185" algn="l"/>
                <a:tab pos="5706110" algn="l"/>
                <a:tab pos="6948170" algn="l"/>
                <a:tab pos="7633970" algn="l"/>
              </a:tabLst>
            </a:pPr>
            <a:r>
              <a:t>Identify	and	integrate	the	most	valuable	and	successful	ways	to change an enterprise and</a:t>
            </a:r>
          </a:p>
          <a:p>
            <a:pPr marL="253365" marR="6350" indent="-241300">
              <a:lnSpc>
                <a:spcPts val="2280"/>
              </a:lnSpc>
              <a:spcBef>
                <a:spcPts val="1575"/>
              </a:spcBef>
              <a:buFont typeface="Microsoft Sans Serif" panose="020B0604020202020204"/>
              <a:buChar char="▪"/>
              <a:tabLst>
                <a:tab pos="253365" algn="l"/>
                <a:tab pos="705485" algn="l"/>
                <a:tab pos="1367155" algn="l"/>
                <a:tab pos="2136775" algn="l"/>
                <a:tab pos="2753995" algn="l"/>
                <a:tab pos="3065145" algn="l"/>
                <a:tab pos="4589145" algn="l"/>
                <a:tab pos="5803900" algn="l"/>
                <a:tab pos="6472555" algn="l"/>
                <a:tab pos="6783705" algn="l"/>
              </a:tabLst>
            </a:pPr>
            <a:r>
              <a:t>To	take</a:t>
            </a:r>
            <a:r>
              <a:rPr lang="en-US"/>
              <a:t> </a:t>
            </a:r>
            <a:r>
              <a:t>them</a:t>
            </a:r>
            <a:r>
              <a:rPr lang="en-US"/>
              <a:t> </a:t>
            </a:r>
            <a:r>
              <a:t>into</a:t>
            </a:r>
            <a:r>
              <a:rPr lang="en-US"/>
              <a:t> </a:t>
            </a:r>
            <a:r>
              <a:t>a</a:t>
            </a:r>
            <a:r>
              <a:rPr lang="en-US"/>
              <a:t> </a:t>
            </a:r>
            <a:r>
              <a:t>professional</a:t>
            </a:r>
            <a:r>
              <a:rPr lang="en-US"/>
              <a:t> </a:t>
            </a:r>
            <a:r>
              <a:t>discipline</a:t>
            </a:r>
            <a:r>
              <a:rPr lang="en-US"/>
              <a:t> </a:t>
            </a:r>
            <a:r>
              <a:t>with</a:t>
            </a:r>
            <a:r>
              <a:rPr lang="en-US"/>
              <a:t> </a:t>
            </a:r>
            <a:r>
              <a:t>a</a:t>
            </a:r>
            <a:r>
              <a:rPr lang="en-US"/>
              <a:t> </a:t>
            </a:r>
            <a:r>
              <a:t>teachable methodology and measures of </a:t>
            </a:r>
            <a:r>
              <a:t>effectiveness.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635" y="127635"/>
            <a:ext cx="12192635" cy="688975"/>
          </a:xfrm>
          <a:prstGeom prst="rect">
            <a:avLst/>
          </a:prstGeom>
        </p:spPr>
        <p:txBody>
          <a:bodyPr vert="horz" wrap="square" lIns="0" tIns="12092" rIns="0" bIns="0" rtlCol="0">
            <a:spAutoFit/>
            <a:scene3d>
              <a:camera prst="orthographicFront"/>
              <a:lightRig rig="threePt" dir="t"/>
            </a:scene3d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  <a:tabLst>
                <a:tab pos="2171700" algn="l"/>
                <a:tab pos="3936365" algn="l"/>
                <a:tab pos="4525010" algn="l"/>
                <a:tab pos="6094730" algn="l"/>
              </a:tabLst>
            </a:pPr>
            <a:r>
              <a:rPr b="1" spc="-1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Electronic</a:t>
            </a:r>
            <a:r>
              <a:rPr lang="en-US" b="1" spc="-1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  </a:t>
            </a:r>
            <a:r>
              <a:rPr b="1" spc="-1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Organis</a:t>
            </a:r>
            <a:r>
              <a:rPr lang="en-US" b="1" spc="-1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m </a:t>
            </a:r>
            <a:r>
              <a:rPr b="1" spc="-25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or</a:t>
            </a:r>
            <a:r>
              <a:rPr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	</a:t>
            </a:r>
            <a:r>
              <a:rPr b="1" spc="-1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Digital</a:t>
            </a:r>
            <a:r>
              <a:rPr lang="en-US" b="1" spc="-1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 </a:t>
            </a:r>
            <a:r>
              <a:rPr b="1" spc="-1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Organism</a:t>
            </a:r>
            <a:endParaRPr b="1" spc="-1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8610600" y="6468745"/>
            <a:ext cx="2743200" cy="140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95"/>
              </a:lnSpc>
            </a:pPr>
            <a:fld id="{81D60167-4931-47E6-BA6A-407CBD079E47}" type="slidenum">
              <a:rPr sz="1090" spc="-25" dirty="0"/>
            </a:fld>
            <a:endParaRPr sz="1090" spc="-25" dirty="0"/>
          </a:p>
        </p:txBody>
      </p:sp>
      <p:sp>
        <p:nvSpPr>
          <p:cNvPr id="7" name="object 4"/>
          <p:cNvSpPr txBox="1"/>
          <p:nvPr/>
        </p:nvSpPr>
        <p:spPr>
          <a:xfrm>
            <a:off x="189230" y="1372235"/>
            <a:ext cx="12002135" cy="2393315"/>
          </a:xfrm>
          <a:prstGeom prst="rect">
            <a:avLst/>
          </a:prstGeom>
        </p:spPr>
        <p:txBody>
          <a:bodyPr vert="horz" wrap="square" lIns="0" tIns="181610" rIns="0" bIns="0" rtlCol="0">
            <a:spAutoFit/>
          </a:bodyPr>
          <a:p>
            <a:pPr marL="539115" indent="-285750">
              <a:lnSpc>
                <a:spcPct val="100000"/>
              </a:lnSpc>
              <a:spcBef>
                <a:spcPts val="1430"/>
              </a:spcBef>
              <a:buFont typeface="Wingdings" panose="05000000000000000000" charset="0"/>
              <a:buChar char=""/>
            </a:pPr>
            <a:r>
              <a:rPr>
                <a:latin typeface="tim" charset="0"/>
                <a:cs typeface="tim" charset="0"/>
              </a:rPr>
              <a:t>A	digital	organism</a:t>
            </a:r>
            <a:r>
              <a:rPr lang="en-US">
                <a:latin typeface="tim" charset="0"/>
                <a:cs typeface="tim" charset="0"/>
              </a:rPr>
              <a:t> </a:t>
            </a:r>
            <a:r>
              <a:rPr>
                <a:latin typeface="tim" charset="0"/>
                <a:cs typeface="tim" charset="0"/>
              </a:rPr>
              <a:t>is</a:t>
            </a:r>
            <a:r>
              <a:rPr lang="en-US">
                <a:latin typeface="tim" charset="0"/>
                <a:cs typeface="tim" charset="0"/>
              </a:rPr>
              <a:t> </a:t>
            </a:r>
            <a:r>
              <a:rPr>
                <a:latin typeface="tim" charset="0"/>
                <a:cs typeface="tim" charset="0"/>
              </a:rPr>
              <a:t>a</a:t>
            </a:r>
            <a:r>
              <a:rPr lang="en-US">
                <a:latin typeface="tim" charset="0"/>
                <a:cs typeface="tim" charset="0"/>
              </a:rPr>
              <a:t> </a:t>
            </a:r>
            <a:r>
              <a:rPr>
                <a:latin typeface="tim" charset="0"/>
                <a:cs typeface="tim" charset="0"/>
              </a:rPr>
              <a:t>self-replicating</a:t>
            </a:r>
            <a:r>
              <a:rPr lang="en-US">
                <a:latin typeface="tim" charset="0"/>
                <a:cs typeface="tim" charset="0"/>
              </a:rPr>
              <a:t> </a:t>
            </a:r>
            <a:r>
              <a:rPr>
                <a:latin typeface="tim" charset="0"/>
                <a:cs typeface="tim" charset="0"/>
              </a:rPr>
              <a:t>computer</a:t>
            </a:r>
            <a:r>
              <a:rPr lang="en-US">
                <a:latin typeface="tim" charset="0"/>
                <a:cs typeface="tim" charset="0"/>
              </a:rPr>
              <a:t> </a:t>
            </a:r>
            <a:r>
              <a:rPr>
                <a:latin typeface="tim" charset="0"/>
                <a:cs typeface="tim" charset="0"/>
              </a:rPr>
              <a:t>program</a:t>
            </a:r>
            <a:r>
              <a:rPr lang="en-US">
                <a:latin typeface="tim" charset="0"/>
                <a:cs typeface="tim" charset="0"/>
              </a:rPr>
              <a:t> </a:t>
            </a:r>
            <a:r>
              <a:rPr>
                <a:latin typeface="tim" charset="0"/>
                <a:cs typeface="tim" charset="0"/>
              </a:rPr>
              <a:t>that</a:t>
            </a:r>
            <a:r>
              <a:rPr lang="en-US" altLang="en-US">
                <a:latin typeface="tim" charset="0"/>
                <a:cs typeface="tim" charset="0"/>
              </a:rPr>
              <a:t> </a:t>
            </a:r>
            <a:r>
              <a:rPr>
                <a:latin typeface="tim" charset="0"/>
                <a:cs typeface="tim" charset="0"/>
              </a:rPr>
              <a:t>mutates and evolves.</a:t>
            </a:r>
            <a:endParaRPr>
              <a:latin typeface="tim" charset="0"/>
              <a:cs typeface="tim" charset="0"/>
            </a:endParaRPr>
          </a:p>
          <a:p>
            <a:pPr marL="539115" indent="-285750">
              <a:lnSpc>
                <a:spcPct val="100000"/>
              </a:lnSpc>
              <a:spcBef>
                <a:spcPts val="1430"/>
              </a:spcBef>
              <a:buFont typeface="Wingdings" panose="05000000000000000000" charset="0"/>
              <a:buChar char=""/>
            </a:pPr>
            <a:r>
              <a:rPr>
                <a:latin typeface="tim" charset="0"/>
                <a:cs typeface="tim" charset="0"/>
              </a:rPr>
              <a:t>used as a tool to study the dynamics evolution and to test or verify specific hypotheses or mathematical models of evolution.</a:t>
            </a:r>
            <a:endParaRPr>
              <a:latin typeface="tim" charset="0"/>
              <a:cs typeface="tim" charset="0"/>
            </a:endParaRPr>
          </a:p>
          <a:p>
            <a:pPr marL="539115" indent="-285750">
              <a:lnSpc>
                <a:spcPct val="100000"/>
              </a:lnSpc>
              <a:spcBef>
                <a:spcPts val="1430"/>
              </a:spcBef>
              <a:buFont typeface="Wingdings" panose="05000000000000000000" charset="0"/>
              <a:buChar char=""/>
            </a:pPr>
            <a:r>
              <a:rPr>
                <a:latin typeface="tim" charset="0"/>
                <a:cs typeface="tim" charset="0"/>
              </a:rPr>
              <a:t>The study of digital organisms is closely related to the area of 	artificial life.</a:t>
            </a:r>
            <a:endParaRPr>
              <a:latin typeface="tim" charset="0"/>
              <a:cs typeface="tim" charset="0"/>
            </a:endParaRPr>
          </a:p>
          <a:p>
            <a:pPr marL="539115" indent="-285750">
              <a:lnSpc>
                <a:spcPct val="100000"/>
              </a:lnSpc>
              <a:spcBef>
                <a:spcPts val="1430"/>
              </a:spcBef>
              <a:buFont typeface="Wingdings" panose="05000000000000000000" charset="0"/>
              <a:buChar char=""/>
            </a:pPr>
            <a:r>
              <a:rPr>
                <a:latin typeface="tim" charset="0"/>
                <a:cs typeface="tim" charset="0"/>
              </a:rPr>
              <a:t>refers to the electronic program for managing information system as well as data by using the electronic medium.</a:t>
            </a:r>
            <a:endParaRPr>
              <a:latin typeface="tim" charset="0"/>
              <a:cs typeface="tim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6775" y="151130"/>
            <a:ext cx="11068050" cy="688975"/>
          </a:xfrm>
          <a:prstGeom prst="rect">
            <a:avLst/>
          </a:prstGeom>
        </p:spPr>
        <p:txBody>
          <a:bodyPr vert="horz" wrap="square" lIns="0" tIns="12092" rIns="0" bIns="0" rtlCol="0">
            <a:spAutoFit/>
            <a:scene3d>
              <a:camera prst="orthographicFront"/>
              <a:lightRig rig="threePt" dir="t"/>
            </a:scene3d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  <a:tabLst>
                <a:tab pos="994410" algn="l"/>
                <a:tab pos="1778635" algn="l"/>
                <a:tab pos="3936365" algn="l"/>
              </a:tabLst>
            </a:pPr>
            <a:r>
              <a:rPr b="1" spc="-2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" charset="0"/>
                <a:cs typeface="times" charset="0"/>
              </a:rPr>
              <a:t>Need</a:t>
            </a:r>
            <a:r>
              <a:rPr lang="en-US" b="1" spc="-2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" charset="0"/>
                <a:cs typeface="times" charset="0"/>
              </a:rPr>
              <a:t> </a:t>
            </a:r>
            <a:r>
              <a:rPr b="1" spc="-25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" charset="0"/>
                <a:cs typeface="times" charset="0"/>
              </a:rPr>
              <a:t>for</a:t>
            </a:r>
            <a:r>
              <a:rPr lang="en-US" b="1" spc="-25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" charset="0"/>
                <a:cs typeface="times" charset="0"/>
              </a:rPr>
              <a:t> </a:t>
            </a:r>
            <a:r>
              <a:rPr b="1" spc="-1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" charset="0"/>
                <a:cs typeface="times" charset="0"/>
              </a:rPr>
              <a:t>Enterprise</a:t>
            </a:r>
            <a:r>
              <a:rPr lang="en-US" b="1" spc="-1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" charset="0"/>
                <a:cs typeface="times" charset="0"/>
              </a:rPr>
              <a:t> </a:t>
            </a:r>
            <a:r>
              <a:rPr b="1" spc="-1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" charset="0"/>
                <a:cs typeface="times" charset="0"/>
              </a:rPr>
              <a:t>Integration</a:t>
            </a:r>
            <a:endParaRPr b="1" spc="-1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latin typeface="times" charset="0"/>
              <a:cs typeface="times" charset="0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8610600" y="6468745"/>
            <a:ext cx="2743200" cy="140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95"/>
              </a:lnSpc>
            </a:pPr>
            <a:fld id="{81D60167-4931-47E6-BA6A-407CBD079E47}" type="slidenum">
              <a:rPr sz="1090" spc="-25" dirty="0"/>
            </a:fld>
            <a:endParaRPr sz="1090"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21285" y="942975"/>
            <a:ext cx="11813540" cy="2232660"/>
          </a:xfrm>
          <a:prstGeom prst="rect">
            <a:avLst/>
          </a:prstGeom>
        </p:spPr>
        <p:txBody>
          <a:bodyPr vert="horz" wrap="square" lIns="0" tIns="164684" rIns="0" bIns="0" rtlCol="0">
            <a:spAutoFit/>
          </a:bodyPr>
          <a:lstStyle/>
          <a:p>
            <a:pPr marL="253365" indent="-240665">
              <a:lnSpc>
                <a:spcPct val="100000"/>
              </a:lnSpc>
              <a:spcBef>
                <a:spcPts val="1430"/>
              </a:spcBef>
              <a:buFont typeface="Microsoft Sans Serif" panose="020B0604020202020204"/>
              <a:buChar char="▪"/>
              <a:tabLst>
                <a:tab pos="253365" algn="l"/>
              </a:tabLst>
            </a:pPr>
            <a:r>
              <a:t>Integration of markets</a:t>
            </a:r>
          </a:p>
          <a:p>
            <a:pPr marL="253365" indent="-240665">
              <a:lnSpc>
                <a:spcPct val="100000"/>
              </a:lnSpc>
              <a:spcBef>
                <a:spcPts val="1335"/>
              </a:spcBef>
              <a:buFont typeface="Microsoft Sans Serif" panose="020B0604020202020204"/>
              <a:buChar char="▪"/>
              <a:tabLst>
                <a:tab pos="253365" algn="l"/>
              </a:tabLst>
            </a:pPr>
            <a:r>
              <a:t>Integration between several development and manufacturing sites</a:t>
            </a:r>
          </a:p>
          <a:p>
            <a:pPr marL="253365" indent="-240665">
              <a:lnSpc>
                <a:spcPct val="100000"/>
              </a:lnSpc>
              <a:spcBef>
                <a:spcPts val="1330"/>
              </a:spcBef>
              <a:buFont typeface="Microsoft Sans Serif" panose="020B0604020202020204"/>
              <a:buChar char="▪"/>
              <a:tabLst>
                <a:tab pos="253365" algn="l"/>
              </a:tabLst>
            </a:pPr>
            <a:r>
              <a:t>Integration between suppliers and manufacturers</a:t>
            </a:r>
          </a:p>
          <a:p>
            <a:pPr marL="253365" indent="-240665">
              <a:lnSpc>
                <a:spcPct val="100000"/>
              </a:lnSpc>
              <a:spcBef>
                <a:spcPts val="1330"/>
              </a:spcBef>
              <a:buFont typeface="Microsoft Sans Serif" panose="020B0604020202020204"/>
              <a:buChar char="▪"/>
              <a:tabLst>
                <a:tab pos="253365" algn="l"/>
              </a:tabLst>
            </a:pPr>
            <a:r>
              <a:t>Integration of design and manufacturing</a:t>
            </a:r>
          </a:p>
          <a:p>
            <a:pPr marL="253365" indent="-240665">
              <a:lnSpc>
                <a:spcPct val="100000"/>
              </a:lnSpc>
              <a:spcBef>
                <a:spcPts val="1335"/>
              </a:spcBef>
              <a:buFont typeface="Microsoft Sans Serif" panose="020B0604020202020204"/>
              <a:buChar char="▪"/>
              <a:tabLst>
                <a:tab pos="253365" algn="l"/>
              </a:tabLst>
            </a:pPr>
            <a:r>
              <a:t>Integration of multi-vendor hardware and software </a:t>
            </a:r>
            <a:r>
              <a:t>components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7535" y="219075"/>
            <a:ext cx="10996930" cy="688975"/>
          </a:xfrm>
          <a:prstGeom prst="rect">
            <a:avLst/>
          </a:prstGeom>
        </p:spPr>
        <p:txBody>
          <a:bodyPr vert="horz" wrap="square" lIns="0" tIns="12092" rIns="0" bIns="0" rtlCol="0">
            <a:spAutoFit/>
            <a:scene3d>
              <a:camera prst="orthographicFront"/>
              <a:lightRig rig="threePt" dir="t"/>
            </a:scene3d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  <a:tabLst>
                <a:tab pos="1190625" algn="l"/>
                <a:tab pos="3347720" algn="l"/>
                <a:tab pos="4131945" algn="l"/>
              </a:tabLst>
            </a:pPr>
            <a:r>
              <a:rPr b="1" spc="-1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Basic</a:t>
            </a:r>
            <a:r>
              <a:rPr lang="en-US" b="1" spc="-1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 </a:t>
            </a:r>
            <a:r>
              <a:rPr b="1" spc="-1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principles</a:t>
            </a:r>
            <a:r>
              <a:rPr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	</a:t>
            </a:r>
            <a:r>
              <a:rPr b="1" spc="-25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for</a:t>
            </a:r>
            <a:r>
              <a:rPr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	</a:t>
            </a:r>
            <a:r>
              <a:rPr b="1" spc="-1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integration</a:t>
            </a:r>
            <a:endParaRPr b="1" spc="-1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8610600" y="6468745"/>
            <a:ext cx="2743200" cy="140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95"/>
              </a:lnSpc>
            </a:pPr>
            <a:fld id="{81D60167-4931-47E6-BA6A-407CBD079E47}" type="slidenum">
              <a:rPr sz="1090" spc="-25" dirty="0"/>
            </a:fld>
            <a:endParaRPr sz="1090"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879475" y="1362075"/>
            <a:ext cx="10433050" cy="2232660"/>
          </a:xfrm>
          <a:prstGeom prst="rect">
            <a:avLst/>
          </a:prstGeom>
        </p:spPr>
        <p:txBody>
          <a:bodyPr vert="horz" wrap="square" lIns="0" tIns="164684" rIns="0" bIns="0" rtlCol="0">
            <a:spAutoFit/>
          </a:bodyPr>
          <a:lstStyle/>
          <a:p>
            <a:pPr marL="253365" indent="-240665">
              <a:lnSpc>
                <a:spcPct val="100000"/>
              </a:lnSpc>
              <a:spcBef>
                <a:spcPts val="1430"/>
              </a:spcBef>
              <a:buFont typeface="Microsoft Sans Serif" panose="020B0604020202020204"/>
              <a:buChar char="▪"/>
              <a:tabLst>
                <a:tab pos="253365" algn="l"/>
              </a:tabLst>
            </a:pPr>
            <a:r>
              <a:t>Provide the vision, right information, resources, and responsibility</a:t>
            </a:r>
          </a:p>
          <a:p>
            <a:pPr marL="253365" indent="-240665">
              <a:lnSpc>
                <a:spcPct val="100000"/>
              </a:lnSpc>
              <a:spcBef>
                <a:spcPts val="1335"/>
              </a:spcBef>
              <a:buFont typeface="Microsoft Sans Serif" panose="020B0604020202020204"/>
              <a:buChar char="▪"/>
              <a:tabLst>
                <a:tab pos="253365" algn="l"/>
              </a:tabLst>
            </a:pPr>
            <a:r>
              <a:t>Empowered people</a:t>
            </a:r>
          </a:p>
          <a:p>
            <a:pPr marL="253365" indent="-240665">
              <a:lnSpc>
                <a:spcPct val="100000"/>
              </a:lnSpc>
              <a:spcBef>
                <a:spcPts val="1330"/>
              </a:spcBef>
              <a:buFont typeface="Microsoft Sans Serif" panose="020B0604020202020204"/>
              <a:buChar char="▪"/>
              <a:tabLst>
                <a:tab pos="253365" algn="l"/>
              </a:tabLst>
            </a:pPr>
            <a:r>
              <a:t>A comprehensive and effective communication networks</a:t>
            </a:r>
          </a:p>
          <a:p>
            <a:pPr marL="253365" indent="-240665">
              <a:lnSpc>
                <a:spcPct val="100000"/>
              </a:lnSpc>
              <a:spcBef>
                <a:spcPts val="1330"/>
              </a:spcBef>
              <a:buFont typeface="Microsoft Sans Serif" panose="020B0604020202020204"/>
              <a:buChar char="▪"/>
              <a:tabLst>
                <a:tab pos="253365" algn="l"/>
              </a:tabLst>
            </a:pPr>
            <a:r>
              <a:t>Democratization and dissemination of information</a:t>
            </a:r>
          </a:p>
          <a:p>
            <a:pPr marL="253365" indent="-240665">
              <a:lnSpc>
                <a:spcPct val="100000"/>
              </a:lnSpc>
              <a:spcBef>
                <a:spcPts val="1335"/>
              </a:spcBef>
              <a:buFont typeface="Microsoft Sans Serif" panose="020B0604020202020204"/>
              <a:buChar char="▪"/>
              <a:tabLst>
                <a:tab pos="253365" algn="l"/>
              </a:tabLst>
            </a:pPr>
            <a:r>
              <a:t>Freely shared </a:t>
            </a:r>
            <a:r>
              <a:t>information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48585" y="62865"/>
            <a:ext cx="6165850" cy="750570"/>
          </a:xfrm>
          <a:prstGeom prst="rect">
            <a:avLst/>
          </a:prstGeom>
        </p:spPr>
        <p:txBody>
          <a:bodyPr vert="horz" wrap="square" lIns="0" tIns="12092" rIns="0" bIns="0" rtlCol="0">
            <a:spAutoFit/>
            <a:scene3d>
              <a:camera prst="orthographicFront"/>
              <a:lightRig rig="threePt" dir="t"/>
            </a:scene3d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190625" algn="l"/>
                <a:tab pos="1778635" algn="l"/>
              </a:tabLst>
            </a:pPr>
            <a:r>
              <a:rPr sz="4800" b="1" spc="-1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Types</a:t>
            </a:r>
            <a:r>
              <a:rPr sz="4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	</a:t>
            </a:r>
            <a:r>
              <a:rPr sz="4800" b="1" spc="-25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of</a:t>
            </a:r>
            <a:r>
              <a:rPr lang="en-US" sz="4800" b="1" spc="-25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 </a:t>
            </a:r>
            <a:r>
              <a:rPr sz="4800" b="1" spc="-1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Integration</a:t>
            </a:r>
            <a:endParaRPr sz="4800" b="1" spc="-1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8610600" y="6468745"/>
            <a:ext cx="2743200" cy="140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95"/>
              </a:lnSpc>
            </a:pPr>
            <a:fld id="{81D60167-4931-47E6-BA6A-407CBD079E47}" type="slidenum">
              <a:rPr sz="1090" spc="-25" dirty="0"/>
            </a:fld>
            <a:endParaRPr sz="1090"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809625" y="1283335"/>
            <a:ext cx="10396855" cy="1835150"/>
          </a:xfrm>
          <a:prstGeom prst="rect">
            <a:avLst/>
          </a:prstGeom>
        </p:spPr>
        <p:txBody>
          <a:bodyPr vert="horz" wrap="square" lIns="0" tIns="164684" rIns="0" bIns="0" rtlCol="0">
            <a:spAutoFit/>
          </a:bodyPr>
          <a:lstStyle/>
          <a:p>
            <a:pPr marL="253365" indent="-240665">
              <a:lnSpc>
                <a:spcPct val="100000"/>
              </a:lnSpc>
              <a:spcBef>
                <a:spcPts val="1430"/>
              </a:spcBef>
              <a:buFont typeface="Microsoft Sans Serif" panose="020B0604020202020204"/>
              <a:buChar char="▪"/>
              <a:tabLst>
                <a:tab pos="253365" algn="l"/>
              </a:tabLst>
            </a:pPr>
            <a:r>
              <a:t>Loose Integration versus Full Integration</a:t>
            </a:r>
          </a:p>
          <a:p>
            <a:pPr marL="253365" indent="-240665">
              <a:lnSpc>
                <a:spcPct val="100000"/>
              </a:lnSpc>
              <a:spcBef>
                <a:spcPts val="1335"/>
              </a:spcBef>
              <a:buFont typeface="Microsoft Sans Serif" panose="020B0604020202020204"/>
              <a:buChar char="▪"/>
              <a:tabLst>
                <a:tab pos="253365" algn="l"/>
              </a:tabLst>
            </a:pPr>
            <a:r>
              <a:t>Horizontal Integration versus Vertical Integration</a:t>
            </a:r>
          </a:p>
          <a:p>
            <a:pPr marL="253365" indent="-240665">
              <a:lnSpc>
                <a:spcPct val="100000"/>
              </a:lnSpc>
              <a:spcBef>
                <a:spcPts val="1330"/>
              </a:spcBef>
              <a:buFont typeface="Microsoft Sans Serif" panose="020B0604020202020204"/>
              <a:buChar char="▪"/>
              <a:tabLst>
                <a:tab pos="253365" algn="l"/>
              </a:tabLst>
            </a:pPr>
            <a:r>
              <a:t>Intra-Enterprise Integration versus Inter-enterprise Integration</a:t>
            </a:r>
          </a:p>
          <a:p>
            <a:pPr marL="253365" marR="5080" indent="-241300">
              <a:lnSpc>
                <a:spcPts val="2270"/>
              </a:lnSpc>
              <a:spcBef>
                <a:spcPts val="1615"/>
              </a:spcBef>
              <a:buFont typeface="Microsoft Sans Serif" panose="020B0604020202020204"/>
              <a:buChar char="▪"/>
              <a:tabLst>
                <a:tab pos="253365" algn="l"/>
                <a:tab pos="1391285" algn="l"/>
                <a:tab pos="3002280" algn="l"/>
                <a:tab pos="4575175" algn="l"/>
                <a:tab pos="6186170" algn="l"/>
                <a:tab pos="6908165" algn="l"/>
              </a:tabLst>
            </a:pPr>
            <a:r>
              <a:t>System</a:t>
            </a:r>
            <a:r>
              <a:rPr lang="en-US"/>
              <a:t> </a:t>
            </a:r>
            <a:r>
              <a:t>Integration,</a:t>
            </a:r>
            <a:r>
              <a:rPr lang="en-US"/>
              <a:t> </a:t>
            </a:r>
            <a:r>
              <a:t>Application</a:t>
            </a:r>
            <a:r>
              <a:rPr lang="en-US"/>
              <a:t> </a:t>
            </a:r>
            <a:r>
              <a:t>Integration,</a:t>
            </a:r>
            <a:r>
              <a:rPr lang="en-US"/>
              <a:t> </a:t>
            </a:r>
            <a:r>
              <a:t>and</a:t>
            </a:r>
            <a:r>
              <a:rPr lang="en-US"/>
              <a:t> </a:t>
            </a:r>
            <a:r>
              <a:t>Business </a:t>
            </a:r>
            <a:r>
              <a:t>Integration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4995" y="184785"/>
            <a:ext cx="11597005" cy="688975"/>
          </a:xfrm>
          <a:prstGeom prst="rect">
            <a:avLst/>
          </a:prstGeom>
        </p:spPr>
        <p:txBody>
          <a:bodyPr vert="horz" wrap="square" lIns="0" tIns="12092" rIns="0" bIns="0" rtlCol="0">
            <a:spAutoFit/>
            <a:scene3d>
              <a:camera prst="orthographicFront"/>
              <a:lightRig rig="threePt" dir="t"/>
            </a:scene3d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  <a:tabLst>
                <a:tab pos="1190625" algn="l"/>
                <a:tab pos="3544570" algn="l"/>
                <a:tab pos="4328160" algn="l"/>
                <a:tab pos="5309870" algn="l"/>
              </a:tabLst>
            </a:pPr>
            <a:r>
              <a:rPr b="1" spc="-1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Loose</a:t>
            </a:r>
            <a:r>
              <a:rPr lang="en-US" b="1" spc="-1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 </a:t>
            </a:r>
            <a:r>
              <a:rPr b="1" spc="-1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Integration</a:t>
            </a:r>
            <a:r>
              <a:rPr lang="en-US" b="1" spc="-1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 </a:t>
            </a:r>
            <a:r>
              <a:rPr b="1" spc="-25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vs.</a:t>
            </a:r>
            <a:r>
              <a:rPr lang="en-US" b="1" spc="-25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 </a:t>
            </a:r>
            <a:r>
              <a:rPr b="1" spc="-2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Full</a:t>
            </a:r>
            <a:r>
              <a:rPr lang="en-US" b="1" spc="-2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 </a:t>
            </a:r>
            <a:r>
              <a:rPr b="1" spc="-1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Integration</a:t>
            </a:r>
            <a:endParaRPr b="1" spc="-1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8610600" y="6468745"/>
            <a:ext cx="2743200" cy="140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95"/>
              </a:lnSpc>
            </a:pPr>
            <a:fld id="{81D60167-4931-47E6-BA6A-407CBD079E47}" type="slidenum">
              <a:rPr sz="1090" spc="-25" dirty="0"/>
            </a:fld>
            <a:endParaRPr sz="1090"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356870" y="1464945"/>
            <a:ext cx="11478260" cy="3956050"/>
          </a:xfrm>
          <a:prstGeom prst="rect">
            <a:avLst/>
          </a:prstGeom>
        </p:spPr>
        <p:txBody>
          <a:bodyPr vert="horz" wrap="square" lIns="0" tIns="39731" rIns="0" bIns="0" rtlCol="0">
            <a:spAutoFit/>
          </a:bodyPr>
          <a:lstStyle/>
          <a:p>
            <a:pPr marL="252095" marR="5080" indent="-240030" algn="just">
              <a:lnSpc>
                <a:spcPct val="100000"/>
              </a:lnSpc>
              <a:spcBef>
                <a:spcPts val="345"/>
              </a:spcBef>
              <a:buFont typeface="Microsoft Sans Serif" panose="020B0604020202020204"/>
              <a:buChar char="▪"/>
              <a:tabLst>
                <a:tab pos="253365" algn="l"/>
              </a:tabLst>
            </a:pPr>
            <a:r>
              <a:rPr b="1"/>
              <a:t>Loose Integration -</a:t>
            </a:r>
            <a:r>
              <a:t> If two systems can merely exchange information 	with one another with no guarantee that they will interpret this 	information the same way.</a:t>
            </a: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00B0F0"/>
              </a:buClr>
              <a:buFont typeface="Microsoft Sans Serif" panose="020B0604020202020204"/>
              <a:buChar char="▪"/>
            </a:pPr>
          </a:p>
          <a:p>
            <a:pPr marL="253365" indent="-240665">
              <a:lnSpc>
                <a:spcPct val="100000"/>
              </a:lnSpc>
              <a:buFont typeface="Microsoft Sans Serif" panose="020B0604020202020204"/>
              <a:buChar char="▪"/>
              <a:tabLst>
                <a:tab pos="253365" algn="l"/>
              </a:tabLst>
            </a:pPr>
            <a:r>
              <a:rPr b="1"/>
              <a:t>Full integration - </a:t>
            </a:r>
            <a:r>
              <a:t>Two systems are fully integrated if and only if</a:t>
            </a:r>
          </a:p>
          <a:p>
            <a:pPr marL="492760" marR="5080" lvl="1" indent="-240030">
              <a:lnSpc>
                <a:spcPct val="100000"/>
              </a:lnSpc>
              <a:spcBef>
                <a:spcPts val="570"/>
              </a:spcBef>
              <a:buFont typeface="Consolas"/>
              <a:buChar char="–"/>
              <a:tabLst>
                <a:tab pos="494030" algn="l"/>
              </a:tabLst>
            </a:pPr>
            <a:r>
              <a:t>The specificities of any one of these systems are only known to the system itself 	</a:t>
            </a:r>
            <a:r>
              <a:rPr lang="en-US"/>
              <a:t>  </a:t>
            </a:r>
            <a:r>
              <a:t>and not by the other one,</a:t>
            </a:r>
          </a:p>
          <a:p>
            <a:pPr marL="493395" lvl="1" indent="-240030">
              <a:lnSpc>
                <a:spcPct val="100000"/>
              </a:lnSpc>
              <a:spcBef>
                <a:spcPts val="280"/>
              </a:spcBef>
              <a:buFont typeface="Consolas"/>
              <a:buChar char="–"/>
              <a:tabLst>
                <a:tab pos="493395" algn="l"/>
              </a:tabLst>
            </a:pPr>
            <a:r>
              <a:t>the two systems both contribute to a common task, and</a:t>
            </a:r>
          </a:p>
          <a:p>
            <a:pPr marL="493395" lvl="1" indent="-240030">
              <a:lnSpc>
                <a:spcPct val="100000"/>
              </a:lnSpc>
              <a:spcBef>
                <a:spcPts val="320"/>
              </a:spcBef>
              <a:buFont typeface="Consolas"/>
              <a:buChar char="–"/>
              <a:tabLst>
                <a:tab pos="493395" algn="l"/>
              </a:tabLst>
            </a:pPr>
            <a:r>
              <a:t>the two systems share the same definition of each concept they exchange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80740" y="161608"/>
            <a:ext cx="5948045" cy="688975"/>
          </a:xfrm>
          <a:prstGeom prst="rect">
            <a:avLst/>
          </a:prstGeom>
        </p:spPr>
        <p:txBody>
          <a:bodyPr vert="horz" wrap="square" lIns="0" tIns="1209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581785" algn="l"/>
              </a:tabLst>
            </a:pPr>
            <a:r>
              <a:rPr spc="-10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Process</a:t>
            </a:r>
            <a:r>
              <a:rPr lang="en-US" spc="-10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 </a:t>
            </a:r>
            <a:r>
              <a:rPr spc="-10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Alignment</a:t>
            </a:r>
            <a:endParaRPr spc="-10" dirty="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8610600" y="6468745"/>
            <a:ext cx="2743200" cy="140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95"/>
              </a:lnSpc>
            </a:pPr>
            <a:fld id="{81D60167-4931-47E6-BA6A-407CBD079E47}" type="slidenum">
              <a:rPr sz="1090" spc="-25" dirty="0"/>
            </a:fld>
            <a:endParaRPr sz="1090"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2521214" y="3867662"/>
            <a:ext cx="7145909" cy="598170"/>
          </a:xfrm>
          <a:prstGeom prst="rect">
            <a:avLst/>
          </a:prstGeom>
        </p:spPr>
        <p:txBody>
          <a:bodyPr vert="horz" wrap="square" lIns="0" tIns="11516" rIns="0" bIns="0" rtlCol="0">
            <a:spAutoFit/>
          </a:bodyPr>
          <a:lstStyle/>
          <a:p>
            <a:pPr marL="253365" indent="-240665">
              <a:lnSpc>
                <a:spcPct val="100000"/>
              </a:lnSpc>
              <a:spcBef>
                <a:spcPts val="100"/>
              </a:spcBef>
              <a:buFont typeface="Microsoft Sans Serif" panose="020B0604020202020204"/>
              <a:buChar char="▪"/>
              <a:tabLst>
                <a:tab pos="253365" algn="l"/>
                <a:tab pos="1231265" algn="l"/>
                <a:tab pos="2514600" algn="l"/>
                <a:tab pos="3470275" algn="l"/>
                <a:tab pos="4549140" algn="l"/>
                <a:tab pos="4866640" algn="l"/>
                <a:tab pos="5937885" algn="l"/>
                <a:tab pos="7048500" algn="l"/>
                <a:tab pos="7696200" algn="l"/>
              </a:tabLst>
            </a:pPr>
            <a:r>
              <a:rPr sz="1905" spc="-10" dirty="0">
                <a:solidFill>
                  <a:srgbClr val="FFFFFF"/>
                </a:solidFill>
                <a:latin typeface="Corbel"/>
                <a:cs typeface="Corbel"/>
              </a:rPr>
              <a:t>Project</a:t>
            </a:r>
            <a:r>
              <a:rPr sz="190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905" spc="-10" dirty="0">
                <a:solidFill>
                  <a:srgbClr val="FFFFFF"/>
                </a:solidFill>
                <a:latin typeface="Corbel"/>
                <a:cs typeface="Corbel"/>
              </a:rPr>
              <a:t>managers</a:t>
            </a:r>
            <a:r>
              <a:rPr sz="190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905" spc="-10" dirty="0">
                <a:solidFill>
                  <a:srgbClr val="FFFFFF"/>
                </a:solidFill>
                <a:latin typeface="Corbel"/>
                <a:cs typeface="Corbel"/>
              </a:rPr>
              <a:t>usually</a:t>
            </a:r>
            <a:r>
              <a:rPr sz="190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905" spc="-10" dirty="0">
                <a:solidFill>
                  <a:srgbClr val="FFFFFF"/>
                </a:solidFill>
                <a:latin typeface="Corbel"/>
                <a:cs typeface="Corbel"/>
              </a:rPr>
              <a:t>conduct</a:t>
            </a:r>
            <a:r>
              <a:rPr sz="190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905" spc="-50" dirty="0">
                <a:solidFill>
                  <a:srgbClr val="FFFFFF"/>
                </a:solidFill>
                <a:latin typeface="Corbel"/>
                <a:cs typeface="Corbel"/>
              </a:rPr>
              <a:t>a</a:t>
            </a:r>
            <a:r>
              <a:rPr sz="190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905" spc="-10" dirty="0">
                <a:solidFill>
                  <a:srgbClr val="FFFFFF"/>
                </a:solidFill>
                <a:latin typeface="Corbel"/>
                <a:cs typeface="Corbel"/>
              </a:rPr>
              <a:t>start-</a:t>
            </a:r>
            <a:r>
              <a:rPr sz="1905" spc="-25" dirty="0">
                <a:solidFill>
                  <a:srgbClr val="FFFFFF"/>
                </a:solidFill>
                <a:latin typeface="Corbel"/>
                <a:cs typeface="Corbel"/>
              </a:rPr>
              <a:t>up</a:t>
            </a:r>
            <a:r>
              <a:rPr sz="190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905" spc="-10" dirty="0">
                <a:solidFill>
                  <a:srgbClr val="FFFFFF"/>
                </a:solidFill>
                <a:latin typeface="Corbel"/>
                <a:cs typeface="Corbel"/>
              </a:rPr>
              <a:t>meeting</a:t>
            </a:r>
            <a:r>
              <a:rPr sz="190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905" spc="-20" dirty="0">
                <a:solidFill>
                  <a:srgbClr val="FFFFFF"/>
                </a:solidFill>
                <a:latin typeface="Corbel"/>
                <a:cs typeface="Corbel"/>
              </a:rPr>
              <a:t>that</a:t>
            </a:r>
            <a:r>
              <a:rPr sz="190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905" spc="-25" dirty="0">
                <a:solidFill>
                  <a:srgbClr val="FFFFFF"/>
                </a:solidFill>
                <a:latin typeface="Corbel"/>
                <a:cs typeface="Corbel"/>
              </a:rPr>
              <a:t>is</a:t>
            </a:r>
            <a:endParaRPr sz="1905">
              <a:latin typeface="Corbel"/>
              <a:cs typeface="Corbel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105410" y="918210"/>
            <a:ext cx="1208659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Wingdings" panose="05000000000000000000" charset="0"/>
              <a:buChar char=""/>
            </a:pPr>
            <a:r>
              <a:rPr lang="en-US">
                <a:latin typeface="timesdy)" charset="0"/>
                <a:cs typeface="timesdy)" charset="0"/>
              </a:rPr>
              <a:t>Refers to the strategic coordination of different processes within an organization to ensure that they are all working towards common goals and objectives. </a:t>
            </a:r>
            <a:endParaRPr lang="en-US">
              <a:latin typeface="timesdy)" charset="0"/>
              <a:cs typeface="timesdy)" charset="0"/>
            </a:endParaRPr>
          </a:p>
          <a:p>
            <a:pPr marL="285750" indent="-285750">
              <a:buFont typeface="Wingdings" panose="05000000000000000000" charset="0"/>
              <a:buChar char=""/>
            </a:pPr>
            <a:r>
              <a:rPr lang="en-US">
                <a:latin typeface="timesdy)" charset="0"/>
                <a:cs typeface="timesdy)" charset="0"/>
              </a:rPr>
              <a:t>This involves harmonizing workflows, activities, and resources across departments and functions to optimize performance and enhance overall efficiency and effectiveness.</a:t>
            </a:r>
            <a:endParaRPr lang="en-US">
              <a:latin typeface="timesdy)" charset="0"/>
              <a:cs typeface="timesdy)" charset="0"/>
            </a:endParaRPr>
          </a:p>
        </p:txBody>
      </p:sp>
      <p:pic>
        <p:nvPicPr>
          <p:cNvPr id="12" name="object 2"/>
          <p:cNvPicPr/>
          <p:nvPr/>
        </p:nvPicPr>
        <p:blipFill>
          <a:blip r:embed="rId1" cstate="print"/>
          <a:srcRect b="5657"/>
          <a:stretch>
            <a:fillRect/>
          </a:stretch>
        </p:blipFill>
        <p:spPr>
          <a:xfrm>
            <a:off x="1757045" y="2184400"/>
            <a:ext cx="8783955" cy="453263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9005" y="218440"/>
            <a:ext cx="10843260" cy="688975"/>
          </a:xfrm>
          <a:prstGeom prst="rect">
            <a:avLst/>
          </a:prstGeom>
        </p:spPr>
        <p:txBody>
          <a:bodyPr vert="horz" wrap="square" lIns="0" tIns="12092" rIns="0" bIns="0" rtlCol="0">
            <a:spAutoFit/>
            <a:scene3d>
              <a:camera prst="orthographicFront"/>
              <a:lightRig rig="threePt" dir="t"/>
            </a:scene3d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  <a:tabLst>
                <a:tab pos="1975485" algn="l"/>
                <a:tab pos="2563495" algn="l"/>
                <a:tab pos="4525010" algn="l"/>
              </a:tabLst>
            </a:pPr>
            <a:r>
              <a:rPr b="1" spc="-1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" charset="0"/>
                <a:cs typeface="times" charset="0"/>
              </a:rPr>
              <a:t>Objective</a:t>
            </a:r>
            <a:r>
              <a:rPr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" charset="0"/>
                <a:cs typeface="times" charset="0"/>
              </a:rPr>
              <a:t>	</a:t>
            </a:r>
            <a:r>
              <a:rPr b="1" spc="-25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" charset="0"/>
                <a:cs typeface="times" charset="0"/>
              </a:rPr>
              <a:t>of</a:t>
            </a:r>
            <a:r>
              <a:rPr lang="en-US" b="1" spc="-25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" charset="0"/>
                <a:cs typeface="times" charset="0"/>
              </a:rPr>
              <a:t> </a:t>
            </a:r>
            <a:r>
              <a:rPr b="1" spc="-1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" charset="0"/>
                <a:cs typeface="times" charset="0"/>
              </a:rPr>
              <a:t>Alignment</a:t>
            </a:r>
            <a:r>
              <a:rPr lang="en-US" b="1" spc="-1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" charset="0"/>
                <a:cs typeface="times" charset="0"/>
              </a:rPr>
              <a:t> </a:t>
            </a:r>
            <a:r>
              <a:rPr b="1" spc="-1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" charset="0"/>
                <a:cs typeface="times" charset="0"/>
              </a:rPr>
              <a:t>Process</a:t>
            </a:r>
            <a:endParaRPr b="1" spc="-1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latin typeface="times" charset="0"/>
              <a:cs typeface="times" charset="0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8610600" y="6468745"/>
            <a:ext cx="2743200" cy="140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95"/>
              </a:lnSpc>
            </a:pPr>
            <a:fld id="{81D60167-4931-47E6-BA6A-407CBD079E47}" type="slidenum">
              <a:rPr sz="1090" spc="-25" dirty="0"/>
            </a:fld>
            <a:endParaRPr sz="1090" spc="-25" dirty="0"/>
          </a:p>
        </p:txBody>
      </p:sp>
      <p:sp>
        <p:nvSpPr>
          <p:cNvPr id="7" name="Text Box 6"/>
          <p:cNvSpPr txBox="1"/>
          <p:nvPr/>
        </p:nvSpPr>
        <p:spPr>
          <a:xfrm>
            <a:off x="366395" y="907415"/>
            <a:ext cx="10987405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/>
              <a:t>Strategic Alignment:</a:t>
            </a:r>
            <a:endParaRPr lang="en-US"/>
          </a:p>
          <a:p>
            <a:r>
              <a:rPr lang="en-US"/>
              <a:t>Operational Efficiency: </a:t>
            </a:r>
            <a:endParaRPr lang="en-US"/>
          </a:p>
          <a:p>
            <a:r>
              <a:rPr lang="en-US"/>
              <a:t>Consistency:</a:t>
            </a:r>
            <a:endParaRPr lang="en-US"/>
          </a:p>
          <a:p>
            <a:r>
              <a:rPr lang="en-US"/>
              <a:t>Customer Focus: </a:t>
            </a:r>
            <a:endParaRPr lang="en-US"/>
          </a:p>
          <a:p>
            <a:r>
              <a:rPr lang="en-US"/>
              <a:t>Flexibility and Adaptability: </a:t>
            </a:r>
            <a:endParaRPr lang="en-US"/>
          </a:p>
          <a:p>
            <a:r>
              <a:rPr lang="en-US"/>
              <a:t>Continuous Improvement: </a:t>
            </a:r>
            <a:endParaRPr lang="en-US"/>
          </a:p>
          <a:p>
            <a:r>
              <a:rPr lang="en-US"/>
              <a:t>Risk Management: </a:t>
            </a:r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2475" y="224790"/>
            <a:ext cx="11170920" cy="688975"/>
          </a:xfrm>
          <a:prstGeom prst="rect">
            <a:avLst/>
          </a:prstGeom>
        </p:spPr>
        <p:txBody>
          <a:bodyPr vert="horz" wrap="square" lIns="0" tIns="12092" rIns="0" bIns="0" rtlCol="0">
            <a:spAutoFit/>
            <a:scene3d>
              <a:camera prst="orthographicFront"/>
              <a:lightRig rig="threePt" dir="t"/>
            </a:scene3d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  <a:tabLst>
                <a:tab pos="1975485" algn="l"/>
                <a:tab pos="2563495" algn="l"/>
                <a:tab pos="3936365" algn="l"/>
                <a:tab pos="6094730" algn="l"/>
              </a:tabLst>
            </a:pPr>
            <a:r>
              <a:rPr b="1" spc="-1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Framework</a:t>
            </a:r>
            <a:r>
              <a:rPr lang="en-US" b="1" spc="-1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 </a:t>
            </a:r>
            <a:r>
              <a:rPr b="1" spc="-25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to</a:t>
            </a:r>
            <a:r>
              <a:rPr lang="en-US" b="1" spc="-25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 </a:t>
            </a:r>
            <a:r>
              <a:rPr b="1" spc="-1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manage</a:t>
            </a:r>
            <a:r>
              <a:rPr lang="en-US" b="1" spc="-1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 </a:t>
            </a:r>
            <a:r>
              <a:rPr b="1" spc="-1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integrated</a:t>
            </a:r>
            <a:r>
              <a:rPr lang="en-US" b="1" spc="-1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 </a:t>
            </a:r>
            <a:r>
              <a:rPr b="1" spc="-1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change</a:t>
            </a:r>
            <a:endParaRPr b="1" spc="-1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8610600" y="6468745"/>
            <a:ext cx="2743200" cy="140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95"/>
              </a:lnSpc>
            </a:pPr>
            <a:fld id="{81D60167-4931-47E6-BA6A-407CBD079E47}" type="slidenum">
              <a:rPr sz="1090" spc="-25" dirty="0"/>
            </a:fld>
            <a:endParaRPr sz="1090"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2521214" y="2195486"/>
            <a:ext cx="7144758" cy="598170"/>
          </a:xfrm>
          <a:prstGeom prst="rect">
            <a:avLst/>
          </a:prstGeom>
        </p:spPr>
        <p:txBody>
          <a:bodyPr vert="horz" wrap="square" lIns="0" tIns="11516" rIns="0" bIns="0" rtlCol="0">
            <a:spAutoFit/>
          </a:bodyPr>
          <a:lstStyle/>
          <a:p>
            <a:pPr marL="253365" indent="-240665">
              <a:lnSpc>
                <a:spcPct val="100000"/>
              </a:lnSpc>
              <a:spcBef>
                <a:spcPts val="100"/>
              </a:spcBef>
              <a:buFont typeface="Microsoft Sans Serif" panose="020B0604020202020204"/>
              <a:buChar char="▪"/>
              <a:tabLst>
                <a:tab pos="253365" algn="l"/>
              </a:tabLst>
            </a:pPr>
            <a:r>
              <a:rPr sz="1905" dirty="0">
                <a:solidFill>
                  <a:srgbClr val="FFFFFF"/>
                </a:solidFill>
                <a:latin typeface="Corbel"/>
                <a:cs typeface="Corbel"/>
              </a:rPr>
              <a:t>Change</a:t>
            </a:r>
            <a:r>
              <a:rPr sz="1905" spc="7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905" dirty="0">
                <a:solidFill>
                  <a:srgbClr val="FFFFFF"/>
                </a:solidFill>
                <a:latin typeface="Corbel"/>
                <a:cs typeface="Corbel"/>
              </a:rPr>
              <a:t>management</a:t>
            </a:r>
            <a:r>
              <a:rPr sz="1905" spc="7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905" dirty="0">
                <a:solidFill>
                  <a:srgbClr val="FFFFFF"/>
                </a:solidFill>
                <a:latin typeface="Corbel"/>
                <a:cs typeface="Corbel"/>
              </a:rPr>
              <a:t>is</a:t>
            </a:r>
            <a:r>
              <a:rPr sz="1905" spc="7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905" dirty="0">
                <a:solidFill>
                  <a:srgbClr val="FFFFFF"/>
                </a:solidFill>
                <a:latin typeface="Corbel"/>
                <a:cs typeface="Corbel"/>
              </a:rPr>
              <a:t>an</a:t>
            </a:r>
            <a:r>
              <a:rPr sz="1905" spc="8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905" dirty="0">
                <a:solidFill>
                  <a:srgbClr val="FFFFFF"/>
                </a:solidFill>
                <a:latin typeface="Corbel"/>
                <a:cs typeface="Corbel"/>
              </a:rPr>
              <a:t>organized,</a:t>
            </a:r>
            <a:r>
              <a:rPr sz="1905" spc="7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905" dirty="0">
                <a:solidFill>
                  <a:srgbClr val="FFFFFF"/>
                </a:solidFill>
                <a:latin typeface="Corbel"/>
                <a:cs typeface="Corbel"/>
              </a:rPr>
              <a:t>systematic</a:t>
            </a:r>
            <a:r>
              <a:rPr sz="1905" spc="7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905" dirty="0">
                <a:solidFill>
                  <a:srgbClr val="FFFFFF"/>
                </a:solidFill>
                <a:latin typeface="Corbel"/>
                <a:cs typeface="Corbel"/>
              </a:rPr>
              <a:t>application</a:t>
            </a:r>
            <a:r>
              <a:rPr sz="1905" spc="7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905" dirty="0">
                <a:solidFill>
                  <a:srgbClr val="FFFFFF"/>
                </a:solidFill>
                <a:latin typeface="Corbel"/>
                <a:cs typeface="Corbel"/>
              </a:rPr>
              <a:t>of</a:t>
            </a:r>
            <a:r>
              <a:rPr sz="1905" spc="8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905" spc="-25" dirty="0">
                <a:solidFill>
                  <a:srgbClr val="FFFFFF"/>
                </a:solidFill>
                <a:latin typeface="Corbel"/>
                <a:cs typeface="Corbel"/>
              </a:rPr>
              <a:t>the</a:t>
            </a:r>
            <a:endParaRPr sz="1905">
              <a:latin typeface="Corbel"/>
              <a:cs typeface="Corbel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22225" y="1063625"/>
            <a:ext cx="12147550" cy="28613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Wingdings" panose="05000000000000000000" charset="0"/>
              <a:buChar char=""/>
            </a:pPr>
            <a:r>
              <a:rPr lang="en-US"/>
              <a:t>Vision and Strategy: </a:t>
            </a:r>
            <a:endParaRPr lang="en-US"/>
          </a:p>
          <a:p>
            <a:pPr marL="285750" indent="-285750">
              <a:buFont typeface="Wingdings" panose="05000000000000000000" charset="0"/>
              <a:buChar char=""/>
            </a:pPr>
            <a:r>
              <a:rPr lang="en-US"/>
              <a:t>Change Leadership: </a:t>
            </a:r>
            <a:endParaRPr lang="en-US"/>
          </a:p>
          <a:p>
            <a:pPr marL="285750" indent="-285750">
              <a:buFont typeface="Wingdings" panose="05000000000000000000" charset="0"/>
              <a:buChar char=""/>
            </a:pPr>
            <a:r>
              <a:rPr lang="en-US"/>
              <a:t>Stakeholder Engagement:</a:t>
            </a:r>
            <a:endParaRPr lang="en-US"/>
          </a:p>
          <a:p>
            <a:pPr marL="285750" indent="-285750">
              <a:buFont typeface="Wingdings" panose="05000000000000000000" charset="0"/>
              <a:buChar char=""/>
            </a:pPr>
            <a:r>
              <a:rPr lang="en-US"/>
              <a:t>Change Impact Assessment:</a:t>
            </a:r>
            <a:endParaRPr lang="en-US"/>
          </a:p>
          <a:p>
            <a:pPr marL="285750" indent="-285750">
              <a:buFont typeface="Wingdings" panose="05000000000000000000" charset="0"/>
              <a:buChar char=""/>
            </a:pPr>
            <a:r>
              <a:rPr lang="en-US"/>
              <a:t>Change Planning and Execution: </a:t>
            </a:r>
            <a:endParaRPr lang="en-US"/>
          </a:p>
          <a:p>
            <a:pPr marL="285750" indent="-285750">
              <a:buFont typeface="Wingdings" panose="05000000000000000000" charset="0"/>
              <a:buChar char=""/>
            </a:pPr>
            <a:r>
              <a:rPr lang="en-US"/>
              <a:t>Communication and Training:</a:t>
            </a:r>
            <a:endParaRPr lang="en-US"/>
          </a:p>
          <a:p>
            <a:pPr marL="285750" indent="-285750">
              <a:buFont typeface="Wingdings" panose="05000000000000000000" charset="0"/>
              <a:buChar char=""/>
            </a:pPr>
            <a:r>
              <a:rPr lang="en-US"/>
              <a:t>Risk Management:</a:t>
            </a:r>
            <a:endParaRPr lang="en-US"/>
          </a:p>
          <a:p>
            <a:pPr marL="285750" indent="-285750">
              <a:buFont typeface="Wingdings" panose="05000000000000000000" charset="0"/>
              <a:buChar char=""/>
            </a:pPr>
            <a:r>
              <a:rPr lang="en-US"/>
              <a:t>Measurement and Evaluation: </a:t>
            </a:r>
            <a:endParaRPr lang="en-US"/>
          </a:p>
          <a:p>
            <a:pPr marL="285750" indent="-285750">
              <a:buFont typeface="Wingdings" panose="05000000000000000000" charset="0"/>
              <a:buChar char=""/>
            </a:pPr>
            <a:r>
              <a:rPr lang="en-US"/>
              <a:t>Continuous Improvement:</a:t>
            </a:r>
            <a:endParaRPr lang="en-US"/>
          </a:p>
          <a:p>
            <a:pPr marL="285750" indent="-285750">
              <a:buFont typeface="Wingdings" panose="05000000000000000000" charset="0"/>
              <a:buChar char=""/>
            </a:pPr>
            <a:r>
              <a:rPr lang="en-US"/>
              <a:t>Sustainability and Embedding:</a:t>
            </a:r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38525" y="-317"/>
            <a:ext cx="5683250" cy="688975"/>
          </a:xfrm>
          <a:prstGeom prst="rect">
            <a:avLst/>
          </a:prstGeom>
        </p:spPr>
        <p:txBody>
          <a:bodyPr vert="horz" wrap="square" lIns="0" tIns="12092" rIns="0" bIns="0" rtlCol="0">
            <a:spAutoFit/>
            <a:scene3d>
              <a:camera prst="orthographicFront"/>
              <a:lightRig rig="threePt" dir="t"/>
            </a:scene3d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  <a:tabLst>
                <a:tab pos="1385570" algn="l"/>
              </a:tabLst>
            </a:pPr>
            <a:r>
              <a:rPr b="1" spc="-1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Future</a:t>
            </a:r>
            <a:r>
              <a:rPr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rPr>
              <a:t>	</a:t>
            </a:r>
            <a:r>
              <a:rPr b="1" spc="-1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Trends</a:t>
            </a:r>
            <a:endParaRPr b="1" spc="-1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8610600" y="6468745"/>
            <a:ext cx="2743200" cy="140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95"/>
              </a:lnSpc>
            </a:pPr>
            <a:fld id="{81D60167-4931-47E6-BA6A-407CBD079E47}" type="slidenum">
              <a:rPr sz="1090" spc="-25" dirty="0"/>
            </a:fld>
            <a:endParaRPr sz="1090"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695325" y="937260"/>
            <a:ext cx="8426450" cy="3319145"/>
          </a:xfrm>
          <a:prstGeom prst="rect">
            <a:avLst/>
          </a:prstGeom>
        </p:spPr>
        <p:txBody>
          <a:bodyPr vert="horz" wrap="square" lIns="0" tIns="13589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t>Some example EMS by using the following future trends:</a:t>
            </a:r>
          </a:p>
          <a:p>
            <a:pPr marL="253365" indent="-240665">
              <a:lnSpc>
                <a:spcPct val="100000"/>
              </a:lnSpc>
              <a:spcBef>
                <a:spcPts val="1080"/>
              </a:spcBef>
              <a:buFont typeface="Microsoft Sans Serif" panose="020B0604020202020204"/>
              <a:buChar char="▪"/>
              <a:tabLst>
                <a:tab pos="253365" algn="l"/>
              </a:tabLst>
            </a:pPr>
            <a:r>
              <a:t>Artificial Intelligence</a:t>
            </a:r>
          </a:p>
          <a:p>
            <a:pPr marL="253365" indent="-240665">
              <a:lnSpc>
                <a:spcPct val="100000"/>
              </a:lnSpc>
              <a:spcBef>
                <a:spcPts val="1080"/>
              </a:spcBef>
              <a:buFont typeface="Microsoft Sans Serif" panose="020B0604020202020204"/>
              <a:buChar char="▪"/>
              <a:tabLst>
                <a:tab pos="253365" algn="l"/>
              </a:tabLst>
            </a:pPr>
            <a:r>
              <a:t>Neural Network</a:t>
            </a:r>
          </a:p>
          <a:p>
            <a:pPr marL="253365" indent="-240665">
              <a:lnSpc>
                <a:spcPct val="100000"/>
              </a:lnSpc>
              <a:spcBef>
                <a:spcPts val="1080"/>
              </a:spcBef>
              <a:buFont typeface="Microsoft Sans Serif" panose="020B0604020202020204"/>
              <a:buChar char="▪"/>
              <a:tabLst>
                <a:tab pos="253365" algn="l"/>
              </a:tabLst>
            </a:pPr>
            <a:r>
              <a:t>Expert System</a:t>
            </a:r>
          </a:p>
          <a:p>
            <a:pPr marL="253365" indent="-240665">
              <a:lnSpc>
                <a:spcPct val="100000"/>
              </a:lnSpc>
              <a:spcBef>
                <a:spcPts val="1080"/>
              </a:spcBef>
              <a:buFont typeface="Microsoft Sans Serif" panose="020B0604020202020204"/>
              <a:buChar char="▪"/>
              <a:tabLst>
                <a:tab pos="253365" algn="l"/>
              </a:tabLst>
            </a:pPr>
            <a:r>
              <a:t>Genetic Algorithm</a:t>
            </a:r>
          </a:p>
          <a:p>
            <a:pPr marL="253365" indent="-240665">
              <a:lnSpc>
                <a:spcPct val="100000"/>
              </a:lnSpc>
              <a:spcBef>
                <a:spcPts val="1065"/>
              </a:spcBef>
              <a:buFont typeface="Microsoft Sans Serif" panose="020B0604020202020204"/>
              <a:buChar char="▪"/>
              <a:tabLst>
                <a:tab pos="253365" algn="l"/>
              </a:tabLst>
            </a:pPr>
            <a:r>
              <a:t>Data Warehousing and Data Mining</a:t>
            </a:r>
          </a:p>
          <a:p>
            <a:pPr marL="253365" indent="-240665">
              <a:lnSpc>
                <a:spcPct val="100000"/>
              </a:lnSpc>
              <a:spcBef>
                <a:spcPts val="1080"/>
              </a:spcBef>
              <a:buFont typeface="Microsoft Sans Serif" panose="020B0604020202020204"/>
              <a:buChar char="▪"/>
              <a:tabLst>
                <a:tab pos="253365" algn="l"/>
              </a:tabLst>
            </a:pPr>
            <a:r>
              <a:t>Web Mining</a:t>
            </a:r>
          </a:p>
          <a:p>
            <a:pPr marL="253365" indent="-240665">
              <a:lnSpc>
                <a:spcPct val="100000"/>
              </a:lnSpc>
              <a:spcBef>
                <a:spcPts val="1080"/>
              </a:spcBef>
              <a:buFont typeface="Microsoft Sans Serif" panose="020B0604020202020204"/>
              <a:buChar char="▪"/>
              <a:tabLst>
                <a:tab pos="253365" algn="l"/>
              </a:tabLst>
            </a:pPr>
            <a:r>
              <a:t>Cloud </a:t>
            </a:r>
            <a:r>
              <a:t>Computing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216701" y="3075057"/>
            <a:ext cx="975859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of UNIT 3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9431</Words>
  <Application>WPS Presentation</Application>
  <PresentationFormat>Widescreen</PresentationFormat>
  <Paragraphs>318</Paragraphs>
  <Slides>46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0</vt:i4>
      </vt:variant>
      <vt:variant>
        <vt:lpstr>幻灯片标题</vt:lpstr>
      </vt:variant>
      <vt:variant>
        <vt:i4>46</vt:i4>
      </vt:variant>
    </vt:vector>
  </HeadingPairs>
  <TitlesOfParts>
    <vt:vector size="70" baseType="lpstr">
      <vt:lpstr>Arial</vt:lpstr>
      <vt:lpstr>SimSun</vt:lpstr>
      <vt:lpstr>Wingdings</vt:lpstr>
      <vt:lpstr>Times New Roman</vt:lpstr>
      <vt:lpstr>Microsoft Sans Serif</vt:lpstr>
      <vt:lpstr>Corbel</vt:lpstr>
      <vt:lpstr>Thonburi</vt:lpstr>
      <vt:lpstr>Times New Roman</vt:lpstr>
      <vt:lpstr>Times New Roman Bold</vt:lpstr>
      <vt:lpstr>Wingdings</vt:lpstr>
      <vt:lpstr>times</vt:lpstr>
      <vt:lpstr>苹方-简</vt:lpstr>
      <vt:lpstr>Consolas</vt:lpstr>
      <vt:lpstr>tim</vt:lpstr>
      <vt:lpstr>Microsoft YaHei</vt:lpstr>
      <vt:lpstr>汉仪旗黑</vt:lpstr>
      <vt:lpstr>Arial Unicode MS</vt:lpstr>
      <vt:lpstr>Calibri Light</vt:lpstr>
      <vt:lpstr>Helvetica Neue</vt:lpstr>
      <vt:lpstr>Calibri</vt:lpstr>
      <vt:lpstr>宋体-简</vt:lpstr>
      <vt:lpstr>timesdy)</vt:lpstr>
      <vt:lpstr>Office Theme</vt:lpstr>
      <vt:lpstr>1_Office Theme</vt:lpstr>
      <vt:lpstr>                                UNIT 3   ENTERPRISE MANAGEMENT SYSTEM </vt:lpstr>
      <vt:lpstr>OUTLINES</vt:lpstr>
      <vt:lpstr>ENTERPRISE MANAGEMENT SYSTEM (EMS)</vt:lpstr>
      <vt:lpstr>FOUR MAJOR COMPONENTS OF EMS</vt:lpstr>
      <vt:lpstr>ENTERPRISE SOFTWARE: ERP/SCM/CRM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CRM STRATEGIES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Technology of Enterprise Software</vt:lpstr>
      <vt:lpstr>Services Provided by Enterprise Applications</vt:lpstr>
      <vt:lpstr>IT and IS </vt:lpstr>
      <vt:lpstr>IS vs IT</vt:lpstr>
      <vt:lpstr>Role of	IS	 in Enterprise Management</vt:lpstr>
      <vt:lpstr>Enterprise Engineering</vt:lpstr>
      <vt:lpstr>Two questions Enterprise Engineers always ask</vt:lpstr>
      <vt:lpstr>What	do Enterprise Engineers do?</vt:lpstr>
      <vt:lpstr>Goal of the Enterprise Engineer</vt:lpstr>
      <vt:lpstr>Electronic  Organism or	Digital Organism</vt:lpstr>
      <vt:lpstr>Need for Enterprise Integration</vt:lpstr>
      <vt:lpstr>Basic principles	for	integration</vt:lpstr>
      <vt:lpstr>Types	of Integration</vt:lpstr>
      <vt:lpstr>Loose Integration vs. Full Integration</vt:lpstr>
      <vt:lpstr>Process Alignment</vt:lpstr>
      <vt:lpstr>Objective	of Alignment Process</vt:lpstr>
      <vt:lpstr>Framework to manage integrated change</vt:lpstr>
      <vt:lpstr>Future	Trends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E-Business</dc:title>
  <dc:creator>Harendra Bikram Shah</dc:creator>
  <cp:lastModifiedBy>hbs</cp:lastModifiedBy>
  <cp:revision>160</cp:revision>
  <dcterms:created xsi:type="dcterms:W3CDTF">2024-05-18T06:30:45Z</dcterms:created>
  <dcterms:modified xsi:type="dcterms:W3CDTF">2024-05-18T06:30:45Z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1033-5.7.1.8093</vt:lpwstr>
  </property>
</Properties>
</file>