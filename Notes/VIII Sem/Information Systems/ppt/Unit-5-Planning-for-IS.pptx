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8" r:id="rId5"/>
    <p:sldId id="271" r:id="rId6"/>
    <p:sldId id="269" r:id="rId7"/>
    <p:sldId id="270" r:id="rId8"/>
    <p:sldId id="273" r:id="rId9"/>
    <p:sldId id="275" r:id="rId10"/>
    <p:sldId id="276" r:id="rId11"/>
    <p:sldId id="278" r:id="rId12"/>
    <p:sldId id="279" r:id="rId13"/>
    <p:sldId id="280" r:id="rId14"/>
    <p:sldId id="281" r:id="rId15"/>
    <p:sldId id="283" r:id="rId16"/>
    <p:sldId id="284" r:id="rId17"/>
    <p:sldId id="285" r:id="rId18"/>
    <p:sldId id="286" r:id="rId19"/>
    <p:sldId id="288" r:id="rId20"/>
    <p:sldId id="289" r:id="rId21"/>
    <p:sldId id="290" r:id="rId22"/>
    <p:sldId id="291" r:id="rId23"/>
    <p:sldId id="26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9080"/>
            <a:ext cx="12084050" cy="1954530"/>
          </a:xfrm>
        </p:spPr>
        <p:txBody>
          <a:bodyPr>
            <a:noAutofit/>
          </a:bodyPr>
          <a:lstStyle/>
          <a:p>
            <a:b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IN" sz="6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Unit 5 </a:t>
            </a:r>
            <a:br>
              <a:rPr lang="en-US" altLang="en-IN" sz="6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PLANNING FOR IS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  <a:endParaRPr lang="en-GB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endParaRPr lang="en-GB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 Computer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85315" y="1928398"/>
            <a:ext cx="1967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</a:t>
            </a:r>
            <a:r>
              <a:rPr lang="en-US" alt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2080" y="1199515"/>
            <a:ext cx="40735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38150" indent="-285750" algn="l">
              <a:buFont typeface="Wingdings" panose="05000000000000000000" charset="0"/>
              <a:buChar char=""/>
            </a:pPr>
            <a:r>
              <a:rPr lang="en-IN"/>
              <a:t>strategic information System</a:t>
            </a:r>
            <a:endParaRPr lang="en-IN"/>
          </a:p>
          <a:p>
            <a:pPr marL="438150" indent="-285750" algn="l">
              <a:buFont typeface="Wingdings" panose="05000000000000000000" charset="0"/>
              <a:buChar char=""/>
            </a:pPr>
            <a:r>
              <a:rPr lang="en-IN"/>
              <a:t>Tactical Information System</a:t>
            </a:r>
            <a:endParaRPr lang="en-IN"/>
          </a:p>
          <a:p>
            <a:pPr marL="438150" indent="-285750" algn="l">
              <a:buFont typeface="Wingdings" panose="05000000000000000000" charset="0"/>
              <a:buChar char=""/>
            </a:pPr>
            <a:r>
              <a:rPr lang="en-IN"/>
              <a:t>Operational Information System</a:t>
            </a:r>
            <a:endParaRPr lang="en-IN"/>
          </a:p>
          <a:p>
            <a:pPr marL="152400" algn="l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0805"/>
            <a:ext cx="9144000" cy="927735"/>
          </a:xfrm>
        </p:spPr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alt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620" y="1018540"/>
            <a:ext cx="11290300" cy="13271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3365" marR="5715" indent="-241300">
              <a:lnSpc>
                <a:spcPts val="2270"/>
              </a:lnSpc>
              <a:spcBef>
                <a:spcPts val="380"/>
              </a:spcBef>
              <a:buChar char="▪"/>
              <a:tabLst>
                <a:tab pos="253365" algn="l"/>
              </a:tabLst>
            </a:pPr>
            <a:r>
              <a:t>Planning is the first primary function of management that precedes all other functions.</a:t>
            </a:r>
          </a:p>
          <a:p>
            <a:pPr marL="253365" marR="7620" indent="-241300">
              <a:lnSpc>
                <a:spcPts val="2280"/>
              </a:lnSpc>
              <a:spcBef>
                <a:spcPts val="1575"/>
              </a:spcBef>
              <a:buChar char="▪"/>
              <a:tabLst>
                <a:tab pos="253365" algn="l"/>
              </a:tabLst>
            </a:pPr>
            <a:r>
              <a:t>The planning function involves the decision of what to do and how it is to be done?</a:t>
            </a:r>
          </a:p>
          <a:p>
            <a:pPr marL="253365" marR="5080" indent="-241300">
              <a:lnSpc>
                <a:spcPts val="2270"/>
              </a:lnSpc>
              <a:spcBef>
                <a:spcPts val="1580"/>
              </a:spcBef>
              <a:buChar char="▪"/>
              <a:tabLst>
                <a:tab pos="253365" algn="l"/>
                <a:tab pos="671830" algn="l"/>
                <a:tab pos="2872105" algn="l"/>
                <a:tab pos="3296285" algn="l"/>
                <a:tab pos="3650615" algn="l"/>
                <a:tab pos="4298950" algn="l"/>
                <a:tab pos="5456555" algn="l"/>
                <a:tab pos="5867400" algn="l"/>
                <a:tab pos="6955155" algn="l"/>
                <a:tab pos="7499350" algn="l"/>
              </a:tabLst>
            </a:pPr>
            <a:r>
              <a:t>So	managers focus a</a:t>
            </a:r>
            <a:r>
              <a:rPr lang="en-US"/>
              <a:t>  </a:t>
            </a:r>
            <a:r>
              <a:t>lot</a:t>
            </a:r>
            <a:r>
              <a:rPr lang="en-US"/>
              <a:t> </a:t>
            </a:r>
            <a:r>
              <a:t>of	their</a:t>
            </a:r>
            <a:r>
              <a:rPr lang="en-US"/>
              <a:t> </a:t>
            </a:r>
            <a:r>
              <a:t>attention</a:t>
            </a:r>
            <a:r>
              <a:rPr lang="en-US"/>
              <a:t> </a:t>
            </a:r>
            <a:r>
              <a:t>on</a:t>
            </a:r>
            <a:r>
              <a:rPr lang="en-US"/>
              <a:t> </a:t>
            </a:r>
            <a:r>
              <a:t>planning</a:t>
            </a:r>
            <a:r>
              <a:rPr lang="en-US"/>
              <a:t> </a:t>
            </a:r>
            <a:r>
              <a:t>and</a:t>
            </a:r>
            <a:r>
              <a:rPr lang="en-US"/>
              <a:t> </a:t>
            </a:r>
            <a:r>
              <a:t>the planning process.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12792" t="39126" r="11592"/>
          <a:stretch>
            <a:fillRect/>
          </a:stretch>
        </p:blipFill>
        <p:spPr>
          <a:xfrm>
            <a:off x="2535555" y="2692400"/>
            <a:ext cx="7403465" cy="3311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0805"/>
            <a:ext cx="9144000" cy="927735"/>
          </a:xfrm>
        </p:spPr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alt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5255" y="1384935"/>
            <a:ext cx="12056745" cy="2445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base">
              <a:buFont typeface="Wingdings" panose="05000000000000000000" charset="0"/>
              <a:buChar char=""/>
            </a:pPr>
            <a:r>
              <a:rPr lang="en-US" dirty="0" smtClean="0">
                <a:sym typeface="+mn-ea"/>
              </a:rPr>
              <a:t>Formal process that develops plan for developing and managing information systems that will support goals of an organization.</a:t>
            </a:r>
            <a:endParaRPr lang="en-US" dirty="0" smtClean="0">
              <a:sym typeface="+mn-ea"/>
            </a:endParaRPr>
          </a:p>
          <a:p>
            <a:pPr indent="0" fontAlgn="base">
              <a:buFont typeface="Wingdings" panose="05000000000000000000" charset="0"/>
              <a:buNone/>
            </a:pPr>
            <a:endParaRPr lang="en-US" dirty="0" smtClean="0"/>
          </a:p>
          <a:p>
            <a:pPr lvl="1"/>
            <a:r>
              <a:rPr lang="en-US" dirty="0" smtClean="0">
                <a:sym typeface="+mn-ea"/>
              </a:rPr>
              <a:t>Information System plan includes:</a:t>
            </a:r>
            <a:endParaRPr lang="en-US" dirty="0" smtClean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Activities planner believes will help achieve goals.</a:t>
            </a:r>
            <a:endParaRPr lang="en-US" dirty="0" smtClean="0">
              <a:sym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Program for monitoring real-world progress</a:t>
            </a:r>
            <a:endParaRPr lang="en-US" dirty="0" smtClean="0">
              <a:sym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Means for implementing changes in the plan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0805"/>
            <a:ext cx="9144000" cy="927735"/>
          </a:xfrm>
        </p:spPr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Plan</a:t>
            </a:r>
            <a:endParaRPr lang="en-US" alt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0" y="1183640"/>
            <a:ext cx="12191365" cy="40538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p>
            <a:pPr marL="253365" indent="-240665">
              <a:lnSpc>
                <a:spcPct val="100000"/>
              </a:lnSpc>
              <a:spcBef>
                <a:spcPts val="110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is looking into the future.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100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involves pre-determined line of action.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99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discovers the best alternative out of available many alternatives.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1000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requires considerable time for implementation.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99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is a continuous process.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99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Planning’s object is to achieve pre-determined objectives in a better way.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99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integrates various activities of organization.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99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is done for a specific period.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marR="5080" indent="-241300">
              <a:lnSpc>
                <a:spcPct val="71000"/>
              </a:lnSpc>
              <a:spcBef>
                <a:spcPts val="157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not only selects the objectives but also develops policies, programmed and procedures to achieve the objectives.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995"/>
              </a:spcBef>
              <a:buChar char="▪"/>
              <a:tabLst>
                <a:tab pos="253365" algn="l"/>
              </a:tabLst>
            </a:pPr>
            <a:r>
              <a:rPr>
                <a:latin typeface="Times New Roman Regular" panose="02020603050405020304" charset="0"/>
                <a:cs typeface="Times New Roman Regular" panose="02020603050405020304" charset="0"/>
              </a:rPr>
              <a:t>Planning is required at all levels of management.</a:t>
            </a:r>
            <a:endParaRPr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0805"/>
            <a:ext cx="9144000" cy="927735"/>
          </a:xfrm>
        </p:spPr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Plan</a:t>
            </a:r>
            <a:endParaRPr lang="en-US" alt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7840"/>
          <a:stretch>
            <a:fillRect/>
          </a:stretch>
        </p:blipFill>
        <p:spPr>
          <a:xfrm>
            <a:off x="1333500" y="1398270"/>
            <a:ext cx="9525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515"/>
            <a:ext cx="10515600" cy="89598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800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Why Plan?</a:t>
            </a:r>
            <a:endParaRPr lang="en-US" sz="4800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383665"/>
            <a:ext cx="11988165" cy="4351655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To obtain resources </a:t>
            </a:r>
            <a:endParaRPr lang="en-US" dirty="0" smtClean="0"/>
          </a:p>
          <a:p>
            <a:pPr lvl="1" fontAlgn="base"/>
            <a:r>
              <a:rPr lang="en-US" dirty="0" smtClean="0"/>
              <a:t>Financial </a:t>
            </a:r>
            <a:endParaRPr lang="en-US" dirty="0" smtClean="0"/>
          </a:p>
          <a:p>
            <a:pPr lvl="1" fontAlgn="base"/>
            <a:r>
              <a:rPr lang="en-US" dirty="0" smtClean="0"/>
              <a:t>Facilities – “Capacity planning” </a:t>
            </a:r>
            <a:endParaRPr lang="en-US" dirty="0" smtClean="0"/>
          </a:p>
          <a:p>
            <a:pPr lvl="1" fontAlgn="base"/>
            <a:r>
              <a:rPr lang="en-US" dirty="0" smtClean="0"/>
              <a:t>Staff </a:t>
            </a:r>
            <a:endParaRPr lang="en-US" dirty="0" smtClean="0"/>
          </a:p>
          <a:p>
            <a:pPr fontAlgn="base"/>
            <a:r>
              <a:rPr lang="en-US" dirty="0" smtClean="0"/>
              <a:t>To align Information System with the business </a:t>
            </a:r>
            <a:endParaRPr lang="en-US" dirty="0" smtClean="0"/>
          </a:p>
          <a:p>
            <a:pPr fontAlgn="base"/>
            <a:r>
              <a:rPr lang="en-US" dirty="0" smtClean="0"/>
              <a:t>To identify needed applications </a:t>
            </a:r>
            <a:endParaRPr lang="en-US" dirty="0" smtClean="0"/>
          </a:p>
          <a:p>
            <a:pPr fontAlgn="base"/>
            <a:r>
              <a:rPr lang="en-US" dirty="0" smtClean="0"/>
              <a:t>To establish goal, schedule, and milestone in order to track progress </a:t>
            </a:r>
            <a:endParaRPr lang="en-US" dirty="0" smtClean="0"/>
          </a:p>
          <a:p>
            <a:pPr fontAlgn="base"/>
            <a:r>
              <a:rPr lang="en-US" dirty="0" smtClean="0"/>
              <a:t>To provide an opportunity for communication with top management and user management</a:t>
            </a:r>
            <a:endParaRPr lang="en-US" dirty="0" smtClean="0"/>
          </a:p>
          <a:p>
            <a:pPr fontAlgn="base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04140"/>
            <a:ext cx="10515600" cy="71374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dirty="0" smtClean="0"/>
              <a:t> </a:t>
            </a:r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Approaches to Planning</a:t>
            </a:r>
            <a:endParaRPr lang="en-US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630" y="1252855"/>
            <a:ext cx="11670665" cy="2097405"/>
          </a:xfrm>
        </p:spPr>
        <p:txBody>
          <a:bodyPr/>
          <a:lstStyle/>
          <a:p>
            <a:r>
              <a:rPr lang="en-US"/>
              <a:t>Top-down Planning</a:t>
            </a:r>
            <a:endParaRPr lang="en-US" sz="2800"/>
          </a:p>
          <a:p>
            <a:pPr lvl="1"/>
            <a:r>
              <a:rPr lang="en-US"/>
              <a:t>Focuses on organizational goals first, then on the needs of business units</a:t>
            </a:r>
            <a:endParaRPr lang="en-US" sz="2400"/>
          </a:p>
          <a:p>
            <a:r>
              <a:rPr lang="en-US"/>
              <a:t>Bottom-up Planning</a:t>
            </a:r>
            <a:endParaRPr lang="en-US" sz="2800"/>
          </a:p>
          <a:p>
            <a:pPr lvl="1"/>
            <a:r>
              <a:rPr lang="en-US"/>
              <a:t>Focuses on needs of business units first, then on organizational goals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655"/>
            <a:ext cx="10515600" cy="804545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Information System Planning Process</a:t>
            </a:r>
            <a:endParaRPr lang="en-US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965200"/>
            <a:ext cx="12192635" cy="3174365"/>
          </a:xfrm>
        </p:spPr>
        <p:txBody>
          <a:bodyPr/>
          <a:lstStyle/>
          <a:p>
            <a:pPr fontAlgn="base"/>
            <a:r>
              <a:rPr lang="en-US" dirty="0" smtClean="0"/>
              <a:t>Establish a mission statement </a:t>
            </a:r>
            <a:endParaRPr lang="en-US" dirty="0" smtClean="0"/>
          </a:p>
          <a:p>
            <a:pPr fontAlgn="base"/>
            <a:r>
              <a:rPr lang="en-US" dirty="0" smtClean="0"/>
              <a:t>Assess the environment </a:t>
            </a:r>
            <a:endParaRPr lang="en-US" dirty="0" smtClean="0"/>
          </a:p>
          <a:p>
            <a:pPr fontAlgn="base"/>
            <a:r>
              <a:rPr lang="en-US" dirty="0" smtClean="0"/>
              <a:t>Set goals and objectives </a:t>
            </a:r>
            <a:endParaRPr lang="en-US" dirty="0" smtClean="0"/>
          </a:p>
          <a:p>
            <a:pPr fontAlgn="base"/>
            <a:r>
              <a:rPr lang="en-US" dirty="0" smtClean="0"/>
              <a:t>Derive strategies and policies </a:t>
            </a:r>
            <a:endParaRPr lang="en-US" dirty="0" smtClean="0"/>
          </a:p>
          <a:p>
            <a:pPr fontAlgn="base"/>
            <a:r>
              <a:rPr lang="en-US" dirty="0" smtClean="0"/>
              <a:t>Develop long-, medium-, and short-range plans </a:t>
            </a:r>
            <a:endParaRPr lang="en-US" dirty="0" smtClean="0"/>
          </a:p>
          <a:p>
            <a:pPr fontAlgn="base"/>
            <a:r>
              <a:rPr lang="en-US" dirty="0" smtClean="0"/>
              <a:t>Implement plans and monitor results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2" name="Rectangle 6"/>
          <p:cNvSpPr>
            <a:spLocks noGrp="1" noChangeArrowheads="1"/>
          </p:cNvSpPr>
          <p:nvPr>
            <p:ph type="title"/>
          </p:nvPr>
        </p:nvSpPr>
        <p:spPr>
          <a:xfrm>
            <a:off x="344170" y="248285"/>
            <a:ext cx="11661775" cy="75946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What are Key Elements of </a:t>
            </a:r>
            <a:r>
              <a:rPr lang="en-US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IS Planning</a:t>
            </a:r>
            <a:endParaRPr lang="en-US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0618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8740" y="1371600"/>
            <a:ext cx="12192635" cy="4114800"/>
          </a:xfrm>
        </p:spPr>
        <p:txBody>
          <a:bodyPr>
            <a:normAutofit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/>
              <a:t>Key elements of an IS </a:t>
            </a:r>
            <a:r>
              <a:rPr lang="en-US" sz="3600" dirty="0" smtClean="0"/>
              <a:t>Plan are </a:t>
            </a:r>
            <a:endParaRPr lang="en-US" sz="3600" dirty="0" smtClean="0"/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Corporate mission statement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Vision for IT within organization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IS strategic and tactical plans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Operations plan to achieve mission and vision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Budget to ensure resources are available</a:t>
            </a:r>
            <a:r>
              <a:rPr lang="en-US" sz="2000" dirty="0"/>
              <a:t>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2" name="Rectangle 6"/>
          <p:cNvSpPr>
            <a:spLocks noGrp="1" noChangeArrowheads="1"/>
          </p:cNvSpPr>
          <p:nvPr>
            <p:ph type="title"/>
          </p:nvPr>
        </p:nvSpPr>
        <p:spPr>
          <a:xfrm>
            <a:off x="367030" y="89535"/>
            <a:ext cx="11661775" cy="66865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Steps of Information Systems </a:t>
            </a:r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Planning</a:t>
            </a:r>
            <a:endParaRPr lang="en-US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0" y="758825"/>
            <a:ext cx="5779135" cy="5962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2" name="Rectangle 6"/>
          <p:cNvSpPr>
            <a:spLocks noGrp="1" noChangeArrowheads="1"/>
          </p:cNvSpPr>
          <p:nvPr>
            <p:ph type="title"/>
          </p:nvPr>
        </p:nvSpPr>
        <p:spPr>
          <a:xfrm>
            <a:off x="367030" y="89535"/>
            <a:ext cx="11661775" cy="66865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IN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S</a:t>
            </a:r>
            <a:r>
              <a:rPr lang="en-IN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trategic </a:t>
            </a:r>
            <a:r>
              <a:rPr lang="en-US" altLang="en-IN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I</a:t>
            </a:r>
            <a:r>
              <a:rPr lang="en-IN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nformation System</a:t>
            </a:r>
            <a:endParaRPr lang="en-IN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35" y="758190"/>
            <a:ext cx="12028170" cy="16973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p>
            <a:pPr marL="253365" marR="5080" indent="-241300" algn="just">
              <a:lnSpc>
                <a:spcPts val="1900"/>
              </a:lnSpc>
              <a:spcBef>
                <a:spcPts val="330"/>
              </a:spcBef>
              <a:buChar char="▪"/>
              <a:tabLst>
                <a:tab pos="253365" algn="l"/>
              </a:tabLst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Type of </a:t>
            </a:r>
            <a:r>
              <a:rPr sz="200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IS</a:t>
            </a:r>
            <a:r>
              <a:rPr sz="2000">
                <a:latin typeface="Times New Roman Regular" panose="02020603050405020304" charset="0"/>
                <a:cs typeface="Times New Roman Regular" panose="02020603050405020304" charset="0"/>
              </a:rPr>
              <a:t> that is responsible to implement the business strategy for organizational progress.</a:t>
            </a:r>
            <a:endParaRPr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Char char="▪"/>
              <a:tabLst>
                <a:tab pos="253365" algn="l"/>
              </a:tabLst>
            </a:pPr>
            <a:r>
              <a:rPr sz="2000">
                <a:latin typeface="Times New Roman Regular" panose="02020603050405020304" charset="0"/>
                <a:cs typeface="Times New Roman Regular" panose="02020603050405020304" charset="0"/>
              </a:rPr>
              <a:t>It links business and computer strategies.</a:t>
            </a:r>
            <a:endParaRPr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indent="-240665">
              <a:lnSpc>
                <a:spcPct val="100000"/>
              </a:lnSpc>
              <a:spcBef>
                <a:spcPts val="1380"/>
              </a:spcBef>
              <a:buChar char="▪"/>
              <a:tabLst>
                <a:tab pos="253365" algn="l"/>
              </a:tabLst>
            </a:pPr>
            <a:r>
              <a:rPr sz="2000">
                <a:latin typeface="Times New Roman Regular" panose="02020603050405020304" charset="0"/>
                <a:cs typeface="Times New Roman Regular" panose="02020603050405020304" charset="0"/>
              </a:rPr>
              <a:t>It shapes an organizational competitive strategy.</a:t>
            </a:r>
            <a:endParaRPr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53365" marR="8255" indent="-241300" algn="just">
              <a:lnSpc>
                <a:spcPts val="1900"/>
              </a:lnSpc>
              <a:spcBef>
                <a:spcPts val="1600"/>
              </a:spcBef>
              <a:buChar char="▪"/>
              <a:tabLst>
                <a:tab pos="253365" algn="l"/>
              </a:tabLst>
            </a:pPr>
            <a:r>
              <a:rPr sz="2000">
                <a:latin typeface="Times New Roman Regular" panose="02020603050405020304" charset="0"/>
                <a:cs typeface="Times New Roman Regular" panose="02020603050405020304" charset="0"/>
              </a:rPr>
              <a:t>It helps an organization to gain a competitive advantage and meet other strategic enterprise objectives.</a:t>
            </a:r>
            <a:endParaRPr sz="20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2524125"/>
            <a:ext cx="12304395" cy="673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5080">
              <a:lnSpc>
                <a:spcPts val="2270"/>
              </a:lnSpc>
              <a:spcBef>
                <a:spcPts val="1615"/>
              </a:spcBef>
              <a:tabLst>
                <a:tab pos="253365" algn="l"/>
              </a:tabLst>
            </a:pPr>
            <a:r>
              <a:rPr b="1">
                <a:solidFill>
                  <a:srgbClr val="FF0000"/>
                </a:solidFill>
              </a:rPr>
              <a:t>For example, acquiring a new plant, a new product, diversification of business, etc. comes under strategic information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2" name="Rectangle 6"/>
          <p:cNvSpPr>
            <a:spLocks noGrp="1" noChangeArrowheads="1"/>
          </p:cNvSpPr>
          <p:nvPr>
            <p:ph type="title"/>
          </p:nvPr>
        </p:nvSpPr>
        <p:spPr>
          <a:xfrm>
            <a:off x="344170" y="0"/>
            <a:ext cx="11661775" cy="66865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I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S</a:t>
            </a:r>
            <a:r>
              <a:rPr lang="en-I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trategic </a:t>
            </a:r>
            <a:r>
              <a:rPr lang="en-US" altLang="en-I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I</a:t>
            </a:r>
            <a:r>
              <a:rPr lang="en-I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nformation System</a:t>
            </a:r>
            <a:endParaRPr lang="en-IN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0" y="4641850"/>
            <a:ext cx="11489690" cy="2006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lnSpc>
                <a:spcPct val="100000"/>
              </a:lnSpc>
              <a:spcBef>
                <a:spcPts val="395"/>
              </a:spcBef>
              <a:tabLst>
                <a:tab pos="493395" algn="l"/>
              </a:tabLst>
            </a:pPr>
            <a:r>
              <a:rPr lang="en-US" b="1"/>
              <a:t>SIS Involves:</a:t>
            </a:r>
            <a:endParaRPr lang="en-US" b="1"/>
          </a:p>
          <a:p>
            <a:pPr marL="742950" lvl="1" indent="-285750">
              <a:lnSpc>
                <a:spcPct val="100000"/>
              </a:lnSpc>
              <a:spcBef>
                <a:spcPts val="395"/>
              </a:spcBef>
              <a:buFont typeface="Wingdings" panose="05000000000000000000" charset="0"/>
              <a:buChar char=""/>
              <a:tabLst>
                <a:tab pos="493395" algn="l"/>
              </a:tabLst>
            </a:pPr>
            <a:r>
              <a:t>Formulating a mission for the entire organization.</a:t>
            </a:r>
          </a:p>
          <a:p>
            <a:pPr marL="742950" lvl="1" indent="-285750">
              <a:lnSpc>
                <a:spcPct val="100000"/>
              </a:lnSpc>
              <a:spcBef>
                <a:spcPts val="395"/>
              </a:spcBef>
              <a:buFont typeface="Wingdings" panose="05000000000000000000" charset="0"/>
              <a:buChar char=""/>
              <a:tabLst>
                <a:tab pos="493395" algn="l"/>
              </a:tabLst>
            </a:pPr>
            <a:r>
              <a:t>Identifying the business that helps to meet a mission.</a:t>
            </a:r>
          </a:p>
          <a:p>
            <a:pPr marL="742950" lvl="1" indent="-285750">
              <a:lnSpc>
                <a:spcPct val="100000"/>
              </a:lnSpc>
              <a:spcBef>
                <a:spcPts val="395"/>
              </a:spcBef>
              <a:buFont typeface="Wingdings" panose="05000000000000000000" charset="0"/>
              <a:buChar char=""/>
              <a:tabLst>
                <a:tab pos="493395" algn="l"/>
              </a:tabLst>
            </a:pPr>
            <a:r>
              <a:t>Determination of financial requirements.</a:t>
            </a:r>
          </a:p>
          <a:p>
            <a:pPr marL="742950" lvl="1" indent="-285750">
              <a:lnSpc>
                <a:spcPct val="100000"/>
              </a:lnSpc>
              <a:spcBef>
                <a:spcPts val="395"/>
              </a:spcBef>
              <a:buFont typeface="Wingdings" panose="05000000000000000000" charset="0"/>
              <a:buChar char=""/>
              <a:tabLst>
                <a:tab pos="493395" algn="l"/>
              </a:tabLst>
            </a:pPr>
            <a:r>
              <a:t>Working out authority relationships in terms of organization structure.</a:t>
            </a:r>
          </a:p>
          <a:p>
            <a:pPr marL="742950" lvl="1" indent="-285750">
              <a:lnSpc>
                <a:spcPct val="100000"/>
              </a:lnSpc>
              <a:spcBef>
                <a:spcPts val="395"/>
              </a:spcBef>
              <a:buFont typeface="Wingdings" panose="05000000000000000000" charset="0"/>
              <a:buChar char=""/>
              <a:tabLst>
                <a:tab pos="493395" algn="l"/>
              </a:tabLst>
            </a:pPr>
            <a:r>
              <a:t>Allocating resources effectively.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16600" t="13687" r="16999" b="6313"/>
          <a:stretch>
            <a:fillRect/>
          </a:stretch>
        </p:blipFill>
        <p:spPr>
          <a:xfrm>
            <a:off x="4090035" y="668655"/>
            <a:ext cx="5178425" cy="3622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138430"/>
            <a:ext cx="11116310" cy="79438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AU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Typical Strategic-Level Job Titles</a:t>
            </a:r>
            <a:endParaRPr lang="en-AU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005" y="1179830"/>
            <a:ext cx="11468735" cy="3604895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Top-level Managers</a:t>
            </a:r>
            <a:endParaRPr lang="en-US" sz="200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CEOs or Presidents</a:t>
            </a:r>
            <a:endParaRPr lang="en-US" sz="200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General Manager</a:t>
            </a:r>
            <a:endParaRPr lang="en-US" sz="200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Corporate Boards</a:t>
            </a:r>
            <a:endParaRPr lang="en-US" sz="200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Board of Directors</a:t>
            </a:r>
            <a:endParaRPr lang="en-US" sz="200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Steering Committee</a:t>
            </a:r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138430"/>
            <a:ext cx="11116310" cy="79438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IN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Tactical Information System</a:t>
            </a:r>
            <a:endParaRPr lang="en-IN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6" name="object 3"/>
          <p:cNvSpPr txBox="1">
            <a:spLocks noGrp="1"/>
          </p:cNvSpPr>
          <p:nvPr>
            <p:ph type="body" idx="1"/>
          </p:nvPr>
        </p:nvSpPr>
        <p:spPr>
          <a:xfrm>
            <a:off x="192405" y="932815"/>
            <a:ext cx="11999595" cy="246189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p>
            <a:pPr marL="253365" marR="6985" indent="-241300" algn="just">
              <a:lnSpc>
                <a:spcPct val="150000"/>
              </a:lnSpc>
              <a:spcBef>
                <a:spcPts val="345"/>
              </a:spcBef>
              <a:buChar char="▪"/>
              <a:tabLst>
                <a:tab pos="253365" algn="l"/>
              </a:tabLst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Type of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 information  system  that  is responsible for planning short range tactics emphasizing the current operation of an organization.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marR="5080" indent="-241300" algn="just">
              <a:lnSpc>
                <a:spcPct val="150000"/>
              </a:lnSpc>
              <a:spcBef>
                <a:spcPts val="1580"/>
              </a:spcBef>
              <a:buChar char="▪"/>
              <a:tabLst>
                <a:tab pos="253365" algn="l"/>
              </a:tabLst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Tactical plans are usually developed in the areas of production, marketing, personnel, finance and plant facilities.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6455" y="2990850"/>
            <a:ext cx="5882005" cy="35121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138430"/>
            <a:ext cx="11116310" cy="79438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I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Tactical Information System</a:t>
            </a:r>
            <a:endParaRPr lang="en-IN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object 3"/>
          <p:cNvSpPr txBox="1"/>
          <p:nvPr/>
        </p:nvSpPr>
        <p:spPr>
          <a:xfrm>
            <a:off x="227330" y="1296035"/>
            <a:ext cx="11964670" cy="29959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500"/>
              </a:spcBef>
              <a:buNone/>
              <a:tabLst>
                <a:tab pos="253365" algn="l"/>
              </a:tabLst>
            </a:pPr>
            <a:r>
              <a:t>It involves the decisions in respect of:</a:t>
            </a:r>
          </a:p>
          <a:p>
            <a:pPr marL="12700" indent="0">
              <a:lnSpc>
                <a:spcPct val="100000"/>
              </a:lnSpc>
              <a:spcBef>
                <a:spcPts val="500"/>
              </a:spcBef>
              <a:buNone/>
              <a:tabLst>
                <a:tab pos="253365" algn="l"/>
              </a:tabLst>
            </a:pPr>
          </a:p>
          <a:p>
            <a:pPr marL="494030" lvl="1" indent="-240665">
              <a:lnSpc>
                <a:spcPct val="150000"/>
              </a:lnSpc>
              <a:spcBef>
                <a:spcPts val="340"/>
              </a:spcBef>
              <a:buFont typeface="IBM 3270"/>
              <a:buChar char="–"/>
              <a:tabLst>
                <a:tab pos="494030" algn="l"/>
              </a:tabLst>
            </a:pPr>
            <a:r>
              <a:t>Products or services to be added or deleted</a:t>
            </a:r>
          </a:p>
          <a:p>
            <a:pPr marL="494030" lvl="1" indent="-240665">
              <a:lnSpc>
                <a:spcPct val="150000"/>
              </a:lnSpc>
              <a:spcBef>
                <a:spcPts val="325"/>
              </a:spcBef>
              <a:buFont typeface="IBM 3270"/>
              <a:buChar char="–"/>
              <a:tabLst>
                <a:tab pos="494030" algn="l"/>
              </a:tabLst>
            </a:pPr>
            <a:r>
              <a:t>Size of capital investments required</a:t>
            </a:r>
          </a:p>
          <a:p>
            <a:pPr marL="494030" lvl="1" indent="-240665">
              <a:lnSpc>
                <a:spcPct val="150000"/>
              </a:lnSpc>
              <a:spcBef>
                <a:spcPts val="320"/>
              </a:spcBef>
              <a:buFont typeface="IBM 3270"/>
              <a:buChar char="–"/>
              <a:tabLst>
                <a:tab pos="494030" algn="l"/>
              </a:tabLst>
            </a:pPr>
            <a:r>
              <a:t>Pricing the products and services to be provided</a:t>
            </a:r>
          </a:p>
          <a:p>
            <a:pPr marL="494030" lvl="1" indent="-240665">
              <a:lnSpc>
                <a:spcPct val="150000"/>
              </a:lnSpc>
              <a:spcBef>
                <a:spcPts val="315"/>
              </a:spcBef>
              <a:buFont typeface="IBM 3270"/>
              <a:buChar char="–"/>
              <a:tabLst>
                <a:tab pos="494030" algn="l"/>
              </a:tabLst>
            </a:pPr>
            <a:r>
              <a:t>Facilities, methods and systems necessary</a:t>
            </a:r>
          </a:p>
          <a:p>
            <a:pPr marL="494030" marR="5080" lvl="1" indent="-241300">
              <a:lnSpc>
                <a:spcPct val="150000"/>
              </a:lnSpc>
              <a:spcBef>
                <a:spcPts val="550"/>
              </a:spcBef>
              <a:buFont typeface="IBM 3270"/>
              <a:buChar char="–"/>
              <a:tabLst>
                <a:tab pos="494030" algn="l"/>
              </a:tabLst>
            </a:pPr>
            <a:r>
              <a:t>Withdrawing investments from, or closing down operations of unprofitable departments or products or </a:t>
            </a:r>
            <a:r>
              <a:t>services.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0"/>
            <a:ext cx="11116310" cy="69342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sym typeface="+mn-ea"/>
              </a:rPr>
              <a:t>Important Factors in IS Tactical </a:t>
            </a:r>
            <a:endParaRPr lang="en-US" b="1" dirty="0" smtClean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969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45795" y="932815"/>
            <a:ext cx="9034145" cy="4572000"/>
          </a:xfrm>
        </p:spPr>
        <p:txBody>
          <a:bodyPr/>
          <a:lstStyle/>
          <a:p>
            <a:r>
              <a:rPr lang="en-US" sz="3600" dirty="0"/>
              <a:t>Planning</a:t>
            </a:r>
            <a:endParaRPr lang="en-US" sz="3600" dirty="0"/>
          </a:p>
          <a:p>
            <a:r>
              <a:rPr lang="en-US" sz="3200" dirty="0"/>
              <a:t>Flexibility</a:t>
            </a:r>
            <a:endParaRPr lang="en-US" sz="3200" dirty="0"/>
          </a:p>
          <a:p>
            <a:r>
              <a:rPr lang="en-US" sz="3200" dirty="0"/>
              <a:t>Compatibility</a:t>
            </a:r>
            <a:endParaRPr lang="en-US" sz="3200" dirty="0"/>
          </a:p>
          <a:p>
            <a:r>
              <a:rPr lang="en-US" sz="3200" dirty="0"/>
              <a:t>Connectivity</a:t>
            </a:r>
            <a:endParaRPr lang="en-US" sz="3200" dirty="0"/>
          </a:p>
          <a:p>
            <a:r>
              <a:rPr lang="en-US" sz="3200" dirty="0"/>
              <a:t>Scalability</a:t>
            </a:r>
            <a:endParaRPr lang="en-US" sz="3200" dirty="0"/>
          </a:p>
          <a:p>
            <a:r>
              <a:rPr lang="en-US" sz="3200" dirty="0"/>
              <a:t>Standardization</a:t>
            </a:r>
            <a:endParaRPr lang="en-US" sz="3200" dirty="0"/>
          </a:p>
          <a:p>
            <a:r>
              <a:rPr lang="en-US" sz="3200" dirty="0"/>
              <a:t>Total Cost of Ownership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838200" y="138430"/>
            <a:ext cx="10515600" cy="828040"/>
          </a:xfrm>
        </p:spPr>
        <p:txBody>
          <a:bodyPr/>
          <a:lstStyle/>
          <a:p>
            <a:pPr algn="ctr" eaLnBrk="1" hangingPunct="1"/>
            <a:r>
              <a:rPr lang="en-AU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Typical Tactical-Level Job Titles</a:t>
            </a:r>
            <a:endParaRPr lang="en-AU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635" y="1168400"/>
            <a:ext cx="11852275" cy="3185160"/>
          </a:xfrm>
        </p:spPr>
        <p:txBody>
          <a:bodyPr/>
          <a:lstStyle/>
          <a:p>
            <a:pPr eaLnBrk="1" hangingPunct="1"/>
            <a:r>
              <a:rPr lang="en-AU" smtClean="0"/>
              <a:t>Advertising manager</a:t>
            </a:r>
            <a:endParaRPr lang="en-AU" smtClean="0"/>
          </a:p>
          <a:p>
            <a:pPr eaLnBrk="1" hangingPunct="1"/>
            <a:r>
              <a:rPr lang="en-AU" smtClean="0"/>
              <a:t>Personnel manager</a:t>
            </a:r>
            <a:endParaRPr lang="en-AU" smtClean="0"/>
          </a:p>
          <a:p>
            <a:pPr eaLnBrk="1" hangingPunct="1"/>
            <a:r>
              <a:rPr lang="en-AU" smtClean="0"/>
              <a:t>Creative director</a:t>
            </a:r>
            <a:endParaRPr lang="en-AU" smtClean="0"/>
          </a:p>
          <a:p>
            <a:pPr eaLnBrk="1" hangingPunct="1"/>
            <a:r>
              <a:rPr lang="en-AU" smtClean="0"/>
              <a:t>Manager of information systems</a:t>
            </a:r>
            <a:endParaRPr lang="en-AU" smtClean="0"/>
          </a:p>
          <a:p>
            <a:pPr eaLnBrk="1" hangingPunct="1"/>
            <a:r>
              <a:rPr lang="en-AU" smtClean="0"/>
              <a:t>Communications director</a:t>
            </a:r>
            <a:endParaRPr lang="en-AU" smtClean="0"/>
          </a:p>
          <a:p>
            <a:pPr eaLnBrk="1" hangingPunct="1"/>
            <a:r>
              <a:rPr lang="en-AU" smtClean="0"/>
              <a:t>Chief Financial Officer</a:t>
            </a:r>
            <a:endParaRPr lang="en-AU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838200" y="138430"/>
            <a:ext cx="10515600" cy="82804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 eaLnBrk="1" hangingPunct="1"/>
            <a:r>
              <a:rPr lang="en-IN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Operational Information System</a:t>
            </a:r>
            <a:endParaRPr lang="en-IN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0" y="1162685"/>
            <a:ext cx="12192000" cy="225679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p>
            <a:pPr marL="253365" marR="5080" indent="-241300">
              <a:lnSpc>
                <a:spcPct val="150000"/>
              </a:lnSpc>
              <a:spcBef>
                <a:spcPts val="330"/>
              </a:spcBef>
              <a:buChar char="▪"/>
              <a:tabLst>
                <a:tab pos="253365" algn="l"/>
              </a:tabLst>
            </a:pPr>
            <a:r>
              <a:rPr lang="en-US"/>
              <a:t>Type of</a:t>
            </a:r>
            <a:r>
              <a:t> information system that is responsible to aid the daily operations of an organization.</a:t>
            </a:r>
          </a:p>
          <a:p>
            <a:pPr marL="253365" indent="-240665">
              <a:lnSpc>
                <a:spcPct val="150000"/>
              </a:lnSpc>
              <a:spcBef>
                <a:spcPts val="1335"/>
              </a:spcBef>
              <a:buChar char="▪"/>
              <a:tabLst>
                <a:tab pos="253365" algn="l"/>
              </a:tabLst>
            </a:pPr>
            <a:r>
              <a:t>It focuses on how the organization can improve its daily operations.</a:t>
            </a:r>
          </a:p>
          <a:p>
            <a:pPr marL="253365" indent="-240665">
              <a:lnSpc>
                <a:spcPct val="150000"/>
              </a:lnSpc>
              <a:spcBef>
                <a:spcPts val="1380"/>
              </a:spcBef>
              <a:buChar char="▪"/>
              <a:tabLst>
                <a:tab pos="253365" algn="l"/>
              </a:tabLst>
            </a:pPr>
            <a:r>
              <a:t>It processes operational information to plan for operational progress.</a:t>
            </a:r>
          </a:p>
          <a:p>
            <a:pPr marL="253365" marR="5080" indent="-241300">
              <a:lnSpc>
                <a:spcPct val="150000"/>
              </a:lnSpc>
              <a:spcBef>
                <a:spcPts val="1600"/>
              </a:spcBef>
              <a:buChar char="▪"/>
              <a:tabLst>
                <a:tab pos="253365" algn="l"/>
              </a:tabLst>
            </a:pPr>
            <a:r>
              <a:t>carried out by lower-level management comprising unit managers, foremen, line supervisors </a:t>
            </a:r>
            <a:r>
              <a:t>etc.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0" y="4027805"/>
            <a:ext cx="11594465" cy="25425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p>
            <a:pPr marL="253365" indent="-240665">
              <a:lnSpc>
                <a:spcPct val="100000"/>
              </a:lnSpc>
              <a:spcBef>
                <a:spcPts val="615"/>
              </a:spcBef>
              <a:buChar char="▪"/>
              <a:tabLst>
                <a:tab pos="253365" algn="l"/>
              </a:tabLst>
            </a:pPr>
            <a:r>
              <a:t>It involves decisions in respect of:</a:t>
            </a:r>
          </a:p>
          <a:p>
            <a:pPr marL="12700" indent="0">
              <a:lnSpc>
                <a:spcPct val="100000"/>
              </a:lnSpc>
              <a:spcBef>
                <a:spcPts val="615"/>
              </a:spcBef>
              <a:buNone/>
              <a:tabLst>
                <a:tab pos="253365" algn="l"/>
              </a:tabLst>
            </a:pPr>
          </a:p>
          <a:p>
            <a:pPr marL="494030" lvl="1" indent="-240665">
              <a:lnSpc>
                <a:spcPct val="150000"/>
              </a:lnSpc>
              <a:spcBef>
                <a:spcPts val="365"/>
              </a:spcBef>
              <a:buFont typeface="IBM 3270"/>
              <a:buChar char="–"/>
              <a:tabLst>
                <a:tab pos="494030" algn="l"/>
              </a:tabLst>
            </a:pPr>
            <a:r>
              <a:t>Best suitable production methods.</a:t>
            </a:r>
          </a:p>
          <a:p>
            <a:pPr marL="494030" lvl="1" indent="-240665">
              <a:lnSpc>
                <a:spcPct val="150000"/>
              </a:lnSpc>
              <a:spcBef>
                <a:spcPts val="325"/>
              </a:spcBef>
              <a:buFont typeface="IBM 3270"/>
              <a:buChar char="–"/>
              <a:tabLst>
                <a:tab pos="494030" algn="l"/>
              </a:tabLst>
            </a:pPr>
            <a:r>
              <a:t>Effective marketing plans.</a:t>
            </a:r>
          </a:p>
          <a:p>
            <a:pPr marL="494030" lvl="1" indent="-240665">
              <a:lnSpc>
                <a:spcPct val="150000"/>
              </a:lnSpc>
              <a:spcBef>
                <a:spcPts val="310"/>
              </a:spcBef>
              <a:buFont typeface="IBM 3270"/>
              <a:buChar char="–"/>
              <a:tabLst>
                <a:tab pos="494030" algn="l"/>
              </a:tabLst>
            </a:pPr>
            <a:r>
              <a:t>Organization structure in terms of customer, product or region etc.</a:t>
            </a:r>
          </a:p>
          <a:p>
            <a:pPr marL="494030" lvl="1" indent="-240665">
              <a:lnSpc>
                <a:spcPct val="150000"/>
              </a:lnSpc>
              <a:spcBef>
                <a:spcPts val="325"/>
              </a:spcBef>
              <a:buFont typeface="IBM 3270"/>
              <a:buChar char="–"/>
              <a:tabLst>
                <a:tab pos="494030" algn="l"/>
              </a:tabLst>
            </a:pPr>
            <a:r>
              <a:t>Facilities required in the office, factory, sales outlets </a:t>
            </a:r>
            <a:r>
              <a:t>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68630" y="0"/>
            <a:ext cx="11254740" cy="871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Hierarchy of Planning</a:t>
            </a:r>
            <a:endParaRPr lang="en-US" b="1" dirty="0" smtClean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Picture 2" descr="is1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1318895" y="871220"/>
            <a:ext cx="9732645" cy="5699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68630" y="0"/>
            <a:ext cx="11254740" cy="871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Three level of IS Planning/Planning:</a:t>
            </a:r>
            <a:endParaRPr lang="en-US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D:\KEC\IS\Chapter 5\Planning Table.JPG"/>
          <p:cNvPicPr>
            <a:picLocks noGrp="1"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50745" y="942340"/>
            <a:ext cx="7891145" cy="5210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4850</Words>
  <Application>WPS Presentation</Application>
  <PresentationFormat>Widescreen</PresentationFormat>
  <Paragraphs>199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Wingdings</vt:lpstr>
      <vt:lpstr>Calibri Light</vt:lpstr>
      <vt:lpstr>Arial</vt:lpstr>
      <vt:lpstr>Times New Roman Regular</vt:lpstr>
      <vt:lpstr>IBM 3270</vt:lpstr>
      <vt:lpstr>Thonburi</vt:lpstr>
      <vt:lpstr>Times Regular</vt:lpstr>
      <vt:lpstr>Times New Roman Italic</vt:lpstr>
      <vt:lpstr>Times New Roman Bold Italic</vt:lpstr>
      <vt:lpstr>Times New Roman Bold</vt:lpstr>
      <vt:lpstr>Office Theme</vt:lpstr>
      <vt:lpstr>INFORMATION SYSTEM</vt:lpstr>
      <vt:lpstr>OUTLINES</vt:lpstr>
      <vt:lpstr>OUTLINES</vt:lpstr>
      <vt:lpstr>Introduction </vt:lpstr>
      <vt:lpstr>Introduction </vt:lpstr>
      <vt:lpstr>Characteristics of Plan</vt:lpstr>
      <vt:lpstr>Why Plan?</vt:lpstr>
      <vt:lpstr> Approaches to Planning</vt:lpstr>
      <vt:lpstr>Information System Planning Process</vt:lpstr>
      <vt:lpstr>What are Key Elements of IS Planning</vt:lpstr>
      <vt:lpstr>What are Key Elements of IS Planning</vt:lpstr>
      <vt:lpstr>Steps of Information Systems Planning</vt:lpstr>
      <vt:lpstr>Strategic Information System</vt:lpstr>
      <vt:lpstr>Typical Strategic-Level Job Titles</vt:lpstr>
      <vt:lpstr>Typical Strategic-Level Job Titles</vt:lpstr>
      <vt:lpstr>Tactical Information System</vt:lpstr>
      <vt:lpstr>Tactical Information System</vt:lpstr>
      <vt:lpstr>Typical Tactical-Level Job Titles</vt:lpstr>
      <vt:lpstr>Typical Tactical-Level Job Titles</vt:lpstr>
      <vt:lpstr>Hierarchy of Planning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hbs</cp:lastModifiedBy>
  <cp:revision>117</cp:revision>
  <dcterms:created xsi:type="dcterms:W3CDTF">2024-06-07T01:17:58Z</dcterms:created>
  <dcterms:modified xsi:type="dcterms:W3CDTF">2024-06-07T01:17:58Z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