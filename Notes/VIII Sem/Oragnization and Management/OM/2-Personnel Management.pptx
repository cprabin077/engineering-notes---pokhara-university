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handoutMasterIdLst>
    <p:handoutMasterId r:id="rId45"/>
  </p:handoutMasterIdLst>
  <p:sldIdLst>
    <p:sldId id="256" r:id="rId2"/>
    <p:sldId id="276" r:id="rId3"/>
    <p:sldId id="277" r:id="rId4"/>
    <p:sldId id="281"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282"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628D4"/>
    <a:srgbClr val="5229E9"/>
    <a:srgbClr val="20A0CE"/>
    <a:srgbClr val="B7E57F"/>
    <a:srgbClr val="FB5B7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123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89CF3-D9CA-4876-A06A-430A85AA0C2F}" type="datetimeFigureOut">
              <a:rPr lang="en-US" smtClean="0"/>
              <a:pPr/>
              <a:t>11/13/2014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86122B-5647-4416-9F44-274D43A2162D}" type="slidenum">
              <a:rPr lang="en-US" smtClean="0"/>
              <a:pPr/>
              <a:t>‹#›</a:t>
            </a:fld>
            <a:endParaRPr lang="en-US"/>
          </a:p>
        </p:txBody>
      </p:sp>
    </p:spTree>
    <p:extLst>
      <p:ext uri="{BB962C8B-B14F-4D97-AF65-F5344CB8AC3E}">
        <p14:creationId xmlns="" xmlns:p14="http://schemas.microsoft.com/office/powerpoint/2010/main" val="12732925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1FB13-EA1D-44E3-8DC3-73C120EBEF71}" type="datetimeFigureOut">
              <a:rPr lang="en-US" smtClean="0"/>
              <a:pPr/>
              <a:t>11/13/2014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AED3D-15A9-48AF-ABAA-A5623416F79A}" type="slidenum">
              <a:rPr lang="en-US" smtClean="0"/>
              <a:pPr/>
              <a:t>‹#›</a:t>
            </a:fld>
            <a:endParaRPr lang="en-US"/>
          </a:p>
        </p:txBody>
      </p:sp>
    </p:spTree>
    <p:extLst>
      <p:ext uri="{BB962C8B-B14F-4D97-AF65-F5344CB8AC3E}">
        <p14:creationId xmlns="" xmlns:p14="http://schemas.microsoft.com/office/powerpoint/2010/main" val="1687999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a:solidFill>
            <a:srgbClr val="5229E9"/>
          </a:solidFill>
          <a:ln>
            <a:solidFill>
              <a:schemeClr val="tx2">
                <a:lumMod val="75000"/>
              </a:schemeClr>
            </a:solidFill>
          </a:ln>
        </p:spPr>
        <p:txBody>
          <a:bodyPr/>
          <a:lstStyle>
            <a:lvl1pPr algn="ctr">
              <a:defRPr b="1">
                <a:latin typeface="Cambria"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4191000"/>
            <a:ext cx="6400800" cy="1447800"/>
          </a:xfrm>
        </p:spPr>
        <p:txBody>
          <a:bodyPr/>
          <a:lstStyle>
            <a:lvl1pPr marL="0" indent="0" algn="ctr">
              <a:buNone/>
              <a:defRPr>
                <a:solidFill>
                  <a:srgbClr val="5229E9"/>
                </a:solidFill>
                <a:latin typeface="Book Antiqu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
        <p:nvSpPr>
          <p:cNvPr id="7" name="Rectangle 6"/>
          <p:cNvSpPr/>
          <p:nvPr userDrawn="1"/>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7" name="Slide Number Placeholder 6"/>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229E9"/>
          </a:solidFill>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04800" y="1371600"/>
            <a:ext cx="4270194"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164989"/>
            <a:ext cx="4270194"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570206" y="1371600"/>
            <a:ext cx="4192793"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570206" y="1164989"/>
            <a:ext cx="4192793"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9" name="Slide Number Placeholder 8"/>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5" name="Slide Number Placeholder 4"/>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272"/>
            <a:ext cx="7391400" cy="609600"/>
          </a:xfrm>
          <a:prstGeom prst="rect">
            <a:avLst/>
          </a:prstGeom>
          <a:solidFill>
            <a:srgbClr val="0628D4"/>
          </a:solidFill>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89037"/>
            <a:ext cx="8229600" cy="4906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0" y="6400800"/>
            <a:ext cx="8299016" cy="443507"/>
          </a:xfrm>
          <a:prstGeom prst="rect">
            <a:avLst/>
          </a:prstGeom>
          <a:solidFill>
            <a:srgbClr val="B7E57F"/>
          </a:solidFill>
        </p:spPr>
        <p:txBody>
          <a:bodyPr vert="horz" lIns="91440" tIns="45720" rIns="91440" bIns="45720" rtlCol="0" anchor="ctr"/>
          <a:lstStyle>
            <a:lvl1pPr algn="ctr">
              <a:defRPr sz="1400" b="1">
                <a:solidFill>
                  <a:srgbClr val="0000CC"/>
                </a:solidFill>
                <a:latin typeface="Comic Sans MS" pitchFamily="66" charset="0"/>
              </a:defRPr>
            </a:lvl1pPr>
          </a:lstStyle>
          <a:p>
            <a:r>
              <a:rPr lang="en-US" dirty="0" smtClean="0"/>
              <a:t>IOE – Graduate Conference , 29</a:t>
            </a:r>
            <a:r>
              <a:rPr lang="en-US" baseline="30000" dirty="0" smtClean="0"/>
              <a:t>th</a:t>
            </a:r>
            <a:r>
              <a:rPr lang="en-US" dirty="0" smtClean="0"/>
              <a:t> November 2013, Central Campus , Pulchowk </a:t>
            </a:r>
            <a:endParaRPr lang="en-US" dirty="0"/>
          </a:p>
        </p:txBody>
      </p:sp>
      <p:sp>
        <p:nvSpPr>
          <p:cNvPr id="6" name="Slide Number Placeholder 5"/>
          <p:cNvSpPr>
            <a:spLocks noGrp="1"/>
          </p:cNvSpPr>
          <p:nvPr>
            <p:ph type="sldNum" sz="quarter" idx="4"/>
          </p:nvPr>
        </p:nvSpPr>
        <p:spPr>
          <a:xfrm>
            <a:off x="8305800" y="6400800"/>
            <a:ext cx="817736" cy="4572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algn="ctr" defTabSz="914400" rtl="0" eaLnBrk="1" latinLnBrk="0" hangingPunct="1">
              <a:defRPr lang="en-US" sz="1800" kern="1200" smtClean="0">
                <a:solidFill>
                  <a:schemeClr val="lt1"/>
                </a:solidFill>
                <a:latin typeface="+mn-lt"/>
                <a:ea typeface="+mn-ea"/>
                <a:cs typeface="+mn-cs"/>
              </a:defRPr>
            </a:lvl1pPr>
          </a:lstStyle>
          <a:p>
            <a:fld id="{D51081E8-3327-495A-9823-FC891E0968B6}" type="slidenum">
              <a:rPr lang="en-US" smtClean="0"/>
              <a:pPr/>
              <a:t>‹#›</a:t>
            </a:fld>
            <a:endParaRPr lang="en-US"/>
          </a:p>
        </p:txBody>
      </p:sp>
      <p:sp>
        <p:nvSpPr>
          <p:cNvPr id="7" name="Rectangle 6"/>
          <p:cNvSpPr/>
          <p:nvPr userDrawn="1"/>
        </p:nvSpPr>
        <p:spPr>
          <a:xfrm>
            <a:off x="0" y="2272"/>
            <a:ext cx="685800" cy="6096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85800" y="609600"/>
            <a:ext cx="7391400" cy="15467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OE_GC_Logo.png"/>
          <p:cNvPicPr>
            <a:picLocks noChangeAspect="1"/>
          </p:cNvPicPr>
          <p:nvPr userDrawn="1"/>
        </p:nvPicPr>
        <p:blipFill>
          <a:blip r:embed="rId8" cstate="print"/>
          <a:stretch>
            <a:fillRect/>
          </a:stretch>
        </p:blipFill>
        <p:spPr>
          <a:xfrm>
            <a:off x="8153400" y="1"/>
            <a:ext cx="990600" cy="10820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kashadh044@gmail.com"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2</a:t>
            </a:r>
            <a:br>
              <a:rPr lang="en-US" dirty="0" smtClean="0"/>
            </a:br>
            <a:r>
              <a:rPr lang="en-US" dirty="0" smtClean="0"/>
              <a:t>PERSONNEL MANAGEMENT</a:t>
            </a:r>
            <a:endParaRPr lang="en-US" dirty="0"/>
          </a:p>
        </p:txBody>
      </p:sp>
      <p:pic>
        <p:nvPicPr>
          <p:cNvPr id="4" name="Picture 3" descr="C:\Users\Khem\Desktop\logo_20110422093508.jpg"/>
          <p:cNvPicPr/>
          <p:nvPr/>
        </p:nvPicPr>
        <p:blipFill>
          <a:blip r:embed="rId2" cstate="print"/>
          <a:srcRect/>
          <a:stretch>
            <a:fillRect/>
          </a:stretch>
        </p:blipFill>
        <p:spPr bwMode="auto">
          <a:xfrm>
            <a:off x="3733800" y="381000"/>
            <a:ext cx="1425424" cy="1357460"/>
          </a:xfrm>
          <a:prstGeom prst="rect">
            <a:avLst/>
          </a:prstGeom>
          <a:noFill/>
          <a:ln w="9525">
            <a:noFill/>
            <a:miter lim="800000"/>
            <a:headEnd/>
            <a:tailEnd/>
          </a:ln>
        </p:spPr>
      </p:pic>
      <p:sp>
        <p:nvSpPr>
          <p:cNvPr id="6" name="Subtitle 5"/>
          <p:cNvSpPr>
            <a:spLocks noGrp="1"/>
          </p:cNvSpPr>
          <p:nvPr>
            <p:ph type="subTitle" idx="1"/>
          </p:nvPr>
        </p:nvSpPr>
        <p:spPr/>
        <p:txBody>
          <a:bodyPr>
            <a:normAutofit fontScale="70000" lnSpcReduction="20000"/>
          </a:bodyPr>
          <a:lstStyle/>
          <a:p>
            <a:r>
              <a:rPr lang="en-US" b="1" dirty="0" err="1" smtClean="0"/>
              <a:t>Bikash</a:t>
            </a:r>
            <a:r>
              <a:rPr lang="en-US" b="1" dirty="0" smtClean="0"/>
              <a:t> </a:t>
            </a:r>
            <a:r>
              <a:rPr lang="en-US" b="1" dirty="0" err="1" smtClean="0"/>
              <a:t>Adhikari</a:t>
            </a:r>
            <a:endParaRPr lang="en-US" b="1" dirty="0" smtClean="0"/>
          </a:p>
          <a:p>
            <a:r>
              <a:rPr lang="en-US" b="1" dirty="0" smtClean="0">
                <a:hlinkClick r:id="rId3"/>
              </a:rPr>
              <a:t>bikashadh044@gmail.com</a:t>
            </a:r>
            <a:endParaRPr lang="en-US" b="1" dirty="0" smtClean="0"/>
          </a:p>
          <a:p>
            <a:r>
              <a:rPr lang="en-US" b="1" i="1" dirty="0" smtClean="0"/>
              <a:t>Acknowledgement: </a:t>
            </a:r>
            <a:r>
              <a:rPr lang="en-US" b="1" i="1" dirty="0" err="1" smtClean="0"/>
              <a:t>Khem</a:t>
            </a:r>
            <a:r>
              <a:rPr lang="en-US" b="1" i="1" dirty="0" smtClean="0"/>
              <a:t> </a:t>
            </a:r>
            <a:r>
              <a:rPr lang="en-US" b="1" i="1" dirty="0" err="1" smtClean="0"/>
              <a:t>Gyawali</a:t>
            </a:r>
            <a:r>
              <a:rPr lang="en-US" b="1" i="1" dirty="0" smtClean="0"/>
              <a:t> </a:t>
            </a:r>
          </a:p>
          <a:p>
            <a:r>
              <a:rPr lang="en-US" b="1" i="1" dirty="0" smtClean="0"/>
              <a:t>Mechanical Engineer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Personnel Management- course outline</a:t>
            </a:r>
            <a:endParaRPr lang="en-US" sz="3200" dirty="0"/>
          </a:p>
        </p:txBody>
      </p:sp>
      <p:sp>
        <p:nvSpPr>
          <p:cNvPr id="9" name="Content Placeholder 8"/>
          <p:cNvSpPr>
            <a:spLocks noGrp="1"/>
          </p:cNvSpPr>
          <p:nvPr>
            <p:ph idx="1"/>
          </p:nvPr>
        </p:nvSpPr>
        <p:spPr>
          <a:xfrm>
            <a:off x="457200" y="1189037"/>
            <a:ext cx="4114800" cy="4906963"/>
          </a:xfrm>
        </p:spPr>
        <p:txBody>
          <a:bodyPr>
            <a:normAutofit fontScale="77500" lnSpcReduction="20000"/>
          </a:bodyPr>
          <a:lstStyle/>
          <a:p>
            <a:pPr>
              <a:buFont typeface="Wingdings" pitchFamily="2" charset="2"/>
              <a:buChar char="v"/>
            </a:pPr>
            <a:r>
              <a:rPr lang="en-US" dirty="0" smtClean="0"/>
              <a:t> Introduction</a:t>
            </a:r>
          </a:p>
          <a:p>
            <a:pPr>
              <a:buFont typeface="Wingdings" pitchFamily="2" charset="2"/>
              <a:buChar char="v"/>
            </a:pPr>
            <a:r>
              <a:rPr lang="en-US" dirty="0" smtClean="0"/>
              <a:t> Functions of Personal Management</a:t>
            </a:r>
          </a:p>
          <a:p>
            <a:pPr>
              <a:buFont typeface="Wingdings" pitchFamily="2" charset="2"/>
              <a:buChar char="v"/>
            </a:pPr>
            <a:r>
              <a:rPr lang="en-US" dirty="0" smtClean="0"/>
              <a:t> Development of Personal Policy</a:t>
            </a:r>
          </a:p>
          <a:p>
            <a:pPr>
              <a:buFont typeface="Wingdings" pitchFamily="2" charset="2"/>
              <a:buChar char="v"/>
            </a:pPr>
            <a:r>
              <a:rPr lang="en-US" dirty="0" smtClean="0"/>
              <a:t> Manpower Planning</a:t>
            </a:r>
          </a:p>
          <a:p>
            <a:pPr>
              <a:buFont typeface="Wingdings" pitchFamily="2" charset="2"/>
              <a:buChar char="v"/>
            </a:pPr>
            <a:r>
              <a:rPr lang="en-US" dirty="0" smtClean="0"/>
              <a:t> Recruitment and Selection of manpower – Scientific selection</a:t>
            </a:r>
          </a:p>
          <a:p>
            <a:pPr>
              <a:buFont typeface="Wingdings" pitchFamily="2" charset="2"/>
              <a:buChar char="v"/>
            </a:pPr>
            <a:r>
              <a:rPr lang="en-US" dirty="0" smtClean="0"/>
              <a:t> Training and Development of manpower</a:t>
            </a:r>
          </a:p>
          <a:p>
            <a:pPr>
              <a:buFont typeface="Wingdings" pitchFamily="2" charset="2"/>
              <a:buChar char="v"/>
            </a:pPr>
            <a:r>
              <a:rPr lang="en-US" dirty="0" smtClean="0"/>
              <a:t> Job Analysis, Job Evaluation and Merit Rating</a:t>
            </a:r>
          </a:p>
          <a:p>
            <a:pPr>
              <a:buFont typeface="Wingdings" pitchFamily="2" charset="2"/>
              <a:buChar char="v"/>
            </a:pPr>
            <a:r>
              <a:rPr lang="en-US" dirty="0" smtClean="0"/>
              <a:t> Wages and Incentives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descr="C:\Users\sagar\Desktop\Transferred\Organisation and Management\downloads\who-looks-outsides-dreamswho-looks-inside-awakes-inspirational-quote.jpg"/>
          <p:cNvPicPr>
            <a:picLocks noChangeAspect="1" noChangeArrowheads="1"/>
          </p:cNvPicPr>
          <p:nvPr/>
        </p:nvPicPr>
        <p:blipFill>
          <a:blip r:embed="rId3" cstate="print"/>
          <a:srcRect/>
          <a:stretch>
            <a:fillRect/>
          </a:stretch>
        </p:blipFill>
        <p:spPr bwMode="auto">
          <a:xfrm>
            <a:off x="4572000" y="1371600"/>
            <a:ext cx="4343400" cy="41910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Introduction</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dirty="0" smtClean="0"/>
              <a:t>Personnel Management</a:t>
            </a:r>
            <a:r>
              <a:rPr lang="en-US" dirty="0" smtClean="0"/>
              <a:t> is that part of total management of an organization which specifically deals with human resources of </a:t>
            </a:r>
          </a:p>
          <a:p>
            <a:pPr marL="571500" indent="-571500" algn="just">
              <a:buFont typeface="+mj-lt"/>
              <a:buAutoNum type="romanLcPeriod"/>
            </a:pPr>
            <a:r>
              <a:rPr lang="en-US" i="1" dirty="0" smtClean="0">
                <a:solidFill>
                  <a:srgbClr val="FF0000"/>
                </a:solidFill>
              </a:rPr>
              <a:t>their procurement,</a:t>
            </a:r>
          </a:p>
          <a:p>
            <a:pPr marL="571500" indent="-571500" algn="just">
              <a:buFont typeface="+mj-lt"/>
              <a:buAutoNum type="romanLcPeriod"/>
            </a:pPr>
            <a:r>
              <a:rPr lang="en-US" i="1" dirty="0" smtClean="0">
                <a:solidFill>
                  <a:srgbClr val="FF0000"/>
                </a:solidFill>
              </a:rPr>
              <a:t>their development in terms in skills, knowledge and  attitude,</a:t>
            </a:r>
          </a:p>
          <a:p>
            <a:pPr marL="571500" indent="-571500" algn="just">
              <a:buFont typeface="+mj-lt"/>
              <a:buAutoNum type="romanLcPeriod"/>
            </a:pPr>
            <a:r>
              <a:rPr lang="en-US" i="1" dirty="0" smtClean="0">
                <a:solidFill>
                  <a:srgbClr val="FF0000"/>
                </a:solidFill>
              </a:rPr>
              <a:t>their motivation towards the attainment of organizational objectives</a:t>
            </a:r>
            <a:r>
              <a:rPr lang="en-US" dirty="0" smtClean="0"/>
              <a:t>,</a:t>
            </a:r>
          </a:p>
          <a:p>
            <a:pPr marL="571500" indent="-571500" algn="just">
              <a:buNone/>
            </a:pPr>
            <a:r>
              <a:rPr lang="en-US" dirty="0" smtClean="0"/>
              <a:t>	</a:t>
            </a:r>
            <a:r>
              <a:rPr lang="en-US" dirty="0" smtClean="0">
                <a:solidFill>
                  <a:srgbClr val="5229E9"/>
                </a:solidFill>
              </a:rPr>
              <a:t>by creating and maintaining  an organizational climate conductive to such development. </a:t>
            </a:r>
          </a:p>
          <a:p>
            <a:pPr marL="571500" indent="-571500" algn="just">
              <a:buNone/>
            </a:pPr>
            <a:endParaRPr lang="en-US" dirty="0" smtClean="0"/>
          </a:p>
          <a:p>
            <a:pPr marL="571500" indent="-571500" algn="just">
              <a:buNone/>
            </a:pPr>
            <a:r>
              <a:rPr lang="en-US" dirty="0" smtClean="0"/>
              <a:t>	</a:t>
            </a:r>
            <a:r>
              <a:rPr lang="en-US" i="1" dirty="0" smtClean="0">
                <a:solidFill>
                  <a:srgbClr val="0000CC"/>
                </a:solidFill>
              </a:rPr>
              <a:t>“Personnel Management is the planning, organizing, directing and controlling of the procurement, development, compensation, integration, and maintenance of personnel of an organization for the purpose of contributing towards the accomplishment of the organizational, individual and social goals.” </a:t>
            </a:r>
            <a:r>
              <a:rPr lang="en-US" dirty="0" smtClean="0">
                <a:solidFill>
                  <a:srgbClr val="FF0000"/>
                </a:solidFill>
              </a:rPr>
              <a:t>– Edwin B. </a:t>
            </a:r>
            <a:r>
              <a:rPr lang="en-US" dirty="0" err="1" smtClean="0">
                <a:solidFill>
                  <a:srgbClr val="FF0000"/>
                </a:solidFill>
              </a:rPr>
              <a:t>Flippo</a:t>
            </a:r>
            <a:r>
              <a:rPr lang="en-US" dirty="0" smtClean="0">
                <a:solidFill>
                  <a:srgbClr val="FF0000"/>
                </a:solidFill>
              </a:rPr>
              <a:t>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Introduction</a:t>
            </a:r>
            <a:endParaRPr lang="en-US" dirty="0"/>
          </a:p>
        </p:txBody>
      </p:sp>
      <p:sp>
        <p:nvSpPr>
          <p:cNvPr id="9" name="Content Placeholder 8"/>
          <p:cNvSpPr>
            <a:spLocks noGrp="1"/>
          </p:cNvSpPr>
          <p:nvPr>
            <p:ph idx="1"/>
          </p:nvPr>
        </p:nvSpPr>
        <p:spPr/>
        <p:txBody>
          <a:bodyPr>
            <a:normAutofit fontScale="92500" lnSpcReduction="20000"/>
          </a:bodyPr>
          <a:lstStyle/>
          <a:p>
            <a:pPr>
              <a:buNone/>
            </a:pPr>
            <a:r>
              <a:rPr lang="en-US" dirty="0" smtClean="0"/>
              <a:t>	</a:t>
            </a:r>
            <a:r>
              <a:rPr lang="en-US" b="1" u="sng" dirty="0" smtClean="0">
                <a:solidFill>
                  <a:srgbClr val="FF0000"/>
                </a:solidFill>
              </a:rPr>
              <a:t>Aims/Objectives of Personnel Management</a:t>
            </a:r>
          </a:p>
          <a:p>
            <a:pPr marL="571500" indent="-571500">
              <a:buFont typeface="+mj-lt"/>
              <a:buAutoNum type="romanLcPeriod"/>
            </a:pPr>
            <a:r>
              <a:rPr lang="en-US" i="1" dirty="0" smtClean="0"/>
              <a:t>Aims at getting the best out of personnel.</a:t>
            </a:r>
          </a:p>
          <a:p>
            <a:pPr marL="571500" indent="-571500">
              <a:buFont typeface="+mj-lt"/>
              <a:buAutoNum type="romanLcPeriod"/>
            </a:pPr>
            <a:r>
              <a:rPr lang="en-US" i="1" dirty="0" smtClean="0"/>
              <a:t>Maximum individual development.</a:t>
            </a:r>
          </a:p>
          <a:p>
            <a:pPr marL="571500" indent="-571500">
              <a:buFont typeface="+mj-lt"/>
              <a:buAutoNum type="romanLcPeriod"/>
            </a:pPr>
            <a:r>
              <a:rPr lang="en-US" i="1" dirty="0" smtClean="0"/>
              <a:t>Improves the services rendered to the society.</a:t>
            </a:r>
          </a:p>
          <a:p>
            <a:pPr marL="571500" indent="-571500">
              <a:buNone/>
            </a:pPr>
            <a:r>
              <a:rPr lang="en-US" dirty="0" smtClean="0"/>
              <a:t>	</a:t>
            </a:r>
          </a:p>
          <a:p>
            <a:pPr marL="571500" indent="-571500">
              <a:buNone/>
            </a:pPr>
            <a:r>
              <a:rPr lang="en-US" dirty="0" smtClean="0"/>
              <a:t>	</a:t>
            </a:r>
            <a:r>
              <a:rPr lang="en-US" b="1" u="sng" dirty="0" smtClean="0">
                <a:solidFill>
                  <a:srgbClr val="FF0000"/>
                </a:solidFill>
              </a:rPr>
              <a:t>Characteristics</a:t>
            </a:r>
          </a:p>
          <a:p>
            <a:pPr marL="571500" indent="-571500">
              <a:buFont typeface="+mj-lt"/>
              <a:buAutoNum type="romanLcPeriod"/>
            </a:pPr>
            <a:r>
              <a:rPr lang="en-US" i="1" dirty="0" smtClean="0"/>
              <a:t>Part of general management.</a:t>
            </a:r>
          </a:p>
          <a:p>
            <a:pPr marL="571500" indent="-571500">
              <a:buFont typeface="+mj-lt"/>
              <a:buAutoNum type="romanLcPeriod"/>
            </a:pPr>
            <a:r>
              <a:rPr lang="en-US" i="1" dirty="0" smtClean="0"/>
              <a:t>Certain specific principles and policies.</a:t>
            </a:r>
          </a:p>
          <a:p>
            <a:pPr marL="571500" indent="-571500">
              <a:buFont typeface="+mj-lt"/>
              <a:buAutoNum type="romanLcPeriod"/>
            </a:pPr>
            <a:r>
              <a:rPr lang="en-US" i="1" dirty="0" smtClean="0"/>
              <a:t>Humanistic behavior.</a:t>
            </a:r>
          </a:p>
          <a:p>
            <a:pPr marL="571500" indent="-571500">
              <a:buFont typeface="+mj-lt"/>
              <a:buAutoNum type="romanLcPeriod"/>
            </a:pPr>
            <a:r>
              <a:rPr lang="en-US" i="1" dirty="0" smtClean="0"/>
              <a:t>Philosophy of management.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2. Functions of Personnel Management</a:t>
            </a:r>
            <a:endParaRPr lang="en-US" sz="3200" dirty="0"/>
          </a:p>
        </p:txBody>
      </p:sp>
      <p:sp>
        <p:nvSpPr>
          <p:cNvPr id="9" name="Content Placeholder 8"/>
          <p:cNvSpPr>
            <a:spLocks noGrp="1"/>
          </p:cNvSpPr>
          <p:nvPr>
            <p:ph idx="1"/>
          </p:nvPr>
        </p:nvSpPr>
        <p:spPr/>
        <p:txBody>
          <a:bodyPr>
            <a:normAutofit fontScale="70000" lnSpcReduction="20000"/>
          </a:bodyPr>
          <a:lstStyle/>
          <a:p>
            <a:pPr>
              <a:buNone/>
            </a:pPr>
            <a:r>
              <a:rPr lang="en-US" dirty="0" smtClean="0"/>
              <a:t>	 </a:t>
            </a:r>
            <a:r>
              <a:rPr lang="en-US" dirty="0" smtClean="0">
                <a:solidFill>
                  <a:srgbClr val="FF0000"/>
                </a:solidFill>
              </a:rPr>
              <a:t>Personnel management is a managerial activity involving advisory, executive and administrative responsibilities and functions as given below</a:t>
            </a:r>
            <a:r>
              <a:rPr lang="en-US" dirty="0" smtClean="0"/>
              <a:t>.</a:t>
            </a:r>
          </a:p>
          <a:p>
            <a:pPr marL="571500" indent="-571500">
              <a:buFont typeface="+mj-lt"/>
              <a:buAutoNum type="romanLcPeriod"/>
            </a:pPr>
            <a:r>
              <a:rPr lang="en-US" i="1" dirty="0" smtClean="0"/>
              <a:t>Development of personnel policy.</a:t>
            </a:r>
          </a:p>
          <a:p>
            <a:pPr marL="571500" indent="-571500">
              <a:buFont typeface="+mj-lt"/>
              <a:buAutoNum type="romanLcPeriod"/>
            </a:pPr>
            <a:r>
              <a:rPr lang="en-US" i="1" dirty="0" smtClean="0"/>
              <a:t>Manpower planning.</a:t>
            </a:r>
          </a:p>
          <a:p>
            <a:pPr marL="571500" indent="-571500">
              <a:buFont typeface="+mj-lt"/>
              <a:buAutoNum type="romanLcPeriod"/>
            </a:pPr>
            <a:r>
              <a:rPr lang="en-US" i="1" dirty="0" smtClean="0"/>
              <a:t>Recruitment and selection of manpower.</a:t>
            </a:r>
          </a:p>
          <a:p>
            <a:pPr marL="571500" indent="-571500">
              <a:buFont typeface="+mj-lt"/>
              <a:buAutoNum type="romanLcPeriod"/>
            </a:pPr>
            <a:r>
              <a:rPr lang="en-US" i="1" dirty="0" smtClean="0"/>
              <a:t>Analysis, description and valuation of the work.</a:t>
            </a:r>
          </a:p>
          <a:p>
            <a:pPr marL="571500" indent="-571500">
              <a:buFont typeface="+mj-lt"/>
              <a:buAutoNum type="romanLcPeriod"/>
            </a:pPr>
            <a:r>
              <a:rPr lang="en-US" i="1" dirty="0" smtClean="0"/>
              <a:t>Compensation and schemes of appraisal of the work.</a:t>
            </a:r>
          </a:p>
          <a:p>
            <a:pPr marL="571500" indent="-571500">
              <a:buFont typeface="+mj-lt"/>
              <a:buAutoNum type="romanLcPeriod"/>
            </a:pPr>
            <a:r>
              <a:rPr lang="en-US" i="1" dirty="0" smtClean="0"/>
              <a:t>Keeping records of personnel.</a:t>
            </a:r>
          </a:p>
          <a:p>
            <a:pPr marL="571500" indent="-571500">
              <a:buFont typeface="+mj-lt"/>
              <a:buAutoNum type="romanLcPeriod"/>
            </a:pPr>
            <a:r>
              <a:rPr lang="en-US" i="1" dirty="0" smtClean="0"/>
              <a:t>Welfare and safety programs.</a:t>
            </a:r>
          </a:p>
          <a:p>
            <a:pPr marL="571500" indent="-571500">
              <a:buFont typeface="+mj-lt"/>
              <a:buAutoNum type="romanLcPeriod"/>
            </a:pPr>
            <a:r>
              <a:rPr lang="en-US" i="1" dirty="0" smtClean="0"/>
              <a:t>Training and development of manpower.</a:t>
            </a:r>
          </a:p>
          <a:p>
            <a:pPr marL="571500" indent="-571500">
              <a:buFont typeface="+mj-lt"/>
              <a:buAutoNum type="romanLcPeriod"/>
            </a:pPr>
            <a:r>
              <a:rPr lang="en-US" i="1" dirty="0" smtClean="0"/>
              <a:t>Wages and salary administration.</a:t>
            </a:r>
          </a:p>
          <a:p>
            <a:pPr marL="571500" indent="-571500">
              <a:buFont typeface="+mj-lt"/>
              <a:buAutoNum type="romanLcPeriod"/>
            </a:pPr>
            <a:r>
              <a:rPr lang="en-US" i="1" dirty="0" smtClean="0"/>
              <a:t>Collective bargaining (negotiations with trade unions).</a:t>
            </a:r>
          </a:p>
          <a:p>
            <a:pPr marL="571500" indent="-571500">
              <a:buFont typeface="+mj-lt"/>
              <a:buAutoNum type="romanLcPeriod"/>
            </a:pPr>
            <a:r>
              <a:rPr lang="en-US" i="1" dirty="0" smtClean="0"/>
              <a:t>Promotions, transfers and retirement of employees.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b="1" dirty="0" smtClean="0"/>
              <a:t>Principles of Personnel Management</a:t>
            </a:r>
            <a:endParaRPr lang="en-US" sz="36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dirty="0" smtClean="0">
                <a:solidFill>
                  <a:srgbClr val="FF0000"/>
                </a:solidFill>
              </a:rPr>
              <a:t>Principles of personnel management are the rules which help the personnel managers to conduct and direct the policies in a proper way.</a:t>
            </a:r>
          </a:p>
          <a:p>
            <a:pPr marL="571500" indent="-571500" algn="just">
              <a:buFont typeface="+mj-lt"/>
              <a:buAutoNum type="romanUcPeriod"/>
            </a:pPr>
            <a:r>
              <a:rPr lang="en-US" i="1" dirty="0" smtClean="0"/>
              <a:t>Principle of Maximum Industrial Development.</a:t>
            </a:r>
          </a:p>
          <a:p>
            <a:pPr marL="571500" indent="-571500" algn="just">
              <a:buFont typeface="+mj-lt"/>
              <a:buAutoNum type="romanUcPeriod"/>
            </a:pPr>
            <a:r>
              <a:rPr lang="en-US" i="1" dirty="0" smtClean="0"/>
              <a:t>Principle of Scientific Selection.</a:t>
            </a:r>
          </a:p>
          <a:p>
            <a:pPr marL="571500" indent="-571500" algn="just">
              <a:buFont typeface="+mj-lt"/>
              <a:buAutoNum type="romanUcPeriod"/>
            </a:pPr>
            <a:r>
              <a:rPr lang="en-US" i="1" dirty="0" smtClean="0"/>
              <a:t>Principle of High Morale.</a:t>
            </a:r>
          </a:p>
          <a:p>
            <a:pPr marL="571500" indent="-571500" algn="just">
              <a:buFont typeface="+mj-lt"/>
              <a:buAutoNum type="romanUcPeriod"/>
            </a:pPr>
            <a:r>
              <a:rPr lang="en-US" i="1" dirty="0" smtClean="0"/>
              <a:t>Principle of Dignity of Labor.</a:t>
            </a:r>
          </a:p>
          <a:p>
            <a:pPr marL="571500" indent="-571500" algn="just">
              <a:buFont typeface="+mj-lt"/>
              <a:buAutoNum type="romanUcPeriod"/>
            </a:pPr>
            <a:r>
              <a:rPr lang="en-US" i="1" dirty="0" smtClean="0"/>
              <a:t>Principle of  Team Spirit.</a:t>
            </a:r>
          </a:p>
          <a:p>
            <a:pPr marL="571500" indent="-571500" algn="just">
              <a:buFont typeface="+mj-lt"/>
              <a:buAutoNum type="romanUcPeriod"/>
            </a:pPr>
            <a:r>
              <a:rPr lang="en-US" i="1" dirty="0" smtClean="0"/>
              <a:t>Principle of Effective Communication.</a:t>
            </a:r>
          </a:p>
          <a:p>
            <a:pPr marL="571500" indent="-571500" algn="just">
              <a:buFont typeface="+mj-lt"/>
              <a:buAutoNum type="romanUcPeriod"/>
            </a:pPr>
            <a:r>
              <a:rPr lang="en-US" i="1" dirty="0" smtClean="0"/>
              <a:t>Principle of Joint Management.</a:t>
            </a:r>
          </a:p>
          <a:p>
            <a:pPr marL="571500" indent="-571500" algn="just">
              <a:buFont typeface="+mj-lt"/>
              <a:buAutoNum type="romanUcPeriod"/>
            </a:pPr>
            <a:r>
              <a:rPr lang="en-US" i="1" dirty="0" smtClean="0"/>
              <a:t>Principle of Fair Award.</a:t>
            </a:r>
          </a:p>
          <a:p>
            <a:pPr marL="571500" indent="-571500" algn="just">
              <a:buFont typeface="+mj-lt"/>
              <a:buAutoNum type="romanUcPeriod"/>
            </a:pPr>
            <a:r>
              <a:rPr lang="en-US" i="1" dirty="0" smtClean="0"/>
              <a:t>Principle of Effective Utilization.</a:t>
            </a:r>
          </a:p>
          <a:p>
            <a:pPr marL="571500" indent="-571500" algn="just">
              <a:buFont typeface="+mj-lt"/>
              <a:buAutoNum type="romanUcPeriod"/>
            </a:pPr>
            <a:r>
              <a:rPr lang="en-US" i="1" dirty="0" smtClean="0"/>
              <a:t>Principle of Contribution of national prosperity.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Development of Personal Policy</a:t>
            </a:r>
            <a:endParaRPr lang="en-US"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a:t>
            </a:r>
            <a:r>
              <a:rPr lang="en-US" dirty="0" smtClean="0">
                <a:solidFill>
                  <a:srgbClr val="FF0000"/>
                </a:solidFill>
              </a:rPr>
              <a:t>Personnel policies </a:t>
            </a:r>
            <a:r>
              <a:rPr lang="en-US" dirty="0" smtClean="0"/>
              <a:t>serve as a guide to the subordinates in taking quick decisions. Policies are not objectives. They are only means to end. Policies are formulated to achieve personnel and organizational objectives. For example, the policy of promotion from within may be formulated with the objective of individual development.</a:t>
            </a:r>
          </a:p>
          <a:p>
            <a:pPr algn="just">
              <a:buNone/>
            </a:pPr>
            <a:r>
              <a:rPr lang="en-US" dirty="0" smtClean="0"/>
              <a:t>	</a:t>
            </a:r>
            <a:r>
              <a:rPr lang="en-US" b="1" dirty="0" smtClean="0">
                <a:solidFill>
                  <a:srgbClr val="FF0000"/>
                </a:solidFill>
              </a:rPr>
              <a:t>The chief objectives of personnel policies are:</a:t>
            </a:r>
          </a:p>
          <a:p>
            <a:pPr algn="just">
              <a:buNone/>
            </a:pPr>
            <a:r>
              <a:rPr lang="en-US" dirty="0" smtClean="0"/>
              <a:t>	- </a:t>
            </a:r>
            <a:r>
              <a:rPr lang="en-US" i="1" dirty="0" smtClean="0"/>
              <a:t>maximum development of workers, maximum use of their abilities, skill and talents.</a:t>
            </a:r>
          </a:p>
          <a:p>
            <a:pPr algn="just">
              <a:buNone/>
            </a:pPr>
            <a:r>
              <a:rPr lang="en-US" i="1" dirty="0" smtClean="0"/>
              <a:t>	- Good labor relations.</a:t>
            </a:r>
          </a:p>
          <a:p>
            <a:pPr algn="just">
              <a:buNone/>
            </a:pPr>
            <a:r>
              <a:rPr lang="en-US" i="1" dirty="0" smtClean="0"/>
              <a:t>	- safeguard the interest of labor and customers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Development of Personal Policy</a:t>
            </a:r>
            <a:endParaRPr lang="en-US" dirty="0"/>
          </a:p>
        </p:txBody>
      </p:sp>
      <p:sp>
        <p:nvSpPr>
          <p:cNvPr id="9" name="Content Placeholder 8"/>
          <p:cNvSpPr>
            <a:spLocks noGrp="1"/>
          </p:cNvSpPr>
          <p:nvPr>
            <p:ph idx="1"/>
          </p:nvPr>
        </p:nvSpPr>
        <p:spPr/>
        <p:txBody>
          <a:bodyPr>
            <a:normAutofit lnSpcReduction="10000"/>
          </a:bodyPr>
          <a:lstStyle/>
          <a:p>
            <a:pPr algn="just">
              <a:buNone/>
            </a:pPr>
            <a:r>
              <a:rPr lang="en-US" dirty="0" smtClean="0"/>
              <a:t>	</a:t>
            </a:r>
            <a:r>
              <a:rPr lang="en-US" b="1" dirty="0" smtClean="0">
                <a:solidFill>
                  <a:srgbClr val="FF0000"/>
                </a:solidFill>
              </a:rPr>
              <a:t>A good personnel policy must include the following:</a:t>
            </a:r>
          </a:p>
          <a:p>
            <a:pPr marL="571500" indent="-571500" algn="just">
              <a:buFont typeface="+mj-lt"/>
              <a:buAutoNum type="romanLcPeriod"/>
            </a:pPr>
            <a:r>
              <a:rPr lang="en-US" i="1" dirty="0" smtClean="0"/>
              <a:t>Company name, history and structure.</a:t>
            </a:r>
          </a:p>
          <a:p>
            <a:pPr marL="571500" indent="-571500" algn="just">
              <a:buFont typeface="+mj-lt"/>
              <a:buAutoNum type="romanLcPeriod"/>
            </a:pPr>
            <a:r>
              <a:rPr lang="en-US" i="1" dirty="0" smtClean="0"/>
              <a:t>Sources of recruitment, selection procedure.</a:t>
            </a:r>
          </a:p>
          <a:p>
            <a:pPr marL="571500" indent="-571500" algn="just">
              <a:buFont typeface="+mj-lt"/>
              <a:buAutoNum type="romanLcPeriod"/>
            </a:pPr>
            <a:r>
              <a:rPr lang="en-US" i="1" dirty="0" smtClean="0"/>
              <a:t>Training and welfare.</a:t>
            </a:r>
          </a:p>
          <a:p>
            <a:pPr marL="571500" indent="-571500" algn="just">
              <a:buFont typeface="+mj-lt"/>
              <a:buAutoNum type="romanLcPeriod"/>
            </a:pPr>
            <a:r>
              <a:rPr lang="en-US" i="1" dirty="0" smtClean="0"/>
              <a:t>Wages and Incentives.</a:t>
            </a:r>
          </a:p>
          <a:p>
            <a:pPr marL="571500" indent="-571500" algn="just">
              <a:buFont typeface="+mj-lt"/>
              <a:buAutoNum type="romanLcPeriod"/>
            </a:pPr>
            <a:r>
              <a:rPr lang="en-US" i="1" dirty="0" smtClean="0"/>
              <a:t>Promotion policy.</a:t>
            </a:r>
          </a:p>
          <a:p>
            <a:pPr marL="571500" indent="-571500" algn="just">
              <a:buFont typeface="+mj-lt"/>
              <a:buAutoNum type="romanLcPeriod"/>
            </a:pPr>
            <a:r>
              <a:rPr lang="en-US" i="1" dirty="0" smtClean="0"/>
              <a:t>Retirement plan.</a:t>
            </a:r>
          </a:p>
          <a:p>
            <a:pPr marL="571500" indent="-571500" algn="just">
              <a:buFont typeface="+mj-lt"/>
              <a:buAutoNum type="romanLcPeriod"/>
            </a:pPr>
            <a:r>
              <a:rPr lang="en-US" i="1" dirty="0" smtClean="0"/>
              <a:t>Collective bargaining.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Manpower Planning</a:t>
            </a:r>
            <a:endParaRPr lang="en-US" dirty="0"/>
          </a:p>
        </p:txBody>
      </p:sp>
      <p:sp>
        <p:nvSpPr>
          <p:cNvPr id="9" name="Content Placeholder 8"/>
          <p:cNvSpPr>
            <a:spLocks noGrp="1"/>
          </p:cNvSpPr>
          <p:nvPr>
            <p:ph idx="1"/>
          </p:nvPr>
        </p:nvSpPr>
        <p:spPr/>
        <p:txBody>
          <a:bodyPr>
            <a:normAutofit fontScale="62500" lnSpcReduction="20000"/>
          </a:bodyPr>
          <a:lstStyle/>
          <a:p>
            <a:pPr>
              <a:buNone/>
            </a:pPr>
            <a:r>
              <a:rPr lang="en-US" dirty="0" smtClean="0"/>
              <a:t>	</a:t>
            </a:r>
            <a:r>
              <a:rPr lang="en-US" b="1" dirty="0" smtClean="0">
                <a:solidFill>
                  <a:srgbClr val="FF0000"/>
                </a:solidFill>
              </a:rPr>
              <a:t>Manpower planning </a:t>
            </a:r>
            <a:r>
              <a:rPr lang="en-US" dirty="0" smtClean="0">
                <a:solidFill>
                  <a:srgbClr val="FF0000"/>
                </a:solidFill>
              </a:rPr>
              <a:t>may be defined as, the scientific process of allocating the right quantity of right men to be required in future at right time on the right job.</a:t>
            </a:r>
          </a:p>
          <a:p>
            <a:pPr>
              <a:buNone/>
            </a:pPr>
            <a:r>
              <a:rPr lang="en-US" dirty="0" smtClean="0"/>
              <a:t>	Manpower planning is done to fulfill the two main objectives namely,</a:t>
            </a:r>
          </a:p>
          <a:p>
            <a:pPr marL="571500" indent="-571500">
              <a:buFont typeface="+mj-lt"/>
              <a:buAutoNum type="romanLcPeriod"/>
            </a:pPr>
            <a:r>
              <a:rPr lang="en-US" i="1" dirty="0" smtClean="0">
                <a:solidFill>
                  <a:srgbClr val="0628D4"/>
                </a:solidFill>
              </a:rPr>
              <a:t>To utilize the present employees fully, and</a:t>
            </a:r>
          </a:p>
          <a:p>
            <a:pPr marL="571500" indent="-571500">
              <a:buFont typeface="+mj-lt"/>
              <a:buAutoNum type="romanLcPeriod"/>
            </a:pPr>
            <a:r>
              <a:rPr lang="en-US" i="1" dirty="0" smtClean="0">
                <a:solidFill>
                  <a:srgbClr val="0628D4"/>
                </a:solidFill>
              </a:rPr>
              <a:t>To fill up future manpower requirements.</a:t>
            </a:r>
          </a:p>
          <a:p>
            <a:pPr marL="571500" indent="-571500">
              <a:buNone/>
            </a:pPr>
            <a:r>
              <a:rPr lang="en-US" dirty="0" smtClean="0"/>
              <a:t>	</a:t>
            </a:r>
          </a:p>
          <a:p>
            <a:pPr marL="571500" indent="-571500">
              <a:buNone/>
            </a:pPr>
            <a:r>
              <a:rPr lang="en-US" b="1" dirty="0" smtClean="0">
                <a:solidFill>
                  <a:srgbClr val="FF0000"/>
                </a:solidFill>
              </a:rPr>
              <a:t>Types of manpower planning can be distinguished:</a:t>
            </a:r>
          </a:p>
          <a:p>
            <a:pPr marL="571500" indent="-571500">
              <a:buFont typeface="+mj-lt"/>
              <a:buAutoNum type="romanLcPeriod"/>
            </a:pPr>
            <a:r>
              <a:rPr lang="en-US" b="1" dirty="0" smtClean="0"/>
              <a:t>On the basis of the level at which it is done, </a:t>
            </a:r>
          </a:p>
          <a:p>
            <a:pPr marL="845820" lvl="1" indent="-571500">
              <a:buFont typeface="+mj-lt"/>
              <a:buAutoNum type="alphaLcPeriod"/>
            </a:pPr>
            <a:r>
              <a:rPr lang="en-US" dirty="0" smtClean="0"/>
              <a:t>Macro-level (national level)</a:t>
            </a:r>
          </a:p>
          <a:p>
            <a:pPr marL="845820" lvl="1" indent="-571500">
              <a:buFont typeface="+mj-lt"/>
              <a:buAutoNum type="alphaLcPeriod"/>
            </a:pPr>
            <a:r>
              <a:rPr lang="en-US" dirty="0" smtClean="0"/>
              <a:t>Micro-level (Industrial unit level)</a:t>
            </a:r>
          </a:p>
          <a:p>
            <a:pPr marL="845820" lvl="1" indent="-571500">
              <a:buNone/>
            </a:pPr>
            <a:endParaRPr lang="en-US" dirty="0" smtClean="0"/>
          </a:p>
          <a:p>
            <a:pPr marL="571500" indent="-571500">
              <a:buFont typeface="+mj-lt"/>
              <a:buAutoNum type="romanLcPeriod"/>
            </a:pPr>
            <a:r>
              <a:rPr lang="en-US" b="1" dirty="0" smtClean="0"/>
              <a:t>On the basis of the period for which it is done.</a:t>
            </a:r>
          </a:p>
          <a:p>
            <a:pPr marL="845820" lvl="1" indent="-571500">
              <a:buFont typeface="+mj-lt"/>
              <a:buAutoNum type="alphaLcPeriod"/>
            </a:pPr>
            <a:r>
              <a:rPr lang="en-US" dirty="0" smtClean="0"/>
              <a:t>Short period</a:t>
            </a:r>
          </a:p>
          <a:p>
            <a:pPr marL="845820" lvl="1" indent="-571500">
              <a:buFont typeface="+mj-lt"/>
              <a:buAutoNum type="alphaLcPeriod"/>
            </a:pPr>
            <a:r>
              <a:rPr lang="en-US" dirty="0" smtClean="0"/>
              <a:t>Medium period</a:t>
            </a:r>
          </a:p>
          <a:p>
            <a:pPr marL="845820" lvl="1" indent="-571500">
              <a:buFont typeface="+mj-lt"/>
              <a:buAutoNum type="alphaLcPeriod"/>
            </a:pPr>
            <a:r>
              <a:rPr lang="en-US" dirty="0" smtClean="0"/>
              <a:t>Long period.</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Manpower Planning</a:t>
            </a:r>
            <a:endParaRPr lang="en-US" dirty="0"/>
          </a:p>
        </p:txBody>
      </p:sp>
      <p:sp>
        <p:nvSpPr>
          <p:cNvPr id="9" name="Content Placeholder 8"/>
          <p:cNvSpPr>
            <a:spLocks noGrp="1"/>
          </p:cNvSpPr>
          <p:nvPr>
            <p:ph idx="1"/>
          </p:nvPr>
        </p:nvSpPr>
        <p:spPr/>
        <p:txBody>
          <a:bodyPr>
            <a:normAutofit fontScale="55000" lnSpcReduction="20000"/>
          </a:bodyPr>
          <a:lstStyle/>
          <a:p>
            <a:pPr>
              <a:buNone/>
            </a:pPr>
            <a:r>
              <a:rPr lang="en-US" b="1" dirty="0" smtClean="0">
                <a:solidFill>
                  <a:srgbClr val="FF0000"/>
                </a:solidFill>
              </a:rPr>
              <a:t>Factors affecting Manpower planning.</a:t>
            </a:r>
          </a:p>
          <a:p>
            <a:pPr marL="571500" indent="-571500">
              <a:buFont typeface="+mj-lt"/>
              <a:buAutoNum type="romanLcPeriod"/>
            </a:pPr>
            <a:r>
              <a:rPr lang="en-US" i="1" dirty="0" smtClean="0"/>
              <a:t>Working hours.</a:t>
            </a:r>
          </a:p>
          <a:p>
            <a:pPr marL="571500" indent="-571500">
              <a:buFont typeface="+mj-lt"/>
              <a:buAutoNum type="romanLcPeriod"/>
            </a:pPr>
            <a:r>
              <a:rPr lang="en-US" i="1" dirty="0" smtClean="0"/>
              <a:t>Number of shifts.</a:t>
            </a:r>
          </a:p>
          <a:p>
            <a:pPr marL="571500" indent="-571500">
              <a:buFont typeface="+mj-lt"/>
              <a:buAutoNum type="romanLcPeriod"/>
            </a:pPr>
            <a:r>
              <a:rPr lang="en-US" i="1" dirty="0" smtClean="0"/>
              <a:t>Nature of production.</a:t>
            </a:r>
          </a:p>
          <a:p>
            <a:pPr marL="571500" indent="-571500">
              <a:buFont typeface="+mj-lt"/>
              <a:buAutoNum type="romanLcPeriod"/>
            </a:pPr>
            <a:r>
              <a:rPr lang="en-US" i="1" dirty="0" smtClean="0"/>
              <a:t>Product mix.</a:t>
            </a:r>
          </a:p>
          <a:p>
            <a:pPr marL="571500" indent="-571500">
              <a:buFont typeface="+mj-lt"/>
              <a:buAutoNum type="romanLcPeriod"/>
            </a:pPr>
            <a:r>
              <a:rPr lang="en-US" i="1" dirty="0" smtClean="0"/>
              <a:t>Performance rate.</a:t>
            </a:r>
          </a:p>
          <a:p>
            <a:pPr marL="571500" indent="-571500">
              <a:buFont typeface="+mj-lt"/>
              <a:buAutoNum type="romanLcPeriod"/>
            </a:pPr>
            <a:r>
              <a:rPr lang="en-US" i="1" dirty="0" smtClean="0"/>
              <a:t>Hours lost.</a:t>
            </a:r>
          </a:p>
          <a:p>
            <a:pPr marL="571500" indent="-571500">
              <a:buNone/>
            </a:pPr>
            <a:r>
              <a:rPr lang="en-US" dirty="0" smtClean="0"/>
              <a:t>	</a:t>
            </a:r>
          </a:p>
          <a:p>
            <a:pPr marL="571500" indent="-571500">
              <a:buNone/>
            </a:pPr>
            <a:r>
              <a:rPr lang="en-US" b="1" dirty="0" smtClean="0">
                <a:solidFill>
                  <a:srgbClr val="FF0000"/>
                </a:solidFill>
              </a:rPr>
              <a:t>Steps in Manpower planning.</a:t>
            </a:r>
          </a:p>
          <a:p>
            <a:pPr marL="571500" indent="-571500">
              <a:buFont typeface="+mj-lt"/>
              <a:buAutoNum type="romanLcPeriod"/>
            </a:pPr>
            <a:r>
              <a:rPr lang="en-US" i="1" dirty="0" smtClean="0"/>
              <a:t>Understanding the business activities.</a:t>
            </a:r>
          </a:p>
          <a:p>
            <a:pPr marL="571500" indent="-571500">
              <a:buFont typeface="+mj-lt"/>
              <a:buAutoNum type="romanLcPeriod"/>
            </a:pPr>
            <a:r>
              <a:rPr lang="en-US" i="1" dirty="0" smtClean="0"/>
              <a:t>Identification of tasks.</a:t>
            </a:r>
          </a:p>
          <a:p>
            <a:pPr marL="571500" indent="-571500">
              <a:buFont typeface="+mj-lt"/>
              <a:buAutoNum type="romanLcPeriod"/>
            </a:pPr>
            <a:r>
              <a:rPr lang="en-US" i="1" dirty="0" smtClean="0"/>
              <a:t>Manpower forecast.</a:t>
            </a:r>
          </a:p>
          <a:p>
            <a:pPr marL="571500" indent="-571500">
              <a:buFont typeface="+mj-lt"/>
              <a:buAutoNum type="romanLcPeriod"/>
            </a:pPr>
            <a:r>
              <a:rPr lang="en-US" i="1" dirty="0" smtClean="0"/>
              <a:t>Job analysis</a:t>
            </a:r>
          </a:p>
          <a:p>
            <a:pPr marL="571500" indent="-571500">
              <a:buFont typeface="+mj-lt"/>
              <a:buAutoNum type="romanLcPeriod"/>
            </a:pPr>
            <a:r>
              <a:rPr lang="en-US" i="1" dirty="0" smtClean="0"/>
              <a:t>Reviewing the existing manpower.</a:t>
            </a:r>
          </a:p>
          <a:p>
            <a:pPr marL="571500" indent="-571500">
              <a:buFont typeface="+mj-lt"/>
              <a:buAutoNum type="romanLcPeriod"/>
            </a:pPr>
            <a:r>
              <a:rPr lang="en-US" i="1" dirty="0" smtClean="0"/>
              <a:t>Anticipating the availability of manpower from external sources.</a:t>
            </a:r>
          </a:p>
          <a:p>
            <a:pPr marL="571500" indent="-571500">
              <a:buFont typeface="+mj-lt"/>
              <a:buAutoNum type="romanLcPeriod"/>
            </a:pPr>
            <a:r>
              <a:rPr lang="en-US" i="1" dirty="0" smtClean="0"/>
              <a:t>Manpower management.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5. Recruitment and Selection of manpower</a:t>
            </a:r>
            <a:endParaRPr lang="en-US" sz="32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dirty="0" smtClean="0">
                <a:solidFill>
                  <a:srgbClr val="0000CC"/>
                </a:solidFill>
              </a:rPr>
              <a:t>“</a:t>
            </a:r>
            <a:r>
              <a:rPr lang="en-US" b="1" dirty="0" smtClean="0">
                <a:solidFill>
                  <a:srgbClr val="FF0000"/>
                </a:solidFill>
              </a:rPr>
              <a:t>Recruitment</a:t>
            </a:r>
            <a:r>
              <a:rPr lang="en-US" dirty="0" smtClean="0">
                <a:solidFill>
                  <a:srgbClr val="0000CC"/>
                </a:solidFill>
              </a:rPr>
              <a:t> is the development and maintenance of adequate manpower resources. It involves the creation of a pool of available labor upon whom the organization can depend when it needs additional employees.”</a:t>
            </a:r>
            <a:r>
              <a:rPr lang="en-US" dirty="0" smtClean="0"/>
              <a:t> </a:t>
            </a:r>
            <a:r>
              <a:rPr lang="en-US" dirty="0" smtClean="0">
                <a:solidFill>
                  <a:srgbClr val="FF0000"/>
                </a:solidFill>
              </a:rPr>
              <a:t>– Dales S. Beach</a:t>
            </a:r>
          </a:p>
          <a:p>
            <a:pPr algn="just">
              <a:buNone/>
            </a:pPr>
            <a:endParaRPr lang="en-US" dirty="0" smtClean="0"/>
          </a:p>
          <a:p>
            <a:pPr algn="just">
              <a:buNone/>
            </a:pPr>
            <a:r>
              <a:rPr lang="en-US" dirty="0" smtClean="0"/>
              <a:t>	</a:t>
            </a:r>
            <a:r>
              <a:rPr lang="en-US" i="1" dirty="0" smtClean="0"/>
              <a:t>The sources of manpower supply for different categories of workers (unskilled, semi-skilled and highly skilled) can be broadly classified as:</a:t>
            </a:r>
          </a:p>
          <a:p>
            <a:pPr marL="571500" indent="-571500" algn="just">
              <a:buFont typeface="+mj-lt"/>
              <a:buAutoNum type="romanLcPeriod"/>
            </a:pPr>
            <a:r>
              <a:rPr lang="en-US" b="1" dirty="0" smtClean="0"/>
              <a:t>Internal </a:t>
            </a:r>
            <a:r>
              <a:rPr lang="en-US" dirty="0" smtClean="0"/>
              <a:t>i.e. recruitment from within the industry.</a:t>
            </a:r>
          </a:p>
          <a:p>
            <a:pPr marL="571500" indent="-571500" algn="just">
              <a:buFont typeface="+mj-lt"/>
              <a:buAutoNum type="romanLcPeriod"/>
            </a:pPr>
            <a:r>
              <a:rPr lang="en-US" b="1" dirty="0" smtClean="0"/>
              <a:t>External</a:t>
            </a:r>
            <a:r>
              <a:rPr lang="en-US" dirty="0" smtClean="0"/>
              <a:t> i.e. recruitment from outside. (former employees, recommendations, employment exchange, advertisement, applications at the gate, educational and academic institutions, labor unions).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5. Recruitment and Selection of manpower</a:t>
            </a:r>
            <a:endParaRPr lang="en-US" sz="3200" dirty="0"/>
          </a:p>
        </p:txBody>
      </p:sp>
      <p:sp>
        <p:nvSpPr>
          <p:cNvPr id="9" name="Content Placeholder 8"/>
          <p:cNvSpPr>
            <a:spLocks noGrp="1"/>
          </p:cNvSpPr>
          <p:nvPr>
            <p:ph idx="1"/>
          </p:nvPr>
        </p:nvSpPr>
        <p:spPr/>
        <p:txBody>
          <a:bodyPr>
            <a:normAutofit fontScale="62500" lnSpcReduction="20000"/>
          </a:bodyPr>
          <a:lstStyle/>
          <a:p>
            <a:pPr>
              <a:buNone/>
            </a:pPr>
            <a:r>
              <a:rPr lang="en-US" dirty="0" smtClean="0"/>
              <a:t>	</a:t>
            </a:r>
            <a:r>
              <a:rPr lang="en-US" sz="4500" b="1" u="sng" dirty="0" smtClean="0">
                <a:solidFill>
                  <a:srgbClr val="FF0000"/>
                </a:solidFill>
              </a:rPr>
              <a:t>Scientific selection</a:t>
            </a:r>
          </a:p>
          <a:p>
            <a:pPr algn="just">
              <a:buNone/>
            </a:pPr>
            <a:r>
              <a:rPr lang="en-US" dirty="0" smtClean="0"/>
              <a:t>	A scientific selection procedure ensures the selection of suitable candidate for a particular job. </a:t>
            </a:r>
            <a:r>
              <a:rPr lang="en-US" i="1" dirty="0" smtClean="0">
                <a:solidFill>
                  <a:srgbClr val="0628D4"/>
                </a:solidFill>
              </a:rPr>
              <a:t>The object of scientific selection is to place on each job a worker who can maintain a given output with minimum expenditure of energy and who will be best fitted to the job, “right person for the right job”.</a:t>
            </a:r>
          </a:p>
          <a:p>
            <a:pPr>
              <a:buNone/>
            </a:pPr>
            <a:r>
              <a:rPr lang="en-US" dirty="0" smtClean="0"/>
              <a:t>	</a:t>
            </a:r>
            <a:r>
              <a:rPr lang="en-US" b="1" dirty="0" smtClean="0"/>
              <a:t>The major factors in individual fitness for a job are:</a:t>
            </a:r>
          </a:p>
          <a:p>
            <a:pPr marL="571500" indent="-571500">
              <a:buFont typeface="+mj-lt"/>
              <a:buAutoNum type="romanUcPeriod"/>
            </a:pPr>
            <a:r>
              <a:rPr lang="en-US" b="1" dirty="0" smtClean="0">
                <a:solidFill>
                  <a:srgbClr val="FF0000"/>
                </a:solidFill>
              </a:rPr>
              <a:t>Physical characteristics</a:t>
            </a:r>
            <a:r>
              <a:rPr lang="en-US" dirty="0" smtClean="0"/>
              <a:t>: sound body, limbs, height, weight, eye sight etc.</a:t>
            </a:r>
          </a:p>
          <a:p>
            <a:pPr marL="571500" indent="-571500">
              <a:buFont typeface="+mj-lt"/>
              <a:buAutoNum type="romanUcPeriod"/>
            </a:pPr>
            <a:r>
              <a:rPr lang="en-US" b="1" dirty="0" smtClean="0">
                <a:solidFill>
                  <a:srgbClr val="FF0000"/>
                </a:solidFill>
              </a:rPr>
              <a:t>Personal characteristics</a:t>
            </a:r>
            <a:r>
              <a:rPr lang="en-US" dirty="0" smtClean="0"/>
              <a:t>: age, sex, marital status, previous experience, place of birth, number of children etc.</a:t>
            </a:r>
          </a:p>
          <a:p>
            <a:pPr marL="571500" indent="-571500">
              <a:buFont typeface="+mj-lt"/>
              <a:buAutoNum type="romanUcPeriod"/>
            </a:pPr>
            <a:r>
              <a:rPr lang="en-US" b="1" dirty="0" smtClean="0">
                <a:solidFill>
                  <a:srgbClr val="FF0000"/>
                </a:solidFill>
              </a:rPr>
              <a:t>Proficiency or skill and ability</a:t>
            </a:r>
            <a:r>
              <a:rPr lang="en-US" dirty="0" smtClean="0"/>
              <a:t>: This is the basic characteristic in fitting worker to a job.</a:t>
            </a:r>
          </a:p>
          <a:p>
            <a:pPr marL="571500" indent="-571500">
              <a:buFont typeface="+mj-lt"/>
              <a:buAutoNum type="romanUcPeriod"/>
            </a:pPr>
            <a:r>
              <a:rPr lang="en-US" b="1" dirty="0" smtClean="0">
                <a:solidFill>
                  <a:srgbClr val="FF0000"/>
                </a:solidFill>
              </a:rPr>
              <a:t>Competency</a:t>
            </a:r>
            <a:r>
              <a:rPr lang="en-US" dirty="0" smtClean="0"/>
              <a:t>: Potentiality of an individual for learning and becoming proficient in a job. It points out the capacity to acquire knowledge and skill for success on the job.</a:t>
            </a:r>
          </a:p>
          <a:p>
            <a:pPr marL="571500" indent="-571500">
              <a:buFont typeface="+mj-lt"/>
              <a:buAutoNum type="romanUcPeriod"/>
            </a:pPr>
            <a:r>
              <a:rPr lang="en-US" b="1" dirty="0" smtClean="0">
                <a:solidFill>
                  <a:srgbClr val="FF0000"/>
                </a:solidFill>
              </a:rPr>
              <a:t>Temperament and character</a:t>
            </a:r>
          </a:p>
          <a:p>
            <a:pPr marL="571500" indent="-571500">
              <a:buFont typeface="+mj-lt"/>
              <a:buAutoNum type="romanUcPeriod"/>
            </a:pPr>
            <a:r>
              <a:rPr lang="en-US" b="1" dirty="0" smtClean="0">
                <a:solidFill>
                  <a:srgbClr val="FF0000"/>
                </a:solidFill>
              </a:rPr>
              <a:t>Interest in vocational fitness</a:t>
            </a:r>
            <a:r>
              <a:rPr lang="en-US"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5. Recruitment and Selection of manpower</a:t>
            </a:r>
            <a:endParaRPr lang="en-US" sz="3200" dirty="0"/>
          </a:p>
        </p:txBody>
      </p:sp>
      <p:sp>
        <p:nvSpPr>
          <p:cNvPr id="9" name="Content Placeholder 8"/>
          <p:cNvSpPr>
            <a:spLocks noGrp="1"/>
          </p:cNvSpPr>
          <p:nvPr>
            <p:ph idx="1"/>
          </p:nvPr>
        </p:nvSpPr>
        <p:spPr/>
        <p:txBody>
          <a:bodyPr>
            <a:normAutofit fontScale="85000" lnSpcReduction="10000"/>
          </a:bodyPr>
          <a:lstStyle/>
          <a:p>
            <a:pPr>
              <a:buNone/>
            </a:pPr>
            <a:r>
              <a:rPr lang="en-US" dirty="0" smtClean="0"/>
              <a:t>	</a:t>
            </a:r>
            <a:r>
              <a:rPr lang="en-US" b="1" u="sng" dirty="0" smtClean="0">
                <a:solidFill>
                  <a:srgbClr val="FF0000"/>
                </a:solidFill>
              </a:rPr>
              <a:t>Methods of Selection (Selection procedure)</a:t>
            </a:r>
          </a:p>
          <a:p>
            <a:pPr marL="514350" indent="-514350">
              <a:buFont typeface="+mj-lt"/>
              <a:buAutoNum type="arabicPeriod"/>
            </a:pPr>
            <a:r>
              <a:rPr lang="en-US" i="1" dirty="0" smtClean="0"/>
              <a:t>Receipt of applications.</a:t>
            </a:r>
          </a:p>
          <a:p>
            <a:pPr marL="514350" indent="-514350">
              <a:buFont typeface="+mj-lt"/>
              <a:buAutoNum type="arabicPeriod"/>
            </a:pPr>
            <a:r>
              <a:rPr lang="en-US" i="1" dirty="0" smtClean="0"/>
              <a:t>Scrutiny of applications (preliminary screening)</a:t>
            </a:r>
          </a:p>
          <a:p>
            <a:pPr marL="514350" indent="-514350">
              <a:buFont typeface="+mj-lt"/>
              <a:buAutoNum type="arabicPeriod"/>
            </a:pPr>
            <a:r>
              <a:rPr lang="en-US" i="1" dirty="0" smtClean="0"/>
              <a:t>Preliminary interview.</a:t>
            </a:r>
          </a:p>
          <a:p>
            <a:pPr marL="514350" indent="-514350">
              <a:buFont typeface="+mj-lt"/>
              <a:buAutoNum type="arabicPeriod"/>
            </a:pPr>
            <a:r>
              <a:rPr lang="en-US" i="1" dirty="0" smtClean="0"/>
              <a:t>Application blank.</a:t>
            </a:r>
          </a:p>
          <a:p>
            <a:pPr marL="514350" indent="-514350">
              <a:buFont typeface="+mj-lt"/>
              <a:buAutoNum type="arabicPeriod"/>
            </a:pPr>
            <a:r>
              <a:rPr lang="en-US" i="1" dirty="0" smtClean="0"/>
              <a:t>Employment (intelligence, trade, psychological, aptitude, interest, personality) test</a:t>
            </a:r>
          </a:p>
          <a:p>
            <a:pPr marL="514350" indent="-514350">
              <a:buFont typeface="+mj-lt"/>
              <a:buAutoNum type="arabicPeriod"/>
            </a:pPr>
            <a:r>
              <a:rPr lang="en-US" i="1" dirty="0" smtClean="0"/>
              <a:t>Employment interviews.</a:t>
            </a:r>
          </a:p>
          <a:p>
            <a:pPr marL="514350" indent="-514350">
              <a:buFont typeface="+mj-lt"/>
              <a:buAutoNum type="arabicPeriod"/>
            </a:pPr>
            <a:r>
              <a:rPr lang="en-US" i="1" dirty="0" smtClean="0"/>
              <a:t>Reference check.</a:t>
            </a:r>
          </a:p>
          <a:p>
            <a:pPr marL="514350" indent="-514350">
              <a:buFont typeface="+mj-lt"/>
              <a:buAutoNum type="arabicPeriod"/>
            </a:pPr>
            <a:r>
              <a:rPr lang="en-US" i="1" dirty="0" smtClean="0"/>
              <a:t>Medical examination.</a:t>
            </a:r>
          </a:p>
          <a:p>
            <a:pPr marL="514350" indent="-514350">
              <a:buFont typeface="+mj-lt"/>
              <a:buAutoNum type="arabicPeriod"/>
            </a:pPr>
            <a:r>
              <a:rPr lang="en-US" i="1" dirty="0" smtClean="0"/>
              <a:t>Final Selection.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Training and Development of manpower</a:t>
            </a:r>
            <a:endParaRPr lang="en-US" sz="3200"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Training may be defined as  “ </a:t>
            </a:r>
            <a:r>
              <a:rPr lang="en-US" i="1" dirty="0" smtClean="0">
                <a:solidFill>
                  <a:srgbClr val="FF0000"/>
                </a:solidFill>
              </a:rPr>
              <a:t>a well thought and well planned processes of conscious learning of new knowledge and skills for improving the learner’s ability to perform certain tasks and activities, more efficiently and effectively, in immediate/near future, with active support of some other individuals.</a:t>
            </a:r>
            <a:r>
              <a:rPr lang="en-US" dirty="0" smtClean="0"/>
              <a:t>”</a:t>
            </a:r>
          </a:p>
          <a:p>
            <a:pPr algn="just">
              <a:buNone/>
            </a:pPr>
            <a:r>
              <a:rPr lang="en-US" dirty="0" smtClean="0"/>
              <a:t>	Development is a long term educational process utilizing a systematic and organized procedure by which managerial personnel get conceptual and theoretical knowledge. An executive development program aims at increasing the capabilities of the individuals to achieve the desired objectives.</a:t>
            </a:r>
          </a:p>
          <a:p>
            <a:pPr algn="just">
              <a:buNone/>
            </a:pPr>
            <a:endParaRPr lang="en-US" dirty="0" smtClean="0"/>
          </a:p>
          <a:p>
            <a:pPr algn="just">
              <a:buNone/>
            </a:pPr>
            <a:r>
              <a:rPr lang="en-US" dirty="0" smtClean="0"/>
              <a:t>	</a:t>
            </a:r>
            <a:r>
              <a:rPr lang="en-US" u="sng" dirty="0" smtClean="0">
                <a:solidFill>
                  <a:srgbClr val="FF0000"/>
                </a:solidFill>
              </a:rPr>
              <a:t> </a:t>
            </a:r>
            <a:r>
              <a:rPr lang="en-US" b="1" u="sng" dirty="0" smtClean="0">
                <a:solidFill>
                  <a:srgbClr val="FF0000"/>
                </a:solidFill>
              </a:rPr>
              <a:t>Objectives of training and development</a:t>
            </a:r>
          </a:p>
          <a:p>
            <a:pPr marL="514350" indent="-514350" algn="just">
              <a:buFont typeface="+mj-lt"/>
              <a:buAutoNum type="arabicPeriod"/>
            </a:pPr>
            <a:r>
              <a:rPr lang="en-US" i="1" dirty="0" smtClean="0">
                <a:solidFill>
                  <a:srgbClr val="0000CC"/>
                </a:solidFill>
              </a:rPr>
              <a:t>Disseminating of knowledge.</a:t>
            </a:r>
          </a:p>
          <a:p>
            <a:pPr marL="514350" indent="-514350" algn="just">
              <a:buFont typeface="+mj-lt"/>
              <a:buAutoNum type="arabicPeriod"/>
            </a:pPr>
            <a:r>
              <a:rPr lang="en-US" i="1" dirty="0" smtClean="0">
                <a:solidFill>
                  <a:srgbClr val="0000CC"/>
                </a:solidFill>
              </a:rPr>
              <a:t>Development of skills.</a:t>
            </a:r>
          </a:p>
          <a:p>
            <a:pPr marL="514350" indent="-514350" algn="just">
              <a:buFont typeface="+mj-lt"/>
              <a:buAutoNum type="arabicPeriod"/>
            </a:pPr>
            <a:r>
              <a:rPr lang="en-US" i="1" dirty="0" smtClean="0">
                <a:solidFill>
                  <a:srgbClr val="0000CC"/>
                </a:solidFill>
              </a:rPr>
              <a:t>Change of attitudes.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Training and Development of manpower</a:t>
            </a:r>
            <a:endParaRPr lang="en-US" sz="3200" dirty="0"/>
          </a:p>
        </p:txBody>
      </p:sp>
      <p:sp>
        <p:nvSpPr>
          <p:cNvPr id="9" name="Content Placeholder 8"/>
          <p:cNvSpPr>
            <a:spLocks noGrp="1"/>
          </p:cNvSpPr>
          <p:nvPr>
            <p:ph idx="1"/>
          </p:nvPr>
        </p:nvSpPr>
        <p:spPr/>
        <p:txBody>
          <a:bodyPr>
            <a:normAutofit fontScale="77500" lnSpcReduction="20000"/>
          </a:bodyPr>
          <a:lstStyle/>
          <a:p>
            <a:pPr marL="514350" indent="-514350">
              <a:buNone/>
            </a:pPr>
            <a:r>
              <a:rPr lang="en-US" b="1" u="sng" dirty="0" smtClean="0">
                <a:solidFill>
                  <a:srgbClr val="FF0000"/>
                </a:solidFill>
              </a:rPr>
              <a:t>Benefits/advantages of training</a:t>
            </a:r>
          </a:p>
          <a:p>
            <a:pPr marL="514350" indent="-514350">
              <a:buFont typeface="+mj-lt"/>
              <a:buAutoNum type="arabicPeriod"/>
            </a:pPr>
            <a:r>
              <a:rPr lang="en-US" i="1" dirty="0" smtClean="0"/>
              <a:t>Increased productivity.</a:t>
            </a:r>
          </a:p>
          <a:p>
            <a:pPr marL="514350" indent="-514350">
              <a:buFont typeface="+mj-lt"/>
              <a:buAutoNum type="arabicPeriod"/>
            </a:pPr>
            <a:r>
              <a:rPr lang="en-US" i="1" dirty="0" smtClean="0"/>
              <a:t>Higher Employee morale.</a:t>
            </a:r>
          </a:p>
          <a:p>
            <a:pPr marL="514350" indent="-514350">
              <a:buFont typeface="+mj-lt"/>
              <a:buAutoNum type="arabicPeriod"/>
            </a:pPr>
            <a:r>
              <a:rPr lang="en-US" i="1" dirty="0" smtClean="0"/>
              <a:t>Reduced accidents.</a:t>
            </a:r>
          </a:p>
          <a:p>
            <a:pPr marL="514350" indent="-514350">
              <a:buFont typeface="+mj-lt"/>
              <a:buAutoNum type="arabicPeriod"/>
            </a:pPr>
            <a:r>
              <a:rPr lang="en-US" i="1" dirty="0" smtClean="0"/>
              <a:t>Reduction in spoilage, wastage and optimum utilization of resources.</a:t>
            </a:r>
          </a:p>
          <a:p>
            <a:pPr marL="514350" indent="-514350">
              <a:buFont typeface="+mj-lt"/>
              <a:buAutoNum type="arabicPeriod"/>
            </a:pPr>
            <a:r>
              <a:rPr lang="en-US" i="1" dirty="0" smtClean="0"/>
              <a:t>Reduced supervision.</a:t>
            </a:r>
          </a:p>
          <a:p>
            <a:pPr marL="514350" indent="-514350">
              <a:buFont typeface="+mj-lt"/>
              <a:buAutoNum type="arabicPeriod"/>
            </a:pPr>
            <a:r>
              <a:rPr lang="en-US" i="1" dirty="0" smtClean="0"/>
              <a:t>Increased organizational stability and flexibility.</a:t>
            </a:r>
          </a:p>
          <a:p>
            <a:pPr marL="514350" indent="-514350">
              <a:buFont typeface="+mj-lt"/>
              <a:buAutoNum type="arabicPeriod"/>
            </a:pPr>
            <a:r>
              <a:rPr lang="en-US" i="1" dirty="0" smtClean="0"/>
              <a:t>Self Development versatility and adaptability.</a:t>
            </a:r>
          </a:p>
          <a:p>
            <a:pPr marL="514350" indent="-514350">
              <a:buFont typeface="+mj-lt"/>
              <a:buAutoNum type="arabicPeriod"/>
            </a:pPr>
            <a:r>
              <a:rPr lang="en-US" i="1" dirty="0" smtClean="0"/>
              <a:t>Reduced turnover and absenteeism.</a:t>
            </a:r>
          </a:p>
          <a:p>
            <a:pPr marL="514350" indent="-514350">
              <a:buFont typeface="+mj-lt"/>
              <a:buAutoNum type="arabicPeriod"/>
            </a:pPr>
            <a:r>
              <a:rPr lang="en-US" i="1" dirty="0" smtClean="0"/>
              <a:t>Reduction in machine breakdown and maintenance cost.</a:t>
            </a:r>
          </a:p>
          <a:p>
            <a:pPr marL="514350" indent="-514350">
              <a:buFont typeface="+mj-lt"/>
              <a:buAutoNum type="arabicPeriod"/>
            </a:pPr>
            <a:r>
              <a:rPr lang="en-US" i="1" dirty="0" smtClean="0"/>
              <a:t>Increase in earning of the employees.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Training and Development of manpower</a:t>
            </a:r>
            <a:endParaRPr lang="en-US" sz="3200" dirty="0"/>
          </a:p>
        </p:txBody>
      </p:sp>
      <p:sp>
        <p:nvSpPr>
          <p:cNvPr id="9" name="Content Placeholder 8"/>
          <p:cNvSpPr>
            <a:spLocks noGrp="1"/>
          </p:cNvSpPr>
          <p:nvPr>
            <p:ph idx="1"/>
          </p:nvPr>
        </p:nvSpPr>
        <p:spPr>
          <a:xfrm>
            <a:off x="457200" y="1189037"/>
            <a:ext cx="8229600" cy="4983163"/>
          </a:xfrm>
        </p:spPr>
        <p:txBody>
          <a:bodyPr>
            <a:normAutofit fontScale="70000" lnSpcReduction="20000"/>
          </a:bodyPr>
          <a:lstStyle/>
          <a:p>
            <a:pPr algn="just">
              <a:buNone/>
            </a:pPr>
            <a:r>
              <a:rPr lang="en-US" dirty="0" smtClean="0"/>
              <a:t>	</a:t>
            </a:r>
            <a:r>
              <a:rPr lang="en-US" b="1" u="sng" dirty="0" smtClean="0">
                <a:solidFill>
                  <a:srgbClr val="FF0000"/>
                </a:solidFill>
              </a:rPr>
              <a:t>Methods of  training workers</a:t>
            </a:r>
          </a:p>
          <a:p>
            <a:pPr marL="514350" indent="-514350" algn="just">
              <a:buFont typeface="+mj-lt"/>
              <a:buAutoNum type="arabicPeriod"/>
            </a:pPr>
            <a:r>
              <a:rPr lang="en-US" b="1" dirty="0" smtClean="0">
                <a:solidFill>
                  <a:srgbClr val="FF0000"/>
                </a:solidFill>
              </a:rPr>
              <a:t>Demonstration:</a:t>
            </a:r>
            <a:r>
              <a:rPr lang="en-US" b="1" dirty="0" smtClean="0"/>
              <a:t> </a:t>
            </a:r>
            <a:r>
              <a:rPr lang="en-US" dirty="0" smtClean="0"/>
              <a:t>In this, the supervisor/instructor actually demonstrates how to do a certain task which can be seen in small concerns like workshops, auto repair shops etc.. E.g. the instructor shows how to perform a certain job on a center lathe. </a:t>
            </a:r>
          </a:p>
          <a:p>
            <a:pPr marL="514350" indent="-514350" algn="just">
              <a:buFont typeface="+mj-lt"/>
              <a:buAutoNum type="arabicPeriod"/>
            </a:pPr>
            <a:r>
              <a:rPr lang="en-US" b="1" dirty="0" smtClean="0">
                <a:solidFill>
                  <a:srgbClr val="FF0000"/>
                </a:solidFill>
              </a:rPr>
              <a:t>On-the-job training:</a:t>
            </a:r>
            <a:r>
              <a:rPr lang="en-US" b="1" dirty="0" smtClean="0"/>
              <a:t> </a:t>
            </a:r>
            <a:r>
              <a:rPr lang="en-US" dirty="0" smtClean="0"/>
              <a:t>In this, the supervisor gives instructions to a new worker, explains the nature of work, the use of machine and tools, safety precautions etc. and shows how it is being done by an experienced worker.</a:t>
            </a:r>
          </a:p>
          <a:p>
            <a:pPr marL="514350" indent="-514350" algn="just">
              <a:buFont typeface="+mj-lt"/>
              <a:buAutoNum type="arabicPeriod"/>
            </a:pPr>
            <a:r>
              <a:rPr lang="en-US" b="1" dirty="0" smtClean="0">
                <a:solidFill>
                  <a:srgbClr val="FF0000"/>
                </a:solidFill>
              </a:rPr>
              <a:t>Vestibule training: </a:t>
            </a:r>
            <a:r>
              <a:rPr lang="en-US" dirty="0" smtClean="0"/>
              <a:t>It is a special training school for training the employees. An attempt is made to duplicate as nearly as possible the actual equipment, material and conditions in a real work situation.</a:t>
            </a:r>
          </a:p>
          <a:p>
            <a:pPr marL="514350" indent="-514350" algn="just">
              <a:buFont typeface="+mj-lt"/>
              <a:buAutoNum type="arabicPeriod"/>
            </a:pPr>
            <a:r>
              <a:rPr lang="en-US" b="1" dirty="0" smtClean="0">
                <a:solidFill>
                  <a:srgbClr val="FF0000"/>
                </a:solidFill>
              </a:rPr>
              <a:t>Apprenticeship: </a:t>
            </a:r>
            <a:r>
              <a:rPr lang="en-US" dirty="0" smtClean="0"/>
              <a:t>It is used to develop all round craftsmen (machinist, tool makers, mill wrights, fitters, welders). It is generally best suited to the large firm with a steady demand for skilled labor.</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Training and Development of manpower</a:t>
            </a:r>
            <a:endParaRPr lang="en-US" sz="3200" dirty="0"/>
          </a:p>
        </p:txBody>
      </p:sp>
      <p:sp>
        <p:nvSpPr>
          <p:cNvPr id="9" name="Content Placeholder 8"/>
          <p:cNvSpPr>
            <a:spLocks noGrp="1"/>
          </p:cNvSpPr>
          <p:nvPr>
            <p:ph idx="1"/>
          </p:nvPr>
        </p:nvSpPr>
        <p:spPr/>
        <p:txBody>
          <a:bodyPr>
            <a:normAutofit fontScale="55000" lnSpcReduction="20000"/>
          </a:bodyPr>
          <a:lstStyle/>
          <a:p>
            <a:pPr>
              <a:buNone/>
            </a:pPr>
            <a:r>
              <a:rPr lang="en-US" b="1" u="sng" dirty="0" smtClean="0">
                <a:solidFill>
                  <a:srgbClr val="FF0000"/>
                </a:solidFill>
              </a:rPr>
              <a:t>Methods of training supervisors</a:t>
            </a:r>
          </a:p>
          <a:p>
            <a:pPr marL="514350" indent="-514350">
              <a:buFont typeface="+mj-lt"/>
              <a:buAutoNum type="arabicPeriod"/>
            </a:pPr>
            <a:r>
              <a:rPr lang="en-US" dirty="0" smtClean="0"/>
              <a:t>Induction and Orientation.</a:t>
            </a:r>
          </a:p>
          <a:p>
            <a:pPr marL="514350" indent="-514350">
              <a:buFont typeface="+mj-lt"/>
              <a:buAutoNum type="arabicPeriod"/>
            </a:pPr>
            <a:r>
              <a:rPr lang="en-US" dirty="0" smtClean="0"/>
              <a:t>Lecture (classroom) methods.</a:t>
            </a:r>
          </a:p>
          <a:p>
            <a:pPr marL="514350" indent="-514350">
              <a:buFont typeface="+mj-lt"/>
              <a:buAutoNum type="arabicPeriod"/>
            </a:pPr>
            <a:r>
              <a:rPr lang="en-US" dirty="0" smtClean="0"/>
              <a:t>Conference.</a:t>
            </a:r>
          </a:p>
          <a:p>
            <a:pPr marL="514350" indent="-514350">
              <a:buFont typeface="+mj-lt"/>
              <a:buAutoNum type="arabicPeriod"/>
            </a:pPr>
            <a:r>
              <a:rPr lang="en-US" dirty="0" smtClean="0"/>
              <a:t>Written instructional method.</a:t>
            </a:r>
          </a:p>
          <a:p>
            <a:pPr marL="514350" indent="-514350">
              <a:buFont typeface="+mj-lt"/>
              <a:buAutoNum type="arabicPeriod"/>
            </a:pPr>
            <a:r>
              <a:rPr lang="en-US" dirty="0" smtClean="0"/>
              <a:t>Training within the industry.</a:t>
            </a:r>
          </a:p>
          <a:p>
            <a:pPr marL="514350" indent="-514350">
              <a:buNone/>
            </a:pPr>
            <a:r>
              <a:rPr lang="en-US" dirty="0" smtClean="0"/>
              <a:t>	</a:t>
            </a:r>
          </a:p>
          <a:p>
            <a:pPr marL="514350" indent="-514350">
              <a:buNone/>
            </a:pPr>
            <a:r>
              <a:rPr lang="en-US" b="1" u="sng" dirty="0" smtClean="0">
                <a:solidFill>
                  <a:srgbClr val="FF0000"/>
                </a:solidFill>
              </a:rPr>
              <a:t>Methods of training executives</a:t>
            </a:r>
          </a:p>
          <a:p>
            <a:pPr marL="514350" indent="-514350">
              <a:buFont typeface="+mj-lt"/>
              <a:buAutoNum type="arabicPeriod"/>
            </a:pPr>
            <a:r>
              <a:rPr lang="en-US" b="1" dirty="0" smtClean="0">
                <a:solidFill>
                  <a:srgbClr val="FF0000"/>
                </a:solidFill>
              </a:rPr>
              <a:t>On-the-job training</a:t>
            </a:r>
          </a:p>
          <a:p>
            <a:pPr marL="1062990" lvl="2" indent="-514350">
              <a:buFontTx/>
              <a:buChar char="-"/>
            </a:pPr>
            <a:r>
              <a:rPr lang="en-US" i="1" dirty="0" smtClean="0">
                <a:solidFill>
                  <a:srgbClr val="0628D4"/>
                </a:solidFill>
              </a:rPr>
              <a:t>Understudies (appointment as an assistant to).</a:t>
            </a:r>
          </a:p>
          <a:p>
            <a:pPr marL="1062990" lvl="2" indent="-514350">
              <a:buFontTx/>
              <a:buChar char="-"/>
            </a:pPr>
            <a:r>
              <a:rPr lang="en-US" i="1" dirty="0" smtClean="0">
                <a:solidFill>
                  <a:srgbClr val="0628D4"/>
                </a:solidFill>
              </a:rPr>
              <a:t>Membership of the committee.</a:t>
            </a:r>
          </a:p>
          <a:p>
            <a:pPr marL="1062990" lvl="2" indent="-514350">
              <a:buFontTx/>
              <a:buChar char="-"/>
            </a:pPr>
            <a:r>
              <a:rPr lang="en-US" i="1" dirty="0" smtClean="0">
                <a:solidFill>
                  <a:srgbClr val="0628D4"/>
                </a:solidFill>
              </a:rPr>
              <a:t>Job rotation.</a:t>
            </a:r>
          </a:p>
          <a:p>
            <a:pPr marL="1062990" lvl="2" indent="-514350">
              <a:buFontTx/>
              <a:buChar char="-"/>
            </a:pPr>
            <a:r>
              <a:rPr lang="en-US" i="1" dirty="0" smtClean="0">
                <a:solidFill>
                  <a:srgbClr val="0628D4"/>
                </a:solidFill>
              </a:rPr>
              <a:t>Job enlargement, job enrichment.</a:t>
            </a:r>
          </a:p>
          <a:p>
            <a:pPr marL="1062990" lvl="2" indent="-514350">
              <a:buFontTx/>
              <a:buChar char="-"/>
            </a:pPr>
            <a:r>
              <a:rPr lang="en-US" i="1" dirty="0" smtClean="0">
                <a:solidFill>
                  <a:srgbClr val="0628D4"/>
                </a:solidFill>
              </a:rPr>
              <a:t>Management by objectives.</a:t>
            </a:r>
          </a:p>
          <a:p>
            <a:pPr marL="514350" indent="-514350">
              <a:buFont typeface="+mj-lt"/>
              <a:buAutoNum type="arabicPeriod"/>
            </a:pPr>
            <a:r>
              <a:rPr lang="en-US" b="1" dirty="0" smtClean="0">
                <a:solidFill>
                  <a:srgbClr val="FF0000"/>
                </a:solidFill>
              </a:rPr>
              <a:t>Off-the-job training</a:t>
            </a:r>
          </a:p>
          <a:p>
            <a:pPr marL="1062990" lvl="2" indent="-514350">
              <a:buFontTx/>
              <a:buChar char="-"/>
            </a:pPr>
            <a:r>
              <a:rPr lang="en-US" i="1" dirty="0" smtClean="0">
                <a:solidFill>
                  <a:srgbClr val="0628D4"/>
                </a:solidFill>
              </a:rPr>
              <a:t>Lecture method.</a:t>
            </a:r>
          </a:p>
          <a:p>
            <a:pPr marL="1062990" lvl="2" indent="-514350">
              <a:buFontTx/>
              <a:buChar char="-"/>
            </a:pPr>
            <a:r>
              <a:rPr lang="en-US" i="1" dirty="0" smtClean="0">
                <a:solidFill>
                  <a:srgbClr val="0628D4"/>
                </a:solidFill>
              </a:rPr>
              <a:t>Case study method.</a:t>
            </a:r>
          </a:p>
          <a:p>
            <a:pPr marL="1062990" lvl="2" indent="-514350">
              <a:buFontTx/>
              <a:buChar char="-"/>
            </a:pPr>
            <a:r>
              <a:rPr lang="en-US" i="1" dirty="0" smtClean="0">
                <a:solidFill>
                  <a:srgbClr val="0628D4"/>
                </a:solidFill>
              </a:rPr>
              <a:t>Business games</a:t>
            </a:r>
          </a:p>
          <a:p>
            <a:pPr marL="1062990" lvl="2" indent="-514350">
              <a:buFontTx/>
              <a:buChar char="-"/>
            </a:pPr>
            <a:r>
              <a:rPr lang="en-US" i="1" dirty="0" smtClean="0">
                <a:solidFill>
                  <a:srgbClr val="0628D4"/>
                </a:solidFill>
              </a:rPr>
              <a:t>Role playing.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dirty="0" smtClean="0">
                <a:solidFill>
                  <a:srgbClr val="FF0000"/>
                </a:solidFill>
              </a:rPr>
              <a:t>A job </a:t>
            </a:r>
            <a:r>
              <a:rPr lang="en-US" dirty="0" smtClean="0"/>
              <a:t>may be defined as a </a:t>
            </a:r>
            <a:r>
              <a:rPr lang="en-US" i="1" dirty="0" smtClean="0">
                <a:solidFill>
                  <a:srgbClr val="0000CC"/>
                </a:solidFill>
              </a:rPr>
              <a:t>regular assignment to individual employee involving a set of duties, responsibilities and conditions entirely  different from those of other assignments.</a:t>
            </a:r>
          </a:p>
          <a:p>
            <a:pPr algn="just">
              <a:buNone/>
            </a:pPr>
            <a:r>
              <a:rPr lang="en-US" dirty="0" smtClean="0"/>
              <a:t>	</a:t>
            </a:r>
            <a:r>
              <a:rPr lang="en-US" b="1" dirty="0" smtClean="0"/>
              <a:t>Job analysis </a:t>
            </a:r>
            <a:r>
              <a:rPr lang="en-US" i="1" dirty="0" smtClean="0">
                <a:solidFill>
                  <a:srgbClr val="0628D4"/>
                </a:solidFill>
              </a:rPr>
              <a:t>is a detailed and systematic study of job to determine the tasks, skills,  knowledge, abilities and responsibilities required for their successful performance</a:t>
            </a:r>
            <a:r>
              <a:rPr lang="en-US" dirty="0" smtClean="0"/>
              <a:t>.</a:t>
            </a:r>
          </a:p>
          <a:p>
            <a:pPr algn="just">
              <a:buNone/>
            </a:pPr>
            <a:r>
              <a:rPr lang="en-US" dirty="0" smtClean="0"/>
              <a:t>	In this procedure the job analyst (or a supervisor properly trained in the technique):</a:t>
            </a:r>
          </a:p>
          <a:p>
            <a:pPr marL="514350" indent="-514350" algn="just">
              <a:buFont typeface="+mj-lt"/>
              <a:buAutoNum type="arabicPeriod"/>
            </a:pPr>
            <a:r>
              <a:rPr lang="en-US" i="1" dirty="0" smtClean="0"/>
              <a:t>Collects information.</a:t>
            </a:r>
          </a:p>
          <a:p>
            <a:pPr marL="514350" indent="-514350" algn="just">
              <a:buFont typeface="+mj-lt"/>
              <a:buAutoNum type="arabicPeriod"/>
            </a:pPr>
            <a:r>
              <a:rPr lang="en-US" i="1" dirty="0" smtClean="0"/>
              <a:t>Prepares job description.</a:t>
            </a:r>
          </a:p>
          <a:p>
            <a:pPr marL="514350" indent="-514350" algn="just">
              <a:buFont typeface="+mj-lt"/>
              <a:buAutoNum type="arabicPeriod"/>
            </a:pPr>
            <a:r>
              <a:rPr lang="en-US" i="1" dirty="0" smtClean="0"/>
              <a:t>Works up job specification.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dirty="0" smtClean="0"/>
              <a:t>The data collected during job analysis may be classified as:</a:t>
            </a:r>
          </a:p>
          <a:p>
            <a:pPr marL="514350" indent="-514350" algn="just">
              <a:buFont typeface="+mj-lt"/>
              <a:buAutoNum type="arabicPeriod"/>
            </a:pPr>
            <a:r>
              <a:rPr lang="en-US" i="1" dirty="0" smtClean="0"/>
              <a:t>Job identification.</a:t>
            </a:r>
          </a:p>
          <a:p>
            <a:pPr marL="514350" indent="-514350" algn="just">
              <a:buFont typeface="+mj-lt"/>
              <a:buAutoNum type="arabicPeriod"/>
            </a:pPr>
            <a:r>
              <a:rPr lang="en-US" i="1" dirty="0" smtClean="0"/>
              <a:t>Nature of the job (major duties, other duties)</a:t>
            </a:r>
          </a:p>
          <a:p>
            <a:pPr marL="514350" indent="-514350" algn="just">
              <a:buFont typeface="+mj-lt"/>
              <a:buAutoNum type="arabicPeriod"/>
            </a:pPr>
            <a:r>
              <a:rPr lang="en-US" i="1" dirty="0" smtClean="0"/>
              <a:t>Operations to be performed.</a:t>
            </a:r>
          </a:p>
          <a:p>
            <a:pPr marL="514350" indent="-514350" algn="just">
              <a:buFont typeface="+mj-lt"/>
              <a:buAutoNum type="arabicPeriod"/>
            </a:pPr>
            <a:r>
              <a:rPr lang="en-US" i="1" dirty="0" smtClean="0"/>
              <a:t>Materials and equipments to be used for performing the job.</a:t>
            </a:r>
          </a:p>
          <a:p>
            <a:pPr marL="514350" indent="-514350" algn="just">
              <a:buFont typeface="+mj-lt"/>
              <a:buAutoNum type="arabicPeriod"/>
            </a:pPr>
            <a:r>
              <a:rPr lang="en-US" i="1" dirty="0" smtClean="0"/>
              <a:t>Skill involved to determine degree of difficulty (education, training, responsibility, job knowledge, mental capabilities, desired accuracy).</a:t>
            </a:r>
          </a:p>
          <a:p>
            <a:pPr marL="514350" indent="-514350" algn="just">
              <a:buFont typeface="+mj-lt"/>
              <a:buAutoNum type="arabicPeriod"/>
            </a:pPr>
            <a:r>
              <a:rPr lang="en-US" i="1" dirty="0" smtClean="0"/>
              <a:t>Physical demands to determine physical effort required (physical activities, working conditions, hazards).</a:t>
            </a:r>
          </a:p>
          <a:p>
            <a:pPr marL="514350" indent="-514350" algn="just">
              <a:buFont typeface="+mj-lt"/>
              <a:buAutoNum type="arabicPeriod"/>
            </a:pPr>
            <a:r>
              <a:rPr lang="en-US" i="1" dirty="0" smtClean="0"/>
              <a:t>Relation with other jobs.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a:t>
            </a:r>
            <a:r>
              <a:rPr lang="en-US" b="1" u="sng" dirty="0" smtClean="0">
                <a:solidFill>
                  <a:srgbClr val="FF0000"/>
                </a:solidFill>
              </a:rPr>
              <a:t>Job analysis can be divided into two main groups:</a:t>
            </a:r>
          </a:p>
          <a:p>
            <a:pPr marL="571500" indent="-571500" algn="just">
              <a:buFont typeface="+mj-lt"/>
              <a:buAutoNum type="romanUcPeriod"/>
            </a:pPr>
            <a:r>
              <a:rPr lang="en-US" b="1" dirty="0" smtClean="0">
                <a:solidFill>
                  <a:srgbClr val="FF0000"/>
                </a:solidFill>
              </a:rPr>
              <a:t>Job description</a:t>
            </a:r>
            <a:r>
              <a:rPr lang="en-US" b="1" dirty="0" smtClean="0"/>
              <a:t>: </a:t>
            </a:r>
            <a:r>
              <a:rPr lang="en-US" dirty="0" smtClean="0"/>
              <a:t>It is an abstract of information received from the job analysis report. It is an organized statement of duties, responsibilities, working conditions, and other essential facts about a job. Job description comprises of three parts: job identification, job summary and work performed.</a:t>
            </a:r>
          </a:p>
          <a:p>
            <a:pPr marL="571500" indent="-571500" algn="just">
              <a:buFont typeface="+mj-lt"/>
              <a:buAutoNum type="romanUcPeriod"/>
            </a:pPr>
            <a:r>
              <a:rPr lang="en-US" b="1" dirty="0" smtClean="0">
                <a:solidFill>
                  <a:srgbClr val="FF0000"/>
                </a:solidFill>
              </a:rPr>
              <a:t>Job specification</a:t>
            </a:r>
            <a:r>
              <a:rPr lang="en-US" b="1" dirty="0" smtClean="0"/>
              <a:t>: </a:t>
            </a:r>
            <a:r>
              <a:rPr lang="en-US" dirty="0" smtClean="0"/>
              <a:t>It is an outcome of job analysis and description. The job specification is a statement of qualities or abilities that an employee must posses to perform the job in a satisfactory manner.</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70000" lnSpcReduction="20000"/>
          </a:bodyPr>
          <a:lstStyle/>
          <a:p>
            <a:pPr marL="571500" indent="-571500" algn="just">
              <a:buNone/>
            </a:pPr>
            <a:r>
              <a:rPr lang="en-US" dirty="0" smtClean="0"/>
              <a:t>	</a:t>
            </a:r>
            <a:r>
              <a:rPr lang="en-US" b="1" dirty="0" smtClean="0">
                <a:solidFill>
                  <a:srgbClr val="FF0000"/>
                </a:solidFill>
              </a:rPr>
              <a:t>Job evaluation: </a:t>
            </a:r>
            <a:r>
              <a:rPr lang="en-US" i="1" dirty="0" smtClean="0">
                <a:solidFill>
                  <a:srgbClr val="0628D4"/>
                </a:solidFill>
              </a:rPr>
              <a:t>Its main objectives is to formulate an appropriate and uniform wage structure and determine relative value of different jobs in an organization</a:t>
            </a:r>
            <a:r>
              <a:rPr lang="en-US" dirty="0" smtClean="0"/>
              <a:t>.</a:t>
            </a:r>
          </a:p>
          <a:p>
            <a:pPr marL="571500" indent="-571500" algn="just">
              <a:buNone/>
            </a:pPr>
            <a:r>
              <a:rPr lang="en-US" dirty="0" smtClean="0"/>
              <a:t>	War Man Power Commission, USA proposes four points for accurate and useful job study</a:t>
            </a:r>
          </a:p>
          <a:p>
            <a:pPr marL="571500" indent="-571500" algn="just">
              <a:buFont typeface="+mj-lt"/>
              <a:buAutoNum type="arabicPeriod"/>
            </a:pPr>
            <a:r>
              <a:rPr lang="en-US" i="1" dirty="0" smtClean="0">
                <a:solidFill>
                  <a:srgbClr val="0000CC"/>
                </a:solidFill>
              </a:rPr>
              <a:t>What does the worker do?</a:t>
            </a:r>
          </a:p>
          <a:p>
            <a:pPr marL="571500" indent="-571500" algn="just">
              <a:buFont typeface="+mj-lt"/>
              <a:buAutoNum type="arabicPeriod"/>
            </a:pPr>
            <a:r>
              <a:rPr lang="en-US" i="1" dirty="0" smtClean="0">
                <a:solidFill>
                  <a:srgbClr val="0000CC"/>
                </a:solidFill>
              </a:rPr>
              <a:t>How does he do it?</a:t>
            </a:r>
          </a:p>
          <a:p>
            <a:pPr marL="571500" indent="-571500" algn="just">
              <a:buFont typeface="+mj-lt"/>
              <a:buAutoNum type="arabicPeriod"/>
            </a:pPr>
            <a:r>
              <a:rPr lang="en-US" i="1" dirty="0" smtClean="0">
                <a:solidFill>
                  <a:srgbClr val="0000CC"/>
                </a:solidFill>
              </a:rPr>
              <a:t>Why does he do it?</a:t>
            </a:r>
          </a:p>
          <a:p>
            <a:pPr marL="571500" indent="-571500" algn="just">
              <a:buFont typeface="+mj-lt"/>
              <a:buAutoNum type="arabicPeriod"/>
            </a:pPr>
            <a:r>
              <a:rPr lang="en-US" i="1" dirty="0" smtClean="0">
                <a:solidFill>
                  <a:srgbClr val="0000CC"/>
                </a:solidFill>
              </a:rPr>
              <a:t>The skill involved in doing it.</a:t>
            </a:r>
          </a:p>
          <a:p>
            <a:pPr marL="571500" indent="-571500" algn="just">
              <a:buNone/>
            </a:pPr>
            <a:endParaRPr lang="en-US" dirty="0" smtClean="0"/>
          </a:p>
          <a:p>
            <a:pPr marL="571500" indent="-571500" algn="just">
              <a:buNone/>
            </a:pPr>
            <a:r>
              <a:rPr lang="en-US" dirty="0" smtClean="0"/>
              <a:t>	</a:t>
            </a:r>
            <a:r>
              <a:rPr lang="en-US" b="1" dirty="0" smtClean="0">
                <a:solidFill>
                  <a:srgbClr val="FF0000"/>
                </a:solidFill>
              </a:rPr>
              <a:t>Principles of job evaluation are</a:t>
            </a:r>
          </a:p>
          <a:p>
            <a:pPr marL="571500" indent="-571500" algn="just">
              <a:buFont typeface="+mj-lt"/>
              <a:buAutoNum type="arabicPeriod"/>
            </a:pPr>
            <a:r>
              <a:rPr lang="en-US" i="1" dirty="0" smtClean="0">
                <a:solidFill>
                  <a:srgbClr val="0000CC"/>
                </a:solidFill>
              </a:rPr>
              <a:t>Rate the job and not the man.</a:t>
            </a:r>
          </a:p>
          <a:p>
            <a:pPr marL="571500" indent="-571500" algn="just">
              <a:buFont typeface="+mj-lt"/>
              <a:buAutoNum type="arabicPeriod"/>
            </a:pPr>
            <a:r>
              <a:rPr lang="en-US" i="1" dirty="0" smtClean="0">
                <a:solidFill>
                  <a:srgbClr val="0000CC"/>
                </a:solidFill>
              </a:rPr>
              <a:t>Uniformity of understanding.</a:t>
            </a:r>
          </a:p>
          <a:p>
            <a:pPr marL="571500" indent="-571500" algn="just">
              <a:buFont typeface="+mj-lt"/>
              <a:buAutoNum type="arabicPeriod"/>
            </a:pPr>
            <a:r>
              <a:rPr lang="en-US" i="1" dirty="0" smtClean="0">
                <a:solidFill>
                  <a:srgbClr val="0000CC"/>
                </a:solidFill>
              </a:rPr>
              <a:t>Co-operation from employees.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u="sng" dirty="0" smtClean="0">
                <a:solidFill>
                  <a:srgbClr val="FF0000"/>
                </a:solidFill>
              </a:rPr>
              <a:t>Methods of job evaluation</a:t>
            </a:r>
          </a:p>
          <a:p>
            <a:pPr marL="571500" indent="-571500" algn="just">
              <a:buFont typeface="+mj-lt"/>
              <a:buAutoNum type="romanUcPeriod"/>
            </a:pPr>
            <a:r>
              <a:rPr lang="en-US" b="1" dirty="0" smtClean="0">
                <a:solidFill>
                  <a:srgbClr val="FF0000"/>
                </a:solidFill>
              </a:rPr>
              <a:t>Non-quantitative methods</a:t>
            </a:r>
          </a:p>
          <a:p>
            <a:pPr marL="845820" lvl="1" indent="-571500" algn="just">
              <a:buFont typeface="+mj-lt"/>
              <a:buAutoNum type="arabicPeriod"/>
            </a:pPr>
            <a:r>
              <a:rPr lang="en-US" b="1" dirty="0" smtClean="0">
                <a:solidFill>
                  <a:srgbClr val="FF0000"/>
                </a:solidFill>
              </a:rPr>
              <a:t>Ranking method (grading method): </a:t>
            </a:r>
            <a:r>
              <a:rPr lang="en-US" dirty="0" smtClean="0"/>
              <a:t>In this, the jobs are ranked from the most important one to least important one. Each departmental head arranges the jobs in their department in the order of importance. The individual departments pass on their rakings to a central committee who groups the jobs into grades/classes.</a:t>
            </a:r>
          </a:p>
          <a:p>
            <a:pPr marL="845820" lvl="1" indent="-571500" algn="just">
              <a:buFont typeface="+mj-lt"/>
              <a:buAutoNum type="arabicPeriod"/>
            </a:pPr>
            <a:r>
              <a:rPr lang="en-US" b="1" dirty="0" smtClean="0">
                <a:solidFill>
                  <a:srgbClr val="FF0000"/>
                </a:solidFill>
              </a:rPr>
              <a:t>Classification method:</a:t>
            </a:r>
            <a:r>
              <a:rPr lang="en-US" b="1" dirty="0" smtClean="0"/>
              <a:t> </a:t>
            </a:r>
            <a:r>
              <a:rPr lang="en-US" dirty="0" smtClean="0"/>
              <a:t>In this, jobs are classified or graded or levels of equal skill, difficulty, responsibility, importance and requirements. It may be production job, a sales job or an office job.</a:t>
            </a:r>
          </a:p>
          <a:p>
            <a:pPr marL="571500" indent="-571500" algn="just">
              <a:buFont typeface="+mj-lt"/>
              <a:buAutoNum type="romanUcPeriod"/>
            </a:pPr>
            <a:r>
              <a:rPr lang="en-US" b="1" dirty="0" smtClean="0">
                <a:solidFill>
                  <a:srgbClr val="FF0000"/>
                </a:solidFill>
              </a:rPr>
              <a:t>Quantitative methods</a:t>
            </a:r>
          </a:p>
          <a:p>
            <a:pPr marL="845820" lvl="1" indent="-571500" algn="just">
              <a:buFont typeface="+mj-lt"/>
              <a:buAutoNum type="arabicPeriod"/>
            </a:pPr>
            <a:r>
              <a:rPr lang="en-US" b="1" dirty="0" smtClean="0">
                <a:solidFill>
                  <a:srgbClr val="FF0000"/>
                </a:solidFill>
              </a:rPr>
              <a:t>Factor comparison method: </a:t>
            </a:r>
            <a:r>
              <a:rPr lang="en-US" dirty="0" smtClean="0"/>
              <a:t>In this, detailed analysis of the jobs is carried out by employing following five main factors i.e. skill, mental effort, physical effort, responsibilities, working conditions.</a:t>
            </a:r>
          </a:p>
          <a:p>
            <a:pPr marL="845820" lvl="1" indent="-571500" algn="just">
              <a:buFont typeface="+mj-lt"/>
              <a:buAutoNum type="arabicPeriod"/>
            </a:pPr>
            <a:r>
              <a:rPr lang="en-US" b="1" dirty="0" smtClean="0">
                <a:solidFill>
                  <a:srgbClr val="FF0000"/>
                </a:solidFill>
              </a:rPr>
              <a:t>The point rating method:</a:t>
            </a:r>
            <a:r>
              <a:rPr lang="en-US" b="1" dirty="0" smtClean="0"/>
              <a:t> </a:t>
            </a:r>
            <a:r>
              <a:rPr lang="en-US" dirty="0" smtClean="0"/>
              <a:t>Certain points is assigned to each grade. When such points for all the factors are added they indicate the importance of the job in the organization.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dirty="0" smtClean="0">
                <a:solidFill>
                  <a:srgbClr val="FF0000"/>
                </a:solidFill>
              </a:rPr>
              <a:t>Merit rating </a:t>
            </a:r>
            <a:r>
              <a:rPr lang="en-US" i="1" dirty="0" smtClean="0">
                <a:solidFill>
                  <a:srgbClr val="0628D4"/>
                </a:solidFill>
              </a:rPr>
              <a:t>is a systematic and orderly approach to assess the relative worth of an employee working in an organization in terms of job performance, integrity, leadership, intelligence, behavior, aptitude and other qualities which are necessary to carry out his job successfully.</a:t>
            </a:r>
          </a:p>
          <a:p>
            <a:pPr algn="just">
              <a:buNone/>
            </a:pPr>
            <a:endParaRPr lang="en-US" dirty="0" smtClean="0"/>
          </a:p>
          <a:p>
            <a:pPr algn="just">
              <a:buNone/>
            </a:pPr>
            <a:r>
              <a:rPr lang="en-US" b="1" dirty="0" smtClean="0"/>
              <a:t>The differences between job evaluation and merit rating are</a:t>
            </a:r>
          </a:p>
          <a:p>
            <a:pPr marL="514350" indent="-514350" algn="just">
              <a:buFont typeface="+mj-lt"/>
              <a:buAutoNum type="arabicPeriod"/>
            </a:pPr>
            <a:r>
              <a:rPr lang="en-US" i="1" dirty="0" smtClean="0">
                <a:solidFill>
                  <a:srgbClr val="0628D4"/>
                </a:solidFill>
              </a:rPr>
              <a:t>Job evaluation evaluates job, merit rating evaluates the performance of a person doing the job.</a:t>
            </a:r>
          </a:p>
          <a:p>
            <a:pPr marL="514350" indent="-514350" algn="just">
              <a:buFont typeface="+mj-lt"/>
              <a:buAutoNum type="arabicPeriod"/>
            </a:pPr>
            <a:r>
              <a:rPr lang="en-US" i="1" dirty="0" smtClean="0">
                <a:solidFill>
                  <a:srgbClr val="0628D4"/>
                </a:solidFill>
              </a:rPr>
              <a:t>Job evaluation determines suitable wage structure for the job while, merit rating decides the reward an employee should get in addition to his wages depending upon his merit.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a:t>
            </a:r>
            <a:r>
              <a:rPr lang="en-US" dirty="0" smtClean="0">
                <a:solidFill>
                  <a:srgbClr val="FF0000"/>
                </a:solidFill>
              </a:rPr>
              <a:t>The frequently used factors or set of characteristics which determine the merit of the person are:</a:t>
            </a:r>
          </a:p>
          <a:p>
            <a:pPr marL="514350" indent="-514350" algn="just">
              <a:buFont typeface="+mj-lt"/>
              <a:buAutoNum type="arabicPeriod"/>
            </a:pPr>
            <a:r>
              <a:rPr lang="en-US" i="1" dirty="0" smtClean="0"/>
              <a:t>Quality of work.</a:t>
            </a:r>
          </a:p>
          <a:p>
            <a:pPr marL="514350" indent="-514350" algn="just">
              <a:buFont typeface="+mj-lt"/>
              <a:buAutoNum type="arabicPeriod"/>
            </a:pPr>
            <a:r>
              <a:rPr lang="en-US" i="1" dirty="0" smtClean="0"/>
              <a:t>Quantity of work.</a:t>
            </a:r>
          </a:p>
          <a:p>
            <a:pPr marL="514350" indent="-514350" algn="just">
              <a:buFont typeface="+mj-lt"/>
              <a:buAutoNum type="arabicPeriod"/>
            </a:pPr>
            <a:r>
              <a:rPr lang="en-US" i="1" dirty="0" smtClean="0"/>
              <a:t>Job knowledge.</a:t>
            </a:r>
          </a:p>
          <a:p>
            <a:pPr marL="514350" indent="-514350" algn="just">
              <a:buFont typeface="+mj-lt"/>
              <a:buAutoNum type="arabicPeriod"/>
            </a:pPr>
            <a:r>
              <a:rPr lang="en-US" i="1" dirty="0" smtClean="0"/>
              <a:t>Dependability.</a:t>
            </a:r>
          </a:p>
          <a:p>
            <a:pPr marL="514350" indent="-514350" algn="just">
              <a:buFont typeface="+mj-lt"/>
              <a:buAutoNum type="arabicPeriod"/>
            </a:pPr>
            <a:r>
              <a:rPr lang="en-US" i="1" dirty="0" smtClean="0"/>
              <a:t>Attitudes.</a:t>
            </a:r>
          </a:p>
          <a:p>
            <a:pPr marL="514350" indent="-514350" algn="just">
              <a:buFont typeface="+mj-lt"/>
              <a:buAutoNum type="arabicPeriod"/>
            </a:pPr>
            <a:r>
              <a:rPr lang="en-US" i="1" dirty="0" smtClean="0"/>
              <a:t>Initiative and judgment.</a:t>
            </a:r>
          </a:p>
          <a:p>
            <a:pPr marL="514350" indent="-514350" algn="just">
              <a:buFont typeface="+mj-lt"/>
              <a:buAutoNum type="arabicPeriod"/>
            </a:pPr>
            <a:r>
              <a:rPr lang="en-US" i="1" dirty="0" smtClean="0"/>
              <a:t>Versatility.</a:t>
            </a:r>
          </a:p>
          <a:p>
            <a:pPr marL="514350" indent="-514350" algn="just">
              <a:buFont typeface="+mj-lt"/>
              <a:buAutoNum type="arabicPeriod"/>
            </a:pPr>
            <a:r>
              <a:rPr lang="en-US" i="1" dirty="0" smtClean="0"/>
              <a:t>Quality of leadership.</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7. Job Analysis, Job Evaluation and Merit Rating</a:t>
            </a:r>
            <a:endParaRPr lang="en-US" sz="2800"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u="sng" dirty="0" smtClean="0">
                <a:solidFill>
                  <a:srgbClr val="FF0000"/>
                </a:solidFill>
              </a:rPr>
              <a:t>Methods of merit ranking</a:t>
            </a:r>
          </a:p>
          <a:p>
            <a:pPr marL="514350" indent="-514350" algn="just">
              <a:buFont typeface="+mj-lt"/>
              <a:buAutoNum type="arabicPeriod"/>
            </a:pPr>
            <a:r>
              <a:rPr lang="en-US" b="1" dirty="0" smtClean="0">
                <a:solidFill>
                  <a:srgbClr val="FF0000"/>
                </a:solidFill>
              </a:rPr>
              <a:t>Ranking method.</a:t>
            </a:r>
          </a:p>
          <a:p>
            <a:pPr marL="514350" indent="-514350" algn="just">
              <a:buFont typeface="+mj-lt"/>
              <a:buAutoNum type="arabicPeriod"/>
            </a:pPr>
            <a:r>
              <a:rPr lang="en-US" b="1" dirty="0" smtClean="0">
                <a:solidFill>
                  <a:srgbClr val="FF0000"/>
                </a:solidFill>
              </a:rPr>
              <a:t>Paired comparison method: </a:t>
            </a:r>
            <a:r>
              <a:rPr lang="en-US" dirty="0" smtClean="0"/>
              <a:t>In this, each man is compared with every other man, one at a time. Comparison is done with one trait (i.e. ability to perform the job).</a:t>
            </a:r>
          </a:p>
          <a:p>
            <a:pPr marL="514350" indent="-514350" algn="just">
              <a:buFont typeface="+mj-lt"/>
              <a:buAutoNum type="arabicPeriod"/>
            </a:pPr>
            <a:r>
              <a:rPr lang="en-US" b="1" dirty="0" smtClean="0">
                <a:solidFill>
                  <a:srgbClr val="FF0000"/>
                </a:solidFill>
              </a:rPr>
              <a:t>Man to man comparison: </a:t>
            </a:r>
            <a:r>
              <a:rPr lang="en-US" dirty="0" smtClean="0"/>
              <a:t>Comparison is done based on five characteristics (physical qualities, personal qualities, intelligence, general value to service, leadership). Each of the characteristics is sub-divided into five degrees and values assigned to each degree</a:t>
            </a:r>
          </a:p>
          <a:p>
            <a:pPr marL="514350" indent="-514350" algn="just">
              <a:buFont typeface="+mj-lt"/>
              <a:buAutoNum type="arabicPeriod"/>
            </a:pPr>
            <a:r>
              <a:rPr lang="en-US" b="1" dirty="0" smtClean="0">
                <a:solidFill>
                  <a:srgbClr val="FF0000"/>
                </a:solidFill>
              </a:rPr>
              <a:t>Check list plan: </a:t>
            </a:r>
            <a:r>
              <a:rPr lang="en-US" dirty="0" smtClean="0"/>
              <a:t>These are the lists made up of series of questions or statements which concern the importance of the employees performance on the job.</a:t>
            </a:r>
          </a:p>
          <a:p>
            <a:pPr marL="514350" indent="-514350" algn="just">
              <a:buFont typeface="+mj-lt"/>
              <a:buAutoNum type="arabicPeriod"/>
            </a:pPr>
            <a:r>
              <a:rPr lang="en-US" b="1" dirty="0" smtClean="0">
                <a:solidFill>
                  <a:srgbClr val="FF0000"/>
                </a:solidFill>
              </a:rPr>
              <a:t>Scale plan:</a:t>
            </a:r>
            <a:r>
              <a:rPr lang="en-US" b="1" dirty="0" smtClean="0"/>
              <a:t> </a:t>
            </a:r>
            <a:r>
              <a:rPr lang="en-US" dirty="0" smtClean="0"/>
              <a:t>There are many variants of a scale plans and all consist of list of attributes or traits, each being accompanied by scale, for rating the workers.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The remuneration paid to the worker is called </a:t>
            </a:r>
            <a:r>
              <a:rPr lang="en-US" b="1" dirty="0" smtClean="0">
                <a:solidFill>
                  <a:srgbClr val="FF0000"/>
                </a:solidFill>
              </a:rPr>
              <a:t>wage</a:t>
            </a:r>
            <a:r>
              <a:rPr lang="en-US" dirty="0" smtClean="0"/>
              <a:t>. Wages should be sufficient to satisfy the ordinary needs and necessities of the worker provide him some comforts of life and help him in maintaining his standard of living. </a:t>
            </a:r>
            <a:r>
              <a:rPr lang="en-US" b="1" dirty="0" smtClean="0">
                <a:solidFill>
                  <a:srgbClr val="FF0000"/>
                </a:solidFill>
              </a:rPr>
              <a:t>Wages may be classified as</a:t>
            </a:r>
          </a:p>
          <a:p>
            <a:pPr marL="514350" indent="-514350" algn="just">
              <a:buFont typeface="+mj-lt"/>
              <a:buAutoNum type="arabicPeriod"/>
            </a:pPr>
            <a:r>
              <a:rPr lang="en-US" b="1" dirty="0" smtClean="0">
                <a:solidFill>
                  <a:srgbClr val="FF0000"/>
                </a:solidFill>
              </a:rPr>
              <a:t>Nominal wages: </a:t>
            </a:r>
            <a:r>
              <a:rPr lang="en-US" dirty="0" smtClean="0"/>
              <a:t>These are paid in the form of a cash and do not include other benefits given to the workers. This is also called as money wage.</a:t>
            </a:r>
          </a:p>
          <a:p>
            <a:pPr marL="514350" indent="-514350" algn="just">
              <a:buFont typeface="+mj-lt"/>
              <a:buAutoNum type="arabicPeriod"/>
            </a:pPr>
            <a:r>
              <a:rPr lang="en-US" b="1" dirty="0" smtClean="0">
                <a:solidFill>
                  <a:srgbClr val="FF0000"/>
                </a:solidFill>
              </a:rPr>
              <a:t>Real wages</a:t>
            </a:r>
            <a:r>
              <a:rPr lang="en-US" dirty="0" smtClean="0">
                <a:solidFill>
                  <a:srgbClr val="FF0000"/>
                </a:solidFill>
              </a:rPr>
              <a:t>: </a:t>
            </a:r>
            <a:r>
              <a:rPr lang="en-US" dirty="0" smtClean="0"/>
              <a:t>In addition to the cash payment real wages include the amount of necessaries, comforts, luxuries and other benefits which a worker gets in return of his effort and work.</a:t>
            </a:r>
          </a:p>
          <a:p>
            <a:pPr marL="514350" indent="-514350" algn="just">
              <a:buNone/>
            </a:pPr>
            <a:endParaRPr lang="en-US" dirty="0" smtClean="0"/>
          </a:p>
          <a:p>
            <a:pPr marL="514350" indent="-514350" algn="just">
              <a:buNone/>
            </a:pPr>
            <a:r>
              <a:rPr lang="en-US" b="1" dirty="0" smtClean="0">
                <a:solidFill>
                  <a:srgbClr val="FF0000"/>
                </a:solidFill>
              </a:rPr>
              <a:t>The three concepts (layers) of wages are</a:t>
            </a:r>
          </a:p>
          <a:p>
            <a:pPr marL="571500" indent="-571500" algn="just">
              <a:buFont typeface="+mj-lt"/>
              <a:buAutoNum type="romanUcPeriod"/>
            </a:pPr>
            <a:r>
              <a:rPr lang="en-US" i="1" dirty="0" smtClean="0">
                <a:solidFill>
                  <a:srgbClr val="0000CC"/>
                </a:solidFill>
              </a:rPr>
              <a:t>Minimum wage to improve the standard of living of people who live below the poverty line.</a:t>
            </a:r>
          </a:p>
          <a:p>
            <a:pPr marL="571500" indent="-571500" algn="just">
              <a:buFont typeface="+mj-lt"/>
              <a:buAutoNum type="romanUcPeriod"/>
            </a:pPr>
            <a:r>
              <a:rPr lang="en-US" i="1" dirty="0" smtClean="0">
                <a:solidFill>
                  <a:srgbClr val="0000CC"/>
                </a:solidFill>
              </a:rPr>
              <a:t>Fair wage assuring equal pay for equal work and </a:t>
            </a:r>
          </a:p>
          <a:p>
            <a:pPr marL="571500" indent="-571500" algn="just">
              <a:buFont typeface="+mj-lt"/>
              <a:buAutoNum type="romanUcPeriod"/>
            </a:pPr>
            <a:r>
              <a:rPr lang="en-US" i="1" dirty="0" smtClean="0">
                <a:solidFill>
                  <a:srgbClr val="0000CC"/>
                </a:solidFill>
              </a:rPr>
              <a:t>Living wage assuring maintenance of living standards in a locality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7500" lnSpcReduction="20000"/>
          </a:bodyPr>
          <a:lstStyle/>
          <a:p>
            <a:pPr>
              <a:buNone/>
            </a:pPr>
            <a:r>
              <a:rPr lang="en-US" b="1" dirty="0" smtClean="0"/>
              <a:t>	</a:t>
            </a:r>
            <a:r>
              <a:rPr lang="en-US" b="1" i="1" u="sng" dirty="0" smtClean="0">
                <a:solidFill>
                  <a:srgbClr val="FF0000"/>
                </a:solidFill>
              </a:rPr>
              <a:t>Factors affecting wages</a:t>
            </a:r>
          </a:p>
          <a:p>
            <a:pPr marL="514350" indent="-514350">
              <a:buFont typeface="+mj-lt"/>
              <a:buAutoNum type="arabicPeriod"/>
            </a:pPr>
            <a:r>
              <a:rPr lang="en-US" i="1" dirty="0" smtClean="0"/>
              <a:t>Demand and supply position in labor market.</a:t>
            </a:r>
          </a:p>
          <a:p>
            <a:pPr marL="514350" indent="-514350">
              <a:buFont typeface="+mj-lt"/>
              <a:buAutoNum type="arabicPeriod"/>
            </a:pPr>
            <a:r>
              <a:rPr lang="en-US" i="1" dirty="0" smtClean="0"/>
              <a:t>Legal or statutory provisions.</a:t>
            </a:r>
          </a:p>
          <a:p>
            <a:pPr marL="514350" indent="-514350">
              <a:buFont typeface="+mj-lt"/>
              <a:buAutoNum type="arabicPeriod"/>
            </a:pPr>
            <a:r>
              <a:rPr lang="en-US" i="1" dirty="0" smtClean="0"/>
              <a:t>Capacity to bargain.</a:t>
            </a:r>
          </a:p>
          <a:p>
            <a:pPr marL="514350" indent="-514350">
              <a:buFont typeface="+mj-lt"/>
              <a:buAutoNum type="arabicPeriod"/>
            </a:pPr>
            <a:r>
              <a:rPr lang="en-US" i="1" dirty="0" smtClean="0"/>
              <a:t>Cost of living index.</a:t>
            </a:r>
          </a:p>
          <a:p>
            <a:pPr marL="514350" indent="-514350">
              <a:buFont typeface="+mj-lt"/>
              <a:buAutoNum type="arabicPeriod"/>
            </a:pPr>
            <a:r>
              <a:rPr lang="en-US" i="1" dirty="0" smtClean="0"/>
              <a:t>The nature of employment/the nature of risk involved.</a:t>
            </a:r>
          </a:p>
          <a:p>
            <a:pPr marL="514350" indent="-514350">
              <a:buFont typeface="+mj-lt"/>
              <a:buAutoNum type="arabicPeriod"/>
            </a:pPr>
            <a:r>
              <a:rPr lang="en-US" i="1" dirty="0" smtClean="0"/>
              <a:t>Organization’s ability and willingness to pay.</a:t>
            </a:r>
          </a:p>
          <a:p>
            <a:pPr marL="514350" indent="-514350">
              <a:buFont typeface="+mj-lt"/>
              <a:buAutoNum type="arabicPeriod"/>
            </a:pPr>
            <a:r>
              <a:rPr lang="en-US" i="1" dirty="0" smtClean="0"/>
              <a:t>Regularity and irregularity of employment.</a:t>
            </a:r>
          </a:p>
          <a:p>
            <a:pPr marL="514350" indent="-514350">
              <a:buFont typeface="+mj-lt"/>
              <a:buAutoNum type="arabicPeriod"/>
            </a:pPr>
            <a:r>
              <a:rPr lang="en-US" i="1" dirty="0" smtClean="0"/>
              <a:t>Supplementary incomes.</a:t>
            </a:r>
          </a:p>
          <a:p>
            <a:pPr marL="514350" indent="-514350">
              <a:buFont typeface="+mj-lt"/>
              <a:buAutoNum type="arabicPeriod"/>
            </a:pPr>
            <a:r>
              <a:rPr lang="en-US" i="1" dirty="0" smtClean="0"/>
              <a:t>Working hours.</a:t>
            </a:r>
          </a:p>
          <a:p>
            <a:pPr marL="514350" indent="-514350">
              <a:buFont typeface="+mj-lt"/>
              <a:buAutoNum type="arabicPeriod"/>
            </a:pPr>
            <a:r>
              <a:rPr lang="en-US" i="1" dirty="0" smtClean="0"/>
              <a:t>Prospects of promotion.</a:t>
            </a:r>
          </a:p>
          <a:p>
            <a:pPr marL="514350" indent="-514350">
              <a:buFont typeface="+mj-lt"/>
              <a:buAutoNum type="arabicPeriod"/>
            </a:pPr>
            <a:r>
              <a:rPr lang="en-US" i="1" dirty="0" smtClean="0"/>
              <a:t>Period and cost of training.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u="sng" dirty="0" smtClean="0">
                <a:solidFill>
                  <a:srgbClr val="FF0000"/>
                </a:solidFill>
              </a:rPr>
              <a:t>Types of wage plans (methods of wage payment)</a:t>
            </a:r>
          </a:p>
          <a:p>
            <a:pPr marL="514350" indent="-514350" algn="just">
              <a:buFont typeface="+mj-lt"/>
              <a:buAutoNum type="arabicPeriod"/>
            </a:pPr>
            <a:r>
              <a:rPr lang="en-US" b="1" dirty="0" smtClean="0">
                <a:solidFill>
                  <a:srgbClr val="FF0000"/>
                </a:solidFill>
              </a:rPr>
              <a:t>Time rate system:</a:t>
            </a:r>
            <a:r>
              <a:rPr lang="en-US" b="1" dirty="0" smtClean="0"/>
              <a:t> </a:t>
            </a:r>
            <a:r>
              <a:rPr lang="en-US" dirty="0" smtClean="0"/>
              <a:t>In this, the wages are based on the time (number of hours for which the worker works) and not on the number of units produced by the workers. Daily wages, weekly wages, monthly wages or hourly wages are the types which show time duration for which payment is to be made.</a:t>
            </a:r>
          </a:p>
          <a:p>
            <a:pPr marL="514350" indent="-514350" algn="just">
              <a:buFont typeface="+mj-lt"/>
              <a:buAutoNum type="arabicPeriod"/>
            </a:pPr>
            <a:r>
              <a:rPr lang="en-US" b="1" dirty="0" smtClean="0">
                <a:solidFill>
                  <a:srgbClr val="FF0000"/>
                </a:solidFill>
              </a:rPr>
              <a:t>Piece rate system: </a:t>
            </a:r>
            <a:r>
              <a:rPr lang="en-US" dirty="0" smtClean="0"/>
              <a:t>In this, the wages are based on the quantity of work completed satisfactorily by the worker. A fixed rate per unit produced or operation completed is paid to the worker.</a:t>
            </a:r>
          </a:p>
          <a:p>
            <a:pPr marL="514350" indent="-514350" algn="just">
              <a:buFont typeface="+mj-lt"/>
              <a:buAutoNum type="arabicPeriod"/>
            </a:pPr>
            <a:r>
              <a:rPr lang="en-US" b="1" dirty="0" smtClean="0">
                <a:solidFill>
                  <a:srgbClr val="FF0000"/>
                </a:solidFill>
              </a:rPr>
              <a:t>Combined of piece rate and time rate system: </a:t>
            </a:r>
            <a:r>
              <a:rPr lang="en-US" dirty="0" smtClean="0"/>
              <a:t>Under this, minimum weekly wages are fixed for each worker, which shall be paid to him irrespective of this output during the week, provided he has worked for the full working hours required in a week. The wages for the period of his absence are deducted from the total amount of his wages.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a:xfrm>
            <a:off x="457200" y="1189037"/>
            <a:ext cx="8229600" cy="5059363"/>
          </a:xfrm>
        </p:spPr>
        <p:txBody>
          <a:bodyPr>
            <a:normAutofit fontScale="77500" lnSpcReduction="20000"/>
          </a:bodyPr>
          <a:lstStyle/>
          <a:p>
            <a:pPr algn="just">
              <a:buNone/>
            </a:pPr>
            <a:r>
              <a:rPr lang="en-US" dirty="0" smtClean="0"/>
              <a:t>	</a:t>
            </a:r>
            <a:r>
              <a:rPr lang="en-US" b="1" dirty="0" smtClean="0">
                <a:solidFill>
                  <a:srgbClr val="FF0000"/>
                </a:solidFill>
              </a:rPr>
              <a:t>An incentive scheme </a:t>
            </a:r>
            <a:r>
              <a:rPr lang="en-US" dirty="0" smtClean="0"/>
              <a:t>may be defined as, </a:t>
            </a:r>
            <a:r>
              <a:rPr lang="en-US" i="1" dirty="0" smtClean="0">
                <a:solidFill>
                  <a:srgbClr val="0628D4"/>
                </a:solidFill>
              </a:rPr>
              <a:t>‘a system of wage payment under which the earnings of an employee, or a group of employees, or all employees in an organization is directly related to the output of an acceptable quality and over and above a standard laid down by means of predetermined formula.’</a:t>
            </a:r>
          </a:p>
          <a:p>
            <a:pPr marL="514350" indent="-514350" algn="just">
              <a:buFont typeface="+mj-lt"/>
              <a:buAutoNum type="arabicPeriod"/>
            </a:pPr>
            <a:r>
              <a:rPr lang="en-US" b="1" dirty="0" smtClean="0">
                <a:solidFill>
                  <a:srgbClr val="FF0000"/>
                </a:solidFill>
              </a:rPr>
              <a:t>Financial incentives  </a:t>
            </a:r>
            <a:r>
              <a:rPr lang="en-US" dirty="0" smtClean="0"/>
              <a:t>- Bonus 	- Profit sharing</a:t>
            </a:r>
          </a:p>
          <a:p>
            <a:pPr marL="514350" indent="-514350" algn="just">
              <a:buFont typeface="+mj-lt"/>
              <a:buAutoNum type="arabicPeriod"/>
            </a:pPr>
            <a:r>
              <a:rPr lang="en-US" b="1" dirty="0" smtClean="0">
                <a:solidFill>
                  <a:srgbClr val="FF0000"/>
                </a:solidFill>
              </a:rPr>
              <a:t>Non-financial incentives </a:t>
            </a:r>
            <a:r>
              <a:rPr lang="en-US" dirty="0" smtClean="0"/>
              <a:t>(praise of work, service security, training)</a:t>
            </a:r>
          </a:p>
          <a:p>
            <a:pPr marL="514350" indent="-514350" algn="just">
              <a:buFont typeface="+mj-lt"/>
              <a:buAutoNum type="arabicPeriod"/>
            </a:pPr>
            <a:r>
              <a:rPr lang="en-US" b="1" dirty="0" smtClean="0">
                <a:solidFill>
                  <a:srgbClr val="FF0000"/>
                </a:solidFill>
              </a:rPr>
              <a:t>Semi- financial incentives </a:t>
            </a:r>
            <a:r>
              <a:rPr lang="en-US" dirty="0" smtClean="0"/>
              <a:t>(subsidized lunch, recreational and medical facilities, pension)</a:t>
            </a:r>
          </a:p>
          <a:p>
            <a:pPr marL="514350" indent="-514350" algn="just">
              <a:buFont typeface="+mj-lt"/>
              <a:buAutoNum type="arabicPeriod"/>
            </a:pPr>
            <a:r>
              <a:rPr lang="en-US" b="1" dirty="0" smtClean="0">
                <a:solidFill>
                  <a:srgbClr val="FF0000"/>
                </a:solidFill>
              </a:rPr>
              <a:t>Individual incentive scheme </a:t>
            </a:r>
            <a:r>
              <a:rPr lang="en-US" dirty="0" smtClean="0"/>
              <a:t>(based on the individual performance)</a:t>
            </a:r>
          </a:p>
          <a:p>
            <a:pPr marL="514350" indent="-514350" algn="just">
              <a:buFont typeface="+mj-lt"/>
              <a:buAutoNum type="arabicPeriod"/>
            </a:pPr>
            <a:r>
              <a:rPr lang="en-US" b="1" dirty="0" smtClean="0">
                <a:solidFill>
                  <a:srgbClr val="FF0000"/>
                </a:solidFill>
              </a:rPr>
              <a:t>Group incentive scheme </a:t>
            </a:r>
            <a:r>
              <a:rPr lang="en-US" dirty="0" smtClean="0"/>
              <a:t>(based on the collective performance of his work group)</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a:xfrm>
            <a:off x="457200" y="1189037"/>
            <a:ext cx="8229600" cy="4830763"/>
          </a:xfrm>
        </p:spPr>
        <p:txBody>
          <a:bodyPr>
            <a:normAutofit fontScale="70000" lnSpcReduction="20000"/>
          </a:bodyPr>
          <a:lstStyle/>
          <a:p>
            <a:pPr algn="just">
              <a:buNone/>
            </a:pPr>
            <a:r>
              <a:rPr lang="en-US" dirty="0" smtClean="0"/>
              <a:t>	</a:t>
            </a:r>
            <a:r>
              <a:rPr lang="en-US" b="1" u="sng" dirty="0" smtClean="0">
                <a:solidFill>
                  <a:srgbClr val="FF0000"/>
                </a:solidFill>
              </a:rPr>
              <a:t>Taylor’s Differential Piece-rate system: </a:t>
            </a:r>
            <a:r>
              <a:rPr lang="en-US" dirty="0" smtClean="0"/>
              <a:t>This incentive plan was developed by Taylor, the father of Scientific Management. This system provides for two piece rates. The workers who produce more than the standard units are paid at a higher piece rate, and those who produce less than the standard output are paid at low piece rate. The scheme thus rewards efficient workers and penalizes sluggish workers.</a:t>
            </a:r>
          </a:p>
          <a:p>
            <a:pPr algn="just">
              <a:buNone/>
            </a:pPr>
            <a:endParaRPr lang="en-US" dirty="0" smtClean="0"/>
          </a:p>
          <a:p>
            <a:pPr algn="just">
              <a:buNone/>
            </a:pPr>
            <a:r>
              <a:rPr lang="en-US" dirty="0" smtClean="0"/>
              <a:t> 	</a:t>
            </a:r>
            <a:r>
              <a:rPr lang="en-US" b="1" dirty="0" smtClean="0"/>
              <a:t>Example: </a:t>
            </a:r>
            <a:r>
              <a:rPr lang="en-US" i="1" dirty="0" smtClean="0">
                <a:solidFill>
                  <a:srgbClr val="0000CC"/>
                </a:solidFill>
              </a:rPr>
              <a:t>Two workers A and B while working on two identical machines produced respectively 75 and 85 numbers of the same job whose standard production is 80 jobs per day. From the following data calculate the earnings of each worker.</a:t>
            </a:r>
          </a:p>
          <a:p>
            <a:pPr algn="just">
              <a:buNone/>
            </a:pPr>
            <a:r>
              <a:rPr lang="en-US" i="1" dirty="0" smtClean="0">
                <a:solidFill>
                  <a:srgbClr val="0000CC"/>
                </a:solidFill>
              </a:rPr>
              <a:t>	Labor hourly rate Rs. 12/-</a:t>
            </a:r>
          </a:p>
          <a:p>
            <a:pPr algn="just">
              <a:buNone/>
            </a:pPr>
            <a:r>
              <a:rPr lang="en-US" i="1" dirty="0" smtClean="0">
                <a:solidFill>
                  <a:srgbClr val="0000CC"/>
                </a:solidFill>
              </a:rPr>
              <a:t>	Rate differential to be applied = 80% of standard piece rate for below standard performance 120% of the standard piece rate for standard and above standard performance.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7500" lnSpcReduction="20000"/>
          </a:bodyPr>
          <a:lstStyle/>
          <a:p>
            <a:pPr>
              <a:buNone/>
            </a:pPr>
            <a:r>
              <a:rPr lang="en-US" b="1" dirty="0" smtClean="0">
                <a:solidFill>
                  <a:srgbClr val="FF0000"/>
                </a:solidFill>
              </a:rPr>
              <a:t>Solution:</a:t>
            </a:r>
          </a:p>
          <a:p>
            <a:pPr>
              <a:buNone/>
            </a:pPr>
            <a:r>
              <a:rPr lang="en-US" dirty="0" smtClean="0"/>
              <a:t>	</a:t>
            </a:r>
            <a:r>
              <a:rPr lang="en-US" i="1" dirty="0" smtClean="0"/>
              <a:t>Standard output per hour = 80/8 = 10 jobs.</a:t>
            </a:r>
          </a:p>
          <a:p>
            <a:pPr>
              <a:buNone/>
            </a:pPr>
            <a:r>
              <a:rPr lang="en-US" i="1" dirty="0" smtClean="0"/>
              <a:t>	Standard piece rate (R) =12/10 = Rs. 1.20</a:t>
            </a:r>
          </a:p>
          <a:p>
            <a:pPr>
              <a:buNone/>
            </a:pPr>
            <a:r>
              <a:rPr lang="en-US" i="1" dirty="0" smtClean="0"/>
              <a:t>	Lower piece rate = 1.20 * 0.80 = 0.96</a:t>
            </a:r>
          </a:p>
          <a:p>
            <a:pPr>
              <a:buNone/>
            </a:pPr>
            <a:r>
              <a:rPr lang="en-US" i="1" dirty="0" smtClean="0"/>
              <a:t>	Higher piece rate = 1.20 * 1.20 = 1.44</a:t>
            </a:r>
          </a:p>
          <a:p>
            <a:pPr>
              <a:buNone/>
            </a:pPr>
            <a:r>
              <a:rPr lang="en-US" i="1" dirty="0" smtClean="0"/>
              <a:t>	Earning of operator A = 0.96 * 75 = Rs. 72/- per day</a:t>
            </a:r>
          </a:p>
          <a:p>
            <a:pPr>
              <a:buNone/>
            </a:pPr>
            <a:r>
              <a:rPr lang="en-US" i="1" dirty="0" smtClean="0"/>
              <a:t>	Earning of operator B = 1.44 * 85 = Rs. 122.40/- per day</a:t>
            </a:r>
          </a:p>
          <a:p>
            <a:pPr>
              <a:buFont typeface="Wingdings" pitchFamily="2" charset="2"/>
              <a:buChar char="Ø"/>
            </a:pPr>
            <a:r>
              <a:rPr lang="en-US" b="1" i="1" u="sng" dirty="0" smtClean="0">
                <a:solidFill>
                  <a:srgbClr val="FF0000"/>
                </a:solidFill>
              </a:rPr>
              <a:t> Standard piece rate </a:t>
            </a:r>
            <a:r>
              <a:rPr lang="en-US" dirty="0" smtClean="0">
                <a:solidFill>
                  <a:srgbClr val="0628D4"/>
                </a:solidFill>
              </a:rPr>
              <a:t>= (labor hourly rate)/ (No. of production per hour)</a:t>
            </a:r>
          </a:p>
          <a:p>
            <a:pPr>
              <a:buFont typeface="Wingdings" pitchFamily="2" charset="2"/>
              <a:buChar char="Ø"/>
            </a:pPr>
            <a:r>
              <a:rPr lang="en-US" b="1" i="1" u="sng" dirty="0" smtClean="0">
                <a:solidFill>
                  <a:srgbClr val="FF0000"/>
                </a:solidFill>
              </a:rPr>
              <a:t> Lower piece rate </a:t>
            </a:r>
            <a:r>
              <a:rPr lang="en-US" dirty="0" smtClean="0">
                <a:solidFill>
                  <a:srgbClr val="0628D4"/>
                </a:solidFill>
              </a:rPr>
              <a:t>= (standard piece rate) * ( given % for below standard performance)</a:t>
            </a:r>
          </a:p>
          <a:p>
            <a:pPr>
              <a:buFont typeface="Wingdings" pitchFamily="2" charset="2"/>
              <a:buChar char="Ø"/>
            </a:pPr>
            <a:r>
              <a:rPr lang="en-US" b="1" i="1" u="sng" dirty="0" smtClean="0">
                <a:solidFill>
                  <a:srgbClr val="FF0000"/>
                </a:solidFill>
              </a:rPr>
              <a:t>Earning of less production operator </a:t>
            </a:r>
            <a:r>
              <a:rPr lang="en-US" dirty="0" smtClean="0">
                <a:solidFill>
                  <a:srgbClr val="0628D4"/>
                </a:solidFill>
              </a:rPr>
              <a:t>= Lower piece rate * No. of production by him.</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u="sng" dirty="0" err="1" smtClean="0">
                <a:solidFill>
                  <a:srgbClr val="FF0000"/>
                </a:solidFill>
              </a:rPr>
              <a:t>Hasley</a:t>
            </a:r>
            <a:r>
              <a:rPr lang="en-US" b="1" u="sng" dirty="0" smtClean="0">
                <a:solidFill>
                  <a:srgbClr val="FF0000"/>
                </a:solidFill>
              </a:rPr>
              <a:t> Incentive Plan: </a:t>
            </a:r>
            <a:r>
              <a:rPr lang="en-US" dirty="0" smtClean="0"/>
              <a:t>The </a:t>
            </a:r>
            <a:r>
              <a:rPr lang="en-US" dirty="0" err="1" smtClean="0"/>
              <a:t>Hasley</a:t>
            </a:r>
            <a:r>
              <a:rPr lang="en-US" dirty="0" smtClean="0"/>
              <a:t> plan was introduced by Fredrick A. Halsey, an American engineer, in 1891. In this system a minimum wage is guaranteed to the workers. A standard time is fixed for the performance of each job. If a worker completes his job before the standard time, he gets guaranteed wage plus incentive bonus at fixed percentage of earnings for the time saved. The most common percentage is 50 percent.</a:t>
            </a:r>
          </a:p>
          <a:p>
            <a:pPr algn="just">
              <a:buNone/>
            </a:pPr>
            <a:r>
              <a:rPr lang="en-US" i="1" dirty="0" smtClean="0">
                <a:solidFill>
                  <a:srgbClr val="0000CC"/>
                </a:solidFill>
              </a:rPr>
              <a:t>Let, </a:t>
            </a:r>
          </a:p>
          <a:p>
            <a:pPr algn="just">
              <a:buNone/>
            </a:pPr>
            <a:r>
              <a:rPr lang="en-US" i="1" dirty="0" smtClean="0">
                <a:solidFill>
                  <a:srgbClr val="0000CC"/>
                </a:solidFill>
              </a:rPr>
              <a:t>	hourly rate (Rs.) = R</a:t>
            </a:r>
          </a:p>
          <a:p>
            <a:pPr algn="just">
              <a:buNone/>
            </a:pPr>
            <a:r>
              <a:rPr lang="en-US" i="1" dirty="0" smtClean="0">
                <a:solidFill>
                  <a:srgbClr val="0000CC"/>
                </a:solidFill>
              </a:rPr>
              <a:t>	Standard time (hrs.) =  Ts</a:t>
            </a:r>
          </a:p>
          <a:p>
            <a:pPr algn="just">
              <a:buNone/>
            </a:pPr>
            <a:r>
              <a:rPr lang="en-US" i="1" dirty="0" smtClean="0">
                <a:solidFill>
                  <a:srgbClr val="0000CC"/>
                </a:solidFill>
              </a:rPr>
              <a:t>	Time actually taken (hrs.) = Ta</a:t>
            </a:r>
          </a:p>
          <a:p>
            <a:pPr algn="just">
              <a:buNone/>
            </a:pPr>
            <a:r>
              <a:rPr lang="en-US" dirty="0" smtClean="0"/>
              <a:t>Then, </a:t>
            </a:r>
          </a:p>
          <a:p>
            <a:pPr algn="just">
              <a:buNone/>
            </a:pPr>
            <a:r>
              <a:rPr lang="en-US" dirty="0" smtClean="0"/>
              <a:t>	</a:t>
            </a:r>
            <a:r>
              <a:rPr lang="en-US" b="1" dirty="0" smtClean="0">
                <a:solidFill>
                  <a:srgbClr val="FF0000"/>
                </a:solidFill>
              </a:rPr>
              <a:t>Time saved (hrs.) </a:t>
            </a:r>
            <a:r>
              <a:rPr lang="en-US" dirty="0" smtClean="0"/>
              <a:t>= (Ts – Ta)</a:t>
            </a:r>
          </a:p>
          <a:p>
            <a:pPr algn="just">
              <a:buNone/>
            </a:pPr>
            <a:r>
              <a:rPr lang="en-US" dirty="0" smtClean="0"/>
              <a:t>	</a:t>
            </a:r>
            <a:r>
              <a:rPr lang="en-US" b="1" dirty="0" smtClean="0">
                <a:solidFill>
                  <a:srgbClr val="FF0000"/>
                </a:solidFill>
              </a:rPr>
              <a:t>Bonus earned </a:t>
            </a:r>
            <a:r>
              <a:rPr lang="en-US" dirty="0" smtClean="0"/>
              <a:t>= (Ts – Ta) * R * 50/100 = ½*R*(Ts – Ta)</a:t>
            </a:r>
          </a:p>
          <a:p>
            <a:pPr algn="just">
              <a:buNone/>
            </a:pPr>
            <a:r>
              <a:rPr lang="en-US" dirty="0" smtClean="0"/>
              <a:t>	</a:t>
            </a:r>
            <a:r>
              <a:rPr lang="en-US" b="1" dirty="0" smtClean="0">
                <a:solidFill>
                  <a:srgbClr val="FF0000"/>
                </a:solidFill>
              </a:rPr>
              <a:t>Wages earned by the worker</a:t>
            </a:r>
            <a:r>
              <a:rPr lang="en-US" dirty="0" smtClean="0"/>
              <a:t> = Ta * R + ½*R*(Ts – Ta)</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a:t>
            </a:r>
            <a:r>
              <a:rPr lang="en-US" b="1" i="1" dirty="0" smtClean="0">
                <a:solidFill>
                  <a:srgbClr val="0628D4"/>
                </a:solidFill>
              </a:rPr>
              <a:t>Example: </a:t>
            </a:r>
            <a:r>
              <a:rPr lang="en-US" i="1" dirty="0" smtClean="0">
                <a:solidFill>
                  <a:srgbClr val="0628D4"/>
                </a:solidFill>
              </a:rPr>
              <a:t>The standard time of a job is 8 hours and the hourly rate of payment is Rs. 10/-. The worker completes the job in 6 hours. Calculate the bonus and the total wages earned by the worker.</a:t>
            </a:r>
          </a:p>
          <a:p>
            <a:pPr algn="just">
              <a:buNone/>
            </a:pPr>
            <a:r>
              <a:rPr lang="en-US" b="1" dirty="0" smtClean="0">
                <a:solidFill>
                  <a:srgbClr val="FF0000"/>
                </a:solidFill>
              </a:rPr>
              <a:t>Solution:</a:t>
            </a:r>
          </a:p>
          <a:p>
            <a:pPr algn="just">
              <a:buNone/>
            </a:pPr>
            <a:r>
              <a:rPr lang="en-US" i="1" dirty="0" smtClean="0"/>
              <a:t>Given: R = Rs. 10.00, Ts = 8 hours, Ta = 6 hours</a:t>
            </a:r>
          </a:p>
          <a:p>
            <a:pPr algn="just">
              <a:buNone/>
            </a:pPr>
            <a:r>
              <a:rPr lang="en-US" i="1" dirty="0" smtClean="0"/>
              <a:t>Now,</a:t>
            </a:r>
          </a:p>
          <a:p>
            <a:pPr algn="just">
              <a:buNone/>
            </a:pPr>
            <a:r>
              <a:rPr lang="en-US" i="1" dirty="0" smtClean="0"/>
              <a:t>Time saved = (Ts – Ta) = 8 – 6 = 2 hours.</a:t>
            </a:r>
          </a:p>
          <a:p>
            <a:pPr algn="just">
              <a:buNone/>
            </a:pPr>
            <a:r>
              <a:rPr lang="en-US" i="1" dirty="0" smtClean="0"/>
              <a:t>Bonus = ½ * (Ts – Ta) *  R = ½ * (8 -6) * 10 = Rs. 10/-</a:t>
            </a:r>
          </a:p>
          <a:p>
            <a:pPr algn="just">
              <a:buNone/>
            </a:pPr>
            <a:r>
              <a:rPr lang="en-US" i="1" dirty="0" smtClean="0"/>
              <a:t>Total wages earned =  Ta * R + ½ * (Ts – Ta) *  R  </a:t>
            </a:r>
          </a:p>
          <a:p>
            <a:pPr algn="just">
              <a:buNone/>
            </a:pPr>
            <a:r>
              <a:rPr lang="en-US" i="1" dirty="0" smtClean="0"/>
              <a:t>				= 6 *10 +10 = Rs. 70/-</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dirty="0" smtClean="0"/>
              <a:t>The Rowan system: </a:t>
            </a:r>
            <a:r>
              <a:rPr lang="en-US" dirty="0" smtClean="0"/>
              <a:t>This plan was introduced by James Rowan of Glasgow in 1901. The plan provides each workman guaranteed minimum wage plus incentive bonus for certain portion of the time saved. In this scheme the proportion of the time payable for incentive being the ratio of actual time taken to the standard time.</a:t>
            </a:r>
          </a:p>
          <a:p>
            <a:pPr algn="just">
              <a:buNone/>
            </a:pPr>
            <a:r>
              <a:rPr lang="en-US" dirty="0" smtClean="0">
                <a:solidFill>
                  <a:srgbClr val="FF0000"/>
                </a:solidFill>
              </a:rPr>
              <a:t>	Therefore, Bonus = ((standard time – actual time)/standard time)) * actual time * ratio = ((Ts – Ta)/Ts) *  Ta * R  </a:t>
            </a:r>
          </a:p>
          <a:p>
            <a:pPr algn="just">
              <a:buNone/>
            </a:pPr>
            <a:r>
              <a:rPr lang="en-US" dirty="0" smtClean="0">
                <a:solidFill>
                  <a:srgbClr val="FF0000"/>
                </a:solidFill>
              </a:rPr>
              <a:t>	Earning = Ta * R + ((Ts – Ta)/Ts) *  Ta * R </a:t>
            </a:r>
          </a:p>
          <a:p>
            <a:pPr algn="just">
              <a:buNone/>
            </a:pPr>
            <a:r>
              <a:rPr lang="en-US" i="1" dirty="0" smtClean="0">
                <a:solidFill>
                  <a:srgbClr val="0628D4"/>
                </a:solidFill>
              </a:rPr>
              <a:t>	Example: In a manufacturing firm, the standard time to complete the job is 8 hours and the hourly wage rate is Rs. 10/- per hour. Workers are promised to pay incentive according to Rowan plan. Find out the bonus payable to the operator of time to complete the job is 8,7,6…1 hours respectively.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dirty="0" smtClean="0"/>
              <a:t>Solution: </a:t>
            </a:r>
            <a:r>
              <a:rPr lang="en-US" dirty="0" smtClean="0"/>
              <a:t>Table below is developed to compute incentive bonus for different values of time taken to complete the job.</a:t>
            </a:r>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r>
              <a:rPr lang="en-US" dirty="0" smtClean="0"/>
              <a:t>	</a:t>
            </a:r>
            <a:r>
              <a:rPr lang="en-US" i="1" dirty="0" smtClean="0">
                <a:solidFill>
                  <a:srgbClr val="FF0000"/>
                </a:solidFill>
              </a:rPr>
              <a:t>Under Rowan system, incentive bonus earned by the operator is maximum when the operator completed the task in 50% but decreases beyond fifty percent.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343025" y="1752600"/>
            <a:ext cx="645795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62500" lnSpcReduction="20000"/>
          </a:bodyPr>
          <a:lstStyle/>
          <a:p>
            <a:pPr algn="just">
              <a:buNone/>
            </a:pPr>
            <a:r>
              <a:rPr lang="en-US" dirty="0" smtClean="0"/>
              <a:t>	</a:t>
            </a:r>
            <a:r>
              <a:rPr lang="en-US" b="1" u="sng" dirty="0" smtClean="0">
                <a:solidFill>
                  <a:srgbClr val="FF0000"/>
                </a:solidFill>
              </a:rPr>
              <a:t>Emerson’s Efficiency Plan: </a:t>
            </a:r>
            <a:r>
              <a:rPr lang="en-US" dirty="0" smtClean="0"/>
              <a:t>The Emerson’s efficiency plan was introduced by Harrington Emerson. In this plan wages are calculated on the basis of efficiency of performance. Daily wages are guaranteed irrespective of the output. Less efficient workers are not put to loss, but at the same time workers who prove their efficiency are paid bonus. A standard of performance is based on past performance (previous records) is taken as 100% efficiency. The actual output of the worker is compared with the standard output to calculated his efficiency for the day. i.e.</a:t>
            </a:r>
          </a:p>
          <a:p>
            <a:pPr algn="just">
              <a:buNone/>
            </a:pPr>
            <a:r>
              <a:rPr lang="en-US" dirty="0" smtClean="0"/>
              <a:t>	</a:t>
            </a:r>
            <a:r>
              <a:rPr lang="en-US" b="1" i="1" dirty="0" smtClean="0">
                <a:solidFill>
                  <a:srgbClr val="FF0000"/>
                </a:solidFill>
              </a:rPr>
              <a:t>Efficiency = (actual output for the period/standard output for the period) * 100.</a:t>
            </a:r>
          </a:p>
          <a:p>
            <a:pPr algn="just">
              <a:buNone/>
            </a:pPr>
            <a:r>
              <a:rPr lang="en-US" dirty="0" smtClean="0"/>
              <a:t>	In this scheme, an incentive bonus is paid to the worker if his efficiency exceeds two-thirds (66.67%) of the standard performance (100%). The remuneration under this method is computed as under.</a:t>
            </a:r>
          </a:p>
          <a:p>
            <a:pPr marL="514350" indent="-514350" algn="just">
              <a:buFont typeface="+mj-lt"/>
              <a:buAutoNum type="arabicPeriod"/>
            </a:pPr>
            <a:r>
              <a:rPr lang="en-US" b="1" dirty="0" smtClean="0">
                <a:solidFill>
                  <a:srgbClr val="FF0000"/>
                </a:solidFill>
              </a:rPr>
              <a:t>Efficiency below 66.67% </a:t>
            </a:r>
            <a:r>
              <a:rPr lang="en-US" dirty="0" smtClean="0"/>
              <a:t>= no bonus. Only time wages</a:t>
            </a:r>
          </a:p>
          <a:p>
            <a:pPr marL="514350" indent="-514350" algn="just">
              <a:buFont typeface="+mj-lt"/>
              <a:buAutoNum type="arabicPeriod"/>
            </a:pPr>
            <a:r>
              <a:rPr lang="en-US" b="1" dirty="0" smtClean="0">
                <a:solidFill>
                  <a:srgbClr val="FF0000"/>
                </a:solidFill>
              </a:rPr>
              <a:t>Over 66.67 to 100% </a:t>
            </a:r>
            <a:r>
              <a:rPr lang="en-US" dirty="0" smtClean="0"/>
              <a:t>= time wages + bonus at different percentages increasing rapidly to 10% at 90% efficiency and 20% at 100% efficiency.</a:t>
            </a:r>
          </a:p>
          <a:p>
            <a:pPr marL="514350" indent="-514350" algn="just">
              <a:buFont typeface="+mj-lt"/>
              <a:buAutoNum type="arabicPeriod"/>
            </a:pPr>
            <a:r>
              <a:rPr lang="en-US" b="1" dirty="0" smtClean="0">
                <a:solidFill>
                  <a:srgbClr val="FF0000"/>
                </a:solidFill>
              </a:rPr>
              <a:t>Over 100% </a:t>
            </a:r>
            <a:r>
              <a:rPr lang="en-US" dirty="0" smtClean="0"/>
              <a:t>= time wages + 20% bonus + 1% bonus for each 1% increase in efficiency beyond 100%.</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a:bodyPr>
          <a:lstStyle/>
          <a:p>
            <a:pPr algn="just">
              <a:buNone/>
            </a:pPr>
            <a:r>
              <a:rPr lang="en-US" sz="2000" b="1" dirty="0" smtClean="0"/>
              <a:t>	</a:t>
            </a:r>
            <a:r>
              <a:rPr lang="en-US" sz="2000" b="1" i="1" dirty="0" smtClean="0">
                <a:solidFill>
                  <a:srgbClr val="0000CC"/>
                </a:solidFill>
              </a:rPr>
              <a:t>Example: </a:t>
            </a:r>
            <a:r>
              <a:rPr lang="en-US" sz="2000" i="1" dirty="0" smtClean="0">
                <a:solidFill>
                  <a:srgbClr val="0000CC"/>
                </a:solidFill>
              </a:rPr>
              <a:t>There are three workers X,Y and Z manufacturing steel pins. They are paid at a standard rate of Rs. 40 per day and are supposed to produce 50 pins a day. If they are producing 30, 50 and 60 pins respectively, calculate their earnings on the basis of Emerson’s efficiency plan.</a:t>
            </a:r>
          </a:p>
          <a:p>
            <a:pPr algn="just">
              <a:buNone/>
            </a:pPr>
            <a:endParaRPr lang="en-US" sz="2000" dirty="0" smtClean="0"/>
          </a:p>
          <a:p>
            <a:pPr>
              <a:buNone/>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457200" y="2895600"/>
            <a:ext cx="8305800" cy="3178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u="sng" dirty="0" smtClean="0">
                <a:solidFill>
                  <a:srgbClr val="FF0000"/>
                </a:solidFill>
              </a:rPr>
              <a:t>The Scanlon Plan: </a:t>
            </a:r>
            <a:r>
              <a:rPr lang="en-US" dirty="0" smtClean="0"/>
              <a:t>The Scanlon plan was developed by Joe Scanlon of United States. This is a group incentive plan wherein all the employees receive a guaranteed time wage. In this method, a standard for the ratio of labor cost to the total sales value is set as an index of total labor effectiveness. For determining the bonus actual labor cost to the total sales is calculated for the assessment period. Then an incentive bonus, equivalent to percentage reduction in the labor to sales ratio, is paid to each employee.  </a:t>
            </a:r>
          </a:p>
          <a:p>
            <a:pPr algn="just">
              <a:buNone/>
            </a:pPr>
            <a:endParaRPr lang="en-US" dirty="0" smtClean="0"/>
          </a:p>
          <a:p>
            <a:pPr algn="just">
              <a:buNone/>
            </a:pPr>
            <a:r>
              <a:rPr lang="en-US" i="1" dirty="0" smtClean="0">
                <a:solidFill>
                  <a:srgbClr val="0628D4"/>
                </a:solidFill>
              </a:rPr>
              <a:t>Let, Lb = labor cost during the base month,</a:t>
            </a:r>
          </a:p>
          <a:p>
            <a:pPr algn="just">
              <a:buNone/>
            </a:pPr>
            <a:r>
              <a:rPr lang="en-US" i="1" dirty="0" err="1" smtClean="0">
                <a:solidFill>
                  <a:srgbClr val="0628D4"/>
                </a:solidFill>
              </a:rPr>
              <a:t>Sb</a:t>
            </a:r>
            <a:r>
              <a:rPr lang="en-US" i="1" dirty="0" smtClean="0">
                <a:solidFill>
                  <a:srgbClr val="0628D4"/>
                </a:solidFill>
              </a:rPr>
              <a:t> = total sales during the base month,</a:t>
            </a:r>
          </a:p>
          <a:p>
            <a:pPr algn="just">
              <a:buNone/>
            </a:pPr>
            <a:r>
              <a:rPr lang="en-US" i="1" dirty="0" smtClean="0">
                <a:solidFill>
                  <a:srgbClr val="0628D4"/>
                </a:solidFill>
              </a:rPr>
              <a:t>La = labor cost for the assessment month,</a:t>
            </a:r>
          </a:p>
          <a:p>
            <a:pPr algn="just">
              <a:buNone/>
            </a:pPr>
            <a:r>
              <a:rPr lang="en-US" i="1" dirty="0" smtClean="0">
                <a:solidFill>
                  <a:srgbClr val="0628D4"/>
                </a:solidFill>
              </a:rPr>
              <a:t>Sa = total sales during the assessment month,</a:t>
            </a:r>
          </a:p>
          <a:p>
            <a:pPr algn="just">
              <a:buNone/>
            </a:pPr>
            <a:r>
              <a:rPr lang="en-US" i="1" dirty="0" smtClean="0">
                <a:solidFill>
                  <a:srgbClr val="0628D4"/>
                </a:solidFill>
              </a:rPr>
              <a:t>Then,</a:t>
            </a:r>
          </a:p>
          <a:p>
            <a:pPr algn="just">
              <a:buNone/>
            </a:pPr>
            <a:r>
              <a:rPr lang="en-US" i="1" dirty="0" smtClean="0">
                <a:solidFill>
                  <a:srgbClr val="0628D4"/>
                </a:solidFill>
              </a:rPr>
              <a:t>% reduction in the labor index = ((Lb/</a:t>
            </a:r>
            <a:r>
              <a:rPr lang="en-US" i="1" dirty="0" err="1" smtClean="0">
                <a:solidFill>
                  <a:srgbClr val="0628D4"/>
                </a:solidFill>
              </a:rPr>
              <a:t>Sb</a:t>
            </a:r>
            <a:r>
              <a:rPr lang="en-US" i="1" dirty="0" smtClean="0">
                <a:solidFill>
                  <a:srgbClr val="0628D4"/>
                </a:solidFill>
              </a:rPr>
              <a:t>) – (La/Sa))* 100/(Lb/</a:t>
            </a:r>
            <a:r>
              <a:rPr lang="en-US" i="1" dirty="0" err="1" smtClean="0">
                <a:solidFill>
                  <a:srgbClr val="0628D4"/>
                </a:solidFill>
              </a:rPr>
              <a:t>Sb</a:t>
            </a:r>
            <a:r>
              <a:rPr lang="en-US" i="1" dirty="0" smtClean="0">
                <a:solidFill>
                  <a:srgbClr val="0628D4"/>
                </a:solidFill>
              </a:rPr>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55000" lnSpcReduction="20000"/>
          </a:bodyPr>
          <a:lstStyle/>
          <a:p>
            <a:pPr algn="just">
              <a:buNone/>
            </a:pPr>
            <a:r>
              <a:rPr lang="en-US" b="1" dirty="0" smtClean="0"/>
              <a:t>	</a:t>
            </a:r>
            <a:r>
              <a:rPr lang="en-US" b="1" i="1" dirty="0" smtClean="0">
                <a:solidFill>
                  <a:srgbClr val="0628D4"/>
                </a:solidFill>
              </a:rPr>
              <a:t>Example: </a:t>
            </a:r>
            <a:r>
              <a:rPr lang="en-US" i="1" dirty="0" smtClean="0">
                <a:solidFill>
                  <a:srgbClr val="0628D4"/>
                </a:solidFill>
              </a:rPr>
              <a:t>A company employs 800 workers and is a job order production unit. The sales during the base month was valued at Rs. 12.40 lakhs. Rs. 1.35 lakhs were send by as a labor cost to achieve the above mentioned sales figure. Calculate incentive bonus paid to each employee if the net sales during the assessment month was valued at: </a:t>
            </a:r>
          </a:p>
          <a:p>
            <a:pPr marL="514350" indent="-514350" algn="just">
              <a:buFont typeface="+mj-lt"/>
              <a:buAutoNum type="alphaLcPeriod"/>
            </a:pPr>
            <a:r>
              <a:rPr lang="en-US" i="1" dirty="0" smtClean="0">
                <a:solidFill>
                  <a:srgbClr val="0628D4"/>
                </a:solidFill>
              </a:rPr>
              <a:t>Rs. 15.50 lakhs for the expenditure of Rs. 1.45 lakhs towards labor cost.</a:t>
            </a:r>
          </a:p>
          <a:p>
            <a:pPr marL="514350" indent="-514350" algn="just">
              <a:buFont typeface="+mj-lt"/>
              <a:buAutoNum type="alphaLcPeriod"/>
            </a:pPr>
            <a:r>
              <a:rPr lang="en-US" i="1" dirty="0" smtClean="0">
                <a:solidFill>
                  <a:srgbClr val="0628D4"/>
                </a:solidFill>
              </a:rPr>
              <a:t>Rs. 15.50 lakhs for the expenditure of Rs. 2.15 lakhs towards labor cost.</a:t>
            </a:r>
          </a:p>
          <a:p>
            <a:pPr marL="514350" indent="-514350" algn="just">
              <a:buNone/>
            </a:pPr>
            <a:endParaRPr lang="en-US" dirty="0" smtClean="0"/>
          </a:p>
          <a:p>
            <a:pPr marL="514350" indent="-514350" algn="just">
              <a:buNone/>
            </a:pPr>
            <a:r>
              <a:rPr lang="en-US" b="1" dirty="0" smtClean="0"/>
              <a:t>Solution:</a:t>
            </a:r>
          </a:p>
          <a:p>
            <a:pPr marL="514350" indent="-514350" algn="just">
              <a:buNone/>
            </a:pPr>
            <a:r>
              <a:rPr lang="en-US" dirty="0" smtClean="0"/>
              <a:t> a) </a:t>
            </a:r>
            <a:r>
              <a:rPr lang="en-US" b="1" dirty="0" smtClean="0">
                <a:solidFill>
                  <a:srgbClr val="FF0000"/>
                </a:solidFill>
              </a:rPr>
              <a:t>Standard labor to sales ratio </a:t>
            </a:r>
            <a:r>
              <a:rPr lang="en-US" dirty="0" smtClean="0"/>
              <a:t>= (Lb/</a:t>
            </a:r>
            <a:r>
              <a:rPr lang="en-US" dirty="0" err="1" smtClean="0"/>
              <a:t>Sb</a:t>
            </a:r>
            <a:r>
              <a:rPr lang="en-US" dirty="0" smtClean="0"/>
              <a:t>)*100 =(1.35/12.40)*100 =10.887%</a:t>
            </a:r>
          </a:p>
          <a:p>
            <a:pPr marL="514350" indent="-514350" algn="just">
              <a:buNone/>
            </a:pPr>
            <a:r>
              <a:rPr lang="en-US" dirty="0" smtClean="0"/>
              <a:t>Actual labor to sales ratio for the assessment month = (1.45/15.50)*100 =9.355</a:t>
            </a:r>
          </a:p>
          <a:p>
            <a:pPr marL="514350" indent="-514350" algn="just">
              <a:buNone/>
            </a:pPr>
            <a:r>
              <a:rPr lang="en-US" dirty="0" smtClean="0"/>
              <a:t>Since actual labor to sales ratio is lower than the standard rates each employees is entitled to get incentive bonus</a:t>
            </a:r>
          </a:p>
          <a:p>
            <a:pPr marL="514350" indent="-514350" algn="just">
              <a:buNone/>
            </a:pPr>
            <a:r>
              <a:rPr lang="en-US" dirty="0" smtClean="0"/>
              <a:t>% Inventive bonus payable to each employee = (10.887-9.355)*100/10.887= 14.07 %</a:t>
            </a:r>
          </a:p>
          <a:p>
            <a:pPr marL="514350" indent="-514350" algn="just">
              <a:buNone/>
            </a:pPr>
            <a:r>
              <a:rPr lang="en-US" dirty="0" smtClean="0"/>
              <a:t>b) </a:t>
            </a:r>
            <a:r>
              <a:rPr lang="en-US" dirty="0" smtClean="0">
                <a:solidFill>
                  <a:srgbClr val="FF0000"/>
                </a:solidFill>
              </a:rPr>
              <a:t>Actual labor cost to sales ratio for the assessment month</a:t>
            </a:r>
            <a:r>
              <a:rPr lang="en-US" dirty="0" smtClean="0"/>
              <a:t> = (2.15/15.50)*100= 13.870 %</a:t>
            </a:r>
          </a:p>
          <a:p>
            <a:pPr marL="514350" indent="-514350" algn="just">
              <a:buNone/>
            </a:pPr>
            <a:r>
              <a:rPr lang="en-US" dirty="0" smtClean="0"/>
              <a:t>In this case actual labor cost to sales ratio is higher than the ratio of standard labor cost to sales, hence no incentive bonus is payable.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55000" lnSpcReduction="20000"/>
          </a:bodyPr>
          <a:lstStyle/>
          <a:p>
            <a:pPr algn="just">
              <a:buNone/>
            </a:pPr>
            <a:r>
              <a:rPr lang="en-US" dirty="0" smtClean="0"/>
              <a:t>	</a:t>
            </a:r>
            <a:r>
              <a:rPr lang="en-US" b="1" dirty="0" smtClean="0">
                <a:solidFill>
                  <a:srgbClr val="FF0000"/>
                </a:solidFill>
              </a:rPr>
              <a:t>The </a:t>
            </a:r>
            <a:r>
              <a:rPr lang="en-US" b="1" dirty="0" err="1" smtClean="0">
                <a:solidFill>
                  <a:srgbClr val="FF0000"/>
                </a:solidFill>
              </a:rPr>
              <a:t>Priestman</a:t>
            </a:r>
            <a:r>
              <a:rPr lang="en-US" b="1" dirty="0" smtClean="0">
                <a:solidFill>
                  <a:srgbClr val="FF0000"/>
                </a:solidFill>
              </a:rPr>
              <a:t> Production Plan:</a:t>
            </a:r>
            <a:r>
              <a:rPr lang="en-US" b="1" dirty="0" smtClean="0"/>
              <a:t> </a:t>
            </a:r>
            <a:r>
              <a:rPr lang="en-US" dirty="0" smtClean="0"/>
              <a:t>It is also a group incentive plan. In this method, standard output to be achieved during the period by the factory (or department) is agreed upon between the employer and employees. The standard of output may be fixed in terms of units in case of firms manufacturing single product (tractors, fans, lathes etc.) or in terms of points in case of multi-product plants. The number of workers employed is taken into account to determine the standard output. The actual output is compared with the standard output and if the actual output exceeds the standard output, each employee is paid production hours in proportion to the increase in the output per worker.</a:t>
            </a:r>
          </a:p>
          <a:p>
            <a:pPr algn="just">
              <a:buNone/>
            </a:pPr>
            <a:r>
              <a:rPr lang="en-US" i="1" dirty="0" smtClean="0">
                <a:solidFill>
                  <a:srgbClr val="0000CC"/>
                </a:solidFill>
              </a:rPr>
              <a:t>Let,</a:t>
            </a:r>
          </a:p>
          <a:p>
            <a:pPr algn="just">
              <a:buNone/>
            </a:pPr>
            <a:r>
              <a:rPr lang="en-US" i="1" dirty="0" smtClean="0">
                <a:solidFill>
                  <a:srgbClr val="0000CC"/>
                </a:solidFill>
              </a:rPr>
              <a:t> standard production in the base month = </a:t>
            </a:r>
            <a:r>
              <a:rPr lang="en-US" i="1" dirty="0" err="1" smtClean="0">
                <a:solidFill>
                  <a:srgbClr val="0000CC"/>
                </a:solidFill>
              </a:rPr>
              <a:t>Pb</a:t>
            </a:r>
            <a:endParaRPr lang="en-US" i="1" dirty="0" smtClean="0">
              <a:solidFill>
                <a:srgbClr val="0000CC"/>
              </a:solidFill>
            </a:endParaRPr>
          </a:p>
          <a:p>
            <a:pPr algn="just">
              <a:buNone/>
            </a:pPr>
            <a:r>
              <a:rPr lang="en-US" i="1" dirty="0" smtClean="0">
                <a:solidFill>
                  <a:srgbClr val="0000CC"/>
                </a:solidFill>
              </a:rPr>
              <a:t>Actual output during the assessment month = Pa</a:t>
            </a:r>
          </a:p>
          <a:p>
            <a:pPr algn="just">
              <a:buNone/>
            </a:pPr>
            <a:r>
              <a:rPr lang="en-US" i="1" dirty="0" smtClean="0">
                <a:solidFill>
                  <a:srgbClr val="0000CC"/>
                </a:solidFill>
              </a:rPr>
              <a:t>Number of workers in employment during the base month = </a:t>
            </a:r>
            <a:r>
              <a:rPr lang="en-US" i="1" dirty="0" err="1" smtClean="0">
                <a:solidFill>
                  <a:srgbClr val="0000CC"/>
                </a:solidFill>
              </a:rPr>
              <a:t>Wb</a:t>
            </a:r>
            <a:endParaRPr lang="en-US" i="1" dirty="0" smtClean="0">
              <a:solidFill>
                <a:srgbClr val="0000CC"/>
              </a:solidFill>
            </a:endParaRPr>
          </a:p>
          <a:p>
            <a:pPr algn="just">
              <a:buNone/>
            </a:pPr>
            <a:r>
              <a:rPr lang="en-US" i="1" dirty="0" smtClean="0">
                <a:solidFill>
                  <a:srgbClr val="0000CC"/>
                </a:solidFill>
              </a:rPr>
              <a:t>Number of workers in employment during the assessment month = </a:t>
            </a:r>
            <a:r>
              <a:rPr lang="en-US" i="1" dirty="0" err="1" smtClean="0">
                <a:solidFill>
                  <a:srgbClr val="0000CC"/>
                </a:solidFill>
              </a:rPr>
              <a:t>Wa</a:t>
            </a:r>
            <a:endParaRPr lang="en-US" i="1" dirty="0" smtClean="0">
              <a:solidFill>
                <a:srgbClr val="0000CC"/>
              </a:solidFill>
            </a:endParaRPr>
          </a:p>
          <a:p>
            <a:pPr algn="just">
              <a:buNone/>
            </a:pPr>
            <a:r>
              <a:rPr lang="en-US" i="1" dirty="0" smtClean="0">
                <a:solidFill>
                  <a:srgbClr val="0000CC"/>
                </a:solidFill>
              </a:rPr>
              <a:t>Standard production per worker during the base month = (</a:t>
            </a:r>
            <a:r>
              <a:rPr lang="en-US" i="1" dirty="0" err="1" smtClean="0">
                <a:solidFill>
                  <a:srgbClr val="0000CC"/>
                </a:solidFill>
              </a:rPr>
              <a:t>Pb</a:t>
            </a:r>
            <a:r>
              <a:rPr lang="en-US" i="1" dirty="0" smtClean="0">
                <a:solidFill>
                  <a:srgbClr val="0000CC"/>
                </a:solidFill>
              </a:rPr>
              <a:t>/</a:t>
            </a:r>
            <a:r>
              <a:rPr lang="en-US" i="1" dirty="0" err="1" smtClean="0">
                <a:solidFill>
                  <a:srgbClr val="0000CC"/>
                </a:solidFill>
              </a:rPr>
              <a:t>Wb</a:t>
            </a:r>
            <a:r>
              <a:rPr lang="en-US" i="1" dirty="0" smtClean="0">
                <a:solidFill>
                  <a:srgbClr val="0000CC"/>
                </a:solidFill>
              </a:rPr>
              <a:t>)</a:t>
            </a:r>
          </a:p>
          <a:p>
            <a:pPr algn="just">
              <a:buNone/>
            </a:pPr>
            <a:r>
              <a:rPr lang="en-US" i="1" dirty="0" smtClean="0">
                <a:solidFill>
                  <a:srgbClr val="0000CC"/>
                </a:solidFill>
              </a:rPr>
              <a:t>Actual production per worker during the assessment month = (Pa/</a:t>
            </a:r>
            <a:r>
              <a:rPr lang="en-US" i="1" dirty="0" err="1" smtClean="0">
                <a:solidFill>
                  <a:srgbClr val="0000CC"/>
                </a:solidFill>
              </a:rPr>
              <a:t>Wa</a:t>
            </a:r>
            <a:r>
              <a:rPr lang="en-US" i="1" dirty="0" smtClean="0">
                <a:solidFill>
                  <a:srgbClr val="0000CC"/>
                </a:solidFill>
              </a:rPr>
              <a:t>)</a:t>
            </a:r>
          </a:p>
          <a:p>
            <a:pPr algn="just">
              <a:buNone/>
            </a:pPr>
            <a:r>
              <a:rPr lang="en-US" i="1" dirty="0" smtClean="0">
                <a:solidFill>
                  <a:srgbClr val="0000CC"/>
                </a:solidFill>
              </a:rPr>
              <a:t>Production bonus will be payable. If, (Pa/</a:t>
            </a:r>
            <a:r>
              <a:rPr lang="en-US" i="1" dirty="0" err="1" smtClean="0">
                <a:solidFill>
                  <a:srgbClr val="0000CC"/>
                </a:solidFill>
              </a:rPr>
              <a:t>Wa</a:t>
            </a:r>
            <a:r>
              <a:rPr lang="en-US" i="1" dirty="0" smtClean="0">
                <a:solidFill>
                  <a:srgbClr val="0000CC"/>
                </a:solidFill>
              </a:rPr>
              <a:t>) &gt;(</a:t>
            </a:r>
            <a:r>
              <a:rPr lang="en-US" i="1" dirty="0" err="1" smtClean="0">
                <a:solidFill>
                  <a:srgbClr val="0000CC"/>
                </a:solidFill>
              </a:rPr>
              <a:t>Pb</a:t>
            </a:r>
            <a:r>
              <a:rPr lang="en-US" i="1" dirty="0" smtClean="0">
                <a:solidFill>
                  <a:srgbClr val="0000CC"/>
                </a:solidFill>
              </a:rPr>
              <a:t>/</a:t>
            </a:r>
            <a:r>
              <a:rPr lang="en-US" i="1" dirty="0" err="1" smtClean="0">
                <a:solidFill>
                  <a:srgbClr val="0000CC"/>
                </a:solidFill>
              </a:rPr>
              <a:t>Wb</a:t>
            </a:r>
            <a:r>
              <a:rPr lang="en-US" i="1" dirty="0" smtClean="0">
                <a:solidFill>
                  <a:srgbClr val="0000CC"/>
                </a:solidFill>
              </a:rPr>
              <a:t>) and</a:t>
            </a:r>
          </a:p>
          <a:p>
            <a:pPr algn="just">
              <a:buNone/>
            </a:pPr>
            <a:r>
              <a:rPr lang="en-US" i="1" dirty="0" smtClean="0">
                <a:solidFill>
                  <a:srgbClr val="0000CC"/>
                </a:solidFill>
              </a:rPr>
              <a:t>% productivity bonus payable to each employee = ((Pa/</a:t>
            </a:r>
            <a:r>
              <a:rPr lang="en-US" i="1" dirty="0" err="1" smtClean="0">
                <a:solidFill>
                  <a:srgbClr val="0000CC"/>
                </a:solidFill>
              </a:rPr>
              <a:t>Wa</a:t>
            </a:r>
            <a:r>
              <a:rPr lang="en-US" i="1" dirty="0" smtClean="0">
                <a:solidFill>
                  <a:srgbClr val="0000CC"/>
                </a:solidFill>
              </a:rPr>
              <a:t>)-(</a:t>
            </a:r>
            <a:r>
              <a:rPr lang="en-US" i="1" dirty="0" err="1" smtClean="0">
                <a:solidFill>
                  <a:srgbClr val="0000CC"/>
                </a:solidFill>
              </a:rPr>
              <a:t>Pb</a:t>
            </a:r>
            <a:r>
              <a:rPr lang="en-US" i="1" dirty="0" smtClean="0">
                <a:solidFill>
                  <a:srgbClr val="0000CC"/>
                </a:solidFill>
              </a:rPr>
              <a:t>/</a:t>
            </a:r>
            <a:r>
              <a:rPr lang="en-US" i="1" dirty="0" err="1" smtClean="0">
                <a:solidFill>
                  <a:srgbClr val="0000CC"/>
                </a:solidFill>
              </a:rPr>
              <a:t>Wb</a:t>
            </a:r>
            <a:r>
              <a:rPr lang="en-US" i="1" dirty="0" smtClean="0">
                <a:solidFill>
                  <a:srgbClr val="0000CC"/>
                </a:solidFill>
              </a:rPr>
              <a:t>))*100/(</a:t>
            </a:r>
            <a:r>
              <a:rPr lang="en-US" i="1" dirty="0" err="1" smtClean="0">
                <a:solidFill>
                  <a:srgbClr val="0000CC"/>
                </a:solidFill>
              </a:rPr>
              <a:t>Pb</a:t>
            </a:r>
            <a:r>
              <a:rPr lang="en-US" i="1" dirty="0" smtClean="0">
                <a:solidFill>
                  <a:srgbClr val="0000CC"/>
                </a:solidFill>
              </a:rPr>
              <a:t>/</a:t>
            </a:r>
            <a:r>
              <a:rPr lang="en-US" i="1" dirty="0" err="1" smtClean="0">
                <a:solidFill>
                  <a:srgbClr val="0000CC"/>
                </a:solidFill>
              </a:rPr>
              <a:t>Wb</a:t>
            </a:r>
            <a:r>
              <a:rPr lang="en-US" i="1" dirty="0" smtClean="0">
                <a:solidFill>
                  <a:srgbClr val="0000CC"/>
                </a:solidFill>
              </a:rPr>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Wages and Incentives</a:t>
            </a:r>
            <a:endParaRPr lang="en-US" dirty="0"/>
          </a:p>
        </p:txBody>
      </p:sp>
      <p:sp>
        <p:nvSpPr>
          <p:cNvPr id="9" name="Content Placeholder 8"/>
          <p:cNvSpPr>
            <a:spLocks noGrp="1"/>
          </p:cNvSpPr>
          <p:nvPr>
            <p:ph idx="1"/>
          </p:nvPr>
        </p:nvSpPr>
        <p:spPr/>
        <p:txBody>
          <a:bodyPr>
            <a:normAutofit fontScale="55000" lnSpcReduction="20000"/>
          </a:bodyPr>
          <a:lstStyle/>
          <a:p>
            <a:pPr algn="just">
              <a:buNone/>
            </a:pPr>
            <a:r>
              <a:rPr lang="en-US" dirty="0" smtClean="0"/>
              <a:t>	</a:t>
            </a:r>
            <a:r>
              <a:rPr lang="en-US" b="1" i="1" dirty="0" smtClean="0">
                <a:solidFill>
                  <a:srgbClr val="0000CC"/>
                </a:solidFill>
              </a:rPr>
              <a:t>Example: </a:t>
            </a:r>
            <a:r>
              <a:rPr lang="en-US" i="1" dirty="0" smtClean="0">
                <a:solidFill>
                  <a:srgbClr val="0000CC"/>
                </a:solidFill>
              </a:rPr>
              <a:t>An automobile manufacturer employs 500 workers. The standard output of production is 1200 cars per month. Each worker is paid incentive bonus as per </a:t>
            </a:r>
            <a:r>
              <a:rPr lang="en-US" i="1" dirty="0" err="1" smtClean="0">
                <a:solidFill>
                  <a:srgbClr val="0000CC"/>
                </a:solidFill>
              </a:rPr>
              <a:t>Priestmen</a:t>
            </a:r>
            <a:r>
              <a:rPr lang="en-US" i="1" dirty="0" smtClean="0">
                <a:solidFill>
                  <a:srgbClr val="0000CC"/>
                </a:solidFill>
              </a:rPr>
              <a:t> Production Plan. Calculate bonus payable to each worker if the output in the next month is 1400 cars for the employment of  a) same number of workers b) 600 workers.</a:t>
            </a:r>
          </a:p>
          <a:p>
            <a:pPr>
              <a:buNone/>
            </a:pPr>
            <a:r>
              <a:rPr lang="en-US" b="1" dirty="0" smtClean="0">
                <a:solidFill>
                  <a:srgbClr val="FF0000"/>
                </a:solidFill>
              </a:rPr>
              <a:t>Solution: </a:t>
            </a:r>
          </a:p>
          <a:p>
            <a:pPr>
              <a:buNone/>
            </a:pPr>
            <a:r>
              <a:rPr lang="en-US" dirty="0" smtClean="0"/>
              <a:t>Data: Standard output in the base month(</a:t>
            </a:r>
            <a:r>
              <a:rPr lang="en-US" dirty="0" err="1" smtClean="0"/>
              <a:t>Pb</a:t>
            </a:r>
            <a:r>
              <a:rPr lang="en-US" dirty="0" smtClean="0"/>
              <a:t>) = 1200</a:t>
            </a:r>
          </a:p>
          <a:p>
            <a:pPr>
              <a:buNone/>
            </a:pPr>
            <a:r>
              <a:rPr lang="en-US" dirty="0" smtClean="0"/>
              <a:t>No. of workers in the base month(</a:t>
            </a:r>
            <a:r>
              <a:rPr lang="en-US" dirty="0" err="1" smtClean="0"/>
              <a:t>Wb</a:t>
            </a:r>
            <a:r>
              <a:rPr lang="en-US" dirty="0" smtClean="0"/>
              <a:t>) = 500</a:t>
            </a:r>
          </a:p>
          <a:p>
            <a:pPr>
              <a:buNone/>
            </a:pPr>
            <a:r>
              <a:rPr lang="en-US" dirty="0" smtClean="0"/>
              <a:t>Actual production, Pa = 1400</a:t>
            </a:r>
          </a:p>
          <a:p>
            <a:pPr marL="514350" indent="-514350">
              <a:buNone/>
            </a:pPr>
            <a:r>
              <a:rPr lang="en-US" dirty="0" smtClean="0"/>
              <a:t>a) </a:t>
            </a:r>
            <a:r>
              <a:rPr lang="en-US" b="1" dirty="0" smtClean="0"/>
              <a:t>No. of workers during assessment month(Wa1) </a:t>
            </a:r>
            <a:r>
              <a:rPr lang="en-US" dirty="0" smtClean="0"/>
              <a:t>=500</a:t>
            </a:r>
          </a:p>
          <a:p>
            <a:pPr marL="514350" indent="-514350">
              <a:buNone/>
            </a:pPr>
            <a:r>
              <a:rPr lang="en-US" dirty="0" smtClean="0"/>
              <a:t>Percentage productivity bonus payable to each employee = ((Pa/Wa1)-(</a:t>
            </a:r>
            <a:r>
              <a:rPr lang="en-US" dirty="0" err="1" smtClean="0"/>
              <a:t>Pb</a:t>
            </a:r>
            <a:r>
              <a:rPr lang="en-US" dirty="0" smtClean="0"/>
              <a:t>/</a:t>
            </a:r>
            <a:r>
              <a:rPr lang="en-US" dirty="0" err="1" smtClean="0"/>
              <a:t>Wb</a:t>
            </a:r>
            <a:r>
              <a:rPr lang="en-US" dirty="0" smtClean="0"/>
              <a:t>))*100/(</a:t>
            </a:r>
            <a:r>
              <a:rPr lang="en-US" dirty="0" err="1" smtClean="0"/>
              <a:t>Pb</a:t>
            </a:r>
            <a:r>
              <a:rPr lang="en-US" dirty="0" smtClean="0"/>
              <a:t>/</a:t>
            </a:r>
            <a:r>
              <a:rPr lang="en-US" dirty="0" err="1" smtClean="0"/>
              <a:t>Wb</a:t>
            </a:r>
            <a:r>
              <a:rPr lang="en-US" dirty="0" smtClean="0"/>
              <a:t>) = 16.67%</a:t>
            </a:r>
          </a:p>
          <a:p>
            <a:pPr marL="514350" indent="-514350">
              <a:buNone/>
            </a:pPr>
            <a:r>
              <a:rPr lang="en-US" dirty="0" smtClean="0"/>
              <a:t>A productivity bonus, equivalent to 16.67% of the employees’ basic wage of the month, is payable to each employee.</a:t>
            </a:r>
          </a:p>
          <a:p>
            <a:pPr marL="514350" indent="-514350">
              <a:buNone/>
            </a:pPr>
            <a:r>
              <a:rPr lang="en-US" dirty="0" smtClean="0"/>
              <a:t>b) </a:t>
            </a:r>
            <a:r>
              <a:rPr lang="en-US" b="1" dirty="0" smtClean="0"/>
              <a:t>No. of workers in assessment month(Wa2) </a:t>
            </a:r>
            <a:r>
              <a:rPr lang="en-US" dirty="0" smtClean="0"/>
              <a:t>= 600</a:t>
            </a:r>
          </a:p>
          <a:p>
            <a:pPr marL="514350" indent="-514350">
              <a:buNone/>
            </a:pPr>
            <a:r>
              <a:rPr lang="en-US" dirty="0" smtClean="0"/>
              <a:t>Percentage productivity bonus payable to each employee = ((Pa/Wa2)-(</a:t>
            </a:r>
            <a:r>
              <a:rPr lang="en-US" dirty="0" err="1" smtClean="0"/>
              <a:t>Pb</a:t>
            </a:r>
            <a:r>
              <a:rPr lang="en-US" dirty="0" smtClean="0"/>
              <a:t>/</a:t>
            </a:r>
            <a:r>
              <a:rPr lang="en-US" dirty="0" err="1" smtClean="0"/>
              <a:t>Wb</a:t>
            </a:r>
            <a:r>
              <a:rPr lang="en-US" dirty="0" smtClean="0"/>
              <a:t>))*100/(</a:t>
            </a:r>
            <a:r>
              <a:rPr lang="en-US" dirty="0" err="1" smtClean="0"/>
              <a:t>Pb</a:t>
            </a:r>
            <a:r>
              <a:rPr lang="en-US" dirty="0" smtClean="0"/>
              <a:t>/</a:t>
            </a:r>
            <a:r>
              <a:rPr lang="en-US" dirty="0" err="1" smtClean="0"/>
              <a:t>Wb</a:t>
            </a:r>
            <a:r>
              <a:rPr lang="en-US" dirty="0" smtClean="0"/>
              <a:t>) = -2.91%</a:t>
            </a:r>
          </a:p>
          <a:p>
            <a:pPr marL="514350" indent="-514350">
              <a:buNone/>
            </a:pPr>
            <a:r>
              <a:rPr lang="en-US" dirty="0" smtClean="0"/>
              <a:t>There is a decrease in productivity per employee, therefore bonus is not payable.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3" name="Content Placeholder 2"/>
          <p:cNvSpPr>
            <a:spLocks noGrp="1"/>
          </p:cNvSpPr>
          <p:nvPr>
            <p:ph sz="quarter" idx="1"/>
          </p:nvPr>
        </p:nvSpPr>
        <p:spPr>
          <a:xfrm>
            <a:off x="457200" y="1066800"/>
            <a:ext cx="8229600" cy="4724400"/>
          </a:xfrm>
        </p:spPr>
        <p:txBody>
          <a:bodyPr>
            <a:normAutofit fontScale="700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6" name="Footer Placeholder 3"/>
          <p:cNvSpPr>
            <a:spLocks noGrp="1"/>
          </p:cNvSpPr>
          <p:nvPr>
            <p:ph type="ftr" sz="quarter" idx="11"/>
          </p:nvPr>
        </p:nvSpPr>
        <p:spPr>
          <a:xfrm>
            <a:off x="0" y="6400800"/>
            <a:ext cx="8299016" cy="443507"/>
          </a:xfrm>
        </p:spPr>
        <p:txBody>
          <a:bodyPr/>
          <a:lstStyle/>
          <a:p>
            <a:r>
              <a:rPr lang="en-US" dirty="0" smtClean="0"/>
              <a:t>Organization and Management, BME III/I</a:t>
            </a:r>
            <a:endParaRPr lang="en-US" dirty="0"/>
          </a:p>
        </p:txBody>
      </p:sp>
      <p:pic>
        <p:nvPicPr>
          <p:cNvPr id="2050" name="Picture 2" descr="C:\Users\sagar\Desktop\Transferred\Organisation and Management\downloads\images (14).jpg"/>
          <p:cNvPicPr>
            <a:picLocks noChangeAspect="1" noChangeArrowheads="1"/>
          </p:cNvPicPr>
          <p:nvPr/>
        </p:nvPicPr>
        <p:blipFill>
          <a:blip r:embed="rId3" cstate="print"/>
          <a:srcRect/>
          <a:stretch>
            <a:fillRect/>
          </a:stretch>
        </p:blipFill>
        <p:spPr bwMode="auto">
          <a:xfrm>
            <a:off x="2209800" y="685800"/>
            <a:ext cx="4495799" cy="41910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680</TotalTime>
  <Words>465</Words>
  <Application>Microsoft Office PowerPoint</Application>
  <PresentationFormat>On-screen Show (4:3)</PresentationFormat>
  <Paragraphs>434</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Chapter 2 PERSONNEL MANAGEMENT</vt:lpstr>
      <vt:lpstr>Personnel Management- course outline</vt:lpstr>
      <vt:lpstr>1. Introduction</vt:lpstr>
      <vt:lpstr>1. Introduction</vt:lpstr>
      <vt:lpstr>2. Functions of Personnel Management</vt:lpstr>
      <vt:lpstr>Principles of Personnel Management</vt:lpstr>
      <vt:lpstr>3. Development of Personal Policy</vt:lpstr>
      <vt:lpstr>3. Development of Personal Policy</vt:lpstr>
      <vt:lpstr>4. Manpower Planning</vt:lpstr>
      <vt:lpstr>4. Manpower Planning</vt:lpstr>
      <vt:lpstr>5. Recruitment and Selection of manpower</vt:lpstr>
      <vt:lpstr>5. Recruitment and Selection of manpower</vt:lpstr>
      <vt:lpstr>5. Recruitment and Selection of manpower</vt:lpstr>
      <vt:lpstr>6. Training and Development of manpower</vt:lpstr>
      <vt:lpstr>6. Training and Development of manpower</vt:lpstr>
      <vt:lpstr>6. Training and Development of manpower</vt:lpstr>
      <vt:lpstr>6. Training and Development of manpower</vt:lpstr>
      <vt:lpstr>7. Job Analysis, Job Evaluation and Merit Rating</vt:lpstr>
      <vt:lpstr>7. Job Analysis, Job Evaluation and Merit Rating</vt:lpstr>
      <vt:lpstr>7. Job Analysis, Job Evaluation and Merit Rating</vt:lpstr>
      <vt:lpstr>7. Job Analysis, Job Evaluation and Merit Rating</vt:lpstr>
      <vt:lpstr>7. Job Analysis, Job Evaluation and Merit Rating</vt:lpstr>
      <vt:lpstr>7. Job Analysis, Job Evaluation and Merit Rating</vt:lpstr>
      <vt:lpstr>7. Job Analysis, Job Evaluation and Merit Rating</vt:lpstr>
      <vt:lpstr>7. Job Analysis, Job Evaluation and Merit Rating</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8. Wages and Incentives</vt:lpstr>
      <vt:lpstr>Slide 42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IOE GC Template</dc:title>
  <dc:creator>Arun K. Timalsina</dc:creator>
  <cp:lastModifiedBy>user</cp:lastModifiedBy>
  <cp:revision>75</cp:revision>
  <dcterms:created xsi:type="dcterms:W3CDTF">2013-11-24T15:14:09Z</dcterms:created>
  <dcterms:modified xsi:type="dcterms:W3CDTF">2014-11-13T14:34:21Z</dcterms:modified>
</cp:coreProperties>
</file>