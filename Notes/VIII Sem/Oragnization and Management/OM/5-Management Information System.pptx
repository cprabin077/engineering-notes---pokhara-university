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Default Extension="vml" ContentType="application/vnd.openxmlformats-officedocument.vmlDrawing"/>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3"/>
  </p:notesMasterIdLst>
  <p:handoutMasterIdLst>
    <p:handoutMasterId r:id="rId34"/>
  </p:handoutMasterIdLst>
  <p:sldIdLst>
    <p:sldId id="256" r:id="rId2"/>
    <p:sldId id="257" r:id="rId3"/>
    <p:sldId id="267" r:id="rId4"/>
    <p:sldId id="279" r:id="rId5"/>
    <p:sldId id="280" r:id="rId6"/>
    <p:sldId id="296" r:id="rId7"/>
    <p:sldId id="297" r:id="rId8"/>
    <p:sldId id="298" r:id="rId9"/>
    <p:sldId id="331" r:id="rId10"/>
    <p:sldId id="299" r:id="rId11"/>
    <p:sldId id="300" r:id="rId12"/>
    <p:sldId id="301" r:id="rId13"/>
    <p:sldId id="333" r:id="rId14"/>
    <p:sldId id="335" r:id="rId15"/>
    <p:sldId id="302" r:id="rId16"/>
    <p:sldId id="303" r:id="rId17"/>
    <p:sldId id="304" r:id="rId18"/>
    <p:sldId id="305" r:id="rId19"/>
    <p:sldId id="323" r:id="rId20"/>
    <p:sldId id="324" r:id="rId21"/>
    <p:sldId id="325" r:id="rId22"/>
    <p:sldId id="326" r:id="rId23"/>
    <p:sldId id="327" r:id="rId24"/>
    <p:sldId id="328" r:id="rId25"/>
    <p:sldId id="329" r:id="rId26"/>
    <p:sldId id="309" r:id="rId27"/>
    <p:sldId id="332" r:id="rId28"/>
    <p:sldId id="310" r:id="rId29"/>
    <p:sldId id="311" r:id="rId30"/>
    <p:sldId id="336" r:id="rId31"/>
    <p:sldId id="334"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5229E9"/>
    <a:srgbClr val="0628D4"/>
    <a:srgbClr val="20A0CE"/>
    <a:srgbClr val="B7E57F"/>
    <a:srgbClr val="FB5B7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p:cViewPr varScale="1">
        <p:scale>
          <a:sx n="50" d="100"/>
          <a:sy n="50" d="100"/>
        </p:scale>
        <p:origin x="-110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89CF3-D9CA-4876-A06A-430A85AA0C2F}" type="datetimeFigureOut">
              <a:rPr lang="en-US" smtClean="0"/>
              <a:pPr/>
              <a:t>11/13/2014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886122B-5647-4416-9F44-274D43A2162D}" type="slidenum">
              <a:rPr lang="en-US" smtClean="0"/>
              <a:pPr/>
              <a:t>‹#›</a:t>
            </a:fld>
            <a:endParaRPr lang="en-US"/>
          </a:p>
        </p:txBody>
      </p:sp>
    </p:spTree>
    <p:extLst>
      <p:ext uri="{BB962C8B-B14F-4D97-AF65-F5344CB8AC3E}">
        <p14:creationId xmlns:p14="http://schemas.microsoft.com/office/powerpoint/2010/main" xmlns="" val="3247586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1FB13-EA1D-44E3-8DC3-73C120EBEF71}" type="datetimeFigureOut">
              <a:rPr lang="en-US" smtClean="0"/>
              <a:pPr/>
              <a:t>11/13/2014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9AED3D-15A9-48AF-ABAA-A5623416F79A}" type="slidenum">
              <a:rPr lang="en-US" smtClean="0"/>
              <a:pPr/>
              <a:t>‹#›</a:t>
            </a:fld>
            <a:endParaRPr lang="en-US"/>
          </a:p>
        </p:txBody>
      </p:sp>
    </p:spTree>
    <p:extLst>
      <p:ext uri="{BB962C8B-B14F-4D97-AF65-F5344CB8AC3E}">
        <p14:creationId xmlns:p14="http://schemas.microsoft.com/office/powerpoint/2010/main" xmlns="" val="1702581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B9AED3D-15A9-48AF-ABAA-A5623416F79A}" type="slidenum">
              <a:rPr lang="en-US" smtClean="0"/>
              <a:pPr/>
              <a:t>1</a:t>
            </a:fld>
            <a:endParaRPr lang="en-US"/>
          </a:p>
        </p:txBody>
      </p:sp>
    </p:spTree>
    <p:extLst>
      <p:ext uri="{BB962C8B-B14F-4D97-AF65-F5344CB8AC3E}">
        <p14:creationId xmlns:p14="http://schemas.microsoft.com/office/powerpoint/2010/main" xmlns="" val="735669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772400" cy="1695450"/>
          </a:xfrm>
          <a:solidFill>
            <a:srgbClr val="5229E9"/>
          </a:solidFill>
          <a:ln>
            <a:solidFill>
              <a:schemeClr val="tx2">
                <a:lumMod val="75000"/>
              </a:schemeClr>
            </a:solidFill>
          </a:ln>
        </p:spPr>
        <p:txBody>
          <a:bodyPr/>
          <a:lstStyle>
            <a:lvl1pPr algn="ctr">
              <a:defRPr b="1">
                <a:latin typeface="Cambria"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4191000"/>
            <a:ext cx="6400800" cy="1447800"/>
          </a:xfrm>
        </p:spPr>
        <p:txBody>
          <a:bodyPr/>
          <a:lstStyle>
            <a:lvl1pPr marL="0" indent="0" algn="ctr">
              <a:buNone/>
              <a:defRPr>
                <a:solidFill>
                  <a:srgbClr val="5229E9"/>
                </a:solidFill>
                <a:latin typeface="Book Antiqu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
        <p:nvSpPr>
          <p:cNvPr id="7" name="Rectangle 6"/>
          <p:cNvSpPr/>
          <p:nvPr userDrawn="1"/>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6" name="Slide Number Placeholder 5"/>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0386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7" name="Slide Number Placeholder 6"/>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229E9"/>
          </a:solidFill>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304800" y="1371600"/>
            <a:ext cx="4270194"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04800" y="1164989"/>
            <a:ext cx="4270194"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570206" y="1371600"/>
            <a:ext cx="4192793" cy="8032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570206" y="1164989"/>
            <a:ext cx="4192793" cy="496117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9" name="Slide Number Placeholder 8"/>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IOE – Graduate Conference , 29th November 2013, Central Campus , Pulchowk </a:t>
            </a:r>
            <a:endParaRPr lang="en-US"/>
          </a:p>
        </p:txBody>
      </p:sp>
      <p:sp>
        <p:nvSpPr>
          <p:cNvPr id="5" name="Slide Number Placeholder 4"/>
          <p:cNvSpPr>
            <a:spLocks noGrp="1"/>
          </p:cNvSpPr>
          <p:nvPr>
            <p:ph type="sldNum" sz="quarter" idx="12"/>
          </p:nvPr>
        </p:nvSpPr>
        <p:spPr/>
        <p:txBody>
          <a:bodyPr/>
          <a:lstStyle/>
          <a:p>
            <a:fld id="{D51081E8-3327-495A-9823-FC891E0968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2272"/>
            <a:ext cx="7391400" cy="609600"/>
          </a:xfrm>
          <a:prstGeom prst="rect">
            <a:avLst/>
          </a:prstGeom>
          <a:solidFill>
            <a:srgbClr val="0628D4"/>
          </a:solidFill>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189037"/>
            <a:ext cx="8229600" cy="4906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0" y="6400800"/>
            <a:ext cx="8299016" cy="443507"/>
          </a:xfrm>
          <a:prstGeom prst="rect">
            <a:avLst/>
          </a:prstGeom>
          <a:solidFill>
            <a:srgbClr val="B7E57F"/>
          </a:solidFill>
        </p:spPr>
        <p:txBody>
          <a:bodyPr vert="horz" lIns="91440" tIns="45720" rIns="91440" bIns="45720" rtlCol="0" anchor="ctr"/>
          <a:lstStyle>
            <a:lvl1pPr algn="ctr">
              <a:defRPr sz="1400" b="1">
                <a:solidFill>
                  <a:srgbClr val="0000CC"/>
                </a:solidFill>
                <a:latin typeface="Comic Sans MS" pitchFamily="66" charset="0"/>
              </a:defRPr>
            </a:lvl1pPr>
          </a:lstStyle>
          <a:p>
            <a:r>
              <a:rPr lang="en-US" dirty="0" smtClean="0"/>
              <a:t>IOE – Graduate Conference , 29</a:t>
            </a:r>
            <a:r>
              <a:rPr lang="en-US" baseline="30000" dirty="0" smtClean="0"/>
              <a:t>th</a:t>
            </a:r>
            <a:r>
              <a:rPr lang="en-US" dirty="0" smtClean="0"/>
              <a:t> November 2013, Central Campus , Pulchowk </a:t>
            </a:r>
            <a:endParaRPr lang="en-US" dirty="0"/>
          </a:p>
        </p:txBody>
      </p:sp>
      <p:sp>
        <p:nvSpPr>
          <p:cNvPr id="6" name="Slide Number Placeholder 5"/>
          <p:cNvSpPr>
            <a:spLocks noGrp="1"/>
          </p:cNvSpPr>
          <p:nvPr>
            <p:ph type="sldNum" sz="quarter" idx="4"/>
          </p:nvPr>
        </p:nvSpPr>
        <p:spPr>
          <a:xfrm>
            <a:off x="8305800" y="6400800"/>
            <a:ext cx="817736" cy="4572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algn="ctr" defTabSz="914400" rtl="0" eaLnBrk="1" latinLnBrk="0" hangingPunct="1">
              <a:defRPr lang="en-US" sz="1800" kern="1200" smtClean="0">
                <a:solidFill>
                  <a:schemeClr val="lt1"/>
                </a:solidFill>
                <a:latin typeface="+mn-lt"/>
                <a:ea typeface="+mn-ea"/>
                <a:cs typeface="+mn-cs"/>
              </a:defRPr>
            </a:lvl1pPr>
          </a:lstStyle>
          <a:p>
            <a:fld id="{D51081E8-3327-495A-9823-FC891E0968B6}" type="slidenum">
              <a:rPr lang="en-US" smtClean="0"/>
              <a:pPr/>
              <a:t>‹#›</a:t>
            </a:fld>
            <a:endParaRPr lang="en-US"/>
          </a:p>
        </p:txBody>
      </p:sp>
      <p:sp>
        <p:nvSpPr>
          <p:cNvPr id="7" name="Rectangle 6"/>
          <p:cNvSpPr/>
          <p:nvPr userDrawn="1"/>
        </p:nvSpPr>
        <p:spPr>
          <a:xfrm>
            <a:off x="0" y="2272"/>
            <a:ext cx="685800" cy="609600"/>
          </a:xfrm>
          <a:prstGeom prst="rect">
            <a:avLst/>
          </a:prstGeom>
          <a:solidFill>
            <a:srgbClr val="FB5B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85800" y="609600"/>
            <a:ext cx="7391400" cy="15467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OE_GC_Logo.png"/>
          <p:cNvPicPr>
            <a:picLocks noChangeAspect="1"/>
          </p:cNvPicPr>
          <p:nvPr userDrawn="1"/>
        </p:nvPicPr>
        <p:blipFill>
          <a:blip r:embed="rId8" cstate="print"/>
          <a:stretch>
            <a:fillRect/>
          </a:stretch>
        </p:blipFill>
        <p:spPr>
          <a:xfrm>
            <a:off x="8153400" y="1"/>
            <a:ext cx="990600" cy="108204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bikashadh044@gmai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 5</a:t>
            </a:r>
            <a:br>
              <a:rPr lang="en-US" dirty="0" smtClean="0"/>
            </a:br>
            <a:r>
              <a:rPr lang="en-US" dirty="0" smtClean="0"/>
              <a:t>MANAGEMENT INFORMATION SYSTEM</a:t>
            </a:r>
            <a:endParaRPr lang="en-US" dirty="0"/>
          </a:p>
        </p:txBody>
      </p:sp>
      <p:pic>
        <p:nvPicPr>
          <p:cNvPr id="4" name="Picture 3" descr="C:\Users\Khem\Desktop\logo_20110422093508.jpg"/>
          <p:cNvPicPr/>
          <p:nvPr/>
        </p:nvPicPr>
        <p:blipFill>
          <a:blip r:embed="rId3" cstate="print"/>
          <a:srcRect/>
          <a:stretch>
            <a:fillRect/>
          </a:stretch>
        </p:blipFill>
        <p:spPr bwMode="auto">
          <a:xfrm>
            <a:off x="3733800" y="381000"/>
            <a:ext cx="1425424" cy="1357460"/>
          </a:xfrm>
          <a:prstGeom prst="rect">
            <a:avLst/>
          </a:prstGeom>
          <a:noFill/>
          <a:ln w="9525">
            <a:noFill/>
            <a:miter lim="800000"/>
            <a:headEnd/>
            <a:tailEnd/>
          </a:ln>
        </p:spPr>
      </p:pic>
      <p:sp>
        <p:nvSpPr>
          <p:cNvPr id="5" name="Subtitle 5"/>
          <p:cNvSpPr>
            <a:spLocks noGrp="1"/>
          </p:cNvSpPr>
          <p:nvPr/>
        </p:nvSpPr>
        <p:spPr>
          <a:xfrm>
            <a:off x="1371600" y="4343400"/>
            <a:ext cx="6400800" cy="1447800"/>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rgbClr val="5229E9"/>
                </a:solidFill>
                <a:latin typeface="Book Antiqua" pitchFamily="18" charset="0"/>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dirty="0" err="1" smtClean="0"/>
              <a:t>Bikash</a:t>
            </a:r>
            <a:r>
              <a:rPr lang="en-US" b="1" dirty="0" smtClean="0"/>
              <a:t> </a:t>
            </a:r>
            <a:r>
              <a:rPr lang="en-US" b="1" dirty="0" err="1" smtClean="0"/>
              <a:t>Adhikari</a:t>
            </a:r>
            <a:endParaRPr lang="en-US" b="1" dirty="0" smtClean="0"/>
          </a:p>
          <a:p>
            <a:r>
              <a:rPr lang="en-US" b="1" dirty="0" smtClean="0">
                <a:hlinkClick r:id="rId4"/>
              </a:rPr>
              <a:t>bikashadh044@gmail.com</a:t>
            </a:r>
            <a:endParaRPr lang="en-US" b="1" dirty="0" smtClean="0"/>
          </a:p>
          <a:p>
            <a:r>
              <a:rPr lang="en-US" b="1" i="1" dirty="0" smtClean="0"/>
              <a:t>Acknowledgement: </a:t>
            </a:r>
            <a:r>
              <a:rPr lang="en-US" b="1" i="1" dirty="0" err="1" smtClean="0"/>
              <a:t>Khem</a:t>
            </a:r>
            <a:r>
              <a:rPr lang="en-US" b="1" i="1" dirty="0" smtClean="0"/>
              <a:t> </a:t>
            </a:r>
            <a:r>
              <a:rPr lang="en-US" b="1" i="1" dirty="0" err="1" smtClean="0"/>
              <a:t>Gyawali</a:t>
            </a:r>
            <a:r>
              <a:rPr lang="en-US" b="1" i="1" dirty="0" smtClean="0"/>
              <a:t> </a:t>
            </a:r>
          </a:p>
          <a:p>
            <a:r>
              <a:rPr lang="en-US" b="1" i="1" dirty="0" smtClean="0"/>
              <a:t>Mechanical Engineer</a:t>
            </a:r>
            <a:endParaRPr lang="en-US" b="1" i="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400" b="1" dirty="0" smtClean="0"/>
              <a:t>Management Information System – course outline</a:t>
            </a:r>
            <a:endParaRPr lang="en-US" sz="2400" dirty="0"/>
          </a:p>
        </p:txBody>
      </p:sp>
      <p:sp>
        <p:nvSpPr>
          <p:cNvPr id="9" name="Content Placeholder 8"/>
          <p:cNvSpPr>
            <a:spLocks noGrp="1"/>
          </p:cNvSpPr>
          <p:nvPr>
            <p:ph idx="1"/>
          </p:nvPr>
        </p:nvSpPr>
        <p:spPr>
          <a:xfrm>
            <a:off x="457200" y="1189037"/>
            <a:ext cx="4038600" cy="4906963"/>
          </a:xfrm>
        </p:spPr>
        <p:txBody>
          <a:bodyPr>
            <a:normAutofit fontScale="77500" lnSpcReduction="20000"/>
          </a:bodyPr>
          <a:lstStyle/>
          <a:p>
            <a:r>
              <a:rPr lang="en-US" i="1" dirty="0" smtClean="0">
                <a:solidFill>
                  <a:srgbClr val="0000CC"/>
                </a:solidFill>
              </a:rPr>
              <a:t>Data and Information</a:t>
            </a:r>
          </a:p>
          <a:p>
            <a:r>
              <a:rPr lang="en-US" i="1" dirty="0" smtClean="0">
                <a:solidFill>
                  <a:srgbClr val="0000CC"/>
                </a:solidFill>
              </a:rPr>
              <a:t>Need, function and Importance of MIS</a:t>
            </a:r>
          </a:p>
          <a:p>
            <a:r>
              <a:rPr lang="en-US" i="1" dirty="0" smtClean="0">
                <a:solidFill>
                  <a:srgbClr val="0000CC"/>
                </a:solidFill>
              </a:rPr>
              <a:t>Evolution of MIS</a:t>
            </a:r>
          </a:p>
          <a:p>
            <a:r>
              <a:rPr lang="en-US" i="1" dirty="0" smtClean="0">
                <a:solidFill>
                  <a:srgbClr val="0000CC"/>
                </a:solidFill>
              </a:rPr>
              <a:t>Organizational Structure and MIS</a:t>
            </a:r>
          </a:p>
          <a:p>
            <a:r>
              <a:rPr lang="en-US" i="1" dirty="0" smtClean="0">
                <a:solidFill>
                  <a:srgbClr val="0000CC"/>
                </a:solidFill>
              </a:rPr>
              <a:t>Computers and MIS</a:t>
            </a:r>
          </a:p>
          <a:p>
            <a:r>
              <a:rPr lang="en-US" i="1" dirty="0" smtClean="0">
                <a:solidFill>
                  <a:srgbClr val="0000CC"/>
                </a:solidFill>
              </a:rPr>
              <a:t>Classification of Information Systems</a:t>
            </a:r>
          </a:p>
          <a:p>
            <a:r>
              <a:rPr lang="en-US" i="1" dirty="0" smtClean="0">
                <a:solidFill>
                  <a:srgbClr val="0000CC"/>
                </a:solidFill>
              </a:rPr>
              <a:t>Information Support for functional areas of management</a:t>
            </a:r>
          </a:p>
          <a:p>
            <a:r>
              <a:rPr lang="en-US" i="1" dirty="0" smtClean="0">
                <a:solidFill>
                  <a:srgbClr val="0000CC"/>
                </a:solidFill>
              </a:rPr>
              <a:t>Organizing Information Systems</a:t>
            </a:r>
            <a:endParaRPr lang="en-US" i="1" dirty="0">
              <a:solidFill>
                <a:srgbClr val="0000CC"/>
              </a:solidFill>
            </a:endParaRPr>
          </a:p>
        </p:txBody>
      </p:sp>
      <p:sp>
        <p:nvSpPr>
          <p:cNvPr id="5" name="Slide Number Placeholder 4"/>
          <p:cNvSpPr>
            <a:spLocks noGrp="1"/>
          </p:cNvSpPr>
          <p:nvPr>
            <p:ph type="sldNum" sz="quarter" idx="12"/>
          </p:nvPr>
        </p:nvSpPr>
        <p:spPr/>
        <p:txBody>
          <a:bodyPr/>
          <a:lstStyle/>
          <a:p>
            <a:fld id="{D51081E8-3327-495A-9823-FC891E0968B6}" type="slidenum">
              <a:rPr lang="en-US" smtClean="0"/>
              <a:pPr/>
              <a:t>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3313" name="Picture 1" descr="H:\study materials\Organisation and Management\downloads\mis.jpeg"/>
          <p:cNvPicPr>
            <a:picLocks noChangeAspect="1" noChangeArrowheads="1"/>
          </p:cNvPicPr>
          <p:nvPr/>
        </p:nvPicPr>
        <p:blipFill>
          <a:blip r:embed="rId3"/>
          <a:srcRect/>
          <a:stretch>
            <a:fillRect/>
          </a:stretch>
        </p:blipFill>
        <p:spPr bwMode="auto">
          <a:xfrm>
            <a:off x="4114800" y="1219200"/>
            <a:ext cx="4876800" cy="50292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smtClean="0"/>
              <a:t>Management Information System</a:t>
            </a:r>
            <a:endParaRPr lang="en-US" dirty="0"/>
          </a:p>
        </p:txBody>
      </p:sp>
      <p:sp>
        <p:nvSpPr>
          <p:cNvPr id="9" name="Content Placeholder 8"/>
          <p:cNvSpPr>
            <a:spLocks noGrp="1"/>
          </p:cNvSpPr>
          <p:nvPr>
            <p:ph idx="1"/>
          </p:nvPr>
        </p:nvSpPr>
        <p:spPr>
          <a:xfrm>
            <a:off x="457200" y="1143000"/>
            <a:ext cx="8229600" cy="4800600"/>
          </a:xfrm>
        </p:spPr>
        <p:txBody>
          <a:bodyPr>
            <a:normAutofit fontScale="77500" lnSpcReduction="20000"/>
          </a:bodyPr>
          <a:lstStyle/>
          <a:p>
            <a:pPr algn="just">
              <a:buNone/>
            </a:pPr>
            <a:r>
              <a:rPr lang="en-US" dirty="0" smtClean="0"/>
              <a:t>	</a:t>
            </a:r>
            <a:r>
              <a:rPr lang="en-US" b="1" dirty="0" smtClean="0">
                <a:solidFill>
                  <a:srgbClr val="FF0000"/>
                </a:solidFill>
              </a:rPr>
              <a:t>Management:</a:t>
            </a:r>
            <a:r>
              <a:rPr lang="en-US" b="1" dirty="0" smtClean="0"/>
              <a:t> </a:t>
            </a:r>
            <a:r>
              <a:rPr lang="en-US" i="1" dirty="0" smtClean="0">
                <a:solidFill>
                  <a:srgbClr val="0000CC"/>
                </a:solidFill>
              </a:rPr>
              <a:t>The direction of enterprises toward the achievement of a predetermined objectives. It is carried out by managers.</a:t>
            </a:r>
          </a:p>
          <a:p>
            <a:pPr algn="just">
              <a:buNone/>
            </a:pPr>
            <a:r>
              <a:rPr lang="en-US" dirty="0" smtClean="0"/>
              <a:t>	</a:t>
            </a:r>
            <a:r>
              <a:rPr lang="en-US" b="1" dirty="0" smtClean="0">
                <a:solidFill>
                  <a:srgbClr val="FF0000"/>
                </a:solidFill>
              </a:rPr>
              <a:t>Information:</a:t>
            </a:r>
            <a:r>
              <a:rPr lang="en-US" b="1" dirty="0" smtClean="0"/>
              <a:t> </a:t>
            </a:r>
            <a:r>
              <a:rPr lang="en-US" i="1" dirty="0" smtClean="0">
                <a:solidFill>
                  <a:srgbClr val="0000CC"/>
                </a:solidFill>
              </a:rPr>
              <a:t>An aggregate of facts so organized as to provide knowledge. It is an output obtained by processing data as input.</a:t>
            </a:r>
          </a:p>
          <a:p>
            <a:pPr algn="just">
              <a:buNone/>
            </a:pPr>
            <a:r>
              <a:rPr lang="en-US" dirty="0" smtClean="0"/>
              <a:t>	</a:t>
            </a:r>
            <a:r>
              <a:rPr lang="en-US" b="1" dirty="0" smtClean="0">
                <a:solidFill>
                  <a:srgbClr val="FF0000"/>
                </a:solidFill>
              </a:rPr>
              <a:t>System:</a:t>
            </a:r>
            <a:r>
              <a:rPr lang="en-US" b="1" dirty="0" smtClean="0"/>
              <a:t> </a:t>
            </a:r>
            <a:r>
              <a:rPr lang="en-US" i="1" dirty="0" smtClean="0">
                <a:solidFill>
                  <a:srgbClr val="0000CC"/>
                </a:solidFill>
              </a:rPr>
              <a:t>An assembly of procedure, processes, methods or techniques united by some form of regulated interaction to form an organized whole.</a:t>
            </a:r>
          </a:p>
          <a:p>
            <a:pPr algn="just">
              <a:buNone/>
            </a:pPr>
            <a:r>
              <a:rPr lang="en-US" dirty="0" smtClean="0"/>
              <a:t>	</a:t>
            </a:r>
            <a:r>
              <a:rPr lang="en-US" b="1" dirty="0" smtClean="0">
                <a:solidFill>
                  <a:srgbClr val="FF0000"/>
                </a:solidFill>
              </a:rPr>
              <a:t>Management Information System (MIS) </a:t>
            </a:r>
            <a:r>
              <a:rPr lang="en-US" dirty="0" smtClean="0"/>
              <a:t>can be defined as “</a:t>
            </a:r>
            <a:r>
              <a:rPr lang="en-US" i="1" dirty="0" smtClean="0">
                <a:solidFill>
                  <a:srgbClr val="0000CC"/>
                </a:solidFill>
              </a:rPr>
              <a:t>a system of obtaining, abstracting, storing and analyzing data (new facts) to produce information for use in planning, controlling, and decision making by yielding information for managers, at the time they can most effectively use it</a:t>
            </a:r>
            <a:r>
              <a:rPr lang="en-US" dirty="0" smtClean="0"/>
              <a:t>”.</a:t>
            </a: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Data and Information</a:t>
            </a:r>
            <a:endParaRPr lang="en-US" dirty="0"/>
          </a:p>
        </p:txBody>
      </p:sp>
      <p:sp>
        <p:nvSpPr>
          <p:cNvPr id="9" name="Content Placeholder 8"/>
          <p:cNvSpPr>
            <a:spLocks noGrp="1"/>
          </p:cNvSpPr>
          <p:nvPr>
            <p:ph idx="1"/>
          </p:nvPr>
        </p:nvSpPr>
        <p:spPr>
          <a:xfrm>
            <a:off x="457200" y="1143000"/>
            <a:ext cx="8229600" cy="4800600"/>
          </a:xfrm>
        </p:spPr>
        <p:txBody>
          <a:bodyPr>
            <a:normAutofit fontScale="85000" lnSpcReduction="20000"/>
          </a:bodyPr>
          <a:lstStyle/>
          <a:p>
            <a:pPr>
              <a:buNone/>
            </a:pPr>
            <a:r>
              <a:rPr lang="en-US" dirty="0" smtClean="0"/>
              <a:t>	</a:t>
            </a:r>
            <a:r>
              <a:rPr lang="en-US" b="1" u="sng" dirty="0" smtClean="0">
                <a:solidFill>
                  <a:srgbClr val="FF0000"/>
                </a:solidFill>
              </a:rPr>
              <a:t>Data:</a:t>
            </a:r>
          </a:p>
          <a:p>
            <a:pPr lvl="1">
              <a:buFont typeface="Wingdings" pitchFamily="2" charset="2"/>
              <a:buChar char="§"/>
            </a:pPr>
            <a:r>
              <a:rPr lang="en-US" i="1" dirty="0" smtClean="0"/>
              <a:t>Un interpreted raw statement of facts.</a:t>
            </a:r>
          </a:p>
          <a:p>
            <a:pPr lvl="1">
              <a:buFont typeface="Wingdings" pitchFamily="2" charset="2"/>
              <a:buChar char="§"/>
            </a:pPr>
            <a:r>
              <a:rPr lang="en-US" i="1" dirty="0" smtClean="0"/>
              <a:t>Group of non-random symbols (works, valves, figures) which represent things that have happened .</a:t>
            </a:r>
          </a:p>
          <a:p>
            <a:pPr lvl="1">
              <a:buFont typeface="Wingdings" pitchFamily="2" charset="2"/>
              <a:buChar char="§"/>
            </a:pPr>
            <a:r>
              <a:rPr lang="en-US" i="1" dirty="0" smtClean="0"/>
              <a:t>Obtained by research or observation.</a:t>
            </a:r>
          </a:p>
          <a:p>
            <a:pPr lvl="1">
              <a:buFont typeface="Wingdings" pitchFamily="2" charset="2"/>
              <a:buChar char="§"/>
            </a:pPr>
            <a:r>
              <a:rPr lang="en-US" dirty="0" err="1" smtClean="0"/>
              <a:t>Eg</a:t>
            </a:r>
            <a:r>
              <a:rPr lang="en-US" dirty="0" smtClean="0"/>
              <a:t>. </a:t>
            </a:r>
            <a:r>
              <a:rPr lang="en-US" dirty="0" smtClean="0">
                <a:solidFill>
                  <a:srgbClr val="0000CC"/>
                </a:solidFill>
              </a:rPr>
              <a:t>Payroll, bank statement etc.</a:t>
            </a:r>
          </a:p>
          <a:p>
            <a:pPr lvl="1">
              <a:buNone/>
            </a:pPr>
            <a:endParaRPr lang="en-US" u="sng" dirty="0" smtClean="0">
              <a:solidFill>
                <a:srgbClr val="FF0000"/>
              </a:solidFill>
            </a:endParaRPr>
          </a:p>
          <a:p>
            <a:pPr lvl="1">
              <a:buNone/>
            </a:pPr>
            <a:r>
              <a:rPr lang="en-US" b="1" u="sng" dirty="0" smtClean="0">
                <a:solidFill>
                  <a:srgbClr val="FF0000"/>
                </a:solidFill>
              </a:rPr>
              <a:t>Information:</a:t>
            </a:r>
          </a:p>
          <a:p>
            <a:pPr lvl="1">
              <a:buFont typeface="Wingdings" pitchFamily="2" charset="2"/>
              <a:buChar char="§"/>
            </a:pPr>
            <a:r>
              <a:rPr lang="en-US" i="1" dirty="0" smtClean="0"/>
              <a:t>Aggregate of facts so organized as to provide the desired knowledge.</a:t>
            </a:r>
          </a:p>
          <a:p>
            <a:pPr lvl="1">
              <a:buFont typeface="Wingdings" pitchFamily="2" charset="2"/>
              <a:buChar char="§"/>
            </a:pPr>
            <a:r>
              <a:rPr lang="en-US" i="1" dirty="0" smtClean="0"/>
              <a:t>Data that have been interpreted and understand by the recipient of the message.</a:t>
            </a:r>
          </a:p>
          <a:p>
            <a:pPr lvl="1">
              <a:buFont typeface="Wingdings" pitchFamily="2" charset="2"/>
              <a:buChar char="§"/>
            </a:pPr>
            <a:r>
              <a:rPr lang="en-US" i="1" dirty="0" smtClean="0"/>
              <a:t>Can have different meaning to different people.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Data and Information</a:t>
            </a:r>
            <a:endParaRPr lang="en-US" dirty="0"/>
          </a:p>
        </p:txBody>
      </p:sp>
      <p:sp>
        <p:nvSpPr>
          <p:cNvPr id="9" name="Content Placeholder 8"/>
          <p:cNvSpPr>
            <a:spLocks noGrp="1"/>
          </p:cNvSpPr>
          <p:nvPr>
            <p:ph idx="1"/>
          </p:nvPr>
        </p:nvSpPr>
        <p:spPr>
          <a:xfrm>
            <a:off x="457200" y="1143000"/>
            <a:ext cx="8229600" cy="4800600"/>
          </a:xfrm>
        </p:spPr>
        <p:txBody>
          <a:bodyPr>
            <a:normAutofit/>
          </a:bodyPr>
          <a:lstStyle/>
          <a:p>
            <a:pPr algn="just">
              <a:buNone/>
            </a:pPr>
            <a:r>
              <a:rPr lang="en-US" dirty="0" smtClean="0"/>
              <a:t>	</a:t>
            </a:r>
            <a:r>
              <a:rPr lang="en-US" b="1" u="sng" dirty="0" smtClean="0"/>
              <a:t>Difference between Data &amp; Information</a:t>
            </a:r>
          </a:p>
        </p:txBody>
      </p:sp>
      <p:sp>
        <p:nvSpPr>
          <p:cNvPr id="5" name="Slide Number Placeholder 4"/>
          <p:cNvSpPr>
            <a:spLocks noGrp="1"/>
          </p:cNvSpPr>
          <p:nvPr>
            <p:ph type="sldNum" sz="quarter" idx="12"/>
          </p:nvPr>
        </p:nvSpPr>
        <p:spPr/>
        <p:txBody>
          <a:bodyPr/>
          <a:lstStyle/>
          <a:p>
            <a:fld id="{D51081E8-3327-495A-9823-FC891E0968B6}" type="slidenum">
              <a:rPr lang="en-US" smtClean="0"/>
              <a:pPr/>
              <a:t>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pSp>
        <p:nvGrpSpPr>
          <p:cNvPr id="7" name="Group 6"/>
          <p:cNvGrpSpPr/>
          <p:nvPr/>
        </p:nvGrpSpPr>
        <p:grpSpPr>
          <a:xfrm>
            <a:off x="1143000" y="2133600"/>
            <a:ext cx="6858000" cy="2590800"/>
            <a:chOff x="1600200" y="2133600"/>
            <a:chExt cx="6858000" cy="2590800"/>
          </a:xfrm>
        </p:grpSpPr>
        <p:sp>
          <p:nvSpPr>
            <p:cNvPr id="11" name="Rectangle 10"/>
            <p:cNvSpPr/>
            <p:nvPr/>
          </p:nvSpPr>
          <p:spPr>
            <a:xfrm>
              <a:off x="1600200" y="2133600"/>
              <a:ext cx="1219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Data (Input)</a:t>
              </a:r>
              <a:endParaRPr lang="en-US" sz="2000" b="1" dirty="0"/>
            </a:p>
          </p:txBody>
        </p:sp>
        <p:sp>
          <p:nvSpPr>
            <p:cNvPr id="12" name="Rectangle 11"/>
            <p:cNvSpPr/>
            <p:nvPr/>
          </p:nvSpPr>
          <p:spPr>
            <a:xfrm>
              <a:off x="4267200" y="2133600"/>
              <a:ext cx="13716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Processing</a:t>
              </a:r>
              <a:endParaRPr lang="en-US" sz="2000" b="1" dirty="0"/>
            </a:p>
          </p:txBody>
        </p:sp>
        <p:sp>
          <p:nvSpPr>
            <p:cNvPr id="13" name="Rectangle 12"/>
            <p:cNvSpPr/>
            <p:nvPr/>
          </p:nvSpPr>
          <p:spPr>
            <a:xfrm>
              <a:off x="6934200" y="2133600"/>
              <a:ext cx="1524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Information (Output)</a:t>
              </a:r>
              <a:endParaRPr lang="en-US" sz="2000" b="1" dirty="0"/>
            </a:p>
          </p:txBody>
        </p:sp>
        <p:cxnSp>
          <p:nvCxnSpPr>
            <p:cNvPr id="14" name="Straight Arrow Connector 13"/>
            <p:cNvCxnSpPr>
              <a:stCxn id="12" idx="3"/>
            </p:cNvCxnSpPr>
            <p:nvPr/>
          </p:nvCxnSpPr>
          <p:spPr>
            <a:xfrm>
              <a:off x="5638800" y="2590800"/>
              <a:ext cx="1295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4191000" y="3810000"/>
              <a:ext cx="13716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Feedback/Control</a:t>
              </a:r>
              <a:endParaRPr lang="en-US" sz="2000" b="1" dirty="0"/>
            </a:p>
          </p:txBody>
        </p:sp>
        <p:cxnSp>
          <p:nvCxnSpPr>
            <p:cNvPr id="16" name="Straight Arrow Connector 15"/>
            <p:cNvCxnSpPr>
              <a:stCxn id="15" idx="1"/>
            </p:cNvCxnSpPr>
            <p:nvPr/>
          </p:nvCxnSpPr>
          <p:spPr>
            <a:xfrm flipH="1">
              <a:off x="3505200" y="4267200"/>
              <a:ext cx="685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5" idx="3"/>
            </p:cNvCxnSpPr>
            <p:nvPr/>
          </p:nvCxnSpPr>
          <p:spPr>
            <a:xfrm flipH="1">
              <a:off x="5562600" y="4267200"/>
              <a:ext cx="76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324600" y="2590800"/>
              <a:ext cx="0" cy="1676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505200" y="2590800"/>
              <a:ext cx="0" cy="1676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20" name="Straight Arrow Connector 19"/>
          <p:cNvCxnSpPr/>
          <p:nvPr/>
        </p:nvCxnSpPr>
        <p:spPr>
          <a:xfrm>
            <a:off x="2362200" y="2514600"/>
            <a:ext cx="1447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1. Data and Information</a:t>
            </a:r>
            <a:endParaRPr lang="en-US" dirty="0"/>
          </a:p>
        </p:txBody>
      </p:sp>
      <p:sp>
        <p:nvSpPr>
          <p:cNvPr id="9" name="Content Placeholder 8"/>
          <p:cNvSpPr>
            <a:spLocks noGrp="1"/>
          </p:cNvSpPr>
          <p:nvPr>
            <p:ph idx="1"/>
          </p:nvPr>
        </p:nvSpPr>
        <p:spPr>
          <a:xfrm>
            <a:off x="457200" y="1189037"/>
            <a:ext cx="8229600" cy="5059363"/>
          </a:xfrm>
        </p:spPr>
        <p:txBody>
          <a:bodyPr>
            <a:normAutofit/>
          </a:bodyPr>
          <a:lstStyle/>
          <a:p>
            <a:pPr algn="just">
              <a:buNone/>
            </a:pPr>
            <a:r>
              <a:rPr lang="en-US" b="1" u="sng" dirty="0" smtClean="0">
                <a:solidFill>
                  <a:srgbClr val="FF0000"/>
                </a:solidFill>
              </a:rPr>
              <a:t>Qualities of Good Information</a:t>
            </a:r>
          </a:p>
          <a:p>
            <a:pPr marL="514350" indent="-514350">
              <a:buFont typeface="+mj-lt"/>
              <a:buAutoNum type="arabicPeriod"/>
            </a:pPr>
            <a:r>
              <a:rPr lang="en-US" i="1" dirty="0" smtClean="0">
                <a:solidFill>
                  <a:srgbClr val="5229E9"/>
                </a:solidFill>
              </a:rPr>
              <a:t>Accuracy</a:t>
            </a:r>
          </a:p>
          <a:p>
            <a:pPr marL="514350" indent="-514350">
              <a:buFont typeface="+mj-lt"/>
              <a:buAutoNum type="arabicPeriod"/>
            </a:pPr>
            <a:r>
              <a:rPr lang="en-US" i="1" dirty="0" smtClean="0">
                <a:solidFill>
                  <a:srgbClr val="5229E9"/>
                </a:solidFill>
              </a:rPr>
              <a:t>Timeliness</a:t>
            </a:r>
          </a:p>
          <a:p>
            <a:pPr marL="514350" indent="-514350">
              <a:buFont typeface="+mj-lt"/>
              <a:buAutoNum type="arabicPeriod"/>
            </a:pPr>
            <a:r>
              <a:rPr lang="en-US" i="1" dirty="0" smtClean="0">
                <a:solidFill>
                  <a:srgbClr val="5229E9"/>
                </a:solidFill>
              </a:rPr>
              <a:t>Completeness</a:t>
            </a:r>
          </a:p>
          <a:p>
            <a:pPr marL="514350" indent="-514350">
              <a:buFont typeface="+mj-lt"/>
              <a:buAutoNum type="arabicPeriod"/>
            </a:pPr>
            <a:r>
              <a:rPr lang="en-US" i="1" dirty="0" smtClean="0">
                <a:solidFill>
                  <a:srgbClr val="5229E9"/>
                </a:solidFill>
              </a:rPr>
              <a:t>Conciseness</a:t>
            </a:r>
          </a:p>
          <a:p>
            <a:pPr marL="514350" indent="-514350">
              <a:buFont typeface="+mj-lt"/>
              <a:buAutoNum type="arabicPeriod"/>
            </a:pPr>
            <a:r>
              <a:rPr lang="en-US" i="1" dirty="0" smtClean="0">
                <a:solidFill>
                  <a:srgbClr val="5229E9"/>
                </a:solidFill>
              </a:rPr>
              <a:t>Relevancy</a:t>
            </a:r>
          </a:p>
          <a:p>
            <a:pPr marL="514350" indent="-514350">
              <a:buFont typeface="+mj-lt"/>
              <a:buAutoNum type="arabicPeriod"/>
            </a:pPr>
            <a:r>
              <a:rPr lang="en-US" i="1" dirty="0" smtClean="0">
                <a:solidFill>
                  <a:srgbClr val="5229E9"/>
                </a:solidFill>
              </a:rPr>
              <a:t>Frequency</a:t>
            </a:r>
          </a:p>
          <a:p>
            <a:pPr marL="514350" indent="-514350">
              <a:buFont typeface="+mj-lt"/>
              <a:buAutoNum type="arabicPeriod"/>
            </a:pPr>
            <a:r>
              <a:rPr lang="en-US" i="1" dirty="0" smtClean="0">
                <a:solidFill>
                  <a:srgbClr val="5229E9"/>
                </a:solidFill>
              </a:rPr>
              <a:t>Understandable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2. Need, Function and Importance of MIS</a:t>
            </a:r>
            <a:endParaRPr lang="en-US" sz="3200" dirty="0"/>
          </a:p>
        </p:txBody>
      </p:sp>
      <p:sp>
        <p:nvSpPr>
          <p:cNvPr id="9" name="Content Placeholder 8"/>
          <p:cNvSpPr>
            <a:spLocks noGrp="1"/>
          </p:cNvSpPr>
          <p:nvPr>
            <p:ph idx="1"/>
          </p:nvPr>
        </p:nvSpPr>
        <p:spPr>
          <a:xfrm>
            <a:off x="457200" y="1189037"/>
            <a:ext cx="8229600" cy="5059363"/>
          </a:xfrm>
        </p:spPr>
        <p:txBody>
          <a:bodyPr>
            <a:normAutofit fontScale="92500" lnSpcReduction="20000"/>
          </a:bodyPr>
          <a:lstStyle/>
          <a:p>
            <a:pPr algn="just">
              <a:buNone/>
            </a:pPr>
            <a:r>
              <a:rPr lang="en-US" b="1" u="sng" dirty="0" smtClean="0">
                <a:solidFill>
                  <a:srgbClr val="FF0000"/>
                </a:solidFill>
              </a:rPr>
              <a:t>Needs:</a:t>
            </a:r>
          </a:p>
          <a:p>
            <a:pPr algn="just">
              <a:buNone/>
            </a:pPr>
            <a:r>
              <a:rPr lang="en-US" dirty="0" smtClean="0"/>
              <a:t>	</a:t>
            </a:r>
            <a:r>
              <a:rPr lang="en-US" b="1" dirty="0" smtClean="0"/>
              <a:t>Production managers: </a:t>
            </a:r>
            <a:r>
              <a:rPr lang="en-US" i="1" dirty="0" smtClean="0">
                <a:solidFill>
                  <a:srgbClr val="0000CC"/>
                </a:solidFill>
              </a:rPr>
              <a:t>production costs, labor costs, machine costs, overhead costs.</a:t>
            </a:r>
          </a:p>
          <a:p>
            <a:pPr algn="just">
              <a:buNone/>
            </a:pPr>
            <a:endParaRPr lang="en-US" dirty="0" smtClean="0"/>
          </a:p>
          <a:p>
            <a:pPr algn="just">
              <a:buNone/>
            </a:pPr>
            <a:r>
              <a:rPr lang="en-US" dirty="0" smtClean="0"/>
              <a:t>	</a:t>
            </a:r>
            <a:r>
              <a:rPr lang="en-US" b="1" dirty="0" smtClean="0"/>
              <a:t>Marketing managers: </a:t>
            </a:r>
            <a:r>
              <a:rPr lang="en-US" i="1" dirty="0" smtClean="0">
                <a:solidFill>
                  <a:srgbClr val="0000CC"/>
                </a:solidFill>
              </a:rPr>
              <a:t>new product development, new product sales trend, selling costs, market research.</a:t>
            </a:r>
          </a:p>
          <a:p>
            <a:pPr algn="just">
              <a:buNone/>
            </a:pPr>
            <a:endParaRPr lang="en-US" dirty="0" smtClean="0"/>
          </a:p>
          <a:p>
            <a:pPr algn="just">
              <a:buNone/>
            </a:pPr>
            <a:r>
              <a:rPr lang="en-US" dirty="0" smtClean="0"/>
              <a:t>	</a:t>
            </a:r>
            <a:r>
              <a:rPr lang="en-US" b="1" dirty="0" smtClean="0"/>
              <a:t>Personnel managers: </a:t>
            </a:r>
            <a:r>
              <a:rPr lang="en-US" i="1" dirty="0" smtClean="0">
                <a:solidFill>
                  <a:srgbClr val="0000CC"/>
                </a:solidFill>
              </a:rPr>
              <a:t>work forces turnover, absenteeism, employ skill level, labor markets, wage level.</a:t>
            </a:r>
          </a:p>
        </p:txBody>
      </p:sp>
      <p:sp>
        <p:nvSpPr>
          <p:cNvPr id="5" name="Slide Number Placeholder 4"/>
          <p:cNvSpPr>
            <a:spLocks noGrp="1"/>
          </p:cNvSpPr>
          <p:nvPr>
            <p:ph type="sldNum" sz="quarter" idx="12"/>
          </p:nvPr>
        </p:nvSpPr>
        <p:spPr/>
        <p:txBody>
          <a:bodyPr/>
          <a:lstStyle/>
          <a:p>
            <a:fld id="{D51081E8-3327-495A-9823-FC891E0968B6}" type="slidenum">
              <a:rPr lang="en-US" smtClean="0"/>
              <a:pPr/>
              <a:t>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2. Need, Function and Importance of MIS</a:t>
            </a:r>
            <a:endParaRPr lang="en-US" sz="3200" dirty="0"/>
          </a:p>
        </p:txBody>
      </p:sp>
      <p:sp>
        <p:nvSpPr>
          <p:cNvPr id="9" name="Content Placeholder 8"/>
          <p:cNvSpPr>
            <a:spLocks noGrp="1"/>
          </p:cNvSpPr>
          <p:nvPr>
            <p:ph idx="1"/>
          </p:nvPr>
        </p:nvSpPr>
        <p:spPr>
          <a:xfrm>
            <a:off x="457200" y="1189037"/>
            <a:ext cx="8229600" cy="5059363"/>
          </a:xfrm>
        </p:spPr>
        <p:txBody>
          <a:bodyPr>
            <a:normAutofit/>
          </a:bodyPr>
          <a:lstStyle/>
          <a:p>
            <a:pPr algn="just">
              <a:buNone/>
            </a:pPr>
            <a:r>
              <a:rPr lang="en-US" b="1" u="sng" dirty="0" smtClean="0">
                <a:solidFill>
                  <a:srgbClr val="FF0000"/>
                </a:solidFill>
              </a:rPr>
              <a:t>Functions:</a:t>
            </a:r>
          </a:p>
          <a:p>
            <a:pPr marL="514350" indent="-514350" algn="just">
              <a:buFont typeface="+mj-lt"/>
              <a:buAutoNum type="arabicPeriod"/>
            </a:pPr>
            <a:r>
              <a:rPr lang="en-US" b="1" dirty="0" smtClean="0">
                <a:solidFill>
                  <a:srgbClr val="FF0000"/>
                </a:solidFill>
              </a:rPr>
              <a:t>Determination of information needs. </a:t>
            </a:r>
            <a:r>
              <a:rPr lang="en-US" i="1" dirty="0" smtClean="0">
                <a:solidFill>
                  <a:srgbClr val="5229E9"/>
                </a:solidFill>
              </a:rPr>
              <a:t>(How much? How, when and by whom? What?)</a:t>
            </a:r>
          </a:p>
          <a:p>
            <a:pPr marL="514350" indent="-514350" algn="just">
              <a:buFont typeface="+mj-lt"/>
              <a:buAutoNum type="arabicPeriod"/>
            </a:pPr>
            <a:r>
              <a:rPr lang="en-US" b="1" dirty="0" smtClean="0">
                <a:solidFill>
                  <a:srgbClr val="FF0000"/>
                </a:solidFill>
              </a:rPr>
              <a:t>Evaluation.</a:t>
            </a:r>
            <a:r>
              <a:rPr lang="en-US" b="1" dirty="0" smtClean="0"/>
              <a:t> </a:t>
            </a:r>
            <a:r>
              <a:rPr lang="en-US" dirty="0" smtClean="0">
                <a:solidFill>
                  <a:srgbClr val="5229E9"/>
                </a:solidFill>
              </a:rPr>
              <a:t>( How much confidence?)</a:t>
            </a:r>
          </a:p>
          <a:p>
            <a:pPr marL="514350" indent="-514350" algn="just">
              <a:buFont typeface="+mj-lt"/>
              <a:buAutoNum type="arabicPeriod"/>
            </a:pPr>
            <a:r>
              <a:rPr lang="en-US" b="1" dirty="0" smtClean="0">
                <a:solidFill>
                  <a:srgbClr val="FF0000"/>
                </a:solidFill>
              </a:rPr>
              <a:t>Abstraction.</a:t>
            </a:r>
            <a:r>
              <a:rPr lang="en-US" b="1" dirty="0" smtClean="0"/>
              <a:t> </a:t>
            </a:r>
            <a:r>
              <a:rPr lang="en-US" dirty="0" smtClean="0">
                <a:solidFill>
                  <a:srgbClr val="5229E9"/>
                </a:solidFill>
              </a:rPr>
              <a:t>( Editing and reducing incoming information)</a:t>
            </a:r>
          </a:p>
          <a:p>
            <a:pPr marL="514350" indent="-514350" algn="just">
              <a:buFont typeface="+mj-lt"/>
              <a:buAutoNum type="arabicPeriod"/>
            </a:pPr>
            <a:r>
              <a:rPr lang="en-US" b="1" dirty="0" smtClean="0">
                <a:solidFill>
                  <a:srgbClr val="FF0000"/>
                </a:solidFill>
              </a:rPr>
              <a:t>Dissemination. </a:t>
            </a:r>
            <a:r>
              <a:rPr lang="en-US" dirty="0" smtClean="0">
                <a:solidFill>
                  <a:srgbClr val="5229E9"/>
                </a:solidFill>
              </a:rPr>
              <a:t>( Getting the right information to the right manager at the right time)</a:t>
            </a:r>
          </a:p>
        </p:txBody>
      </p:sp>
      <p:sp>
        <p:nvSpPr>
          <p:cNvPr id="5" name="Slide Number Placeholder 4"/>
          <p:cNvSpPr>
            <a:spLocks noGrp="1"/>
          </p:cNvSpPr>
          <p:nvPr>
            <p:ph type="sldNum" sz="quarter" idx="12"/>
          </p:nvPr>
        </p:nvSpPr>
        <p:spPr/>
        <p:txBody>
          <a:bodyPr/>
          <a:lstStyle/>
          <a:p>
            <a:fld id="{D51081E8-3327-495A-9823-FC891E0968B6}" type="slidenum">
              <a:rPr lang="en-US" smtClean="0"/>
              <a:pPr/>
              <a:t>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2. Need, Function and Importance of MIS</a:t>
            </a:r>
            <a:endParaRPr lang="en-US" sz="32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9</a:t>
            </a:fld>
            <a:endParaRPr lang="en-US"/>
          </a:p>
        </p:txBody>
      </p:sp>
      <p:pic>
        <p:nvPicPr>
          <p:cNvPr id="10" name="Picture 9" descr="C:\Users\Khem\Desktop\logo_20110422093508.jpg"/>
          <p:cNvPicPr/>
          <p:nvPr/>
        </p:nvPicPr>
        <p:blipFill>
          <a:blip r:embed="rId3" cstate="print"/>
          <a:srcRect/>
          <a:stretch>
            <a:fillRect/>
          </a:stretch>
        </p:blipFill>
        <p:spPr bwMode="auto">
          <a:xfrm>
            <a:off x="8077200" y="0"/>
            <a:ext cx="1066800" cy="1143000"/>
          </a:xfrm>
          <a:prstGeom prst="rect">
            <a:avLst/>
          </a:prstGeom>
          <a:noFill/>
          <a:ln w="9525">
            <a:noFill/>
            <a:miter lim="800000"/>
            <a:headEnd/>
            <a:tailEnd/>
          </a:ln>
        </p:spPr>
      </p:pic>
      <p:graphicFrame>
        <p:nvGraphicFramePr>
          <p:cNvPr id="6146" name="Object 8"/>
          <p:cNvGraphicFramePr>
            <a:graphicFrameLocks noGrp="1" noChangeAspect="1"/>
          </p:cNvGraphicFramePr>
          <p:nvPr>
            <p:ph idx="1"/>
          </p:nvPr>
        </p:nvGraphicFramePr>
        <p:xfrm>
          <a:off x="304800" y="914400"/>
          <a:ext cx="8534400" cy="5334000"/>
        </p:xfrm>
        <a:graphic>
          <a:graphicData uri="http://schemas.openxmlformats.org/presentationml/2006/ole">
            <p:oleObj spid="_x0000_s6148" name="Image" r:id="rId4" imgW="9142857" imgH="6501587" progId="">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2. Need, Function and Importance of MIS</a:t>
            </a:r>
            <a:endParaRPr lang="en-US" sz="3200" dirty="0"/>
          </a:p>
        </p:txBody>
      </p:sp>
      <p:sp>
        <p:nvSpPr>
          <p:cNvPr id="9" name="Content Placeholder 8"/>
          <p:cNvSpPr>
            <a:spLocks noGrp="1"/>
          </p:cNvSpPr>
          <p:nvPr>
            <p:ph idx="1"/>
          </p:nvPr>
        </p:nvSpPr>
        <p:spPr>
          <a:xfrm>
            <a:off x="457200" y="1189037"/>
            <a:ext cx="8229600" cy="5059363"/>
          </a:xfrm>
        </p:spPr>
        <p:txBody>
          <a:bodyPr>
            <a:normAutofit fontScale="77500" lnSpcReduction="20000"/>
          </a:bodyPr>
          <a:lstStyle/>
          <a:p>
            <a:pPr algn="just">
              <a:buNone/>
            </a:pPr>
            <a:r>
              <a:rPr lang="en-US" b="1" u="sng" dirty="0" smtClean="0">
                <a:solidFill>
                  <a:srgbClr val="FF0000"/>
                </a:solidFill>
              </a:rPr>
              <a:t>Importance:</a:t>
            </a:r>
          </a:p>
          <a:p>
            <a:pPr marL="514350" indent="-514350" algn="just">
              <a:buFont typeface="+mj-lt"/>
              <a:buAutoNum type="arabicPeriod"/>
            </a:pPr>
            <a:r>
              <a:rPr lang="en-US" i="1" dirty="0" smtClean="0">
                <a:solidFill>
                  <a:srgbClr val="5229E9"/>
                </a:solidFill>
              </a:rPr>
              <a:t>Provides relevant information available in the right form at the right time.</a:t>
            </a:r>
          </a:p>
          <a:p>
            <a:pPr marL="514350" indent="-514350" algn="just">
              <a:buFont typeface="+mj-lt"/>
              <a:buAutoNum type="arabicPeriod"/>
            </a:pPr>
            <a:r>
              <a:rPr lang="en-US" i="1" dirty="0" smtClean="0">
                <a:solidFill>
                  <a:srgbClr val="5229E9"/>
                </a:solidFill>
              </a:rPr>
              <a:t>Bring the new facts to the knowledge of the management.</a:t>
            </a:r>
          </a:p>
          <a:p>
            <a:pPr marL="514350" indent="-514350" algn="just">
              <a:buFont typeface="+mj-lt"/>
              <a:buAutoNum type="arabicPeriod"/>
            </a:pPr>
            <a:r>
              <a:rPr lang="en-US" i="1" dirty="0" smtClean="0">
                <a:solidFill>
                  <a:srgbClr val="5229E9"/>
                </a:solidFill>
              </a:rPr>
              <a:t>Supply the desired information at a reasonable cost.</a:t>
            </a:r>
          </a:p>
          <a:p>
            <a:pPr marL="514350" indent="-514350" algn="just">
              <a:buFont typeface="+mj-lt"/>
              <a:buAutoNum type="arabicPeriod"/>
            </a:pPr>
            <a:r>
              <a:rPr lang="en-US" i="1" dirty="0" smtClean="0">
                <a:solidFill>
                  <a:srgbClr val="5229E9"/>
                </a:solidFill>
              </a:rPr>
              <a:t>Keep the information up to date.</a:t>
            </a:r>
          </a:p>
          <a:p>
            <a:pPr marL="514350" indent="-514350" algn="just">
              <a:buFont typeface="+mj-lt"/>
              <a:buAutoNum type="arabicPeriod"/>
            </a:pPr>
            <a:r>
              <a:rPr lang="en-US" i="1" dirty="0" smtClean="0">
                <a:solidFill>
                  <a:srgbClr val="5229E9"/>
                </a:solidFill>
              </a:rPr>
              <a:t>Store the important and confidential information properly for utilizing it for decision-making whenever required.</a:t>
            </a:r>
          </a:p>
          <a:p>
            <a:pPr marL="514350" indent="-514350" algn="just">
              <a:buFont typeface="+mj-lt"/>
              <a:buAutoNum type="arabicPeriod"/>
            </a:pPr>
            <a:r>
              <a:rPr lang="en-US" i="1" dirty="0" smtClean="0">
                <a:solidFill>
                  <a:srgbClr val="5229E9"/>
                </a:solidFill>
              </a:rPr>
              <a:t>Focus on those decisions where benefit/cost ratio is attractive.</a:t>
            </a:r>
          </a:p>
          <a:p>
            <a:pPr marL="514350" indent="-514350" algn="just">
              <a:buFont typeface="+mj-lt"/>
              <a:buAutoNum type="arabicPeriod"/>
            </a:pPr>
            <a:r>
              <a:rPr lang="en-US" i="1" dirty="0" smtClean="0">
                <a:solidFill>
                  <a:srgbClr val="5229E9"/>
                </a:solidFill>
              </a:rPr>
              <a:t>Supply reliable and logical data.</a:t>
            </a:r>
          </a:p>
          <a:p>
            <a:pPr marL="514350" indent="-514350" algn="just">
              <a:buFont typeface="+mj-lt"/>
              <a:buAutoNum type="arabicPeriod"/>
            </a:pPr>
            <a:r>
              <a:rPr lang="en-US" i="1" dirty="0" smtClean="0">
                <a:solidFill>
                  <a:srgbClr val="5229E9"/>
                </a:solidFill>
              </a:rPr>
              <a:t>Provide data for carrying out the major management functions.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3. Evolution of MIS</a:t>
            </a:r>
            <a:endParaRPr lang="en-US" dirty="0"/>
          </a:p>
        </p:txBody>
      </p:sp>
      <p:sp>
        <p:nvSpPr>
          <p:cNvPr id="9" name="Content Placeholder 8"/>
          <p:cNvSpPr>
            <a:spLocks noGrp="1"/>
          </p:cNvSpPr>
          <p:nvPr>
            <p:ph idx="1"/>
          </p:nvPr>
        </p:nvSpPr>
        <p:spPr>
          <a:xfrm>
            <a:off x="457200" y="1189037"/>
            <a:ext cx="8229600" cy="5059363"/>
          </a:xfrm>
        </p:spPr>
        <p:txBody>
          <a:bodyPr>
            <a:normAutofit fontScale="92500" lnSpcReduction="10000"/>
          </a:bodyPr>
          <a:lstStyle/>
          <a:p>
            <a:pPr lvl="1">
              <a:buFont typeface="Wingdings" pitchFamily="2" charset="2"/>
              <a:buChar char="§"/>
            </a:pPr>
            <a:r>
              <a:rPr lang="en-US" b="1" dirty="0" smtClean="0"/>
              <a:t>Digital computers 1959,</a:t>
            </a:r>
          </a:p>
          <a:p>
            <a:pPr lvl="1">
              <a:buFont typeface="Wingdings" pitchFamily="2" charset="2"/>
              <a:buChar char="§"/>
            </a:pPr>
            <a:r>
              <a:rPr lang="en-US" b="1" dirty="0" smtClean="0"/>
              <a:t>Electronic data processing (EDP)</a:t>
            </a:r>
          </a:p>
          <a:p>
            <a:pPr lvl="2">
              <a:buFont typeface="Wingdings" pitchFamily="2" charset="2"/>
              <a:buChar char="§"/>
            </a:pPr>
            <a:r>
              <a:rPr lang="en-US" dirty="0" smtClean="0">
                <a:solidFill>
                  <a:srgbClr val="5229E9"/>
                </a:solidFill>
              </a:rPr>
              <a:t>Focus on record keeping</a:t>
            </a:r>
          </a:p>
          <a:p>
            <a:pPr lvl="2">
              <a:buFont typeface="Wingdings" pitchFamily="2" charset="2"/>
              <a:buChar char="§"/>
            </a:pPr>
            <a:r>
              <a:rPr lang="en-US" dirty="0" smtClean="0">
                <a:solidFill>
                  <a:srgbClr val="5229E9"/>
                </a:solidFill>
              </a:rPr>
              <a:t>Card punching machine</a:t>
            </a:r>
          </a:p>
          <a:p>
            <a:pPr lvl="1">
              <a:buFont typeface="Wingdings" pitchFamily="2" charset="2"/>
              <a:buChar char="§"/>
            </a:pPr>
            <a:r>
              <a:rPr lang="en-US" b="1" dirty="0" smtClean="0"/>
              <a:t>Computer languages</a:t>
            </a:r>
          </a:p>
          <a:p>
            <a:pPr lvl="1">
              <a:buFont typeface="Wingdings" pitchFamily="2" charset="2"/>
              <a:buChar char="§"/>
            </a:pPr>
            <a:r>
              <a:rPr lang="en-US" b="1" dirty="0" smtClean="0"/>
              <a:t>Personal computers</a:t>
            </a:r>
          </a:p>
          <a:p>
            <a:pPr lvl="2">
              <a:buFont typeface="Wingdings" pitchFamily="2" charset="2"/>
              <a:buChar char="§"/>
            </a:pPr>
            <a:r>
              <a:rPr lang="en-US" dirty="0" smtClean="0">
                <a:solidFill>
                  <a:srgbClr val="5229E9"/>
                </a:solidFill>
              </a:rPr>
              <a:t>Direct end user involvement </a:t>
            </a:r>
          </a:p>
          <a:p>
            <a:pPr lvl="2">
              <a:buFont typeface="Wingdings" pitchFamily="2" charset="2"/>
              <a:buChar char="§"/>
            </a:pPr>
            <a:r>
              <a:rPr lang="en-US" dirty="0" smtClean="0">
                <a:solidFill>
                  <a:srgbClr val="5229E9"/>
                </a:solidFill>
              </a:rPr>
              <a:t>Steady performance</a:t>
            </a:r>
          </a:p>
          <a:p>
            <a:pPr lvl="2">
              <a:buFont typeface="Wingdings" pitchFamily="2" charset="2"/>
              <a:buChar char="§"/>
            </a:pPr>
            <a:r>
              <a:rPr lang="en-US" dirty="0" smtClean="0">
                <a:solidFill>
                  <a:srgbClr val="5229E9"/>
                </a:solidFill>
              </a:rPr>
              <a:t>User friendly and graphical user interface.</a:t>
            </a:r>
          </a:p>
          <a:p>
            <a:pPr lvl="1">
              <a:buFont typeface="Wingdings" pitchFamily="2" charset="2"/>
              <a:buChar char="§"/>
            </a:pPr>
            <a:r>
              <a:rPr lang="en-US" b="1" dirty="0" smtClean="0"/>
              <a:t>Design support system (DSS)</a:t>
            </a:r>
          </a:p>
          <a:p>
            <a:pPr lvl="2">
              <a:buFont typeface="Wingdings" pitchFamily="2" charset="2"/>
              <a:buChar char="§"/>
            </a:pPr>
            <a:r>
              <a:rPr lang="en-US" dirty="0" smtClean="0">
                <a:solidFill>
                  <a:srgbClr val="5229E9"/>
                </a:solidFill>
              </a:rPr>
              <a:t>Operation research</a:t>
            </a:r>
          </a:p>
          <a:p>
            <a:pPr lvl="1">
              <a:buFont typeface="Wingdings" pitchFamily="2" charset="2"/>
              <a:buChar char="§"/>
            </a:pPr>
            <a:r>
              <a:rPr lang="en-US" b="1" dirty="0" smtClean="0"/>
              <a:t>Executive information system (EIS)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4. Organizational Structure and MIS</a:t>
            </a:r>
            <a:endParaRPr lang="en-US" sz="3600" dirty="0"/>
          </a:p>
        </p:txBody>
      </p:sp>
      <p:sp>
        <p:nvSpPr>
          <p:cNvPr id="9" name="Content Placeholder 8"/>
          <p:cNvSpPr>
            <a:spLocks noGrp="1"/>
          </p:cNvSpPr>
          <p:nvPr>
            <p:ph idx="1"/>
          </p:nvPr>
        </p:nvSpPr>
        <p:spPr>
          <a:xfrm>
            <a:off x="457200" y="1189037"/>
            <a:ext cx="8229600" cy="5059363"/>
          </a:xfrm>
        </p:spPr>
        <p:txBody>
          <a:bodyPr>
            <a:normAutofit fontScale="92500" lnSpcReduction="10000"/>
          </a:bodyPr>
          <a:lstStyle/>
          <a:p>
            <a:pPr>
              <a:lnSpc>
                <a:spcPct val="95000"/>
              </a:lnSpc>
              <a:buNone/>
            </a:pPr>
            <a:r>
              <a:rPr lang="en-US" dirty="0" smtClean="0">
                <a:solidFill>
                  <a:srgbClr val="FF9933"/>
                </a:solidFill>
              </a:rPr>
              <a:t>	</a:t>
            </a:r>
            <a:r>
              <a:rPr lang="en-US" dirty="0" smtClean="0">
                <a:solidFill>
                  <a:srgbClr val="FF0000"/>
                </a:solidFill>
              </a:rPr>
              <a:t>The nature of organizations determines their activities, the information support they need, and the type of information systems they use</a:t>
            </a:r>
          </a:p>
          <a:p>
            <a:pPr lvl="1">
              <a:lnSpc>
                <a:spcPct val="95000"/>
              </a:lnSpc>
              <a:buFont typeface="Wingdings 3" pitchFamily="18" charset="2"/>
              <a:buChar char="î"/>
            </a:pPr>
            <a:r>
              <a:rPr lang="en-US" i="1" dirty="0" smtClean="0">
                <a:solidFill>
                  <a:srgbClr val="0000CC"/>
                </a:solidFill>
              </a:rPr>
              <a:t>profit-making business versus not-for-profit organizations exist</a:t>
            </a:r>
          </a:p>
          <a:p>
            <a:pPr lvl="1">
              <a:lnSpc>
                <a:spcPct val="95000"/>
              </a:lnSpc>
              <a:buFont typeface="Wingdings 3" pitchFamily="18" charset="2"/>
              <a:buChar char="î"/>
            </a:pPr>
            <a:r>
              <a:rPr lang="en-US" i="1" dirty="0" smtClean="0">
                <a:solidFill>
                  <a:srgbClr val="0000CC"/>
                </a:solidFill>
              </a:rPr>
              <a:t>manufacture goods versus services are delivered</a:t>
            </a:r>
          </a:p>
          <a:p>
            <a:pPr lvl="1">
              <a:lnSpc>
                <a:spcPct val="95000"/>
              </a:lnSpc>
              <a:buFont typeface="Wingdings 3" pitchFamily="18" charset="2"/>
              <a:buChar char="î"/>
            </a:pPr>
            <a:r>
              <a:rPr lang="en-US" i="1" dirty="0" smtClean="0">
                <a:solidFill>
                  <a:srgbClr val="0000CC"/>
                </a:solidFill>
              </a:rPr>
              <a:t>can be located in one place or in several places, some are global or multinational organizations</a:t>
            </a:r>
          </a:p>
          <a:p>
            <a:pPr lvl="1">
              <a:lnSpc>
                <a:spcPct val="95000"/>
              </a:lnSpc>
              <a:buNone/>
            </a:pPr>
            <a:endParaRPr lang="en-US" i="1" dirty="0" smtClean="0">
              <a:solidFill>
                <a:srgbClr val="0000CC"/>
              </a:solidFill>
            </a:endParaRPr>
          </a:p>
          <a:p>
            <a:pPr lvl="1" algn="just">
              <a:lnSpc>
                <a:spcPct val="95000"/>
              </a:lnSpc>
              <a:buNone/>
            </a:pPr>
            <a:r>
              <a:rPr lang="en-US" b="1" dirty="0" smtClean="0">
                <a:solidFill>
                  <a:srgbClr val="FF0000"/>
                </a:solidFill>
              </a:rPr>
              <a:t>MIS has been described as a pyramidal structure, with four levels of information resources. The levels of information would depend upon the organizational structure.</a:t>
            </a:r>
            <a:endParaRPr lang="en-US" i="1" dirty="0" smtClean="0">
              <a:solidFill>
                <a:srgbClr val="0000CC"/>
              </a:solidFill>
            </a:endParaRPr>
          </a:p>
          <a:p>
            <a:pPr lvl="1">
              <a:lnSpc>
                <a:spcPct val="95000"/>
              </a:lnSpc>
              <a:buNone/>
            </a:pPr>
            <a:endParaRPr lang="en-US" i="1" dirty="0" smtClean="0">
              <a:solidFill>
                <a:srgbClr val="0000CC"/>
              </a:solidFill>
            </a:endParaRP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4. Organizational Structure and MIS</a:t>
            </a:r>
            <a:endParaRPr lang="en-US" sz="3600" dirty="0"/>
          </a:p>
        </p:txBody>
      </p:sp>
      <p:sp>
        <p:nvSpPr>
          <p:cNvPr id="9" name="Content Placeholder 8"/>
          <p:cNvSpPr>
            <a:spLocks noGrp="1"/>
          </p:cNvSpPr>
          <p:nvPr>
            <p:ph idx="1"/>
          </p:nvPr>
        </p:nvSpPr>
        <p:spPr>
          <a:xfrm>
            <a:off x="457200" y="1189037"/>
            <a:ext cx="8229600" cy="5059363"/>
          </a:xfrm>
        </p:spPr>
        <p:txBody>
          <a:bodyPr>
            <a:normAutofit fontScale="70000" lnSpcReduction="20000"/>
          </a:bodyPr>
          <a:lstStyle/>
          <a:p>
            <a:pPr algn="just">
              <a:lnSpc>
                <a:spcPct val="95000"/>
              </a:lnSpc>
              <a:buNone/>
            </a:pPr>
            <a:r>
              <a:rPr lang="en-US" dirty="0" smtClean="0">
                <a:solidFill>
                  <a:srgbClr val="FF9933"/>
                </a:solidFill>
              </a:rPr>
              <a:t>	</a:t>
            </a:r>
            <a:r>
              <a:rPr lang="en-US" i="1" dirty="0" smtClean="0">
                <a:solidFill>
                  <a:srgbClr val="0000CC"/>
                </a:solidFill>
              </a:rPr>
              <a:t>The top level supports strategic planning and policy making at the highest level of management. </a:t>
            </a:r>
          </a:p>
          <a:p>
            <a:pPr algn="just">
              <a:lnSpc>
                <a:spcPct val="95000"/>
              </a:lnSpc>
              <a:buNone/>
            </a:pPr>
            <a:r>
              <a:rPr lang="en-US" i="1" dirty="0" smtClean="0">
                <a:solidFill>
                  <a:srgbClr val="0000CC"/>
                </a:solidFill>
              </a:rPr>
              <a:t>	The second level of information resources aid tactical planning and decision making for management control. </a:t>
            </a:r>
          </a:p>
          <a:p>
            <a:pPr algn="just">
              <a:lnSpc>
                <a:spcPct val="95000"/>
              </a:lnSpc>
              <a:buNone/>
            </a:pPr>
            <a:r>
              <a:rPr lang="en-US" i="1" dirty="0" smtClean="0">
                <a:solidFill>
                  <a:srgbClr val="0000CC"/>
                </a:solidFill>
              </a:rPr>
              <a:t>	The third level supports day-to-day operations and control. </a:t>
            </a:r>
          </a:p>
          <a:p>
            <a:pPr algn="just">
              <a:lnSpc>
                <a:spcPct val="95000"/>
              </a:lnSpc>
              <a:buNone/>
            </a:pPr>
            <a:r>
              <a:rPr lang="en-US" i="1" dirty="0" smtClean="0">
                <a:solidFill>
                  <a:srgbClr val="0000CC"/>
                </a:solidFill>
              </a:rPr>
              <a:t>	The bottom level consists of information for transaction processing</a:t>
            </a:r>
            <a:r>
              <a:rPr lang="en-US" dirty="0" smtClean="0"/>
              <a:t>. </a:t>
            </a:r>
          </a:p>
          <a:p>
            <a:pPr algn="just">
              <a:lnSpc>
                <a:spcPct val="95000"/>
              </a:lnSpc>
              <a:buNone/>
            </a:pPr>
            <a:r>
              <a:rPr lang="en-US" dirty="0" smtClean="0"/>
              <a:t>	It then follows that since decision making is specific to hierarchical levels in an organization, the information requirements at each level vary accordingly.</a:t>
            </a:r>
          </a:p>
          <a:p>
            <a:pPr algn="just">
              <a:lnSpc>
                <a:spcPct val="95000"/>
              </a:lnSpc>
              <a:buNone/>
            </a:pPr>
            <a:endParaRPr lang="en-US" dirty="0" smtClean="0"/>
          </a:p>
          <a:p>
            <a:pPr algn="just">
              <a:buNone/>
            </a:pPr>
            <a:r>
              <a:rPr lang="en-US" dirty="0" smtClean="0"/>
              <a:t>	</a:t>
            </a:r>
            <a:r>
              <a:rPr lang="en-US" b="1" dirty="0" smtClean="0">
                <a:solidFill>
                  <a:srgbClr val="FF0000"/>
                </a:solidFill>
              </a:rPr>
              <a:t>Thus, MIS as a support system draws upon:</a:t>
            </a:r>
          </a:p>
          <a:p>
            <a:pPr algn="just"/>
            <a:r>
              <a:rPr lang="en-US" i="1" dirty="0" smtClean="0">
                <a:solidFill>
                  <a:srgbClr val="0000CC"/>
                </a:solidFill>
              </a:rPr>
              <a:t>concepts of organization;</a:t>
            </a:r>
          </a:p>
          <a:p>
            <a:pPr algn="just"/>
            <a:r>
              <a:rPr lang="en-US" i="1" dirty="0" smtClean="0">
                <a:solidFill>
                  <a:srgbClr val="0000CC"/>
                </a:solidFill>
              </a:rPr>
              <a:t>organizational theories, principles, structure, behavior and processes such as communication, power and decision making; and</a:t>
            </a:r>
          </a:p>
          <a:p>
            <a:pPr algn="just"/>
            <a:r>
              <a:rPr lang="en-US" i="1" dirty="0" smtClean="0">
                <a:solidFill>
                  <a:srgbClr val="0000CC"/>
                </a:solidFill>
              </a:rPr>
              <a:t>motivation and leadership behavior.</a:t>
            </a:r>
          </a:p>
          <a:p>
            <a:pPr lvl="1" algn="just">
              <a:lnSpc>
                <a:spcPct val="95000"/>
              </a:lnSpc>
              <a:buNone/>
            </a:pPr>
            <a:endParaRPr lang="en-US" i="1" dirty="0" smtClean="0">
              <a:solidFill>
                <a:srgbClr val="0000CC"/>
              </a:solidFill>
            </a:endParaRP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600" dirty="0" smtClean="0"/>
              <a:t>4. Organizational Structure and MIS</a:t>
            </a:r>
            <a:endParaRPr lang="en-US" sz="36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7650" name="Picture 2" descr="H:\study materials\Organisation and Management\downloads\slide-4-728.jpg"/>
          <p:cNvPicPr>
            <a:picLocks noGrp="1" noChangeAspect="1" noChangeArrowheads="1"/>
          </p:cNvPicPr>
          <p:nvPr>
            <p:ph idx="1"/>
          </p:nvPr>
        </p:nvPicPr>
        <p:blipFill>
          <a:blip r:embed="rId3"/>
          <a:srcRect/>
          <a:stretch>
            <a:fillRect/>
          </a:stretch>
        </p:blipFill>
        <p:spPr bwMode="auto">
          <a:xfrm>
            <a:off x="228600" y="685800"/>
            <a:ext cx="8305800" cy="55626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5. Computers and MIS</a:t>
            </a:r>
            <a:endParaRPr lang="en-US" dirty="0"/>
          </a:p>
        </p:txBody>
      </p:sp>
      <p:sp>
        <p:nvSpPr>
          <p:cNvPr id="9" name="Content Placeholder 8"/>
          <p:cNvSpPr>
            <a:spLocks noGrp="1"/>
          </p:cNvSpPr>
          <p:nvPr>
            <p:ph idx="1"/>
          </p:nvPr>
        </p:nvSpPr>
        <p:spPr>
          <a:xfrm>
            <a:off x="457200" y="1189037"/>
            <a:ext cx="8229600" cy="5059363"/>
          </a:xfrm>
        </p:spPr>
        <p:txBody>
          <a:bodyPr>
            <a:normAutofit fontScale="70000" lnSpcReduction="20000"/>
          </a:bodyPr>
          <a:lstStyle/>
          <a:p>
            <a:pPr algn="just">
              <a:buNone/>
            </a:pPr>
            <a:r>
              <a:rPr lang="en-US" dirty="0" smtClean="0"/>
              <a:t>	</a:t>
            </a:r>
            <a:r>
              <a:rPr lang="en-US" b="1" dirty="0" smtClean="0">
                <a:solidFill>
                  <a:srgbClr val="5229E9"/>
                </a:solidFill>
              </a:rPr>
              <a:t>Computers are means of management information system. </a:t>
            </a:r>
            <a:r>
              <a:rPr lang="en-US" dirty="0" smtClean="0">
                <a:solidFill>
                  <a:srgbClr val="5229E9"/>
                </a:solidFill>
              </a:rPr>
              <a:t>With the use of computers MIS will be efficient and effective. But, the mere fact of using a computer does not itself mean that work is done more efficiently. It is also not necessary that better information is produced. Very often computers are introduced in an attempt to solve technical problem when the real problem is one concerned with management or other things. It is therefore essential that problems are clearly identified before a computer system is used.</a:t>
            </a:r>
          </a:p>
          <a:p>
            <a:pPr algn="just">
              <a:buNone/>
            </a:pPr>
            <a:r>
              <a:rPr lang="en-US" dirty="0" smtClean="0"/>
              <a:t>	</a:t>
            </a:r>
            <a:r>
              <a:rPr lang="en-US" b="1" dirty="0" smtClean="0">
                <a:solidFill>
                  <a:srgbClr val="FF0000"/>
                </a:solidFill>
              </a:rPr>
              <a:t>For clarity, the use of computers will be outlined in two broad categories:</a:t>
            </a:r>
          </a:p>
          <a:p>
            <a:pPr marL="514350" indent="-514350" algn="just">
              <a:buFont typeface="+mj-lt"/>
              <a:buAutoNum type="arabicPeriod"/>
            </a:pPr>
            <a:r>
              <a:rPr lang="en-US" i="1" dirty="0" smtClean="0">
                <a:solidFill>
                  <a:srgbClr val="0000CC"/>
                </a:solidFill>
              </a:rPr>
              <a:t>The routine processing of day-to-day transactions, known as data processing or transaction processing.</a:t>
            </a:r>
          </a:p>
          <a:p>
            <a:pPr marL="514350" indent="-514350" algn="just">
              <a:buFont typeface="+mj-lt"/>
              <a:buAutoNum type="arabicPeriod"/>
            </a:pPr>
            <a:r>
              <a:rPr lang="en-US" i="1" dirty="0" smtClean="0">
                <a:solidFill>
                  <a:srgbClr val="0000CC"/>
                </a:solidFill>
              </a:rPr>
              <a:t>The use of computers by the end-users themselves. The end users include mangers, accountants, office staff, sales people, executive and others.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5. Computers and MIS</a:t>
            </a:r>
            <a:endParaRPr lang="en-US" dirty="0"/>
          </a:p>
        </p:txBody>
      </p:sp>
      <p:sp>
        <p:nvSpPr>
          <p:cNvPr id="9" name="Content Placeholder 8"/>
          <p:cNvSpPr>
            <a:spLocks noGrp="1"/>
          </p:cNvSpPr>
          <p:nvPr>
            <p:ph idx="1"/>
          </p:nvPr>
        </p:nvSpPr>
        <p:spPr>
          <a:xfrm>
            <a:off x="457200" y="1189037"/>
            <a:ext cx="8229600" cy="5059363"/>
          </a:xfrm>
        </p:spPr>
        <p:txBody>
          <a:bodyPr>
            <a:normAutofit fontScale="92500" lnSpcReduction="20000"/>
          </a:bodyPr>
          <a:lstStyle/>
          <a:p>
            <a:pPr algn="just">
              <a:buNone/>
            </a:pPr>
            <a:r>
              <a:rPr lang="en-US" dirty="0" smtClean="0"/>
              <a:t>	</a:t>
            </a:r>
            <a:r>
              <a:rPr lang="en-US" i="1" dirty="0" smtClean="0"/>
              <a:t>Both data processing and end-user computing produce management information. The key difference is that data processing systems supply pre determined outputs and reports so there is less flexibility. This means that great care must be taken in analyzing and determining managements real information needs before the system is designed. </a:t>
            </a:r>
          </a:p>
          <a:p>
            <a:pPr algn="just">
              <a:buNone/>
            </a:pPr>
            <a:r>
              <a:rPr lang="en-US" dirty="0" smtClean="0"/>
              <a:t>	</a:t>
            </a:r>
            <a:r>
              <a:rPr lang="en-US" dirty="0" smtClean="0">
                <a:solidFill>
                  <a:srgbClr val="0000CC"/>
                </a:solidFill>
              </a:rPr>
              <a:t>On the other hand with end-user computing there is more flexibility and interaction so that the emphasis becomes one of supporting the end user rather than the production of a specified report.</a:t>
            </a:r>
          </a:p>
        </p:txBody>
      </p:sp>
      <p:sp>
        <p:nvSpPr>
          <p:cNvPr id="5" name="Slide Number Placeholder 4"/>
          <p:cNvSpPr>
            <a:spLocks noGrp="1"/>
          </p:cNvSpPr>
          <p:nvPr>
            <p:ph type="sldNum" sz="quarter" idx="12"/>
          </p:nvPr>
        </p:nvSpPr>
        <p:spPr/>
        <p:txBody>
          <a:bodyPr/>
          <a:lstStyle/>
          <a:p>
            <a:fld id="{D51081E8-3327-495A-9823-FC891E0968B6}" type="slidenum">
              <a:rPr lang="en-US" smtClean="0"/>
              <a:pPr/>
              <a:t>16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1189037"/>
            <a:ext cx="8229600" cy="5059363"/>
          </a:xfrm>
        </p:spPr>
        <p:txBody>
          <a:bodyPr>
            <a:normAutofit fontScale="85000" lnSpcReduction="20000"/>
          </a:bodyPr>
          <a:lstStyle/>
          <a:p>
            <a:pPr algn="just">
              <a:buNone/>
            </a:pPr>
            <a:r>
              <a:rPr lang="en-US" dirty="0" smtClean="0"/>
              <a:t>	</a:t>
            </a:r>
            <a:r>
              <a:rPr lang="en-US" dirty="0" smtClean="0">
                <a:solidFill>
                  <a:srgbClr val="0000CC"/>
                </a:solidFill>
              </a:rPr>
              <a:t>An </a:t>
            </a:r>
            <a:r>
              <a:rPr lang="en-US" b="1" dirty="0" smtClean="0">
                <a:solidFill>
                  <a:srgbClr val="0000CC"/>
                </a:solidFill>
              </a:rPr>
              <a:t>information system</a:t>
            </a:r>
            <a:r>
              <a:rPr lang="en-US" dirty="0" smtClean="0">
                <a:solidFill>
                  <a:srgbClr val="0000CC"/>
                </a:solidFill>
              </a:rPr>
              <a:t> is a collection of hardware, software, data, people and procedures that are designed to generate information that supports the day-to-day, short-range, and long-range activities of users in an organization.  Information systems generally are classified into four categories: </a:t>
            </a:r>
          </a:p>
          <a:p>
            <a:pPr>
              <a:buFontTx/>
              <a:buChar char="•"/>
            </a:pPr>
            <a:r>
              <a:rPr lang="en-US" b="1" dirty="0" smtClean="0">
                <a:cs typeface="Times New Roman" pitchFamily="18" charset="0"/>
              </a:rPr>
              <a:t>Transaction Processing Systems (TPS)</a:t>
            </a:r>
            <a:r>
              <a:rPr lang="en-US" b="1" dirty="0" smtClean="0"/>
              <a:t> </a:t>
            </a:r>
          </a:p>
          <a:p>
            <a:pPr>
              <a:buFontTx/>
              <a:buChar char="•"/>
            </a:pPr>
            <a:endParaRPr lang="en-US" b="1" dirty="0" smtClean="0">
              <a:cs typeface="Times New Roman" pitchFamily="18" charset="0"/>
            </a:endParaRPr>
          </a:p>
          <a:p>
            <a:pPr>
              <a:buFontTx/>
              <a:buChar char="•"/>
            </a:pPr>
            <a:r>
              <a:rPr lang="en-US" b="1" dirty="0" smtClean="0">
                <a:cs typeface="Times New Roman" pitchFamily="18" charset="0"/>
              </a:rPr>
              <a:t>Management Information Systems (MIS)</a:t>
            </a:r>
            <a:r>
              <a:rPr lang="en-US" b="1" dirty="0" smtClean="0"/>
              <a:t> </a:t>
            </a:r>
          </a:p>
          <a:p>
            <a:pPr>
              <a:buFontTx/>
              <a:buChar char="•"/>
            </a:pPr>
            <a:endParaRPr lang="en-US" b="1" dirty="0" smtClean="0"/>
          </a:p>
          <a:p>
            <a:pPr>
              <a:buFontTx/>
              <a:buChar char="•"/>
            </a:pPr>
            <a:r>
              <a:rPr lang="en-US" b="1" dirty="0" smtClean="0">
                <a:cs typeface="Times New Roman" pitchFamily="18" charset="0"/>
              </a:rPr>
              <a:t>Decision-Support Systems (DSS)</a:t>
            </a:r>
            <a:r>
              <a:rPr lang="en-US" b="1" dirty="0" smtClean="0"/>
              <a:t> </a:t>
            </a:r>
          </a:p>
          <a:p>
            <a:pPr>
              <a:buFontTx/>
              <a:buChar char="•"/>
            </a:pPr>
            <a:endParaRPr lang="en-US" b="1" dirty="0" smtClean="0"/>
          </a:p>
          <a:p>
            <a:pPr>
              <a:buFontTx/>
              <a:buChar char="•"/>
            </a:pPr>
            <a:r>
              <a:rPr lang="en-US" b="1" dirty="0" smtClean="0">
                <a:cs typeface="Times New Roman" pitchFamily="18" charset="0"/>
              </a:rPr>
              <a:t>Executive Support Systems (ESS)</a:t>
            </a:r>
            <a:r>
              <a:rPr lang="en-US" b="1" dirty="0" smtClean="0"/>
              <a:t> </a:t>
            </a:r>
            <a:endParaRPr lang="en-US" b="1"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17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1066800"/>
            <a:ext cx="8229600" cy="5334001"/>
          </a:xfrm>
        </p:spPr>
        <p:txBody>
          <a:bodyPr>
            <a:normAutofit fontScale="77500" lnSpcReduction="20000"/>
          </a:bodyPr>
          <a:lstStyle/>
          <a:p>
            <a:pPr algn="just">
              <a:buNone/>
            </a:pPr>
            <a:r>
              <a:rPr lang="en-US" b="1" dirty="0" smtClean="0"/>
              <a:t>	</a:t>
            </a:r>
            <a:r>
              <a:rPr lang="en-US" b="1" u="sng" dirty="0" smtClean="0">
                <a:solidFill>
                  <a:srgbClr val="FF0000"/>
                </a:solidFill>
              </a:rPr>
              <a:t>Transaction Processing Systems</a:t>
            </a:r>
          </a:p>
          <a:p>
            <a:pPr algn="just">
              <a:buNone/>
            </a:pPr>
            <a:r>
              <a:rPr lang="en-US" dirty="0" smtClean="0"/>
              <a:t>	</a:t>
            </a:r>
            <a:r>
              <a:rPr lang="en-US" i="1" dirty="0" smtClean="0">
                <a:solidFill>
                  <a:srgbClr val="0000CC"/>
                </a:solidFill>
              </a:rPr>
              <a:t>A transaction processing system (TPS) is an information system that captures and processes data generated during an organization’s day-to-day transactions.  A transaction is a business activity such as a deposit, payment, order or reservation.</a:t>
            </a:r>
          </a:p>
          <a:p>
            <a:pPr algn="just">
              <a:buFontTx/>
              <a:buChar char="•"/>
            </a:pPr>
            <a:r>
              <a:rPr lang="en-US" i="1" dirty="0" smtClean="0"/>
              <a:t>Basic business systems that serve the operational level.</a:t>
            </a:r>
          </a:p>
          <a:p>
            <a:pPr algn="just">
              <a:buFontTx/>
              <a:buChar char="•"/>
            </a:pPr>
            <a:r>
              <a:rPr lang="en-US" i="1" dirty="0" smtClean="0"/>
              <a:t>A computerized system that performs and records the daily routine transactions necessary to the conduct of the business.</a:t>
            </a:r>
          </a:p>
          <a:p>
            <a:pPr algn="just">
              <a:buFontTx/>
              <a:buChar char="•"/>
            </a:pPr>
            <a:r>
              <a:rPr lang="en-US" i="1" dirty="0" smtClean="0"/>
              <a:t>Today, most transaction processing systems use online transaction processing.  Some routine processing tasks such as calculating paychecks or printing invoices, however, are performed more effectively on a batch basis.  For these activities, many organizations still use batch processing techniques</a:t>
            </a:r>
            <a:r>
              <a:rPr lang="en-US" dirty="0" smtClean="0"/>
              <a:t>.</a:t>
            </a: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838201"/>
            <a:ext cx="8229600" cy="5410200"/>
          </a:xfrm>
        </p:spPr>
        <p:txBody>
          <a:bodyPr>
            <a:normAutofit/>
          </a:bodyPr>
          <a:lstStyle/>
          <a:p>
            <a:pPr algn="just">
              <a:buNone/>
            </a:pPr>
            <a:r>
              <a:rPr lang="en-US" b="1" u="sng" dirty="0" smtClean="0">
                <a:solidFill>
                  <a:srgbClr val="FF0000"/>
                </a:solidFill>
                <a:cs typeface="Times New Roman" pitchFamily="18" charset="0"/>
              </a:rPr>
              <a:t>A Symbolic Representation for a Payroll TPS </a:t>
            </a: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19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57201" y="1447800"/>
            <a:ext cx="8382000" cy="487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914401"/>
            <a:ext cx="8229600" cy="5334000"/>
          </a:xfrm>
        </p:spPr>
        <p:txBody>
          <a:bodyPr>
            <a:normAutofit fontScale="62500" lnSpcReduction="20000"/>
          </a:bodyPr>
          <a:lstStyle/>
          <a:p>
            <a:pPr algn="just">
              <a:lnSpc>
                <a:spcPct val="80000"/>
              </a:lnSpc>
              <a:buNone/>
            </a:pPr>
            <a:r>
              <a:rPr lang="en-US" sz="3800" b="1" u="sng" dirty="0" smtClean="0">
                <a:solidFill>
                  <a:srgbClr val="FF0000"/>
                </a:solidFill>
                <a:cs typeface="Times New Roman" pitchFamily="18" charset="0"/>
              </a:rPr>
              <a:t>Management Information Systems (MIS)   </a:t>
            </a:r>
          </a:p>
          <a:p>
            <a:pPr algn="just">
              <a:lnSpc>
                <a:spcPct val="80000"/>
              </a:lnSpc>
              <a:buNone/>
            </a:pPr>
            <a:r>
              <a:rPr lang="en-US" b="1" dirty="0" smtClean="0">
                <a:solidFill>
                  <a:srgbClr val="000000"/>
                </a:solidFill>
                <a:cs typeface="Times New Roman" pitchFamily="18" charset="0"/>
              </a:rPr>
              <a:t>Management level</a:t>
            </a:r>
          </a:p>
          <a:p>
            <a:pPr algn="just">
              <a:lnSpc>
                <a:spcPct val="80000"/>
              </a:lnSpc>
              <a:buFontTx/>
              <a:buChar char="•"/>
            </a:pPr>
            <a:r>
              <a:rPr lang="en-US" dirty="0" smtClean="0">
                <a:solidFill>
                  <a:srgbClr val="A50021"/>
                </a:solidFill>
              </a:rPr>
              <a:t>Inputs:</a:t>
            </a:r>
            <a:r>
              <a:rPr lang="en-US" dirty="0" smtClean="0">
                <a:solidFill>
                  <a:srgbClr val="000000"/>
                </a:solidFill>
              </a:rPr>
              <a:t> </a:t>
            </a:r>
            <a:r>
              <a:rPr lang="en-US" dirty="0" smtClean="0">
                <a:solidFill>
                  <a:srgbClr val="000000"/>
                </a:solidFill>
                <a:cs typeface="Times New Roman" pitchFamily="18" charset="0"/>
              </a:rPr>
              <a:t>High volume transaction level data</a:t>
            </a:r>
            <a:r>
              <a:rPr lang="en-US" dirty="0" smtClean="0">
                <a:solidFill>
                  <a:srgbClr val="000000"/>
                </a:solidFill>
              </a:rPr>
              <a:t> </a:t>
            </a:r>
          </a:p>
          <a:p>
            <a:pPr algn="just">
              <a:lnSpc>
                <a:spcPct val="80000"/>
              </a:lnSpc>
              <a:buFontTx/>
              <a:buChar char="•"/>
            </a:pPr>
            <a:r>
              <a:rPr lang="en-US" dirty="0" smtClean="0">
                <a:solidFill>
                  <a:srgbClr val="A50021"/>
                </a:solidFill>
              </a:rPr>
              <a:t>Processing:</a:t>
            </a:r>
            <a:r>
              <a:rPr lang="en-US" dirty="0" smtClean="0">
                <a:solidFill>
                  <a:srgbClr val="000000"/>
                </a:solidFill>
              </a:rPr>
              <a:t> Simple models</a:t>
            </a:r>
          </a:p>
          <a:p>
            <a:pPr algn="just">
              <a:lnSpc>
                <a:spcPct val="80000"/>
              </a:lnSpc>
              <a:buFontTx/>
              <a:buChar char="•"/>
            </a:pPr>
            <a:r>
              <a:rPr lang="en-US" dirty="0" smtClean="0">
                <a:solidFill>
                  <a:srgbClr val="A50021"/>
                </a:solidFill>
              </a:rPr>
              <a:t>Outputs:</a:t>
            </a:r>
            <a:r>
              <a:rPr lang="en-US" dirty="0" smtClean="0">
                <a:solidFill>
                  <a:srgbClr val="000000"/>
                </a:solidFill>
              </a:rPr>
              <a:t> Summary reports</a:t>
            </a:r>
          </a:p>
          <a:p>
            <a:pPr algn="just">
              <a:lnSpc>
                <a:spcPct val="80000"/>
              </a:lnSpc>
              <a:buFontTx/>
              <a:buChar char="•"/>
            </a:pPr>
            <a:r>
              <a:rPr lang="en-US" dirty="0" smtClean="0">
                <a:solidFill>
                  <a:srgbClr val="A50021"/>
                </a:solidFill>
                <a:cs typeface="Times New Roman" pitchFamily="18" charset="0"/>
              </a:rPr>
              <a:t>Users:</a:t>
            </a:r>
            <a:r>
              <a:rPr lang="en-US" dirty="0" smtClean="0">
                <a:solidFill>
                  <a:srgbClr val="000000"/>
                </a:solidFill>
                <a:cs typeface="Times New Roman" pitchFamily="18" charset="0"/>
              </a:rPr>
              <a:t> Middle managers</a:t>
            </a:r>
          </a:p>
          <a:p>
            <a:pPr algn="just">
              <a:lnSpc>
                <a:spcPct val="80000"/>
              </a:lnSpc>
              <a:buNone/>
            </a:pPr>
            <a:r>
              <a:rPr lang="en-US" b="1" dirty="0" smtClean="0">
                <a:solidFill>
                  <a:srgbClr val="000000"/>
                </a:solidFill>
                <a:cs typeface="Times New Roman" pitchFamily="18" charset="0"/>
              </a:rPr>
              <a:t>Example: Annual budgeting</a:t>
            </a:r>
            <a:r>
              <a:rPr lang="en-US" b="1" dirty="0" smtClean="0"/>
              <a:t> </a:t>
            </a:r>
          </a:p>
          <a:p>
            <a:pPr algn="just">
              <a:lnSpc>
                <a:spcPct val="80000"/>
              </a:lnSpc>
              <a:buNone/>
            </a:pPr>
            <a:endParaRPr lang="en-US" b="1" dirty="0" smtClean="0"/>
          </a:p>
          <a:p>
            <a:pPr algn="just">
              <a:lnSpc>
                <a:spcPct val="80000"/>
              </a:lnSpc>
              <a:buNone/>
            </a:pPr>
            <a:r>
              <a:rPr lang="en-US" dirty="0" smtClean="0"/>
              <a:t> 	</a:t>
            </a:r>
            <a:r>
              <a:rPr lang="en-US" i="1" dirty="0" smtClean="0">
                <a:solidFill>
                  <a:srgbClr val="0000CC"/>
                </a:solidFill>
              </a:rPr>
              <a:t>A </a:t>
            </a:r>
            <a:r>
              <a:rPr lang="en-US" b="1" i="1" dirty="0" smtClean="0">
                <a:solidFill>
                  <a:srgbClr val="0000CC"/>
                </a:solidFill>
              </a:rPr>
              <a:t>management information system, </a:t>
            </a:r>
            <a:r>
              <a:rPr lang="en-US" i="1" dirty="0" smtClean="0">
                <a:solidFill>
                  <a:srgbClr val="0000CC"/>
                </a:solidFill>
              </a:rPr>
              <a:t>or </a:t>
            </a:r>
            <a:r>
              <a:rPr lang="en-US" b="1" i="1" dirty="0" smtClean="0">
                <a:solidFill>
                  <a:srgbClr val="0000CC"/>
                </a:solidFill>
              </a:rPr>
              <a:t>MIS (</a:t>
            </a:r>
            <a:r>
              <a:rPr lang="en-US" i="1" dirty="0" smtClean="0">
                <a:solidFill>
                  <a:srgbClr val="0000CC"/>
                </a:solidFill>
              </a:rPr>
              <a:t>pronounced </a:t>
            </a:r>
            <a:r>
              <a:rPr lang="en-US" i="1" dirty="0" err="1" smtClean="0">
                <a:solidFill>
                  <a:srgbClr val="0000CC"/>
                </a:solidFill>
              </a:rPr>
              <a:t>em</a:t>
            </a:r>
            <a:r>
              <a:rPr lang="en-US" i="1" dirty="0" smtClean="0">
                <a:solidFill>
                  <a:srgbClr val="0000CC"/>
                </a:solidFill>
              </a:rPr>
              <a:t>-eye-</a:t>
            </a:r>
            <a:r>
              <a:rPr lang="en-US" i="1" dirty="0" err="1" smtClean="0">
                <a:solidFill>
                  <a:srgbClr val="0000CC"/>
                </a:solidFill>
              </a:rPr>
              <a:t>ess</a:t>
            </a:r>
            <a:r>
              <a:rPr lang="en-US" i="1" dirty="0" smtClean="0">
                <a:solidFill>
                  <a:srgbClr val="0000CC"/>
                </a:solidFill>
              </a:rPr>
              <a:t>), is an information system that generates accurate, timely and organized information so managers and other users can make decisions, solve problems, supervise activities, and track progress.  Because it generates reports on a regular basis, a management information system sometimes is called a </a:t>
            </a:r>
            <a:r>
              <a:rPr lang="en-US" b="1" i="1" dirty="0" smtClean="0">
                <a:solidFill>
                  <a:srgbClr val="0000CC"/>
                </a:solidFill>
              </a:rPr>
              <a:t>management reporting system (MRS).</a:t>
            </a:r>
          </a:p>
          <a:p>
            <a:pPr algn="just">
              <a:lnSpc>
                <a:spcPct val="80000"/>
              </a:lnSpc>
              <a:buNone/>
            </a:pPr>
            <a:r>
              <a:rPr lang="en-US" dirty="0" smtClean="0"/>
              <a:t>	</a:t>
            </a:r>
          </a:p>
          <a:p>
            <a:pPr algn="just">
              <a:lnSpc>
                <a:spcPct val="80000"/>
              </a:lnSpc>
              <a:buNone/>
            </a:pPr>
            <a:r>
              <a:rPr lang="en-US" dirty="0" smtClean="0"/>
              <a:t>	</a:t>
            </a:r>
            <a:r>
              <a:rPr lang="en-US" i="1" dirty="0" smtClean="0"/>
              <a:t>An MIS generates three basic types of information:  detailed, summary and exception.  </a:t>
            </a:r>
            <a:r>
              <a:rPr lang="en-US" b="1" i="1" dirty="0" smtClean="0"/>
              <a:t>Detailed information </a:t>
            </a:r>
            <a:r>
              <a:rPr lang="en-US" i="1" dirty="0" smtClean="0"/>
              <a:t> typically confirms transaction processing activities.  A Detailed Order Report is an example of a </a:t>
            </a:r>
            <a:r>
              <a:rPr lang="en-US" b="1" i="1" dirty="0" smtClean="0"/>
              <a:t>detail report.  Summary information </a:t>
            </a:r>
            <a:r>
              <a:rPr lang="en-US" i="1" dirty="0" smtClean="0"/>
              <a:t>consolidates data into a format that an individual can review quickly and easily.  To help synopsize information, a summary report typically contains totals, tables, or graphs. An Inventory Summary Report is an example of a </a:t>
            </a:r>
            <a:r>
              <a:rPr lang="en-US" b="1" i="1" dirty="0" smtClean="0"/>
              <a:t>summary report</a:t>
            </a:r>
          </a:p>
          <a:p>
            <a:pPr algn="just">
              <a:lnSpc>
                <a:spcPct val="80000"/>
              </a:lnSpc>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1189037"/>
            <a:ext cx="8229600" cy="5059363"/>
          </a:xfrm>
        </p:spPr>
        <p:txBody>
          <a:bodyPr>
            <a:normAutofit/>
          </a:bodyPr>
          <a:lstStyle/>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21</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33400" y="914400"/>
            <a:ext cx="8153400" cy="5200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1066801"/>
            <a:ext cx="8229600" cy="5181600"/>
          </a:xfrm>
        </p:spPr>
        <p:txBody>
          <a:bodyPr>
            <a:normAutofit fontScale="62500" lnSpcReduction="20000"/>
          </a:bodyPr>
          <a:lstStyle/>
          <a:p>
            <a:pPr algn="just">
              <a:lnSpc>
                <a:spcPct val="90000"/>
              </a:lnSpc>
              <a:buNone/>
            </a:pPr>
            <a:r>
              <a:rPr lang="en-US" sz="3800" b="1" u="sng" dirty="0" smtClean="0">
                <a:solidFill>
                  <a:srgbClr val="FF0000"/>
                </a:solidFill>
                <a:cs typeface="Times New Roman" pitchFamily="18" charset="0"/>
              </a:rPr>
              <a:t>Decision-Support Systems (DSS) </a:t>
            </a:r>
            <a:endParaRPr lang="en-US" sz="3800" b="1" u="sng" dirty="0" smtClean="0">
              <a:solidFill>
                <a:srgbClr val="FF0000"/>
              </a:solidFill>
              <a:cs typeface="Arial" pitchFamily="34" charset="0"/>
            </a:endParaRPr>
          </a:p>
          <a:p>
            <a:pPr algn="just">
              <a:lnSpc>
                <a:spcPct val="90000"/>
              </a:lnSpc>
              <a:buNone/>
            </a:pPr>
            <a:r>
              <a:rPr lang="en-US" b="1" dirty="0" smtClean="0">
                <a:cs typeface="Arial" pitchFamily="34" charset="0"/>
              </a:rPr>
              <a:t>Management level</a:t>
            </a:r>
            <a:endParaRPr lang="en-US" b="1" dirty="0" smtClean="0">
              <a:cs typeface="Times New Roman" pitchFamily="18" charset="0"/>
            </a:endParaRPr>
          </a:p>
          <a:p>
            <a:pPr algn="just">
              <a:lnSpc>
                <a:spcPct val="90000"/>
              </a:lnSpc>
              <a:buFontTx/>
              <a:buChar char="•"/>
            </a:pPr>
            <a:r>
              <a:rPr lang="en-US" dirty="0" smtClean="0">
                <a:solidFill>
                  <a:srgbClr val="A50021"/>
                </a:solidFill>
                <a:cs typeface="Arial" pitchFamily="34" charset="0"/>
              </a:rPr>
              <a:t>Inputs:</a:t>
            </a:r>
            <a:r>
              <a:rPr lang="en-US" dirty="0" smtClean="0">
                <a:cs typeface="Arial" pitchFamily="34" charset="0"/>
              </a:rPr>
              <a:t> </a:t>
            </a:r>
            <a:r>
              <a:rPr lang="en-US" dirty="0" smtClean="0">
                <a:cs typeface="Times New Roman" pitchFamily="18" charset="0"/>
              </a:rPr>
              <a:t>Transaction level data</a:t>
            </a:r>
            <a:r>
              <a:rPr lang="en-US" dirty="0" smtClean="0">
                <a:cs typeface="Arial" pitchFamily="34" charset="0"/>
              </a:rPr>
              <a:t> </a:t>
            </a:r>
          </a:p>
          <a:p>
            <a:pPr algn="just">
              <a:lnSpc>
                <a:spcPct val="90000"/>
              </a:lnSpc>
              <a:buFontTx/>
              <a:buChar char="•"/>
            </a:pPr>
            <a:r>
              <a:rPr lang="en-US" dirty="0" smtClean="0">
                <a:solidFill>
                  <a:srgbClr val="A50021"/>
                </a:solidFill>
                <a:cs typeface="Arial" pitchFamily="34" charset="0"/>
              </a:rPr>
              <a:t>Processing:</a:t>
            </a:r>
            <a:r>
              <a:rPr lang="en-US" dirty="0" smtClean="0">
                <a:cs typeface="Arial" pitchFamily="34" charset="0"/>
              </a:rPr>
              <a:t> Interactive</a:t>
            </a:r>
          </a:p>
          <a:p>
            <a:pPr algn="just">
              <a:lnSpc>
                <a:spcPct val="90000"/>
              </a:lnSpc>
              <a:buFontTx/>
              <a:buChar char="•"/>
            </a:pPr>
            <a:r>
              <a:rPr lang="en-US" dirty="0" smtClean="0">
                <a:solidFill>
                  <a:srgbClr val="A50021"/>
                </a:solidFill>
                <a:cs typeface="Arial" pitchFamily="34" charset="0"/>
              </a:rPr>
              <a:t>Outputs:</a:t>
            </a:r>
            <a:r>
              <a:rPr lang="en-US" dirty="0" smtClean="0">
                <a:cs typeface="Arial" pitchFamily="34" charset="0"/>
              </a:rPr>
              <a:t> Decision analysis</a:t>
            </a:r>
          </a:p>
          <a:p>
            <a:pPr algn="just">
              <a:lnSpc>
                <a:spcPct val="90000"/>
              </a:lnSpc>
              <a:buFontTx/>
              <a:buChar char="•"/>
            </a:pPr>
            <a:r>
              <a:rPr lang="en-US" dirty="0" smtClean="0">
                <a:solidFill>
                  <a:srgbClr val="A50021"/>
                </a:solidFill>
                <a:cs typeface="Arial" pitchFamily="34" charset="0"/>
              </a:rPr>
              <a:t>Users:</a:t>
            </a:r>
            <a:r>
              <a:rPr lang="en-US" dirty="0" smtClean="0">
                <a:cs typeface="Arial" pitchFamily="34" charset="0"/>
              </a:rPr>
              <a:t> Professionals, staff</a:t>
            </a:r>
          </a:p>
          <a:p>
            <a:pPr algn="just">
              <a:lnSpc>
                <a:spcPct val="90000"/>
              </a:lnSpc>
              <a:buNone/>
            </a:pPr>
            <a:r>
              <a:rPr lang="en-US" b="1" dirty="0" smtClean="0">
                <a:cs typeface="Times New Roman" pitchFamily="18" charset="0"/>
              </a:rPr>
              <a:t>Example:  Contract cost analysis</a:t>
            </a:r>
          </a:p>
          <a:p>
            <a:pPr algn="just">
              <a:buNone/>
            </a:pPr>
            <a:r>
              <a:rPr lang="en-US" dirty="0" smtClean="0"/>
              <a:t>	</a:t>
            </a:r>
          </a:p>
          <a:p>
            <a:pPr algn="just">
              <a:buNone/>
            </a:pPr>
            <a:r>
              <a:rPr lang="en-US" dirty="0" smtClean="0"/>
              <a:t>	</a:t>
            </a:r>
            <a:r>
              <a:rPr lang="en-US" i="1" dirty="0" smtClean="0">
                <a:solidFill>
                  <a:srgbClr val="0000CC"/>
                </a:solidFill>
              </a:rPr>
              <a:t>A </a:t>
            </a:r>
            <a:r>
              <a:rPr lang="en-US" b="1" i="1" dirty="0" smtClean="0">
                <a:solidFill>
                  <a:srgbClr val="0000CC"/>
                </a:solidFill>
              </a:rPr>
              <a:t>decision support system (DSS)</a:t>
            </a:r>
            <a:r>
              <a:rPr lang="en-US" i="1" dirty="0" smtClean="0">
                <a:solidFill>
                  <a:srgbClr val="0000CC"/>
                </a:solidFill>
              </a:rPr>
              <a:t> is an information system designed to help users reach a decision when a decision-making situation arises.  A variety of DSSs exist to help with a range of decisions. A decision support system uses data from internal and/or external sources</a:t>
            </a:r>
            <a:r>
              <a:rPr lang="en-US" dirty="0" smtClean="0"/>
              <a:t>.</a:t>
            </a:r>
          </a:p>
          <a:p>
            <a:pPr algn="just">
              <a:buNone/>
            </a:pPr>
            <a:r>
              <a:rPr lang="en-US" b="1" dirty="0" smtClean="0"/>
              <a:t>	Internal sources</a:t>
            </a:r>
            <a:r>
              <a:rPr lang="en-US" dirty="0" smtClean="0"/>
              <a:t> of data might include sales, manufacturing, inventory, or financial data from an organization’s database.  Data from </a:t>
            </a:r>
            <a:r>
              <a:rPr lang="en-US" b="1" dirty="0" smtClean="0"/>
              <a:t>external sources</a:t>
            </a:r>
            <a:r>
              <a:rPr lang="en-US" dirty="0" smtClean="0"/>
              <a:t> could include interest rates, population trends, and costs of new housing construction or raw material pricing.  Users of a DSS, often managers, can manipulate the data used in the DSS to help with decisions.</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22</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838201"/>
            <a:ext cx="8229600" cy="5410200"/>
          </a:xfrm>
        </p:spPr>
        <p:txBody>
          <a:bodyPr>
            <a:normAutofit/>
          </a:bodyPr>
          <a:lstStyle/>
          <a:p>
            <a:pPr algn="just">
              <a:buNone/>
            </a:pPr>
            <a:r>
              <a:rPr lang="en-US" b="1" u="sng" dirty="0" smtClean="0">
                <a:solidFill>
                  <a:srgbClr val="FF0000"/>
                </a:solidFill>
                <a:cs typeface="Times New Roman" pitchFamily="18" charset="0"/>
              </a:rPr>
              <a:t>Voyage-estimating decision-support system</a:t>
            </a:r>
            <a:endParaRPr lang="en-US" b="1" u="sng" dirty="0" smtClean="0">
              <a:solidFill>
                <a:srgbClr val="FF0000"/>
              </a:solidFill>
            </a:endParaRP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23</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381001" y="1447800"/>
            <a:ext cx="8305800" cy="46640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990601"/>
            <a:ext cx="8229600" cy="5257800"/>
          </a:xfrm>
        </p:spPr>
        <p:txBody>
          <a:bodyPr>
            <a:normAutofit fontScale="70000" lnSpcReduction="20000"/>
          </a:bodyPr>
          <a:lstStyle/>
          <a:p>
            <a:pPr algn="just">
              <a:buNone/>
            </a:pPr>
            <a:r>
              <a:rPr lang="en-US" sz="3800" b="1" u="sng" dirty="0" smtClean="0">
                <a:solidFill>
                  <a:srgbClr val="FF0000"/>
                </a:solidFill>
                <a:cs typeface="Times New Roman" pitchFamily="18" charset="0"/>
              </a:rPr>
              <a:t>EXECUTIVE SUPPORT SYSTEMS (ESS)</a:t>
            </a:r>
          </a:p>
          <a:p>
            <a:pPr algn="just">
              <a:buNone/>
            </a:pPr>
            <a:r>
              <a:rPr lang="en-US" b="1" dirty="0" smtClean="0">
                <a:cs typeface="Arial" pitchFamily="34" charset="0"/>
              </a:rPr>
              <a:t>Management level</a:t>
            </a:r>
          </a:p>
          <a:p>
            <a:pPr algn="just">
              <a:buFontTx/>
              <a:buChar char="•"/>
            </a:pPr>
            <a:r>
              <a:rPr lang="en-US" dirty="0" smtClean="0">
                <a:solidFill>
                  <a:srgbClr val="A50021"/>
                </a:solidFill>
                <a:cs typeface="Arial" pitchFamily="34" charset="0"/>
              </a:rPr>
              <a:t>Inputs:</a:t>
            </a:r>
            <a:r>
              <a:rPr lang="en-US" dirty="0" smtClean="0">
                <a:cs typeface="Arial" pitchFamily="34" charset="0"/>
              </a:rPr>
              <a:t> </a:t>
            </a:r>
            <a:r>
              <a:rPr lang="en-US" dirty="0" smtClean="0">
                <a:solidFill>
                  <a:srgbClr val="000000"/>
                </a:solidFill>
                <a:cs typeface="Times New Roman" pitchFamily="18" charset="0"/>
              </a:rPr>
              <a:t>Aggregate data</a:t>
            </a:r>
            <a:r>
              <a:rPr lang="en-US" dirty="0" smtClean="0">
                <a:cs typeface="Arial" pitchFamily="34" charset="0"/>
              </a:rPr>
              <a:t> </a:t>
            </a:r>
          </a:p>
          <a:p>
            <a:pPr algn="just">
              <a:buFontTx/>
              <a:buChar char="•"/>
            </a:pPr>
            <a:r>
              <a:rPr lang="en-US" dirty="0" smtClean="0">
                <a:solidFill>
                  <a:srgbClr val="A50021"/>
                </a:solidFill>
                <a:cs typeface="Arial" pitchFamily="34" charset="0"/>
              </a:rPr>
              <a:t>Processing:</a:t>
            </a:r>
            <a:r>
              <a:rPr lang="en-US" dirty="0" smtClean="0">
                <a:cs typeface="Arial" pitchFamily="34" charset="0"/>
              </a:rPr>
              <a:t> </a:t>
            </a:r>
            <a:r>
              <a:rPr lang="en-US" dirty="0" smtClean="0">
                <a:solidFill>
                  <a:srgbClr val="000000"/>
                </a:solidFill>
                <a:cs typeface="Times New Roman" pitchFamily="18" charset="0"/>
              </a:rPr>
              <a:t>Interactive </a:t>
            </a:r>
          </a:p>
          <a:p>
            <a:pPr algn="just">
              <a:buFontTx/>
              <a:buChar char="•"/>
            </a:pPr>
            <a:r>
              <a:rPr lang="en-US" dirty="0" smtClean="0">
                <a:solidFill>
                  <a:srgbClr val="A50021"/>
                </a:solidFill>
                <a:cs typeface="Arial" pitchFamily="34" charset="0"/>
              </a:rPr>
              <a:t>Outputs:</a:t>
            </a:r>
            <a:r>
              <a:rPr lang="en-US" dirty="0" smtClean="0">
                <a:cs typeface="Arial" pitchFamily="34" charset="0"/>
              </a:rPr>
              <a:t> </a:t>
            </a:r>
            <a:r>
              <a:rPr lang="en-US" dirty="0" smtClean="0">
                <a:solidFill>
                  <a:srgbClr val="000000"/>
                </a:solidFill>
                <a:cs typeface="Times New Roman" pitchFamily="18" charset="0"/>
              </a:rPr>
              <a:t>Projections</a:t>
            </a:r>
            <a:r>
              <a:rPr lang="en-US" dirty="0" smtClean="0">
                <a:cs typeface="Arial" pitchFamily="34" charset="0"/>
              </a:rPr>
              <a:t> </a:t>
            </a:r>
          </a:p>
          <a:p>
            <a:pPr algn="just">
              <a:buFontTx/>
              <a:buChar char="•"/>
            </a:pPr>
            <a:r>
              <a:rPr lang="en-US" dirty="0" smtClean="0">
                <a:solidFill>
                  <a:srgbClr val="A50021"/>
                </a:solidFill>
                <a:cs typeface="Arial" pitchFamily="34" charset="0"/>
              </a:rPr>
              <a:t>Users:</a:t>
            </a:r>
            <a:r>
              <a:rPr lang="en-US" dirty="0" smtClean="0">
                <a:cs typeface="Arial" pitchFamily="34" charset="0"/>
              </a:rPr>
              <a:t> </a:t>
            </a:r>
            <a:r>
              <a:rPr lang="en-US" dirty="0" smtClean="0">
                <a:solidFill>
                  <a:srgbClr val="000000"/>
                </a:solidFill>
                <a:cs typeface="Times New Roman" pitchFamily="18" charset="0"/>
              </a:rPr>
              <a:t>Senior managers</a:t>
            </a:r>
          </a:p>
          <a:p>
            <a:pPr algn="just">
              <a:buNone/>
            </a:pPr>
            <a:r>
              <a:rPr lang="en-US" b="1" dirty="0" smtClean="0">
                <a:cs typeface="Times New Roman" pitchFamily="18" charset="0"/>
              </a:rPr>
              <a:t>Example: </a:t>
            </a:r>
            <a:r>
              <a:rPr lang="en-US" b="1" dirty="0" smtClean="0">
                <a:solidFill>
                  <a:srgbClr val="000000"/>
                </a:solidFill>
                <a:cs typeface="Times New Roman" pitchFamily="18" charset="0"/>
              </a:rPr>
              <a:t>5 year operating plan</a:t>
            </a:r>
            <a:r>
              <a:rPr lang="en-US" b="1" dirty="0" smtClean="0">
                <a:cs typeface="Times New Roman" pitchFamily="18" charset="0"/>
              </a:rPr>
              <a:t> </a:t>
            </a:r>
          </a:p>
          <a:p>
            <a:pPr algn="just">
              <a:buNone/>
            </a:pPr>
            <a:r>
              <a:rPr lang="en-US" dirty="0" smtClean="0"/>
              <a:t>	</a:t>
            </a:r>
          </a:p>
          <a:p>
            <a:pPr algn="just">
              <a:buNone/>
            </a:pPr>
            <a:r>
              <a:rPr lang="en-US" dirty="0" smtClean="0"/>
              <a:t>	</a:t>
            </a:r>
            <a:r>
              <a:rPr lang="en-US" i="1" dirty="0" smtClean="0"/>
              <a:t>An </a:t>
            </a:r>
            <a:r>
              <a:rPr lang="en-US" b="1" i="1" dirty="0" smtClean="0"/>
              <a:t>expert system</a:t>
            </a:r>
            <a:r>
              <a:rPr lang="en-US" i="1" dirty="0" smtClean="0"/>
              <a:t>  is an information system that captures and stores the knowledge of human experts and then imitates human reasoning and decision-making processes for those who have less expertise. Expert systems are composed of two main components:  a knowledge base and inference rules.  A </a:t>
            </a:r>
            <a:r>
              <a:rPr lang="en-US" b="1" i="1" dirty="0" smtClean="0"/>
              <a:t>knowledge base </a:t>
            </a:r>
            <a:r>
              <a:rPr lang="en-US" i="1" dirty="0" smtClean="0"/>
              <a:t>is the combined subject knowledge and experiences of the human experts.  The </a:t>
            </a:r>
            <a:r>
              <a:rPr lang="en-US" b="1" i="1" dirty="0" smtClean="0"/>
              <a:t>inference rules </a:t>
            </a:r>
            <a:r>
              <a:rPr lang="en-US" i="1" dirty="0" smtClean="0"/>
              <a:t>are a set of logical judgments applied to the knowledge base each time a user describes a situation to the expert system.</a:t>
            </a:r>
            <a:endParaRPr lang="en-US" b="1" i="1" dirty="0" smtClean="0">
              <a:cs typeface="Times New Roman" pitchFamily="18" charset="0"/>
            </a:endParaRP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24</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838201"/>
            <a:ext cx="8229600" cy="5410200"/>
          </a:xfrm>
        </p:spPr>
        <p:txBody>
          <a:bodyPr>
            <a:normAutofit/>
          </a:bodyPr>
          <a:lstStyle/>
          <a:p>
            <a:pPr algn="just">
              <a:buNone/>
            </a:pPr>
            <a:r>
              <a:rPr lang="en-US" b="1" u="sng" dirty="0" smtClean="0">
                <a:solidFill>
                  <a:srgbClr val="FF0000"/>
                </a:solidFill>
                <a:cs typeface="Times New Roman" pitchFamily="18" charset="0"/>
              </a:rPr>
              <a:t>Model of a Typical Executive Support System</a:t>
            </a:r>
            <a:r>
              <a:rPr lang="en-US" b="1" u="sng" dirty="0" smtClean="0">
                <a:solidFill>
                  <a:srgbClr val="FF0000"/>
                </a:solidFill>
                <a:cs typeface="Arial" pitchFamily="34" charset="0"/>
              </a:rPr>
              <a:t>  </a:t>
            </a: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25</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609600" y="1447800"/>
            <a:ext cx="7943850" cy="4895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914401"/>
            <a:ext cx="8229600" cy="5334000"/>
          </a:xfrm>
        </p:spPr>
        <p:txBody>
          <a:bodyPr>
            <a:normAutofit fontScale="85000" lnSpcReduction="20000"/>
          </a:bodyPr>
          <a:lstStyle/>
          <a:p>
            <a:pPr algn="just">
              <a:buNone/>
            </a:pPr>
            <a:r>
              <a:rPr lang="en-US" b="1" dirty="0" smtClean="0"/>
              <a:t>	</a:t>
            </a:r>
            <a:r>
              <a:rPr lang="en-US" b="1" u="sng" dirty="0" smtClean="0">
                <a:solidFill>
                  <a:srgbClr val="FF0000"/>
                </a:solidFill>
              </a:rPr>
              <a:t>Integrated Information Systems</a:t>
            </a:r>
            <a:endParaRPr lang="en-US" u="sng" dirty="0" smtClean="0">
              <a:solidFill>
                <a:srgbClr val="FF0000"/>
              </a:solidFill>
            </a:endParaRPr>
          </a:p>
          <a:p>
            <a:pPr algn="just">
              <a:buNone/>
            </a:pPr>
            <a:r>
              <a:rPr lang="en-US" dirty="0" smtClean="0"/>
              <a:t>	</a:t>
            </a:r>
            <a:r>
              <a:rPr lang="en-US" i="1" dirty="0" smtClean="0"/>
              <a:t>With today’s sophisticated hardware, software and communications technologies, it often is difficult to classify a system as belonging uniquely to one of the five information system types discussed.  Much of today’s application software supports transaction processing and generates management information.</a:t>
            </a:r>
            <a:r>
              <a:rPr lang="en-US" dirty="0" smtClean="0"/>
              <a:t>  </a:t>
            </a:r>
          </a:p>
          <a:p>
            <a:pPr algn="just">
              <a:buNone/>
            </a:pPr>
            <a:r>
              <a:rPr lang="en-US" dirty="0" smtClean="0"/>
              <a:t>	</a:t>
            </a:r>
          </a:p>
          <a:p>
            <a:pPr algn="just">
              <a:buNone/>
            </a:pPr>
            <a:r>
              <a:rPr lang="en-US" dirty="0" smtClean="0"/>
              <a:t>	</a:t>
            </a:r>
            <a:r>
              <a:rPr lang="en-US" dirty="0" smtClean="0">
                <a:solidFill>
                  <a:srgbClr val="0000CC"/>
                </a:solidFill>
              </a:rPr>
              <a:t>Other applications provide transaction processing, management information, and decision support.  Although expert systems still operate primarily as separate systems, organizations increasingly are consolidating their information needs into a single, integrated information system.</a:t>
            </a:r>
          </a:p>
          <a:p>
            <a:pPr algn="just">
              <a:buNone/>
            </a:pPr>
            <a:endParaRPr lang="en-US" dirty="0" smtClean="0"/>
          </a:p>
        </p:txBody>
      </p:sp>
      <p:sp>
        <p:nvSpPr>
          <p:cNvPr id="5" name="Slide Number Placeholder 4"/>
          <p:cNvSpPr>
            <a:spLocks noGrp="1"/>
          </p:cNvSpPr>
          <p:nvPr>
            <p:ph type="sldNum" sz="quarter" idx="12"/>
          </p:nvPr>
        </p:nvSpPr>
        <p:spPr/>
        <p:txBody>
          <a:bodyPr/>
          <a:lstStyle/>
          <a:p>
            <a:fld id="{D51081E8-3327-495A-9823-FC891E0968B6}" type="slidenum">
              <a:rPr lang="en-US" smtClean="0"/>
              <a:pPr/>
              <a:t>26</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3200" dirty="0" smtClean="0"/>
              <a:t>6. Classification of Information Systems</a:t>
            </a:r>
            <a:endParaRPr lang="en-US" sz="3200" dirty="0"/>
          </a:p>
        </p:txBody>
      </p:sp>
      <p:sp>
        <p:nvSpPr>
          <p:cNvPr id="9" name="Content Placeholder 8"/>
          <p:cNvSpPr>
            <a:spLocks noGrp="1"/>
          </p:cNvSpPr>
          <p:nvPr>
            <p:ph idx="1"/>
          </p:nvPr>
        </p:nvSpPr>
        <p:spPr>
          <a:xfrm>
            <a:off x="457200" y="914401"/>
            <a:ext cx="8229600" cy="5334000"/>
          </a:xfrm>
        </p:spPr>
        <p:txBody>
          <a:bodyPr>
            <a:normAutofit/>
          </a:bodyPr>
          <a:lstStyle/>
          <a:p>
            <a:pPr algn="just">
              <a:buNone/>
            </a:pPr>
            <a:r>
              <a:rPr lang="en-US" b="1" u="sng" dirty="0" smtClean="0">
                <a:solidFill>
                  <a:srgbClr val="FF0000"/>
                </a:solidFill>
                <a:cs typeface="Times New Roman" pitchFamily="18" charset="0"/>
              </a:rPr>
              <a:t>Interrelationships among systems</a:t>
            </a:r>
            <a:r>
              <a:rPr lang="en-US" b="1" u="sng" dirty="0" smtClean="0">
                <a:solidFill>
                  <a:srgbClr val="FF0000"/>
                </a:solidFill>
              </a:rPr>
              <a:t> </a:t>
            </a:r>
          </a:p>
        </p:txBody>
      </p:sp>
      <p:sp>
        <p:nvSpPr>
          <p:cNvPr id="5" name="Slide Number Placeholder 4"/>
          <p:cNvSpPr>
            <a:spLocks noGrp="1"/>
          </p:cNvSpPr>
          <p:nvPr>
            <p:ph type="sldNum" sz="quarter" idx="12"/>
          </p:nvPr>
        </p:nvSpPr>
        <p:spPr/>
        <p:txBody>
          <a:bodyPr/>
          <a:lstStyle/>
          <a:p>
            <a:fld id="{D51081E8-3327-495A-9823-FC891E0968B6}" type="slidenum">
              <a:rPr lang="en-US" smtClean="0"/>
              <a:pPr/>
              <a:t>27</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381000" y="1524000"/>
            <a:ext cx="8474075" cy="45720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sz="2000" dirty="0" smtClean="0"/>
              <a:t>7. Information Support for functional areas of management</a:t>
            </a:r>
            <a:endParaRPr lang="en-US" sz="2000"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28</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grpSp>
        <p:nvGrpSpPr>
          <p:cNvPr id="7" name="Group 2055"/>
          <p:cNvGrpSpPr>
            <a:grpSpLocks noGrp="1"/>
          </p:cNvGrpSpPr>
          <p:nvPr/>
        </p:nvGrpSpPr>
        <p:grpSpPr bwMode="auto">
          <a:xfrm>
            <a:off x="457200" y="1189038"/>
            <a:ext cx="8229600" cy="5059362"/>
            <a:chOff x="1518" y="1264"/>
            <a:chExt cx="2802" cy="3047"/>
          </a:xfrm>
        </p:grpSpPr>
        <p:sp>
          <p:nvSpPr>
            <p:cNvPr id="11" name="Rectangle 2053"/>
            <p:cNvSpPr>
              <a:spLocks noChangeArrowheads="1"/>
            </p:cNvSpPr>
            <p:nvPr/>
          </p:nvSpPr>
          <p:spPr bwMode="auto">
            <a:xfrm>
              <a:off x="2448" y="4080"/>
              <a:ext cx="61" cy="231"/>
            </a:xfrm>
            <a:prstGeom prst="rect">
              <a:avLst/>
            </a:prstGeom>
            <a:noFill/>
            <a:ln w="9525">
              <a:noFill/>
              <a:miter lim="800000"/>
              <a:headEnd/>
              <a:tailEnd/>
            </a:ln>
            <a:effectLst/>
          </p:spPr>
          <p:txBody>
            <a:bodyPr wrap="none">
              <a:spAutoFit/>
            </a:bodyPr>
            <a:lstStyle/>
            <a:p>
              <a:endParaRPr lang="en-US" sz="1800" b="1"/>
            </a:p>
          </p:txBody>
        </p:sp>
        <p:pic>
          <p:nvPicPr>
            <p:cNvPr id="12" name="Picture 2054" descr="fg02_02"/>
            <p:cNvPicPr>
              <a:picLocks noChangeAspect="1" noChangeArrowheads="1"/>
            </p:cNvPicPr>
            <p:nvPr/>
          </p:nvPicPr>
          <p:blipFill>
            <a:blip r:embed="rId3" cstate="print"/>
            <a:srcRect/>
            <a:stretch>
              <a:fillRect/>
            </a:stretch>
          </p:blipFill>
          <p:spPr bwMode="auto">
            <a:xfrm>
              <a:off x="1518" y="1264"/>
              <a:ext cx="2802" cy="2837"/>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Organizing Information Systems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29</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8674" name="Picture 2" descr="H:\study materials\Organisation and Management\downloads\slide-9-728.jpg"/>
          <p:cNvPicPr>
            <a:picLocks noGrp="1" noChangeAspect="1" noChangeArrowheads="1"/>
          </p:cNvPicPr>
          <p:nvPr>
            <p:ph idx="1"/>
          </p:nvPr>
        </p:nvPicPr>
        <p:blipFill>
          <a:blip r:embed="rId3"/>
          <a:srcRect/>
          <a:stretch>
            <a:fillRect/>
          </a:stretch>
        </p:blipFill>
        <p:spPr bwMode="auto">
          <a:xfrm>
            <a:off x="457200" y="762000"/>
            <a:ext cx="8077200" cy="5486400"/>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dirty="0" smtClean="0"/>
              <a:t>8. Organizing Information Systems</a:t>
            </a:r>
            <a:endParaRPr lang="en-US" dirty="0"/>
          </a:p>
        </p:txBody>
      </p:sp>
      <p:sp>
        <p:nvSpPr>
          <p:cNvPr id="5" name="Slide Number Placeholder 4"/>
          <p:cNvSpPr>
            <a:spLocks noGrp="1"/>
          </p:cNvSpPr>
          <p:nvPr>
            <p:ph type="sldNum" sz="quarter" idx="12"/>
          </p:nvPr>
        </p:nvSpPr>
        <p:spPr/>
        <p:txBody>
          <a:bodyPr/>
          <a:lstStyle/>
          <a:p>
            <a:fld id="{D51081E8-3327-495A-9823-FC891E0968B6}" type="slidenum">
              <a:rPr lang="en-US" smtClean="0"/>
              <a:pPr/>
              <a:t>30</a:t>
            </a:fld>
            <a:endParaRPr lang="en-US"/>
          </a:p>
        </p:txBody>
      </p:sp>
      <p:pic>
        <p:nvPicPr>
          <p:cNvPr id="10" name="Picture 9"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9698" name="Picture 2" descr="H:\study materials\Organisation and Management\downloads\slide-15-728.jpg"/>
          <p:cNvPicPr>
            <a:picLocks noGrp="1" noChangeAspect="1" noChangeArrowheads="1"/>
          </p:cNvPicPr>
          <p:nvPr>
            <p:ph idx="1"/>
          </p:nvPr>
        </p:nvPicPr>
        <p:blipFill>
          <a:blip r:embed="rId3"/>
          <a:srcRect/>
          <a:stretch>
            <a:fillRect/>
          </a:stretch>
        </p:blipFill>
        <p:spPr bwMode="auto">
          <a:xfrm>
            <a:off x="228600" y="762000"/>
            <a:ext cx="8458200" cy="548640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3" name="Content Placeholder 2"/>
          <p:cNvSpPr>
            <a:spLocks noGrp="1"/>
          </p:cNvSpPr>
          <p:nvPr>
            <p:ph sz="quarter" idx="1"/>
          </p:nvPr>
        </p:nvSpPr>
        <p:spPr>
          <a:xfrm>
            <a:off x="457200" y="762000"/>
            <a:ext cx="8229600" cy="5029200"/>
          </a:xfrm>
        </p:spPr>
        <p:txBody>
          <a:bodyPr>
            <a:normAutofit fontScale="62500" lnSpcReduction="20000"/>
          </a:bodyPr>
          <a:lstStyle/>
          <a:p>
            <a:pPr>
              <a:buNone/>
            </a:pPr>
            <a:r>
              <a:rPr lang="en-US" b="1" i="1" dirty="0" smtClean="0">
                <a:solidFill>
                  <a:srgbClr val="7030A0"/>
                </a:solidFill>
              </a:rPr>
              <a:t>                  </a:t>
            </a:r>
          </a:p>
          <a:p>
            <a:pP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endPar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a:p>
            <a:pPr algn="ctr">
              <a:buNone/>
            </a:pPr>
            <a:r>
              <a:rPr lang="en-US" sz="6600" b="1" i="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THANK   YOU!!!</a:t>
            </a:r>
            <a:endParaRPr lang="en-US" sz="6600"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buNone/>
            </a:pPr>
            <a:endParaRPr lang="en-US" b="1" i="1" dirty="0" smtClean="0">
              <a:solidFill>
                <a:srgbClr val="7030A0"/>
              </a:solidFill>
              <a:latin typeface="Times New Roman" pitchFamily="18" charset="0"/>
              <a:cs typeface="Times New Roman" pitchFamily="18" charset="0"/>
            </a:endParaRPr>
          </a:p>
          <a:p>
            <a:pPr algn="r">
              <a:buNone/>
            </a:pPr>
            <a:endParaRPr lang="en-US" sz="4400" b="1" i="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Times New Roman" pitchFamily="18" charset="0"/>
              <a:cs typeface="Times New Roman" pitchFamily="18" charset="0"/>
            </a:endParaRPr>
          </a:p>
        </p:txBody>
      </p:sp>
      <p:pic>
        <p:nvPicPr>
          <p:cNvPr id="5" name="Picture 4" descr="C:\Users\Khem\Desktop\logo_20110422093508.jpg"/>
          <p:cNvPicPr/>
          <p:nvPr/>
        </p:nvPicPr>
        <p:blipFill>
          <a:blip r:embed="rId2" cstate="print"/>
          <a:srcRect/>
          <a:stretch>
            <a:fillRect/>
          </a:stretch>
        </p:blipFill>
        <p:spPr bwMode="auto">
          <a:xfrm>
            <a:off x="8077200" y="0"/>
            <a:ext cx="1066800" cy="1143000"/>
          </a:xfrm>
          <a:prstGeom prst="rect">
            <a:avLst/>
          </a:prstGeom>
          <a:noFill/>
          <a:ln w="9525">
            <a:noFill/>
            <a:miter lim="800000"/>
            <a:headEnd/>
            <a:tailEnd/>
          </a:ln>
        </p:spPr>
      </p:pic>
      <p:pic>
        <p:nvPicPr>
          <p:cNvPr id="26627" name="Picture 3" descr="H:\study materials\Organisation and Management\downloads\pict25_1.jpg"/>
          <p:cNvPicPr>
            <a:picLocks noChangeAspect="1" noChangeArrowheads="1"/>
          </p:cNvPicPr>
          <p:nvPr/>
        </p:nvPicPr>
        <p:blipFill>
          <a:blip r:embed="rId3"/>
          <a:srcRect/>
          <a:stretch>
            <a:fillRect/>
          </a:stretch>
        </p:blipFill>
        <p:spPr bwMode="auto">
          <a:xfrm>
            <a:off x="762000" y="838200"/>
            <a:ext cx="7315200" cy="39624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899</TotalTime>
  <Words>572</Words>
  <Application>Microsoft Office PowerPoint</Application>
  <PresentationFormat>On-screen Show (4:3)</PresentationFormat>
  <Paragraphs>215</Paragraphs>
  <Slides>31</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3" baseType="lpstr">
      <vt:lpstr>Office Theme</vt:lpstr>
      <vt:lpstr>Image</vt:lpstr>
      <vt:lpstr>Chapter 5 MANAGEMENT INFORMATION SYSTEM</vt:lpstr>
      <vt:lpstr>Management Information System – course outline</vt:lpstr>
      <vt:lpstr>Management Information System</vt:lpstr>
      <vt:lpstr>1. Data and Information</vt:lpstr>
      <vt:lpstr>1. Data and Information</vt:lpstr>
      <vt:lpstr>1. Data and Information</vt:lpstr>
      <vt:lpstr>2. Need, Function and Importance of MIS</vt:lpstr>
      <vt:lpstr>2. Need, Function and Importance of MIS</vt:lpstr>
      <vt:lpstr>2. Need, Function and Importance of MIS</vt:lpstr>
      <vt:lpstr>2. Need, Function and Importance of MIS</vt:lpstr>
      <vt:lpstr>3. Evolution of MIS</vt:lpstr>
      <vt:lpstr>4. Organizational Structure and MIS</vt:lpstr>
      <vt:lpstr>4. Organizational Structure and MIS</vt:lpstr>
      <vt:lpstr>4. Organizational Structure and MIS</vt:lpstr>
      <vt:lpstr>5. Computers and MIS</vt:lpstr>
      <vt:lpstr>5. Computers and MIS</vt:lpstr>
      <vt:lpstr>6. Classification of Information Systems</vt:lpstr>
      <vt:lpstr>6. Classification of Information Systems</vt:lpstr>
      <vt:lpstr>6. Classification of Information Systems</vt:lpstr>
      <vt:lpstr>6. Classification of Information Systems</vt:lpstr>
      <vt:lpstr>6. Classification of Information Systems</vt:lpstr>
      <vt:lpstr>6. Classification of Information Systems</vt:lpstr>
      <vt:lpstr>6. Classification of Information Systems</vt:lpstr>
      <vt:lpstr>6. Classification of Information Systems</vt:lpstr>
      <vt:lpstr>6. Classification of Information Systems</vt:lpstr>
      <vt:lpstr>6. Classification of Information Systems</vt:lpstr>
      <vt:lpstr>6. Classification of Information Systems</vt:lpstr>
      <vt:lpstr>7. Information Support for functional areas of management</vt:lpstr>
      <vt:lpstr>8. Organizing Information Systems</vt:lpstr>
      <vt:lpstr>8. Organizing Information Systems</vt:lpstr>
      <vt:lpstr>Slide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IOE GC Template</dc:title>
  <dc:creator>Arun K. Timalsina</dc:creator>
  <cp:lastModifiedBy>user</cp:lastModifiedBy>
  <cp:revision>97</cp:revision>
  <dcterms:created xsi:type="dcterms:W3CDTF">2013-11-24T15:14:09Z</dcterms:created>
  <dcterms:modified xsi:type="dcterms:W3CDTF">2014-11-13T14:35:29Z</dcterms:modified>
</cp:coreProperties>
</file>