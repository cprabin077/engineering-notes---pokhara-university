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307" r:id="rId9"/>
    <p:sldId id="264" r:id="rId10"/>
    <p:sldId id="306" r:id="rId11"/>
    <p:sldId id="266" r:id="rId12"/>
    <p:sldId id="267" r:id="rId13"/>
    <p:sldId id="268" r:id="rId14"/>
    <p:sldId id="269" r:id="rId15"/>
    <p:sldId id="270" r:id="rId16"/>
    <p:sldId id="272" r:id="rId17"/>
    <p:sldId id="305" r:id="rId18"/>
    <p:sldId id="304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312" r:id="rId28"/>
    <p:sldId id="309" r:id="rId29"/>
    <p:sldId id="310" r:id="rId30"/>
    <p:sldId id="311" r:id="rId31"/>
    <p:sldId id="317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313" r:id="rId41"/>
    <p:sldId id="314" r:id="rId42"/>
    <p:sldId id="315" r:id="rId43"/>
    <p:sldId id="316" r:id="rId44"/>
    <p:sldId id="318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84188-814E-4004-8FFF-C4ABFA641DC6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7BD5D-D420-458A-A521-2601BAAD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19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F6727-0FC5-4636-8F10-7C9BE62DE5DD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8591-C11A-44A3-8773-13AE8D6D5A8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F6727-0FC5-4636-8F10-7C9BE62DE5DD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8591-C11A-44A3-8773-13AE8D6D5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F6727-0FC5-4636-8F10-7C9BE62DE5DD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8591-C11A-44A3-8773-13AE8D6D5A8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F6727-0FC5-4636-8F10-7C9BE62DE5DD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8591-C11A-44A3-8773-13AE8D6D5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F6727-0FC5-4636-8F10-7C9BE62DE5DD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8591-C11A-44A3-8773-13AE8D6D5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F6727-0FC5-4636-8F10-7C9BE62DE5DD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8591-C11A-44A3-8773-13AE8D6D5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F6727-0FC5-4636-8F10-7C9BE62DE5DD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8591-C11A-44A3-8773-13AE8D6D5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F6727-0FC5-4636-8F10-7C9BE62DE5DD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8591-C11A-44A3-8773-13AE8D6D5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F6727-0FC5-4636-8F10-7C9BE62DE5DD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12F8591-C11A-44A3-8773-13AE8D6D5A8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F6727-0FC5-4636-8F10-7C9BE62DE5DD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8591-C11A-44A3-8773-13AE8D6D5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F6727-0FC5-4636-8F10-7C9BE62DE5DD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8591-C11A-44A3-8773-13AE8D6D5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36F6727-0FC5-4636-8F10-7C9BE62DE5DD}" type="datetimeFigureOut">
              <a:rPr lang="en-US" smtClean="0"/>
              <a:t>8/11/2017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12F8591-C11A-44A3-8773-13AE8D6D5A8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Chapter 5</a:t>
            </a:r>
            <a:br>
              <a:rPr lang="en-US" dirty="0" smtClean="0"/>
            </a:br>
            <a:r>
              <a:rPr lang="en-US" u="sng" dirty="0" smtClean="0"/>
              <a:t>Probability Concept and Random Number Generation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Prepared By:</a:t>
            </a:r>
          </a:p>
          <a:p>
            <a:r>
              <a:rPr lang="en-US" dirty="0" smtClean="0"/>
              <a:t>Asst. Prof </a:t>
            </a:r>
            <a:r>
              <a:rPr lang="en-US" dirty="0" err="1" smtClean="0"/>
              <a:t>Sundar</a:t>
            </a:r>
            <a:r>
              <a:rPr lang="en-US" dirty="0" smtClean="0"/>
              <a:t> </a:t>
            </a:r>
            <a:r>
              <a:rPr lang="en-US" dirty="0" err="1" smtClean="0"/>
              <a:t>Kunwar</a:t>
            </a:r>
            <a:endParaRPr lang="en-US" dirty="0" smtClean="0"/>
          </a:p>
          <a:p>
            <a:r>
              <a:rPr lang="en-US" dirty="0" smtClean="0"/>
              <a:t>Department of Computer Science and Engineering</a:t>
            </a:r>
          </a:p>
          <a:p>
            <a:r>
              <a:rPr lang="en-US" dirty="0" smtClean="0"/>
              <a:t>Nepal Engineering College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59643"/>
          </a:xfrm>
        </p:spPr>
        <p:txBody>
          <a:bodyPr/>
          <a:lstStyle/>
          <a:p>
            <a:r>
              <a:rPr lang="en-US" u="sng" dirty="0" smtClean="0"/>
              <a:t>Probability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US" b="1" dirty="0" smtClean="0"/>
              <a:t>STOCHASTIC VARIABLES:</a:t>
            </a:r>
          </a:p>
          <a:p>
            <a:pPr lvl="1"/>
            <a:r>
              <a:rPr lang="en-US" dirty="0" smtClean="0"/>
              <a:t>The variable which is random in nature is called stochastic variables.</a:t>
            </a:r>
          </a:p>
          <a:p>
            <a:r>
              <a:rPr lang="en-US" u="sng" dirty="0" smtClean="0"/>
              <a:t>Ex:</a:t>
            </a:r>
            <a:r>
              <a:rPr lang="en-US" dirty="0" smtClean="0"/>
              <a:t>  Tossing of a coin, Rolling of dice</a:t>
            </a:r>
          </a:p>
          <a:p>
            <a:r>
              <a:rPr lang="en-US" b="1" dirty="0" smtClean="0"/>
              <a:t>STOCHASTIC PROCESS</a:t>
            </a:r>
          </a:p>
          <a:p>
            <a:pPr lvl="1"/>
            <a:r>
              <a:rPr lang="en-US" dirty="0" smtClean="0"/>
              <a:t>A stochastic process is a method that generates random output.</a:t>
            </a:r>
          </a:p>
          <a:p>
            <a:pPr lvl="1"/>
            <a:r>
              <a:rPr lang="en-US" dirty="0" smtClean="0"/>
              <a:t>It is also defined as an order set of random variables.</a:t>
            </a:r>
          </a:p>
          <a:p>
            <a:pPr lvl="1"/>
            <a:r>
              <a:rPr lang="en-US" dirty="0" smtClean="0"/>
              <a:t>The ordering of a set usually being with respect to time.</a:t>
            </a:r>
          </a:p>
          <a:p>
            <a:pPr lvl="1"/>
            <a:r>
              <a:rPr lang="en-US" dirty="0" smtClean="0"/>
              <a:t>Stochastic activities are those activities where the output is random. 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446" y="152400"/>
            <a:ext cx="2224087" cy="22240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u="sng" dirty="0"/>
              <a:t>Probability </a:t>
            </a:r>
            <a:r>
              <a:rPr lang="en-US" u="sng" dirty="0" smtClean="0"/>
              <a:t>Concept..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r>
              <a:rPr lang="en-US" dirty="0" smtClean="0"/>
              <a:t>DISCRETE PROBABILITY FUNCTIONS </a:t>
            </a:r>
          </a:p>
          <a:p>
            <a:pPr lvl="1"/>
            <a:r>
              <a:rPr lang="en-US" dirty="0" smtClean="0"/>
              <a:t>It is represented by a probability mass function(PMF).If a stochastic variable can take I different values xi for (i=1,2,3,4,5,…….I)and the probability of the value xi being taken as P(xi) i.e. xi → P(xi) ,the set of numbers P(xi) is said to be PMF and </a:t>
            </a:r>
            <a:endParaRPr lang="en-US" dirty="0"/>
          </a:p>
        </p:txBody>
      </p:sp>
      <p:pic>
        <p:nvPicPr>
          <p:cNvPr id="4" name="Picture 3" descr="d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4495800"/>
            <a:ext cx="3414886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Probability </a:t>
            </a:r>
            <a:r>
              <a:rPr lang="en-US" u="sng" dirty="0" smtClean="0"/>
              <a:t>Concept..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cumulative distribution function is defined as a function that gives the probability of a random variable being less than or, equal to a given value. It can increased to a maximum of 1.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732688"/>
            <a:ext cx="4038600" cy="27120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ex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042" y="457200"/>
            <a:ext cx="8497784" cy="6096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905000"/>
          </a:xfrm>
        </p:spPr>
        <p:txBody>
          <a:bodyPr>
            <a:normAutofit fontScale="90000"/>
          </a:bodyPr>
          <a:lstStyle/>
          <a:p>
            <a:r>
              <a:rPr lang="en-US" dirty="0"/>
              <a:t>GRAPHICAL REPRESENTATION OF PROBABILITY MASS FUNCTION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mpf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000" y="381000"/>
            <a:ext cx="5241056" cy="6045816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CONTINUOUS PROBABILITY FUNCTION</a:t>
            </a:r>
            <a:endParaRPr lang="en-US" dirty="0"/>
          </a:p>
        </p:txBody>
      </p:sp>
      <p:pic>
        <p:nvPicPr>
          <p:cNvPr id="6" name="Content Placeholder 5" descr="cpf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721" y="1600200"/>
            <a:ext cx="8875642" cy="34290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Random number and its Properties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number generated for, or part of, a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set exhibiting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statistical randomness.</a:t>
            </a:r>
          </a:p>
          <a:p>
            <a:r>
              <a:rPr lang="en-US" dirty="0"/>
              <a:t>A </a:t>
            </a:r>
            <a:r>
              <a:rPr lang="en-US" dirty="0" smtClean="0"/>
              <a:t>random sequence is</a:t>
            </a:r>
            <a:r>
              <a:rPr lang="en-US" dirty="0"/>
              <a:t> obtained from a stochastic process</a:t>
            </a:r>
            <a:r>
              <a:rPr lang="en-US" dirty="0" smtClean="0"/>
              <a:t>.</a:t>
            </a:r>
          </a:p>
          <a:p>
            <a:r>
              <a:rPr lang="en-US" dirty="0"/>
              <a:t>Random numbers are numbers that occur in a sequence such that two conditions are met: </a:t>
            </a:r>
            <a:endParaRPr lang="en-US" dirty="0" smtClean="0"/>
          </a:p>
          <a:p>
            <a:pPr lvl="1"/>
            <a:r>
              <a:rPr lang="en-US" dirty="0" smtClean="0"/>
              <a:t>(</a:t>
            </a:r>
            <a:r>
              <a:rPr lang="en-US" dirty="0"/>
              <a:t>1) the values are uniformly distributed over a defined interval </a:t>
            </a:r>
            <a:r>
              <a:rPr lang="en-US" dirty="0" smtClean="0"/>
              <a:t>[0-1]-uniformity</a:t>
            </a:r>
          </a:p>
          <a:p>
            <a:pPr lvl="1"/>
            <a:r>
              <a:rPr lang="en-US" dirty="0" smtClean="0"/>
              <a:t>(2</a:t>
            </a:r>
            <a:r>
              <a:rPr lang="en-US" dirty="0"/>
              <a:t>) it is impossible to predict future values based on past or present </a:t>
            </a:r>
            <a:r>
              <a:rPr lang="en-US" dirty="0" smtClean="0"/>
              <a:t>ones-independence</a:t>
            </a:r>
          </a:p>
          <a:p>
            <a:pPr marL="393192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280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generation of random numbers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different methods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) Congruence methods </a:t>
            </a:r>
          </a:p>
          <a:p>
            <a:pPr lvl="1"/>
            <a:r>
              <a:rPr lang="en-US" dirty="0" smtClean="0"/>
              <a:t>Linear congruence generation (LCG)</a:t>
            </a:r>
          </a:p>
          <a:p>
            <a:pPr lvl="1"/>
            <a:r>
              <a:rPr lang="en-US" dirty="0" smtClean="0"/>
              <a:t>Additive congruence generation </a:t>
            </a:r>
          </a:p>
          <a:p>
            <a:pPr lvl="1"/>
            <a:r>
              <a:rPr lang="en-US" dirty="0" smtClean="0"/>
              <a:t>Multiplicative congruence generation </a:t>
            </a:r>
          </a:p>
          <a:p>
            <a:pPr lvl="1"/>
            <a:r>
              <a:rPr lang="en-US" dirty="0" smtClean="0"/>
              <a:t>Mixed congruence generation </a:t>
            </a:r>
          </a:p>
          <a:p>
            <a:r>
              <a:rPr lang="en-US" dirty="0" smtClean="0"/>
              <a:t>ii) Mid-square method </a:t>
            </a:r>
          </a:p>
          <a:p>
            <a:r>
              <a:rPr lang="en-US" dirty="0" smtClean="0"/>
              <a:t>iii) Inverse transformation method </a:t>
            </a:r>
          </a:p>
          <a:p>
            <a:r>
              <a:rPr lang="en-US" dirty="0" smtClean="0"/>
              <a:t>iv) Rejection method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838200" y="5410200"/>
            <a:ext cx="4876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838200" y="5867400"/>
            <a:ext cx="2971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congruence </a:t>
            </a:r>
            <a:r>
              <a:rPr lang="en-US" dirty="0" smtClean="0"/>
              <a:t>generation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It </a:t>
            </a:r>
            <a:r>
              <a:rPr lang="en-US" dirty="0"/>
              <a:t>produces the sequence of integer x1, x2 - - - - - between 0 and m-1 by following recursive relationship </a:t>
            </a:r>
          </a:p>
          <a:p>
            <a:r>
              <a:rPr lang="en-US" dirty="0"/>
              <a:t>xi+1= (</a:t>
            </a:r>
            <a:r>
              <a:rPr lang="en-US" dirty="0" err="1"/>
              <a:t>axi+c</a:t>
            </a:r>
            <a:r>
              <a:rPr lang="en-US" dirty="0"/>
              <a:t>) mod m ,i=0,1,2,.......... </a:t>
            </a:r>
            <a:r>
              <a:rPr lang="en-US" dirty="0" smtClean="0"/>
              <a:t>m-1</a:t>
            </a:r>
          </a:p>
          <a:p>
            <a:pPr lvl="1"/>
            <a:r>
              <a:rPr lang="en-US" dirty="0"/>
              <a:t>The initial value x</a:t>
            </a:r>
            <a:r>
              <a:rPr lang="en-US" baseline="-25000" dirty="0"/>
              <a:t>0</a:t>
            </a:r>
            <a:r>
              <a:rPr lang="en-US" dirty="0"/>
              <a:t> is called the seed. </a:t>
            </a:r>
          </a:p>
          <a:p>
            <a:pPr lvl="1"/>
            <a:r>
              <a:rPr lang="en-US" dirty="0"/>
              <a:t>a is called as multiplier, </a:t>
            </a:r>
          </a:p>
          <a:p>
            <a:pPr lvl="1"/>
            <a:r>
              <a:rPr lang="en-US" dirty="0"/>
              <a:t>c is called increment</a:t>
            </a:r>
          </a:p>
          <a:p>
            <a:pPr lvl="1"/>
            <a:r>
              <a:rPr lang="en-US" dirty="0"/>
              <a:t>m is modulus.</a:t>
            </a:r>
          </a:p>
          <a:p>
            <a:endParaRPr lang="en-US" dirty="0"/>
          </a:p>
          <a:p>
            <a:pPr lvl="0"/>
            <a:r>
              <a:rPr lang="en-US" dirty="0"/>
              <a:t>If c≠0 then the form is called mixed </a:t>
            </a:r>
            <a:r>
              <a:rPr lang="en-US" dirty="0" err="1"/>
              <a:t>congruential</a:t>
            </a:r>
            <a:r>
              <a:rPr lang="en-US" dirty="0"/>
              <a:t> generator</a:t>
            </a:r>
            <a:r>
              <a:rPr lang="en-US" dirty="0" smtClean="0"/>
              <a:t>.</a:t>
            </a:r>
            <a:endParaRPr lang="en-US" dirty="0"/>
          </a:p>
          <a:p>
            <a:pPr lvl="0"/>
            <a:r>
              <a:rPr lang="en-US" dirty="0"/>
              <a:t>If c=0 , then the form is called multiplicative </a:t>
            </a:r>
            <a:r>
              <a:rPr lang="en-US" dirty="0" err="1"/>
              <a:t>congruential</a:t>
            </a:r>
            <a:r>
              <a:rPr lang="en-US" dirty="0"/>
              <a:t> generator</a:t>
            </a:r>
            <a:r>
              <a:rPr lang="en-US" dirty="0" smtClean="0"/>
              <a:t>.</a:t>
            </a:r>
            <a:endParaRPr lang="en-US" dirty="0"/>
          </a:p>
          <a:p>
            <a:pPr lvl="0"/>
            <a:r>
              <a:rPr lang="en-US" dirty="0"/>
              <a:t>If a=1 , then the form is called additive </a:t>
            </a:r>
            <a:r>
              <a:rPr lang="en-US" dirty="0" err="1"/>
              <a:t>congruential</a:t>
            </a:r>
            <a:r>
              <a:rPr lang="en-US" dirty="0"/>
              <a:t> generator.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57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congruence </a:t>
            </a:r>
            <a:r>
              <a:rPr lang="en-US" dirty="0" smtClean="0"/>
              <a:t>generation….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51120"/>
          </a:xfrm>
        </p:spPr>
        <p:txBody>
          <a:bodyPr>
            <a:normAutofit fontScale="92500" lnSpcReduction="20000"/>
          </a:bodyPr>
          <a:lstStyle/>
          <a:p>
            <a:r>
              <a:rPr lang="en-US" u="sng" dirty="0" smtClean="0"/>
              <a:t>Examples: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Q1: Generate 4 digit random number by LCG with x</a:t>
            </a:r>
            <a:r>
              <a:rPr lang="en-US" b="1" baseline="-25000" dirty="0" smtClean="0"/>
              <a:t>0</a:t>
            </a:r>
            <a:r>
              <a:rPr lang="en-US" b="1" dirty="0" smtClean="0"/>
              <a:t>=21, a=34, c=7.</a:t>
            </a:r>
            <a:r>
              <a:rPr lang="en-US" dirty="0" smtClean="0"/>
              <a:t> </a:t>
            </a:r>
          </a:p>
          <a:p>
            <a:pPr marL="365760" lvl="1" indent="0">
              <a:buNone/>
            </a:pPr>
            <a:r>
              <a:rPr lang="en-US" dirty="0" err="1" smtClean="0"/>
              <a:t>Ans</a:t>
            </a:r>
            <a:r>
              <a:rPr lang="en-US" dirty="0" smtClean="0"/>
              <a:t>: Given generating 4-digit random number </a:t>
            </a:r>
          </a:p>
          <a:p>
            <a:pPr marL="365760" lvl="1" indent="0">
              <a:buNone/>
            </a:pPr>
            <a:r>
              <a:rPr lang="en-US" dirty="0" smtClean="0"/>
              <a:t>i.e. m=10000 and </a:t>
            </a:r>
          </a:p>
          <a:p>
            <a:pPr marL="365760" lvl="1" indent="0">
              <a:buNone/>
            </a:pPr>
            <a:r>
              <a:rPr lang="en-US" dirty="0" smtClean="0"/>
              <a:t>X</a:t>
            </a:r>
            <a:r>
              <a:rPr lang="en-US" baseline="-25000" dirty="0" smtClean="0"/>
              <a:t>0</a:t>
            </a:r>
            <a:r>
              <a:rPr lang="en-US" dirty="0" smtClean="0"/>
              <a:t>=21, a=34, c=7.</a:t>
            </a:r>
          </a:p>
          <a:p>
            <a:pPr marL="365760" lvl="1" indent="0">
              <a:buNone/>
            </a:pPr>
            <a:r>
              <a:rPr lang="en-US" dirty="0" smtClean="0"/>
              <a:t> X</a:t>
            </a:r>
            <a:r>
              <a:rPr lang="en-US" baseline="-25000" dirty="0" smtClean="0"/>
              <a:t>1</a:t>
            </a:r>
            <a:r>
              <a:rPr lang="en-US" dirty="0" smtClean="0"/>
              <a:t>= (ax</a:t>
            </a:r>
            <a:r>
              <a:rPr lang="en-US" baseline="-25000" dirty="0" smtClean="0"/>
              <a:t>0</a:t>
            </a:r>
            <a:r>
              <a:rPr lang="en-US" dirty="0" smtClean="0"/>
              <a:t>+c) mod m=(34*21+7) mod 10000= 721 R</a:t>
            </a:r>
            <a:r>
              <a:rPr lang="en-US" baseline="-25000" dirty="0" smtClean="0"/>
              <a:t>1</a:t>
            </a:r>
            <a:r>
              <a:rPr lang="en-US" dirty="0" smtClean="0"/>
              <a:t>= X</a:t>
            </a:r>
            <a:r>
              <a:rPr lang="en-US" baseline="-25000" dirty="0" smtClean="0"/>
              <a:t>1</a:t>
            </a:r>
            <a:r>
              <a:rPr lang="en-US" dirty="0" smtClean="0"/>
              <a:t>/m =721/10000=0.0721</a:t>
            </a:r>
          </a:p>
          <a:p>
            <a:pPr marL="365760" lvl="1" indent="0">
              <a:buNone/>
            </a:pP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= (ax</a:t>
            </a:r>
            <a:r>
              <a:rPr lang="en-US" baseline="-25000" dirty="0" smtClean="0"/>
              <a:t>1</a:t>
            </a:r>
            <a:r>
              <a:rPr lang="en-US" dirty="0" smtClean="0"/>
              <a:t>+c) mod m=(34*721+7) mod 10000=4521 R</a:t>
            </a:r>
            <a:r>
              <a:rPr lang="en-US" baseline="-25000" dirty="0" smtClean="0"/>
              <a:t>2</a:t>
            </a:r>
            <a:r>
              <a:rPr lang="en-US" dirty="0" smtClean="0"/>
              <a:t>= X</a:t>
            </a:r>
            <a:r>
              <a:rPr lang="en-US" baseline="-25000" dirty="0" smtClean="0"/>
              <a:t>2</a:t>
            </a:r>
            <a:r>
              <a:rPr lang="en-US" dirty="0" smtClean="0"/>
              <a:t>/m =4521/10000=0.4521</a:t>
            </a:r>
          </a:p>
          <a:p>
            <a:pPr marL="365760" lvl="1" indent="0">
              <a:buNone/>
            </a:pPr>
            <a:r>
              <a:rPr lang="en-US" dirty="0" smtClean="0"/>
              <a:t>X</a:t>
            </a:r>
            <a:r>
              <a:rPr lang="en-US" baseline="-25000" dirty="0" smtClean="0"/>
              <a:t>3</a:t>
            </a:r>
            <a:r>
              <a:rPr lang="en-US" dirty="0" smtClean="0"/>
              <a:t>= (ax</a:t>
            </a:r>
            <a:r>
              <a:rPr lang="en-US" baseline="-25000" dirty="0" smtClean="0"/>
              <a:t>2</a:t>
            </a:r>
            <a:r>
              <a:rPr lang="en-US" dirty="0" smtClean="0"/>
              <a:t>+c) mod m=(34*4521+7) mod 10000= 3721 R</a:t>
            </a:r>
            <a:r>
              <a:rPr lang="en-US" baseline="-25000" dirty="0" smtClean="0"/>
              <a:t>3</a:t>
            </a:r>
            <a:r>
              <a:rPr lang="en-US" dirty="0" smtClean="0"/>
              <a:t>= X</a:t>
            </a:r>
            <a:r>
              <a:rPr lang="en-US" baseline="-25000" dirty="0" smtClean="0"/>
              <a:t>3</a:t>
            </a:r>
            <a:r>
              <a:rPr lang="en-US" dirty="0" smtClean="0"/>
              <a:t>/m= 3721/10000=0.3721</a:t>
            </a:r>
          </a:p>
          <a:p>
            <a:pPr marL="365760" lvl="1" indent="0">
              <a:buNone/>
            </a:pPr>
            <a:r>
              <a:rPr lang="en-US" dirty="0" smtClean="0"/>
              <a:t>X</a:t>
            </a:r>
            <a:r>
              <a:rPr lang="en-US" baseline="-25000" dirty="0" smtClean="0"/>
              <a:t>4</a:t>
            </a:r>
            <a:r>
              <a:rPr lang="en-US" dirty="0" smtClean="0"/>
              <a:t>= (ax</a:t>
            </a:r>
            <a:r>
              <a:rPr lang="en-US" baseline="-25000" dirty="0" smtClean="0"/>
              <a:t>3</a:t>
            </a:r>
            <a:r>
              <a:rPr lang="en-US" dirty="0" smtClean="0"/>
              <a:t>+c) mod m=(34*3721+7) mod 10000=9311 R</a:t>
            </a:r>
            <a:r>
              <a:rPr lang="en-US" baseline="-25000" dirty="0" smtClean="0"/>
              <a:t>4</a:t>
            </a:r>
            <a:r>
              <a:rPr lang="en-US" dirty="0" smtClean="0"/>
              <a:t>= X</a:t>
            </a:r>
            <a:r>
              <a:rPr lang="en-US" baseline="-25000" dirty="0" smtClean="0"/>
              <a:t>4</a:t>
            </a:r>
            <a:r>
              <a:rPr lang="en-US" dirty="0" smtClean="0"/>
              <a:t>/m =9311/10000=0.9311</a:t>
            </a:r>
          </a:p>
          <a:p>
            <a:pPr marL="365760" lvl="1" indent="0">
              <a:buNone/>
            </a:pPr>
            <a:r>
              <a:rPr lang="en-US" dirty="0" smtClean="0"/>
              <a:t>X</a:t>
            </a:r>
            <a:r>
              <a:rPr lang="en-US" baseline="-25000" dirty="0" smtClean="0"/>
              <a:t>5</a:t>
            </a:r>
            <a:r>
              <a:rPr lang="en-US" dirty="0" smtClean="0"/>
              <a:t>= (ax</a:t>
            </a:r>
            <a:r>
              <a:rPr lang="en-US" baseline="-25000" dirty="0" smtClean="0"/>
              <a:t>4</a:t>
            </a:r>
            <a:r>
              <a:rPr lang="en-US" dirty="0" smtClean="0"/>
              <a:t>+c) mod m=(34*9311+7) mod 10000=6581 R</a:t>
            </a:r>
            <a:r>
              <a:rPr lang="en-US" baseline="-25000" dirty="0" smtClean="0"/>
              <a:t>5</a:t>
            </a:r>
            <a:r>
              <a:rPr lang="en-US" dirty="0" smtClean="0"/>
              <a:t>= X</a:t>
            </a:r>
            <a:r>
              <a:rPr lang="en-US" baseline="-25000" dirty="0" smtClean="0"/>
              <a:t>5</a:t>
            </a:r>
            <a:r>
              <a:rPr lang="en-US" dirty="0" smtClean="0"/>
              <a:t>/m =6581/10000=0.6581 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Q2: Generate 5 random numbers using additive </a:t>
            </a:r>
            <a:r>
              <a:rPr lang="en-US" b="1" dirty="0" err="1" smtClean="0"/>
              <a:t>congruential</a:t>
            </a:r>
            <a:r>
              <a:rPr lang="en-US" b="1" dirty="0" smtClean="0"/>
              <a:t> method with X</a:t>
            </a:r>
            <a:r>
              <a:rPr lang="en-US" b="1" baseline="-25000" dirty="0" smtClean="0"/>
              <a:t>0</a:t>
            </a:r>
            <a:r>
              <a:rPr lang="en-US" b="1" dirty="0" smtClean="0"/>
              <a:t>=5, c=7, m=64.</a:t>
            </a:r>
            <a:endParaRPr lang="en-US" dirty="0" smtClean="0"/>
          </a:p>
          <a:p>
            <a:r>
              <a:rPr lang="en-US" dirty="0" smtClean="0"/>
              <a:t> 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: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Here  a=1, x</a:t>
            </a:r>
            <a:r>
              <a:rPr lang="en-US" baseline="-25000" dirty="0" smtClean="0"/>
              <a:t>0</a:t>
            </a:r>
            <a:r>
              <a:rPr lang="en-US" dirty="0" smtClean="0"/>
              <a:t>=5, c=7, m=64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= (ax</a:t>
            </a:r>
            <a:r>
              <a:rPr lang="en-US" baseline="-25000" dirty="0" smtClean="0"/>
              <a:t>0</a:t>
            </a:r>
            <a:r>
              <a:rPr lang="en-US" dirty="0" smtClean="0"/>
              <a:t>+c) mod m= (1*5+7) mod 64= 12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= X</a:t>
            </a:r>
            <a:r>
              <a:rPr lang="en-US" baseline="-25000" dirty="0" smtClean="0"/>
              <a:t>1</a:t>
            </a:r>
            <a:r>
              <a:rPr lang="en-US" dirty="0" smtClean="0"/>
              <a:t>/m=12/64=0.1875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= (ax</a:t>
            </a:r>
            <a:r>
              <a:rPr lang="en-US" baseline="-25000" dirty="0" smtClean="0"/>
              <a:t>1</a:t>
            </a:r>
            <a:r>
              <a:rPr lang="en-US" dirty="0" smtClean="0"/>
              <a:t>+c) mod m=(1*12+7) mod 64=19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2</a:t>
            </a:r>
            <a:r>
              <a:rPr lang="en-US" dirty="0" smtClean="0"/>
              <a:t>= X</a:t>
            </a:r>
            <a:r>
              <a:rPr lang="en-US" baseline="-25000" dirty="0" smtClean="0"/>
              <a:t>2</a:t>
            </a:r>
            <a:r>
              <a:rPr lang="en-US" dirty="0" smtClean="0"/>
              <a:t>/m= 19/64=0.2968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X</a:t>
            </a:r>
            <a:r>
              <a:rPr lang="en-US" baseline="-25000" dirty="0" smtClean="0"/>
              <a:t>3</a:t>
            </a:r>
            <a:r>
              <a:rPr lang="en-US" dirty="0" smtClean="0"/>
              <a:t>= (ax</a:t>
            </a:r>
            <a:r>
              <a:rPr lang="en-US" baseline="-25000" dirty="0" smtClean="0"/>
              <a:t>2</a:t>
            </a:r>
            <a:r>
              <a:rPr lang="en-US" dirty="0" smtClean="0"/>
              <a:t>+c) mod m= (1*19+7) mod 64= 26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</a:t>
            </a:r>
            <a:r>
              <a:rPr lang="en-US" baseline="-25000" dirty="0" smtClean="0"/>
              <a:t>3</a:t>
            </a:r>
            <a:r>
              <a:rPr lang="en-US" dirty="0" smtClean="0"/>
              <a:t>= X</a:t>
            </a:r>
            <a:r>
              <a:rPr lang="en-US" baseline="-25000" dirty="0" smtClean="0"/>
              <a:t>3</a:t>
            </a:r>
            <a:r>
              <a:rPr lang="en-US" dirty="0" smtClean="0"/>
              <a:t>/m= 26/64= 0.4063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X</a:t>
            </a:r>
            <a:r>
              <a:rPr lang="en-US" baseline="-25000" dirty="0" smtClean="0"/>
              <a:t>4</a:t>
            </a:r>
            <a:r>
              <a:rPr lang="en-US" dirty="0" smtClean="0"/>
              <a:t>= (ax</a:t>
            </a:r>
            <a:r>
              <a:rPr lang="en-US" baseline="-25000" dirty="0" smtClean="0"/>
              <a:t>3</a:t>
            </a:r>
            <a:r>
              <a:rPr lang="en-US" dirty="0" smtClean="0"/>
              <a:t>+c) mod m= (1*26 +7) mod 64=33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4</a:t>
            </a:r>
            <a:r>
              <a:rPr lang="en-US" dirty="0" smtClean="0"/>
              <a:t>= X</a:t>
            </a:r>
            <a:r>
              <a:rPr lang="en-US" baseline="-25000" dirty="0" smtClean="0"/>
              <a:t>4</a:t>
            </a:r>
            <a:r>
              <a:rPr lang="en-US" dirty="0" smtClean="0"/>
              <a:t>/m= 33/64= 0.5156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X</a:t>
            </a:r>
            <a:r>
              <a:rPr lang="en-US" baseline="-25000" dirty="0" smtClean="0"/>
              <a:t>5</a:t>
            </a:r>
            <a:r>
              <a:rPr lang="en-US" dirty="0" smtClean="0"/>
              <a:t>= (ax</a:t>
            </a:r>
            <a:r>
              <a:rPr lang="en-US" baseline="-25000" dirty="0" smtClean="0"/>
              <a:t>4</a:t>
            </a:r>
            <a:r>
              <a:rPr lang="en-US" dirty="0" smtClean="0"/>
              <a:t>+c) mod m= (1*33+7) mod 64= 40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5</a:t>
            </a:r>
            <a:r>
              <a:rPr lang="en-US" dirty="0" smtClean="0"/>
              <a:t>= X</a:t>
            </a:r>
            <a:r>
              <a:rPr lang="en-US" baseline="-25000" dirty="0" smtClean="0"/>
              <a:t>5</a:t>
            </a:r>
            <a:r>
              <a:rPr lang="en-US" dirty="0" smtClean="0"/>
              <a:t>/m= 40/64= 0.625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Q3: Generate 5 random number using multiplicative </a:t>
            </a:r>
            <a:r>
              <a:rPr lang="en-US" b="1" dirty="0" err="1" smtClean="0"/>
              <a:t>congruential</a:t>
            </a:r>
            <a:r>
              <a:rPr lang="en-US" b="1" dirty="0" smtClean="0"/>
              <a:t> method with X</a:t>
            </a:r>
            <a:r>
              <a:rPr lang="en-US" b="1" baseline="-25000" dirty="0" smtClean="0"/>
              <a:t>0</a:t>
            </a:r>
            <a:r>
              <a:rPr lang="en-US" b="1" dirty="0" smtClean="0"/>
              <a:t>=63, a=19, m=100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: </a:t>
            </a:r>
          </a:p>
          <a:p>
            <a:r>
              <a:rPr lang="en-US" dirty="0" smtClean="0"/>
              <a:t>Given generating random numbers using multiplicative method i.e. c=0 and given X</a:t>
            </a:r>
            <a:r>
              <a:rPr lang="en-US" baseline="-25000" dirty="0" smtClean="0"/>
              <a:t>0</a:t>
            </a:r>
            <a:r>
              <a:rPr lang="en-US" dirty="0" smtClean="0"/>
              <a:t>=63,a=19 , m=100</a:t>
            </a:r>
          </a:p>
          <a:p>
            <a:r>
              <a:rPr lang="en-US" dirty="0" smtClean="0"/>
              <a:t>So X</a:t>
            </a:r>
            <a:r>
              <a:rPr lang="en-US" baseline="-25000" dirty="0" smtClean="0"/>
              <a:t>1</a:t>
            </a:r>
            <a:r>
              <a:rPr lang="en-US" dirty="0" smtClean="0"/>
              <a:t>= (ax</a:t>
            </a:r>
            <a:r>
              <a:rPr lang="en-US" baseline="-25000" dirty="0" smtClean="0"/>
              <a:t>0</a:t>
            </a:r>
            <a:r>
              <a:rPr lang="en-US" dirty="0" smtClean="0"/>
              <a:t>+c) mod m= (19*63+0) mod 100=97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= X1/m=97/100=0.97 </a:t>
            </a:r>
          </a:p>
          <a:p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= (ax</a:t>
            </a:r>
            <a:r>
              <a:rPr lang="en-US" baseline="-25000" dirty="0" smtClean="0"/>
              <a:t>1</a:t>
            </a:r>
            <a:r>
              <a:rPr lang="en-US" dirty="0" smtClean="0"/>
              <a:t>+c) mod m=(19*63+0) mod 100=43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2</a:t>
            </a:r>
            <a:r>
              <a:rPr lang="en-US" dirty="0" smtClean="0"/>
              <a:t>= X</a:t>
            </a:r>
            <a:r>
              <a:rPr lang="en-US" baseline="-25000" dirty="0" smtClean="0"/>
              <a:t>2</a:t>
            </a:r>
            <a:r>
              <a:rPr lang="en-US" dirty="0" smtClean="0"/>
              <a:t>/m= 43/100=0.43</a:t>
            </a:r>
          </a:p>
          <a:p>
            <a:r>
              <a:rPr lang="en-US" dirty="0" smtClean="0"/>
              <a:t>X</a:t>
            </a:r>
            <a:r>
              <a:rPr lang="en-US" baseline="-25000" dirty="0" smtClean="0"/>
              <a:t>3</a:t>
            </a:r>
            <a:r>
              <a:rPr lang="en-US" dirty="0" smtClean="0"/>
              <a:t>= (ax</a:t>
            </a:r>
            <a:r>
              <a:rPr lang="en-US" baseline="-25000" dirty="0" smtClean="0"/>
              <a:t>2</a:t>
            </a:r>
            <a:r>
              <a:rPr lang="en-US" dirty="0" smtClean="0"/>
              <a:t>+c) mod m=(19*43+0) mod 100=17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3</a:t>
            </a:r>
            <a:r>
              <a:rPr lang="en-US" dirty="0" smtClean="0"/>
              <a:t>= X</a:t>
            </a:r>
            <a:r>
              <a:rPr lang="en-US" baseline="-25000" dirty="0" smtClean="0"/>
              <a:t>3</a:t>
            </a:r>
            <a:r>
              <a:rPr lang="en-US" dirty="0" smtClean="0"/>
              <a:t>/m=17/100=0.17</a:t>
            </a:r>
          </a:p>
          <a:p>
            <a:r>
              <a:rPr lang="en-US" dirty="0" smtClean="0"/>
              <a:t>X</a:t>
            </a:r>
            <a:r>
              <a:rPr lang="en-US" baseline="-25000" dirty="0" smtClean="0"/>
              <a:t>4</a:t>
            </a:r>
            <a:r>
              <a:rPr lang="en-US" dirty="0" smtClean="0"/>
              <a:t>= (ax</a:t>
            </a:r>
            <a:r>
              <a:rPr lang="en-US" baseline="-25000" dirty="0" smtClean="0"/>
              <a:t>3</a:t>
            </a:r>
            <a:r>
              <a:rPr lang="en-US" dirty="0" smtClean="0"/>
              <a:t>+c) mod m=(19*17+0) mod 100=23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4</a:t>
            </a:r>
            <a:r>
              <a:rPr lang="en-US" dirty="0" smtClean="0"/>
              <a:t>= X</a:t>
            </a:r>
            <a:r>
              <a:rPr lang="en-US" baseline="-25000" dirty="0" smtClean="0"/>
              <a:t>4</a:t>
            </a:r>
            <a:r>
              <a:rPr lang="en-US" dirty="0" smtClean="0"/>
              <a:t>/m= 23/100=0.23</a:t>
            </a:r>
          </a:p>
          <a:p>
            <a:r>
              <a:rPr lang="en-US" dirty="0" smtClean="0"/>
              <a:t>X</a:t>
            </a:r>
            <a:r>
              <a:rPr lang="en-US" baseline="-25000" dirty="0" smtClean="0"/>
              <a:t>5</a:t>
            </a:r>
            <a:r>
              <a:rPr lang="en-US" dirty="0" smtClean="0"/>
              <a:t>= (ax</a:t>
            </a:r>
            <a:r>
              <a:rPr lang="en-US" baseline="-25000" dirty="0" smtClean="0"/>
              <a:t>0</a:t>
            </a:r>
            <a:r>
              <a:rPr lang="en-US" dirty="0" smtClean="0"/>
              <a:t>+c) mod m==(19*23+0) mod 100=37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5</a:t>
            </a:r>
            <a:r>
              <a:rPr lang="en-US" dirty="0" smtClean="0"/>
              <a:t>= X</a:t>
            </a:r>
            <a:r>
              <a:rPr lang="en-US" baseline="-25000" dirty="0" smtClean="0"/>
              <a:t>5</a:t>
            </a:r>
            <a:r>
              <a:rPr lang="en-US" dirty="0" smtClean="0"/>
              <a:t>/m=37/100=0.37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562600"/>
          </a:xfrm>
        </p:spPr>
        <p:txBody>
          <a:bodyPr>
            <a:normAutofit/>
          </a:bodyPr>
          <a:lstStyle/>
          <a:p>
            <a:r>
              <a:rPr lang="en-US" b="1" dirty="0" smtClean="0"/>
              <a:t>Q4: Use the mixed </a:t>
            </a:r>
            <a:r>
              <a:rPr lang="en-US" b="1" dirty="0" err="1" smtClean="0"/>
              <a:t>congruential</a:t>
            </a:r>
            <a:r>
              <a:rPr lang="en-US" b="1" dirty="0" smtClean="0"/>
              <a:t> method to generate a sequence of three 2-digit random number with X</a:t>
            </a:r>
            <a:r>
              <a:rPr lang="en-US" b="1" baseline="-25000" dirty="0" smtClean="0"/>
              <a:t>0</a:t>
            </a:r>
            <a:r>
              <a:rPr lang="en-US" b="1" dirty="0" smtClean="0"/>
              <a:t>=37, a=7, c=29</a:t>
            </a:r>
            <a:r>
              <a:rPr lang="en-US" dirty="0" smtClean="0"/>
              <a:t> 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:</a:t>
            </a:r>
          </a:p>
          <a:p>
            <a:r>
              <a:rPr lang="en-US" dirty="0" smtClean="0"/>
              <a:t>Given generating 2-digit random number so m=100 and given x</a:t>
            </a:r>
            <a:r>
              <a:rPr lang="en-US" baseline="-25000" dirty="0" smtClean="0"/>
              <a:t>0</a:t>
            </a:r>
            <a:r>
              <a:rPr lang="en-US" dirty="0" smtClean="0"/>
              <a:t>=37, a=7, c=29</a:t>
            </a:r>
          </a:p>
          <a:p>
            <a:r>
              <a:rPr lang="en-US" dirty="0" smtClean="0"/>
              <a:t>So X</a:t>
            </a:r>
            <a:r>
              <a:rPr lang="en-US" baseline="-25000" dirty="0" smtClean="0"/>
              <a:t>1</a:t>
            </a:r>
            <a:r>
              <a:rPr lang="en-US" dirty="0" smtClean="0"/>
              <a:t>= (ax</a:t>
            </a:r>
            <a:r>
              <a:rPr lang="en-US" baseline="-25000" dirty="0" smtClean="0"/>
              <a:t>0</a:t>
            </a:r>
            <a:r>
              <a:rPr lang="en-US" dirty="0" smtClean="0"/>
              <a:t>+c) mod m= (7*37+29) mod 100=88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= X1/m=88/100=0.88</a:t>
            </a:r>
          </a:p>
          <a:p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= (ax</a:t>
            </a:r>
            <a:r>
              <a:rPr lang="en-US" baseline="-25000" dirty="0"/>
              <a:t>1</a:t>
            </a:r>
            <a:r>
              <a:rPr lang="en-US" dirty="0"/>
              <a:t>+c) mod m=(7*88+29) mod </a:t>
            </a:r>
            <a:r>
              <a:rPr lang="en-US" dirty="0" smtClean="0"/>
              <a:t>100=45</a:t>
            </a:r>
            <a:r>
              <a:rPr lang="en-US" dirty="0"/>
              <a:t> </a:t>
            </a:r>
          </a:p>
          <a:p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= X</a:t>
            </a:r>
            <a:r>
              <a:rPr lang="en-US" baseline="-25000" dirty="0"/>
              <a:t>2</a:t>
            </a:r>
            <a:r>
              <a:rPr lang="en-US" dirty="0"/>
              <a:t>/m= </a:t>
            </a:r>
            <a:r>
              <a:rPr lang="en-US" dirty="0" smtClean="0"/>
              <a:t>45/100=0.45</a:t>
            </a:r>
            <a:endParaRPr lang="en-US" dirty="0"/>
          </a:p>
          <a:p>
            <a:r>
              <a:rPr lang="en-US" dirty="0"/>
              <a:t>X</a:t>
            </a:r>
            <a:r>
              <a:rPr lang="en-US" baseline="-25000" dirty="0"/>
              <a:t>3</a:t>
            </a:r>
            <a:r>
              <a:rPr lang="en-US" dirty="0"/>
              <a:t>= (ax</a:t>
            </a:r>
            <a:r>
              <a:rPr lang="en-US" baseline="-25000" dirty="0"/>
              <a:t>2</a:t>
            </a:r>
            <a:r>
              <a:rPr lang="en-US" dirty="0"/>
              <a:t>+c) mod m=(7*45+29) mod </a:t>
            </a:r>
            <a:r>
              <a:rPr lang="en-US" dirty="0" smtClean="0"/>
              <a:t>100=44</a:t>
            </a:r>
            <a:r>
              <a:rPr lang="en-US" dirty="0"/>
              <a:t> </a:t>
            </a:r>
          </a:p>
          <a:p>
            <a:r>
              <a:rPr lang="en-US" dirty="0"/>
              <a:t>R</a:t>
            </a:r>
            <a:r>
              <a:rPr lang="en-US" baseline="-25000" dirty="0"/>
              <a:t>3</a:t>
            </a:r>
            <a:r>
              <a:rPr lang="en-US" dirty="0"/>
              <a:t>= X</a:t>
            </a:r>
            <a:r>
              <a:rPr lang="en-US" baseline="-25000" dirty="0"/>
              <a:t>3</a:t>
            </a:r>
            <a:r>
              <a:rPr lang="en-US" dirty="0"/>
              <a:t>/m=44/100=0.44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>
            <a:normAutofit/>
          </a:bodyPr>
          <a:lstStyle/>
          <a:p>
            <a:r>
              <a:rPr lang="en-US" b="1" u="sng" dirty="0"/>
              <a:t>MID-SQUARE </a:t>
            </a:r>
            <a:r>
              <a:rPr lang="en-US" b="1" u="sng" dirty="0" smtClean="0"/>
              <a:t>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This method was proposed by Von Neumann and metropolis.</a:t>
            </a:r>
          </a:p>
          <a:p>
            <a:r>
              <a:rPr lang="en-US" dirty="0" smtClean="0"/>
              <a:t>The technique starts with an initial no. or seed. </a:t>
            </a:r>
          </a:p>
          <a:p>
            <a:r>
              <a:rPr lang="en-US" dirty="0" smtClean="0"/>
              <a:t>This number is squared and the middle digit of the square becomes the random number after placement of the decimal. </a:t>
            </a:r>
          </a:p>
          <a:p>
            <a:r>
              <a:rPr lang="en-US" dirty="0" smtClean="0"/>
              <a:t>Again the middle digits are squared to generate the second random number and so on.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u="sng" dirty="0"/>
              <a:t>Example:</a:t>
            </a:r>
            <a:endParaRPr lang="en-US" dirty="0"/>
          </a:p>
          <a:p>
            <a:r>
              <a:rPr lang="en-US" dirty="0"/>
              <a:t> </a:t>
            </a:r>
          </a:p>
          <a:p>
            <a:pPr marL="365760" lvl="1" indent="0">
              <a:buNone/>
            </a:pPr>
            <a:r>
              <a:rPr lang="en-US" dirty="0"/>
              <a:t>X</a:t>
            </a:r>
            <a:r>
              <a:rPr lang="en-US" baseline="-25000" dirty="0"/>
              <a:t>0</a:t>
            </a:r>
            <a:r>
              <a:rPr lang="en-US" dirty="0"/>
              <a:t>= 5497</a:t>
            </a:r>
          </a:p>
          <a:p>
            <a:pPr marL="365760" lvl="1" indent="0">
              <a:buNone/>
            </a:pPr>
            <a:r>
              <a:rPr lang="en-US" dirty="0"/>
              <a:t> </a:t>
            </a:r>
          </a:p>
          <a:p>
            <a:pPr marL="365760" lvl="1" indent="0">
              <a:buNone/>
            </a:pPr>
            <a:r>
              <a:rPr lang="en-US" dirty="0"/>
              <a:t>(X</a:t>
            </a:r>
            <a:r>
              <a:rPr lang="en-US" baseline="-25000" dirty="0"/>
              <a:t>0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= (5497)</a:t>
            </a:r>
            <a:r>
              <a:rPr lang="en-US" baseline="30000" dirty="0"/>
              <a:t>2</a:t>
            </a:r>
            <a:endParaRPr lang="en-US" dirty="0"/>
          </a:p>
          <a:p>
            <a:pPr marL="365760" lvl="1" indent="0">
              <a:buNone/>
            </a:pPr>
            <a:r>
              <a:rPr lang="en-US" dirty="0"/>
              <a:t> </a:t>
            </a:r>
          </a:p>
          <a:p>
            <a:pPr marL="365760" lvl="1" indent="0">
              <a:buNone/>
            </a:pPr>
            <a:r>
              <a:rPr lang="en-US" dirty="0"/>
              <a:t>=</a:t>
            </a:r>
            <a:r>
              <a:rPr lang="en-US" strike="sngStrike" dirty="0"/>
              <a:t>30</a:t>
            </a:r>
            <a:r>
              <a:rPr lang="en-US" u="sng" dirty="0"/>
              <a:t>2170</a:t>
            </a:r>
            <a:r>
              <a:rPr lang="en-US" strike="sngStrike" dirty="0"/>
              <a:t>09</a:t>
            </a:r>
            <a:endParaRPr lang="en-US" dirty="0"/>
          </a:p>
          <a:p>
            <a:pPr marL="365760" lvl="1" indent="0">
              <a:buNone/>
            </a:pPr>
            <a:r>
              <a:rPr lang="en-US" dirty="0"/>
              <a:t> </a:t>
            </a:r>
          </a:p>
          <a:p>
            <a:pPr marL="365760" lvl="1" indent="0">
              <a:buNone/>
            </a:pP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=2170</a:t>
            </a:r>
          </a:p>
          <a:p>
            <a:pPr marL="365760" lvl="1" indent="0">
              <a:buNone/>
            </a:pPr>
            <a:r>
              <a:rPr lang="en-US" dirty="0"/>
              <a:t> </a:t>
            </a:r>
          </a:p>
          <a:p>
            <a:pPr marL="365760" lvl="1" indent="0">
              <a:buNone/>
            </a:pPr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= X</a:t>
            </a:r>
            <a:r>
              <a:rPr lang="en-US" baseline="-25000" dirty="0"/>
              <a:t>1</a:t>
            </a:r>
            <a:r>
              <a:rPr lang="en-US" dirty="0"/>
              <a:t>/m= 2170/10</a:t>
            </a:r>
            <a:r>
              <a:rPr lang="en-US" baseline="30000" dirty="0"/>
              <a:t>4</a:t>
            </a:r>
            <a:r>
              <a:rPr lang="en-US" dirty="0"/>
              <a:t>= 0.2170</a:t>
            </a:r>
          </a:p>
          <a:p>
            <a:pPr marL="365760" lvl="1" indent="0">
              <a:buNone/>
            </a:pPr>
            <a:r>
              <a:rPr lang="en-US" dirty="0"/>
              <a:t> </a:t>
            </a:r>
          </a:p>
          <a:p>
            <a:pPr marL="365760" lvl="1" indent="0">
              <a:buNone/>
            </a:pPr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= (2170)</a:t>
            </a:r>
            <a:r>
              <a:rPr lang="en-US" baseline="30000" dirty="0"/>
              <a:t>2</a:t>
            </a:r>
            <a:r>
              <a:rPr lang="en-US" dirty="0"/>
              <a:t> = </a:t>
            </a:r>
            <a:r>
              <a:rPr lang="en-US" strike="sngStrike" dirty="0"/>
              <a:t>04</a:t>
            </a:r>
            <a:r>
              <a:rPr lang="en-US" u="sng" dirty="0"/>
              <a:t>7089</a:t>
            </a:r>
            <a:r>
              <a:rPr lang="en-US" strike="sngStrike" dirty="0"/>
              <a:t>00</a:t>
            </a:r>
            <a:endParaRPr lang="en-US" dirty="0"/>
          </a:p>
          <a:p>
            <a:pPr marL="365760" lvl="1" indent="0">
              <a:buNone/>
            </a:pPr>
            <a:r>
              <a:rPr lang="en-US" dirty="0"/>
              <a:t> </a:t>
            </a:r>
          </a:p>
          <a:p>
            <a:pPr marL="365760" lvl="1" indent="0">
              <a:buNone/>
            </a:pP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= 7089</a:t>
            </a:r>
          </a:p>
          <a:p>
            <a:pPr marL="365760" lvl="1" indent="0">
              <a:buNone/>
            </a:pPr>
            <a:r>
              <a:rPr lang="en-US" dirty="0"/>
              <a:t> </a:t>
            </a:r>
          </a:p>
          <a:p>
            <a:pPr marL="365760" lvl="1" indent="0">
              <a:buNone/>
            </a:pPr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= X</a:t>
            </a:r>
            <a:r>
              <a:rPr lang="en-US" baseline="-25000" dirty="0"/>
              <a:t>2</a:t>
            </a:r>
            <a:r>
              <a:rPr lang="en-US" dirty="0"/>
              <a:t>/m= 0.7089</a:t>
            </a:r>
          </a:p>
          <a:p>
            <a:pPr marL="365760" lvl="1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7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Drawbacks:</a:t>
            </a:r>
            <a:endParaRPr lang="en-US" dirty="0" smtClean="0"/>
          </a:p>
          <a:p>
            <a:pPr lvl="1"/>
            <a:r>
              <a:rPr lang="en-US" dirty="0" smtClean="0"/>
              <a:t>Zeros </a:t>
            </a:r>
            <a:r>
              <a:rPr lang="en-US" dirty="0"/>
              <a:t>are repeated in further numbers </a:t>
            </a:r>
            <a:r>
              <a:rPr lang="en-US" dirty="0" smtClean="0"/>
              <a:t>generated.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starts degenerating for multiples of 10, 100, ……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80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>TESTS FOR RANDOM NUMBERS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Properties of random number</a:t>
            </a:r>
          </a:p>
          <a:p>
            <a:pPr lvl="2"/>
            <a:r>
              <a:rPr lang="en-US" dirty="0" smtClean="0"/>
              <a:t>Uniformity</a:t>
            </a:r>
          </a:p>
          <a:p>
            <a:pPr lvl="2"/>
            <a:r>
              <a:rPr lang="en-US" dirty="0" smtClean="0"/>
              <a:t>Independence</a:t>
            </a:r>
          </a:p>
          <a:p>
            <a:r>
              <a:rPr lang="en-US" b="1" u="sng" dirty="0" smtClean="0"/>
              <a:t>UNIFORMITY:</a:t>
            </a:r>
            <a:endParaRPr lang="en-US" dirty="0" smtClean="0"/>
          </a:p>
          <a:p>
            <a:pPr lvl="1"/>
            <a:r>
              <a:rPr lang="en-US" b="1" i="1" dirty="0" smtClean="0"/>
              <a:t>Frequency Test:</a:t>
            </a:r>
            <a:endParaRPr lang="en-US" dirty="0"/>
          </a:p>
          <a:p>
            <a:pPr lvl="1"/>
            <a:r>
              <a:rPr lang="en-US" dirty="0" smtClean="0"/>
              <a:t>It uses Kolmogorov-Smirnov or the Chi-square test to compare the distribution of the set of numbers generated to a uniform distribution.</a:t>
            </a:r>
          </a:p>
          <a:p>
            <a:r>
              <a:rPr lang="en-US" b="1" u="sng" dirty="0" smtClean="0"/>
              <a:t>INDEPENDENCE:</a:t>
            </a:r>
            <a:endParaRPr lang="en-US" dirty="0" smtClean="0"/>
          </a:p>
          <a:p>
            <a:pPr lvl="1"/>
            <a:r>
              <a:rPr lang="en-US" b="1" i="1" dirty="0" smtClean="0"/>
              <a:t>Auto-co-relation test: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096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It tests the co-relation between numbers and compares the sample co-relation to the expected co-relation that should be 0.</a:t>
            </a:r>
          </a:p>
          <a:p>
            <a:r>
              <a:rPr lang="en-US" dirty="0" smtClean="0"/>
              <a:t>There are some more tests for independence-</a:t>
            </a:r>
          </a:p>
          <a:p>
            <a:pPr lvl="1"/>
            <a:r>
              <a:rPr lang="en-US" dirty="0" smtClean="0"/>
              <a:t>Run test</a:t>
            </a:r>
          </a:p>
          <a:p>
            <a:pPr lvl="1"/>
            <a:r>
              <a:rPr lang="en-US" dirty="0" smtClean="0"/>
              <a:t>Gap test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The testing for uniformity of the hypothesis are:</a:t>
            </a:r>
          </a:p>
          <a:p>
            <a:pPr lvl="0"/>
            <a:r>
              <a:rPr lang="en-US" dirty="0" smtClean="0"/>
              <a:t>H</a:t>
            </a:r>
            <a:r>
              <a:rPr lang="en-US" baseline="-25000" dirty="0" smtClean="0"/>
              <a:t>0</a:t>
            </a:r>
            <a:r>
              <a:rPr lang="en-US" dirty="0" smtClean="0"/>
              <a:t>: </a:t>
            </a:r>
            <a:r>
              <a:rPr lang="en-US" dirty="0" err="1" smtClean="0"/>
              <a:t>Ri~U</a:t>
            </a:r>
            <a:r>
              <a:rPr lang="en-US" dirty="0" smtClean="0"/>
              <a:t>[0,1] called null hypothesis.</a:t>
            </a:r>
          </a:p>
          <a:p>
            <a:r>
              <a:rPr lang="en-US" dirty="0" smtClean="0"/>
              <a:t>The null hypothesis H0 reads that the random number distributed in between [0,1]</a:t>
            </a:r>
          </a:p>
          <a:p>
            <a:pPr lvl="0"/>
            <a:r>
              <a:rPr lang="en-US" dirty="0" smtClean="0"/>
              <a:t>H</a:t>
            </a:r>
            <a:r>
              <a:rPr lang="en-US" baseline="-25000" dirty="0" smtClean="0"/>
              <a:t>1</a:t>
            </a:r>
            <a:r>
              <a:rPr lang="en-US" dirty="0" smtClean="0"/>
              <a:t>:Ri </a:t>
            </a:r>
            <a:r>
              <a:rPr lang="en-US" b="1" dirty="0" err="1" smtClean="0"/>
              <a:t>not</a:t>
            </a:r>
            <a:r>
              <a:rPr lang="en-US" dirty="0" err="1" smtClean="0"/>
              <a:t>U</a:t>
            </a:r>
            <a:r>
              <a:rPr lang="en-US" dirty="0" smtClean="0"/>
              <a:t>[0,1]</a:t>
            </a:r>
          </a:p>
          <a:p>
            <a:r>
              <a:rPr lang="en-US" dirty="0" smtClean="0"/>
              <a:t>Failure to reject the null hypothesis means that evidence of non-uniformity has not been detected by this test.</a:t>
            </a:r>
          </a:p>
          <a:p>
            <a:r>
              <a:rPr lang="en-US" dirty="0" smtClean="0"/>
              <a:t>In test for independence the hypothesis are-</a:t>
            </a:r>
          </a:p>
          <a:p>
            <a:pPr lvl="0"/>
            <a:r>
              <a:rPr lang="en-US" dirty="0" smtClean="0"/>
              <a:t>H0:Ri~independent</a:t>
            </a:r>
          </a:p>
          <a:p>
            <a:pPr lvl="0"/>
            <a:r>
              <a:rPr lang="en-US" dirty="0" smtClean="0"/>
              <a:t>H</a:t>
            </a:r>
            <a:r>
              <a:rPr lang="en-US" baseline="-25000" dirty="0" smtClean="0"/>
              <a:t>1</a:t>
            </a:r>
            <a:r>
              <a:rPr lang="en-US" dirty="0" smtClean="0"/>
              <a:t>:Ri  independent rejected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>KOLMOGOROV SMIRNOV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This test compares the continuous </a:t>
            </a:r>
            <a:r>
              <a:rPr lang="en-US" dirty="0" err="1" smtClean="0"/>
              <a:t>cdf</a:t>
            </a:r>
            <a:r>
              <a:rPr lang="en-US" dirty="0" smtClean="0"/>
              <a:t> F(x) of the uniform distribution with the empirical </a:t>
            </a:r>
            <a:r>
              <a:rPr lang="en-US" dirty="0" err="1" smtClean="0"/>
              <a:t>cdf</a:t>
            </a:r>
            <a:r>
              <a:rPr lang="en-US" dirty="0" smtClean="0"/>
              <a:t> S</a:t>
            </a:r>
            <a:r>
              <a:rPr lang="en-US" baseline="-25000" dirty="0" smtClean="0"/>
              <a:t>N</a:t>
            </a:r>
            <a:r>
              <a:rPr lang="en-US" dirty="0" smtClean="0"/>
              <a:t>(x) of the sample of N observation.</a:t>
            </a:r>
          </a:p>
          <a:p>
            <a:r>
              <a:rPr lang="en-US" dirty="0" smtClean="0"/>
              <a:t>By definition,</a:t>
            </a:r>
          </a:p>
          <a:p>
            <a:r>
              <a:rPr lang="en-US" dirty="0" smtClean="0"/>
              <a:t>F(x)=x, 0&lt;=x&lt;=1</a:t>
            </a:r>
          </a:p>
          <a:p>
            <a:r>
              <a:rPr lang="en-US" dirty="0" smtClean="0"/>
              <a:t>If the sample from the random number generator is-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,R</a:t>
            </a:r>
            <a:r>
              <a:rPr lang="en-US" baseline="-25000" dirty="0" smtClean="0"/>
              <a:t>2</a:t>
            </a:r>
            <a:r>
              <a:rPr lang="en-US" dirty="0" smtClean="0"/>
              <a:t>,R</a:t>
            </a:r>
            <a:r>
              <a:rPr lang="en-US" baseline="-25000" dirty="0" smtClean="0"/>
              <a:t>3</a:t>
            </a:r>
            <a:r>
              <a:rPr lang="en-US" dirty="0" smtClean="0"/>
              <a:t>……R	</a:t>
            </a:r>
            <a:r>
              <a:rPr lang="en-US" baseline="-25000" dirty="0" smtClean="0"/>
              <a:t>N</a:t>
            </a:r>
            <a:endParaRPr lang="en-US" dirty="0" smtClean="0"/>
          </a:p>
          <a:p>
            <a:r>
              <a:rPr lang="en-US" dirty="0" smtClean="0"/>
              <a:t>S</a:t>
            </a:r>
            <a:r>
              <a:rPr lang="en-US" baseline="-25000" dirty="0" smtClean="0"/>
              <a:t>N</a:t>
            </a:r>
            <a:r>
              <a:rPr lang="en-US" dirty="0" smtClean="0"/>
              <a:t>(n)=no. of R</a:t>
            </a:r>
            <a:r>
              <a:rPr lang="en-US" baseline="-25000" dirty="0" smtClean="0"/>
              <a:t>1,</a:t>
            </a:r>
            <a:r>
              <a:rPr lang="en-US" dirty="0" smtClean="0"/>
              <a:t>R</a:t>
            </a:r>
            <a:r>
              <a:rPr lang="en-US" baseline="-25000" dirty="0" smtClean="0"/>
              <a:t>2,……</a:t>
            </a:r>
            <a:r>
              <a:rPr lang="en-US" dirty="0" smtClean="0"/>
              <a:t>	R</a:t>
            </a:r>
            <a:r>
              <a:rPr lang="en-US" baseline="-25000" dirty="0" smtClean="0"/>
              <a:t>N</a:t>
            </a:r>
            <a:r>
              <a:rPr lang="en-US" dirty="0" smtClean="0"/>
              <a:t> which are &lt;=x</a:t>
            </a:r>
          </a:p>
          <a:p>
            <a:r>
              <a:rPr lang="en-US" dirty="0" smtClean="0"/>
              <a:t>This test is based on the statistical D=max | f(x)=S</a:t>
            </a:r>
            <a:r>
              <a:rPr lang="en-US" baseline="-25000" dirty="0" smtClean="0"/>
              <a:t>N</a:t>
            </a:r>
            <a:r>
              <a:rPr lang="en-US" dirty="0" smtClean="0"/>
              <a:t>(x) |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KOLMOGOROV SMIRNOV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 smtClean="0"/>
              <a:t>Step-1</a:t>
            </a:r>
            <a:endParaRPr lang="en-US" dirty="0" smtClean="0"/>
          </a:p>
          <a:p>
            <a:r>
              <a:rPr lang="en-US" dirty="0" smtClean="0"/>
              <a:t>Rank the data from smallest to largest. Let </a:t>
            </a:r>
            <a:r>
              <a:rPr lang="en-US" dirty="0" err="1" smtClean="0"/>
              <a:t>R</a:t>
            </a:r>
            <a:r>
              <a:rPr lang="en-US" baseline="-25000" dirty="0" err="1" smtClean="0"/>
              <a:t>i</a:t>
            </a:r>
            <a:r>
              <a:rPr lang="en-US" dirty="0" smtClean="0"/>
              <a:t> denotes the smallest </a:t>
            </a:r>
            <a:r>
              <a:rPr lang="en-US" dirty="0" err="1" smtClean="0"/>
              <a:t>i</a:t>
            </a:r>
            <a:r>
              <a:rPr lang="en-US" baseline="30000" dirty="0" err="1" smtClean="0"/>
              <a:t>th</a:t>
            </a:r>
            <a:r>
              <a:rPr lang="en-US" dirty="0" smtClean="0"/>
              <a:t> observation-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(1)</a:t>
            </a:r>
            <a:r>
              <a:rPr lang="en-US" dirty="0" smtClean="0"/>
              <a:t>&lt;=R</a:t>
            </a:r>
            <a:r>
              <a:rPr lang="en-US" baseline="-25000" dirty="0" smtClean="0"/>
              <a:t>(2)</a:t>
            </a:r>
            <a:r>
              <a:rPr lang="en-US" dirty="0" smtClean="0"/>
              <a:t>&lt;=……&lt;=R	</a:t>
            </a:r>
            <a:r>
              <a:rPr lang="en-US" baseline="-25000" dirty="0" smtClean="0"/>
              <a:t>(N)</a:t>
            </a:r>
            <a:endParaRPr lang="en-US" dirty="0" smtClean="0"/>
          </a:p>
          <a:p>
            <a:r>
              <a:rPr lang="en-US" b="1" u="sng" dirty="0" smtClean="0"/>
              <a:t>Step-2</a:t>
            </a:r>
            <a:endParaRPr lang="en-US" dirty="0" smtClean="0"/>
          </a:p>
          <a:p>
            <a:r>
              <a:rPr lang="en-US" dirty="0" smtClean="0"/>
              <a:t>Compute –</a:t>
            </a:r>
          </a:p>
          <a:p>
            <a:r>
              <a:rPr lang="en-US" dirty="0" smtClean="0"/>
              <a:t>D</a:t>
            </a:r>
            <a:r>
              <a:rPr lang="en-US" baseline="30000" dirty="0" smtClean="0"/>
              <a:t>+</a:t>
            </a:r>
            <a:r>
              <a:rPr lang="en-US" dirty="0" smtClean="0"/>
              <a:t>=max</a:t>
            </a:r>
            <a:r>
              <a:rPr lang="en-US" baseline="-25000" dirty="0" smtClean="0"/>
              <a:t>1&lt;=</a:t>
            </a:r>
            <a:r>
              <a:rPr lang="en-US" baseline="-25000" dirty="0" err="1" smtClean="0"/>
              <a:t>i</a:t>
            </a:r>
            <a:r>
              <a:rPr lang="en-US" baseline="-25000" dirty="0" smtClean="0"/>
              <a:t>&lt;N</a:t>
            </a:r>
            <a:r>
              <a:rPr lang="en-US" dirty="0" smtClean="0"/>
              <a:t> {</a:t>
            </a:r>
            <a:r>
              <a:rPr lang="en-US" dirty="0" err="1" smtClean="0"/>
              <a:t>i</a:t>
            </a:r>
            <a:r>
              <a:rPr lang="en-US" dirty="0" smtClean="0"/>
              <a:t>/N=R</a:t>
            </a:r>
            <a:r>
              <a:rPr lang="en-US" baseline="-25000" dirty="0" smtClean="0"/>
              <a:t>(</a:t>
            </a:r>
            <a:r>
              <a:rPr lang="en-US" baseline="-25000" dirty="0" err="1" smtClean="0"/>
              <a:t>i</a:t>
            </a:r>
            <a:r>
              <a:rPr lang="en-US" baseline="-25000" dirty="0" smtClean="0"/>
              <a:t>)</a:t>
            </a:r>
            <a:r>
              <a:rPr lang="en-US" dirty="0" smtClean="0"/>
              <a:t>}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D</a:t>
            </a:r>
            <a:r>
              <a:rPr lang="en-US" baseline="30000" dirty="0" smtClean="0"/>
              <a:t>-</a:t>
            </a:r>
            <a:r>
              <a:rPr lang="en-US" dirty="0" smtClean="0"/>
              <a:t>=max</a:t>
            </a:r>
            <a:r>
              <a:rPr lang="en-US" baseline="-25000" dirty="0" smtClean="0"/>
              <a:t>1&lt;=</a:t>
            </a:r>
            <a:r>
              <a:rPr lang="en-US" baseline="-25000" dirty="0" err="1" smtClean="0"/>
              <a:t>i</a:t>
            </a:r>
            <a:r>
              <a:rPr lang="en-US" baseline="-25000" dirty="0" smtClean="0"/>
              <a:t>&lt;N</a:t>
            </a:r>
            <a:r>
              <a:rPr lang="en-US" dirty="0" smtClean="0"/>
              <a:t> {</a:t>
            </a:r>
            <a:r>
              <a:rPr lang="en-US" dirty="0" err="1" smtClean="0"/>
              <a:t>R</a:t>
            </a:r>
            <a:r>
              <a:rPr lang="en-US" baseline="-25000" dirty="0" err="1" smtClean="0"/>
              <a:t>i</a:t>
            </a:r>
            <a:r>
              <a:rPr lang="en-US" dirty="0" smtClean="0"/>
              <a:t>-(i-1)/N}</a:t>
            </a:r>
          </a:p>
          <a:p>
            <a:r>
              <a:rPr lang="en-US" dirty="0" smtClean="0"/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KOLMOGOROV SMIRNOV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19600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 smtClean="0"/>
              <a:t>Step-3</a:t>
            </a:r>
            <a:endParaRPr lang="en-US" dirty="0" smtClean="0"/>
          </a:p>
          <a:p>
            <a:r>
              <a:rPr lang="en-US" dirty="0" smtClean="0"/>
              <a:t>Compute D=max(D</a:t>
            </a:r>
            <a:r>
              <a:rPr lang="en-US" baseline="30000" dirty="0" smtClean="0"/>
              <a:t>+</a:t>
            </a:r>
            <a:r>
              <a:rPr lang="en-US" dirty="0" smtClean="0"/>
              <a:t>,D</a:t>
            </a:r>
            <a:r>
              <a:rPr lang="en-US" baseline="30000" dirty="0" smtClean="0"/>
              <a:t>-</a:t>
            </a:r>
            <a:r>
              <a:rPr lang="en-US" dirty="0" smtClean="0"/>
              <a:t>}</a:t>
            </a:r>
          </a:p>
          <a:p>
            <a:r>
              <a:rPr lang="en-US" b="1" u="sng" dirty="0" smtClean="0"/>
              <a:t>Step-4</a:t>
            </a:r>
            <a:endParaRPr lang="en-US" dirty="0" smtClean="0"/>
          </a:p>
          <a:p>
            <a:r>
              <a:rPr lang="en-US" dirty="0" smtClean="0"/>
              <a:t>Locate in table the critical value Dα for the specified significant table ‘ α’ &amp; the given sample size ‘N’.</a:t>
            </a:r>
          </a:p>
          <a:p>
            <a:r>
              <a:rPr lang="en-US" b="1" u="sng" dirty="0" smtClean="0"/>
              <a:t>Step-5</a:t>
            </a:r>
            <a:endParaRPr lang="en-US" dirty="0" smtClean="0"/>
          </a:p>
          <a:p>
            <a:r>
              <a:rPr lang="en-US" dirty="0" smtClean="0"/>
              <a:t>If the sample statistic (D) &gt; the critical value (D</a:t>
            </a:r>
            <a:r>
              <a:rPr lang="en-US" baseline="-25000" dirty="0" smtClean="0"/>
              <a:t>α</a:t>
            </a:r>
            <a:r>
              <a:rPr lang="en-US" dirty="0" smtClean="0"/>
              <a:t>) the null hypothesis that the data are sample from a uniform distribution is rejected.</a:t>
            </a:r>
          </a:p>
          <a:p>
            <a:r>
              <a:rPr lang="en-US" dirty="0" smtClean="0"/>
              <a:t>If D&lt;= </a:t>
            </a:r>
            <a:r>
              <a:rPr lang="en-US" dirty="0" err="1" smtClean="0"/>
              <a:t>D</a:t>
            </a:r>
            <a:r>
              <a:rPr lang="en-US" baseline="-25000" dirty="0" err="1" smtClean="0"/>
              <a:t>α</a:t>
            </a:r>
            <a:r>
              <a:rPr lang="en-US" dirty="0" smtClean="0"/>
              <a:t> conclude that no difference has been detected between the true distribution &amp; the uniform distribution.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KOLMOGOROV SMIRNOV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each test a table of significance ‘ α’ is tested. This table is the probability of rejecting the null hypothesis , when the null hypothesis is true.</a:t>
            </a:r>
          </a:p>
          <a:p>
            <a:r>
              <a:rPr lang="en-US" dirty="0" smtClean="0"/>
              <a:t>The decision marker sets the value of ‘ α’ for any tests frequently α=0.01 or 0.05.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kol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685800"/>
            <a:ext cx="8586397" cy="5257800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324600"/>
          </a:xfrm>
        </p:spPr>
        <p:txBody>
          <a:bodyPr>
            <a:normAutofit/>
          </a:bodyPr>
          <a:lstStyle/>
          <a:p>
            <a:r>
              <a:rPr lang="en-US" b="1" u="sng" dirty="0" smtClean="0"/>
              <a:t>Step-1</a:t>
            </a:r>
            <a:endParaRPr lang="en-US" dirty="0" smtClean="0"/>
          </a:p>
          <a:p>
            <a:r>
              <a:rPr lang="en-US" dirty="0" smtClean="0"/>
              <a:t>D</a:t>
            </a:r>
            <a:r>
              <a:rPr lang="en-US" baseline="30000" dirty="0" smtClean="0"/>
              <a:t>+</a:t>
            </a:r>
            <a:r>
              <a:rPr lang="en-US" dirty="0" smtClean="0"/>
              <a:t>=0.26</a:t>
            </a:r>
          </a:p>
          <a:p>
            <a:r>
              <a:rPr lang="en-US" b="1" u="sng" dirty="0" smtClean="0"/>
              <a:t>Step-2</a:t>
            </a:r>
            <a:endParaRPr lang="en-US" dirty="0" smtClean="0"/>
          </a:p>
          <a:p>
            <a:r>
              <a:rPr lang="en-US" dirty="0" smtClean="0"/>
              <a:t>D</a:t>
            </a:r>
            <a:r>
              <a:rPr lang="en-US" baseline="30000" dirty="0" smtClean="0"/>
              <a:t>-</a:t>
            </a:r>
            <a:r>
              <a:rPr lang="en-US" dirty="0" smtClean="0"/>
              <a:t>=0.21</a:t>
            </a:r>
          </a:p>
          <a:p>
            <a:r>
              <a:rPr lang="en-US" dirty="0" smtClean="0"/>
              <a:t> </a:t>
            </a:r>
          </a:p>
          <a:p>
            <a:r>
              <a:rPr lang="en-US" b="1" u="sng" dirty="0" smtClean="0"/>
              <a:t>Step-3</a:t>
            </a:r>
            <a:endParaRPr lang="en-US" dirty="0" smtClean="0"/>
          </a:p>
          <a:p>
            <a:r>
              <a:rPr lang="en-US" dirty="0" smtClean="0"/>
              <a:t>D=max(0.26,0.21)=0.26</a:t>
            </a:r>
          </a:p>
          <a:p>
            <a:r>
              <a:rPr lang="en-US" b="1" u="sng" dirty="0" smtClean="0"/>
              <a:t>Step-4</a:t>
            </a:r>
            <a:endParaRPr lang="en-US" dirty="0" smtClean="0"/>
          </a:p>
          <a:p>
            <a:r>
              <a:rPr lang="en-US" dirty="0" smtClean="0"/>
              <a:t>α=0.05 , N=5</a:t>
            </a:r>
          </a:p>
          <a:p>
            <a:r>
              <a:rPr lang="en-US" dirty="0" smtClean="0"/>
              <a:t>D α=0.565</a:t>
            </a:r>
          </a:p>
          <a:p>
            <a:r>
              <a:rPr lang="en-US" b="1" u="sng" dirty="0" smtClean="0"/>
              <a:t>Step-5</a:t>
            </a:r>
            <a:endParaRPr lang="en-US" dirty="0" smtClean="0"/>
          </a:p>
          <a:p>
            <a:r>
              <a:rPr lang="en-US" dirty="0" smtClean="0"/>
              <a:t>As D&lt;D α, the sequence of random no. is uniformly distributed &amp; the null hypothesis is not rejected.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Kolmogorov </a:t>
            </a:r>
            <a:r>
              <a:rPr lang="en-US" smtClean="0"/>
              <a:t>Smirnov Table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42" y="1976741"/>
            <a:ext cx="7964715" cy="4306281"/>
          </a:xfrm>
        </p:spPr>
      </p:pic>
    </p:spTree>
    <p:extLst>
      <p:ext uri="{BB962C8B-B14F-4D97-AF65-F5344CB8AC3E}">
        <p14:creationId xmlns:p14="http://schemas.microsoft.com/office/powerpoint/2010/main" val="762082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Chi-Square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test uses the sample statistics</a:t>
            </a:r>
          </a:p>
          <a:p>
            <a:endParaRPr lang="en-US" dirty="0" smtClean="0"/>
          </a:p>
          <a:p>
            <a:endParaRPr lang="en-US" dirty="0" smtClean="0"/>
          </a:p>
          <a:p>
            <a:pPr lvl="2"/>
            <a:r>
              <a:rPr lang="en-US" dirty="0" smtClean="0"/>
              <a:t>Where, </a:t>
            </a:r>
            <a:r>
              <a:rPr lang="en-US" dirty="0" err="1" smtClean="0"/>
              <a:t>Oi</a:t>
            </a:r>
            <a:r>
              <a:rPr lang="en-US" dirty="0" smtClean="0"/>
              <a:t> = The observed number in the </a:t>
            </a:r>
            <a:r>
              <a:rPr lang="en-US" dirty="0" err="1" smtClean="0"/>
              <a:t>ith</a:t>
            </a:r>
            <a:r>
              <a:rPr lang="en-US" dirty="0" smtClean="0"/>
              <a:t> class </a:t>
            </a:r>
          </a:p>
          <a:p>
            <a:pPr lvl="2"/>
            <a:r>
              <a:rPr lang="en-US" dirty="0" err="1" smtClean="0"/>
              <a:t>Ei</a:t>
            </a:r>
            <a:r>
              <a:rPr lang="en-US" dirty="0" smtClean="0"/>
              <a:t> = Expected number in the </a:t>
            </a:r>
            <a:r>
              <a:rPr lang="en-US" dirty="0" err="1" smtClean="0"/>
              <a:t>ith</a:t>
            </a:r>
            <a:r>
              <a:rPr lang="en-US" dirty="0" smtClean="0"/>
              <a:t> class </a:t>
            </a:r>
          </a:p>
          <a:p>
            <a:pPr lvl="2"/>
            <a:r>
              <a:rPr lang="en-US" dirty="0" smtClean="0"/>
              <a:t>n = Number of classes </a:t>
            </a:r>
          </a:p>
          <a:p>
            <a:pPr marL="393192" lvl="1" indent="0">
              <a:buNone/>
            </a:pPr>
            <a:r>
              <a:rPr lang="en-US" dirty="0" smtClean="0"/>
              <a:t>For uniform distribution </a:t>
            </a:r>
            <a:r>
              <a:rPr lang="en-US" dirty="0" err="1" smtClean="0"/>
              <a:t>Ei</a:t>
            </a:r>
            <a:r>
              <a:rPr lang="en-US" dirty="0" smtClean="0"/>
              <a:t> is given by, x</a:t>
            </a:r>
          </a:p>
          <a:p>
            <a:endParaRPr lang="en-US" dirty="0" smtClean="0"/>
          </a:p>
          <a:p>
            <a:endParaRPr lang="en-US" dirty="0" smtClean="0"/>
          </a:p>
          <a:p>
            <a:pPr lvl="2"/>
            <a:r>
              <a:rPr lang="en-US" dirty="0" smtClean="0"/>
              <a:t>Where</a:t>
            </a:r>
            <a:r>
              <a:rPr lang="en-US" dirty="0"/>
              <a:t>, N = Number of Observation</a:t>
            </a:r>
          </a:p>
          <a:p>
            <a:pPr lvl="2"/>
            <a:r>
              <a:rPr lang="en-US" dirty="0"/>
              <a:t> n = classes </a:t>
            </a:r>
          </a:p>
          <a:p>
            <a:pPr lvl="2"/>
            <a:r>
              <a:rPr lang="en-US" dirty="0"/>
              <a:t>It is generally done when N≥0. 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ch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1994265"/>
            <a:ext cx="2971800" cy="838200"/>
          </a:xfrm>
          <a:prstGeom prst="rect">
            <a:avLst/>
          </a:prstGeom>
        </p:spPr>
      </p:pic>
      <p:pic>
        <p:nvPicPr>
          <p:cNvPr id="5" name="Picture 4" descr="chi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429662"/>
            <a:ext cx="1828800" cy="79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392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Q: Test the following number for uniformity by Chi-square test. 0.15, 0.22, 0.11, 0.25, 0.09, 0.01, 0.28, 0.07, 0.13, 0.03 </a:t>
            </a:r>
          </a:p>
          <a:p>
            <a:r>
              <a:rPr lang="en-US" dirty="0" smtClean="0"/>
              <a:t>A: Here, N = 10 n = 10 </a:t>
            </a:r>
          </a:p>
        </p:txBody>
      </p:sp>
    </p:spTree>
    <p:extLst>
      <p:ext uri="{BB962C8B-B14F-4D97-AF65-F5344CB8AC3E}">
        <p14:creationId xmlns:p14="http://schemas.microsoft.com/office/powerpoint/2010/main" val="42525433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91886" y="2743200"/>
            <a:ext cx="8142514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7924800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6491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0674"/>
            <a:ext cx="8055000" cy="6047563"/>
          </a:xfrm>
        </p:spPr>
      </p:pic>
    </p:spTree>
    <p:extLst>
      <p:ext uri="{BB962C8B-B14F-4D97-AF65-F5344CB8AC3E}">
        <p14:creationId xmlns:p14="http://schemas.microsoft.com/office/powerpoint/2010/main" val="21426525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>Run Test (Test for independence)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67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This test examines the arrangement of numbers in a sequence to test the hypothesis of independence.</a:t>
            </a:r>
          </a:p>
          <a:p>
            <a:r>
              <a:rPr lang="en-US" b="1" dirty="0" smtClean="0"/>
              <a:t>Run:</a:t>
            </a:r>
            <a:endParaRPr lang="en-US" dirty="0" smtClean="0"/>
          </a:p>
          <a:p>
            <a:r>
              <a:rPr lang="en-US" dirty="0" smtClean="0"/>
              <a:t>Run is defined as a succession of similar events proceeded &amp; followed by a different event.</a:t>
            </a:r>
            <a:endParaRPr lang="en-US" u="sng" dirty="0" smtClean="0"/>
          </a:p>
          <a:p>
            <a:r>
              <a:rPr lang="en-US" u="sng" dirty="0" smtClean="0"/>
              <a:t>HT TH HT TTHT</a:t>
            </a:r>
            <a:r>
              <a:rPr lang="en-US" dirty="0" smtClean="0"/>
              <a:t> </a:t>
            </a:r>
          </a:p>
          <a:p>
            <a:r>
              <a:rPr lang="en-US" dirty="0" smtClean="0"/>
              <a:t>1	2	3	4	5	6</a:t>
            </a:r>
          </a:p>
          <a:p>
            <a:endParaRPr lang="en-US" dirty="0" smtClean="0"/>
          </a:p>
          <a:p>
            <a:r>
              <a:rPr lang="en-US" dirty="0" smtClean="0"/>
              <a:t>Total run=6</a:t>
            </a:r>
          </a:p>
          <a:p>
            <a:endParaRPr lang="en-US" dirty="0" smtClean="0"/>
          </a:p>
          <a:p>
            <a:r>
              <a:rPr lang="en-US" b="1" u="sng" dirty="0" smtClean="0"/>
              <a:t>Length of run: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Length of the run is the no. of the event occur in the event.</a:t>
            </a:r>
          </a:p>
          <a:p>
            <a:endParaRPr lang="en-US" dirty="0" smtClean="0"/>
          </a:p>
          <a:p>
            <a:r>
              <a:rPr lang="en-US" u="sng" dirty="0" smtClean="0"/>
              <a:t>HTTHHTTTHT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1  2	2	3	1	1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Run </a:t>
            </a:r>
            <a:r>
              <a:rPr lang="en-US" b="1" u="sng" dirty="0" smtClean="0"/>
              <a:t>Test 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UP RUN:</a:t>
            </a:r>
            <a:endParaRPr lang="en-US" dirty="0" smtClean="0"/>
          </a:p>
          <a:p>
            <a:r>
              <a:rPr lang="en-US" dirty="0" smtClean="0"/>
              <a:t>An up run is a sequence of number each of which is succeeded by a larger number- 0.07 0.12 0.53 0.85 0.92</a:t>
            </a:r>
          </a:p>
          <a:p>
            <a:r>
              <a:rPr lang="en-US" b="1" u="sng" dirty="0" smtClean="0"/>
              <a:t>Down Run:</a:t>
            </a:r>
            <a:endParaRPr lang="en-US" dirty="0" smtClean="0"/>
          </a:p>
          <a:p>
            <a:r>
              <a:rPr lang="en-US" dirty="0" smtClean="0"/>
              <a:t>A down run is a sequence of numbers each of which is succeeded by a smaller no.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b="1" u="sng" dirty="0"/>
              <a:t>Run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0.92	0.87	0.75	0.53	0.21	0.13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-	-	-	-	-</a:t>
            </a:r>
          </a:p>
          <a:p>
            <a:r>
              <a:rPr lang="en-US" dirty="0" smtClean="0"/>
              <a:t> </a:t>
            </a:r>
            <a:endParaRPr lang="en-US" sz="3400" dirty="0" smtClean="0"/>
          </a:p>
          <a:p>
            <a:r>
              <a:rPr lang="en-US" sz="3400" dirty="0" smtClean="0"/>
              <a:t>If  ‘N’ is the no. of numbers in a sequence  the maximum no. of runs is N-1 &amp; minimum no. of runs  is 1.</a:t>
            </a:r>
          </a:p>
          <a:p>
            <a:pPr marL="0" indent="0">
              <a:buNone/>
            </a:pPr>
            <a:r>
              <a:rPr lang="en-US" sz="3400" dirty="0" smtClean="0"/>
              <a:t> </a:t>
            </a:r>
          </a:p>
          <a:p>
            <a:r>
              <a:rPr lang="en-US" sz="3400" dirty="0" smtClean="0"/>
              <a:t>If ‘a’ is the total no. of runs in a truly random sequence the mean &amp; variance of ‘a’ is given by-</a:t>
            </a:r>
          </a:p>
          <a:p>
            <a:endParaRPr lang="en-US" sz="3400" dirty="0" smtClean="0"/>
          </a:p>
          <a:p>
            <a:r>
              <a:rPr lang="en-US" sz="3400" b="1" u="sng" dirty="0" smtClean="0"/>
              <a:t>Mean</a:t>
            </a:r>
            <a:endParaRPr lang="en-US" sz="3400" dirty="0" smtClean="0"/>
          </a:p>
          <a:p>
            <a:r>
              <a:rPr lang="en-US" sz="3400" dirty="0" smtClean="0"/>
              <a:t>µ </a:t>
            </a:r>
            <a:r>
              <a:rPr lang="en-US" sz="3400" baseline="-25000" dirty="0" smtClean="0"/>
              <a:t>a</a:t>
            </a:r>
            <a:r>
              <a:rPr lang="en-US" sz="3400" dirty="0" smtClean="0"/>
              <a:t>=(2N-1)/3</a:t>
            </a:r>
          </a:p>
          <a:p>
            <a:endParaRPr lang="en-US" sz="3400" dirty="0" smtClean="0"/>
          </a:p>
          <a:p>
            <a:r>
              <a:rPr lang="en-US" sz="3400" b="1" u="sng" dirty="0" smtClean="0"/>
              <a:t>Variance</a:t>
            </a:r>
            <a:endParaRPr lang="en-US" sz="3400" dirty="0"/>
          </a:p>
          <a:p>
            <a:r>
              <a:rPr lang="en-US" sz="3400" dirty="0" smtClean="0"/>
              <a:t> </a:t>
            </a:r>
          </a:p>
          <a:p>
            <a:r>
              <a:rPr lang="en-US" sz="3400" dirty="0" smtClean="0"/>
              <a:t>σ</a:t>
            </a:r>
            <a:r>
              <a:rPr lang="en-US" sz="3400" baseline="-25000" dirty="0" smtClean="0"/>
              <a:t>a</a:t>
            </a:r>
            <a:r>
              <a:rPr lang="en-US" sz="3400" baseline="30000" dirty="0" smtClean="0"/>
              <a:t>2</a:t>
            </a:r>
            <a:r>
              <a:rPr lang="en-US" sz="3400" dirty="0" smtClean="0"/>
              <a:t>=(16N-29)/90</a:t>
            </a:r>
          </a:p>
          <a:p>
            <a:r>
              <a:rPr lang="en-US" sz="3400" dirty="0" smtClean="0"/>
              <a:t>=&gt;</a:t>
            </a:r>
            <a:r>
              <a:rPr lang="en-US" sz="3400" b="1" dirty="0" smtClean="0"/>
              <a:t>j</a:t>
            </a:r>
            <a:r>
              <a:rPr lang="en-US" sz="3400" b="1" strike="sngStrike" dirty="0" smtClean="0"/>
              <a:t>16l</a:t>
            </a:r>
            <a:r>
              <a:rPr lang="en-US" sz="3400" dirty="0" smtClean="0"/>
              <a:t>	</a:t>
            </a:r>
            <a:r>
              <a:rPr lang="en-US" sz="3400" b="1" strike="sngStrike" dirty="0" smtClean="0"/>
              <a:t>29/90</a:t>
            </a:r>
            <a:endParaRPr lang="en-US" sz="3400" dirty="0" smtClean="0"/>
          </a:p>
          <a:p>
            <a:pPr marL="0" indent="0">
              <a:buNone/>
            </a:pPr>
            <a:r>
              <a:rPr lang="en-US" sz="3400" dirty="0" smtClean="0"/>
              <a:t> </a:t>
            </a:r>
          </a:p>
          <a:p>
            <a:endParaRPr lang="en-US" sz="34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Run </a:t>
            </a:r>
            <a:r>
              <a:rPr lang="en-US" b="1" u="sng" dirty="0" smtClean="0"/>
              <a:t>Test </a:t>
            </a:r>
            <a:r>
              <a:rPr lang="en-US" b="1" u="sng" dirty="0" err="1" smtClean="0"/>
              <a:t>cont</a:t>
            </a:r>
            <a:r>
              <a:rPr lang="en-US" b="1" u="sng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800" b="1" u="sng" dirty="0"/>
          </a:p>
          <a:p>
            <a:r>
              <a:rPr lang="en-US" sz="2800" b="1" u="sng" dirty="0" smtClean="0"/>
              <a:t>Test Statistic</a:t>
            </a:r>
            <a:endParaRPr lang="en-US" sz="2800" dirty="0" smtClean="0"/>
          </a:p>
          <a:p>
            <a:endParaRPr lang="en-US" sz="2800" dirty="0" smtClean="0"/>
          </a:p>
          <a:p>
            <a:pPr lvl="1"/>
            <a:r>
              <a:rPr lang="en-US" dirty="0" smtClean="0"/>
              <a:t>Z</a:t>
            </a:r>
            <a:r>
              <a:rPr lang="en-US" baseline="-25000" dirty="0" smtClean="0"/>
              <a:t>0</a:t>
            </a:r>
            <a:r>
              <a:rPr lang="en-US" dirty="0" smtClean="0"/>
              <a:t>=(total no. of runs-mean)/standard deviation</a:t>
            </a:r>
          </a:p>
          <a:p>
            <a:pPr marL="0" indent="0">
              <a:buNone/>
            </a:pPr>
            <a:r>
              <a:rPr lang="en-US" sz="2800" dirty="0" smtClean="0"/>
              <a:t> </a:t>
            </a:r>
          </a:p>
          <a:p>
            <a:pPr lvl="1"/>
            <a:r>
              <a:rPr lang="en-US" dirty="0" smtClean="0"/>
              <a:t>=&gt;(a-µ </a:t>
            </a:r>
            <a:r>
              <a:rPr lang="en-US" baseline="-25000" dirty="0" smtClean="0"/>
              <a:t>a</a:t>
            </a:r>
            <a:r>
              <a:rPr lang="en-US" dirty="0" smtClean="0"/>
              <a:t>)/</a:t>
            </a:r>
            <a:r>
              <a:rPr lang="en-US" dirty="0" err="1" smtClean="0"/>
              <a:t>σ</a:t>
            </a:r>
            <a:r>
              <a:rPr lang="en-US" baseline="-25000" dirty="0" err="1" smtClean="0"/>
              <a:t>a</a:t>
            </a:r>
            <a:r>
              <a:rPr lang="en-US" dirty="0" smtClean="0"/>
              <a:t> </a:t>
            </a:r>
          </a:p>
          <a:p>
            <a:pPr lvl="1"/>
            <a:r>
              <a:rPr lang="en-US" dirty="0" smtClean="0"/>
              <a:t>where Z</a:t>
            </a:r>
            <a:r>
              <a:rPr lang="en-US" baseline="-25000" dirty="0" smtClean="0"/>
              <a:t>0</a:t>
            </a:r>
            <a:r>
              <a:rPr lang="en-US" dirty="0" smtClean="0"/>
              <a:t> is normally distributed variable with mean 0 &amp; variance 1.</a:t>
            </a:r>
          </a:p>
          <a:p>
            <a:pPr lvl="1"/>
            <a:endParaRPr lang="en-US" sz="2800" dirty="0" smtClean="0"/>
          </a:p>
          <a:p>
            <a:r>
              <a:rPr lang="en-US" sz="2800" dirty="0" smtClean="0"/>
              <a:t>Failure to reject hypothesis of independence occurs when -</a:t>
            </a:r>
            <a:r>
              <a:rPr lang="en-US" sz="2800" dirty="0" err="1" smtClean="0"/>
              <a:t>Z</a:t>
            </a:r>
            <a:r>
              <a:rPr lang="en-US" sz="2800" baseline="-25000" dirty="0" err="1" smtClean="0"/>
              <a:t>α</a:t>
            </a:r>
            <a:r>
              <a:rPr lang="en-US" sz="2800" dirty="0" smtClean="0"/>
              <a:t>&lt;=Z</a:t>
            </a:r>
            <a:r>
              <a:rPr lang="en-US" sz="2800" baseline="-25000" dirty="0" smtClean="0"/>
              <a:t>0</a:t>
            </a:r>
            <a:r>
              <a:rPr lang="en-US" sz="2800" dirty="0" smtClean="0"/>
              <a:t>&lt;=</a:t>
            </a:r>
            <a:r>
              <a:rPr lang="en-US" sz="2800" dirty="0" err="1" smtClean="0"/>
              <a:t>Z</a:t>
            </a:r>
            <a:r>
              <a:rPr lang="en-US" sz="2800" baseline="-25000" dirty="0" err="1" smtClean="0"/>
              <a:t>α</a:t>
            </a:r>
            <a:r>
              <a:rPr lang="en-US" sz="2800" baseline="-25000" dirty="0" smtClean="0"/>
              <a:t>/2</a:t>
            </a:r>
            <a:r>
              <a:rPr lang="en-US" sz="2800" dirty="0" smtClean="0"/>
              <a:t> where α is the label of significance.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runtest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609600"/>
            <a:ext cx="8331862" cy="4952999"/>
          </a:xfr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Run </a:t>
            </a:r>
            <a:r>
              <a:rPr lang="en-US" b="1" u="sng" dirty="0" smtClean="0"/>
              <a:t>Test 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u="sng" dirty="0" smtClean="0"/>
              <a:t>Steps</a:t>
            </a:r>
            <a:endParaRPr lang="en-US" dirty="0" smtClean="0"/>
          </a:p>
          <a:p>
            <a:pPr lvl="0"/>
            <a:r>
              <a:rPr lang="en-US" dirty="0" smtClean="0"/>
              <a:t>Find the sequence of runs up &amp; runs down.</a:t>
            </a:r>
          </a:p>
          <a:p>
            <a:r>
              <a:rPr lang="en-US" dirty="0" smtClean="0"/>
              <a:t> </a:t>
            </a:r>
          </a:p>
          <a:p>
            <a:pPr lvl="0"/>
            <a:r>
              <a:rPr lang="en-US" dirty="0" smtClean="0"/>
              <a:t>Find total no. of runs denoted by ‘a’.</a:t>
            </a:r>
          </a:p>
          <a:p>
            <a:r>
              <a:rPr lang="en-US" dirty="0" smtClean="0"/>
              <a:t> </a:t>
            </a:r>
          </a:p>
          <a:p>
            <a:pPr lvl="0"/>
            <a:r>
              <a:rPr lang="en-US" dirty="0" smtClean="0"/>
              <a:t>Find mean &amp; standard deviation.</a:t>
            </a:r>
          </a:p>
          <a:p>
            <a:pPr lvl="0"/>
            <a:r>
              <a:rPr lang="en-US" dirty="0" smtClean="0"/>
              <a:t>Compute the test statistic Z</a:t>
            </a:r>
            <a:r>
              <a:rPr lang="en-US" baseline="-25000" dirty="0" smtClean="0"/>
              <a:t>0.</a:t>
            </a:r>
            <a:endParaRPr lang="en-US" dirty="0" smtClean="0"/>
          </a:p>
          <a:p>
            <a:r>
              <a:rPr lang="en-US" dirty="0" smtClean="0"/>
              <a:t> </a:t>
            </a:r>
          </a:p>
          <a:p>
            <a:pPr lvl="0"/>
            <a:r>
              <a:rPr lang="en-US" dirty="0" smtClean="0"/>
              <a:t>Compare it with the theoretical value.</a:t>
            </a:r>
          </a:p>
          <a:p>
            <a:pPr lvl="0"/>
            <a:r>
              <a:rPr lang="en-US" dirty="0" smtClean="0"/>
              <a:t>If - </a:t>
            </a:r>
            <a:r>
              <a:rPr lang="en-US" dirty="0" err="1" smtClean="0"/>
              <a:t>Z</a:t>
            </a:r>
            <a:r>
              <a:rPr lang="en-US" baseline="-25000" dirty="0" err="1" smtClean="0"/>
              <a:t>α</a:t>
            </a:r>
            <a:r>
              <a:rPr lang="en-US" baseline="-25000" dirty="0" smtClean="0"/>
              <a:t>/2</a:t>
            </a:r>
            <a:r>
              <a:rPr lang="en-US" dirty="0" smtClean="0"/>
              <a:t>&lt;Z</a:t>
            </a:r>
            <a:r>
              <a:rPr lang="en-US" baseline="-25000" dirty="0" smtClean="0"/>
              <a:t>0</a:t>
            </a:r>
            <a:r>
              <a:rPr lang="en-US" dirty="0" smtClean="0"/>
              <a:t>&lt;= </a:t>
            </a:r>
            <a:r>
              <a:rPr lang="en-US" dirty="0" err="1" smtClean="0"/>
              <a:t>Z</a:t>
            </a:r>
            <a:r>
              <a:rPr lang="en-US" baseline="-25000" dirty="0" err="1" smtClean="0"/>
              <a:t>α</a:t>
            </a:r>
            <a:r>
              <a:rPr lang="en-US" baseline="-25000" dirty="0" smtClean="0"/>
              <a:t>/2</a:t>
            </a:r>
            <a:r>
              <a:rPr lang="en-US" dirty="0" smtClean="0"/>
              <a:t>, then null hypothesis of independence cannot be rejected on the basis of test and the sequence of random no. is independent. Hence it passes the runs test.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Ex Perform runs test on the following sequence of random numbers : 0.08,0.09,0.43,0.29,0.42,0.53,0.68,0.10,0.76,0.98 0.08 0.090.430.29 0.42 0.53 0.680.100.76 0.98 1 2 3 4 5 </a:t>
            </a:r>
          </a:p>
          <a:p>
            <a:r>
              <a:rPr lang="en-US" dirty="0" smtClean="0"/>
              <a:t>No. of runs a=5,</a:t>
            </a:r>
          </a:p>
          <a:p>
            <a:r>
              <a:rPr lang="en-US" dirty="0" smtClean="0"/>
              <a:t>N=10 </a:t>
            </a:r>
          </a:p>
          <a:p>
            <a:r>
              <a:rPr lang="en-US" dirty="0" smtClean="0"/>
              <a:t>Mean,</a:t>
            </a:r>
          </a:p>
          <a:p>
            <a:r>
              <a:rPr lang="en-US" dirty="0" smtClean="0"/>
              <a:t> µa=(2N-1)/3=((2*10)-1)/3=19/3=6.33</a:t>
            </a:r>
          </a:p>
          <a:p>
            <a:r>
              <a:rPr lang="en-US" dirty="0" smtClean="0"/>
              <a:t> Variance=</a:t>
            </a:r>
            <a:r>
              <a:rPr lang="en-US" dirty="0" err="1" smtClean="0"/>
              <a:t>σa</a:t>
            </a:r>
            <a:r>
              <a:rPr lang="en-US" dirty="0" smtClean="0"/>
              <a:t> 2 =(16N-29)/90=((16*10-29)/90=1.455 Standard deviation </a:t>
            </a:r>
            <a:r>
              <a:rPr lang="en-US" dirty="0" err="1" smtClean="0"/>
              <a:t>σa</a:t>
            </a:r>
            <a:r>
              <a:rPr lang="en-US" dirty="0" smtClean="0"/>
              <a:t>=√1.455 Test statistic Z0=(no. of runs-mean)/standard deviation =(5-6.33)/√1.455 =-1.099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Critical value Suppose α=0.05  α/2=0.025  </a:t>
            </a:r>
          </a:p>
          <a:p>
            <a:r>
              <a:rPr lang="en-US" dirty="0" smtClean="0"/>
              <a:t>-</a:t>
            </a:r>
            <a:r>
              <a:rPr lang="en-US" dirty="0" err="1" smtClean="0"/>
              <a:t>Zα</a:t>
            </a:r>
            <a:r>
              <a:rPr lang="en-US" dirty="0" smtClean="0"/>
              <a:t>/2=-1.96, </a:t>
            </a:r>
            <a:r>
              <a:rPr lang="en-US" dirty="0" err="1" smtClean="0"/>
              <a:t>Zα</a:t>
            </a:r>
            <a:r>
              <a:rPr lang="en-US" dirty="0" smtClean="0"/>
              <a:t>/2=1.96 </a:t>
            </a:r>
          </a:p>
          <a:p>
            <a:r>
              <a:rPr lang="en-US" dirty="0" smtClean="0"/>
              <a:t>So,</a:t>
            </a:r>
          </a:p>
          <a:p>
            <a:r>
              <a:rPr lang="en-US" dirty="0" smtClean="0"/>
              <a:t>-1.96&lt;=Z</a:t>
            </a:r>
            <a:r>
              <a:rPr lang="en-US" baseline="-25000" dirty="0" smtClean="0"/>
              <a:t>0</a:t>
            </a:r>
            <a:r>
              <a:rPr lang="en-US" dirty="0" smtClean="0"/>
              <a:t>&lt;=1.96, so we cannot reject the null hypothesis of independence on the basis of this test &amp; this sequence of numbers passes the runs test.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Tests for Auto-correlation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/>
              <a:t>The tests for auto-correlation are concerned with the dependence between numbers in a sequence.</a:t>
            </a:r>
          </a:p>
          <a:p>
            <a:r>
              <a:rPr lang="en-US" dirty="0"/>
              <a:t>The list of the 30 numbers on page 311 appears to have the effect that every 5th number has a very large value. If this is a regular pattern, we can't really say the sequence is random.</a:t>
            </a:r>
          </a:p>
          <a:p>
            <a:r>
              <a:rPr lang="en-US" dirty="0"/>
              <a:t>The test computes the auto-correlation between every </a:t>
            </a:r>
            <a:r>
              <a:rPr lang="en-US" i="1" dirty="0"/>
              <a:t>m</a:t>
            </a:r>
            <a:r>
              <a:rPr lang="en-US" dirty="0"/>
              <a:t> numbers (</a:t>
            </a:r>
            <a:r>
              <a:rPr lang="en-US" i="1" dirty="0"/>
              <a:t>m</a:t>
            </a:r>
            <a:r>
              <a:rPr lang="en-US" dirty="0"/>
              <a:t> is also known as the lag) starting with the </a:t>
            </a:r>
            <a:r>
              <a:rPr lang="en-US" i="1" dirty="0" err="1"/>
              <a:t>i</a:t>
            </a:r>
            <a:r>
              <a:rPr lang="en-US" dirty="0" err="1"/>
              <a:t>th</a:t>
            </a:r>
            <a:r>
              <a:rPr lang="en-US" dirty="0"/>
              <a:t> number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Thus </a:t>
            </a:r>
            <a:r>
              <a:rPr lang="en-US" dirty="0"/>
              <a:t>the autocorrelation  between the following numbers would be of interest. 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6096001"/>
            <a:ext cx="4648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067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value </a:t>
            </a:r>
            <a:r>
              <a:rPr lang="en-US" i="1" dirty="0"/>
              <a:t>M</a:t>
            </a:r>
            <a:r>
              <a:rPr lang="en-US" dirty="0"/>
              <a:t> is the largest integer such that  where </a:t>
            </a:r>
            <a:r>
              <a:rPr lang="en-US" i="1" dirty="0"/>
              <a:t>N</a:t>
            </a:r>
            <a:r>
              <a:rPr lang="en-US" dirty="0"/>
              <a:t> is the total number of values in the sequence.</a:t>
            </a:r>
          </a:p>
          <a:p>
            <a:r>
              <a:rPr lang="en-US" dirty="0"/>
              <a:t>E.g. N = 17, i = 3, m = 4, then the above sequence would be 3, 7, 11, 15 (M = 2). The reason we require </a:t>
            </a:r>
            <a:r>
              <a:rPr lang="en-US" i="1" dirty="0"/>
              <a:t>M+1</a:t>
            </a:r>
            <a:r>
              <a:rPr lang="en-US" dirty="0"/>
              <a:t> instead of </a:t>
            </a:r>
            <a:r>
              <a:rPr lang="en-US" i="1" dirty="0"/>
              <a:t>M</a:t>
            </a:r>
            <a:r>
              <a:rPr lang="en-US" dirty="0"/>
              <a:t> is that we need to have at least two numbers to test (M = 0) the autocorrelation.</a:t>
            </a:r>
          </a:p>
          <a:p>
            <a:r>
              <a:rPr lang="en-US" dirty="0"/>
              <a:t>Since a non-zero autocorrelation implies a lack of independence, the following test is appropriate</a:t>
            </a:r>
          </a:p>
          <a:p>
            <a:r>
              <a:rPr lang="en-US" dirty="0"/>
              <a:t>For large values of </a:t>
            </a:r>
            <a:r>
              <a:rPr lang="en-US" i="1" dirty="0"/>
              <a:t>M</a:t>
            </a:r>
            <a:r>
              <a:rPr lang="en-US" dirty="0"/>
              <a:t>, the distribution of the estimator , denoted as , is approximately normal if the values  are uncorrelated.</a:t>
            </a:r>
          </a:p>
          <a:p>
            <a:r>
              <a:rPr lang="en-US" dirty="0"/>
              <a:t>Form the test statistic 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840" y="5562600"/>
            <a:ext cx="1752600" cy="98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862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is distributed normally with a mean of zero and a variance of one</a:t>
            </a:r>
            <a:r>
              <a:rPr lang="en-US" dirty="0" smtClean="0"/>
              <a:t>.</a:t>
            </a:r>
          </a:p>
          <a:p>
            <a:r>
              <a:rPr lang="en-US" dirty="0"/>
              <a:t>The actual formula for  and the standard deviation is 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429000"/>
            <a:ext cx="4800600" cy="263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554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computing , do not reject the null hypothesis of independence if </a:t>
            </a:r>
            <a:endParaRPr lang="en-US" dirty="0" smtClean="0"/>
          </a:p>
          <a:p>
            <a:r>
              <a:rPr lang="en-US" dirty="0"/>
              <a:t>where  </a:t>
            </a:r>
            <a:r>
              <a:rPr lang="en-US" dirty="0" smtClean="0"/>
              <a:t>   is </a:t>
            </a:r>
            <a:r>
              <a:rPr lang="en-US" dirty="0"/>
              <a:t>the level of significance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Refer class assignment for example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2286000"/>
            <a:ext cx="2026920" cy="533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256" y="2971800"/>
            <a:ext cx="290513" cy="2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543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04800"/>
            <a:ext cx="5943599" cy="6321213"/>
          </a:xfrm>
        </p:spPr>
      </p:pic>
    </p:spTree>
    <p:extLst>
      <p:ext uri="{BB962C8B-B14F-4D97-AF65-F5344CB8AC3E}">
        <p14:creationId xmlns:p14="http://schemas.microsoft.com/office/powerpoint/2010/main" val="1370143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472</TotalTime>
  <Words>1267</Words>
  <Application>Microsoft Office PowerPoint</Application>
  <PresentationFormat>On-screen Show (4:3)</PresentationFormat>
  <Paragraphs>301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Flow</vt:lpstr>
      <vt:lpstr>Chapter 5 Probability Concept and Random Number Generation</vt:lpstr>
      <vt:lpstr>Probability Concept</vt:lpstr>
      <vt:lpstr>Probability Concept..</vt:lpstr>
      <vt:lpstr>Probability Concept..</vt:lpstr>
      <vt:lpstr>PowerPoint Presentation</vt:lpstr>
      <vt:lpstr>GRAPHICAL REPRESENTATION OF PROBABILITY MASS FUNCTION </vt:lpstr>
      <vt:lpstr>CONTINUOUS PROBABILITY FUNCTION</vt:lpstr>
      <vt:lpstr>Random number and its Properties </vt:lpstr>
      <vt:lpstr>Computer generation of random numbers</vt:lpstr>
      <vt:lpstr>Linear congruence generation  </vt:lpstr>
      <vt:lpstr>Linear congruence generation….</vt:lpstr>
      <vt:lpstr>PowerPoint Presentation</vt:lpstr>
      <vt:lpstr>PowerPoint Presentation</vt:lpstr>
      <vt:lpstr>PowerPoint Presentation</vt:lpstr>
      <vt:lpstr>PowerPoint Presentation</vt:lpstr>
      <vt:lpstr>MID-SQUARE METHOD</vt:lpstr>
      <vt:lpstr>PowerPoint Presentation</vt:lpstr>
      <vt:lpstr>PowerPoint Presentation</vt:lpstr>
      <vt:lpstr>TESTS FOR RANDOM NUMBERS </vt:lpstr>
      <vt:lpstr>PowerPoint Presentation</vt:lpstr>
      <vt:lpstr>KOLMOGOROV SMIRNOV </vt:lpstr>
      <vt:lpstr>KOLMOGOROV SMIRNOV</vt:lpstr>
      <vt:lpstr>KOLMOGOROV SMIRNOV</vt:lpstr>
      <vt:lpstr>KOLMOGOROV SMIRNOV</vt:lpstr>
      <vt:lpstr>PowerPoint Presentation</vt:lpstr>
      <vt:lpstr>PowerPoint Presentation</vt:lpstr>
      <vt:lpstr>Kolmogorov Smirnov Table</vt:lpstr>
      <vt:lpstr>Chi-Square Test</vt:lpstr>
      <vt:lpstr>Chi-Square Test</vt:lpstr>
      <vt:lpstr>PowerPoint Presentation</vt:lpstr>
      <vt:lpstr>PowerPoint Presentation</vt:lpstr>
      <vt:lpstr>Run Test (Test for independence)   </vt:lpstr>
      <vt:lpstr>Run Test cont..</vt:lpstr>
      <vt:lpstr>Run Test</vt:lpstr>
      <vt:lpstr>Run Test cont…</vt:lpstr>
      <vt:lpstr>PowerPoint Presentation</vt:lpstr>
      <vt:lpstr>Run Test cont..</vt:lpstr>
      <vt:lpstr>PowerPoint Presentation</vt:lpstr>
      <vt:lpstr>PowerPoint Presentation</vt:lpstr>
      <vt:lpstr>Tests for Auto-correlation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Probability Concept and Random Number Generation</dc:title>
  <dc:creator>usre</dc:creator>
  <cp:lastModifiedBy>My</cp:lastModifiedBy>
  <cp:revision>42</cp:revision>
  <dcterms:created xsi:type="dcterms:W3CDTF">2017-07-09T06:16:34Z</dcterms:created>
  <dcterms:modified xsi:type="dcterms:W3CDTF">2017-08-11T07:07:57Z</dcterms:modified>
</cp:coreProperties>
</file>