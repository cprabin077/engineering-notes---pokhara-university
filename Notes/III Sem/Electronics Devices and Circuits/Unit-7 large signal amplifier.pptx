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69" r:id="rId4"/>
  </p:sldMasterIdLst>
  <p:notesMasterIdLst>
    <p:notesMasterId r:id="rId23"/>
  </p:notesMasterIdLst>
  <p:handoutMasterIdLst>
    <p:handoutMasterId r:id="rId24"/>
  </p:handoutMasterIdLst>
  <p:sldIdLst>
    <p:sldId id="256" r:id="rId5"/>
    <p:sldId id="257" r:id="rId6"/>
    <p:sldId id="259" r:id="rId7"/>
    <p:sldId id="260" r:id="rId8"/>
    <p:sldId id="261" r:id="rId9"/>
    <p:sldId id="264" r:id="rId10"/>
    <p:sldId id="263" r:id="rId11"/>
    <p:sldId id="266" r:id="rId12"/>
    <p:sldId id="265" r:id="rId13"/>
    <p:sldId id="267" r:id="rId14"/>
    <p:sldId id="268" r:id="rId15"/>
    <p:sldId id="269" r:id="rId16"/>
    <p:sldId id="270" r:id="rId17"/>
    <p:sldId id="271" r:id="rId18"/>
    <p:sldId id="272" r:id="rId19"/>
    <p:sldId id="273"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88" d="100"/>
          <a:sy n="88" d="100"/>
        </p:scale>
        <p:origin x="494" y="62"/>
      </p:cViewPr>
      <p:guideLst>
        <p:guide orient="horz" pos="2160"/>
        <p:guide pos="3840"/>
      </p:guideLst>
    </p:cSldViewPr>
  </p:slideViewPr>
  <p:notesTextViewPr>
    <p:cViewPr>
      <p:scale>
        <a:sx n="1" d="1"/>
        <a:sy n="1" d="1"/>
      </p:scale>
      <p:origin x="0" y="0"/>
    </p:cViewPr>
  </p:notesTextViewPr>
  <p:notesViewPr>
    <p:cSldViewPr snapToGrid="0">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32A2767-FEC0-45D8-A250-3A0CECEC10E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A3D87BEA-720A-4B01-983C-6493C00177B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5438802-F28A-42D1-9BCA-40E34B52D6F0}" type="datetimeFigureOut">
              <a:rPr lang="en-US" smtClean="0"/>
              <a:pPr/>
              <a:t>1/10/2023</a:t>
            </a:fld>
            <a:endParaRPr lang="en-US" dirty="0"/>
          </a:p>
        </p:txBody>
      </p:sp>
      <p:sp>
        <p:nvSpPr>
          <p:cNvPr id="4" name="Footer Placeholder 3">
            <a:extLst>
              <a:ext uri="{FF2B5EF4-FFF2-40B4-BE49-F238E27FC236}">
                <a16:creationId xmlns:a16="http://schemas.microsoft.com/office/drawing/2014/main" id="{8D7F7142-7B6D-4E82-A762-17951F13958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47AA5D6A-4E5C-4EA7-A13B-15A02BB533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88A98BC-2DB8-47A3-A77F-B9E32C266238}" type="slidenum">
              <a:rPr lang="en-US" smtClean="0"/>
              <a:pPr/>
              <a:t>‹#›</a:t>
            </a:fld>
            <a:endParaRPr lang="en-US" dirty="0"/>
          </a:p>
        </p:txBody>
      </p:sp>
    </p:spTree>
    <p:extLst>
      <p:ext uri="{BB962C8B-B14F-4D97-AF65-F5344CB8AC3E}">
        <p14:creationId xmlns:p14="http://schemas.microsoft.com/office/powerpoint/2010/main" val="284568433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65794D-BDB5-4811-AA4A-B25E4EF28521}" type="datetimeFigureOut">
              <a:rPr lang="en-US" smtClean="0"/>
              <a:pPr/>
              <a:t>1/10/2023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BB1A04-13E8-48CD-97F9-AC2568E1A8D4}" type="slidenum">
              <a:rPr lang="en-US" smtClean="0"/>
              <a:pPr/>
              <a:t>‹#›</a:t>
            </a:fld>
            <a:endParaRPr lang="en-US" dirty="0"/>
          </a:p>
        </p:txBody>
      </p:sp>
    </p:spTree>
    <p:extLst>
      <p:ext uri="{BB962C8B-B14F-4D97-AF65-F5344CB8AC3E}">
        <p14:creationId xmlns:p14="http://schemas.microsoft.com/office/powerpoint/2010/main" val="25769996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BB1A04-13E8-48CD-97F9-AC2568E1A8D4}" type="slidenum">
              <a:rPr lang="en-US" smtClean="0"/>
              <a:pPr/>
              <a:t>1</a:t>
            </a:fld>
            <a:endParaRPr lang="en-US" dirty="0"/>
          </a:p>
        </p:txBody>
      </p:sp>
    </p:spTree>
    <p:extLst>
      <p:ext uri="{BB962C8B-B14F-4D97-AF65-F5344CB8AC3E}">
        <p14:creationId xmlns:p14="http://schemas.microsoft.com/office/powerpoint/2010/main" val="32643052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BB1A04-13E8-48CD-97F9-AC2568E1A8D4}" type="slidenum">
              <a:rPr lang="en-US" smtClean="0"/>
              <a:pPr/>
              <a:t>2</a:t>
            </a:fld>
            <a:endParaRPr lang="en-US" dirty="0"/>
          </a:p>
        </p:txBody>
      </p:sp>
    </p:spTree>
    <p:extLst>
      <p:ext uri="{BB962C8B-B14F-4D97-AF65-F5344CB8AC3E}">
        <p14:creationId xmlns:p14="http://schemas.microsoft.com/office/powerpoint/2010/main" val="134966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BB1A04-13E8-48CD-97F9-AC2568E1A8D4}" type="slidenum">
              <a:rPr lang="en-US" smtClean="0"/>
              <a:pPr/>
              <a:t>3</a:t>
            </a:fld>
            <a:endParaRPr lang="en-US" dirty="0"/>
          </a:p>
        </p:txBody>
      </p:sp>
    </p:spTree>
    <p:extLst>
      <p:ext uri="{BB962C8B-B14F-4D97-AF65-F5344CB8AC3E}">
        <p14:creationId xmlns:p14="http://schemas.microsoft.com/office/powerpoint/2010/main" val="38626671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cstate="email">
            <a:alphaModFix amt="30000"/>
            <a:duotone>
              <a:prstClr val="black"/>
              <a:schemeClr val="tx2">
                <a:tint val="45000"/>
                <a:satMod val="400000"/>
              </a:schemeClr>
            </a:duotone>
            <a:extLst>
              <a:ext uri="{28A0092B-C50C-407E-A947-70E740481C1C}">
                <a14:useLocalDpi xmlns:a14="http://schemas.microsoft.com/office/drawing/2010/main"/>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smtClean="0"/>
              <a:pPr/>
              <a:t>1/10/2023</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6584169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1/10/2023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4973606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pPr/>
              <a:t>1/10/2023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5228012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pPr/>
              <a:t>1/10/2023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214335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1/10/2023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846593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pPr/>
              <a:t>1/10/2023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8761226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pPr/>
              <a:t>1/10/2023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9969502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1/10/2023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0613602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1/10/2023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09866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1/10/2023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291968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1/10/2023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1172563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1/10/2023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90224102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pPr/>
              <a:t>1/10/2023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7473892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1/10/2023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42022440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smtClean="0"/>
              <a:pPr/>
              <a:t>1/10/2023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20145445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1/10/2023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5906166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1/10/2023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1160474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cstate="email">
            <a:alphaModFix amt="30000"/>
            <a:duotone>
              <a:prstClr val="black"/>
              <a:schemeClr val="tx2">
                <a:tint val="45000"/>
                <a:satMod val="400000"/>
              </a:schemeClr>
            </a:duotone>
            <a:extLst>
              <a:ext uri="{28A0092B-C50C-407E-A947-70E740481C1C}">
                <a14:useLocalDpi xmlns:a14="http://schemas.microsoft.com/office/drawing/2010/main"/>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smtClean="0"/>
              <a:pPr/>
              <a:t>1/10/2023</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smtClean="0"/>
              <a:pPr/>
              <a:t>‹#›</a:t>
            </a:fld>
            <a:endParaRPr lang="en-US" dirty="0"/>
          </a:p>
        </p:txBody>
      </p:sp>
    </p:spTree>
    <p:extLst>
      <p:ext uri="{BB962C8B-B14F-4D97-AF65-F5344CB8AC3E}">
        <p14:creationId xmlns:p14="http://schemas.microsoft.com/office/powerpoint/2010/main" val="3191852219"/>
      </p:ext>
    </p:extLst>
  </p:cSld>
  <p:clrMap bg1="dk1" tx1="lt1" bg2="dk2" tx2="lt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 id="2147483681" r:id="rId12"/>
    <p:sldLayoutId id="2147483682" r:id="rId13"/>
    <p:sldLayoutId id="2147483683" r:id="rId14"/>
    <p:sldLayoutId id="2147483684" r:id="rId15"/>
    <p:sldLayoutId id="2147483685" r:id="rId16"/>
    <p:sldLayoutId id="2147483686"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4.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cstate="email">
            <a:duotone>
              <a:schemeClr val="bg2">
                <a:shade val="48000"/>
                <a:hueMod val="106000"/>
                <a:satMod val="140000"/>
                <a:lumMod val="42000"/>
              </a:schemeClr>
              <a:schemeClr val="bg2">
                <a:tint val="98000"/>
                <a:hueMod val="92000"/>
                <a:satMod val="220000"/>
                <a:lumMod val="90000"/>
              </a:schemeClr>
            </a:duotone>
            <a:extLst>
              <a:ext uri="{28A0092B-C50C-407E-A947-70E740481C1C}">
                <a14:useLocalDpi xmlns:a14="http://schemas.microsoft.com/office/drawing/2010/main"/>
              </a:ext>
            </a:extLst>
          </a:blip>
          <a:stretch/>
        </a:blip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788D5DFD-FA42-4EB0-B24E-4180C0CC5A0F}"/>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11" name="Rectangle 10">
              <a:extLst>
                <a:ext uri="{FF2B5EF4-FFF2-40B4-BE49-F238E27FC236}">
                  <a16:creationId xmlns:a16="http://schemas.microsoft.com/office/drawing/2014/main" id="{CC864817-5955-484B-9D1F-9BC8DB7398D5}"/>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2" name="Picture 2">
              <a:extLst>
                <a:ext uri="{FF2B5EF4-FFF2-40B4-BE49-F238E27FC236}">
                  <a16:creationId xmlns:a16="http://schemas.microsoft.com/office/drawing/2014/main" id="{280C083F-71A6-4E55-AE35-586518FE29BC}"/>
                </a:ext>
                <a:ext uri="{C183D7F6-B498-43B3-948B-1728B52AA6E4}">
                  <adec:decorative xmlns=""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4" cstate="email">
              <a:alphaModFix amt="30000"/>
              <a:duotone>
                <a:prstClr val="black"/>
                <a:schemeClr val="tx2">
                  <a:tint val="45000"/>
                  <a:satMod val="400000"/>
                </a:schemeClr>
              </a:duotone>
              <a:extLst>
                <a:ext uri="{28A0092B-C50C-407E-A947-70E740481C1C}">
                  <a14:useLocalDpi xmlns:a14="http://schemas.microsoft.com/office/drawing/2010/main"/>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pic>
        <p:nvPicPr>
          <p:cNvPr id="5" name="Picture 4" descr="Lightbulb">
            <a:extLst>
              <a:ext uri="{FF2B5EF4-FFF2-40B4-BE49-F238E27FC236}">
                <a16:creationId xmlns:a16="http://schemas.microsoft.com/office/drawing/2014/main" id="{AC06F95D-BA5D-4DEE-93EF-3FE3173D13FF}"/>
              </a:ext>
            </a:extLst>
          </p:cNvPr>
          <p:cNvPicPr>
            <a:picLocks noChangeAspect="1"/>
          </p:cNvPicPr>
          <p:nvPr/>
        </p:nvPicPr>
        <p:blipFill rotWithShape="1">
          <a:blip r:embed="rId5" cstate="email">
            <a:alphaModFix/>
            <a:extLst>
              <a:ext uri="{28A0092B-C50C-407E-A947-70E740481C1C}">
                <a14:useLocalDpi xmlns:a14="http://schemas.microsoft.com/office/drawing/2010/main"/>
              </a:ext>
            </a:extLst>
          </a:blip>
          <a:srcRect/>
          <a:stretch/>
        </p:blipFill>
        <p:spPr>
          <a:xfrm>
            <a:off x="31043" y="-30423"/>
            <a:ext cx="12188389" cy="6857990"/>
          </a:xfrm>
          <a:prstGeom prst="rect">
            <a:avLst/>
          </a:prstGeom>
        </p:spPr>
      </p:pic>
      <p:grpSp>
        <p:nvGrpSpPr>
          <p:cNvPr id="14" name="Group 13">
            <a:extLst>
              <a:ext uri="{FF2B5EF4-FFF2-40B4-BE49-F238E27FC236}">
                <a16:creationId xmlns:a16="http://schemas.microsoft.com/office/drawing/2014/main" id="{D44056DF-7985-4692-968A-466E9E6AF76A}"/>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05895" y="2235200"/>
            <a:ext cx="10982062" cy="2396067"/>
            <a:chOff x="605895" y="2235200"/>
            <a:chExt cx="10982062" cy="2396067"/>
          </a:xfrm>
        </p:grpSpPr>
        <p:sp>
          <p:nvSpPr>
            <p:cNvPr id="15" name="Round Diagonal Corner Rectangle 7">
              <a:extLst>
                <a:ext uri="{FF2B5EF4-FFF2-40B4-BE49-F238E27FC236}">
                  <a16:creationId xmlns:a16="http://schemas.microsoft.com/office/drawing/2014/main" id="{B414A174-532A-4602-934F-9858D1D86804}"/>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2582333" y="2235200"/>
              <a:ext cx="7027334" cy="2396067"/>
            </a:xfrm>
            <a:prstGeom prst="round2DiagRect">
              <a:avLst>
                <a:gd name="adj1" fmla="val 9246"/>
                <a:gd name="adj2" fmla="val 0"/>
              </a:avLst>
            </a:prstGeom>
            <a:solidFill>
              <a:schemeClr val="bg1">
                <a:alpha val="80000"/>
              </a:schemeClr>
            </a:solidFill>
            <a:ln w="19050" cap="sq">
              <a:solidFill>
                <a:schemeClr val="tx2">
                  <a:alpha val="60000"/>
                </a:schemeClr>
              </a:solidFill>
              <a:miter lim="800000"/>
            </a:ln>
            <a:effectLst>
              <a:outerShdw blurRad="88900" dist="38100" dir="5400000" algn="t"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grpSp>
          <p:nvGrpSpPr>
            <p:cNvPr id="16" name="Group 15">
              <a:extLst>
                <a:ext uri="{FF2B5EF4-FFF2-40B4-BE49-F238E27FC236}">
                  <a16:creationId xmlns:a16="http://schemas.microsoft.com/office/drawing/2014/main" id="{940B0C0C-7F94-4725-8108-62B3B7A5AE70}"/>
                </a:ext>
                <a:ext uri="{C183D7F6-B498-43B3-948B-1728B52AA6E4}">
                  <adec:decorative xmlns="" xmlns:adec="http://schemas.microsoft.com/office/drawing/2017/decorative" val="1"/>
                </a:ext>
              </a:extLst>
            </p:cNvPr>
            <p:cNvGrpSpPr/>
            <p:nvPr>
              <p:extLst>
                <p:ext uri="{386F3935-93C4-4BCD-93E2-E3B085C9AB24}">
                  <p16:designElem xmlns:p16="http://schemas.microsoft.com/office/powerpoint/2015/main" val="1"/>
                </p:ext>
              </p:extLst>
            </p:nvPr>
          </p:nvGrpSpPr>
          <p:grpSpPr>
            <a:xfrm>
              <a:off x="605895" y="2900097"/>
              <a:ext cx="10982062" cy="1211524"/>
              <a:chOff x="605895" y="2900097"/>
              <a:chExt cx="10982062" cy="1211524"/>
            </a:xfrm>
          </p:grpSpPr>
          <p:sp>
            <p:nvSpPr>
              <p:cNvPr id="17" name="Freeform 32">
                <a:extLst>
                  <a:ext uri="{FF2B5EF4-FFF2-40B4-BE49-F238E27FC236}">
                    <a16:creationId xmlns:a16="http://schemas.microsoft.com/office/drawing/2014/main" id="{367EAC5B-1891-480A-A3AD-B9F6A88FAC5F}"/>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9653587" y="33797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a:extLst/>
            </p:spPr>
          </p:sp>
          <p:sp>
            <p:nvSpPr>
              <p:cNvPr id="18" name="Freeform 33">
                <a:extLst>
                  <a:ext uri="{FF2B5EF4-FFF2-40B4-BE49-F238E27FC236}">
                    <a16:creationId xmlns:a16="http://schemas.microsoft.com/office/drawing/2014/main" id="{E33FF633-15BA-464F-8F5B-26C56665F795}"/>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0078244" y="33107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a:extLst/>
            </p:spPr>
          </p:sp>
          <p:sp>
            <p:nvSpPr>
              <p:cNvPr id="19" name="Freeform 34">
                <a:extLst>
                  <a:ext uri="{FF2B5EF4-FFF2-40B4-BE49-F238E27FC236}">
                    <a16:creationId xmlns:a16="http://schemas.microsoft.com/office/drawing/2014/main" id="{0C949DF6-E66B-4DB8-AB52-30CA781B4834}"/>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flipV="1">
                <a:off x="11146631" y="35742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a:extLst/>
            </p:spPr>
          </p:sp>
          <p:sp>
            <p:nvSpPr>
              <p:cNvPr id="20" name="Freeform 37">
                <a:extLst>
                  <a:ext uri="{FF2B5EF4-FFF2-40B4-BE49-F238E27FC236}">
                    <a16:creationId xmlns:a16="http://schemas.microsoft.com/office/drawing/2014/main" id="{309C2298-5EF9-4B09-8995-014F6D3BFF5C}"/>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flipV="1">
                <a:off x="10230644" y="30345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a:extLst/>
            </p:spPr>
          </p:sp>
          <p:sp>
            <p:nvSpPr>
              <p:cNvPr id="21" name="Freeform 35">
                <a:extLst>
                  <a:ext uri="{FF2B5EF4-FFF2-40B4-BE49-F238E27FC236}">
                    <a16:creationId xmlns:a16="http://schemas.microsoft.com/office/drawing/2014/main" id="{319B2AFC-EBFF-477C-A364-6D575BE5AA0A}"/>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034587" y="25627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a:extLst/>
            </p:spPr>
          </p:sp>
          <p:sp>
            <p:nvSpPr>
              <p:cNvPr id="22" name="Freeform 36">
                <a:extLst>
                  <a:ext uri="{FF2B5EF4-FFF2-40B4-BE49-F238E27FC236}">
                    <a16:creationId xmlns:a16="http://schemas.microsoft.com/office/drawing/2014/main" id="{CC6B7D67-F2F8-4B07-B954-EAC9135B2BB4}"/>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0747375" y="32326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a:extLst/>
            </p:spPr>
          </p:sp>
          <p:sp>
            <p:nvSpPr>
              <p:cNvPr id="23" name="Freeform 38">
                <a:extLst>
                  <a:ext uri="{FF2B5EF4-FFF2-40B4-BE49-F238E27FC236}">
                    <a16:creationId xmlns:a16="http://schemas.microsoft.com/office/drawing/2014/main" id="{7FF1659D-33DA-4F62-8567-A54020D2E28E}"/>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11399044" y="30953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a:extLst/>
            </p:spPr>
          </p:sp>
          <p:sp>
            <p:nvSpPr>
              <p:cNvPr id="24" name="Freeform 39">
                <a:extLst>
                  <a:ext uri="{FF2B5EF4-FFF2-40B4-BE49-F238E27FC236}">
                    <a16:creationId xmlns:a16="http://schemas.microsoft.com/office/drawing/2014/main" id="{9110F572-DC3D-4AB3-B731-B73BD650576B}"/>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rot="5400000">
                <a:off x="10353675" y="21531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a:extLst/>
            </p:spPr>
          </p:sp>
          <p:sp>
            <p:nvSpPr>
              <p:cNvPr id="25" name="Freeform 40">
                <a:extLst>
                  <a:ext uri="{FF2B5EF4-FFF2-40B4-BE49-F238E27FC236}">
                    <a16:creationId xmlns:a16="http://schemas.microsoft.com/office/drawing/2014/main" id="{A2F7D0E9-68CE-40F9-B0E9-F915103ECF79}"/>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5400000">
                <a:off x="9848850" y="33088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a:extLst/>
            </p:spPr>
          </p:sp>
          <p:sp>
            <p:nvSpPr>
              <p:cNvPr id="26" name="Rectangle 41">
                <a:extLst>
                  <a:ext uri="{FF2B5EF4-FFF2-40B4-BE49-F238E27FC236}">
                    <a16:creationId xmlns:a16="http://schemas.microsoft.com/office/drawing/2014/main" id="{AB69A438-1FB7-454A-A3E9-0C329643CD48}"/>
                  </a:ext>
                  <a:ext uri="{C183D7F6-B498-43B3-948B-1728B52AA6E4}">
                    <adec:decorative xmlns=""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5400000">
                <a:off x="9721056" y="32842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a:extLst/>
            </p:spPr>
          </p:sp>
          <p:sp>
            <p:nvSpPr>
              <p:cNvPr id="27" name="Freeform 32">
                <a:extLst>
                  <a:ext uri="{FF2B5EF4-FFF2-40B4-BE49-F238E27FC236}">
                    <a16:creationId xmlns:a16="http://schemas.microsoft.com/office/drawing/2014/main" id="{E64598D0-3A2C-4570-9E7C-C52C89549B47}"/>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2122751" y="3532184"/>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solidFill>
                <a:schemeClr val="tx2">
                  <a:alpha val="60000"/>
                </a:schemeClr>
              </a:solidFill>
              <a:ln>
                <a:noFill/>
              </a:ln>
              <a:effectLst>
                <a:outerShdw blurRad="50800" dist="38100" dir="2700000" algn="tl" rotWithShape="0">
                  <a:srgbClr val="000000">
                    <a:alpha val="58000"/>
                  </a:srgbClr>
                </a:outerShdw>
              </a:effectLst>
              <a:extLst/>
            </p:spPr>
          </p:sp>
          <p:sp>
            <p:nvSpPr>
              <p:cNvPr id="28" name="Freeform 33">
                <a:extLst>
                  <a:ext uri="{FF2B5EF4-FFF2-40B4-BE49-F238E27FC236}">
                    <a16:creationId xmlns:a16="http://schemas.microsoft.com/office/drawing/2014/main" id="{CC17CF42-8908-477B-9F36-DA1306CA010C}"/>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1958445" y="3463128"/>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a:extLst/>
            </p:spPr>
          </p:sp>
          <p:sp>
            <p:nvSpPr>
              <p:cNvPr id="29" name="Freeform 34">
                <a:extLst>
                  <a:ext uri="{FF2B5EF4-FFF2-40B4-BE49-F238E27FC236}">
                    <a16:creationId xmlns:a16="http://schemas.microsoft.com/office/drawing/2014/main" id="{A2457851-D4A0-404C-BF3F-99AE00B9E965}"/>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flipV="1">
                <a:off x="858308" y="3726653"/>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a:extLst/>
            </p:spPr>
          </p:sp>
          <p:sp>
            <p:nvSpPr>
              <p:cNvPr id="30" name="Freeform 37">
                <a:extLst>
                  <a:ext uri="{FF2B5EF4-FFF2-40B4-BE49-F238E27FC236}">
                    <a16:creationId xmlns:a16="http://schemas.microsoft.com/office/drawing/2014/main" id="{ECC300FA-EE4A-489E-9A47-79BEBF05DCEF}"/>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flipV="1">
                <a:off x="1658407" y="3186902"/>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solidFill>
                <a:schemeClr val="tx2">
                  <a:alpha val="60000"/>
                </a:schemeClr>
              </a:solidFill>
              <a:ln>
                <a:noFill/>
              </a:ln>
              <a:effectLst>
                <a:outerShdw blurRad="50800" dist="38100" dir="2700000" algn="tl" rotWithShape="0">
                  <a:srgbClr val="000000">
                    <a:alpha val="58000"/>
                  </a:srgbClr>
                </a:outerShdw>
              </a:effectLst>
              <a:extLst/>
            </p:spPr>
          </p:sp>
          <p:sp>
            <p:nvSpPr>
              <p:cNvPr id="31" name="Freeform 35">
                <a:extLst>
                  <a:ext uri="{FF2B5EF4-FFF2-40B4-BE49-F238E27FC236}">
                    <a16:creationId xmlns:a16="http://schemas.microsoft.com/office/drawing/2014/main" id="{0D1F26E2-902B-416B-A1DB-80DAF78D8B89}"/>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860814" y="271515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solidFill>
                <a:schemeClr val="tx2">
                  <a:alpha val="60000"/>
                </a:schemeClr>
              </a:solidFill>
              <a:ln>
                <a:noFill/>
              </a:ln>
              <a:effectLst>
                <a:outerShdw blurRad="50800" dist="38100" dir="2700000" algn="tl" rotWithShape="0">
                  <a:srgbClr val="000000">
                    <a:alpha val="58000"/>
                  </a:srgbClr>
                </a:outerShdw>
              </a:effectLst>
              <a:extLst/>
            </p:spPr>
          </p:sp>
          <p:sp>
            <p:nvSpPr>
              <p:cNvPr id="32" name="Freeform 36">
                <a:extLst>
                  <a:ext uri="{FF2B5EF4-FFF2-40B4-BE49-F238E27FC236}">
                    <a16:creationId xmlns:a16="http://schemas.microsoft.com/office/drawing/2014/main" id="{491346A0-BF6D-45A5-806A-2150768722C8}"/>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1289314" y="3385079"/>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solidFill>
                <a:schemeClr val="tx2">
                  <a:alpha val="60000"/>
                </a:schemeClr>
              </a:solidFill>
              <a:ln>
                <a:noFill/>
              </a:ln>
              <a:effectLst>
                <a:outerShdw blurRad="50800" dist="38100" dir="2700000" algn="tl" rotWithShape="0">
                  <a:srgbClr val="000000">
                    <a:alpha val="58000"/>
                  </a:srgbClr>
                </a:outerShdw>
              </a:effectLst>
              <a:extLst/>
            </p:spPr>
          </p:sp>
          <p:sp>
            <p:nvSpPr>
              <p:cNvPr id="33" name="Freeform 38">
                <a:extLst>
                  <a:ext uri="{FF2B5EF4-FFF2-40B4-BE49-F238E27FC236}">
                    <a16:creationId xmlns:a16="http://schemas.microsoft.com/office/drawing/2014/main" id="{A8A5AAC9-38FD-4A03-AB91-236F2AAC625C}"/>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605895" y="3247760"/>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a:extLst/>
            </p:spPr>
          </p:sp>
          <p:sp>
            <p:nvSpPr>
              <p:cNvPr id="34" name="Freeform 39">
                <a:extLst>
                  <a:ext uri="{FF2B5EF4-FFF2-40B4-BE49-F238E27FC236}">
                    <a16:creationId xmlns:a16="http://schemas.microsoft.com/office/drawing/2014/main" id="{7AD4105C-55AA-47FF-AC5D-5BCB0B78CDC9}"/>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rot="16200000" flipH="1">
                <a:off x="1532202" y="2305578"/>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solidFill>
                <a:schemeClr val="tx2">
                  <a:alpha val="60000"/>
                </a:schemeClr>
              </a:solidFill>
              <a:ln>
                <a:noFill/>
              </a:ln>
              <a:effectLst>
                <a:outerShdw blurRad="50800" dist="38100" dir="2700000" algn="tl" rotWithShape="0">
                  <a:srgbClr val="000000">
                    <a:alpha val="58000"/>
                  </a:srgbClr>
                </a:outerShdw>
              </a:effectLst>
              <a:extLst/>
            </p:spPr>
          </p:sp>
          <p:sp>
            <p:nvSpPr>
              <p:cNvPr id="35" name="Freeform 40">
                <a:extLst>
                  <a:ext uri="{FF2B5EF4-FFF2-40B4-BE49-F238E27FC236}">
                    <a16:creationId xmlns:a16="http://schemas.microsoft.com/office/drawing/2014/main" id="{1C4B42B1-B112-4057-82C3-E5AF3BC7F6DF}"/>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rot="16200000" flipH="1">
                <a:off x="2154501" y="346127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solidFill>
                <a:schemeClr val="tx2">
                  <a:alpha val="60000"/>
                </a:schemeClr>
              </a:solidFill>
              <a:ln>
                <a:noFill/>
              </a:ln>
              <a:effectLst>
                <a:outerShdw blurRad="50800" dist="38100" dir="2700000" algn="tl" rotWithShape="0">
                  <a:srgbClr val="000000">
                    <a:alpha val="58000"/>
                  </a:srgbClr>
                </a:outerShdw>
              </a:effectLst>
              <a:extLst/>
            </p:spPr>
          </p:sp>
          <p:sp>
            <p:nvSpPr>
              <p:cNvPr id="36" name="Rectangle 41">
                <a:extLst>
                  <a:ext uri="{FF2B5EF4-FFF2-40B4-BE49-F238E27FC236}">
                    <a16:creationId xmlns:a16="http://schemas.microsoft.com/office/drawing/2014/main" id="{C8B37395-3651-4E66-A62E-31529FABC8CC}"/>
                  </a:ext>
                  <a:ext uri="{C183D7F6-B498-43B3-948B-1728B52AA6E4}">
                    <adec:decorative xmlns=""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rot="16200000" flipH="1">
                <a:off x="2448983" y="3436672"/>
                <a:ext cx="23813" cy="252413"/>
              </a:xfrm>
              <a:prstGeom prst="rect">
                <a:avLst/>
              </a:prstGeom>
              <a:solidFill>
                <a:schemeClr val="tx2">
                  <a:alpha val="60000"/>
                </a:schemeClr>
              </a:solidFill>
              <a:ln>
                <a:noFill/>
              </a:ln>
              <a:effectLst>
                <a:outerShdw blurRad="50800" dist="38100" dir="2700000" algn="tl" rotWithShape="0">
                  <a:srgbClr val="000000">
                    <a:alpha val="58000"/>
                  </a:srgbClr>
                </a:outerShdw>
              </a:effectLst>
              <a:extLst/>
            </p:spPr>
          </p:sp>
        </p:grpSp>
      </p:grpSp>
      <p:sp>
        <p:nvSpPr>
          <p:cNvPr id="2" name="Title 1">
            <a:extLst>
              <a:ext uri="{FF2B5EF4-FFF2-40B4-BE49-F238E27FC236}">
                <a16:creationId xmlns:a16="http://schemas.microsoft.com/office/drawing/2014/main" id="{4D687081-16D7-4BC5-A7DB-E70117439F85}"/>
              </a:ext>
            </a:extLst>
          </p:cNvPr>
          <p:cNvSpPr>
            <a:spLocks noGrp="1"/>
          </p:cNvSpPr>
          <p:nvPr>
            <p:ph type="ctrTitle"/>
          </p:nvPr>
        </p:nvSpPr>
        <p:spPr>
          <a:xfrm>
            <a:off x="2566711" y="694944"/>
            <a:ext cx="6858000" cy="1401883"/>
          </a:xfrm>
        </p:spPr>
        <p:txBody>
          <a:bodyPr anchor="ctr">
            <a:noAutofit/>
          </a:bodyPr>
          <a:lstStyle/>
          <a:p>
            <a:pPr algn="ctr"/>
            <a:r>
              <a:rPr lang="en-US" dirty="0" smtClean="0"/>
              <a:t>Unit-7 large signal amplifier</a:t>
            </a:r>
            <a:endParaRPr lang="en-US" dirty="0"/>
          </a:p>
        </p:txBody>
      </p:sp>
      <p:sp>
        <p:nvSpPr>
          <p:cNvPr id="3" name="Subtitle 2">
            <a:extLst>
              <a:ext uri="{FF2B5EF4-FFF2-40B4-BE49-F238E27FC236}">
                <a16:creationId xmlns:a16="http://schemas.microsoft.com/office/drawing/2014/main" id="{1841851F-203A-4F8E-AA75-478526ABA894}"/>
              </a:ext>
            </a:extLst>
          </p:cNvPr>
          <p:cNvSpPr>
            <a:spLocks noGrp="1"/>
          </p:cNvSpPr>
          <p:nvPr>
            <p:ph type="subTitle" idx="1"/>
          </p:nvPr>
        </p:nvSpPr>
        <p:spPr>
          <a:xfrm>
            <a:off x="2636838" y="2556404"/>
            <a:ext cx="6857999" cy="1884362"/>
          </a:xfrm>
        </p:spPr>
        <p:txBody>
          <a:bodyPr>
            <a:noAutofit/>
          </a:bodyPr>
          <a:lstStyle/>
          <a:p>
            <a:pPr algn="ctr"/>
            <a:r>
              <a:rPr lang="en-US" sz="1600" dirty="0">
                <a:solidFill>
                  <a:schemeClr val="tx1"/>
                </a:solidFill>
                <a:latin typeface="arial" panose="020B0604020202020204" pitchFamily="34" charset="0"/>
              </a:rPr>
              <a:t>Large signal amplifiers also known as power amplifiers are </a:t>
            </a:r>
            <a:r>
              <a:rPr lang="en-US" sz="1600" b="1" dirty="0">
                <a:solidFill>
                  <a:schemeClr val="tx1"/>
                </a:solidFill>
                <a:latin typeface="arial" panose="020B0604020202020204" pitchFamily="34" charset="0"/>
              </a:rPr>
              <a:t>capable of providing large amount of power to the load</a:t>
            </a:r>
            <a:r>
              <a:rPr lang="en-US" sz="1600" dirty="0">
                <a:solidFill>
                  <a:schemeClr val="tx1"/>
                </a:solidFill>
                <a:latin typeface="arial" panose="020B0604020202020204" pitchFamily="34" charset="0"/>
              </a:rPr>
              <a:t>. They are used as last stage in electronic systems. A power amplifier takes the </a:t>
            </a:r>
            <a:r>
              <a:rPr lang="en-US" sz="1600" dirty="0" err="1">
                <a:solidFill>
                  <a:schemeClr val="tx1"/>
                </a:solidFill>
                <a:latin typeface="arial" panose="020B0604020202020204" pitchFamily="34" charset="0"/>
              </a:rPr>
              <a:t>d.c.</a:t>
            </a:r>
            <a:r>
              <a:rPr lang="en-US" sz="1600" dirty="0">
                <a:solidFill>
                  <a:schemeClr val="tx1"/>
                </a:solidFill>
                <a:latin typeface="arial" panose="020B0604020202020204" pitchFamily="34" charset="0"/>
              </a:rPr>
              <a:t> power supply connected to the output circuit and converts it into </a:t>
            </a:r>
            <a:r>
              <a:rPr lang="en-US" sz="1600" dirty="0" err="1">
                <a:solidFill>
                  <a:schemeClr val="tx1"/>
                </a:solidFill>
                <a:latin typeface="arial" panose="020B0604020202020204" pitchFamily="34" charset="0"/>
              </a:rPr>
              <a:t>a.c</a:t>
            </a:r>
            <a:r>
              <a:rPr lang="en-US" sz="1600" dirty="0">
                <a:solidFill>
                  <a:schemeClr val="tx1"/>
                </a:solidFill>
                <a:latin typeface="arial" panose="020B0604020202020204" pitchFamily="34" charset="0"/>
              </a:rPr>
              <a:t>. signal power.</a:t>
            </a:r>
            <a:endParaRPr lang="en-US" sz="1600" dirty="0">
              <a:solidFill>
                <a:schemeClr val="tx1"/>
              </a:solidFill>
            </a:endParaRPr>
          </a:p>
        </p:txBody>
      </p:sp>
      <p:sp>
        <p:nvSpPr>
          <p:cNvPr id="38" name="Rectangle 37">
            <a:extLst>
              <a:ext uri="{FF2B5EF4-FFF2-40B4-BE49-F238E27FC236}">
                <a16:creationId xmlns:a16="http://schemas.microsoft.com/office/drawing/2014/main" id="{6B6D540F-1E2F-416F-819F-D8216BC8F334}"/>
              </a:ext>
              <a:ext uri="{C183D7F6-B498-43B3-948B-1728B52AA6E4}">
                <adec:decorative xmlns=""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p>
        </p:txBody>
      </p:sp>
    </p:spTree>
    <p:extLst>
      <p:ext uri="{BB962C8B-B14F-4D97-AF65-F5344CB8AC3E}">
        <p14:creationId xmlns:p14="http://schemas.microsoft.com/office/powerpoint/2010/main" val="2185875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48000"/>
                <a:hueMod val="106000"/>
                <a:satMod val="140000"/>
                <a:lumMod val="42000"/>
              </a:schemeClr>
              <a:schemeClr val="bg2">
                <a:tint val="98000"/>
                <a:hueMod val="92000"/>
                <a:satMod val="220000"/>
                <a:lumMod val="90000"/>
              </a:schemeClr>
            </a:duotone>
            <a:extLst/>
          </a:blip>
          <a:stretch/>
        </a:blipFill>
        <a:effectLst/>
      </p:bgPr>
    </p:bg>
    <p:spTree>
      <p:nvGrpSpPr>
        <p:cNvPr id="1" name=""/>
        <p:cNvGrpSpPr/>
        <p:nvPr/>
      </p:nvGrpSpPr>
      <p:grpSpPr>
        <a:xfrm>
          <a:off x="0" y="0"/>
          <a:ext cx="0" cy="0"/>
          <a:chOff x="0" y="0"/>
          <a:chExt cx="0" cy="0"/>
        </a:xfrm>
      </p:grpSpPr>
      <p:grpSp>
        <p:nvGrpSpPr>
          <p:cNvPr id="340" name="Group 279">
            <a:extLst>
              <a:ext uri="{FF2B5EF4-FFF2-40B4-BE49-F238E27FC236}">
                <a16:creationId xmlns:a16="http://schemas.microsoft.com/office/drawing/2014/main" id="{5FE07634-A83A-4681-9C1D-BC0775F9D296}"/>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
            <a:ext cx="12192003" cy="6858001"/>
            <a:chOff x="0" y="-1"/>
            <a:chExt cx="12192003" cy="6858001"/>
          </a:xfrm>
        </p:grpSpPr>
        <p:sp useBgFill="1">
          <p:nvSpPr>
            <p:cNvPr id="281" name="Rectangle 280">
              <a:extLst>
                <a:ext uri="{FF2B5EF4-FFF2-40B4-BE49-F238E27FC236}">
                  <a16:creationId xmlns:a16="http://schemas.microsoft.com/office/drawing/2014/main" id="{BF62976A-266E-4650-88F2-C16130F3DF4C}"/>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a:xfrm>
              <a:off x="1" y="-1"/>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82" name="Picture 2">
              <a:extLst>
                <a:ext uri="{FF2B5EF4-FFF2-40B4-BE49-F238E27FC236}">
                  <a16:creationId xmlns:a16="http://schemas.microsoft.com/office/drawing/2014/main" id="{88D9B99B-59C2-481A-A948-F87920A7FE5E}"/>
                </a:ext>
                <a:ext uri="{C183D7F6-B498-43B3-948B-1728B52AA6E4}">
                  <adec:decorative xmlns="" xmlns:adec="http://schemas.microsoft.com/office/drawing/2017/decorative" val="1"/>
                </a:ext>
              </a:extLst>
            </p:cNvPr>
            <p:cNvPicPr>
              <a:picLocks noChangeAspect="1" noChangeArrowheads="1"/>
            </p:cNvPicPr>
            <p:nvPr>
              <p:extLst>
                <p:ext uri="{386F3935-93C4-4BCD-93E2-E3B085C9AB24}">
                  <p16:designElem xmlns:p16="http://schemas.microsoft.com/office/powerpoint/2015/main" val="1"/>
                </p:ext>
              </p:extLst>
            </p:nvPr>
          </p:nvPicPr>
          <p:blipFill>
            <a:blip r:embed="rId4">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6="http://schemas.microsoft.com/office/drawing/2014/main" xmlns:a14="http://schemas.microsoft.com/office/drawing/2010/main" xmlns:p14="http://schemas.microsoft.com/office/powerpoint/2010/main">
                  <a:solidFill>
                    <a:srgbClr val="FFFFFF"/>
                  </a:solidFill>
                </a14:hiddenFill>
              </a:ext>
            </a:extLst>
          </p:spPr>
        </p:pic>
      </p:grpSp>
      <p:grpSp>
        <p:nvGrpSpPr>
          <p:cNvPr id="341" name="Group 283">
            <a:extLst>
              <a:ext uri="{FF2B5EF4-FFF2-40B4-BE49-F238E27FC236}">
                <a16:creationId xmlns:a16="http://schemas.microsoft.com/office/drawing/2014/main" id="{A2E1FE48-FA7B-4262-B922-041542931DDF}"/>
              </a:ext>
              <a:ext uri="{C183D7F6-B498-43B3-948B-1728B52AA6E4}">
                <adec:decorative xmlns=""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2305051" cy="6858001"/>
            <a:chOff x="0" y="0"/>
            <a:chExt cx="2305051" cy="6858001"/>
          </a:xfrm>
          <a:solidFill>
            <a:schemeClr val="tx1">
              <a:alpha val="70000"/>
            </a:schemeClr>
          </a:solidFill>
          <a:effectLst/>
        </p:grpSpPr>
        <p:sp>
          <p:nvSpPr>
            <p:cNvPr id="285" name="Rectangle 284">
              <a:extLst>
                <a:ext uri="{FF2B5EF4-FFF2-40B4-BE49-F238E27FC236}">
                  <a16:creationId xmlns:a16="http://schemas.microsoft.com/office/drawing/2014/main" id="{F2E644B1-8F72-4AC4-89F1-EB3A027341E5}"/>
                </a:ext>
                <a:ext uri="{C183D7F6-B498-43B3-948B-1728B52AA6E4}">
                  <adec:decorative xmlns=""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09675" y="4763"/>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sp>
        <p:sp>
          <p:nvSpPr>
            <p:cNvPr id="286" name="Freeform 6">
              <a:extLst>
                <a:ext uri="{FF2B5EF4-FFF2-40B4-BE49-F238E27FC236}">
                  <a16:creationId xmlns:a16="http://schemas.microsoft.com/office/drawing/2014/main" id="{1781B8E8-8A26-4FFB-BE0C-7C0C644F7C52}"/>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87" name="Freeform 7">
              <a:extLst>
                <a:ext uri="{FF2B5EF4-FFF2-40B4-BE49-F238E27FC236}">
                  <a16:creationId xmlns:a16="http://schemas.microsoft.com/office/drawing/2014/main" id="{4109D997-E9DF-4429-A643-3E691E2B706E}"/>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88" name="Rectangle 287">
              <a:extLst>
                <a:ext uri="{FF2B5EF4-FFF2-40B4-BE49-F238E27FC236}">
                  <a16:creationId xmlns:a16="http://schemas.microsoft.com/office/drawing/2014/main" id="{B392695A-F131-4C51-B689-3F4D5B1A2F1D}"/>
                </a:ext>
                <a:ext uri="{C183D7F6-B498-43B3-948B-1728B52AA6E4}">
                  <adec:decorative xmlns=""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414338" y="9525"/>
              <a:ext cx="28575" cy="4481513"/>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sp>
        <p:sp>
          <p:nvSpPr>
            <p:cNvPr id="289" name="Freeform 9">
              <a:extLst>
                <a:ext uri="{FF2B5EF4-FFF2-40B4-BE49-F238E27FC236}">
                  <a16:creationId xmlns:a16="http://schemas.microsoft.com/office/drawing/2014/main" id="{8218EC3E-07D0-417A-B0A8-057F825EF793}"/>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90" name="Freeform 10">
              <a:extLst>
                <a:ext uri="{FF2B5EF4-FFF2-40B4-BE49-F238E27FC236}">
                  <a16:creationId xmlns:a16="http://schemas.microsoft.com/office/drawing/2014/main" id="{B036399E-7675-47B6-A645-242946879EE4}"/>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91" name="Freeform 11">
              <a:extLst>
                <a:ext uri="{FF2B5EF4-FFF2-40B4-BE49-F238E27FC236}">
                  <a16:creationId xmlns:a16="http://schemas.microsoft.com/office/drawing/2014/main" id="{C44A0438-B8A4-43B3-B17C-B919FCD92C2D}"/>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92" name="Freeform 12">
              <a:extLst>
                <a:ext uri="{FF2B5EF4-FFF2-40B4-BE49-F238E27FC236}">
                  <a16:creationId xmlns:a16="http://schemas.microsoft.com/office/drawing/2014/main" id="{ABC7257F-6F64-4B81-BDA7-7C232BCBA262}"/>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93" name="Freeform 13">
              <a:extLst>
                <a:ext uri="{FF2B5EF4-FFF2-40B4-BE49-F238E27FC236}">
                  <a16:creationId xmlns:a16="http://schemas.microsoft.com/office/drawing/2014/main" id="{72DD7E92-F033-480C-A220-63CE422C3A10}"/>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94" name="Freeform 14">
              <a:extLst>
                <a:ext uri="{FF2B5EF4-FFF2-40B4-BE49-F238E27FC236}">
                  <a16:creationId xmlns:a16="http://schemas.microsoft.com/office/drawing/2014/main" id="{444A9AC9-463E-45E7-A818-13F664F7C035}"/>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95" name="Freeform 15">
              <a:extLst>
                <a:ext uri="{FF2B5EF4-FFF2-40B4-BE49-F238E27FC236}">
                  <a16:creationId xmlns:a16="http://schemas.microsoft.com/office/drawing/2014/main" id="{6CCE9BBE-5DE3-4991-80CA-DFEB928673D8}"/>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96" name="Freeform 16">
              <a:extLst>
                <a:ext uri="{FF2B5EF4-FFF2-40B4-BE49-F238E27FC236}">
                  <a16:creationId xmlns:a16="http://schemas.microsoft.com/office/drawing/2014/main" id="{3180F6DF-A13F-491C-BF97-B206E3E7B901}"/>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97" name="Freeform 17">
              <a:extLst>
                <a:ext uri="{FF2B5EF4-FFF2-40B4-BE49-F238E27FC236}">
                  <a16:creationId xmlns:a16="http://schemas.microsoft.com/office/drawing/2014/main" id="{CAD0E44C-73C8-42BB-ADA8-2BA6B308249F}"/>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98" name="Freeform 18">
              <a:extLst>
                <a:ext uri="{FF2B5EF4-FFF2-40B4-BE49-F238E27FC236}">
                  <a16:creationId xmlns:a16="http://schemas.microsoft.com/office/drawing/2014/main" id="{436EC43E-A70D-4E5C-B275-35CA8E93C1B6}"/>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299" name="Freeform 19">
              <a:extLst>
                <a:ext uri="{FF2B5EF4-FFF2-40B4-BE49-F238E27FC236}">
                  <a16:creationId xmlns:a16="http://schemas.microsoft.com/office/drawing/2014/main" id="{ADE7E5B6-2E2A-4F56-9E90-F8613E6D10F7}"/>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00" name="Freeform 20">
              <a:extLst>
                <a:ext uri="{FF2B5EF4-FFF2-40B4-BE49-F238E27FC236}">
                  <a16:creationId xmlns:a16="http://schemas.microsoft.com/office/drawing/2014/main" id="{86B9E49B-AE8D-47E0-BACC-A6D0AC3AB23A}"/>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01" name="Freeform 21">
              <a:extLst>
                <a:ext uri="{FF2B5EF4-FFF2-40B4-BE49-F238E27FC236}">
                  <a16:creationId xmlns:a16="http://schemas.microsoft.com/office/drawing/2014/main" id="{2EB961AF-CD61-41BA-B0B2-0741A5ED6448}"/>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02" name="Freeform 22">
              <a:extLst>
                <a:ext uri="{FF2B5EF4-FFF2-40B4-BE49-F238E27FC236}">
                  <a16:creationId xmlns:a16="http://schemas.microsoft.com/office/drawing/2014/main" id="{DC42BDA1-810A-4135-B3B1-B3161D372A3C}"/>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03" name="Freeform 23">
              <a:extLst>
                <a:ext uri="{FF2B5EF4-FFF2-40B4-BE49-F238E27FC236}">
                  <a16:creationId xmlns:a16="http://schemas.microsoft.com/office/drawing/2014/main" id="{FA51FCA8-FCF4-4116-8CB2-5C539E37F449}"/>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04" name="Freeform 24">
              <a:extLst>
                <a:ext uri="{FF2B5EF4-FFF2-40B4-BE49-F238E27FC236}">
                  <a16:creationId xmlns:a16="http://schemas.microsoft.com/office/drawing/2014/main" id="{F2850A10-CDBC-462A-8CB7-025874683447}"/>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05" name="Freeform 25">
              <a:extLst>
                <a:ext uri="{FF2B5EF4-FFF2-40B4-BE49-F238E27FC236}">
                  <a16:creationId xmlns:a16="http://schemas.microsoft.com/office/drawing/2014/main" id="{738A37B9-77C2-4464-BF1F-2AF25A0D298B}"/>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06" name="Freeform 26">
              <a:extLst>
                <a:ext uri="{FF2B5EF4-FFF2-40B4-BE49-F238E27FC236}">
                  <a16:creationId xmlns:a16="http://schemas.microsoft.com/office/drawing/2014/main" id="{89026C8B-A162-4523-A51B-9F1200BC603D}"/>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07" name="Freeform 27">
              <a:extLst>
                <a:ext uri="{FF2B5EF4-FFF2-40B4-BE49-F238E27FC236}">
                  <a16:creationId xmlns:a16="http://schemas.microsoft.com/office/drawing/2014/main" id="{5B76BC40-1FA2-477D-B2C2-4763577DB78E}"/>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08" name="Freeform 28">
              <a:extLst>
                <a:ext uri="{FF2B5EF4-FFF2-40B4-BE49-F238E27FC236}">
                  <a16:creationId xmlns:a16="http://schemas.microsoft.com/office/drawing/2014/main" id="{6BC68EAA-2809-4AE4-80C1-2555CEF73DFE}"/>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09" name="Freeform 29">
              <a:extLst>
                <a:ext uri="{FF2B5EF4-FFF2-40B4-BE49-F238E27FC236}">
                  <a16:creationId xmlns:a16="http://schemas.microsoft.com/office/drawing/2014/main" id="{FE709D1B-0541-4414-9E87-CF7D6918C146}"/>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10" name="Freeform 30">
              <a:extLst>
                <a:ext uri="{FF2B5EF4-FFF2-40B4-BE49-F238E27FC236}">
                  <a16:creationId xmlns:a16="http://schemas.microsoft.com/office/drawing/2014/main" id="{33BCB888-11B8-4D01-BCDA-59BBA28DCE0B}"/>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11" name="Freeform 31">
              <a:extLst>
                <a:ext uri="{FF2B5EF4-FFF2-40B4-BE49-F238E27FC236}">
                  <a16:creationId xmlns:a16="http://schemas.microsoft.com/office/drawing/2014/main" id="{28E5CE3E-C11A-4CF7-82BF-37D1221D4E35}"/>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12" name="Freeform 32">
              <a:extLst>
                <a:ext uri="{FF2B5EF4-FFF2-40B4-BE49-F238E27FC236}">
                  <a16:creationId xmlns:a16="http://schemas.microsoft.com/office/drawing/2014/main" id="{55284FC3-21FB-4FA7-B695-2D6A9CEF73E0}"/>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13" name="Rectangle 312">
              <a:extLst>
                <a:ext uri="{FF2B5EF4-FFF2-40B4-BE49-F238E27FC236}">
                  <a16:creationId xmlns:a16="http://schemas.microsoft.com/office/drawing/2014/main" id="{13DA6B78-00DE-4E55-9124-EFD72519BB99}"/>
                </a:ext>
                <a:ext uri="{C183D7F6-B498-43B3-948B-1728B52AA6E4}">
                  <adec:decorative xmlns=""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642938" y="6610350"/>
              <a:ext cx="23813" cy="242888"/>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sp>
        <p:sp>
          <p:nvSpPr>
            <p:cNvPr id="314" name="Freeform 34">
              <a:extLst>
                <a:ext uri="{FF2B5EF4-FFF2-40B4-BE49-F238E27FC236}">
                  <a16:creationId xmlns:a16="http://schemas.microsoft.com/office/drawing/2014/main" id="{D4602B0F-2844-48BE-9B4A-0366AC904506}"/>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15" name="Freeform 35">
              <a:extLst>
                <a:ext uri="{FF2B5EF4-FFF2-40B4-BE49-F238E27FC236}">
                  <a16:creationId xmlns:a16="http://schemas.microsoft.com/office/drawing/2014/main" id="{E31E05BB-6004-474D-9900-D990378FD3F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16" name="Freeform 36">
              <a:extLst>
                <a:ext uri="{FF2B5EF4-FFF2-40B4-BE49-F238E27FC236}">
                  <a16:creationId xmlns:a16="http://schemas.microsoft.com/office/drawing/2014/main" id="{00BD01ED-F65D-4601-A77D-508E960E09AC}"/>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17" name="Freeform 37">
              <a:extLst>
                <a:ext uri="{FF2B5EF4-FFF2-40B4-BE49-F238E27FC236}">
                  <a16:creationId xmlns:a16="http://schemas.microsoft.com/office/drawing/2014/main" id="{FD307CAE-789C-4E80-B6F1-9858A3ABA3F8}"/>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18" name="Freeform 38">
              <a:extLst>
                <a:ext uri="{FF2B5EF4-FFF2-40B4-BE49-F238E27FC236}">
                  <a16:creationId xmlns:a16="http://schemas.microsoft.com/office/drawing/2014/main" id="{94B97B29-709E-4E24-B2FA-EF84AA12D290}"/>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19" name="Freeform 39">
              <a:extLst>
                <a:ext uri="{FF2B5EF4-FFF2-40B4-BE49-F238E27FC236}">
                  <a16:creationId xmlns:a16="http://schemas.microsoft.com/office/drawing/2014/main" id="{C05D52B9-1FA2-4E7C-8229-B09811A9013E}"/>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20" name="Freeform 40">
              <a:extLst>
                <a:ext uri="{FF2B5EF4-FFF2-40B4-BE49-F238E27FC236}">
                  <a16:creationId xmlns:a16="http://schemas.microsoft.com/office/drawing/2014/main" id="{CC0A5575-2FB9-440F-B9A8-E0DDE1C37CED}"/>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21" name="Freeform 41">
              <a:extLst>
                <a:ext uri="{FF2B5EF4-FFF2-40B4-BE49-F238E27FC236}">
                  <a16:creationId xmlns:a16="http://schemas.microsoft.com/office/drawing/2014/main" id="{AFFCC88F-01DF-4DE1-8CD5-88631E309127}"/>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22" name="Freeform 42">
              <a:extLst>
                <a:ext uri="{FF2B5EF4-FFF2-40B4-BE49-F238E27FC236}">
                  <a16:creationId xmlns:a16="http://schemas.microsoft.com/office/drawing/2014/main" id="{33EEC40B-E2CD-4BAC-94D6-85B707142267}"/>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23" name="Freeform 43">
              <a:extLst>
                <a:ext uri="{FF2B5EF4-FFF2-40B4-BE49-F238E27FC236}">
                  <a16:creationId xmlns:a16="http://schemas.microsoft.com/office/drawing/2014/main" id="{3E0E9643-5C60-4933-BB1B-9A09057E7239}"/>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24" name="Freeform 44">
              <a:extLst>
                <a:ext uri="{FF2B5EF4-FFF2-40B4-BE49-F238E27FC236}">
                  <a16:creationId xmlns:a16="http://schemas.microsoft.com/office/drawing/2014/main" id="{94F86E92-9EC7-437C-946B-31E7C1C4771A}"/>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25" name="Rectangle 324">
              <a:extLst>
                <a:ext uri="{FF2B5EF4-FFF2-40B4-BE49-F238E27FC236}">
                  <a16:creationId xmlns:a16="http://schemas.microsoft.com/office/drawing/2014/main" id="{BE9A51BE-C514-46B5-ABA6-7E7C878F8E53}"/>
                </a:ext>
                <a:ext uri="{C183D7F6-B498-43B3-948B-1728B52AA6E4}">
                  <adec:decorative xmlns="" xmlns:adec="http://schemas.microsoft.com/office/drawing/2017/decorative" val="1"/>
                </a:ext>
              </a:extLst>
            </p:cNvPr>
            <p:cNvSpPr>
              <a:spLocks noChangeArrowheads="1"/>
            </p:cNvSpPr>
            <p:nvPr>
              <p:extLst>
                <p:ext uri="{386F3935-93C4-4BCD-93E2-E3B085C9AB24}">
                  <p16:designElem xmlns:p16="http://schemas.microsoft.com/office/powerpoint/2015/main" val="1"/>
                </p:ext>
              </p:extLst>
            </p:nvPr>
          </p:nvSpPr>
          <p:spPr bwMode="auto">
            <a:xfrm>
              <a:off x="1228725" y="4662488"/>
              <a:ext cx="23813" cy="2181225"/>
            </a:xfrm>
            <a:prstGeom prst="rect">
              <a:avLst/>
            </a:pr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miter lim="800000"/>
                  <a:headEnd/>
                  <a:tailEnd/>
                </a14:hiddenLine>
              </a:ext>
            </a:extLst>
          </p:spPr>
        </p:sp>
        <p:sp>
          <p:nvSpPr>
            <p:cNvPr id="326" name="Freeform 46">
              <a:extLst>
                <a:ext uri="{FF2B5EF4-FFF2-40B4-BE49-F238E27FC236}">
                  <a16:creationId xmlns:a16="http://schemas.microsoft.com/office/drawing/2014/main" id="{8B255447-F0E9-4D96-A4B0-F9EDDE58A373}"/>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27" name="Freeform 47">
              <a:extLst>
                <a:ext uri="{FF2B5EF4-FFF2-40B4-BE49-F238E27FC236}">
                  <a16:creationId xmlns:a16="http://schemas.microsoft.com/office/drawing/2014/main" id="{AFAC5F3A-3BE7-489E-A848-498B9995F1D2}"/>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28" name="Freeform 48">
              <a:extLst>
                <a:ext uri="{FF2B5EF4-FFF2-40B4-BE49-F238E27FC236}">
                  <a16:creationId xmlns:a16="http://schemas.microsoft.com/office/drawing/2014/main" id="{A974E7AA-5EF3-4817-B0AE-4C1A784EE9A6}"/>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29" name="Freeform 49">
              <a:extLst>
                <a:ext uri="{FF2B5EF4-FFF2-40B4-BE49-F238E27FC236}">
                  <a16:creationId xmlns:a16="http://schemas.microsoft.com/office/drawing/2014/main" id="{8AA54AC1-3E87-49C0-A594-87829A2CFF37}"/>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30" name="Freeform 50">
              <a:extLst>
                <a:ext uri="{FF2B5EF4-FFF2-40B4-BE49-F238E27FC236}">
                  <a16:creationId xmlns:a16="http://schemas.microsoft.com/office/drawing/2014/main" id="{CC237789-73BC-4BD9-BFE8-1325FA4B5224}"/>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31" name="Freeform 51">
              <a:extLst>
                <a:ext uri="{FF2B5EF4-FFF2-40B4-BE49-F238E27FC236}">
                  <a16:creationId xmlns:a16="http://schemas.microsoft.com/office/drawing/2014/main" id="{DCF4052D-CF62-47DC-991E-49D0BA908F7A}"/>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32" name="Freeform 52">
              <a:extLst>
                <a:ext uri="{FF2B5EF4-FFF2-40B4-BE49-F238E27FC236}">
                  <a16:creationId xmlns:a16="http://schemas.microsoft.com/office/drawing/2014/main" id="{2ABD9104-C938-44F2-8622-8407A2593BBE}"/>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33" name="Freeform 53">
              <a:extLst>
                <a:ext uri="{FF2B5EF4-FFF2-40B4-BE49-F238E27FC236}">
                  <a16:creationId xmlns:a16="http://schemas.microsoft.com/office/drawing/2014/main" id="{4AA18F60-3E86-4A5A-B82E-A79183ED3631}"/>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34" name="Freeform 54">
              <a:extLst>
                <a:ext uri="{FF2B5EF4-FFF2-40B4-BE49-F238E27FC236}">
                  <a16:creationId xmlns:a16="http://schemas.microsoft.com/office/drawing/2014/main" id="{0F34C941-6196-4937-99E5-14AAD23F280C}"/>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35" name="Freeform 55">
              <a:extLst>
                <a:ext uri="{FF2B5EF4-FFF2-40B4-BE49-F238E27FC236}">
                  <a16:creationId xmlns:a16="http://schemas.microsoft.com/office/drawing/2014/main" id="{60DB8A6C-23D7-4A88-BDCE-8FEC86A12307}"/>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36" name="Freeform 56">
              <a:extLst>
                <a:ext uri="{FF2B5EF4-FFF2-40B4-BE49-F238E27FC236}">
                  <a16:creationId xmlns:a16="http://schemas.microsoft.com/office/drawing/2014/main" id="{29F5F702-AEE6-4633-BB20-7A15C3A31FD6}"/>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37" name="Freeform 57">
              <a:extLst>
                <a:ext uri="{FF2B5EF4-FFF2-40B4-BE49-F238E27FC236}">
                  <a16:creationId xmlns:a16="http://schemas.microsoft.com/office/drawing/2014/main" id="{F30C7A45-6890-4EA5-9F6B-E2AB4D04C57B}"/>
                </a:ext>
                <a:ext uri="{C183D7F6-B498-43B3-948B-1728B52AA6E4}">
                  <adec:decorative xmlns=""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sp>
          <p:nvSpPr>
            <p:cNvPr id="338" name="Freeform 58">
              <a:extLst>
                <a:ext uri="{FF2B5EF4-FFF2-40B4-BE49-F238E27FC236}">
                  <a16:creationId xmlns:a16="http://schemas.microsoft.com/office/drawing/2014/main" id="{F31A7373-F68A-485D-95DC-B53ACC7B5F99}"/>
                </a:ext>
                <a:ext uri="{C183D7F6-B498-43B3-948B-1728B52AA6E4}">
                  <adec:decorative xmlns=""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6="http://schemas.microsoft.com/office/drawing/2014/main" xmlns:a14="http://schemas.microsoft.com/office/drawing/2010/main" xmlns:p14="http://schemas.microsoft.com/office/powerpoint/2010/main" w="9525">
                  <a:solidFill>
                    <a:srgbClr val="000000"/>
                  </a:solidFill>
                  <a:round/>
                  <a:headEnd/>
                  <a:tailEnd/>
                </a14:hiddenLine>
              </a:ext>
            </a:extLst>
          </p:spPr>
        </p:sp>
      </p:grpSp>
      <p:sp>
        <p:nvSpPr>
          <p:cNvPr id="3" name="Title 2"/>
          <p:cNvSpPr>
            <a:spLocks noGrp="1"/>
          </p:cNvSpPr>
          <p:nvPr>
            <p:ph type="title"/>
          </p:nvPr>
        </p:nvSpPr>
        <p:spPr/>
        <p:txBody>
          <a:bodyPr/>
          <a:lstStyle/>
          <a:p>
            <a:r>
              <a:rPr lang="en-US" dirty="0" smtClean="0"/>
              <a:t>Introduction</a:t>
            </a:r>
            <a:endParaRPr lang="en-US" dirty="0"/>
          </a:p>
        </p:txBody>
      </p:sp>
      <p:pic>
        <p:nvPicPr>
          <p:cNvPr id="5" name="Content Placeholder 4"/>
          <p:cNvPicPr>
            <a:picLocks noGrp="1" noChangeAspect="1"/>
          </p:cNvPicPr>
          <p:nvPr>
            <p:ph idx="1"/>
          </p:nvPr>
        </p:nvPicPr>
        <p:blipFill>
          <a:blip r:embed="rId5"/>
          <a:stretch>
            <a:fillRect/>
          </a:stretch>
        </p:blipFill>
        <p:spPr>
          <a:xfrm>
            <a:off x="2300511" y="1744663"/>
            <a:ext cx="8986390" cy="4697412"/>
          </a:xfrm>
          <a:prstGeom prst="rect">
            <a:avLst/>
          </a:prstGeom>
        </p:spPr>
      </p:pic>
    </p:spTree>
    <p:extLst>
      <p:ext uri="{BB962C8B-B14F-4D97-AF65-F5344CB8AC3E}">
        <p14:creationId xmlns:p14="http://schemas.microsoft.com/office/powerpoint/2010/main" val="302665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duotone>
              <a:schemeClr val="bg2">
                <a:shade val="48000"/>
                <a:hueMod val="106000"/>
                <a:satMod val="140000"/>
                <a:lumMod val="42000"/>
              </a:schemeClr>
              <a:schemeClr val="bg2">
                <a:tint val="98000"/>
                <a:hueMod val="92000"/>
                <a:satMod val="220000"/>
                <a:lumMod val="90000"/>
              </a:schemeClr>
            </a:duotone>
            <a:extLst/>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14F439-6F4E-4BCD-9A8D-B3943844CA21}"/>
              </a:ext>
            </a:extLst>
          </p:cNvPr>
          <p:cNvSpPr>
            <a:spLocks noGrp="1"/>
          </p:cNvSpPr>
          <p:nvPr>
            <p:ph type="title"/>
          </p:nvPr>
        </p:nvSpPr>
        <p:spPr>
          <a:xfrm>
            <a:off x="3263549" y="197894"/>
            <a:ext cx="5661723" cy="734794"/>
          </a:xfrm>
        </p:spPr>
        <p:txBody>
          <a:bodyPr>
            <a:normAutofit/>
          </a:bodyPr>
          <a:lstStyle/>
          <a:p>
            <a:r>
              <a:rPr lang="en-US" dirty="0" smtClean="0"/>
              <a:t>Types of power Amplifier</a:t>
            </a:r>
            <a:endParaRPr lang="en-US" dirty="0"/>
          </a:p>
        </p:txBody>
      </p:sp>
      <p:sp>
        <p:nvSpPr>
          <p:cNvPr id="3" name="Content Placeholder 2"/>
          <p:cNvSpPr>
            <a:spLocks noGrp="1"/>
          </p:cNvSpPr>
          <p:nvPr>
            <p:ph idx="1"/>
          </p:nvPr>
        </p:nvSpPr>
        <p:spPr>
          <a:xfrm>
            <a:off x="676656" y="640080"/>
            <a:ext cx="10780776" cy="6044184"/>
          </a:xfrm>
        </p:spPr>
        <p:txBody>
          <a:bodyPr>
            <a:normAutofit fontScale="25000" lnSpcReduction="20000"/>
          </a:bodyPr>
          <a:lstStyle/>
          <a:p>
            <a:pPr marL="0" indent="0">
              <a:buNone/>
            </a:pPr>
            <a:endParaRPr lang="en-US" dirty="0"/>
          </a:p>
          <a:p>
            <a:r>
              <a:rPr lang="en-US" sz="9600" b="1" dirty="0">
                <a:latin typeface="Calibri" panose="020F0502020204030204" pitchFamily="34" charset="0"/>
                <a:cs typeface="Calibri" panose="020F0502020204030204" pitchFamily="34" charset="0"/>
              </a:rPr>
              <a:t>Class A</a:t>
            </a:r>
            <a:r>
              <a:rPr lang="en-US" sz="5000" b="1" dirty="0">
                <a:latin typeface="Calibri" panose="020F0502020204030204" pitchFamily="34" charset="0"/>
                <a:cs typeface="Calibri" panose="020F0502020204030204" pitchFamily="34" charset="0"/>
              </a:rPr>
              <a:t>: </a:t>
            </a:r>
            <a:r>
              <a:rPr lang="en-US" sz="7200" dirty="0">
                <a:latin typeface="Calibri" panose="020F0502020204030204" pitchFamily="34" charset="0"/>
                <a:cs typeface="Calibri" panose="020F0502020204030204" pitchFamily="34" charset="0"/>
              </a:rPr>
              <a:t>In this class operation, amplified output is achieved for the entire input signal. In order to have a </a:t>
            </a:r>
            <a:r>
              <a:rPr lang="en-US" sz="7200" dirty="0" smtClean="0">
                <a:latin typeface="Calibri" panose="020F0502020204030204" pitchFamily="34" charset="0"/>
                <a:cs typeface="Calibri" panose="020F0502020204030204" pitchFamily="34" charset="0"/>
              </a:rPr>
              <a:t>distortion less </a:t>
            </a:r>
            <a:r>
              <a:rPr lang="en-US" sz="7200" dirty="0">
                <a:latin typeface="Calibri" panose="020F0502020204030204" pitchFamily="34" charset="0"/>
                <a:cs typeface="Calibri" panose="020F0502020204030204" pitchFamily="34" charset="0"/>
              </a:rPr>
              <a:t>amplified signal at the output, class A power amplifiers are used. It is sometimes termed as inefficient operation as power conversion from dc to ac at the output is somewhat low</a:t>
            </a:r>
            <a:r>
              <a:rPr lang="en-US" sz="6200" dirty="0">
                <a:latin typeface="Calibri" panose="020F0502020204030204" pitchFamily="34" charset="0"/>
                <a:cs typeface="Calibri" panose="020F0502020204030204" pitchFamily="34" charset="0"/>
              </a:rPr>
              <a:t>.</a:t>
            </a:r>
          </a:p>
          <a:p>
            <a:r>
              <a:rPr lang="en-US" sz="9600" b="1" dirty="0">
                <a:latin typeface="Calibri" panose="020F0502020204030204" pitchFamily="34" charset="0"/>
                <a:cs typeface="Calibri" panose="020F0502020204030204" pitchFamily="34" charset="0"/>
              </a:rPr>
              <a:t>Class B</a:t>
            </a:r>
            <a:r>
              <a:rPr lang="en-US" sz="5000" b="1" dirty="0">
                <a:latin typeface="Calibri" panose="020F0502020204030204" pitchFamily="34" charset="0"/>
                <a:cs typeface="Calibri" panose="020F0502020204030204" pitchFamily="34" charset="0"/>
              </a:rPr>
              <a:t>: </a:t>
            </a:r>
            <a:r>
              <a:rPr lang="en-US" sz="8000" dirty="0">
                <a:latin typeface="Calibri" panose="020F0502020204030204" pitchFamily="34" charset="0"/>
                <a:cs typeface="Calibri" panose="020F0502020204030204" pitchFamily="34" charset="0"/>
              </a:rPr>
              <a:t>Using this class of </a:t>
            </a:r>
            <a:r>
              <a:rPr lang="en-US" sz="8000" dirty="0" smtClean="0">
                <a:latin typeface="Calibri" panose="020F0502020204030204" pitchFamily="34" charset="0"/>
                <a:cs typeface="Calibri" panose="020F0502020204030204" pitchFamily="34" charset="0"/>
              </a:rPr>
              <a:t>transistors </a:t>
            </a:r>
            <a:r>
              <a:rPr lang="en-US" sz="8000" dirty="0">
                <a:latin typeface="Calibri" panose="020F0502020204030204" pitchFamily="34" charset="0"/>
                <a:cs typeface="Calibri" panose="020F0502020204030204" pitchFamily="34" charset="0"/>
              </a:rPr>
              <a:t>in which equal but opposite magnitude of the input signal is fed. Therefore, by employing two transistors we can have complete amplified signal at the output.</a:t>
            </a:r>
          </a:p>
          <a:p>
            <a:r>
              <a:rPr lang="en-US" sz="8000" dirty="0">
                <a:latin typeface="Calibri" panose="020F0502020204030204" pitchFamily="34" charset="0"/>
                <a:cs typeface="Calibri" panose="020F0502020204030204" pitchFamily="34" charset="0"/>
              </a:rPr>
              <a:t>In this class of operation, a zero crossing error is introduced that is also known as crossover distortion. To have a detailed idea about crossover distortion you can also refer Power amplifiers</a:t>
            </a:r>
            <a:r>
              <a:rPr lang="en-US" sz="5000" dirty="0">
                <a:latin typeface="Calibri" panose="020F0502020204030204" pitchFamily="34" charset="0"/>
                <a:cs typeface="Calibri" panose="020F0502020204030204" pitchFamily="34" charset="0"/>
              </a:rPr>
              <a:t>.</a:t>
            </a:r>
          </a:p>
          <a:p>
            <a:r>
              <a:rPr lang="en-US" sz="9600" b="1" dirty="0">
                <a:latin typeface="Calibri" panose="020F0502020204030204" pitchFamily="34" charset="0"/>
                <a:cs typeface="Calibri" panose="020F0502020204030204" pitchFamily="34" charset="0"/>
              </a:rPr>
              <a:t>Class AB</a:t>
            </a:r>
            <a:r>
              <a:rPr lang="en-US" sz="5000" b="1" dirty="0">
                <a:latin typeface="Calibri" panose="020F0502020204030204" pitchFamily="34" charset="0"/>
                <a:cs typeface="Calibri" panose="020F0502020204030204" pitchFamily="34" charset="0"/>
              </a:rPr>
              <a:t>: </a:t>
            </a:r>
            <a:r>
              <a:rPr lang="en-US" sz="8000" dirty="0">
                <a:latin typeface="Calibri" panose="020F0502020204030204" pitchFamily="34" charset="0"/>
                <a:cs typeface="Calibri" panose="020F0502020204030204" pitchFamily="34" charset="0"/>
              </a:rPr>
              <a:t>A combined operation of class A and B resultantly provides class AB operation. It was basically introduced to overcome the disadvantage of Class B operation. Class AB conducts for more than 180⁰ but less than 360⁰ of the input signal cycle.</a:t>
            </a:r>
          </a:p>
          <a:p>
            <a:r>
              <a:rPr lang="en-US" sz="9600" b="1" dirty="0">
                <a:latin typeface="Calibri" panose="020F0502020204030204" pitchFamily="34" charset="0"/>
                <a:cs typeface="Calibri" panose="020F0502020204030204" pitchFamily="34" charset="0"/>
              </a:rPr>
              <a:t>Class C</a:t>
            </a:r>
            <a:r>
              <a:rPr lang="en-US" sz="5000" b="1" dirty="0">
                <a:latin typeface="Calibri" panose="020F0502020204030204" pitchFamily="34" charset="0"/>
                <a:cs typeface="Calibri" panose="020F0502020204030204" pitchFamily="34" charset="0"/>
              </a:rPr>
              <a:t>: </a:t>
            </a:r>
            <a:r>
              <a:rPr lang="en-US" sz="8000" dirty="0">
                <a:latin typeface="Calibri" panose="020F0502020204030204" pitchFamily="34" charset="0"/>
                <a:cs typeface="Calibri" panose="020F0502020204030204" pitchFamily="34" charset="0"/>
              </a:rPr>
              <a:t>This class is basically used when there is a need to operate at a fixed frequency. It provides output for less than half cycle of input and is highly efficient but is not suitable for audio amplification purposes.</a:t>
            </a:r>
          </a:p>
          <a:p>
            <a:r>
              <a:rPr lang="en-US" sz="8000" dirty="0" smtClean="0">
                <a:latin typeface="Calibri" panose="020F0502020204030204" pitchFamily="34" charset="0"/>
                <a:cs typeface="Calibri" panose="020F0502020204030204" pitchFamily="34" charset="0"/>
              </a:rPr>
              <a:t>operation, </a:t>
            </a:r>
            <a:r>
              <a:rPr lang="en-US" sz="8000" dirty="0">
                <a:latin typeface="Calibri" panose="020F0502020204030204" pitchFamily="34" charset="0"/>
                <a:cs typeface="Calibri" panose="020F0502020204030204" pitchFamily="34" charset="0"/>
              </a:rPr>
              <a:t>the output is achieved only for the positive half of the input signal. However, it employs two </a:t>
            </a:r>
            <a:r>
              <a:rPr lang="en-US" sz="8000" dirty="0" smtClean="0">
                <a:latin typeface="Calibri" panose="020F0502020204030204" pitchFamily="34" charset="0"/>
                <a:cs typeface="Calibri" panose="020F0502020204030204" pitchFamily="34" charset="0"/>
              </a:rPr>
              <a:t>complementary</a:t>
            </a:r>
            <a:endParaRPr lang="en-US" sz="8000" dirty="0"/>
          </a:p>
        </p:txBody>
      </p:sp>
    </p:spTree>
    <p:extLst>
      <p:ext uri="{BB962C8B-B14F-4D97-AF65-F5344CB8AC3E}">
        <p14:creationId xmlns:p14="http://schemas.microsoft.com/office/powerpoint/2010/main" val="4084789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9326" y="106367"/>
            <a:ext cx="5949538" cy="817177"/>
          </a:xfrm>
        </p:spPr>
        <p:txBody>
          <a:bodyPr>
            <a:normAutofit fontScale="90000"/>
          </a:bodyPr>
          <a:lstStyle/>
          <a:p>
            <a:r>
              <a:rPr lang="en-US" dirty="0" smtClean="0"/>
              <a:t>WORKING of power amplifier</a:t>
            </a:r>
            <a:endParaRPr lang="en-US" dirty="0"/>
          </a:p>
        </p:txBody>
      </p:sp>
      <p:sp>
        <p:nvSpPr>
          <p:cNvPr id="3" name="Text Placeholder 2"/>
          <p:cNvSpPr>
            <a:spLocks noGrp="1"/>
          </p:cNvSpPr>
          <p:nvPr>
            <p:ph type="body" idx="1"/>
          </p:nvPr>
        </p:nvSpPr>
        <p:spPr>
          <a:xfrm>
            <a:off x="1049970" y="1126762"/>
            <a:ext cx="3196899" cy="685800"/>
          </a:xfrm>
        </p:spPr>
        <p:txBody>
          <a:bodyPr/>
          <a:lstStyle/>
          <a:p>
            <a:r>
              <a:rPr lang="en-US" dirty="0" smtClean="0"/>
              <a:t>Basic concept</a:t>
            </a:r>
            <a:endParaRPr lang="en-US" dirty="0"/>
          </a:p>
        </p:txBody>
      </p:sp>
      <p:sp>
        <p:nvSpPr>
          <p:cNvPr id="4" name="Text Placeholder 3"/>
          <p:cNvSpPr>
            <a:spLocks noGrp="1"/>
          </p:cNvSpPr>
          <p:nvPr>
            <p:ph type="body" sz="half" idx="15"/>
          </p:nvPr>
        </p:nvSpPr>
        <p:spPr>
          <a:xfrm>
            <a:off x="1127918" y="2103120"/>
            <a:ext cx="3208735" cy="3688079"/>
          </a:xfrm>
        </p:spPr>
        <p:txBody>
          <a:bodyPr/>
          <a:lstStyle/>
          <a:p>
            <a:r>
              <a:rPr lang="en-US" dirty="0"/>
              <a:t> </a:t>
            </a:r>
            <a:r>
              <a:rPr lang="en-US" dirty="0" smtClean="0"/>
              <a:t>  </a:t>
            </a:r>
            <a:endParaRPr lang="en-US" dirty="0"/>
          </a:p>
        </p:txBody>
      </p:sp>
      <p:sp>
        <p:nvSpPr>
          <p:cNvPr id="5" name="Text Placeholder 4"/>
          <p:cNvSpPr>
            <a:spLocks noGrp="1"/>
          </p:cNvSpPr>
          <p:nvPr>
            <p:ph type="body" sz="quarter" idx="3"/>
          </p:nvPr>
        </p:nvSpPr>
        <p:spPr>
          <a:xfrm>
            <a:off x="4246869" y="1134349"/>
            <a:ext cx="3184385" cy="685800"/>
          </a:xfrm>
        </p:spPr>
        <p:txBody>
          <a:bodyPr/>
          <a:lstStyle/>
          <a:p>
            <a:r>
              <a:rPr lang="en-US" dirty="0" smtClean="0"/>
              <a:t>Operating point</a:t>
            </a:r>
            <a:endParaRPr lang="en-US" dirty="0"/>
          </a:p>
        </p:txBody>
      </p:sp>
      <p:pic>
        <p:nvPicPr>
          <p:cNvPr id="19" name="Picture 18"/>
          <p:cNvPicPr>
            <a:picLocks noChangeAspect="1"/>
          </p:cNvPicPr>
          <p:nvPr/>
        </p:nvPicPr>
        <p:blipFill>
          <a:blip r:embed="rId2"/>
          <a:stretch>
            <a:fillRect/>
          </a:stretch>
        </p:blipFill>
        <p:spPr>
          <a:xfrm>
            <a:off x="4336653" y="1827736"/>
            <a:ext cx="2940289" cy="3082592"/>
          </a:xfrm>
          <a:prstGeom prst="rect">
            <a:avLst/>
          </a:prstGeom>
        </p:spPr>
      </p:pic>
      <p:pic>
        <p:nvPicPr>
          <p:cNvPr id="20" name="Picture 19"/>
          <p:cNvPicPr>
            <a:picLocks noChangeAspect="1"/>
          </p:cNvPicPr>
          <p:nvPr/>
        </p:nvPicPr>
        <p:blipFill>
          <a:blip r:embed="rId3"/>
          <a:stretch>
            <a:fillRect/>
          </a:stretch>
        </p:blipFill>
        <p:spPr>
          <a:xfrm>
            <a:off x="4357870" y="4917915"/>
            <a:ext cx="3012155" cy="1400589"/>
          </a:xfrm>
          <a:prstGeom prst="rect">
            <a:avLst/>
          </a:prstGeom>
        </p:spPr>
      </p:pic>
      <p:sp>
        <p:nvSpPr>
          <p:cNvPr id="7" name="Text Placeholder 6"/>
          <p:cNvSpPr>
            <a:spLocks noGrp="1"/>
          </p:cNvSpPr>
          <p:nvPr>
            <p:ph type="body" sz="quarter" idx="13"/>
          </p:nvPr>
        </p:nvSpPr>
        <p:spPr>
          <a:xfrm>
            <a:off x="7700043" y="1134349"/>
            <a:ext cx="3194968" cy="685800"/>
          </a:xfrm>
        </p:spPr>
        <p:txBody>
          <a:bodyPr/>
          <a:lstStyle/>
          <a:p>
            <a:r>
              <a:rPr lang="en-US" dirty="0" smtClean="0"/>
              <a:t>classification</a:t>
            </a:r>
            <a:endParaRPr lang="en-US" dirty="0"/>
          </a:p>
        </p:txBody>
      </p:sp>
      <p:pic>
        <p:nvPicPr>
          <p:cNvPr id="21" name="Picture 20"/>
          <p:cNvPicPr>
            <a:picLocks noChangeAspect="1"/>
          </p:cNvPicPr>
          <p:nvPr/>
        </p:nvPicPr>
        <p:blipFill>
          <a:blip r:embed="rId4"/>
          <a:stretch>
            <a:fillRect/>
          </a:stretch>
        </p:blipFill>
        <p:spPr>
          <a:xfrm>
            <a:off x="7867603" y="1870194"/>
            <a:ext cx="3342941" cy="4338582"/>
          </a:xfrm>
          <a:prstGeom prst="rect">
            <a:avLst/>
          </a:prstGeom>
        </p:spPr>
      </p:pic>
      <p:sp>
        <p:nvSpPr>
          <p:cNvPr id="8" name="Text Placeholder 7"/>
          <p:cNvSpPr>
            <a:spLocks noGrp="1"/>
          </p:cNvSpPr>
          <p:nvPr>
            <p:ph type="body" sz="half" idx="17"/>
          </p:nvPr>
        </p:nvSpPr>
        <p:spPr>
          <a:xfrm>
            <a:off x="7867602" y="2103120"/>
            <a:ext cx="3342942" cy="4105656"/>
          </a:xfrm>
        </p:spPr>
        <p:txBody>
          <a:bodyPr/>
          <a:lstStyle/>
          <a:p>
            <a:endParaRPr lang="en-US" dirty="0" smtClean="0"/>
          </a:p>
          <a:p>
            <a:endParaRPr lang="en-US" dirty="0"/>
          </a:p>
        </p:txBody>
      </p:sp>
      <p:pic>
        <p:nvPicPr>
          <p:cNvPr id="18" name="Picture 17"/>
          <p:cNvPicPr>
            <a:picLocks noChangeAspect="1"/>
          </p:cNvPicPr>
          <p:nvPr/>
        </p:nvPicPr>
        <p:blipFill>
          <a:blip r:embed="rId5"/>
          <a:stretch>
            <a:fillRect/>
          </a:stretch>
        </p:blipFill>
        <p:spPr>
          <a:xfrm>
            <a:off x="888492" y="1870194"/>
            <a:ext cx="2971800" cy="4571507"/>
          </a:xfrm>
          <a:prstGeom prst="rect">
            <a:avLst/>
          </a:prstGeom>
        </p:spPr>
      </p:pic>
    </p:spTree>
    <p:extLst>
      <p:ext uri="{BB962C8B-B14F-4D97-AF65-F5344CB8AC3E}">
        <p14:creationId xmlns:p14="http://schemas.microsoft.com/office/powerpoint/2010/main" val="421443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9017" y="225326"/>
            <a:ext cx="5030787" cy="780514"/>
          </a:xfrm>
        </p:spPr>
        <p:txBody>
          <a:bodyPr>
            <a:normAutofit fontScale="90000"/>
          </a:bodyPr>
          <a:lstStyle/>
          <a:p>
            <a:r>
              <a:rPr lang="en-US" dirty="0" smtClean="0"/>
              <a:t>CLASS-A POWER AMPLIFIER</a:t>
            </a:r>
            <a:endParaRPr lang="en-US" dirty="0"/>
          </a:p>
        </p:txBody>
      </p:sp>
      <p:sp>
        <p:nvSpPr>
          <p:cNvPr id="3" name="Content Placeholder 2"/>
          <p:cNvSpPr>
            <a:spLocks noGrp="1"/>
          </p:cNvSpPr>
          <p:nvPr>
            <p:ph idx="1"/>
          </p:nvPr>
        </p:nvSpPr>
        <p:spPr>
          <a:xfrm>
            <a:off x="1141412" y="1115568"/>
            <a:ext cx="9905999" cy="5312664"/>
          </a:xfrm>
        </p:spPr>
        <p:txBody>
          <a:bodyPr>
            <a:normAutofit/>
          </a:bodyPr>
          <a:lstStyle/>
          <a:p>
            <a:r>
              <a:rPr lang="en-US" sz="2000" dirty="0">
                <a:latin typeface="Arial" panose="020B0604020202020204" pitchFamily="34" charset="0"/>
                <a:cs typeface="Arial" panose="020B0604020202020204" pitchFamily="34" charset="0"/>
              </a:rPr>
              <a:t>In Class A amplifier, If the collector current flows all times during the full cycle of the input signal, the power amplifier is known as class A power amplifier. It is less used </a:t>
            </a:r>
            <a:r>
              <a:rPr lang="en-US" sz="2000" dirty="0" smtClean="0">
                <a:latin typeface="Arial" panose="020B0604020202020204" pitchFamily="34" charset="0"/>
                <a:cs typeface="Arial" panose="020B0604020202020204" pitchFamily="34" charset="0"/>
              </a:rPr>
              <a:t>for </a:t>
            </a:r>
            <a:r>
              <a:rPr lang="en-US" sz="2000" dirty="0">
                <a:latin typeface="Arial" panose="020B0604020202020204" pitchFamily="34" charset="0"/>
                <a:cs typeface="Arial" panose="020B0604020202020204" pitchFamily="34" charset="0"/>
              </a:rPr>
              <a:t>higher power output stages, as it has poor efficiency</a:t>
            </a:r>
            <a:r>
              <a:rPr lang="en-US" sz="2000" dirty="0" smtClean="0">
                <a:latin typeface="Arial" panose="020B0604020202020204" pitchFamily="34" charset="0"/>
                <a:cs typeface="Arial" panose="020B0604020202020204" pitchFamily="34" charset="0"/>
              </a:rPr>
              <a:t>.</a:t>
            </a:r>
          </a:p>
          <a:p>
            <a:pPr fontAlgn="base"/>
            <a:r>
              <a:rPr lang="en-US" sz="2000" dirty="0">
                <a:latin typeface="Arial" panose="020B0604020202020204" pitchFamily="34" charset="0"/>
                <a:cs typeface="Arial" panose="020B0604020202020204" pitchFamily="34" charset="0"/>
              </a:rPr>
              <a:t>The purpose of the class A bias is to make the amplifier relatively free from noise by making the signal waveform out of the region between 0v to 0.6v where the transistor’s input characteristic is non-linear.</a:t>
            </a:r>
          </a:p>
          <a:p>
            <a:pPr fontAlgn="base"/>
            <a:r>
              <a:rPr lang="en-US" sz="2000" dirty="0">
                <a:latin typeface="Arial" panose="020B0604020202020204" pitchFamily="34" charset="0"/>
                <a:cs typeface="Arial" panose="020B0604020202020204" pitchFamily="34" charset="0"/>
              </a:rPr>
              <a:t>Class A amplifier design produces a good linear amplifier, but most of the power produced by the amplifier goes wastage in the form of heat. Since the transistors in Class A amplifier, are forward biased all the time, few current will flow through them even though there is no input signal and this is the main reason for its poor efficiency.</a:t>
            </a:r>
          </a:p>
          <a:p>
            <a:pPr marL="0" indent="0">
              <a:buNone/>
            </a:pPr>
            <a:endParaRPr lang="en-US" dirty="0"/>
          </a:p>
        </p:txBody>
      </p:sp>
    </p:spTree>
    <p:extLst>
      <p:ext uri="{BB962C8B-B14F-4D97-AF65-F5344CB8AC3E}">
        <p14:creationId xmlns:p14="http://schemas.microsoft.com/office/powerpoint/2010/main" val="1883119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3143" y="609601"/>
            <a:ext cx="5982788" cy="1206136"/>
          </a:xfrm>
        </p:spPr>
        <p:txBody>
          <a:bodyPr>
            <a:normAutofit/>
          </a:bodyPr>
          <a:lstStyle/>
          <a:p>
            <a:pPr algn="just"/>
            <a:r>
              <a:rPr lang="en-US" sz="2400" b="1" i="1" dirty="0">
                <a:latin typeface="Calibri" panose="020F0502020204030204" pitchFamily="34" charset="0"/>
                <a:cs typeface="Calibri" panose="020F0502020204030204" pitchFamily="34" charset="0"/>
              </a:rPr>
              <a:t>Q-Point </a:t>
            </a:r>
            <a:r>
              <a:rPr lang="en-US" sz="2400" b="1" i="1" dirty="0" smtClean="0">
                <a:latin typeface="Calibri" panose="020F0502020204030204" pitchFamily="34" charset="0"/>
                <a:cs typeface="Calibri" panose="020F0502020204030204" pitchFamily="34" charset="0"/>
              </a:rPr>
              <a:t>is in the </a:t>
            </a:r>
            <a:r>
              <a:rPr lang="en-US" sz="2400" b="1" i="1" dirty="0">
                <a:latin typeface="Calibri" panose="020F0502020204030204" pitchFamily="34" charset="0"/>
                <a:cs typeface="Calibri" panose="020F0502020204030204" pitchFamily="34" charset="0"/>
              </a:rPr>
              <a:t>center of </a:t>
            </a:r>
            <a:r>
              <a:rPr lang="en-US" sz="2400" b="1" i="1" dirty="0" smtClean="0">
                <a:latin typeface="Calibri" panose="020F0502020204030204" pitchFamily="34" charset="0"/>
                <a:cs typeface="Calibri" panose="020F0502020204030204" pitchFamily="34" charset="0"/>
              </a:rPr>
              <a:t>loadline</a:t>
            </a:r>
            <a:r>
              <a:rPr lang="en-US" sz="2400" b="1" i="1" dirty="0">
                <a:latin typeface="Calibri" panose="020F0502020204030204" pitchFamily="34" charset="0"/>
                <a:cs typeface="Calibri" panose="020F0502020204030204" pitchFamily="34" charset="0"/>
              </a:rPr>
              <a:t/>
            </a:r>
            <a:br>
              <a:rPr lang="en-US" sz="2400" b="1" i="1" dirty="0">
                <a:latin typeface="Calibri" panose="020F0502020204030204" pitchFamily="34" charset="0"/>
                <a:cs typeface="Calibri" panose="020F0502020204030204" pitchFamily="34" charset="0"/>
              </a:rPr>
            </a:br>
            <a:r>
              <a:rPr lang="en-US" sz="2400" b="1" i="1" dirty="0">
                <a:latin typeface="Calibri" panose="020F0502020204030204" pitchFamily="34" charset="0"/>
                <a:cs typeface="Calibri" panose="020F0502020204030204" pitchFamily="34" charset="0"/>
              </a:rPr>
              <a:t>bjt amplifier is in active region</a:t>
            </a:r>
          </a:p>
        </p:txBody>
      </p:sp>
      <p:sp>
        <p:nvSpPr>
          <p:cNvPr id="4" name="Text Placeholder 3"/>
          <p:cNvSpPr>
            <a:spLocks noGrp="1"/>
          </p:cNvSpPr>
          <p:nvPr>
            <p:ph type="body" sz="half" idx="2"/>
          </p:nvPr>
        </p:nvSpPr>
        <p:spPr>
          <a:xfrm>
            <a:off x="718457" y="1985554"/>
            <a:ext cx="4284617" cy="3805646"/>
          </a:xfrm>
        </p:spPr>
        <p:txBody>
          <a:bodyPr>
            <a:normAutofit fontScale="55000" lnSpcReduction="20000"/>
          </a:bodyPr>
          <a:lstStyle/>
          <a:p>
            <a:r>
              <a:rPr lang="en-US" sz="3600" b="1" u="sng" dirty="0" smtClean="0">
                <a:latin typeface="Calibri" panose="020F0502020204030204" pitchFamily="34" charset="0"/>
                <a:cs typeface="Calibri" panose="020F0502020204030204" pitchFamily="34" charset="0"/>
              </a:rPr>
              <a:t>Case-I:</a:t>
            </a:r>
          </a:p>
          <a:p>
            <a:r>
              <a:rPr lang="en-US" sz="2800" dirty="0" smtClean="0">
                <a:latin typeface="Calibri" panose="020F0502020204030204" pitchFamily="34" charset="0"/>
                <a:cs typeface="Calibri" panose="020F0502020204030204" pitchFamily="34" charset="0"/>
              </a:rPr>
              <a:t> </a:t>
            </a:r>
            <a:r>
              <a:rPr lang="en-US" sz="3200" dirty="0" smtClean="0">
                <a:latin typeface="Calibri" panose="020F0502020204030204" pitchFamily="34" charset="0"/>
                <a:cs typeface="Calibri" panose="020F0502020204030204" pitchFamily="34" charset="0"/>
              </a:rPr>
              <a:t>If V</a:t>
            </a:r>
            <a:r>
              <a:rPr lang="en-US" sz="3200" baseline="-25000" dirty="0" smtClean="0">
                <a:latin typeface="Calibri" panose="020F0502020204030204" pitchFamily="34" charset="0"/>
                <a:cs typeface="Calibri" panose="020F0502020204030204" pitchFamily="34" charset="0"/>
              </a:rPr>
              <a:t>in</a:t>
            </a:r>
            <a:r>
              <a:rPr lang="en-US" sz="3200" dirty="0" smtClean="0">
                <a:latin typeface="Calibri" panose="020F0502020204030204" pitchFamily="34" charset="0"/>
                <a:cs typeface="Calibri" panose="020F0502020204030204" pitchFamily="34" charset="0"/>
              </a:rPr>
              <a:t> is positive(+) half cycle, then</a:t>
            </a:r>
          </a:p>
          <a:p>
            <a:r>
              <a:rPr lang="en-US" sz="3200" dirty="0" smtClean="0">
                <a:latin typeface="Calibri" panose="020F0502020204030204" pitchFamily="34" charset="0"/>
                <a:cs typeface="Calibri" panose="020F0502020204030204" pitchFamily="34" charset="0"/>
              </a:rPr>
              <a:t> I</a:t>
            </a:r>
            <a:r>
              <a:rPr lang="en-US" sz="3200" baseline="-25000" dirty="0" smtClean="0">
                <a:latin typeface="Calibri" panose="020F0502020204030204" pitchFamily="34" charset="0"/>
                <a:cs typeface="Calibri" panose="020F0502020204030204" pitchFamily="34" charset="0"/>
              </a:rPr>
              <a:t>B</a:t>
            </a:r>
            <a:r>
              <a:rPr lang="en-US" sz="3200" dirty="0" smtClean="0">
                <a:latin typeface="Calibri" panose="020F0502020204030204" pitchFamily="34" charset="0"/>
                <a:cs typeface="Calibri" panose="020F0502020204030204" pitchFamily="34" charset="0"/>
                <a:sym typeface="Symbol" panose="05050102010706020507" pitchFamily="18" charset="2"/>
              </a:rPr>
              <a:t> </a:t>
            </a:r>
            <a:r>
              <a:rPr lang="en-US" sz="3200" dirty="0" smtClean="0">
                <a:latin typeface="Calibri" panose="020F0502020204030204" pitchFamily="34" charset="0"/>
                <a:cs typeface="Calibri" panose="020F0502020204030204" pitchFamily="34" charset="0"/>
              </a:rPr>
              <a:t>I</a:t>
            </a:r>
            <a:r>
              <a:rPr lang="en-US" sz="3200" baseline="-25000" dirty="0" smtClean="0">
                <a:latin typeface="Calibri" panose="020F0502020204030204" pitchFamily="34" charset="0"/>
                <a:cs typeface="Calibri" panose="020F0502020204030204" pitchFamily="34" charset="0"/>
              </a:rPr>
              <a:t>C</a:t>
            </a:r>
            <a:r>
              <a:rPr lang="en-US" sz="3200" dirty="0" smtClean="0">
                <a:latin typeface="Calibri" panose="020F0502020204030204" pitchFamily="34" charset="0"/>
                <a:cs typeface="Calibri" panose="020F0502020204030204" pitchFamily="34" charset="0"/>
              </a:rPr>
              <a:t> </a:t>
            </a:r>
            <a:r>
              <a:rPr lang="en-US" sz="3200" dirty="0" smtClean="0">
                <a:latin typeface="Calibri" panose="020F0502020204030204" pitchFamily="34" charset="0"/>
                <a:cs typeface="Calibri" panose="020F0502020204030204" pitchFamily="34" charset="0"/>
                <a:sym typeface="Symbol" panose="05050102010706020507" pitchFamily="18" charset="2"/>
              </a:rPr>
              <a:t></a:t>
            </a:r>
            <a:endParaRPr lang="en-US" sz="3200" dirty="0" smtClean="0">
              <a:latin typeface="Calibri" panose="020F0502020204030204" pitchFamily="34" charset="0"/>
              <a:cs typeface="Calibri" panose="020F0502020204030204" pitchFamily="34" charset="0"/>
            </a:endParaRPr>
          </a:p>
          <a:p>
            <a:r>
              <a:rPr lang="en-US" sz="3200" dirty="0" smtClean="0">
                <a:latin typeface="Calibri" panose="020F0502020204030204" pitchFamily="34" charset="0"/>
                <a:cs typeface="Calibri" panose="020F0502020204030204" pitchFamily="34" charset="0"/>
              </a:rPr>
              <a:t> I</a:t>
            </a:r>
            <a:r>
              <a:rPr lang="en-US" sz="3200" baseline="-25000" dirty="0" smtClean="0">
                <a:latin typeface="Calibri" panose="020F0502020204030204" pitchFamily="34" charset="0"/>
                <a:cs typeface="Calibri" panose="020F0502020204030204" pitchFamily="34" charset="0"/>
              </a:rPr>
              <a:t>C</a:t>
            </a:r>
            <a:r>
              <a:rPr lang="en-US" sz="3200" dirty="0" smtClean="0">
                <a:latin typeface="Calibri" panose="020F0502020204030204" pitchFamily="34" charset="0"/>
                <a:cs typeface="Calibri" panose="020F0502020204030204" pitchFamily="34" charset="0"/>
              </a:rPr>
              <a:t> = </a:t>
            </a:r>
            <a:r>
              <a:rPr lang="en-US" sz="3200" dirty="0" smtClean="0">
                <a:latin typeface="Calibri" panose="020F0502020204030204" pitchFamily="34" charset="0"/>
                <a:cs typeface="Calibri" panose="020F0502020204030204" pitchFamily="34" charset="0"/>
                <a:sym typeface="Symbol" panose="05050102010706020507" pitchFamily="18" charset="2"/>
              </a:rPr>
              <a:t>I</a:t>
            </a:r>
            <a:r>
              <a:rPr lang="en-US" sz="3200" b="1" baseline="-25000" dirty="0" smtClean="0">
                <a:latin typeface="Calibri" panose="020F0502020204030204" pitchFamily="34" charset="0"/>
                <a:cs typeface="Calibri" panose="020F0502020204030204" pitchFamily="34" charset="0"/>
              </a:rPr>
              <a:t>B </a:t>
            </a:r>
            <a:r>
              <a:rPr lang="en-US" sz="3200" baseline="-25000" dirty="0" smtClean="0">
                <a:latin typeface="Calibri" panose="020F0502020204030204" pitchFamily="34" charset="0"/>
                <a:cs typeface="Calibri" panose="020F0502020204030204" pitchFamily="34" charset="0"/>
              </a:rPr>
              <a:t> </a:t>
            </a:r>
            <a:r>
              <a:rPr lang="en-US" sz="3200" dirty="0" smtClean="0">
                <a:latin typeface="Calibri" panose="020F0502020204030204" pitchFamily="34" charset="0"/>
                <a:cs typeface="Calibri" panose="020F0502020204030204" pitchFamily="34" charset="0"/>
              </a:rPr>
              <a:t> </a:t>
            </a:r>
            <a:r>
              <a:rPr lang="en-US" sz="3200" dirty="0" smtClean="0">
                <a:latin typeface="Calibri" panose="020F0502020204030204" pitchFamily="34" charset="0"/>
                <a:cs typeface="Calibri" panose="020F0502020204030204" pitchFamily="34" charset="0"/>
                <a:sym typeface="Symbol" panose="05050102010706020507" pitchFamily="18" charset="2"/>
              </a:rPr>
              <a:t></a:t>
            </a:r>
            <a:r>
              <a:rPr lang="en-US" sz="3200" dirty="0" smtClean="0">
                <a:latin typeface="Calibri" panose="020F0502020204030204" pitchFamily="34" charset="0"/>
                <a:cs typeface="Calibri" panose="020F0502020204030204" pitchFamily="34" charset="0"/>
              </a:rPr>
              <a:t>   I</a:t>
            </a:r>
            <a:r>
              <a:rPr lang="en-US" sz="3200" baseline="-25000" dirty="0" smtClean="0">
                <a:latin typeface="Calibri" panose="020F0502020204030204" pitchFamily="34" charset="0"/>
                <a:cs typeface="Calibri" panose="020F0502020204030204" pitchFamily="34" charset="0"/>
              </a:rPr>
              <a:t>C</a:t>
            </a:r>
            <a:r>
              <a:rPr lang="en-US" sz="3200" dirty="0" smtClean="0">
                <a:latin typeface="Calibri" panose="020F0502020204030204" pitchFamily="34" charset="0"/>
                <a:cs typeface="Calibri" panose="020F0502020204030204" pitchFamily="34" charset="0"/>
              </a:rPr>
              <a:t> </a:t>
            </a:r>
            <a:r>
              <a:rPr lang="en-US" sz="3200" dirty="0" smtClean="0">
                <a:latin typeface="Calibri" panose="020F0502020204030204" pitchFamily="34" charset="0"/>
                <a:cs typeface="Calibri" panose="020F0502020204030204" pitchFamily="34" charset="0"/>
                <a:sym typeface="Symbol" panose="05050102010706020507" pitchFamily="18" charset="2"/>
              </a:rPr>
              <a:t></a:t>
            </a:r>
            <a:endParaRPr lang="en-US" sz="3200" dirty="0" smtClean="0">
              <a:latin typeface="Calibri" panose="020F0502020204030204" pitchFamily="34" charset="0"/>
              <a:cs typeface="Calibri" panose="020F0502020204030204" pitchFamily="34" charset="0"/>
            </a:endParaRPr>
          </a:p>
          <a:p>
            <a:r>
              <a:rPr lang="en-US" sz="3200" dirty="0" smtClean="0">
                <a:latin typeface="Calibri" panose="020F0502020204030204" pitchFamily="34" charset="0"/>
                <a:cs typeface="Calibri" panose="020F0502020204030204" pitchFamily="34" charset="0"/>
              </a:rPr>
              <a:t> Decrease in V</a:t>
            </a:r>
            <a:r>
              <a:rPr lang="en-US" sz="3200" baseline="-25000" dirty="0" smtClean="0">
                <a:latin typeface="Calibri" panose="020F0502020204030204" pitchFamily="34" charset="0"/>
                <a:cs typeface="Calibri" panose="020F0502020204030204" pitchFamily="34" charset="0"/>
              </a:rPr>
              <a:t>CE </a:t>
            </a:r>
            <a:r>
              <a:rPr lang="en-US" sz="3200" dirty="0" smtClean="0">
                <a:latin typeface="Calibri" panose="020F0502020204030204" pitchFamily="34" charset="0"/>
                <a:cs typeface="Calibri" panose="020F0502020204030204" pitchFamily="34" charset="0"/>
              </a:rPr>
              <a:t> =</a:t>
            </a:r>
            <a:r>
              <a:rPr lang="en-US" sz="3200" baseline="-25000" dirty="0" smtClean="0">
                <a:latin typeface="Calibri" panose="020F0502020204030204" pitchFamily="34" charset="0"/>
                <a:cs typeface="Calibri" panose="020F0502020204030204" pitchFamily="34" charset="0"/>
              </a:rPr>
              <a:t> </a:t>
            </a:r>
            <a:r>
              <a:rPr lang="en-US" sz="3200" dirty="0" smtClean="0">
                <a:latin typeface="Calibri" panose="020F0502020204030204" pitchFamily="34" charset="0"/>
                <a:cs typeface="Calibri" panose="020F0502020204030204" pitchFamily="34" charset="0"/>
              </a:rPr>
              <a:t> V</a:t>
            </a:r>
            <a:r>
              <a:rPr lang="en-US" sz="3200" baseline="-25000" dirty="0" smtClean="0">
                <a:latin typeface="Calibri" panose="020F0502020204030204" pitchFamily="34" charset="0"/>
                <a:cs typeface="Calibri" panose="020F0502020204030204" pitchFamily="34" charset="0"/>
              </a:rPr>
              <a:t>CC</a:t>
            </a:r>
            <a:r>
              <a:rPr lang="en-US" sz="3200" dirty="0" smtClean="0">
                <a:latin typeface="Calibri" panose="020F0502020204030204" pitchFamily="34" charset="0"/>
                <a:cs typeface="Calibri" panose="020F0502020204030204" pitchFamily="34" charset="0"/>
              </a:rPr>
              <a:t> – </a:t>
            </a:r>
            <a:r>
              <a:rPr lang="en-US" sz="3200" dirty="0" smtClean="0">
                <a:latin typeface="Calibri" panose="020F0502020204030204" pitchFamily="34" charset="0"/>
                <a:cs typeface="Calibri" panose="020F0502020204030204" pitchFamily="34" charset="0"/>
                <a:sym typeface="Symbol" panose="05050102010706020507" pitchFamily="18" charset="2"/>
              </a:rPr>
              <a:t></a:t>
            </a:r>
            <a:r>
              <a:rPr lang="en-US" sz="3200" dirty="0" smtClean="0">
                <a:latin typeface="Calibri" panose="020F0502020204030204" pitchFamily="34" charset="0"/>
                <a:cs typeface="Calibri" panose="020F0502020204030204" pitchFamily="34" charset="0"/>
              </a:rPr>
              <a:t>I</a:t>
            </a:r>
            <a:r>
              <a:rPr lang="en-US" sz="3200" baseline="-25000" dirty="0" smtClean="0">
                <a:latin typeface="Calibri" panose="020F0502020204030204" pitchFamily="34" charset="0"/>
                <a:cs typeface="Calibri" panose="020F0502020204030204" pitchFamily="34" charset="0"/>
              </a:rPr>
              <a:t>C</a:t>
            </a:r>
            <a:r>
              <a:rPr lang="en-US" sz="3200" dirty="0" smtClean="0">
                <a:latin typeface="Calibri" panose="020F0502020204030204" pitchFamily="34" charset="0"/>
                <a:cs typeface="Calibri" panose="020F0502020204030204" pitchFamily="34" charset="0"/>
              </a:rPr>
              <a:t> R</a:t>
            </a:r>
            <a:r>
              <a:rPr lang="en-US" sz="3200" baseline="-25000" dirty="0" smtClean="0">
                <a:latin typeface="Calibri" panose="020F0502020204030204" pitchFamily="34" charset="0"/>
                <a:cs typeface="Calibri" panose="020F0502020204030204" pitchFamily="34" charset="0"/>
              </a:rPr>
              <a:t>C</a:t>
            </a:r>
          </a:p>
          <a:p>
            <a:r>
              <a:rPr lang="en-US" sz="3600" b="1" u="sng" dirty="0" smtClean="0">
                <a:latin typeface="Calibri" panose="020F0502020204030204" pitchFamily="34" charset="0"/>
                <a:cs typeface="Calibri" panose="020F0502020204030204" pitchFamily="34" charset="0"/>
              </a:rPr>
              <a:t>CASE-II</a:t>
            </a:r>
          </a:p>
          <a:p>
            <a:r>
              <a:rPr lang="en-US" sz="3200" dirty="0" smtClean="0">
                <a:latin typeface="Calibri" panose="020F0502020204030204" pitchFamily="34" charset="0"/>
                <a:cs typeface="Calibri" panose="020F0502020204030204" pitchFamily="34" charset="0"/>
              </a:rPr>
              <a:t>If V</a:t>
            </a:r>
            <a:r>
              <a:rPr lang="en-US" sz="3200" baseline="-25000" dirty="0" smtClean="0">
                <a:latin typeface="Calibri" panose="020F0502020204030204" pitchFamily="34" charset="0"/>
                <a:cs typeface="Calibri" panose="020F0502020204030204" pitchFamily="34" charset="0"/>
              </a:rPr>
              <a:t>in</a:t>
            </a:r>
            <a:r>
              <a:rPr lang="en-US" sz="3200" dirty="0" smtClean="0">
                <a:latin typeface="Calibri" panose="020F0502020204030204" pitchFamily="34" charset="0"/>
                <a:cs typeface="Calibri" panose="020F0502020204030204" pitchFamily="34" charset="0"/>
              </a:rPr>
              <a:t> is negative(-) cycle then,</a:t>
            </a:r>
          </a:p>
          <a:p>
            <a:r>
              <a:rPr lang="en-US" sz="3200" dirty="0" smtClean="0">
                <a:latin typeface="Calibri" panose="020F0502020204030204" pitchFamily="34" charset="0"/>
                <a:cs typeface="Calibri" panose="020F0502020204030204" pitchFamily="34" charset="0"/>
              </a:rPr>
              <a:t>I</a:t>
            </a:r>
            <a:r>
              <a:rPr lang="en-US" sz="3200" baseline="-25000" dirty="0" smtClean="0">
                <a:latin typeface="Calibri" panose="020F0502020204030204" pitchFamily="34" charset="0"/>
                <a:cs typeface="Calibri" panose="020F0502020204030204" pitchFamily="34" charset="0"/>
              </a:rPr>
              <a:t>B</a:t>
            </a:r>
            <a:r>
              <a:rPr lang="en-US" sz="3200" dirty="0" smtClean="0">
                <a:latin typeface="Calibri" panose="020F0502020204030204" pitchFamily="34" charset="0"/>
                <a:cs typeface="Calibri" panose="020F0502020204030204" pitchFamily="34" charset="0"/>
              </a:rPr>
              <a:t> decreases and I</a:t>
            </a:r>
            <a:r>
              <a:rPr lang="en-US" sz="3200" baseline="-25000" dirty="0" smtClean="0">
                <a:latin typeface="Calibri" panose="020F0502020204030204" pitchFamily="34" charset="0"/>
                <a:cs typeface="Calibri" panose="020F0502020204030204" pitchFamily="34" charset="0"/>
              </a:rPr>
              <a:t>C</a:t>
            </a:r>
            <a:r>
              <a:rPr lang="en-US" sz="3200" dirty="0" smtClean="0">
                <a:latin typeface="Calibri" panose="020F0502020204030204" pitchFamily="34" charset="0"/>
                <a:cs typeface="Calibri" panose="020F0502020204030204" pitchFamily="34" charset="0"/>
              </a:rPr>
              <a:t> decreases.</a:t>
            </a:r>
          </a:p>
          <a:p>
            <a:r>
              <a:rPr lang="en-US" sz="3200" dirty="0" smtClean="0">
                <a:latin typeface="Calibri" panose="020F0502020204030204" pitchFamily="34" charset="0"/>
                <a:cs typeface="Calibri" panose="020F0502020204030204" pitchFamily="34" charset="0"/>
                <a:sym typeface="Symbol" panose="05050102010706020507" pitchFamily="18" charset="2"/>
              </a:rPr>
              <a:t>V</a:t>
            </a:r>
            <a:r>
              <a:rPr lang="en-US" sz="3200" baseline="-25000" dirty="0" smtClean="0">
                <a:latin typeface="Calibri" panose="020F0502020204030204" pitchFamily="34" charset="0"/>
                <a:cs typeface="Calibri" panose="020F0502020204030204" pitchFamily="34" charset="0"/>
                <a:sym typeface="Symbol" panose="05050102010706020507" pitchFamily="18" charset="2"/>
              </a:rPr>
              <a:t>CE</a:t>
            </a:r>
            <a:r>
              <a:rPr lang="en-US" sz="3200" dirty="0" smtClean="0">
                <a:latin typeface="Calibri" panose="020F0502020204030204" pitchFamily="34" charset="0"/>
                <a:cs typeface="Calibri" panose="020F0502020204030204" pitchFamily="34" charset="0"/>
                <a:sym typeface="Symbol" panose="05050102010706020507" pitchFamily="18" charset="2"/>
              </a:rPr>
              <a:t> = V</a:t>
            </a:r>
            <a:r>
              <a:rPr lang="en-US" sz="3200" baseline="-25000" dirty="0" smtClean="0">
                <a:latin typeface="Calibri" panose="020F0502020204030204" pitchFamily="34" charset="0"/>
                <a:cs typeface="Calibri" panose="020F0502020204030204" pitchFamily="34" charset="0"/>
                <a:sym typeface="Symbol" panose="05050102010706020507" pitchFamily="18" charset="2"/>
              </a:rPr>
              <a:t>CC</a:t>
            </a:r>
            <a:r>
              <a:rPr lang="en-US" sz="3200" dirty="0" smtClean="0">
                <a:latin typeface="Calibri" panose="020F0502020204030204" pitchFamily="34" charset="0"/>
                <a:cs typeface="Calibri" panose="020F0502020204030204" pitchFamily="34" charset="0"/>
                <a:sym typeface="Symbol" panose="05050102010706020507" pitchFamily="18" charset="2"/>
              </a:rPr>
              <a:t> – I</a:t>
            </a:r>
            <a:r>
              <a:rPr lang="en-US" sz="3200" baseline="-25000" dirty="0" smtClean="0">
                <a:latin typeface="Calibri" panose="020F0502020204030204" pitchFamily="34" charset="0"/>
                <a:cs typeface="Calibri" panose="020F0502020204030204" pitchFamily="34" charset="0"/>
                <a:sym typeface="Symbol" panose="05050102010706020507" pitchFamily="18" charset="2"/>
              </a:rPr>
              <a:t>C</a:t>
            </a:r>
            <a:r>
              <a:rPr lang="en-US" sz="3200" dirty="0" smtClean="0">
                <a:latin typeface="Calibri" panose="020F0502020204030204" pitchFamily="34" charset="0"/>
                <a:cs typeface="Calibri" panose="020F0502020204030204" pitchFamily="34" charset="0"/>
                <a:sym typeface="Symbol" panose="05050102010706020507" pitchFamily="18" charset="2"/>
              </a:rPr>
              <a:t>R</a:t>
            </a:r>
            <a:r>
              <a:rPr lang="en-US" sz="3200" baseline="-25000" dirty="0" smtClean="0">
                <a:latin typeface="Calibri" panose="020F0502020204030204" pitchFamily="34" charset="0"/>
                <a:cs typeface="Calibri" panose="020F0502020204030204" pitchFamily="34" charset="0"/>
                <a:sym typeface="Symbol" panose="05050102010706020507" pitchFamily="18" charset="2"/>
              </a:rPr>
              <a:t>C</a:t>
            </a:r>
            <a:r>
              <a:rPr lang="en-US" sz="3200" dirty="0" smtClean="0">
                <a:latin typeface="Calibri" panose="020F0502020204030204" pitchFamily="34" charset="0"/>
                <a:cs typeface="Calibri" panose="020F0502020204030204" pitchFamily="34" charset="0"/>
                <a:sym typeface="Symbol" panose="05050102010706020507" pitchFamily="18" charset="2"/>
              </a:rPr>
              <a:t> </a:t>
            </a:r>
            <a:endParaRPr lang="en-US" sz="3200" baseline="-25000" dirty="0" smtClean="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p:txBody>
      </p:sp>
      <p:pic>
        <p:nvPicPr>
          <p:cNvPr id="5" name="Content Placeholder 3"/>
          <p:cNvPicPr>
            <a:picLocks noGrp="1" noChangeAspect="1"/>
          </p:cNvPicPr>
          <p:nvPr>
            <p:ph idx="1"/>
          </p:nvPr>
        </p:nvPicPr>
        <p:blipFill>
          <a:blip r:embed="rId2"/>
          <a:stretch>
            <a:fillRect/>
          </a:stretch>
        </p:blipFill>
        <p:spPr>
          <a:xfrm>
            <a:off x="6688183" y="792481"/>
            <a:ext cx="4524974" cy="5181599"/>
          </a:xfrm>
          <a:prstGeom prst="rect">
            <a:avLst/>
          </a:prstGeom>
        </p:spPr>
      </p:pic>
    </p:spTree>
    <p:extLst>
      <p:ext uri="{BB962C8B-B14F-4D97-AF65-F5344CB8AC3E}">
        <p14:creationId xmlns:p14="http://schemas.microsoft.com/office/powerpoint/2010/main" val="19075372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2"/>
            <a:ext cx="3856037" cy="696684"/>
          </a:xfrm>
        </p:spPr>
        <p:txBody>
          <a:bodyPr>
            <a:normAutofit/>
          </a:bodyPr>
          <a:lstStyle/>
          <a:p>
            <a:r>
              <a:rPr lang="en-US" dirty="0" smtClean="0"/>
              <a:t>Output result</a:t>
            </a:r>
            <a:endParaRPr lang="en-US" dirty="0"/>
          </a:p>
        </p:txBody>
      </p:sp>
      <p:sp>
        <p:nvSpPr>
          <p:cNvPr id="4" name="Text Placeholder 3"/>
          <p:cNvSpPr>
            <a:spLocks noGrp="1"/>
          </p:cNvSpPr>
          <p:nvPr>
            <p:ph type="body" sz="half" idx="2"/>
          </p:nvPr>
        </p:nvSpPr>
        <p:spPr>
          <a:xfrm>
            <a:off x="470263" y="1619794"/>
            <a:ext cx="4715691" cy="4171406"/>
          </a:xfrm>
        </p:spPr>
        <p:txBody>
          <a:bodyPr>
            <a:normAutofit/>
          </a:bodyPr>
          <a:lstStyle/>
          <a:p>
            <a:r>
              <a:rPr lang="en-US" sz="2400" baseline="-25000" dirty="0" smtClean="0">
                <a:latin typeface="Calibri" panose="020F0502020204030204" pitchFamily="34" charset="0"/>
                <a:cs typeface="Calibri" panose="020F0502020204030204" pitchFamily="34" charset="0"/>
              </a:rPr>
              <a:t>     </a:t>
            </a:r>
          </a:p>
        </p:txBody>
      </p:sp>
      <p:pic>
        <p:nvPicPr>
          <p:cNvPr id="5" name="Content Placeholder 4"/>
          <p:cNvPicPr>
            <a:picLocks noGrp="1" noChangeAspect="1"/>
          </p:cNvPicPr>
          <p:nvPr>
            <p:ph idx="1"/>
          </p:nvPr>
        </p:nvPicPr>
        <p:blipFill>
          <a:blip r:embed="rId2"/>
          <a:stretch>
            <a:fillRect/>
          </a:stretch>
        </p:blipFill>
        <p:spPr>
          <a:xfrm>
            <a:off x="6286500" y="1306286"/>
            <a:ext cx="4688401" cy="4927460"/>
          </a:xfrm>
          <a:prstGeom prst="rect">
            <a:avLst/>
          </a:prstGeom>
        </p:spPr>
      </p:pic>
      <p:pic>
        <p:nvPicPr>
          <p:cNvPr id="6" name="Picture 5"/>
          <p:cNvPicPr>
            <a:picLocks noChangeAspect="1"/>
          </p:cNvPicPr>
          <p:nvPr/>
        </p:nvPicPr>
        <p:blipFill>
          <a:blip r:embed="rId3"/>
          <a:stretch>
            <a:fillRect/>
          </a:stretch>
        </p:blipFill>
        <p:spPr>
          <a:xfrm>
            <a:off x="636629" y="1306286"/>
            <a:ext cx="5430063" cy="4927460"/>
          </a:xfrm>
          <a:prstGeom prst="rect">
            <a:avLst/>
          </a:prstGeom>
        </p:spPr>
      </p:pic>
    </p:spTree>
    <p:extLst>
      <p:ext uri="{BB962C8B-B14F-4D97-AF65-F5344CB8AC3E}">
        <p14:creationId xmlns:p14="http://schemas.microsoft.com/office/powerpoint/2010/main" val="1041665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178169" y="349158"/>
            <a:ext cx="10199077" cy="2862322"/>
          </a:xfrm>
          <a:prstGeom prst="rect">
            <a:avLst/>
          </a:prstGeom>
        </p:spPr>
        <p:txBody>
          <a:bodyPr wrap="square">
            <a:spAutoFit/>
          </a:bodyPr>
          <a:lstStyle/>
          <a:p>
            <a:r>
              <a:rPr lang="en-US" dirty="0">
                <a:latin typeface="Lato"/>
              </a:rPr>
              <a:t>The efficiency of this type of circuit is very low (less than 30%) and delivers small power outputs for a large drain on the DC power supply. A Class A amplifier stage passes the same load current even when no input signal is applied so large heatsinks are needed for the output transistors</a:t>
            </a:r>
            <a:r>
              <a:rPr lang="en-US" dirty="0" smtClean="0">
                <a:latin typeface="Lato"/>
              </a:rPr>
              <a:t>.</a:t>
            </a:r>
          </a:p>
          <a:p>
            <a:endParaRPr lang="en-US" dirty="0">
              <a:latin typeface="Lato"/>
            </a:endParaRPr>
          </a:p>
          <a:p>
            <a:r>
              <a:rPr lang="en-US" dirty="0">
                <a:latin typeface="Lato"/>
              </a:rPr>
              <a:t>However, another simple way to increase the current handling capacity of the circuit while at the same time obtain a greater power gain is to replace the single output transistor with a </a:t>
            </a:r>
            <a:r>
              <a:rPr lang="en-US" b="1" dirty="0">
                <a:latin typeface="Lato"/>
              </a:rPr>
              <a:t>Darlington Transistor</a:t>
            </a:r>
            <a:r>
              <a:rPr lang="en-US" dirty="0">
                <a:latin typeface="Lato"/>
              </a:rPr>
              <a:t>. These types of devices are basically two transistors within a single package, one small “pilot” transistor and another larger “switching” transistor. The big advantage of these devices are that the input impedance is suitably large while the output impedance is relatively low, thereby reducing the power loss and therefore the heat within the switching device.</a:t>
            </a:r>
            <a:endParaRPr lang="en-US" b="0" i="0" dirty="0">
              <a:effectLst/>
              <a:latin typeface="Lato"/>
            </a:endParaRPr>
          </a:p>
        </p:txBody>
      </p:sp>
      <p:pic>
        <p:nvPicPr>
          <p:cNvPr id="3" name="Picture 2"/>
          <p:cNvPicPr>
            <a:picLocks noChangeAspect="1"/>
          </p:cNvPicPr>
          <p:nvPr/>
        </p:nvPicPr>
        <p:blipFill>
          <a:blip r:embed="rId2"/>
          <a:stretch>
            <a:fillRect/>
          </a:stretch>
        </p:blipFill>
        <p:spPr>
          <a:xfrm>
            <a:off x="6242538" y="3211480"/>
            <a:ext cx="4746189" cy="3268450"/>
          </a:xfrm>
          <a:prstGeom prst="rect">
            <a:avLst/>
          </a:prstGeom>
        </p:spPr>
      </p:pic>
      <p:sp>
        <p:nvSpPr>
          <p:cNvPr id="4" name="Rectangle 3"/>
          <p:cNvSpPr/>
          <p:nvPr/>
        </p:nvSpPr>
        <p:spPr>
          <a:xfrm>
            <a:off x="946638" y="3604735"/>
            <a:ext cx="4460631" cy="2031325"/>
          </a:xfrm>
          <a:prstGeom prst="rect">
            <a:avLst/>
          </a:prstGeom>
        </p:spPr>
        <p:txBody>
          <a:bodyPr wrap="square">
            <a:spAutoFit/>
          </a:bodyPr>
          <a:lstStyle/>
          <a:p>
            <a:r>
              <a:rPr lang="en-US" dirty="0">
                <a:latin typeface="Lato"/>
              </a:rPr>
              <a:t>The overall current gain Beta (β) or </a:t>
            </a:r>
            <a:r>
              <a:rPr lang="en-US" dirty="0" err="1">
                <a:latin typeface="Lato"/>
              </a:rPr>
              <a:t>hfe</a:t>
            </a:r>
            <a:r>
              <a:rPr lang="en-US" dirty="0">
                <a:latin typeface="Lato"/>
              </a:rPr>
              <a:t> value of a Darlington device is the product of the two individual gains of the transistors multiplied together and very high β values along with high Collector currents are possible compared to a single transistor circuit.</a:t>
            </a:r>
            <a:endParaRPr lang="en-US" dirty="0"/>
          </a:p>
        </p:txBody>
      </p:sp>
    </p:spTree>
    <p:extLst>
      <p:ext uri="{BB962C8B-B14F-4D97-AF65-F5344CB8AC3E}">
        <p14:creationId xmlns:p14="http://schemas.microsoft.com/office/powerpoint/2010/main" val="21235753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6138" y="167054"/>
            <a:ext cx="6392008" cy="1855177"/>
          </a:xfrm>
        </p:spPr>
        <p:txBody>
          <a:bodyPr>
            <a:noAutofit/>
          </a:bodyPr>
          <a:lstStyle/>
          <a:p>
            <a:r>
              <a:rPr lang="en-US" sz="1600" dirty="0"/>
              <a:t>To improve the full power efficiency of the </a:t>
            </a:r>
            <a:r>
              <a:rPr lang="en-US" sz="1600" b="1" dirty="0"/>
              <a:t>Class A amplifier</a:t>
            </a:r>
            <a:r>
              <a:rPr lang="en-US" sz="1600" dirty="0"/>
              <a:t> it is possible to design the circuit with a transformer connected directly in the Collector circuit to form a circuit called a </a:t>
            </a:r>
            <a:r>
              <a:rPr lang="en-US" sz="1600" b="1" dirty="0"/>
              <a:t>Transformer Coupled Amplifier</a:t>
            </a:r>
            <a:r>
              <a:rPr lang="en-US" sz="1600" dirty="0"/>
              <a:t>. The transformer improves the efficiency of the amplifier by matching the impedance of the load with that of the amplifiers output using the turns ratio ( n ) of the transformer and an example of this is given below.</a:t>
            </a:r>
          </a:p>
        </p:txBody>
      </p:sp>
      <p:sp>
        <p:nvSpPr>
          <p:cNvPr id="4" name="Text Placeholder 3"/>
          <p:cNvSpPr>
            <a:spLocks noGrp="1"/>
          </p:cNvSpPr>
          <p:nvPr>
            <p:ph type="body" sz="half" idx="2"/>
          </p:nvPr>
        </p:nvSpPr>
        <p:spPr>
          <a:xfrm>
            <a:off x="650631" y="2398955"/>
            <a:ext cx="6398913" cy="3541714"/>
          </a:xfrm>
        </p:spPr>
        <p:txBody>
          <a:bodyPr>
            <a:normAutofit/>
          </a:bodyPr>
          <a:lstStyle/>
          <a:p>
            <a:r>
              <a:rPr lang="en-US" sz="2000" dirty="0"/>
              <a:t>As the Collector current, </a:t>
            </a:r>
            <a:r>
              <a:rPr lang="en-US" sz="2000" dirty="0" err="1"/>
              <a:t>Ic</a:t>
            </a:r>
            <a:r>
              <a:rPr lang="en-US" sz="2000" dirty="0"/>
              <a:t> is reduced to below the quiescent Q-point set up by the base bias voltage, due to variations in the base current, the magnetic flux in the transformer core collapses causing an induced </a:t>
            </a:r>
            <a:r>
              <a:rPr lang="en-US" sz="2000" dirty="0" err="1"/>
              <a:t>emf</a:t>
            </a:r>
            <a:r>
              <a:rPr lang="en-US" sz="2000" dirty="0"/>
              <a:t> in the transformer primary windings. This causes an instantaneous collector voltage to rise to a value of twice the supply voltage 2Vcc giving a maximum collector current of twice </a:t>
            </a:r>
            <a:r>
              <a:rPr lang="en-US" sz="2000" dirty="0" err="1"/>
              <a:t>Ic</a:t>
            </a:r>
            <a:r>
              <a:rPr lang="en-US" sz="2000" dirty="0"/>
              <a:t> when the Collector voltage is at its minimum. Then the efficiency of this type of Class A amplifier configuration can be calculated as follows</a:t>
            </a:r>
          </a:p>
        </p:txBody>
      </p:sp>
      <p:sp>
        <p:nvSpPr>
          <p:cNvPr id="6" name="Picture Placeholder 5"/>
          <p:cNvSpPr>
            <a:spLocks noGrp="1"/>
          </p:cNvSpPr>
          <p:nvPr>
            <p:ph type="pic" idx="1"/>
          </p:nvPr>
        </p:nvSpPr>
        <p:spPr/>
      </p:sp>
      <p:pic>
        <p:nvPicPr>
          <p:cNvPr id="7" name="Picture 6"/>
          <p:cNvPicPr>
            <a:picLocks noChangeAspect="1"/>
          </p:cNvPicPr>
          <p:nvPr/>
        </p:nvPicPr>
        <p:blipFill>
          <a:blip r:embed="rId2"/>
          <a:stretch>
            <a:fillRect/>
          </a:stretch>
        </p:blipFill>
        <p:spPr>
          <a:xfrm>
            <a:off x="7380721" y="609601"/>
            <a:ext cx="3666690" cy="5181599"/>
          </a:xfrm>
          <a:prstGeom prst="rect">
            <a:avLst/>
          </a:prstGeom>
        </p:spPr>
      </p:pic>
    </p:spTree>
    <p:extLst>
      <p:ext uri="{BB962C8B-B14F-4D97-AF65-F5344CB8AC3E}">
        <p14:creationId xmlns:p14="http://schemas.microsoft.com/office/powerpoint/2010/main" val="36741779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263059" y="97211"/>
            <a:ext cx="5752260" cy="2502554"/>
          </a:xfrm>
          <a:prstGeom prst="rect">
            <a:avLst/>
          </a:prstGeom>
        </p:spPr>
      </p:pic>
      <p:pic>
        <p:nvPicPr>
          <p:cNvPr id="4" name="Picture 3"/>
          <p:cNvPicPr>
            <a:picLocks noChangeAspect="1"/>
          </p:cNvPicPr>
          <p:nvPr/>
        </p:nvPicPr>
        <p:blipFill>
          <a:blip r:embed="rId3"/>
          <a:stretch>
            <a:fillRect/>
          </a:stretch>
        </p:blipFill>
        <p:spPr>
          <a:xfrm>
            <a:off x="263059" y="2663918"/>
            <a:ext cx="5752260" cy="3914775"/>
          </a:xfrm>
          <a:prstGeom prst="rect">
            <a:avLst/>
          </a:prstGeom>
        </p:spPr>
      </p:pic>
      <p:sp>
        <p:nvSpPr>
          <p:cNvPr id="5" name="Rectangle 4"/>
          <p:cNvSpPr/>
          <p:nvPr/>
        </p:nvSpPr>
        <p:spPr>
          <a:xfrm>
            <a:off x="6185647" y="291441"/>
            <a:ext cx="5585012" cy="2308324"/>
          </a:xfrm>
          <a:prstGeom prst="rect">
            <a:avLst/>
          </a:prstGeom>
        </p:spPr>
        <p:txBody>
          <a:bodyPr wrap="square">
            <a:spAutoFit/>
          </a:bodyPr>
          <a:lstStyle/>
          <a:p>
            <a:r>
              <a:rPr lang="en-US" dirty="0">
                <a:latin typeface="Lato"/>
              </a:rPr>
              <a:t>An output transformer improves the efficiency of the amplifier by matching the impedance of the load with that of the amplifiers output impedance. By using an output or signal transformer with a suitable turns ratio, class-A amplifier efficiencies reaching 40% are possible with most commercially available Class-A type power amplifiers being of this type of configuration.</a:t>
            </a:r>
            <a:endParaRPr lang="en-US" dirty="0"/>
          </a:p>
        </p:txBody>
      </p:sp>
      <p:sp>
        <p:nvSpPr>
          <p:cNvPr id="6" name="Rectangle 5"/>
          <p:cNvSpPr/>
          <p:nvPr/>
        </p:nvSpPr>
        <p:spPr>
          <a:xfrm>
            <a:off x="6248400" y="2850793"/>
            <a:ext cx="5782235" cy="923330"/>
          </a:xfrm>
          <a:prstGeom prst="rect">
            <a:avLst/>
          </a:prstGeom>
        </p:spPr>
        <p:txBody>
          <a:bodyPr wrap="square">
            <a:spAutoFit/>
          </a:bodyPr>
          <a:lstStyle/>
          <a:p>
            <a:r>
              <a:rPr lang="en-US" dirty="0">
                <a:latin typeface="Lato"/>
              </a:rPr>
              <a:t>D</a:t>
            </a:r>
            <a:r>
              <a:rPr lang="en-US" dirty="0" smtClean="0">
                <a:latin typeface="Lato"/>
              </a:rPr>
              <a:t>isadvantage </a:t>
            </a:r>
            <a:r>
              <a:rPr lang="en-US" dirty="0">
                <a:latin typeface="Lato"/>
              </a:rPr>
              <a:t>of this type of transformer coupled class A amplifier circuit is the additional cost and size of the audio transformer required.</a:t>
            </a:r>
            <a:endParaRPr lang="en-US" dirty="0"/>
          </a:p>
        </p:txBody>
      </p:sp>
    </p:spTree>
    <p:extLst>
      <p:ext uri="{BB962C8B-B14F-4D97-AF65-F5344CB8AC3E}">
        <p14:creationId xmlns:p14="http://schemas.microsoft.com/office/powerpoint/2010/main" val="2189158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0541" y="326570"/>
            <a:ext cx="6582002" cy="1224643"/>
          </a:xfrm>
        </p:spPr>
        <p:txBody>
          <a:bodyPr>
            <a:normAutofit/>
          </a:bodyPr>
          <a:lstStyle/>
          <a:p>
            <a:r>
              <a:rPr lang="en-US" sz="2800" dirty="0" smtClean="0"/>
              <a:t>Class b Amplifier</a:t>
            </a:r>
            <a:r>
              <a:rPr lang="en-US" sz="1800" dirty="0" smtClean="0"/>
              <a:t>- Operation </a:t>
            </a:r>
            <a:r>
              <a:rPr lang="en-US" sz="1800" dirty="0"/>
              <a:t>has </a:t>
            </a:r>
            <a:r>
              <a:rPr lang="en-US" sz="1800" b="1" dirty="0"/>
              <a:t>zero DC bias as the transistors are biased at the cut-off, so each transistor only conducts when the input signal is greater than the Base-emitter </a:t>
            </a:r>
            <a:r>
              <a:rPr lang="en-US" sz="1800" b="1" dirty="0" smtClean="0"/>
              <a:t>voltage.</a:t>
            </a:r>
            <a:endParaRPr lang="en-US" sz="1800" dirty="0"/>
          </a:p>
        </p:txBody>
      </p:sp>
      <p:pic>
        <p:nvPicPr>
          <p:cNvPr id="7" name="Content Placeholder 6"/>
          <p:cNvPicPr>
            <a:picLocks noGrp="1" noChangeAspect="1"/>
          </p:cNvPicPr>
          <p:nvPr>
            <p:ph idx="1"/>
          </p:nvPr>
        </p:nvPicPr>
        <p:blipFill>
          <a:blip r:embed="rId2"/>
          <a:stretch>
            <a:fillRect/>
          </a:stretch>
        </p:blipFill>
        <p:spPr>
          <a:xfrm>
            <a:off x="1475471" y="1551213"/>
            <a:ext cx="5366200" cy="4882243"/>
          </a:xfrm>
          <a:prstGeom prst="rect">
            <a:avLst/>
          </a:prstGeom>
        </p:spPr>
      </p:pic>
      <p:pic>
        <p:nvPicPr>
          <p:cNvPr id="8" name="Picture 7"/>
          <p:cNvPicPr>
            <a:picLocks noChangeAspect="1"/>
          </p:cNvPicPr>
          <p:nvPr/>
        </p:nvPicPr>
        <p:blipFill>
          <a:blip r:embed="rId3"/>
          <a:stretch>
            <a:fillRect/>
          </a:stretch>
        </p:blipFill>
        <p:spPr>
          <a:xfrm>
            <a:off x="7176407" y="127906"/>
            <a:ext cx="4930525" cy="6305550"/>
          </a:xfrm>
          <a:prstGeom prst="rect">
            <a:avLst/>
          </a:prstGeom>
        </p:spPr>
      </p:pic>
    </p:spTree>
    <p:extLst>
      <p:ext uri="{BB962C8B-B14F-4D97-AF65-F5344CB8AC3E}">
        <p14:creationId xmlns:p14="http://schemas.microsoft.com/office/powerpoint/2010/main" val="19694994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81643"/>
            <a:ext cx="9905998" cy="1289957"/>
          </a:xfrm>
        </p:spPr>
        <p:txBody>
          <a:bodyPr>
            <a:normAutofit/>
          </a:bodyPr>
          <a:lstStyle/>
          <a:p>
            <a:r>
              <a:rPr lang="en-US" sz="2800" b="1" dirty="0" smtClean="0"/>
              <a:t>Push-pull class b Amplifier </a:t>
            </a:r>
            <a:r>
              <a:rPr lang="en-US" sz="2700" dirty="0" smtClean="0"/>
              <a:t>(</a:t>
            </a:r>
            <a:r>
              <a:rPr lang="en-US" sz="2000" dirty="0" smtClean="0">
                <a:solidFill>
                  <a:srgbClr val="FF0000"/>
                </a:solidFill>
              </a:rPr>
              <a:t>we user transformer coupled push pull class b amplifier</a:t>
            </a:r>
            <a:r>
              <a:rPr lang="en-US" sz="2700" dirty="0" smtClean="0"/>
              <a:t>) </a:t>
            </a:r>
            <a:endParaRPr lang="en-US" sz="2700" dirty="0"/>
          </a:p>
        </p:txBody>
      </p:sp>
      <p:pic>
        <p:nvPicPr>
          <p:cNvPr id="5" name="Content Placeholder 4"/>
          <p:cNvPicPr>
            <a:picLocks noGrp="1" noChangeAspect="1"/>
          </p:cNvPicPr>
          <p:nvPr>
            <p:ph sz="half" idx="1"/>
          </p:nvPr>
        </p:nvPicPr>
        <p:blipFill>
          <a:blip r:embed="rId2"/>
          <a:stretch>
            <a:fillRect/>
          </a:stretch>
        </p:blipFill>
        <p:spPr>
          <a:xfrm>
            <a:off x="1141412" y="2245179"/>
            <a:ext cx="5136923" cy="3902527"/>
          </a:xfrm>
          <a:prstGeom prst="rect">
            <a:avLst/>
          </a:prstGeom>
        </p:spPr>
      </p:pic>
      <p:pic>
        <p:nvPicPr>
          <p:cNvPr id="6" name="Content Placeholder 5"/>
          <p:cNvPicPr>
            <a:picLocks noGrp="1" noChangeAspect="1"/>
          </p:cNvPicPr>
          <p:nvPr>
            <p:ph sz="half" idx="2"/>
          </p:nvPr>
        </p:nvPicPr>
        <p:blipFill>
          <a:blip r:embed="rId3"/>
          <a:stretch>
            <a:fillRect/>
          </a:stretch>
        </p:blipFill>
        <p:spPr>
          <a:xfrm>
            <a:off x="6278336" y="2249488"/>
            <a:ext cx="4769076" cy="3898218"/>
          </a:xfrm>
          <a:prstGeom prst="rect">
            <a:avLst/>
          </a:prstGeom>
        </p:spPr>
      </p:pic>
    </p:spTree>
    <p:extLst>
      <p:ext uri="{BB962C8B-B14F-4D97-AF65-F5344CB8AC3E}">
        <p14:creationId xmlns:p14="http://schemas.microsoft.com/office/powerpoint/2010/main" val="41192952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05016" y="233398"/>
            <a:ext cx="10272584" cy="1908215"/>
          </a:xfrm>
          <a:prstGeom prst="rect">
            <a:avLst/>
          </a:prstGeom>
        </p:spPr>
        <p:txBody>
          <a:bodyPr wrap="square">
            <a:spAutoFit/>
          </a:bodyPr>
          <a:lstStyle/>
          <a:p>
            <a:pPr fontAlgn="base"/>
            <a:r>
              <a:rPr lang="en-US" sz="2800" b="1" dirty="0">
                <a:latin typeface="Arial" panose="020B0604020202020204" pitchFamily="34" charset="0"/>
              </a:rPr>
              <a:t>Cross Over </a:t>
            </a:r>
            <a:r>
              <a:rPr lang="en-US" sz="2800" b="1" dirty="0" smtClean="0">
                <a:latin typeface="Arial" panose="020B0604020202020204" pitchFamily="34" charset="0"/>
              </a:rPr>
              <a:t>Distortion</a:t>
            </a:r>
            <a:endParaRPr lang="en-US" b="1" dirty="0">
              <a:latin typeface="Arial" panose="020B0604020202020204" pitchFamily="34" charset="0"/>
            </a:endParaRPr>
          </a:p>
          <a:p>
            <a:pPr fontAlgn="base"/>
            <a:r>
              <a:rPr lang="en-US" dirty="0">
                <a:latin typeface="Arial" panose="020B0604020202020204" pitchFamily="34" charset="0"/>
              </a:rPr>
              <a:t>Whenever the transistors start conduction just after the amplitude of the input signal has increased above 0.7V, then the input signal regions where the amplitude is below 0.7V will be not there with the output signal, known as cross-over distortion. The </a:t>
            </a:r>
            <a:r>
              <a:rPr lang="en-US" b="1" dirty="0">
                <a:latin typeface="inherit"/>
              </a:rPr>
              <a:t>cross-over distortion waveform</a:t>
            </a:r>
            <a:r>
              <a:rPr lang="en-US" dirty="0">
                <a:latin typeface="Arial" panose="020B0604020202020204" pitchFamily="34" charset="0"/>
              </a:rPr>
              <a:t> is shown below. So in this diagram, you can notice that the input waveform regions which are below 0.7V are not there within the o/p waveform.</a:t>
            </a:r>
            <a:endParaRPr lang="en-US" b="0" i="0" dirty="0">
              <a:effectLst/>
              <a:latin typeface="Arial" panose="020B0604020202020204" pitchFamily="34" charset="0"/>
            </a:endParaRPr>
          </a:p>
        </p:txBody>
      </p:sp>
      <p:pic>
        <p:nvPicPr>
          <p:cNvPr id="4" name="Picture 3"/>
          <p:cNvPicPr>
            <a:picLocks noChangeAspect="1"/>
          </p:cNvPicPr>
          <p:nvPr/>
        </p:nvPicPr>
        <p:blipFill>
          <a:blip r:embed="rId2"/>
          <a:stretch>
            <a:fillRect/>
          </a:stretch>
        </p:blipFill>
        <p:spPr>
          <a:xfrm>
            <a:off x="3634688" y="2537511"/>
            <a:ext cx="4100641" cy="2907699"/>
          </a:xfrm>
          <a:prstGeom prst="rect">
            <a:avLst/>
          </a:prstGeom>
        </p:spPr>
      </p:pic>
    </p:spTree>
    <p:extLst>
      <p:ext uri="{BB962C8B-B14F-4D97-AF65-F5344CB8AC3E}">
        <p14:creationId xmlns:p14="http://schemas.microsoft.com/office/powerpoint/2010/main" val="28451016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Calculation of efficiency of class b amplifier</a:t>
            </a:r>
            <a:endParaRPr lang="en-US" dirty="0"/>
          </a:p>
        </p:txBody>
      </p:sp>
      <p:pic>
        <p:nvPicPr>
          <p:cNvPr id="4" name="Content Placeholder 3"/>
          <p:cNvPicPr>
            <a:picLocks noGrp="1" noChangeAspect="1"/>
          </p:cNvPicPr>
          <p:nvPr>
            <p:ph idx="1"/>
          </p:nvPr>
        </p:nvPicPr>
        <p:blipFill>
          <a:blip r:embed="rId2"/>
          <a:stretch>
            <a:fillRect/>
          </a:stretch>
        </p:blipFill>
        <p:spPr>
          <a:xfrm>
            <a:off x="711930" y="2158871"/>
            <a:ext cx="4502621" cy="4291355"/>
          </a:xfrm>
          <a:prstGeom prst="rect">
            <a:avLst/>
          </a:prstGeom>
        </p:spPr>
      </p:pic>
      <p:pic>
        <p:nvPicPr>
          <p:cNvPr id="5" name="Picture 4"/>
          <p:cNvPicPr>
            <a:picLocks noChangeAspect="1"/>
          </p:cNvPicPr>
          <p:nvPr/>
        </p:nvPicPr>
        <p:blipFill>
          <a:blip r:embed="rId3"/>
          <a:stretch>
            <a:fillRect/>
          </a:stretch>
        </p:blipFill>
        <p:spPr>
          <a:xfrm>
            <a:off x="5296929" y="2158871"/>
            <a:ext cx="3790950" cy="3368718"/>
          </a:xfrm>
          <a:prstGeom prst="rect">
            <a:avLst/>
          </a:prstGeom>
        </p:spPr>
      </p:pic>
    </p:spTree>
    <p:extLst>
      <p:ext uri="{BB962C8B-B14F-4D97-AF65-F5344CB8AC3E}">
        <p14:creationId xmlns:p14="http://schemas.microsoft.com/office/powerpoint/2010/main" val="14930088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Class ab amplifier- </a:t>
            </a:r>
            <a:r>
              <a:rPr lang="en-US" sz="2200" dirty="0"/>
              <a:t>Class AB amplifier output stage combines the advantages of the Class A amplifier and the Class B amplifier producing a better amplifier design</a:t>
            </a:r>
            <a:endParaRPr lang="en-US" sz="2200" dirty="0"/>
          </a:p>
        </p:txBody>
      </p:sp>
      <p:sp>
        <p:nvSpPr>
          <p:cNvPr id="3" name="Content Placeholder 2"/>
          <p:cNvSpPr>
            <a:spLocks noGrp="1"/>
          </p:cNvSpPr>
          <p:nvPr>
            <p:ph idx="1"/>
          </p:nvPr>
        </p:nvSpPr>
        <p:spPr/>
        <p:txBody>
          <a:bodyPr/>
          <a:lstStyle/>
          <a:p>
            <a:r>
              <a:rPr lang="en-US" dirty="0" smtClean="0"/>
              <a:t>ASSIGNMENT</a:t>
            </a:r>
            <a:endParaRPr lang="en-US" dirty="0"/>
          </a:p>
        </p:txBody>
      </p:sp>
    </p:spTree>
    <p:extLst>
      <p:ext uri="{BB962C8B-B14F-4D97-AF65-F5344CB8AC3E}">
        <p14:creationId xmlns:p14="http://schemas.microsoft.com/office/powerpoint/2010/main" val="8826878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201" y="112105"/>
            <a:ext cx="4649787" cy="1478570"/>
          </a:xfrm>
        </p:spPr>
        <p:txBody>
          <a:bodyPr/>
          <a:lstStyle/>
          <a:p>
            <a:r>
              <a:rPr lang="en-US" dirty="0" smtClean="0"/>
              <a:t>Push-pull amplifier</a:t>
            </a:r>
            <a:endParaRPr lang="en-US" dirty="0"/>
          </a:p>
        </p:txBody>
      </p:sp>
      <p:sp>
        <p:nvSpPr>
          <p:cNvPr id="5" name="Content Placeholder 4"/>
          <p:cNvSpPr>
            <a:spLocks noGrp="1"/>
          </p:cNvSpPr>
          <p:nvPr>
            <p:ph idx="1"/>
          </p:nvPr>
        </p:nvSpPr>
        <p:spPr/>
        <p:txBody>
          <a:bodyPr/>
          <a:lstStyle/>
          <a:p>
            <a:endParaRPr lang="en-US"/>
          </a:p>
        </p:txBody>
      </p:sp>
      <p:pic>
        <p:nvPicPr>
          <p:cNvPr id="6" name="Picture 5"/>
          <p:cNvPicPr>
            <a:picLocks noChangeAspect="1"/>
          </p:cNvPicPr>
          <p:nvPr/>
        </p:nvPicPr>
        <p:blipFill>
          <a:blip r:embed="rId2"/>
          <a:stretch>
            <a:fillRect/>
          </a:stretch>
        </p:blipFill>
        <p:spPr>
          <a:xfrm>
            <a:off x="468425" y="1186656"/>
            <a:ext cx="5769338" cy="5475401"/>
          </a:xfrm>
          <a:prstGeom prst="rect">
            <a:avLst/>
          </a:prstGeom>
        </p:spPr>
      </p:pic>
      <p:pic>
        <p:nvPicPr>
          <p:cNvPr id="7" name="Picture 6"/>
          <p:cNvPicPr>
            <a:picLocks noChangeAspect="1"/>
          </p:cNvPicPr>
          <p:nvPr/>
        </p:nvPicPr>
        <p:blipFill>
          <a:blip r:embed="rId3"/>
          <a:stretch>
            <a:fillRect/>
          </a:stretch>
        </p:blipFill>
        <p:spPr>
          <a:xfrm>
            <a:off x="6461761" y="1190626"/>
            <a:ext cx="5582874" cy="5471432"/>
          </a:xfrm>
          <a:prstGeom prst="rect">
            <a:avLst/>
          </a:prstGeom>
        </p:spPr>
      </p:pic>
    </p:spTree>
    <p:extLst>
      <p:ext uri="{BB962C8B-B14F-4D97-AF65-F5344CB8AC3E}">
        <p14:creationId xmlns:p14="http://schemas.microsoft.com/office/powerpoint/2010/main" val="7713773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201783" y="187693"/>
            <a:ext cx="10145485" cy="1562100"/>
          </a:xfrm>
          <a:prstGeom prst="rect">
            <a:avLst/>
          </a:prstGeom>
        </p:spPr>
      </p:pic>
      <p:pic>
        <p:nvPicPr>
          <p:cNvPr id="3" name="Content Placeholder 5"/>
          <p:cNvPicPr>
            <a:picLocks noChangeAspect="1"/>
          </p:cNvPicPr>
          <p:nvPr/>
        </p:nvPicPr>
        <p:blipFill>
          <a:blip r:embed="rId3"/>
          <a:stretch>
            <a:fillRect/>
          </a:stretch>
        </p:blipFill>
        <p:spPr>
          <a:xfrm>
            <a:off x="1201783" y="1898469"/>
            <a:ext cx="10145485" cy="4441371"/>
          </a:xfrm>
          <a:prstGeom prst="rect">
            <a:avLst/>
          </a:prstGeom>
        </p:spPr>
      </p:pic>
    </p:spTree>
    <p:extLst>
      <p:ext uri="{BB962C8B-B14F-4D97-AF65-F5344CB8AC3E}">
        <p14:creationId xmlns:p14="http://schemas.microsoft.com/office/powerpoint/2010/main" val="17985259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331135"/>
            <a:ext cx="9905998" cy="1236408"/>
          </a:xfrm>
        </p:spPr>
        <p:txBody>
          <a:bodyPr>
            <a:normAutofit fontScale="90000"/>
          </a:bodyPr>
          <a:lstStyle/>
          <a:p>
            <a:r>
              <a:rPr lang="en-US" dirty="0" smtClean="0"/>
              <a:t>Crossover distortion- </a:t>
            </a:r>
            <a:r>
              <a:rPr lang="en-US" sz="2200" dirty="0"/>
              <a:t>distortion occurring where a signal changes from positive to negative or vice versa.</a:t>
            </a:r>
            <a:r>
              <a:rPr lang="en-US" dirty="0"/>
              <a:t/>
            </a:r>
            <a:br>
              <a:rPr lang="en-US" dirty="0"/>
            </a:br>
            <a:endParaRPr lang="en-US" dirty="0"/>
          </a:p>
        </p:txBody>
      </p:sp>
      <p:sp>
        <p:nvSpPr>
          <p:cNvPr id="3" name="Content Placeholder 2"/>
          <p:cNvSpPr>
            <a:spLocks noGrp="1"/>
          </p:cNvSpPr>
          <p:nvPr>
            <p:ph idx="1"/>
          </p:nvPr>
        </p:nvSpPr>
        <p:spPr>
          <a:xfrm>
            <a:off x="1141412" y="1506582"/>
            <a:ext cx="5215845" cy="4589417"/>
          </a:xfrm>
        </p:spPr>
        <p:txBody>
          <a:bodyPr>
            <a:normAutofit/>
          </a:bodyPr>
          <a:lstStyle/>
          <a:p>
            <a:r>
              <a:rPr lang="en-US" dirty="0"/>
              <a:t>If the value of dc biased voltage is 0 both transistor are not on and input signal voltage should be larger than VBE before the transistor conduction.</a:t>
            </a:r>
          </a:p>
          <a:p>
            <a:r>
              <a:rPr lang="en-US" dirty="0"/>
              <a:t>Due to this, there is time interval among the positive and negative variation of input when there is no transistor is operating as shown in below figure</a:t>
            </a:r>
          </a:p>
          <a:p>
            <a:endParaRPr lang="en-US" dirty="0"/>
          </a:p>
        </p:txBody>
      </p:sp>
      <p:pic>
        <p:nvPicPr>
          <p:cNvPr id="4" name="Picture 3"/>
          <p:cNvPicPr>
            <a:picLocks noChangeAspect="1"/>
          </p:cNvPicPr>
          <p:nvPr/>
        </p:nvPicPr>
        <p:blipFill>
          <a:blip r:embed="rId2"/>
          <a:stretch>
            <a:fillRect/>
          </a:stretch>
        </p:blipFill>
        <p:spPr>
          <a:xfrm>
            <a:off x="6453051" y="1506583"/>
            <a:ext cx="5396728" cy="4589417"/>
          </a:xfrm>
          <a:prstGeom prst="rect">
            <a:avLst/>
          </a:prstGeom>
        </p:spPr>
      </p:pic>
    </p:spTree>
    <p:extLst>
      <p:ext uri="{BB962C8B-B14F-4D97-AF65-F5344CB8AC3E}">
        <p14:creationId xmlns:p14="http://schemas.microsoft.com/office/powerpoint/2010/main" val="1731963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Status xmlns="71af3243-3dd4-4a8d-8c0d-dd76da1f02a5">Not started</Statu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b385d60f68dd989dca1fdc827799d85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911b479caf7b199da365455750e4572"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0B6055E-F2DC-412A-8B07-D3793807DA86}">
  <ds:schemaRefs>
    <ds:schemaRef ds:uri="http://schemas.microsoft.com/sharepoint/v3/contenttype/forms"/>
  </ds:schemaRefs>
</ds:datastoreItem>
</file>

<file path=customXml/itemProps2.xml><?xml version="1.0" encoding="utf-8"?>
<ds:datastoreItem xmlns:ds="http://schemas.openxmlformats.org/officeDocument/2006/customXml" ds:itemID="{0A938410-2173-430A-9B92-20257D39BD88}">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ECBD1B6F-AE5F-4B27-9BE1-4797C9BEFBA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Modern design</Template>
  <TotalTime>0</TotalTime>
  <Words>558</Words>
  <Application>Microsoft Office PowerPoint</Application>
  <PresentationFormat>Widescreen</PresentationFormat>
  <Paragraphs>54</Paragraphs>
  <Slides>18</Slides>
  <Notes>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Arial</vt:lpstr>
      <vt:lpstr>Arial</vt:lpstr>
      <vt:lpstr>Calibri</vt:lpstr>
      <vt:lpstr>inherit</vt:lpstr>
      <vt:lpstr>Lato</vt:lpstr>
      <vt:lpstr>Symbol</vt:lpstr>
      <vt:lpstr>Trebuchet MS</vt:lpstr>
      <vt:lpstr>Tw Cen MT</vt:lpstr>
      <vt:lpstr>Circuit</vt:lpstr>
      <vt:lpstr>Unit-7 large signal amplifier</vt:lpstr>
      <vt:lpstr>Introduction</vt:lpstr>
      <vt:lpstr>Types of power Amplifier</vt:lpstr>
      <vt:lpstr>WORKING of power amplifier</vt:lpstr>
      <vt:lpstr>CLASS-A POWER AMPLIFIER</vt:lpstr>
      <vt:lpstr>Q-Point is in the center of loadline bjt amplifier is in active region</vt:lpstr>
      <vt:lpstr>Output result</vt:lpstr>
      <vt:lpstr>PowerPoint Presentation</vt:lpstr>
      <vt:lpstr>To improve the full power efficiency of the Class A amplifier it is possible to design the circuit with a transformer connected directly in the Collector circuit to form a circuit called a Transformer Coupled Amplifier. The transformer improves the efficiency of the amplifier by matching the impedance of the load with that of the amplifiers output using the turns ratio ( n ) of the transformer and an example of this is given below.</vt:lpstr>
      <vt:lpstr>PowerPoint Presentation</vt:lpstr>
      <vt:lpstr>Class b Amplifier- Operation has zero DC bias as the transistors are biased at the cut-off, so each transistor only conducts when the input signal is greater than the Base-emitter voltage.</vt:lpstr>
      <vt:lpstr>Push-pull class b Amplifier (we user transformer coupled push pull class b amplifier) </vt:lpstr>
      <vt:lpstr>PowerPoint Presentation</vt:lpstr>
      <vt:lpstr>Calculation of efficiency of class b amplifier</vt:lpstr>
      <vt:lpstr>Class ab amplifier- Class AB amplifier output stage combines the advantages of the Class A amplifier and the Class B amplifier producing a better amplifier design</vt:lpstr>
      <vt:lpstr>Push-pull amplifier</vt:lpstr>
      <vt:lpstr>PowerPoint Presentation</vt:lpstr>
      <vt:lpstr>Crossover distortion- distortion occurring where a signal changes from positive to negative or vice versa.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2023-01-08T08:24:43Z</dcterms:created>
  <dcterms:modified xsi:type="dcterms:W3CDTF">2023-01-10T10:55:22Z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