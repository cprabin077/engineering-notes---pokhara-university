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75"/>
  </p:notesMasterIdLst>
  <p:sldIdLst>
    <p:sldId id="257" r:id="rId2"/>
    <p:sldId id="383" r:id="rId3"/>
    <p:sldId id="427" r:id="rId4"/>
    <p:sldId id="429" r:id="rId5"/>
    <p:sldId id="466" r:id="rId6"/>
    <p:sldId id="467" r:id="rId7"/>
    <p:sldId id="468" r:id="rId8"/>
    <p:sldId id="469" r:id="rId9"/>
    <p:sldId id="470" r:id="rId10"/>
    <p:sldId id="471" r:id="rId11"/>
    <p:sldId id="472" r:id="rId12"/>
    <p:sldId id="430" r:id="rId13"/>
    <p:sldId id="473" r:id="rId14"/>
    <p:sldId id="474" r:id="rId15"/>
    <p:sldId id="475" r:id="rId16"/>
    <p:sldId id="476" r:id="rId17"/>
    <p:sldId id="477" r:id="rId18"/>
    <p:sldId id="478" r:id="rId19"/>
    <p:sldId id="479" r:id="rId20"/>
    <p:sldId id="480" r:id="rId21"/>
    <p:sldId id="481" r:id="rId22"/>
    <p:sldId id="482" r:id="rId23"/>
    <p:sldId id="483" r:id="rId24"/>
    <p:sldId id="484" r:id="rId25"/>
    <p:sldId id="485" r:id="rId26"/>
    <p:sldId id="486" r:id="rId27"/>
    <p:sldId id="489" r:id="rId28"/>
    <p:sldId id="487" r:id="rId29"/>
    <p:sldId id="488" r:id="rId30"/>
    <p:sldId id="490" r:id="rId31"/>
    <p:sldId id="491" r:id="rId32"/>
    <p:sldId id="492" r:id="rId33"/>
    <p:sldId id="493" r:id="rId34"/>
    <p:sldId id="495" r:id="rId35"/>
    <p:sldId id="496" r:id="rId36"/>
    <p:sldId id="497" r:id="rId37"/>
    <p:sldId id="498" r:id="rId38"/>
    <p:sldId id="499" r:id="rId39"/>
    <p:sldId id="500" r:id="rId40"/>
    <p:sldId id="501" r:id="rId41"/>
    <p:sldId id="502" r:id="rId42"/>
    <p:sldId id="503" r:id="rId43"/>
    <p:sldId id="504" r:id="rId44"/>
    <p:sldId id="505" r:id="rId45"/>
    <p:sldId id="506" r:id="rId46"/>
    <p:sldId id="507" r:id="rId47"/>
    <p:sldId id="508" r:id="rId48"/>
    <p:sldId id="509" r:id="rId49"/>
    <p:sldId id="510" r:id="rId50"/>
    <p:sldId id="511" r:id="rId51"/>
    <p:sldId id="512" r:id="rId52"/>
    <p:sldId id="513" r:id="rId53"/>
    <p:sldId id="514" r:id="rId54"/>
    <p:sldId id="515" r:id="rId55"/>
    <p:sldId id="516" r:id="rId56"/>
    <p:sldId id="517" r:id="rId57"/>
    <p:sldId id="518" r:id="rId58"/>
    <p:sldId id="519" r:id="rId59"/>
    <p:sldId id="520" r:id="rId60"/>
    <p:sldId id="521" r:id="rId61"/>
    <p:sldId id="522" r:id="rId62"/>
    <p:sldId id="523" r:id="rId63"/>
    <p:sldId id="524" r:id="rId64"/>
    <p:sldId id="525" r:id="rId65"/>
    <p:sldId id="527" r:id="rId66"/>
    <p:sldId id="526" r:id="rId67"/>
    <p:sldId id="528" r:id="rId68"/>
    <p:sldId id="530" r:id="rId69"/>
    <p:sldId id="531" r:id="rId70"/>
    <p:sldId id="532" r:id="rId71"/>
    <p:sldId id="533" r:id="rId72"/>
    <p:sldId id="529" r:id="rId73"/>
    <p:sldId id="275"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70" d="100"/>
          <a:sy n="70" d="100"/>
        </p:scale>
        <p:origin x="-744"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C73DF-4ACA-4A4E-BE24-698A41846534}" type="datetimeFigureOut">
              <a:rPr lang="en-US" smtClean="0"/>
              <a:t>7/12/2023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F0832-C019-46EE-973A-B4AFD6309CA0}" type="slidenum">
              <a:rPr lang="en-US" smtClean="0"/>
              <a:t>‹#›</a:t>
            </a:fld>
            <a:endParaRPr lang="en-US"/>
          </a:p>
        </p:txBody>
      </p:sp>
    </p:spTree>
    <p:extLst>
      <p:ext uri="{BB962C8B-B14F-4D97-AF65-F5344CB8AC3E}">
        <p14:creationId xmlns:p14="http://schemas.microsoft.com/office/powerpoint/2010/main" val="247139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a:t>
            </a:fld>
            <a:endParaRPr lang="en-US"/>
          </a:p>
        </p:txBody>
      </p:sp>
    </p:spTree>
    <p:extLst>
      <p:ext uri="{BB962C8B-B14F-4D97-AF65-F5344CB8AC3E}">
        <p14:creationId xmlns:p14="http://schemas.microsoft.com/office/powerpoint/2010/main" val="3550778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72</a:t>
            </a:fld>
            <a:endParaRPr lang="en-US"/>
          </a:p>
        </p:txBody>
      </p:sp>
    </p:spTree>
    <p:extLst>
      <p:ext uri="{BB962C8B-B14F-4D97-AF65-F5344CB8AC3E}">
        <p14:creationId xmlns:p14="http://schemas.microsoft.com/office/powerpoint/2010/main" val="201283141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73</a:t>
            </a:fld>
            <a:endParaRPr lang="en-US"/>
          </a:p>
        </p:txBody>
      </p:sp>
    </p:spTree>
    <p:extLst>
      <p:ext uri="{BB962C8B-B14F-4D97-AF65-F5344CB8AC3E}">
        <p14:creationId xmlns:p14="http://schemas.microsoft.com/office/powerpoint/2010/main" val="1025001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7"/>
            <a:ext cx="7766936" cy="1096899"/>
          </a:xfrm>
        </p:spPr>
        <p:txBody>
          <a:bodyPr anchor="t"/>
          <a:lstStyle>
            <a:lvl1pPr marL="0" indent="0" algn="r">
              <a:buNone/>
              <a:defRPr>
                <a:solidFill>
                  <a:schemeClr val="tx1">
                    <a:lumMod val="50000"/>
                    <a:lumOff val="50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4DD5E5-F825-4B33-AF67-A7F31E5A2821}" type="datetime1">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772834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B0A645-7812-465D-BB5E-A8CA1F1DB31F}" type="datetime1">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91638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71"/>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DDB56-25F5-4763-9EA5-68F834D6E811}" type="datetime1">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675387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6"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69" y="2160590"/>
            <a:ext cx="4184035"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B901DB-480A-4D75-AD69-F9ABD9C9ECEB}" type="datetime1">
              <a:rPr lang="en-US" smtClean="0"/>
              <a:t>7/12/2023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4528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7" y="2160983"/>
            <a:ext cx="4185623"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7" y="2737249"/>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4" y="2160983"/>
            <a:ext cx="4185619"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6" y="2737249"/>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2B31EA-9561-4FDF-BCE1-CAE98AD0C4D5}" type="datetime1">
              <a:rPr lang="en-US" smtClean="0"/>
              <a:t>7/12/2023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65533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08B6BF-29BB-4022-8B48-CF48B5627A0E}" type="datetime1">
              <a:rPr lang="en-US" smtClean="0"/>
              <a:t>7/12/2023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2317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E9B8A-9C1C-47BE-9A52-00A57195BE87}" type="datetime1">
              <a:rPr lang="en-US" smtClean="0"/>
              <a:t>7/12/2023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2998442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3" y="514928"/>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5" y="2777069"/>
            <a:ext cx="3854528" cy="2584449"/>
          </a:xfrm>
        </p:spPr>
        <p:txBody>
          <a:bodyPr>
            <a:normAutofit/>
          </a:bodyPr>
          <a:lstStyle>
            <a:lvl1pPr marL="0" indent="0">
              <a:buNone/>
              <a:defRPr sz="1400"/>
            </a:lvl1pPr>
            <a:lvl2pPr marL="457051" indent="0">
              <a:buNone/>
              <a:defRPr sz="1400"/>
            </a:lvl2pPr>
            <a:lvl3pPr marL="914104" indent="0">
              <a:buNone/>
              <a:defRPr sz="1200"/>
            </a:lvl3pPr>
            <a:lvl4pPr marL="1371155" indent="0">
              <a:buNone/>
              <a:defRPr sz="1000"/>
            </a:lvl4pPr>
            <a:lvl5pPr marL="1828205" indent="0">
              <a:buNone/>
              <a:defRPr sz="1000"/>
            </a:lvl5pPr>
            <a:lvl6pPr marL="2285258" indent="0">
              <a:buNone/>
              <a:defRPr sz="1000"/>
            </a:lvl6pPr>
            <a:lvl7pPr marL="2742309" indent="0">
              <a:buNone/>
              <a:defRPr sz="1000"/>
            </a:lvl7pPr>
            <a:lvl8pPr marL="3199360" indent="0">
              <a:buNone/>
              <a:defRPr sz="1000"/>
            </a:lvl8pPr>
            <a:lvl9pPr marL="3656411"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F453E-3D4D-464A-831F-EB23A5A42A12}" type="datetime1">
              <a:rPr lang="en-US" smtClean="0"/>
              <a:t>7/12/2023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21830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6"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5" y="609600"/>
            <a:ext cx="8596668" cy="3845718"/>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6" y="5367338"/>
            <a:ext cx="8596667" cy="674024"/>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B9743A-56F0-4312-8259-E51533341499}" type="datetime1">
              <a:rPr lang="en-US" smtClean="0"/>
              <a:t>7/12/2023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71604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BC2D58-99B7-4095-851E-63049442BAD8}" type="datetime1">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60474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8D284E-D999-40E1-8CDE-80A918580BC2}" type="datetime1">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0" name="TextBox 19"/>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sz="1800" dirty="0">
              <a:solidFill>
                <a:schemeClr val="accent1">
                  <a:lumMod val="60000"/>
                  <a:lumOff val="40000"/>
                </a:schemeClr>
              </a:solidFill>
              <a:latin typeface="Arial"/>
            </a:endParaRPr>
          </a:p>
        </p:txBody>
      </p:sp>
    </p:spTree>
    <p:extLst>
      <p:ext uri="{BB962C8B-B14F-4D97-AF65-F5344CB8AC3E}">
        <p14:creationId xmlns:p14="http://schemas.microsoft.com/office/powerpoint/2010/main" val="2033399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2C615-F352-46CA-997F-790F5C7AB59F}" type="datetime1">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525367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9F8DF6-B2D7-4891-924E-F205B4F4C5B0}" type="datetime1">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4" name="TextBox 23"/>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64502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C9D3E9-44D4-4A6E-8282-3CFF4443A4B7}" type="datetime1">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13521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637C3A-3E20-4D7B-93C7-DC2476BB2AB9}" type="datetime1">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39343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5" y="609603"/>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7" y="609600"/>
            <a:ext cx="706015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1BB382-714F-487B-894A-7320A737CBE1}" type="datetime1">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9713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5"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5" y="2160590"/>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6"/>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590269F-6FC2-45F3-9E5C-EE0DAD7DBF51}" type="datetime1">
              <a:rPr lang="en-US" smtClean="0"/>
              <a:t>7/12/2023</a:t>
            </a:fld>
            <a:endParaRPr lang="en-US"/>
          </a:p>
        </p:txBody>
      </p:sp>
      <p:sp>
        <p:nvSpPr>
          <p:cNvPr id="5" name="Footer Placeholder 4"/>
          <p:cNvSpPr>
            <a:spLocks noGrp="1"/>
          </p:cNvSpPr>
          <p:nvPr>
            <p:ph type="ftr" sz="quarter" idx="3"/>
          </p:nvPr>
        </p:nvSpPr>
        <p:spPr>
          <a:xfrm>
            <a:off x="677335" y="6041366"/>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5" y="6041366"/>
            <a:ext cx="683339" cy="365125"/>
          </a:xfrm>
          <a:prstGeom prst="rect">
            <a:avLst/>
          </a:prstGeom>
        </p:spPr>
        <p:txBody>
          <a:bodyPr vert="horz" lIns="91440" tIns="45720" rIns="91440" bIns="45720" rtlCol="0" anchor="ctr"/>
          <a:lstStyle>
            <a:lvl1pPr algn="r">
              <a:defRPr sz="900">
                <a:solidFill>
                  <a:schemeClr val="accent1"/>
                </a:solidFill>
              </a:defRPr>
            </a:lvl1pPr>
          </a:lstStyle>
          <a:p>
            <a:fld id="{08716904-6FC9-413C-90D2-F791BBDFC2B7}" type="slidenum">
              <a:rPr lang="en-US" smtClean="0"/>
              <a:t>‹#›</a:t>
            </a:fld>
            <a:endParaRPr lang="en-US"/>
          </a:p>
        </p:txBody>
      </p:sp>
    </p:spTree>
    <p:extLst>
      <p:ext uri="{BB962C8B-B14F-4D97-AF65-F5344CB8AC3E}">
        <p14:creationId xmlns:p14="http://schemas.microsoft.com/office/powerpoint/2010/main" val="219740759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hf sldNum="0" hdr="0" ftr="0" dt="0"/>
  <p:txStyles>
    <p:titleStyle>
      <a:lvl1pPr algn="l" defTabSz="457189"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357622"/>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Chapter 8</a:t>
            </a:r>
            <a:r>
              <a:rPr lang="en-US" sz="2800" dirty="0" smtClean="0">
                <a:solidFill>
                  <a:schemeClr val="bg1"/>
                </a:solidFill>
              </a:rPr>
              <a:t> File Organization and Indexing</a:t>
            </a:r>
            <a:endParaRPr lang="en-US" sz="2800" dirty="0">
              <a:solidFill>
                <a:schemeClr val="bg1"/>
              </a:solidFill>
            </a:endParaRPr>
          </a:p>
        </p:txBody>
      </p:sp>
      <p:sp>
        <p:nvSpPr>
          <p:cNvPr id="3" name="Subtitle 2"/>
          <p:cNvSpPr>
            <a:spLocks noGrp="1"/>
          </p:cNvSpPr>
          <p:nvPr>
            <p:ph type="subTitle" idx="1"/>
          </p:nvPr>
        </p:nvSpPr>
        <p:spPr>
          <a:xfrm>
            <a:off x="1281567" y="1139688"/>
            <a:ext cx="8094254" cy="4929808"/>
          </a:xfrm>
        </p:spPr>
        <p:txBody>
          <a:bodyPr>
            <a:normAutofit/>
          </a:bodyPr>
          <a:lstStyle/>
          <a:p>
            <a:pPr algn="l">
              <a:buClr>
                <a:schemeClr val="tx1"/>
              </a:buClr>
              <a:buSzPct val="71000"/>
            </a:pPr>
            <a:r>
              <a:rPr lang="en-US" sz="2800" dirty="0" smtClean="0">
                <a:solidFill>
                  <a:schemeClr val="tx1"/>
                </a:solidFill>
              </a:rPr>
              <a:t>8.1 Disk and Storage</a:t>
            </a:r>
          </a:p>
          <a:p>
            <a:pPr algn="l">
              <a:buClr>
                <a:schemeClr val="tx1"/>
              </a:buClr>
              <a:buSzPct val="71000"/>
            </a:pPr>
            <a:r>
              <a:rPr lang="en-US" sz="2800" dirty="0" smtClean="0">
                <a:solidFill>
                  <a:schemeClr val="tx1"/>
                </a:solidFill>
              </a:rPr>
              <a:t>8.2 Organization of records into block</a:t>
            </a:r>
          </a:p>
          <a:p>
            <a:pPr algn="l">
              <a:buClr>
                <a:schemeClr val="tx1"/>
              </a:buClr>
              <a:buSzPct val="71000"/>
            </a:pPr>
            <a:r>
              <a:rPr lang="en-US" sz="2800" dirty="0" smtClean="0">
                <a:solidFill>
                  <a:schemeClr val="tx1"/>
                </a:solidFill>
              </a:rPr>
              <a:t>8.3 File Organization</a:t>
            </a:r>
          </a:p>
          <a:p>
            <a:pPr algn="l">
              <a:buClr>
                <a:schemeClr val="tx1"/>
              </a:buClr>
              <a:buSzPct val="71000"/>
            </a:pPr>
            <a:r>
              <a:rPr lang="en-US" sz="2800" dirty="0" smtClean="0">
                <a:solidFill>
                  <a:schemeClr val="tx1"/>
                </a:solidFill>
              </a:rPr>
              <a:t>8.4 B+ Tree index</a:t>
            </a:r>
          </a:p>
          <a:p>
            <a:pPr algn="l">
              <a:buClr>
                <a:schemeClr val="tx1"/>
              </a:buClr>
              <a:buSzPct val="71000"/>
            </a:pPr>
            <a:r>
              <a:rPr lang="en-US" sz="2800" dirty="0" smtClean="0">
                <a:solidFill>
                  <a:schemeClr val="tx1"/>
                </a:solidFill>
              </a:rPr>
              <a:t>8.5 Hash Index</a:t>
            </a:r>
            <a:endParaRPr lang="en-US" sz="2800" dirty="0">
              <a:solidFill>
                <a:schemeClr val="tx1"/>
              </a:solidFill>
            </a:endParaRPr>
          </a:p>
          <a:p>
            <a:pPr algn="l">
              <a:buClr>
                <a:schemeClr val="tx1"/>
              </a:buClr>
              <a:buSzPct val="71000"/>
            </a:pPr>
            <a:endParaRPr lang="en-US" sz="2800" dirty="0">
              <a:solidFill>
                <a:schemeClr val="tx1"/>
              </a:solidFill>
            </a:endParaRPr>
          </a:p>
          <a:p>
            <a:pPr algn="l">
              <a:buClr>
                <a:schemeClr val="tx1"/>
              </a:buClr>
              <a:buSzPct val="71000"/>
            </a:pPr>
            <a:endParaRPr lang="en-US" sz="2800" dirty="0">
              <a:solidFill>
                <a:schemeClr val="tx1"/>
              </a:solidFill>
            </a:endParaRPr>
          </a:p>
        </p:txBody>
      </p:sp>
    </p:spTree>
    <p:extLst>
      <p:ext uri="{BB962C8B-B14F-4D97-AF65-F5344CB8AC3E}">
        <p14:creationId xmlns:p14="http://schemas.microsoft.com/office/powerpoint/2010/main" val="28190787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8.1 Disk and Storage</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85000" lnSpcReduction="20000"/>
          </a:body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Databases are stored in file formats, which contains records.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At </a:t>
            </a:r>
            <a:r>
              <a:rPr lang="en-US" sz="2800" dirty="0">
                <a:solidFill>
                  <a:schemeClr val="tx1"/>
                </a:solidFill>
                <a:latin typeface="Times New Roman" pitchFamily="18" charset="0"/>
                <a:cs typeface="Times New Roman" pitchFamily="18" charset="0"/>
              </a:rPr>
              <a:t>physical level, actual data </a:t>
            </a:r>
            <a:r>
              <a:rPr lang="en-US" sz="2800" dirty="0" smtClean="0">
                <a:solidFill>
                  <a:schemeClr val="tx1"/>
                </a:solidFill>
                <a:latin typeface="Times New Roman" pitchFamily="18" charset="0"/>
                <a:cs typeface="Times New Roman" pitchFamily="18" charset="0"/>
              </a:rPr>
              <a:t>is stored </a:t>
            </a:r>
            <a:r>
              <a:rPr lang="en-US" sz="2800" dirty="0">
                <a:solidFill>
                  <a:schemeClr val="tx1"/>
                </a:solidFill>
                <a:latin typeface="Times New Roman" pitchFamily="18" charset="0"/>
                <a:cs typeface="Times New Roman" pitchFamily="18" charset="0"/>
              </a:rPr>
              <a:t>in electromagnetic format on some device capable of storing it for a longer amount </a:t>
            </a:r>
            <a:r>
              <a:rPr lang="en-US" sz="2800" dirty="0" smtClean="0">
                <a:solidFill>
                  <a:schemeClr val="tx1"/>
                </a:solidFill>
                <a:latin typeface="Times New Roman" pitchFamily="18" charset="0"/>
                <a:cs typeface="Times New Roman" pitchFamily="18" charset="0"/>
              </a:rPr>
              <a:t>of time</a:t>
            </a:r>
            <a:r>
              <a:rPr lang="en-US" sz="2800" dirty="0">
                <a:solidFill>
                  <a:schemeClr val="tx1"/>
                </a:solidFill>
                <a:latin typeface="Times New Roman" pitchFamily="18" charset="0"/>
                <a:cs typeface="Times New Roman" pitchFamily="18" charset="0"/>
              </a:rPr>
              <a:t>.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Several </a:t>
            </a:r>
            <a:r>
              <a:rPr lang="en-US" sz="2800" dirty="0">
                <a:solidFill>
                  <a:schemeClr val="tx1"/>
                </a:solidFill>
                <a:latin typeface="Times New Roman" pitchFamily="18" charset="0"/>
                <a:cs typeface="Times New Roman" pitchFamily="18" charset="0"/>
              </a:rPr>
              <a:t>types of data storage exist in most computer systems. Among the media </a:t>
            </a:r>
            <a:r>
              <a:rPr lang="en-US" sz="2800" dirty="0" smtClean="0">
                <a:solidFill>
                  <a:schemeClr val="tx1"/>
                </a:solidFill>
                <a:latin typeface="Times New Roman" pitchFamily="18" charset="0"/>
                <a:cs typeface="Times New Roman" pitchFamily="18" charset="0"/>
              </a:rPr>
              <a:t>typically available </a:t>
            </a:r>
            <a:r>
              <a:rPr lang="en-US" sz="2800" dirty="0">
                <a:solidFill>
                  <a:schemeClr val="tx1"/>
                </a:solidFill>
                <a:latin typeface="Times New Roman" pitchFamily="18" charset="0"/>
                <a:cs typeface="Times New Roman" pitchFamily="18" charset="0"/>
              </a:rPr>
              <a:t>are these:</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 </a:t>
            </a:r>
            <a:r>
              <a:rPr lang="en-US" sz="2600" dirty="0">
                <a:solidFill>
                  <a:schemeClr val="tx1"/>
                </a:solidFill>
                <a:latin typeface="Times New Roman" pitchFamily="18" charset="0"/>
                <a:cs typeface="Times New Roman" pitchFamily="18" charset="0"/>
              </a:rPr>
              <a:t>Cache. </a:t>
            </a:r>
            <a:endParaRPr lang="en-US" sz="2600" dirty="0" smtClean="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 </a:t>
            </a:r>
            <a:r>
              <a:rPr lang="en-US" sz="2600" dirty="0">
                <a:solidFill>
                  <a:schemeClr val="tx1"/>
                </a:solidFill>
                <a:latin typeface="Times New Roman" pitchFamily="18" charset="0"/>
                <a:cs typeface="Times New Roman" pitchFamily="18" charset="0"/>
              </a:rPr>
              <a:t>Main memory. </a:t>
            </a:r>
            <a:endParaRPr lang="en-US" sz="2600" dirty="0" smtClean="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 </a:t>
            </a:r>
            <a:r>
              <a:rPr lang="en-US" sz="2600" dirty="0">
                <a:solidFill>
                  <a:schemeClr val="tx1"/>
                </a:solidFill>
                <a:latin typeface="Times New Roman" pitchFamily="18" charset="0"/>
                <a:cs typeface="Times New Roman" pitchFamily="18" charset="0"/>
              </a:rPr>
              <a:t>Flash </a:t>
            </a:r>
            <a:r>
              <a:rPr lang="en-US" sz="2600" dirty="0" smtClean="0">
                <a:solidFill>
                  <a:schemeClr val="tx1"/>
                </a:solidFill>
                <a:latin typeface="Times New Roman" pitchFamily="18" charset="0"/>
                <a:cs typeface="Times New Roman" pitchFamily="18" charset="0"/>
              </a:rPr>
              <a:t>memory</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 Magnetic-disk </a:t>
            </a:r>
            <a:r>
              <a:rPr lang="en-US" sz="2600" dirty="0">
                <a:solidFill>
                  <a:schemeClr val="tx1"/>
                </a:solidFill>
                <a:latin typeface="Times New Roman" pitchFamily="18" charset="0"/>
                <a:cs typeface="Times New Roman" pitchFamily="18" charset="0"/>
              </a:rPr>
              <a:t>storage. </a:t>
            </a:r>
            <a:endParaRPr lang="en-US" sz="2600" dirty="0" smtClean="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 </a:t>
            </a:r>
            <a:r>
              <a:rPr lang="en-US" sz="2600" dirty="0">
                <a:solidFill>
                  <a:schemeClr val="tx1"/>
                </a:solidFill>
                <a:latin typeface="Times New Roman" pitchFamily="18" charset="0"/>
                <a:cs typeface="Times New Roman" pitchFamily="18" charset="0"/>
              </a:rPr>
              <a:t>Optical storage. </a:t>
            </a:r>
            <a:endParaRPr lang="en-US" sz="2600" dirty="0" smtClean="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 Tape </a:t>
            </a:r>
            <a:r>
              <a:rPr lang="en-US" sz="2600" dirty="0">
                <a:solidFill>
                  <a:schemeClr val="tx1"/>
                </a:solidFill>
                <a:latin typeface="Times New Roman" pitchFamily="18" charset="0"/>
                <a:cs typeface="Times New Roman" pitchFamily="18" charset="0"/>
              </a:rPr>
              <a:t>storage. </a:t>
            </a:r>
            <a:endParaRPr lang="en-US" sz="2600" dirty="0" smtClean="0">
              <a:solidFill>
                <a:schemeClr val="tx1"/>
              </a:solidFill>
              <a:latin typeface="Times New Roman" pitchFamily="18" charset="0"/>
              <a:cs typeface="Times New Roman" pitchFamily="18" charset="0"/>
            </a:endParaRPr>
          </a:p>
          <a:p>
            <a:pPr lvl="1" algn="r">
              <a:buClr>
                <a:schemeClr val="tx1"/>
              </a:buClr>
              <a:buSzPct val="71000"/>
            </a:pPr>
            <a:r>
              <a:rPr lang="en-US" sz="2600" dirty="0" smtClean="0">
                <a:solidFill>
                  <a:srgbClr val="FF0000"/>
                </a:solidFill>
                <a:latin typeface="Times New Roman" pitchFamily="18" charset="0"/>
                <a:cs typeface="Times New Roman" pitchFamily="18" charset="0"/>
              </a:rPr>
              <a:t>Write about each storage(Assignment)</a:t>
            </a:r>
            <a:endParaRPr lang="en-US" sz="26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287038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8.1 Disk </a:t>
            </a:r>
            <a:r>
              <a:rPr lang="en-US" sz="2800" dirty="0">
                <a:solidFill>
                  <a:schemeClr val="bg1"/>
                </a:solidFill>
              </a:rPr>
              <a:t>and Storage</a:t>
            </a:r>
          </a:p>
        </p:txBody>
      </p:sp>
      <p:pic>
        <p:nvPicPr>
          <p:cNvPr id="1026" name="Picture 2" descr="Lightbo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3749" y="1344304"/>
            <a:ext cx="8155912" cy="4628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98588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8.2 Organization of records into block</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A user can store the data in files in an organized manner.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These </a:t>
            </a:r>
            <a:r>
              <a:rPr lang="en-US" sz="2800" dirty="0">
                <a:solidFill>
                  <a:schemeClr val="tx1"/>
                </a:solidFill>
                <a:latin typeface="Times New Roman" pitchFamily="18" charset="0"/>
                <a:cs typeface="Times New Roman" pitchFamily="18" charset="0"/>
              </a:rPr>
              <a:t>files are organized logically as a sequence of records and reside permanently on disks</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 </a:t>
            </a:r>
            <a:r>
              <a:rPr lang="en-US" sz="2800" dirty="0">
                <a:solidFill>
                  <a:schemeClr val="tx1"/>
                </a:solidFill>
                <a:latin typeface="Times New Roman" pitchFamily="18" charset="0"/>
                <a:cs typeface="Times New Roman" pitchFamily="18" charset="0"/>
              </a:rPr>
              <a:t>Each file is divided into fixed-length storage units known as Blocks.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These </a:t>
            </a:r>
            <a:r>
              <a:rPr lang="en-US" sz="2800" dirty="0">
                <a:solidFill>
                  <a:schemeClr val="tx1"/>
                </a:solidFill>
                <a:latin typeface="Times New Roman" pitchFamily="18" charset="0"/>
                <a:cs typeface="Times New Roman" pitchFamily="18" charset="0"/>
              </a:rPr>
              <a:t>blocks are the units of storage allocation as well as data transfer.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Although </a:t>
            </a:r>
            <a:r>
              <a:rPr lang="en-US" sz="2800" dirty="0">
                <a:solidFill>
                  <a:schemeClr val="tx1"/>
                </a:solidFill>
                <a:latin typeface="Times New Roman" pitchFamily="18" charset="0"/>
                <a:cs typeface="Times New Roman" pitchFamily="18" charset="0"/>
              </a:rPr>
              <a:t>the default block size in the database is 4 to 8 kilobytes, many databases allow specifying the size at the time of creating the database instance</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5346030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8.2 Organization of records into block</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Usually</a:t>
            </a:r>
            <a:r>
              <a:rPr lang="en-US" sz="2800" dirty="0">
                <a:solidFill>
                  <a:schemeClr val="tx1"/>
                </a:solidFill>
                <a:latin typeface="Times New Roman" pitchFamily="18" charset="0"/>
                <a:cs typeface="Times New Roman" pitchFamily="18" charset="0"/>
              </a:rPr>
              <a:t>, the record size is smaller than the block size.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But</a:t>
            </a:r>
            <a:r>
              <a:rPr lang="en-US" sz="2800" dirty="0">
                <a:solidFill>
                  <a:schemeClr val="tx1"/>
                </a:solidFill>
                <a:latin typeface="Times New Roman" pitchFamily="18" charset="0"/>
                <a:cs typeface="Times New Roman" pitchFamily="18" charset="0"/>
              </a:rPr>
              <a:t>, for large data items such as images, the size can vary.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For </a:t>
            </a:r>
            <a:r>
              <a:rPr lang="en-US" sz="2800" dirty="0">
                <a:solidFill>
                  <a:schemeClr val="tx1"/>
                </a:solidFill>
                <a:latin typeface="Times New Roman" pitchFamily="18" charset="0"/>
                <a:cs typeface="Times New Roman" pitchFamily="18" charset="0"/>
              </a:rPr>
              <a:t>accessing the data quickly, it is required that one complete record should reside in one block only.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It </a:t>
            </a:r>
            <a:r>
              <a:rPr lang="en-US" sz="2800" dirty="0">
                <a:solidFill>
                  <a:schemeClr val="tx1"/>
                </a:solidFill>
                <a:latin typeface="Times New Roman" pitchFamily="18" charset="0"/>
                <a:cs typeface="Times New Roman" pitchFamily="18" charset="0"/>
              </a:rPr>
              <a:t>should not be partially divided between one or two blocks.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In </a:t>
            </a:r>
            <a:r>
              <a:rPr lang="en-US" sz="2800" dirty="0">
                <a:solidFill>
                  <a:schemeClr val="tx1"/>
                </a:solidFill>
                <a:latin typeface="Times New Roman" pitchFamily="18" charset="0"/>
                <a:cs typeface="Times New Roman" pitchFamily="18" charset="0"/>
              </a:rPr>
              <a:t>RDBMS, the size of tuples varies in different relations.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Thus</a:t>
            </a:r>
            <a:r>
              <a:rPr lang="en-US" sz="2800" dirty="0">
                <a:solidFill>
                  <a:schemeClr val="tx1"/>
                </a:solidFill>
                <a:latin typeface="Times New Roman" pitchFamily="18" charset="0"/>
                <a:cs typeface="Times New Roman" pitchFamily="18" charset="0"/>
              </a:rPr>
              <a:t>, we need to structure our files in multiple lengths for implementing the records. </a:t>
            </a:r>
            <a:endParaRPr lang="en-US" sz="2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2320950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8.2 Organization of records into block</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In </a:t>
            </a:r>
            <a:r>
              <a:rPr lang="en-US" sz="2800" dirty="0">
                <a:solidFill>
                  <a:schemeClr val="tx1"/>
                </a:solidFill>
                <a:latin typeface="Times New Roman" pitchFamily="18" charset="0"/>
                <a:cs typeface="Times New Roman" pitchFamily="18" charset="0"/>
              </a:rPr>
              <a:t>file organization, there are two possible ways of representing the records</a:t>
            </a:r>
            <a:r>
              <a:rPr lang="en-US" sz="2800" dirty="0" smtClean="0">
                <a:solidFill>
                  <a:schemeClr val="tx1"/>
                </a:solidFill>
                <a:latin typeface="Times New Roman" pitchFamily="18" charset="0"/>
                <a:cs typeface="Times New Roman" pitchFamily="18" charset="0"/>
              </a:rPr>
              <a:t>:</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Fixed-length records</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Variable-length records</a:t>
            </a:r>
            <a:endParaRPr lang="en-US" sz="26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4718534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8.2 Organization of records into block</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85000"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Fixed length Records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Fixed-length records means setting a length and storing the records into the file.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If </a:t>
            </a:r>
            <a:r>
              <a:rPr lang="en-US" sz="2800" dirty="0">
                <a:solidFill>
                  <a:schemeClr val="tx1"/>
                </a:solidFill>
                <a:latin typeface="Times New Roman" pitchFamily="18" charset="0"/>
                <a:cs typeface="Times New Roman" pitchFamily="18" charset="0"/>
              </a:rPr>
              <a:t>the record size exceeds the fixed size, it gets divided into more than one block.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Due </a:t>
            </a:r>
            <a:r>
              <a:rPr lang="en-US" sz="2800" dirty="0">
                <a:solidFill>
                  <a:schemeClr val="tx1"/>
                </a:solidFill>
                <a:latin typeface="Times New Roman" pitchFamily="18" charset="0"/>
                <a:cs typeface="Times New Roman" pitchFamily="18" charset="0"/>
              </a:rPr>
              <a:t>to the fixed size there occurs following two problems</a:t>
            </a:r>
            <a:r>
              <a:rPr lang="en-US" sz="2800" dirty="0" smtClean="0">
                <a:solidFill>
                  <a:schemeClr val="tx1"/>
                </a:solidFill>
                <a:latin typeface="Times New Roman" pitchFamily="18" charset="0"/>
                <a:cs typeface="Times New Roman" pitchFamily="18" charset="0"/>
              </a:rPr>
              <a:t>:</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Partially storing subparts of the record in more than one block requires access to all the blocks containing the subparts to read or write in it.</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It is difficult to delete a record in such a file organization. It is because if the size of the existing record is smaller than the block size, then another record or a part fills up the block.</a:t>
            </a:r>
            <a:endParaRPr lang="en-US" sz="26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8064036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8.2 Organization of records into block</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85000" lnSpcReduction="2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Fixed length Records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However, including a certain number of bytes is the solution to the above problems.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It </a:t>
            </a:r>
            <a:r>
              <a:rPr lang="en-US" sz="2800" dirty="0">
                <a:solidFill>
                  <a:schemeClr val="tx1"/>
                </a:solidFill>
                <a:latin typeface="Times New Roman" pitchFamily="18" charset="0"/>
                <a:cs typeface="Times New Roman" pitchFamily="18" charset="0"/>
              </a:rPr>
              <a:t>is known as File Header. The allocated file header carries a variety of information about the file, such as the address of the first record.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address of the second record gets stored in the first record and so on. </a:t>
            </a:r>
            <a:r>
              <a:rPr lang="en-US" sz="2800" dirty="0" smtClean="0">
                <a:solidFill>
                  <a:schemeClr val="tx1"/>
                </a:solidFill>
                <a:latin typeface="Times New Roman" pitchFamily="18" charset="0"/>
                <a:cs typeface="Times New Roman" pitchFamily="18" charset="0"/>
              </a:rPr>
              <a:t>This </a:t>
            </a:r>
            <a:r>
              <a:rPr lang="en-US" sz="2800" dirty="0">
                <a:solidFill>
                  <a:schemeClr val="tx1"/>
                </a:solidFill>
                <a:latin typeface="Times New Roman" pitchFamily="18" charset="0"/>
                <a:cs typeface="Times New Roman" pitchFamily="18" charset="0"/>
              </a:rPr>
              <a:t>process is similar to pointers.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method of insertion and deletion is easy in fixed-length records because the space left or freed by the deleted record is exactly similar to the space required to insert the new records.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But </a:t>
            </a:r>
            <a:r>
              <a:rPr lang="en-US" sz="2800" dirty="0">
                <a:solidFill>
                  <a:schemeClr val="tx1"/>
                </a:solidFill>
                <a:latin typeface="Times New Roman" pitchFamily="18" charset="0"/>
                <a:cs typeface="Times New Roman" pitchFamily="18" charset="0"/>
              </a:rPr>
              <a:t>this process  fails for storing the records of variable lengths.</a:t>
            </a:r>
            <a:endParaRPr lang="en-US" sz="26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0164522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8.2 Organization of records into block</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Variable length Records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Variable-length records are the records that vary in size.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It </a:t>
            </a:r>
            <a:r>
              <a:rPr lang="en-US" sz="2800" dirty="0">
                <a:solidFill>
                  <a:schemeClr val="tx1"/>
                </a:solidFill>
                <a:latin typeface="Times New Roman" pitchFamily="18" charset="0"/>
                <a:cs typeface="Times New Roman" pitchFamily="18" charset="0"/>
              </a:rPr>
              <a:t>requires the creation of multiple blocks of multiple sizes to store them.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These </a:t>
            </a:r>
            <a:r>
              <a:rPr lang="en-US" sz="2800" dirty="0">
                <a:solidFill>
                  <a:schemeClr val="tx1"/>
                </a:solidFill>
                <a:latin typeface="Times New Roman" pitchFamily="18" charset="0"/>
                <a:cs typeface="Times New Roman" pitchFamily="18" charset="0"/>
              </a:rPr>
              <a:t>variable-length records are kept in the following ways in the database system</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Storage of multiple record types in a file.</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It is kept as Record types that enable repeating fields like </a:t>
            </a:r>
            <a:r>
              <a:rPr lang="en-US" sz="2600" dirty="0" err="1">
                <a:solidFill>
                  <a:schemeClr val="tx1"/>
                </a:solidFill>
                <a:latin typeface="Times New Roman" pitchFamily="18" charset="0"/>
                <a:cs typeface="Times New Roman" pitchFamily="18" charset="0"/>
              </a:rPr>
              <a:t>multisets</a:t>
            </a:r>
            <a:r>
              <a:rPr lang="en-US" sz="2600" dirty="0">
                <a:solidFill>
                  <a:schemeClr val="tx1"/>
                </a:solidFill>
                <a:latin typeface="Times New Roman" pitchFamily="18" charset="0"/>
                <a:cs typeface="Times New Roman" pitchFamily="18" charset="0"/>
              </a:rPr>
              <a:t> or arrays.</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It is kept as Record types that enable variable lengths either for one field or more.</a:t>
            </a:r>
            <a:endParaRPr lang="en-US" sz="24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5472167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8.2 Organization of records into block</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Variable length Records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variable-length records, there exist the following two problems</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Defining the way of representing a single record so as to extract the individual attributes easily.</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Defining the way of storing variable-length records within a block so as to extract that record in a block easily</a:t>
            </a:r>
            <a:r>
              <a:rPr lang="en-US" sz="2600" dirty="0" smtClean="0">
                <a:solidFill>
                  <a:schemeClr val="tx1"/>
                </a:solidFill>
                <a:latin typeface="Times New Roman" pitchFamily="18" charset="0"/>
                <a:cs typeface="Times New Roman" pitchFamily="18" charset="0"/>
              </a:rPr>
              <a:t>.</a:t>
            </a:r>
            <a:endParaRPr lang="en-US" sz="2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3109893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8.2 Organization of records into block</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Variable length Records</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Thus</a:t>
            </a:r>
            <a:r>
              <a:rPr lang="en-US" sz="2800" dirty="0">
                <a:solidFill>
                  <a:schemeClr val="tx1"/>
                </a:solidFill>
                <a:latin typeface="Times New Roman" pitchFamily="18" charset="0"/>
                <a:cs typeface="Times New Roman" pitchFamily="18" charset="0"/>
              </a:rPr>
              <a:t>, the representation of a variable-length record can be divided into two parts</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An initial part of the record with fixed-length attributes such as numeric values, dates, fixed-length character attributes for storing their value.</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The data for variable-length attributes such as </a:t>
            </a:r>
            <a:r>
              <a:rPr lang="en-US" sz="2600" dirty="0" err="1">
                <a:solidFill>
                  <a:schemeClr val="tx1"/>
                </a:solidFill>
                <a:latin typeface="Times New Roman" pitchFamily="18" charset="0"/>
                <a:cs typeface="Times New Roman" pitchFamily="18" charset="0"/>
              </a:rPr>
              <a:t>varchar</a:t>
            </a:r>
            <a:r>
              <a:rPr lang="en-US" sz="2600" dirty="0">
                <a:solidFill>
                  <a:schemeClr val="tx1"/>
                </a:solidFill>
                <a:latin typeface="Times New Roman" pitchFamily="18" charset="0"/>
                <a:cs typeface="Times New Roman" pitchFamily="18" charset="0"/>
              </a:rPr>
              <a:t> type is represented in the initial part of the record by (offset, length) pair. The offset refers to the place where that record begins, and length refers to the length of the variable-size attribute. Thus, the initial part stores fixed-size information about each attribute, i.e., whether it is the fixed-length or variable-length attribute.</a:t>
            </a:r>
            <a:endParaRPr lang="en-US" sz="22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7484500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File organization is a way of organizing the data in such way so that it is easier to insert, delete, modify and retrieve data from the files.</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method of mapping file records to disk </a:t>
            </a:r>
            <a:r>
              <a:rPr lang="en-US" sz="2800" dirty="0" smtClean="0">
                <a:solidFill>
                  <a:schemeClr val="tx1"/>
                </a:solidFill>
                <a:latin typeface="Times New Roman" pitchFamily="18" charset="0"/>
                <a:cs typeface="Times New Roman" pitchFamily="18" charset="0"/>
              </a:rPr>
              <a:t>blocks defines </a:t>
            </a:r>
            <a:r>
              <a:rPr lang="en-US" sz="2800" dirty="0">
                <a:solidFill>
                  <a:schemeClr val="tx1"/>
                </a:solidFill>
                <a:latin typeface="Times New Roman" pitchFamily="18" charset="0"/>
                <a:cs typeface="Times New Roman" pitchFamily="18" charset="0"/>
              </a:rPr>
              <a:t>file organization, i.e. how the file records </a:t>
            </a:r>
            <a:r>
              <a:rPr lang="en-US" sz="2800" dirty="0" smtClean="0">
                <a:solidFill>
                  <a:schemeClr val="tx1"/>
                </a:solidFill>
                <a:latin typeface="Times New Roman" pitchFamily="18" charset="0"/>
                <a:cs typeface="Times New Roman" pitchFamily="18" charset="0"/>
              </a:rPr>
              <a:t>are organized.</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File Organization refers to the logical relationships among various records that constitute the file, particularly with respect to the means of identification and access to any specific record</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 </a:t>
            </a:r>
            <a:r>
              <a:rPr lang="en-US" sz="2800" dirty="0">
                <a:solidFill>
                  <a:schemeClr val="tx1"/>
                </a:solidFill>
                <a:latin typeface="Times New Roman" pitchFamily="18" charset="0"/>
                <a:cs typeface="Times New Roman" pitchFamily="18" charset="0"/>
              </a:rPr>
              <a:t>In simple terms, Storing the files in a certain order is called File Organization. </a:t>
            </a:r>
          </a:p>
          <a:p>
            <a:pPr marL="457200" indent="-457200" algn="just">
              <a:buClr>
                <a:schemeClr val="tx1"/>
              </a:buClr>
              <a:buSzPct val="71000"/>
              <a:buFont typeface="Wingdings" panose="05000000000000000000" pitchFamily="2" charset="2"/>
              <a:buChar char="v"/>
            </a:pP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2639628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a:solidFill>
                  <a:schemeClr val="tx1"/>
                </a:solidFill>
                <a:latin typeface="Times New Roman" pitchFamily="18" charset="0"/>
                <a:cs typeface="Times New Roman" pitchFamily="18" charset="0"/>
              </a:rPr>
              <a:t>The Objective of File Organization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It helps in the faster selection of records i.e. it makes the process faster.</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Different Operations like inserting, deleting, and update on different records are faster and easier.</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It prevents us from inserting duplicate records via various operations.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It helps in storing the records or the data very efficiently at a minimal cost</a:t>
            </a:r>
          </a:p>
        </p:txBody>
      </p:sp>
    </p:spTree>
    <p:extLst>
      <p:ext uri="{BB962C8B-B14F-4D97-AF65-F5344CB8AC3E}">
        <p14:creationId xmlns:p14="http://schemas.microsoft.com/office/powerpoint/2010/main" val="16488598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a:solidFill>
                  <a:schemeClr val="tx1"/>
                </a:solidFill>
                <a:latin typeface="Times New Roman" pitchFamily="18" charset="0"/>
                <a:cs typeface="Times New Roman" pitchFamily="18" charset="0"/>
              </a:rPr>
              <a:t>Types of File </a:t>
            </a:r>
            <a:r>
              <a:rPr lang="en-US" sz="2800" b="1" dirty="0" smtClean="0">
                <a:solidFill>
                  <a:schemeClr val="tx1"/>
                </a:solidFill>
                <a:latin typeface="Times New Roman" pitchFamily="18" charset="0"/>
                <a:cs typeface="Times New Roman" pitchFamily="18" charset="0"/>
              </a:rPr>
              <a:t>Organizations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Sequential File Organization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Heap File Organization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Hash File Organization </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Clustered </a:t>
            </a:r>
            <a:r>
              <a:rPr lang="en-US" sz="2800" dirty="0">
                <a:solidFill>
                  <a:schemeClr val="tx1"/>
                </a:solidFill>
                <a:latin typeface="Times New Roman" pitchFamily="18" charset="0"/>
                <a:cs typeface="Times New Roman" pitchFamily="18" charset="0"/>
              </a:rPr>
              <a:t>File Organization</a:t>
            </a:r>
          </a:p>
        </p:txBody>
      </p:sp>
    </p:spTree>
    <p:extLst>
      <p:ext uri="{BB962C8B-B14F-4D97-AF65-F5344CB8AC3E}">
        <p14:creationId xmlns:p14="http://schemas.microsoft.com/office/powerpoint/2010/main" val="13738407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a:solidFill>
                  <a:schemeClr val="tx1"/>
                </a:solidFill>
                <a:latin typeface="Times New Roman" pitchFamily="18" charset="0"/>
                <a:cs typeface="Times New Roman" pitchFamily="18" charset="0"/>
              </a:rPr>
              <a:t>Sequential File Organization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easiest method for file Organization is the Sequential method. In this method, the file is stored one after another in a sequential manner.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There </a:t>
            </a:r>
            <a:r>
              <a:rPr lang="en-US" sz="2800" dirty="0">
                <a:solidFill>
                  <a:schemeClr val="tx1"/>
                </a:solidFill>
                <a:latin typeface="Times New Roman" pitchFamily="18" charset="0"/>
                <a:cs typeface="Times New Roman" pitchFamily="18" charset="0"/>
              </a:rPr>
              <a:t>are two ways to implement this method</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Pile </a:t>
            </a:r>
            <a:r>
              <a:rPr lang="en-US" sz="2600" b="1" dirty="0">
                <a:solidFill>
                  <a:schemeClr val="tx1"/>
                </a:solidFill>
                <a:latin typeface="Times New Roman" pitchFamily="18" charset="0"/>
                <a:cs typeface="Times New Roman" pitchFamily="18" charset="0"/>
              </a:rPr>
              <a:t>File </a:t>
            </a:r>
            <a:r>
              <a:rPr lang="en-US" sz="2600" b="1" dirty="0" smtClean="0">
                <a:solidFill>
                  <a:schemeClr val="tx1"/>
                </a:solidFill>
                <a:latin typeface="Times New Roman" pitchFamily="18" charset="0"/>
                <a:cs typeface="Times New Roman" pitchFamily="18" charset="0"/>
              </a:rPr>
              <a:t>Method</a:t>
            </a:r>
          </a:p>
          <a:p>
            <a:pPr marL="914389" lvl="1" indent="-457200" algn="just">
              <a:buClr>
                <a:schemeClr val="tx1"/>
              </a:buClr>
              <a:buSzPct val="71000"/>
              <a:buFont typeface="Wingdings" panose="05000000000000000000" pitchFamily="2" charset="2"/>
              <a:buChar char="v"/>
            </a:pPr>
            <a:r>
              <a:rPr lang="en-US" sz="2600" b="1" dirty="0">
                <a:solidFill>
                  <a:schemeClr val="tx1"/>
                </a:solidFill>
                <a:latin typeface="Times New Roman" pitchFamily="18" charset="0"/>
                <a:cs typeface="Times New Roman" pitchFamily="18" charset="0"/>
              </a:rPr>
              <a:t> Sorted File Method</a:t>
            </a:r>
          </a:p>
        </p:txBody>
      </p:sp>
    </p:spTree>
    <p:extLst>
      <p:ext uri="{BB962C8B-B14F-4D97-AF65-F5344CB8AC3E}">
        <p14:creationId xmlns:p14="http://schemas.microsoft.com/office/powerpoint/2010/main" val="4534568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a:solidFill>
                  <a:schemeClr val="tx1"/>
                </a:solidFill>
                <a:latin typeface="Times New Roman" pitchFamily="18" charset="0"/>
                <a:cs typeface="Times New Roman" pitchFamily="18" charset="0"/>
              </a:rPr>
              <a:t>Sequential File </a:t>
            </a:r>
            <a:r>
              <a:rPr lang="en-US" sz="2800" b="1" dirty="0" smtClean="0">
                <a:solidFill>
                  <a:schemeClr val="tx1"/>
                </a:solidFill>
                <a:latin typeface="Times New Roman" pitchFamily="18" charset="0"/>
                <a:cs typeface="Times New Roman" pitchFamily="18" charset="0"/>
              </a:rPr>
              <a:t>Organization</a:t>
            </a:r>
          </a:p>
          <a:p>
            <a:pPr marL="514350" indent="-514350" algn="just">
              <a:buClr>
                <a:schemeClr val="tx1"/>
              </a:buClr>
              <a:buSzPct val="71000"/>
              <a:buAutoNum type="arabicPeriod"/>
            </a:pPr>
            <a:r>
              <a:rPr lang="en-US" sz="2600" b="1" dirty="0" smtClean="0">
                <a:solidFill>
                  <a:schemeClr val="tx1"/>
                </a:solidFill>
                <a:latin typeface="Times New Roman" pitchFamily="18" charset="0"/>
                <a:cs typeface="Times New Roman" pitchFamily="18" charset="0"/>
              </a:rPr>
              <a:t>Pile </a:t>
            </a:r>
            <a:r>
              <a:rPr lang="en-US" sz="2600" b="1" dirty="0">
                <a:solidFill>
                  <a:schemeClr val="tx1"/>
                </a:solidFill>
                <a:latin typeface="Times New Roman" pitchFamily="18" charset="0"/>
                <a:cs typeface="Times New Roman" pitchFamily="18" charset="0"/>
              </a:rPr>
              <a:t>File </a:t>
            </a:r>
            <a:r>
              <a:rPr lang="en-US" sz="2600" b="1" dirty="0" smtClean="0">
                <a:solidFill>
                  <a:schemeClr val="tx1"/>
                </a:solidFill>
                <a:latin typeface="Times New Roman" pitchFamily="18" charset="0"/>
                <a:cs typeface="Times New Roman" pitchFamily="18" charset="0"/>
              </a:rPr>
              <a:t>Method</a:t>
            </a:r>
          </a:p>
          <a:p>
            <a:pPr marL="800089" lvl="1" indent="-342900" algn="just">
              <a:buClr>
                <a:schemeClr val="tx1"/>
              </a:buClr>
              <a:buSzPct val="71000"/>
              <a:buFont typeface="Wingdings" pitchFamily="2" charset="2"/>
              <a:buChar char="v"/>
            </a:pPr>
            <a:r>
              <a:rPr lang="en-US" sz="2200" dirty="0" smtClean="0">
                <a:solidFill>
                  <a:schemeClr val="tx1"/>
                </a:solidFill>
                <a:latin typeface="Times New Roman" pitchFamily="18" charset="0"/>
                <a:cs typeface="Times New Roman" pitchFamily="18" charset="0"/>
              </a:rPr>
              <a:t>This </a:t>
            </a:r>
            <a:r>
              <a:rPr lang="en-US" sz="2200" dirty="0">
                <a:solidFill>
                  <a:schemeClr val="tx1"/>
                </a:solidFill>
                <a:latin typeface="Times New Roman" pitchFamily="18" charset="0"/>
                <a:cs typeface="Times New Roman" pitchFamily="18" charset="0"/>
              </a:rPr>
              <a:t>method is quite simple, in which we store the records in a sequence i.e. one after the other in the order in which they are inserted into the tables. </a:t>
            </a:r>
          </a:p>
        </p:txBody>
      </p:sp>
      <p:sp>
        <p:nvSpPr>
          <p:cNvPr id="4" name="AutoShape 2" descr="Lightbo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Lightbox"/>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6474" y="3620969"/>
            <a:ext cx="5659604"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62947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a:solidFill>
                  <a:schemeClr val="tx1"/>
                </a:solidFill>
                <a:latin typeface="Times New Roman" pitchFamily="18" charset="0"/>
                <a:cs typeface="Times New Roman" pitchFamily="18" charset="0"/>
              </a:rPr>
              <a:t>Sequential File </a:t>
            </a:r>
            <a:r>
              <a:rPr lang="en-US" sz="2800" b="1" dirty="0" smtClean="0">
                <a:solidFill>
                  <a:schemeClr val="tx1"/>
                </a:solidFill>
                <a:latin typeface="Times New Roman" pitchFamily="18" charset="0"/>
                <a:cs typeface="Times New Roman" pitchFamily="18" charset="0"/>
              </a:rPr>
              <a:t>Organization</a:t>
            </a:r>
          </a:p>
          <a:p>
            <a:pPr marL="514350" indent="-514350" algn="just">
              <a:buClr>
                <a:schemeClr val="tx1"/>
              </a:buClr>
              <a:buSzPct val="71000"/>
              <a:buAutoNum type="arabicPeriod"/>
            </a:pPr>
            <a:r>
              <a:rPr lang="en-US" sz="2600" b="1" dirty="0" smtClean="0">
                <a:solidFill>
                  <a:schemeClr val="tx1"/>
                </a:solidFill>
                <a:latin typeface="Times New Roman" pitchFamily="18" charset="0"/>
                <a:cs typeface="Times New Roman" pitchFamily="18" charset="0"/>
              </a:rPr>
              <a:t>Pile </a:t>
            </a:r>
            <a:r>
              <a:rPr lang="en-US" sz="2600" b="1" dirty="0">
                <a:solidFill>
                  <a:schemeClr val="tx1"/>
                </a:solidFill>
                <a:latin typeface="Times New Roman" pitchFamily="18" charset="0"/>
                <a:cs typeface="Times New Roman" pitchFamily="18" charset="0"/>
              </a:rPr>
              <a:t>File </a:t>
            </a:r>
            <a:r>
              <a:rPr lang="en-US" sz="2600" b="1" dirty="0" smtClean="0">
                <a:solidFill>
                  <a:schemeClr val="tx1"/>
                </a:solidFill>
                <a:latin typeface="Times New Roman" pitchFamily="18" charset="0"/>
                <a:cs typeface="Times New Roman" pitchFamily="18" charset="0"/>
              </a:rPr>
              <a:t>Method</a:t>
            </a:r>
          </a:p>
          <a:p>
            <a:pPr marL="800089" lvl="1" indent="-342900" algn="just">
              <a:buClr>
                <a:schemeClr val="tx1"/>
              </a:buClr>
              <a:buSzPct val="71000"/>
              <a:buFont typeface="Wingdings" pitchFamily="2" charset="2"/>
              <a:buChar char="v"/>
            </a:pPr>
            <a:r>
              <a:rPr lang="en-US" sz="2200" dirty="0">
                <a:solidFill>
                  <a:schemeClr val="tx1"/>
                </a:solidFill>
                <a:latin typeface="Times New Roman" pitchFamily="18" charset="0"/>
                <a:cs typeface="Times New Roman" pitchFamily="18" charset="0"/>
              </a:rPr>
              <a:t>Insertion of the new record: Let the </a:t>
            </a:r>
            <a:r>
              <a:rPr lang="en-US" sz="2200" dirty="0" err="1">
                <a:solidFill>
                  <a:schemeClr val="tx1"/>
                </a:solidFill>
                <a:latin typeface="Times New Roman" pitchFamily="18" charset="0"/>
                <a:cs typeface="Times New Roman" pitchFamily="18" charset="0"/>
              </a:rPr>
              <a:t>R1</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R3</a:t>
            </a:r>
            <a:r>
              <a:rPr lang="en-US" sz="2200" dirty="0">
                <a:solidFill>
                  <a:schemeClr val="tx1"/>
                </a:solidFill>
                <a:latin typeface="Times New Roman" pitchFamily="18" charset="0"/>
                <a:cs typeface="Times New Roman" pitchFamily="18" charset="0"/>
              </a:rPr>
              <a:t>, and so on up to </a:t>
            </a:r>
            <a:r>
              <a:rPr lang="en-US" sz="2200" dirty="0" err="1">
                <a:solidFill>
                  <a:schemeClr val="tx1"/>
                </a:solidFill>
                <a:latin typeface="Times New Roman" pitchFamily="18" charset="0"/>
                <a:cs typeface="Times New Roman" pitchFamily="18" charset="0"/>
              </a:rPr>
              <a:t>R5</a:t>
            </a:r>
            <a:r>
              <a:rPr lang="en-US" sz="2200" dirty="0">
                <a:solidFill>
                  <a:schemeClr val="tx1"/>
                </a:solidFill>
                <a:latin typeface="Times New Roman" pitchFamily="18" charset="0"/>
                <a:cs typeface="Times New Roman" pitchFamily="18" charset="0"/>
              </a:rPr>
              <a:t> and </a:t>
            </a:r>
            <a:r>
              <a:rPr lang="en-US" sz="2200" dirty="0" err="1">
                <a:solidFill>
                  <a:schemeClr val="tx1"/>
                </a:solidFill>
                <a:latin typeface="Times New Roman" pitchFamily="18" charset="0"/>
                <a:cs typeface="Times New Roman" pitchFamily="18" charset="0"/>
              </a:rPr>
              <a:t>R4</a:t>
            </a:r>
            <a:r>
              <a:rPr lang="en-US" sz="2200" dirty="0">
                <a:solidFill>
                  <a:schemeClr val="tx1"/>
                </a:solidFill>
                <a:latin typeface="Times New Roman" pitchFamily="18" charset="0"/>
                <a:cs typeface="Times New Roman" pitchFamily="18" charset="0"/>
              </a:rPr>
              <a:t> be four records in the sequence. Here, records are nothing but a row in any table. Suppose a new record </a:t>
            </a:r>
            <a:r>
              <a:rPr lang="en-US" sz="2200" dirty="0" err="1">
                <a:solidFill>
                  <a:schemeClr val="tx1"/>
                </a:solidFill>
                <a:latin typeface="Times New Roman" pitchFamily="18" charset="0"/>
                <a:cs typeface="Times New Roman" pitchFamily="18" charset="0"/>
              </a:rPr>
              <a:t>R2</a:t>
            </a:r>
            <a:r>
              <a:rPr lang="en-US" sz="2200" dirty="0">
                <a:solidFill>
                  <a:schemeClr val="tx1"/>
                </a:solidFill>
                <a:latin typeface="Times New Roman" pitchFamily="18" charset="0"/>
                <a:cs typeface="Times New Roman" pitchFamily="18" charset="0"/>
              </a:rPr>
              <a:t> has to be inserted in the sequence, then it is simply placed at the end of the file. </a:t>
            </a:r>
          </a:p>
        </p:txBody>
      </p:sp>
      <p:sp>
        <p:nvSpPr>
          <p:cNvPr id="4" name="AutoShape 2" descr="Lightbo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Lightbox"/>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2" descr="Lightbox"/>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9176" y="4114767"/>
            <a:ext cx="6408502" cy="230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142205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a:solidFill>
                  <a:schemeClr val="tx1"/>
                </a:solidFill>
                <a:latin typeface="Times New Roman" pitchFamily="18" charset="0"/>
                <a:cs typeface="Times New Roman" pitchFamily="18" charset="0"/>
              </a:rPr>
              <a:t>Sequential File </a:t>
            </a:r>
            <a:r>
              <a:rPr lang="en-US" sz="2800" b="1" dirty="0" smtClean="0">
                <a:solidFill>
                  <a:schemeClr val="tx1"/>
                </a:solidFill>
                <a:latin typeface="Times New Roman" pitchFamily="18" charset="0"/>
                <a:cs typeface="Times New Roman" pitchFamily="18" charset="0"/>
              </a:rPr>
              <a:t>Organization</a:t>
            </a:r>
          </a:p>
          <a:p>
            <a:pPr algn="just">
              <a:buClr>
                <a:schemeClr val="tx1"/>
              </a:buClr>
              <a:buSzPct val="71000"/>
            </a:pPr>
            <a:r>
              <a:rPr lang="en-US" sz="2600" b="1" dirty="0" smtClean="0">
                <a:solidFill>
                  <a:schemeClr val="tx1"/>
                </a:solidFill>
                <a:latin typeface="Times New Roman" pitchFamily="18" charset="0"/>
                <a:cs typeface="Times New Roman" pitchFamily="18" charset="0"/>
              </a:rPr>
              <a:t>2. Sorted </a:t>
            </a:r>
            <a:r>
              <a:rPr lang="en-US" sz="2600" b="1" dirty="0">
                <a:solidFill>
                  <a:schemeClr val="tx1"/>
                </a:solidFill>
                <a:latin typeface="Times New Roman" pitchFamily="18" charset="0"/>
                <a:cs typeface="Times New Roman" pitchFamily="18" charset="0"/>
              </a:rPr>
              <a:t>File </a:t>
            </a:r>
            <a:r>
              <a:rPr lang="en-US" sz="2600" b="1" dirty="0" smtClean="0">
                <a:solidFill>
                  <a:schemeClr val="tx1"/>
                </a:solidFill>
                <a:latin typeface="Times New Roman" pitchFamily="18" charset="0"/>
                <a:cs typeface="Times New Roman" pitchFamily="18" charset="0"/>
              </a:rPr>
              <a:t>Method</a:t>
            </a:r>
          </a:p>
          <a:p>
            <a:pPr marL="342900" indent="-342900" algn="just">
              <a:buClr>
                <a:schemeClr val="tx1"/>
              </a:buClr>
              <a:buSzPct val="71000"/>
              <a:buFont typeface="Wingdings" pitchFamily="2" charset="2"/>
              <a:buChar char="v"/>
            </a:pPr>
            <a:r>
              <a:rPr lang="en-US" sz="2200" dirty="0">
                <a:solidFill>
                  <a:schemeClr val="tx1"/>
                </a:solidFill>
                <a:latin typeface="Times New Roman" pitchFamily="18" charset="0"/>
                <a:cs typeface="Times New Roman" pitchFamily="18" charset="0"/>
              </a:rPr>
              <a:t>In this method, As the name itself suggests whenever a new record has to be inserted, it is always inserted in a sorted (ascending or descending) manner. The sorting of records may be based on any primary key or any other key. </a:t>
            </a:r>
          </a:p>
        </p:txBody>
      </p:sp>
      <p:sp>
        <p:nvSpPr>
          <p:cNvPr id="4" name="AutoShape 2" descr="Lightbo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Lightbox"/>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2" descr="Lightbox"/>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179" y="3752969"/>
            <a:ext cx="6067425"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94256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a:solidFill>
                  <a:schemeClr val="tx1"/>
                </a:solidFill>
                <a:latin typeface="Times New Roman" pitchFamily="18" charset="0"/>
                <a:cs typeface="Times New Roman" pitchFamily="18" charset="0"/>
              </a:rPr>
              <a:t>Sequential File </a:t>
            </a:r>
            <a:r>
              <a:rPr lang="en-US" sz="2800" b="1" dirty="0" smtClean="0">
                <a:solidFill>
                  <a:schemeClr val="tx1"/>
                </a:solidFill>
                <a:latin typeface="Times New Roman" pitchFamily="18" charset="0"/>
                <a:cs typeface="Times New Roman" pitchFamily="18" charset="0"/>
              </a:rPr>
              <a:t>Organization</a:t>
            </a:r>
          </a:p>
          <a:p>
            <a:pPr algn="just">
              <a:buClr>
                <a:schemeClr val="tx1"/>
              </a:buClr>
              <a:buSzPct val="71000"/>
            </a:pPr>
            <a:r>
              <a:rPr lang="en-US" sz="2600" b="1" dirty="0" smtClean="0">
                <a:solidFill>
                  <a:schemeClr val="tx1"/>
                </a:solidFill>
                <a:latin typeface="Times New Roman" pitchFamily="18" charset="0"/>
                <a:cs typeface="Times New Roman" pitchFamily="18" charset="0"/>
              </a:rPr>
              <a:t>2. Sorted </a:t>
            </a:r>
            <a:r>
              <a:rPr lang="en-US" sz="2600" b="1" dirty="0">
                <a:solidFill>
                  <a:schemeClr val="tx1"/>
                </a:solidFill>
                <a:latin typeface="Times New Roman" pitchFamily="18" charset="0"/>
                <a:cs typeface="Times New Roman" pitchFamily="18" charset="0"/>
              </a:rPr>
              <a:t>File </a:t>
            </a:r>
            <a:r>
              <a:rPr lang="en-US" sz="2600" b="1" dirty="0" smtClean="0">
                <a:solidFill>
                  <a:schemeClr val="tx1"/>
                </a:solidFill>
                <a:latin typeface="Times New Roman" pitchFamily="18" charset="0"/>
                <a:cs typeface="Times New Roman" pitchFamily="18" charset="0"/>
              </a:rPr>
              <a:t>Method</a:t>
            </a:r>
          </a:p>
          <a:p>
            <a:pPr marL="342900" indent="-342900" algn="just">
              <a:buClr>
                <a:schemeClr val="tx1"/>
              </a:buClr>
              <a:buSzPct val="71000"/>
              <a:buFont typeface="Wingdings" pitchFamily="2" charset="2"/>
              <a:buChar char="v"/>
            </a:pPr>
            <a:r>
              <a:rPr lang="en-US" sz="2200" dirty="0">
                <a:solidFill>
                  <a:schemeClr val="tx1"/>
                </a:solidFill>
                <a:latin typeface="Times New Roman" pitchFamily="18" charset="0"/>
                <a:cs typeface="Times New Roman" pitchFamily="18" charset="0"/>
              </a:rPr>
              <a:t>Insertion of the new record: Let us assume that there is a preexisting sorted sequence of four records </a:t>
            </a:r>
            <a:r>
              <a:rPr lang="en-US" sz="2200" dirty="0" err="1">
                <a:solidFill>
                  <a:schemeClr val="tx1"/>
                </a:solidFill>
                <a:latin typeface="Times New Roman" pitchFamily="18" charset="0"/>
                <a:cs typeface="Times New Roman" pitchFamily="18" charset="0"/>
              </a:rPr>
              <a:t>R1</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R3</a:t>
            </a:r>
            <a:r>
              <a:rPr lang="en-US" sz="2200" dirty="0">
                <a:solidFill>
                  <a:schemeClr val="tx1"/>
                </a:solidFill>
                <a:latin typeface="Times New Roman" pitchFamily="18" charset="0"/>
                <a:cs typeface="Times New Roman" pitchFamily="18" charset="0"/>
              </a:rPr>
              <a:t>, and so on up to </a:t>
            </a:r>
            <a:r>
              <a:rPr lang="en-US" sz="2200" dirty="0" err="1">
                <a:solidFill>
                  <a:schemeClr val="tx1"/>
                </a:solidFill>
                <a:latin typeface="Times New Roman" pitchFamily="18" charset="0"/>
                <a:cs typeface="Times New Roman" pitchFamily="18" charset="0"/>
              </a:rPr>
              <a:t>R7</a:t>
            </a:r>
            <a:r>
              <a:rPr lang="en-US" sz="2200" dirty="0">
                <a:solidFill>
                  <a:schemeClr val="tx1"/>
                </a:solidFill>
                <a:latin typeface="Times New Roman" pitchFamily="18" charset="0"/>
                <a:cs typeface="Times New Roman" pitchFamily="18" charset="0"/>
              </a:rPr>
              <a:t> and </a:t>
            </a:r>
            <a:r>
              <a:rPr lang="en-US" sz="2200" dirty="0" err="1">
                <a:solidFill>
                  <a:schemeClr val="tx1"/>
                </a:solidFill>
                <a:latin typeface="Times New Roman" pitchFamily="18" charset="0"/>
                <a:cs typeface="Times New Roman" pitchFamily="18" charset="0"/>
              </a:rPr>
              <a:t>R8</a:t>
            </a:r>
            <a:r>
              <a:rPr lang="en-US" sz="2200" dirty="0">
                <a:solidFill>
                  <a:schemeClr val="tx1"/>
                </a:solidFill>
                <a:latin typeface="Times New Roman" pitchFamily="18" charset="0"/>
                <a:cs typeface="Times New Roman" pitchFamily="18" charset="0"/>
              </a:rPr>
              <a:t>. Suppose a new record </a:t>
            </a:r>
            <a:r>
              <a:rPr lang="en-US" sz="2200" dirty="0" err="1">
                <a:solidFill>
                  <a:schemeClr val="tx1"/>
                </a:solidFill>
                <a:latin typeface="Times New Roman" pitchFamily="18" charset="0"/>
                <a:cs typeface="Times New Roman" pitchFamily="18" charset="0"/>
              </a:rPr>
              <a:t>R2</a:t>
            </a:r>
            <a:r>
              <a:rPr lang="en-US" sz="2200" dirty="0">
                <a:solidFill>
                  <a:schemeClr val="tx1"/>
                </a:solidFill>
                <a:latin typeface="Times New Roman" pitchFamily="18" charset="0"/>
                <a:cs typeface="Times New Roman" pitchFamily="18" charset="0"/>
              </a:rPr>
              <a:t> has to be inserted in the sequence, then it will be inserted at the end of the file and then it will sort the sequence. </a:t>
            </a:r>
          </a:p>
          <a:p>
            <a:pPr marL="342900" indent="-342900" algn="just">
              <a:buClr>
                <a:schemeClr val="tx1"/>
              </a:buClr>
              <a:buSzPct val="71000"/>
              <a:buFont typeface="Wingdings" pitchFamily="2" charset="2"/>
              <a:buChar char="v"/>
            </a:pPr>
            <a:endParaRPr lang="en-US" sz="2200" dirty="0">
              <a:solidFill>
                <a:schemeClr val="tx1"/>
              </a:solidFill>
              <a:latin typeface="Times New Roman" pitchFamily="18" charset="0"/>
              <a:cs typeface="Times New Roman" pitchFamily="18" charset="0"/>
            </a:endParaRPr>
          </a:p>
        </p:txBody>
      </p:sp>
      <p:sp>
        <p:nvSpPr>
          <p:cNvPr id="4" name="AutoShape 2" descr="Lightbo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Lightbox"/>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2" descr="Lightbox"/>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8358" y="4193251"/>
            <a:ext cx="6141493" cy="197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71325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Sequential File </a:t>
            </a:r>
            <a:r>
              <a:rPr lang="en-US" sz="2800" b="1" dirty="0">
                <a:solidFill>
                  <a:schemeClr val="tx1"/>
                </a:solidFill>
                <a:latin typeface="Times New Roman" pitchFamily="18" charset="0"/>
                <a:cs typeface="Times New Roman" pitchFamily="18" charset="0"/>
              </a:rPr>
              <a:t>Organization</a:t>
            </a:r>
          </a:p>
          <a:p>
            <a:pPr algn="just">
              <a:buClr>
                <a:schemeClr val="tx1"/>
              </a:buClr>
              <a:buSzPct val="71000"/>
            </a:pPr>
            <a:r>
              <a:rPr lang="en-US" sz="2800" b="1" dirty="0">
                <a:solidFill>
                  <a:schemeClr val="tx1"/>
                </a:solidFill>
                <a:latin typeface="Times New Roman" pitchFamily="18" charset="0"/>
                <a:cs typeface="Times New Roman" pitchFamily="18" charset="0"/>
              </a:rPr>
              <a:t>Advantages of  Sequential File Organization</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Fast and efficient method for huge amounts of data.</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Simple design.</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Files can be easily stored in magnetic tapes i.e. cheaper storage mechanism</a:t>
            </a:r>
            <a:r>
              <a:rPr lang="en-US" sz="2600" dirty="0" smtClean="0">
                <a:solidFill>
                  <a:schemeClr val="tx1"/>
                </a:solidFill>
                <a:latin typeface="Times New Roman" pitchFamily="18" charset="0"/>
                <a:cs typeface="Times New Roman" pitchFamily="18" charset="0"/>
              </a:rPr>
              <a:t>.</a:t>
            </a:r>
            <a:endParaRPr lang="en-US" sz="2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822696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Sequential File </a:t>
            </a:r>
            <a:r>
              <a:rPr lang="en-US" sz="2800" b="1" dirty="0">
                <a:solidFill>
                  <a:schemeClr val="tx1"/>
                </a:solidFill>
                <a:latin typeface="Times New Roman" pitchFamily="18" charset="0"/>
                <a:cs typeface="Times New Roman" pitchFamily="18" charset="0"/>
              </a:rPr>
              <a:t>Organization</a:t>
            </a:r>
          </a:p>
          <a:p>
            <a:pPr marL="457200" indent="-457200" algn="just">
              <a:buClr>
                <a:schemeClr val="tx1"/>
              </a:buClr>
              <a:buSzPct val="71000"/>
              <a:buFont typeface="Wingdings" panose="05000000000000000000" pitchFamily="2" charset="2"/>
              <a:buChar char="v"/>
            </a:pPr>
            <a:r>
              <a:rPr lang="en-US" sz="2800" b="1" dirty="0" smtClean="0">
                <a:solidFill>
                  <a:schemeClr val="tx1"/>
                </a:solidFill>
                <a:latin typeface="Times New Roman" pitchFamily="18" charset="0"/>
                <a:cs typeface="Times New Roman" pitchFamily="18" charset="0"/>
              </a:rPr>
              <a:t>Disadvantages </a:t>
            </a:r>
            <a:r>
              <a:rPr lang="en-US" sz="2800" b="1" dirty="0">
                <a:solidFill>
                  <a:schemeClr val="tx1"/>
                </a:solidFill>
                <a:latin typeface="Times New Roman" pitchFamily="18" charset="0"/>
                <a:cs typeface="Times New Roman" pitchFamily="18" charset="0"/>
              </a:rPr>
              <a:t>of  Sequential File Organization</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Time wastage as we cannot jump on a particular record that is required, but we have to move in a sequential manner which takes our time.</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The sorted file method is inefficient as it takes time and space for sorting records. </a:t>
            </a:r>
            <a:endParaRPr lang="en-US" sz="2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9798698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Heap File </a:t>
            </a:r>
            <a:r>
              <a:rPr lang="en-US" sz="2800" b="1" dirty="0">
                <a:solidFill>
                  <a:schemeClr val="tx1"/>
                </a:solidFill>
                <a:latin typeface="Times New Roman" pitchFamily="18" charset="0"/>
                <a:cs typeface="Times New Roman" pitchFamily="18" charset="0"/>
              </a:rPr>
              <a:t>Organization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Heap File Organization works with data blocks. In this method, records are inserted at the end of the file, into the data blocks.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No </a:t>
            </a:r>
            <a:r>
              <a:rPr lang="en-US" sz="2800" dirty="0">
                <a:solidFill>
                  <a:schemeClr val="tx1"/>
                </a:solidFill>
                <a:latin typeface="Times New Roman" pitchFamily="18" charset="0"/>
                <a:cs typeface="Times New Roman" pitchFamily="18" charset="0"/>
              </a:rPr>
              <a:t>Sorting or Ordering is required in this method.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If </a:t>
            </a:r>
            <a:r>
              <a:rPr lang="en-US" sz="2800" dirty="0">
                <a:solidFill>
                  <a:schemeClr val="tx1"/>
                </a:solidFill>
                <a:latin typeface="Times New Roman" pitchFamily="18" charset="0"/>
                <a:cs typeface="Times New Roman" pitchFamily="18" charset="0"/>
              </a:rPr>
              <a:t>a data block is full, the new record is stored in some other block, Here the other data block need not be the very next data block, but it can be any block in the memory.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It </a:t>
            </a:r>
            <a:r>
              <a:rPr lang="en-US" sz="2800" dirty="0">
                <a:solidFill>
                  <a:schemeClr val="tx1"/>
                </a:solidFill>
                <a:latin typeface="Times New Roman" pitchFamily="18" charset="0"/>
                <a:cs typeface="Times New Roman" pitchFamily="18" charset="0"/>
              </a:rPr>
              <a:t>is the responsibility of DBMS to store and manage the new records. </a:t>
            </a:r>
            <a:endParaRPr lang="en-US" sz="2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9333641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Heap File Organization</a:t>
            </a:r>
            <a:endParaRPr lang="en-US" sz="2800" b="1" dirty="0">
              <a:solidFill>
                <a:schemeClr val="tx1"/>
              </a:solidFill>
              <a:latin typeface="Times New Roman" pitchFamily="18" charset="0"/>
              <a:cs typeface="Times New Roman" pitchFamily="18" charset="0"/>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7857" y="2060467"/>
            <a:ext cx="7615450" cy="3975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7776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Heap File </a:t>
            </a:r>
            <a:r>
              <a:rPr lang="en-US" sz="2800" b="1" dirty="0">
                <a:solidFill>
                  <a:schemeClr val="tx1"/>
                </a:solidFill>
                <a:latin typeface="Times New Roman" pitchFamily="18" charset="0"/>
                <a:cs typeface="Times New Roman" pitchFamily="18" charset="0"/>
              </a:rPr>
              <a:t>Organization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Insertion of the new record: Suppose we have four records in the heap </a:t>
            </a:r>
            <a:r>
              <a:rPr lang="en-US" sz="2800" dirty="0" err="1">
                <a:solidFill>
                  <a:schemeClr val="tx1"/>
                </a:solidFill>
                <a:latin typeface="Times New Roman" pitchFamily="18" charset="0"/>
                <a:cs typeface="Times New Roman" pitchFamily="18" charset="0"/>
              </a:rPr>
              <a:t>R1</a:t>
            </a:r>
            <a:r>
              <a:rPr lang="en-US" sz="2800" dirty="0">
                <a:solidFill>
                  <a:schemeClr val="tx1"/>
                </a:solidFill>
                <a:latin typeface="Times New Roman" pitchFamily="18" charset="0"/>
                <a:cs typeface="Times New Roman" pitchFamily="18" charset="0"/>
              </a:rPr>
              <a:t>, </a:t>
            </a:r>
            <a:r>
              <a:rPr lang="en-US" sz="2800" dirty="0" err="1">
                <a:solidFill>
                  <a:schemeClr val="tx1"/>
                </a:solidFill>
                <a:latin typeface="Times New Roman" pitchFamily="18" charset="0"/>
                <a:cs typeface="Times New Roman" pitchFamily="18" charset="0"/>
              </a:rPr>
              <a:t>R5</a:t>
            </a:r>
            <a:r>
              <a:rPr lang="en-US" sz="2800" dirty="0">
                <a:solidFill>
                  <a:schemeClr val="tx1"/>
                </a:solidFill>
                <a:latin typeface="Times New Roman" pitchFamily="18" charset="0"/>
                <a:cs typeface="Times New Roman" pitchFamily="18" charset="0"/>
              </a:rPr>
              <a:t>, </a:t>
            </a:r>
            <a:r>
              <a:rPr lang="en-US" sz="2800" dirty="0" err="1">
                <a:solidFill>
                  <a:schemeClr val="tx1"/>
                </a:solidFill>
                <a:latin typeface="Times New Roman" pitchFamily="18" charset="0"/>
                <a:cs typeface="Times New Roman" pitchFamily="18" charset="0"/>
              </a:rPr>
              <a:t>R6</a:t>
            </a:r>
            <a:r>
              <a:rPr lang="en-US" sz="2800" dirty="0">
                <a:solidFill>
                  <a:schemeClr val="tx1"/>
                </a:solidFill>
                <a:latin typeface="Times New Roman" pitchFamily="18" charset="0"/>
                <a:cs typeface="Times New Roman" pitchFamily="18" charset="0"/>
              </a:rPr>
              <a:t>, </a:t>
            </a:r>
            <a:r>
              <a:rPr lang="en-US" sz="2800" dirty="0" err="1">
                <a:solidFill>
                  <a:schemeClr val="tx1"/>
                </a:solidFill>
                <a:latin typeface="Times New Roman" pitchFamily="18" charset="0"/>
                <a:cs typeface="Times New Roman" pitchFamily="18" charset="0"/>
              </a:rPr>
              <a:t>R4</a:t>
            </a:r>
            <a:r>
              <a:rPr lang="en-US" sz="2800" dirty="0">
                <a:solidFill>
                  <a:schemeClr val="tx1"/>
                </a:solidFill>
                <a:latin typeface="Times New Roman" pitchFamily="18" charset="0"/>
                <a:cs typeface="Times New Roman" pitchFamily="18" charset="0"/>
              </a:rPr>
              <a:t>, and </a:t>
            </a:r>
            <a:r>
              <a:rPr lang="en-US" sz="2800" dirty="0" err="1">
                <a:solidFill>
                  <a:schemeClr val="tx1"/>
                </a:solidFill>
                <a:latin typeface="Times New Roman" pitchFamily="18" charset="0"/>
                <a:cs typeface="Times New Roman" pitchFamily="18" charset="0"/>
              </a:rPr>
              <a:t>R3</a:t>
            </a:r>
            <a:r>
              <a:rPr lang="en-US" sz="2800" dirty="0">
                <a:solidFill>
                  <a:schemeClr val="tx1"/>
                </a:solidFill>
                <a:latin typeface="Times New Roman" pitchFamily="18" charset="0"/>
                <a:cs typeface="Times New Roman" pitchFamily="18" charset="0"/>
              </a:rPr>
              <a:t>, and suppose a new record </a:t>
            </a:r>
            <a:r>
              <a:rPr lang="en-US" sz="2800" dirty="0" err="1">
                <a:solidFill>
                  <a:schemeClr val="tx1"/>
                </a:solidFill>
                <a:latin typeface="Times New Roman" pitchFamily="18" charset="0"/>
                <a:cs typeface="Times New Roman" pitchFamily="18" charset="0"/>
              </a:rPr>
              <a:t>R2</a:t>
            </a:r>
            <a:r>
              <a:rPr lang="en-US" sz="2800" dirty="0">
                <a:solidFill>
                  <a:schemeClr val="tx1"/>
                </a:solidFill>
                <a:latin typeface="Times New Roman" pitchFamily="18" charset="0"/>
                <a:cs typeface="Times New Roman" pitchFamily="18" charset="0"/>
              </a:rPr>
              <a:t> has to be inserted in the heap then, since the last data block </a:t>
            </a:r>
            <a:r>
              <a:rPr lang="en-US" sz="2800" dirty="0" err="1">
                <a:solidFill>
                  <a:schemeClr val="tx1"/>
                </a:solidFill>
                <a:latin typeface="Times New Roman" pitchFamily="18" charset="0"/>
                <a:cs typeface="Times New Roman" pitchFamily="18" charset="0"/>
              </a:rPr>
              <a:t>i.e</a:t>
            </a:r>
            <a:r>
              <a:rPr lang="en-US" sz="2800" dirty="0">
                <a:solidFill>
                  <a:schemeClr val="tx1"/>
                </a:solidFill>
                <a:latin typeface="Times New Roman" pitchFamily="18" charset="0"/>
                <a:cs typeface="Times New Roman" pitchFamily="18" charset="0"/>
              </a:rPr>
              <a:t> data block 3 is full it will be inserted in any of the data blocks selected by the DBMS, let’s say data block 1.</a:t>
            </a:r>
            <a:endParaRPr lang="en-US" sz="2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3677338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Heap File Organization</a:t>
            </a:r>
            <a:endParaRPr lang="en-US" sz="2800" b="1" dirty="0">
              <a:solidFill>
                <a:schemeClr val="tx1"/>
              </a:solidFill>
              <a:latin typeface="Times New Roman" pitchFamily="18" charset="0"/>
              <a:cs typeface="Times New Roman" pitchFamily="18" charset="0"/>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6466" y="1786618"/>
            <a:ext cx="7035397" cy="4136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68995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Heap File </a:t>
            </a:r>
            <a:r>
              <a:rPr lang="en-US" sz="2800" b="1" dirty="0">
                <a:solidFill>
                  <a:schemeClr val="tx1"/>
                </a:solidFill>
                <a:latin typeface="Times New Roman" pitchFamily="18" charset="0"/>
                <a:cs typeface="Times New Roman" pitchFamily="18" charset="0"/>
              </a:rPr>
              <a:t>Organization</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itchFamily="18" charset="0"/>
                <a:cs typeface="Times New Roman" pitchFamily="18" charset="0"/>
              </a:rPr>
              <a:t>Advantages of Heap File Organization</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Fetching and retrieving records is faster than sequential records but only in the case of small databases.</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When there is a huge number of data that needs to be loaded into the database at a time, then this method of file Organization is best suited.</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itchFamily="18" charset="0"/>
                <a:cs typeface="Times New Roman" pitchFamily="18" charset="0"/>
              </a:rPr>
              <a:t>Disadvantages of Heap File Organization</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The problem of unused memory blocks.</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Inefficient for larger databases.</a:t>
            </a:r>
            <a:endParaRPr lang="en-US" sz="22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51028357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Hash File </a:t>
            </a:r>
            <a:r>
              <a:rPr lang="en-US" sz="2800" b="1" dirty="0">
                <a:solidFill>
                  <a:schemeClr val="tx1"/>
                </a:solidFill>
                <a:latin typeface="Times New Roman" pitchFamily="18" charset="0"/>
                <a:cs typeface="Times New Roman" pitchFamily="18" charset="0"/>
              </a:rPr>
              <a:t>Organization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this method, hash function is used to compute the address of a data block in memory to store the record.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hash function is applied on certain columns of the records, known as hash columns to compute the block address.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These </a:t>
            </a:r>
            <a:r>
              <a:rPr lang="en-US" sz="2800" dirty="0">
                <a:solidFill>
                  <a:schemeClr val="tx1"/>
                </a:solidFill>
                <a:latin typeface="Times New Roman" pitchFamily="18" charset="0"/>
                <a:cs typeface="Times New Roman" pitchFamily="18" charset="0"/>
              </a:rPr>
              <a:t>columns/fields can either be key or non-key attributes</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6677805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8"/>
            <a:ext cx="8094254" cy="1453388"/>
          </a:xfrm>
        </p:spPr>
        <p:txBody>
          <a:bodyPr>
            <a:normAutofit fontScale="925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Hash File </a:t>
            </a:r>
            <a:r>
              <a:rPr lang="en-US" sz="2800" b="1" dirty="0">
                <a:solidFill>
                  <a:schemeClr val="tx1"/>
                </a:solidFill>
                <a:latin typeface="Times New Roman" pitchFamily="18" charset="0"/>
                <a:cs typeface="Times New Roman" pitchFamily="18" charset="0"/>
              </a:rPr>
              <a:t>Organization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this method, hash function is used to compute the address of a data block in memory to store the record. </a:t>
            </a:r>
            <a:endParaRPr lang="en-US" sz="2800" dirty="0" smtClean="0">
              <a:solidFill>
                <a:schemeClr val="tx1"/>
              </a:solidFill>
              <a:latin typeface="Times New Roman" pitchFamily="18" charset="0"/>
              <a:cs typeface="Times New Roman" pitchFamily="18" charset="0"/>
            </a:endParaRPr>
          </a:p>
        </p:txBody>
      </p:sp>
      <p:pic>
        <p:nvPicPr>
          <p:cNvPr id="1026" name="Picture 2" descr="DBMS Hash File Organiz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9784" y="2637926"/>
            <a:ext cx="6910266" cy="3667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069659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Hash File </a:t>
            </a:r>
            <a:r>
              <a:rPr lang="en-US" sz="2800" b="1" dirty="0">
                <a:solidFill>
                  <a:schemeClr val="tx1"/>
                </a:solidFill>
                <a:latin typeface="Times New Roman" pitchFamily="18" charset="0"/>
                <a:cs typeface="Times New Roman" pitchFamily="18" charset="0"/>
              </a:rPr>
              <a:t>Organization</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These </a:t>
            </a:r>
            <a:r>
              <a:rPr lang="en-US" sz="2800" dirty="0">
                <a:solidFill>
                  <a:schemeClr val="tx1"/>
                </a:solidFill>
                <a:latin typeface="Times New Roman" pitchFamily="18" charset="0"/>
                <a:cs typeface="Times New Roman" pitchFamily="18" charset="0"/>
              </a:rPr>
              <a:t>memory addresses are computed by applying hash function on certain attributes of these records</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Fetching a record is faster in this method as the record can be accessed using hash key column. No need to search through the entire file to fetch a record.</a:t>
            </a:r>
            <a:endParaRPr lang="en-US" sz="2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6677805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Hash File </a:t>
            </a:r>
            <a:r>
              <a:rPr lang="en-US" sz="2800" b="1" dirty="0">
                <a:solidFill>
                  <a:schemeClr val="tx1"/>
                </a:solidFill>
                <a:latin typeface="Times New Roman" pitchFamily="18" charset="0"/>
                <a:cs typeface="Times New Roman" pitchFamily="18" charset="0"/>
              </a:rPr>
              <a:t>Organization</a:t>
            </a:r>
          </a:p>
          <a:p>
            <a:pPr algn="just">
              <a:buClr>
                <a:schemeClr val="tx1"/>
              </a:buClr>
              <a:buSzPct val="71000"/>
            </a:pPr>
            <a:r>
              <a:rPr lang="en-US" sz="2800" b="1" dirty="0">
                <a:solidFill>
                  <a:schemeClr val="tx1"/>
                </a:solidFill>
                <a:latin typeface="Times New Roman" pitchFamily="18" charset="0"/>
                <a:cs typeface="Times New Roman" pitchFamily="18" charset="0"/>
              </a:rPr>
              <a:t>Advantages of Hash File Organization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This method doesn’t require sorting explicitly as the records are automatically sorted in the memory based on hash keys.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Reading and fetching a record is faster compared to other methods as the hash key is used to quickly read and retrieve the data from database.</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Records are not </a:t>
            </a:r>
            <a:r>
              <a:rPr lang="en-US" sz="2800" dirty="0" smtClean="0">
                <a:solidFill>
                  <a:schemeClr val="tx1"/>
                </a:solidFill>
                <a:latin typeface="Times New Roman" pitchFamily="18" charset="0"/>
                <a:cs typeface="Times New Roman" pitchFamily="18" charset="0"/>
              </a:rPr>
              <a:t>dependent </a:t>
            </a:r>
            <a:r>
              <a:rPr lang="en-US" sz="2800" dirty="0">
                <a:solidFill>
                  <a:schemeClr val="tx1"/>
                </a:solidFill>
                <a:latin typeface="Times New Roman" pitchFamily="18" charset="0"/>
                <a:cs typeface="Times New Roman" pitchFamily="18" charset="0"/>
              </a:rPr>
              <a:t>on each other and are not stored in consecutive memory locations so that prevents the database from read, write, update, delete anomalies.</a:t>
            </a:r>
            <a:endParaRPr lang="en-US" sz="2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02623250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85000" lnSpcReduction="2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Hash File </a:t>
            </a:r>
            <a:r>
              <a:rPr lang="en-US" sz="2800" b="1" dirty="0">
                <a:solidFill>
                  <a:schemeClr val="tx1"/>
                </a:solidFill>
                <a:latin typeface="Times New Roman" pitchFamily="18" charset="0"/>
                <a:cs typeface="Times New Roman" pitchFamily="18" charset="0"/>
              </a:rPr>
              <a:t>Organization</a:t>
            </a:r>
          </a:p>
          <a:p>
            <a:pPr algn="just">
              <a:buClr>
                <a:schemeClr val="tx1"/>
              </a:buClr>
              <a:buSzPct val="71000"/>
            </a:pPr>
            <a:r>
              <a:rPr lang="en-US" sz="2800" b="1" dirty="0" smtClean="0">
                <a:solidFill>
                  <a:schemeClr val="tx1"/>
                </a:solidFill>
                <a:latin typeface="Times New Roman" pitchFamily="18" charset="0"/>
                <a:cs typeface="Times New Roman" pitchFamily="18" charset="0"/>
              </a:rPr>
              <a:t>Disadvantages </a:t>
            </a:r>
            <a:r>
              <a:rPr lang="en-US" sz="2800" b="1" dirty="0">
                <a:solidFill>
                  <a:schemeClr val="tx1"/>
                </a:solidFill>
                <a:latin typeface="Times New Roman" pitchFamily="18" charset="0"/>
                <a:cs typeface="Times New Roman" pitchFamily="18" charset="0"/>
              </a:rPr>
              <a:t>of Hash File Organization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Can cause accidental deletion of data, if columns are not selected properly for hash function. For example, while deleting an Employee "Steve" using </a:t>
            </a:r>
            <a:r>
              <a:rPr lang="en-US" sz="2800" dirty="0" err="1">
                <a:solidFill>
                  <a:schemeClr val="tx1"/>
                </a:solidFill>
                <a:latin typeface="Times New Roman" pitchFamily="18" charset="0"/>
                <a:cs typeface="Times New Roman" pitchFamily="18" charset="0"/>
              </a:rPr>
              <a:t>Employee_Name</a:t>
            </a:r>
            <a:r>
              <a:rPr lang="en-US" sz="2800" dirty="0">
                <a:solidFill>
                  <a:schemeClr val="tx1"/>
                </a:solidFill>
                <a:latin typeface="Times New Roman" pitchFamily="18" charset="0"/>
                <a:cs typeface="Times New Roman" pitchFamily="18" charset="0"/>
              </a:rPr>
              <a:t> as hash column can cause accidental deletion of other employee records if the other employee name is also "Steve". This can be avoided by selecting the attributes properly, for example in this case combining age, department or </a:t>
            </a:r>
            <a:r>
              <a:rPr lang="en-US" sz="2800" dirty="0" err="1">
                <a:solidFill>
                  <a:schemeClr val="tx1"/>
                </a:solidFill>
                <a:latin typeface="Times New Roman" pitchFamily="18" charset="0"/>
                <a:cs typeface="Times New Roman" pitchFamily="18" charset="0"/>
              </a:rPr>
              <a:t>SSN</a:t>
            </a:r>
            <a:r>
              <a:rPr lang="en-US" sz="2800" dirty="0">
                <a:solidFill>
                  <a:schemeClr val="tx1"/>
                </a:solidFill>
                <a:latin typeface="Times New Roman" pitchFamily="18" charset="0"/>
                <a:cs typeface="Times New Roman" pitchFamily="18" charset="0"/>
              </a:rPr>
              <a:t> with the </a:t>
            </a:r>
            <a:r>
              <a:rPr lang="en-US" sz="2800" dirty="0" err="1">
                <a:solidFill>
                  <a:schemeClr val="tx1"/>
                </a:solidFill>
                <a:latin typeface="Times New Roman" pitchFamily="18" charset="0"/>
                <a:cs typeface="Times New Roman" pitchFamily="18" charset="0"/>
              </a:rPr>
              <a:t>employee_name</a:t>
            </a:r>
            <a:r>
              <a:rPr lang="en-US" sz="2800" dirty="0">
                <a:solidFill>
                  <a:schemeClr val="tx1"/>
                </a:solidFill>
                <a:latin typeface="Times New Roman" pitchFamily="18" charset="0"/>
                <a:cs typeface="Times New Roman" pitchFamily="18" charset="0"/>
              </a:rPr>
              <a:t> for hash key can be more accurate in finding the distinct record.</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Memory is not efficiently used in hash file organization as records are not stored in consecutive memory locations.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If there are more than one hash columns, searching a record using a single attribute will not give accurate results</a:t>
            </a:r>
            <a:r>
              <a:rPr lang="en-US" sz="2800" dirty="0" smtClean="0">
                <a:solidFill>
                  <a:schemeClr val="tx1"/>
                </a:solidFill>
                <a:latin typeface="Times New Roman" pitchFamily="18" charset="0"/>
                <a:cs typeface="Times New Roman" pitchFamily="18" charset="0"/>
              </a:rPr>
              <a:t>.</a:t>
            </a:r>
            <a:endParaRPr lang="en-US" sz="2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4211917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Cluster File </a:t>
            </a:r>
            <a:r>
              <a:rPr lang="en-US" sz="2800" b="1" dirty="0">
                <a:solidFill>
                  <a:schemeClr val="tx1"/>
                </a:solidFill>
                <a:latin typeface="Times New Roman" pitchFamily="18" charset="0"/>
                <a:cs typeface="Times New Roman" pitchFamily="18" charset="0"/>
              </a:rPr>
              <a:t>Organization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Cluster file organization is different from the other file organization methods.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Other </a:t>
            </a:r>
            <a:r>
              <a:rPr lang="en-US" sz="2800" dirty="0">
                <a:solidFill>
                  <a:schemeClr val="tx1"/>
                </a:solidFill>
                <a:latin typeface="Times New Roman" pitchFamily="18" charset="0"/>
                <a:cs typeface="Times New Roman" pitchFamily="18" charset="0"/>
              </a:rPr>
              <a:t>file organization methods mainly focus on organizing the records in a single file (table).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Cluster </a:t>
            </a:r>
            <a:r>
              <a:rPr lang="en-US" sz="2800" dirty="0">
                <a:solidFill>
                  <a:schemeClr val="tx1"/>
                </a:solidFill>
                <a:latin typeface="Times New Roman" pitchFamily="18" charset="0"/>
                <a:cs typeface="Times New Roman" pitchFamily="18" charset="0"/>
              </a:rPr>
              <a:t>file organization is used, when we frequently need combined data from multiple tables</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While other file organization methods organize tables separately and combine the result based on the query, cluster file organization stores the combined data of two or more frequently joined tables in the same file known as cluster. This helps in accessing the data faster.</a:t>
            </a:r>
          </a:p>
          <a:p>
            <a:pPr marL="457200" indent="-457200" algn="just">
              <a:buClr>
                <a:schemeClr val="tx1"/>
              </a:buClr>
              <a:buSzPct val="71000"/>
              <a:buFont typeface="Wingdings" panose="05000000000000000000" pitchFamily="2" charset="2"/>
              <a:buChar char="v"/>
            </a:pP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39475402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8"/>
            <a:ext cx="8094254" cy="498044"/>
          </a:xfrm>
        </p:spPr>
        <p:txBody>
          <a:bodyPr>
            <a:normAutofit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Cluster File </a:t>
            </a:r>
            <a:r>
              <a:rPr lang="en-US" sz="2800" b="1" dirty="0">
                <a:solidFill>
                  <a:schemeClr val="tx1"/>
                </a:solidFill>
                <a:latin typeface="Times New Roman" pitchFamily="18" charset="0"/>
                <a:cs typeface="Times New Roman" pitchFamily="18" charset="0"/>
              </a:rPr>
              <a:t>Organization</a:t>
            </a:r>
          </a:p>
          <a:p>
            <a:pPr algn="just">
              <a:buClr>
                <a:schemeClr val="tx1"/>
              </a:buClr>
              <a:buSzPct val="71000"/>
            </a:pPr>
            <a:endParaRPr lang="en-US" sz="2800" dirty="0">
              <a:solidFill>
                <a:schemeClr val="tx1"/>
              </a:solidFill>
              <a:latin typeface="Times New Roman" pitchFamily="18" charset="0"/>
              <a:cs typeface="Times New Roman" pitchFamily="18" charset="0"/>
            </a:endParaRPr>
          </a:p>
        </p:txBody>
      </p:sp>
      <p:pic>
        <p:nvPicPr>
          <p:cNvPr id="2050" name="Picture 2" descr="DBMS Cluster File Organiz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4692" y="1633751"/>
            <a:ext cx="7953375" cy="4848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642867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Cluster File </a:t>
            </a:r>
            <a:r>
              <a:rPr lang="en-US" sz="2800" b="1" dirty="0">
                <a:solidFill>
                  <a:schemeClr val="tx1"/>
                </a:solidFill>
                <a:latin typeface="Times New Roman" pitchFamily="18" charset="0"/>
                <a:cs typeface="Times New Roman" pitchFamily="18" charset="0"/>
              </a:rPr>
              <a:t>Organization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There are two types of cluster file organizations</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b="1" dirty="0">
                <a:solidFill>
                  <a:schemeClr val="tx1"/>
                </a:solidFill>
                <a:latin typeface="Times New Roman" pitchFamily="18" charset="0"/>
                <a:cs typeface="Times New Roman" pitchFamily="18" charset="0"/>
              </a:rPr>
              <a:t>Index based cluster file organization</a:t>
            </a:r>
          </a:p>
          <a:p>
            <a:pPr marL="914389" lvl="1" indent="-457200" algn="just">
              <a:buClr>
                <a:schemeClr val="tx1"/>
              </a:buClr>
              <a:buSzPct val="71000"/>
              <a:buFont typeface="Wingdings" panose="05000000000000000000" pitchFamily="2" charset="2"/>
              <a:buChar char="v"/>
            </a:pPr>
            <a:r>
              <a:rPr lang="en-US" sz="2600" b="1" dirty="0">
                <a:solidFill>
                  <a:schemeClr val="tx1"/>
                </a:solidFill>
                <a:latin typeface="Times New Roman" pitchFamily="18" charset="0"/>
                <a:cs typeface="Times New Roman" pitchFamily="18" charset="0"/>
              </a:rPr>
              <a:t>Hash based cluster file organization</a:t>
            </a:r>
          </a:p>
        </p:txBody>
      </p:sp>
    </p:spTree>
    <p:extLst>
      <p:ext uri="{BB962C8B-B14F-4D97-AF65-F5344CB8AC3E}">
        <p14:creationId xmlns:p14="http://schemas.microsoft.com/office/powerpoint/2010/main" val="235626289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Cluster File </a:t>
            </a:r>
            <a:r>
              <a:rPr lang="en-US" sz="2800" b="1" dirty="0">
                <a:solidFill>
                  <a:schemeClr val="tx1"/>
                </a:solidFill>
                <a:latin typeface="Times New Roman" pitchFamily="18" charset="0"/>
                <a:cs typeface="Times New Roman" pitchFamily="18" charset="0"/>
              </a:rPr>
              <a:t>Organization</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itchFamily="18" charset="0"/>
                <a:cs typeface="Times New Roman" pitchFamily="18" charset="0"/>
              </a:rPr>
              <a:t>Index based cluster file organization: </a:t>
            </a:r>
            <a:r>
              <a:rPr lang="en-US" sz="2800" dirty="0">
                <a:solidFill>
                  <a:schemeClr val="tx1"/>
                </a:solidFill>
                <a:latin typeface="Times New Roman" pitchFamily="18" charset="0"/>
                <a:cs typeface="Times New Roman" pitchFamily="18" charset="0"/>
              </a:rPr>
              <a:t>The example that we have shown in the above diagram is an index based cluster file organization. In this type, the cluster is formed based on the cluster key and this cluster key works as an index of the cluster</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Since </a:t>
            </a:r>
            <a:r>
              <a:rPr lang="en-US" sz="2800" dirty="0" err="1">
                <a:solidFill>
                  <a:schemeClr val="tx1"/>
                </a:solidFill>
                <a:latin typeface="Times New Roman" pitchFamily="18" charset="0"/>
                <a:cs typeface="Times New Roman" pitchFamily="18" charset="0"/>
              </a:rPr>
              <a:t>EMP_DEP</a:t>
            </a:r>
            <a:r>
              <a:rPr lang="en-US" sz="2800" dirty="0">
                <a:solidFill>
                  <a:schemeClr val="tx1"/>
                </a:solidFill>
                <a:latin typeface="Times New Roman" pitchFamily="18" charset="0"/>
                <a:cs typeface="Times New Roman" pitchFamily="18" charset="0"/>
              </a:rPr>
              <a:t> field is common in both the tables, this becomes the cluster key when these two tables joined to form the cluster. Whenever we need to find the combined record of employees and department based on the </a:t>
            </a:r>
            <a:r>
              <a:rPr lang="en-US" sz="2800" dirty="0" err="1">
                <a:solidFill>
                  <a:schemeClr val="tx1"/>
                </a:solidFill>
                <a:latin typeface="Times New Roman" pitchFamily="18" charset="0"/>
                <a:cs typeface="Times New Roman" pitchFamily="18" charset="0"/>
              </a:rPr>
              <a:t>EMP_DEP</a:t>
            </a:r>
            <a:r>
              <a:rPr lang="en-US" sz="2800" dirty="0">
                <a:solidFill>
                  <a:schemeClr val="tx1"/>
                </a:solidFill>
                <a:latin typeface="Times New Roman" pitchFamily="18" charset="0"/>
                <a:cs typeface="Times New Roman" pitchFamily="18" charset="0"/>
              </a:rPr>
              <a:t>, this cluster can be used to quickly retrieve the data.</a:t>
            </a:r>
          </a:p>
        </p:txBody>
      </p:sp>
    </p:spTree>
    <p:extLst>
      <p:ext uri="{BB962C8B-B14F-4D97-AF65-F5344CB8AC3E}">
        <p14:creationId xmlns:p14="http://schemas.microsoft.com/office/powerpoint/2010/main" val="169005994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Cluster File </a:t>
            </a:r>
            <a:r>
              <a:rPr lang="en-US" sz="2800" b="1" dirty="0">
                <a:solidFill>
                  <a:schemeClr val="tx1"/>
                </a:solidFill>
                <a:latin typeface="Times New Roman" pitchFamily="18" charset="0"/>
                <a:cs typeface="Times New Roman" pitchFamily="18" charset="0"/>
              </a:rPr>
              <a:t>Organization</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itchFamily="18" charset="0"/>
                <a:cs typeface="Times New Roman" pitchFamily="18" charset="0"/>
              </a:rPr>
              <a:t>Hash based cluster file organization: </a:t>
            </a:r>
            <a:r>
              <a:rPr lang="en-US" sz="2800" dirty="0">
                <a:solidFill>
                  <a:schemeClr val="tx1"/>
                </a:solidFill>
                <a:latin typeface="Times New Roman" pitchFamily="18" charset="0"/>
                <a:cs typeface="Times New Roman" pitchFamily="18" charset="0"/>
              </a:rPr>
              <a:t>This is same as index based cluster file organization except that in this type, the hash function is applied on the cluster key to generate the hash value and that value is used in the cluster instead of the index.</a:t>
            </a:r>
          </a:p>
          <a:p>
            <a:pPr marL="457200" indent="-457200" algn="just">
              <a:buClr>
                <a:schemeClr val="tx1"/>
              </a:buClr>
              <a:buSzPct val="71000"/>
              <a:buFont typeface="Wingdings" panose="05000000000000000000" pitchFamily="2" charset="2"/>
              <a:buChar char="v"/>
            </a:pPr>
            <a:endParaRPr lang="en-US" sz="2800" b="1"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itchFamily="18" charset="0"/>
                <a:cs typeface="Times New Roman" pitchFamily="18" charset="0"/>
              </a:rPr>
              <a:t>Note: </a:t>
            </a:r>
            <a:r>
              <a:rPr lang="en-US" sz="2800" dirty="0">
                <a:solidFill>
                  <a:schemeClr val="tx1"/>
                </a:solidFill>
                <a:latin typeface="Times New Roman" pitchFamily="18" charset="0"/>
                <a:cs typeface="Times New Roman" pitchFamily="18" charset="0"/>
              </a:rPr>
              <a:t>The main difference between these two types is that in index based cluster, records are stored with cluster key while in hash based cluster, the records are stored with the hash value of the cluster key.</a:t>
            </a:r>
          </a:p>
        </p:txBody>
      </p:sp>
    </p:spTree>
    <p:extLst>
      <p:ext uri="{BB962C8B-B14F-4D97-AF65-F5344CB8AC3E}">
        <p14:creationId xmlns:p14="http://schemas.microsoft.com/office/powerpoint/2010/main" val="80034794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Cluster File </a:t>
            </a:r>
            <a:r>
              <a:rPr lang="en-US" sz="2800" b="1" dirty="0">
                <a:solidFill>
                  <a:schemeClr val="tx1"/>
                </a:solidFill>
                <a:latin typeface="Times New Roman" pitchFamily="18" charset="0"/>
                <a:cs typeface="Times New Roman" pitchFamily="18" charset="0"/>
              </a:rPr>
              <a:t>Organization</a:t>
            </a:r>
          </a:p>
          <a:p>
            <a:pPr algn="just">
              <a:buClr>
                <a:schemeClr val="tx1"/>
              </a:buClr>
              <a:buSzPct val="71000"/>
            </a:pPr>
            <a:r>
              <a:rPr lang="en-US" sz="2800" b="1" dirty="0">
                <a:solidFill>
                  <a:schemeClr val="tx1"/>
                </a:solidFill>
                <a:latin typeface="Times New Roman" pitchFamily="18" charset="0"/>
                <a:cs typeface="Times New Roman" pitchFamily="18" charset="0"/>
              </a:rPr>
              <a:t>Advantages of cluster file organization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This method is popularly used when multiple tables needs to be joined frequently based on the same condition.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When a table in database is joined with multiple tables of the same database then cluster file organization method will be more efficient compared to other file organization methods.</a:t>
            </a:r>
          </a:p>
        </p:txBody>
      </p:sp>
    </p:spTree>
    <p:extLst>
      <p:ext uri="{BB962C8B-B14F-4D97-AF65-F5344CB8AC3E}">
        <p14:creationId xmlns:p14="http://schemas.microsoft.com/office/powerpoint/2010/main" val="284525687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8.3 File Organization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85000" lnSpcReduction="2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Cluster File </a:t>
            </a:r>
            <a:r>
              <a:rPr lang="en-US" sz="2800" b="1" dirty="0">
                <a:solidFill>
                  <a:schemeClr val="tx1"/>
                </a:solidFill>
                <a:latin typeface="Times New Roman" pitchFamily="18" charset="0"/>
                <a:cs typeface="Times New Roman" pitchFamily="18" charset="0"/>
              </a:rPr>
              <a:t>Organization</a:t>
            </a:r>
          </a:p>
          <a:p>
            <a:pPr algn="just">
              <a:buClr>
                <a:schemeClr val="tx1"/>
              </a:buClr>
              <a:buSzPct val="71000"/>
            </a:pPr>
            <a:r>
              <a:rPr lang="en-US" sz="2800" b="1" dirty="0" smtClean="0">
                <a:solidFill>
                  <a:schemeClr val="tx1"/>
                </a:solidFill>
                <a:latin typeface="Times New Roman" pitchFamily="18" charset="0"/>
                <a:cs typeface="Times New Roman" pitchFamily="18" charset="0"/>
              </a:rPr>
              <a:t>Disadvantages </a:t>
            </a:r>
            <a:r>
              <a:rPr lang="en-US" sz="2800" b="1" dirty="0">
                <a:solidFill>
                  <a:schemeClr val="tx1"/>
                </a:solidFill>
                <a:latin typeface="Times New Roman" pitchFamily="18" charset="0"/>
                <a:cs typeface="Times New Roman" pitchFamily="18" charset="0"/>
              </a:rPr>
              <a:t>of cluster file organization</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itchFamily="18" charset="0"/>
                <a:cs typeface="Times New Roman" pitchFamily="18" charset="0"/>
              </a:rPr>
              <a:t>Not suitable for large databases: </a:t>
            </a:r>
            <a:r>
              <a:rPr lang="en-US" sz="2800" dirty="0">
                <a:solidFill>
                  <a:schemeClr val="tx1"/>
                </a:solidFill>
                <a:latin typeface="Times New Roman" pitchFamily="18" charset="0"/>
                <a:cs typeface="Times New Roman" pitchFamily="18" charset="0"/>
              </a:rPr>
              <a:t>This method is not suitable if the size of the database is huge as the performance of various operations on the data will be poor.</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itchFamily="18" charset="0"/>
                <a:cs typeface="Times New Roman" pitchFamily="18" charset="0"/>
              </a:rPr>
              <a:t>Not flexible with joining condition: </a:t>
            </a:r>
            <a:r>
              <a:rPr lang="en-US" sz="2800" dirty="0">
                <a:solidFill>
                  <a:schemeClr val="tx1"/>
                </a:solidFill>
                <a:latin typeface="Times New Roman" pitchFamily="18" charset="0"/>
                <a:cs typeface="Times New Roman" pitchFamily="18" charset="0"/>
              </a:rPr>
              <a:t>This method is not suitable if the join condition of the tables keep changing, as it may take additional time to traverse the joined tables again for the new condition.</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itchFamily="18" charset="0"/>
                <a:cs typeface="Times New Roman" pitchFamily="18" charset="0"/>
              </a:rPr>
              <a:t>Isolated tables: </a:t>
            </a:r>
            <a:r>
              <a:rPr lang="en-US" sz="2800" dirty="0">
                <a:solidFill>
                  <a:schemeClr val="tx1"/>
                </a:solidFill>
                <a:latin typeface="Times New Roman" pitchFamily="18" charset="0"/>
                <a:cs typeface="Times New Roman" pitchFamily="18" charset="0"/>
              </a:rPr>
              <a:t>If tables are not that related and there is rarely any join query on tables then using this file organization is not recommended. This is because maintaining the cluster for such tables will be useless when it is not used frequently.</a:t>
            </a:r>
          </a:p>
        </p:txBody>
      </p:sp>
    </p:spTree>
    <p:extLst>
      <p:ext uri="{BB962C8B-B14F-4D97-AF65-F5344CB8AC3E}">
        <p14:creationId xmlns:p14="http://schemas.microsoft.com/office/powerpoint/2010/main" val="334186824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Indexing </a:t>
            </a:r>
            <a:r>
              <a:rPr lang="en-US" sz="2800" dirty="0">
                <a:solidFill>
                  <a:schemeClr val="tx1"/>
                </a:solidFill>
                <a:latin typeface="Times New Roman" pitchFamily="18" charset="0"/>
                <a:cs typeface="Times New Roman" pitchFamily="18" charset="0"/>
              </a:rPr>
              <a:t>is used to optimize the performance of a database by minimizing the number of disk accesses required when a query is processed.</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index is a type of data structure. It is used to locate and access the data in a database table quickly</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Indexes can be created using some database columns.</a:t>
            </a:r>
          </a:p>
          <a:p>
            <a:pPr algn="just">
              <a:buClr>
                <a:schemeClr val="tx1"/>
              </a:buClr>
              <a:buSzPct val="71000"/>
            </a:pP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06903511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3725715"/>
          </a:xfrm>
        </p:spPr>
        <p:txBody>
          <a:bodyPr>
            <a:normAutofit fontScale="92500" lnSpcReduction="20000"/>
          </a:bodyPr>
          <a:lstStyle/>
          <a:p>
            <a:pPr algn="just">
              <a:buClr>
                <a:schemeClr val="tx1"/>
              </a:buClr>
              <a:buSzPct val="71000"/>
            </a:pPr>
            <a:r>
              <a:rPr lang="en-US" sz="2800" b="1" dirty="0">
                <a:solidFill>
                  <a:schemeClr val="tx1"/>
                </a:solidFill>
                <a:latin typeface="Times New Roman" pitchFamily="18" charset="0"/>
                <a:cs typeface="Times New Roman" pitchFamily="18" charset="0"/>
              </a:rPr>
              <a:t>Index structure:</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first column of the database is the search key that contains a copy of the primary key or candidate key of the table. The values of the primary key are stored in sorted order so that the corresponding data can be accessed easily.</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second column of the database is the data reference. It contains a set of pointers holding the address of the disk block where the value of the particular key can be found.</a:t>
            </a:r>
            <a:endParaRPr lang="en-US" sz="2400" b="1" dirty="0">
              <a:solidFill>
                <a:schemeClr val="tx1"/>
              </a:solidFill>
              <a:latin typeface="Times New Roman" pitchFamily="18" charset="0"/>
              <a:cs typeface="Times New Roman" pitchFamily="18" charset="0"/>
            </a:endParaRPr>
          </a:p>
        </p:txBody>
      </p:sp>
      <p:pic>
        <p:nvPicPr>
          <p:cNvPr id="1026" name="Picture 2" descr="DBMS Indexing in DBM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6320" y="4865402"/>
            <a:ext cx="4184413" cy="1659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754225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8"/>
            <a:ext cx="8094254" cy="538988"/>
          </a:xfrm>
        </p:spPr>
        <p:txBody>
          <a:bodyPr>
            <a:normAutofit/>
          </a:bodyPr>
          <a:lstStyle/>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Types of indexing</a:t>
            </a:r>
            <a:endParaRPr lang="en-US" sz="2400" b="1" dirty="0">
              <a:solidFill>
                <a:schemeClr val="tx1"/>
              </a:solidFill>
              <a:latin typeface="Times New Roman" pitchFamily="18" charset="0"/>
              <a:cs typeface="Times New Roman" pitchFamily="18" charset="0"/>
            </a:endParaRPr>
          </a:p>
        </p:txBody>
      </p:sp>
      <p:pic>
        <p:nvPicPr>
          <p:cNvPr id="2050" name="Picture 2" descr="DBMS Indexing in DBM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496" y="1900995"/>
            <a:ext cx="8794515" cy="4199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619948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85000" lnSpcReduction="10000"/>
          </a:bodyPr>
          <a:lstStyle/>
          <a:p>
            <a:pPr algn="just">
              <a:buClr>
                <a:schemeClr val="tx1"/>
              </a:buClr>
              <a:buSzPct val="71000"/>
            </a:pPr>
            <a:r>
              <a:rPr lang="en-US" sz="2800" b="1" dirty="0">
                <a:solidFill>
                  <a:schemeClr val="tx1"/>
                </a:solidFill>
                <a:latin typeface="Times New Roman" pitchFamily="18" charset="0"/>
                <a:cs typeface="Times New Roman" pitchFamily="18" charset="0"/>
              </a:rPr>
              <a:t>Ordered indices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indices are usually sorted to make searching faster. The indices </a:t>
            </a:r>
            <a:r>
              <a:rPr lang="en-US" sz="2800" b="1" dirty="0">
                <a:solidFill>
                  <a:schemeClr val="tx1"/>
                </a:solidFill>
                <a:latin typeface="Times New Roman" pitchFamily="18" charset="0"/>
                <a:cs typeface="Times New Roman" pitchFamily="18" charset="0"/>
              </a:rPr>
              <a:t>which are sorted</a:t>
            </a:r>
            <a:r>
              <a:rPr lang="en-US" sz="2800" dirty="0">
                <a:solidFill>
                  <a:schemeClr val="tx1"/>
                </a:solidFill>
                <a:latin typeface="Times New Roman" pitchFamily="18" charset="0"/>
                <a:cs typeface="Times New Roman" pitchFamily="18" charset="0"/>
              </a:rPr>
              <a:t> are known as ordered indices</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itchFamily="18" charset="0"/>
                <a:cs typeface="Times New Roman" pitchFamily="18" charset="0"/>
              </a:rPr>
              <a:t>Example: </a:t>
            </a:r>
            <a:r>
              <a:rPr lang="en-US" sz="2800" dirty="0">
                <a:solidFill>
                  <a:schemeClr val="tx1"/>
                </a:solidFill>
                <a:latin typeface="Times New Roman" pitchFamily="18" charset="0"/>
                <a:cs typeface="Times New Roman" pitchFamily="18" charset="0"/>
              </a:rPr>
              <a:t>Suppose we have an employee table with thousands of record and each of which is 10 bytes long. If their IDs start with 1, 2, 3....and so on and we have to search student with ID-543</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In the case of a database with no index, we have to search the disk block from starting till it reaches 543. The DBMS will read the record after reading 543*10=5430 bytes.</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In the case of an index, we will search using indexes and the DBMS will read the record after reading 542*2= 1084 bytes which are very less compared to the previous case.</a:t>
            </a:r>
            <a:endParaRPr lang="en-US" sz="22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05092871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Primary index</a:t>
            </a:r>
            <a:endParaRPr lang="en-US" sz="2800" b="1"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If the index is created on the basis of the </a:t>
            </a:r>
            <a:r>
              <a:rPr lang="en-US" sz="2800" b="1" dirty="0">
                <a:solidFill>
                  <a:schemeClr val="tx1"/>
                </a:solidFill>
                <a:latin typeface="Times New Roman" pitchFamily="18" charset="0"/>
                <a:cs typeface="Times New Roman" pitchFamily="18" charset="0"/>
              </a:rPr>
              <a:t>primary key of the table</a:t>
            </a:r>
            <a:r>
              <a:rPr lang="en-US" sz="2800" dirty="0">
                <a:solidFill>
                  <a:schemeClr val="tx1"/>
                </a:solidFill>
                <a:latin typeface="Times New Roman" pitchFamily="18" charset="0"/>
                <a:cs typeface="Times New Roman" pitchFamily="18" charset="0"/>
              </a:rPr>
              <a:t>, then it is known as primary indexing.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These </a:t>
            </a:r>
            <a:r>
              <a:rPr lang="en-US" sz="2800" dirty="0">
                <a:solidFill>
                  <a:schemeClr val="tx1"/>
                </a:solidFill>
                <a:latin typeface="Times New Roman" pitchFamily="18" charset="0"/>
                <a:cs typeface="Times New Roman" pitchFamily="18" charset="0"/>
              </a:rPr>
              <a:t>primary keys are unique to each record and </a:t>
            </a:r>
            <a:r>
              <a:rPr lang="en-US" sz="2800" b="1" dirty="0">
                <a:solidFill>
                  <a:schemeClr val="tx1"/>
                </a:solidFill>
                <a:latin typeface="Times New Roman" pitchFamily="18" charset="0"/>
                <a:cs typeface="Times New Roman" pitchFamily="18" charset="0"/>
              </a:rPr>
              <a:t>contain 1:1 relation </a:t>
            </a:r>
            <a:r>
              <a:rPr lang="en-US" sz="2800" dirty="0">
                <a:solidFill>
                  <a:schemeClr val="tx1"/>
                </a:solidFill>
                <a:latin typeface="Times New Roman" pitchFamily="18" charset="0"/>
                <a:cs typeface="Times New Roman" pitchFamily="18" charset="0"/>
              </a:rPr>
              <a:t>between the records.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As primary keys are stored in </a:t>
            </a:r>
            <a:r>
              <a:rPr lang="en-US" sz="2800" b="1" dirty="0">
                <a:solidFill>
                  <a:schemeClr val="tx1"/>
                </a:solidFill>
                <a:latin typeface="Times New Roman" pitchFamily="18" charset="0"/>
                <a:cs typeface="Times New Roman" pitchFamily="18" charset="0"/>
              </a:rPr>
              <a:t>sorted order</a:t>
            </a:r>
            <a:r>
              <a:rPr lang="en-US" sz="2800" dirty="0">
                <a:solidFill>
                  <a:schemeClr val="tx1"/>
                </a:solidFill>
                <a:latin typeface="Times New Roman" pitchFamily="18" charset="0"/>
                <a:cs typeface="Times New Roman" pitchFamily="18" charset="0"/>
              </a:rPr>
              <a:t>, the performance of the searching operation is quite efficient.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primary index can be classified into two types: </a:t>
            </a:r>
            <a:endParaRPr lang="en-US" sz="2800" dirty="0" smtClean="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Dense </a:t>
            </a:r>
            <a:r>
              <a:rPr lang="en-US" sz="2600" b="1" dirty="0">
                <a:solidFill>
                  <a:schemeClr val="tx1"/>
                </a:solidFill>
                <a:latin typeface="Times New Roman" pitchFamily="18" charset="0"/>
                <a:cs typeface="Times New Roman" pitchFamily="18" charset="0"/>
              </a:rPr>
              <a:t>index </a:t>
            </a:r>
            <a:endParaRPr lang="en-US" sz="2600" b="1" dirty="0" smtClean="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Sparse index</a:t>
            </a:r>
            <a:endParaRPr lang="en-US" sz="2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99612016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Dense index</a:t>
            </a:r>
            <a:endParaRPr lang="en-US" sz="2800" b="1"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dense index contains an index record for every search key value in the data file. It makes searching faster.</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this, the number of records in the index table is same as the number of records in the main table.</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It needs more space to store index record itself.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index records have the search key and a pointer to the actual record on the disk.</a:t>
            </a:r>
            <a:endParaRPr lang="en-US" sz="2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5468981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675465"/>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Dense index</a:t>
            </a:r>
            <a:endParaRPr lang="en-US" sz="2800" b="1" dirty="0">
              <a:solidFill>
                <a:schemeClr val="tx1"/>
              </a:solidFill>
              <a:latin typeface="Times New Roman" pitchFamily="18" charset="0"/>
              <a:cs typeface="Times New Roman" pitchFamily="18" charset="0"/>
            </a:endParaRPr>
          </a:p>
        </p:txBody>
      </p:sp>
      <p:sp>
        <p:nvSpPr>
          <p:cNvPr id="4" name="AutoShape 2" descr="Dense Inde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0937" y="1610436"/>
            <a:ext cx="6731902" cy="480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862814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Sparse index</a:t>
            </a:r>
            <a:endParaRPr lang="en-US" sz="2800" b="1"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Only a few of the data file's items-each of which points to a block-have an index record.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Instead </a:t>
            </a:r>
            <a:r>
              <a:rPr lang="en-US" sz="2800" dirty="0">
                <a:solidFill>
                  <a:schemeClr val="tx1"/>
                </a:solidFill>
                <a:latin typeface="Times New Roman" pitchFamily="18" charset="0"/>
                <a:cs typeface="Times New Roman" pitchFamily="18" charset="0"/>
              </a:rPr>
              <a:t>of pointing to every record in the main database, the index in sparse indexing only points to the entries in the gap.</a:t>
            </a:r>
            <a:endParaRPr lang="en-US" sz="2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46333175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8"/>
            <a:ext cx="8094254" cy="620874"/>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Sparse index</a:t>
            </a:r>
            <a:endParaRPr lang="en-US" sz="2800" b="1" dirty="0">
              <a:solidFill>
                <a:schemeClr val="tx1"/>
              </a:solidFill>
              <a:latin typeface="Times New Roman" pitchFamily="18" charset="0"/>
              <a:cs typeface="Times New Roman" pitchFamily="18" charset="0"/>
            </a:endParaRPr>
          </a:p>
        </p:txBody>
      </p:sp>
      <p:sp>
        <p:nvSpPr>
          <p:cNvPr id="4" name="AutoShape 2" descr="Sparse Inde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4082" y="1298716"/>
            <a:ext cx="4366335" cy="4908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638097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just">
              <a:buClr>
                <a:schemeClr val="tx1"/>
              </a:buClr>
              <a:buSzPct val="71000"/>
            </a:pPr>
            <a:r>
              <a:rPr lang="en-US" sz="2800" b="1" dirty="0">
                <a:solidFill>
                  <a:schemeClr val="tx1"/>
                </a:solidFill>
                <a:latin typeface="Times New Roman" pitchFamily="18" charset="0"/>
                <a:cs typeface="Times New Roman" pitchFamily="18" charset="0"/>
              </a:rPr>
              <a:t>Clustering index</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A clustered index can be defined as an </a:t>
            </a:r>
            <a:r>
              <a:rPr lang="en-US" sz="2800" b="1" dirty="0">
                <a:solidFill>
                  <a:schemeClr val="tx1"/>
                </a:solidFill>
                <a:latin typeface="Times New Roman" pitchFamily="18" charset="0"/>
                <a:cs typeface="Times New Roman" pitchFamily="18" charset="0"/>
              </a:rPr>
              <a:t>ordered data </a:t>
            </a:r>
            <a:r>
              <a:rPr lang="en-US" sz="2800" dirty="0">
                <a:solidFill>
                  <a:schemeClr val="tx1"/>
                </a:solidFill>
                <a:latin typeface="Times New Roman" pitchFamily="18" charset="0"/>
                <a:cs typeface="Times New Roman" pitchFamily="18" charset="0"/>
              </a:rPr>
              <a:t>file. Sometimes the index is created </a:t>
            </a:r>
            <a:r>
              <a:rPr lang="en-US" sz="2800" b="1" dirty="0">
                <a:solidFill>
                  <a:schemeClr val="tx1"/>
                </a:solidFill>
                <a:latin typeface="Times New Roman" pitchFamily="18" charset="0"/>
                <a:cs typeface="Times New Roman" pitchFamily="18" charset="0"/>
              </a:rPr>
              <a:t>on non-primary key columns</a:t>
            </a:r>
            <a:r>
              <a:rPr lang="en-US" sz="2800" dirty="0">
                <a:solidFill>
                  <a:schemeClr val="tx1"/>
                </a:solidFill>
                <a:latin typeface="Times New Roman" pitchFamily="18" charset="0"/>
                <a:cs typeface="Times New Roman" pitchFamily="18" charset="0"/>
              </a:rPr>
              <a:t> which may not be unique for each record.</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this case, to identify the record faster, we will </a:t>
            </a:r>
            <a:r>
              <a:rPr lang="en-US" sz="2800" b="1" dirty="0">
                <a:solidFill>
                  <a:schemeClr val="tx1"/>
                </a:solidFill>
                <a:latin typeface="Times New Roman" pitchFamily="18" charset="0"/>
                <a:cs typeface="Times New Roman" pitchFamily="18" charset="0"/>
              </a:rPr>
              <a:t>group two or more columns </a:t>
            </a:r>
            <a:r>
              <a:rPr lang="en-US" sz="2800" dirty="0">
                <a:solidFill>
                  <a:schemeClr val="tx1"/>
                </a:solidFill>
                <a:latin typeface="Times New Roman" pitchFamily="18" charset="0"/>
                <a:cs typeface="Times New Roman" pitchFamily="18" charset="0"/>
              </a:rPr>
              <a:t>to get the unique value and create index out of them. This method is </a:t>
            </a:r>
            <a:r>
              <a:rPr lang="en-US" sz="2800" b="1" dirty="0">
                <a:solidFill>
                  <a:schemeClr val="tx1"/>
                </a:solidFill>
                <a:latin typeface="Times New Roman" pitchFamily="18" charset="0"/>
                <a:cs typeface="Times New Roman" pitchFamily="18" charset="0"/>
              </a:rPr>
              <a:t>called a clustering index.</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records which have similar characteristics are grouped, and indexes are created for these group.</a:t>
            </a:r>
            <a:endParaRPr lang="en-US" sz="2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4165299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a:solidFill>
                  <a:schemeClr val="tx1"/>
                </a:solidFill>
                <a:latin typeface="Times New Roman" pitchFamily="18" charset="0"/>
                <a:cs typeface="Times New Roman" pitchFamily="18" charset="0"/>
              </a:rPr>
              <a:t>Clustering index</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itchFamily="18" charset="0"/>
                <a:cs typeface="Times New Roman" pitchFamily="18" charset="0"/>
              </a:rPr>
              <a:t>Example: </a:t>
            </a:r>
            <a:r>
              <a:rPr lang="en-US" sz="2800" dirty="0">
                <a:solidFill>
                  <a:schemeClr val="tx1"/>
                </a:solidFill>
                <a:latin typeface="Times New Roman" pitchFamily="18" charset="0"/>
                <a:cs typeface="Times New Roman" pitchFamily="18" charset="0"/>
              </a:rPr>
              <a:t>suppose a company contains several employees in each department. Suppose we use a clustering index, where all employees which belong to the same </a:t>
            </a:r>
            <a:r>
              <a:rPr lang="en-US" sz="2800" dirty="0" err="1">
                <a:solidFill>
                  <a:schemeClr val="tx1"/>
                </a:solidFill>
                <a:latin typeface="Times New Roman" pitchFamily="18" charset="0"/>
                <a:cs typeface="Times New Roman" pitchFamily="18" charset="0"/>
              </a:rPr>
              <a:t>Dept_ID</a:t>
            </a:r>
            <a:r>
              <a:rPr lang="en-US" sz="2800" dirty="0">
                <a:solidFill>
                  <a:schemeClr val="tx1"/>
                </a:solidFill>
                <a:latin typeface="Times New Roman" pitchFamily="18" charset="0"/>
                <a:cs typeface="Times New Roman" pitchFamily="18" charset="0"/>
              </a:rPr>
              <a:t> are considered within a single cluster, and index pointers point to the cluster as a whole. Here </a:t>
            </a:r>
            <a:r>
              <a:rPr lang="en-US" sz="2800" dirty="0" err="1">
                <a:solidFill>
                  <a:schemeClr val="tx1"/>
                </a:solidFill>
                <a:latin typeface="Times New Roman" pitchFamily="18" charset="0"/>
                <a:cs typeface="Times New Roman" pitchFamily="18" charset="0"/>
              </a:rPr>
              <a:t>Dept_Id</a:t>
            </a:r>
            <a:r>
              <a:rPr lang="en-US" sz="2800" dirty="0">
                <a:solidFill>
                  <a:schemeClr val="tx1"/>
                </a:solidFill>
                <a:latin typeface="Times New Roman" pitchFamily="18" charset="0"/>
                <a:cs typeface="Times New Roman" pitchFamily="18" charset="0"/>
              </a:rPr>
              <a:t> is a non-unique key.</a:t>
            </a:r>
            <a:endParaRPr lang="en-US" sz="2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5122830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484397"/>
          </a:xfrm>
        </p:spPr>
        <p:txBody>
          <a:bodyPr>
            <a:normAutofit lnSpcReduction="10000"/>
          </a:bodyPr>
          <a:lstStyle/>
          <a:p>
            <a:pPr algn="just">
              <a:buClr>
                <a:schemeClr val="tx1"/>
              </a:buClr>
              <a:buSzPct val="71000"/>
            </a:pPr>
            <a:r>
              <a:rPr lang="en-US" sz="2800" b="1" dirty="0">
                <a:solidFill>
                  <a:schemeClr val="tx1"/>
                </a:solidFill>
                <a:latin typeface="Times New Roman" pitchFamily="18" charset="0"/>
                <a:cs typeface="Times New Roman" pitchFamily="18" charset="0"/>
              </a:rPr>
              <a:t>Clustering </a:t>
            </a:r>
            <a:r>
              <a:rPr lang="en-US" sz="2800" b="1" dirty="0" smtClean="0">
                <a:solidFill>
                  <a:schemeClr val="tx1"/>
                </a:solidFill>
                <a:latin typeface="Times New Roman" pitchFamily="18" charset="0"/>
                <a:cs typeface="Times New Roman" pitchFamily="18" charset="0"/>
              </a:rPr>
              <a:t>index</a:t>
            </a:r>
            <a:endParaRPr lang="en-US" sz="2800" b="1" dirty="0">
              <a:solidFill>
                <a:schemeClr val="tx1"/>
              </a:solidFill>
              <a:latin typeface="Times New Roman" pitchFamily="18" charset="0"/>
              <a:cs typeface="Times New Roman" pitchFamily="18" charset="0"/>
            </a:endParaRPr>
          </a:p>
        </p:txBody>
      </p:sp>
      <p:pic>
        <p:nvPicPr>
          <p:cNvPr id="5122" name="Picture 2" descr="DBMS Indexing in DBM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033" y="1220858"/>
            <a:ext cx="5185059" cy="5207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303146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800" b="1" dirty="0">
                <a:solidFill>
                  <a:schemeClr val="tx1"/>
                </a:solidFill>
                <a:latin typeface="Times New Roman" pitchFamily="18" charset="0"/>
                <a:cs typeface="Times New Roman" pitchFamily="18" charset="0"/>
              </a:rPr>
              <a:t>Secondary index</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the sparse indexing, as the </a:t>
            </a:r>
            <a:r>
              <a:rPr lang="en-US" sz="2800" b="1" dirty="0">
                <a:solidFill>
                  <a:schemeClr val="tx1"/>
                </a:solidFill>
                <a:latin typeface="Times New Roman" pitchFamily="18" charset="0"/>
                <a:cs typeface="Times New Roman" pitchFamily="18" charset="0"/>
              </a:rPr>
              <a:t>size of the table grows, the size of mapping also grows. </a:t>
            </a:r>
            <a:endParaRPr lang="en-US" sz="2800" b="1"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These </a:t>
            </a:r>
            <a:r>
              <a:rPr lang="en-US" sz="2800" dirty="0">
                <a:solidFill>
                  <a:schemeClr val="tx1"/>
                </a:solidFill>
                <a:latin typeface="Times New Roman" pitchFamily="18" charset="0"/>
                <a:cs typeface="Times New Roman" pitchFamily="18" charset="0"/>
              </a:rPr>
              <a:t>mappings are usually kept in the primary memory so that address fetch should be faster.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Then </a:t>
            </a:r>
            <a:r>
              <a:rPr lang="en-US" sz="2800" dirty="0">
                <a:solidFill>
                  <a:schemeClr val="tx1"/>
                </a:solidFill>
                <a:latin typeface="Times New Roman" pitchFamily="18" charset="0"/>
                <a:cs typeface="Times New Roman" pitchFamily="18" charset="0"/>
              </a:rPr>
              <a:t>the secondary memory searches the actual data based on the address got from mapping.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If </a:t>
            </a:r>
            <a:r>
              <a:rPr lang="en-US" sz="2800" dirty="0">
                <a:solidFill>
                  <a:schemeClr val="tx1"/>
                </a:solidFill>
                <a:latin typeface="Times New Roman" pitchFamily="18" charset="0"/>
                <a:cs typeface="Times New Roman" pitchFamily="18" charset="0"/>
              </a:rPr>
              <a:t>the </a:t>
            </a:r>
            <a:r>
              <a:rPr lang="en-US" sz="2800" b="1" dirty="0">
                <a:solidFill>
                  <a:schemeClr val="tx1"/>
                </a:solidFill>
                <a:latin typeface="Times New Roman" pitchFamily="18" charset="0"/>
                <a:cs typeface="Times New Roman" pitchFamily="18" charset="0"/>
              </a:rPr>
              <a:t>mapping size grows then fetching the address itself becomes slower</a:t>
            </a:r>
            <a:r>
              <a:rPr lang="en-US" sz="2800" dirty="0">
                <a:solidFill>
                  <a:schemeClr val="tx1"/>
                </a:solidFill>
                <a:latin typeface="Times New Roman" pitchFamily="18" charset="0"/>
                <a:cs typeface="Times New Roman" pitchFamily="18" charset="0"/>
              </a:rPr>
              <a:t>.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In </a:t>
            </a:r>
            <a:r>
              <a:rPr lang="en-US" sz="2800" dirty="0">
                <a:solidFill>
                  <a:schemeClr val="tx1"/>
                </a:solidFill>
                <a:latin typeface="Times New Roman" pitchFamily="18" charset="0"/>
                <a:cs typeface="Times New Roman" pitchFamily="18" charset="0"/>
              </a:rPr>
              <a:t>this case, the sparse index will not be efficient. To overcome this problem, </a:t>
            </a:r>
            <a:r>
              <a:rPr lang="en-US" sz="2800" b="1" dirty="0">
                <a:solidFill>
                  <a:schemeClr val="tx1"/>
                </a:solidFill>
                <a:latin typeface="Times New Roman" pitchFamily="18" charset="0"/>
                <a:cs typeface="Times New Roman" pitchFamily="18" charset="0"/>
              </a:rPr>
              <a:t>secondary indexing is introduced.</a:t>
            </a:r>
            <a:endParaRPr lang="en-US" sz="2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86596798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a:solidFill>
                  <a:schemeClr val="tx1"/>
                </a:solidFill>
                <a:latin typeface="Times New Roman" pitchFamily="18" charset="0"/>
                <a:cs typeface="Times New Roman" pitchFamily="18" charset="0"/>
              </a:rPr>
              <a:t>Secondary index</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secondary indexing, to reduce the size of mapping, another level of indexing is introduced</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In </a:t>
            </a:r>
            <a:r>
              <a:rPr lang="en-US" sz="2800" dirty="0">
                <a:solidFill>
                  <a:schemeClr val="tx1"/>
                </a:solidFill>
                <a:latin typeface="Times New Roman" pitchFamily="18" charset="0"/>
                <a:cs typeface="Times New Roman" pitchFamily="18" charset="0"/>
              </a:rPr>
              <a:t>this method, the huge range for the columns is selected initially so that the mapping size of the first level becomes small</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Then </a:t>
            </a:r>
            <a:r>
              <a:rPr lang="en-US" sz="2800" dirty="0">
                <a:solidFill>
                  <a:schemeClr val="tx1"/>
                </a:solidFill>
                <a:latin typeface="Times New Roman" pitchFamily="18" charset="0"/>
                <a:cs typeface="Times New Roman" pitchFamily="18" charset="0"/>
              </a:rPr>
              <a:t>each range is further divided into smaller ranges.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mapping of the first level is stored in the primary memory, so that address fetch is faster.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mapping of the second level and actual data are stored in the secondary memory (hard disk).</a:t>
            </a:r>
            <a:endParaRPr lang="en-US" sz="2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21629543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8"/>
            <a:ext cx="8094254" cy="402510"/>
          </a:xfrm>
        </p:spPr>
        <p:txBody>
          <a:bodyPr>
            <a:normAutofit fontScale="85000" lnSpcReduction="20000"/>
          </a:bodyPr>
          <a:lstStyle/>
          <a:p>
            <a:pPr algn="just">
              <a:buClr>
                <a:schemeClr val="tx1"/>
              </a:buClr>
              <a:buSzPct val="71000"/>
            </a:pPr>
            <a:r>
              <a:rPr lang="en-US" sz="2800" b="1" dirty="0">
                <a:solidFill>
                  <a:schemeClr val="tx1"/>
                </a:solidFill>
                <a:latin typeface="Times New Roman" pitchFamily="18" charset="0"/>
                <a:cs typeface="Times New Roman" pitchFamily="18" charset="0"/>
              </a:rPr>
              <a:t>Secondary </a:t>
            </a:r>
            <a:r>
              <a:rPr lang="en-US" sz="2800" b="1" dirty="0" smtClean="0">
                <a:solidFill>
                  <a:schemeClr val="tx1"/>
                </a:solidFill>
                <a:latin typeface="Times New Roman" pitchFamily="18" charset="0"/>
                <a:cs typeface="Times New Roman" pitchFamily="18" charset="0"/>
              </a:rPr>
              <a:t>index</a:t>
            </a:r>
            <a:endParaRPr lang="en-US" sz="2800" b="1" dirty="0">
              <a:solidFill>
                <a:schemeClr val="tx1"/>
              </a:solidFill>
              <a:latin typeface="Times New Roman" pitchFamily="18" charset="0"/>
              <a:cs typeface="Times New Roman" pitchFamily="18" charset="0"/>
            </a:endParaRPr>
          </a:p>
        </p:txBody>
      </p:sp>
      <p:pic>
        <p:nvPicPr>
          <p:cNvPr id="6146" name="Picture 2" descr="DBMS Indexing in DBM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771" y="1620030"/>
            <a:ext cx="7200569" cy="5101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874980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800" b="1" dirty="0">
                <a:solidFill>
                  <a:schemeClr val="tx1"/>
                </a:solidFill>
                <a:latin typeface="Times New Roman" pitchFamily="18" charset="0"/>
                <a:cs typeface="Times New Roman" pitchFamily="18" charset="0"/>
              </a:rPr>
              <a:t>Secondary index</a:t>
            </a:r>
          </a:p>
          <a:p>
            <a:pPr algn="just">
              <a:buClr>
                <a:schemeClr val="tx1"/>
              </a:buClr>
              <a:buSzPct val="71000"/>
            </a:pPr>
            <a:r>
              <a:rPr lang="en-US" sz="2800" b="1" dirty="0">
                <a:solidFill>
                  <a:schemeClr val="tx1"/>
                </a:solidFill>
                <a:latin typeface="Times New Roman" pitchFamily="18" charset="0"/>
                <a:cs typeface="Times New Roman" pitchFamily="18" charset="0"/>
              </a:rPr>
              <a:t>For example</a:t>
            </a:r>
            <a:r>
              <a:rPr lang="en-US" sz="2800" b="1" dirty="0" smtClean="0">
                <a:solidFill>
                  <a:schemeClr val="tx1"/>
                </a:solidFill>
                <a:latin typeface="Times New Roman" pitchFamily="18" charset="0"/>
                <a:cs typeface="Times New Roman" pitchFamily="18" charset="0"/>
              </a:rPr>
              <a:t>:</a:t>
            </a:r>
            <a:endParaRPr lang="en-US" sz="2800" b="1"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If you want to find the record of roll 111 in the diagram, then it will search the highest entry which is smaller than or equal to 111 in the first level index. It will get 100 at this level.</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Then in the second index level, again it does max (111) &lt;= 111 and gets 110. Now using the address 110, it goes to the data block and starts searching each record till it gets 111.</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This is how a search is performed in this method. Inserting, updating or deleting is also done in the same manner.</a:t>
            </a:r>
            <a:endParaRPr lang="en-US" sz="2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1342127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a:solidFill>
                  <a:schemeClr val="tx1"/>
                </a:solidFill>
                <a:latin typeface="Times New Roman" pitchFamily="18" charset="0"/>
                <a:cs typeface="Times New Roman" pitchFamily="18" charset="0"/>
              </a:rPr>
              <a:t>Multilevel index</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this method, we can see that index mapping growth is reduced to considerable amount.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But </a:t>
            </a:r>
            <a:r>
              <a:rPr lang="en-US" sz="2800" dirty="0">
                <a:solidFill>
                  <a:schemeClr val="tx1"/>
                </a:solidFill>
                <a:latin typeface="Times New Roman" pitchFamily="18" charset="0"/>
                <a:cs typeface="Times New Roman" pitchFamily="18" charset="0"/>
              </a:rPr>
              <a:t>this method can also have same problem as the table size increases.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In </a:t>
            </a:r>
            <a:r>
              <a:rPr lang="en-US" sz="2800" dirty="0">
                <a:solidFill>
                  <a:schemeClr val="tx1"/>
                </a:solidFill>
                <a:latin typeface="Times New Roman" pitchFamily="18" charset="0"/>
                <a:cs typeface="Times New Roman" pitchFamily="18" charset="0"/>
              </a:rPr>
              <a:t>order to overcome this, we can introduce multiple levels between primary memory and secondary memory.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In </a:t>
            </a:r>
            <a:r>
              <a:rPr lang="en-US" sz="2800" dirty="0">
                <a:solidFill>
                  <a:schemeClr val="tx1"/>
                </a:solidFill>
                <a:latin typeface="Times New Roman" pitchFamily="18" charset="0"/>
                <a:cs typeface="Times New Roman" pitchFamily="18" charset="0"/>
              </a:rPr>
              <a:t>this method number of secondary level index is two or more.</a:t>
            </a:r>
            <a:endParaRPr lang="en-US" sz="2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41149395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B+ </a:t>
            </a:r>
            <a:r>
              <a:rPr lang="en-US" sz="2800" b="1" dirty="0">
                <a:solidFill>
                  <a:schemeClr val="tx1"/>
                </a:solidFill>
                <a:latin typeface="Times New Roman" pitchFamily="18" charset="0"/>
                <a:cs typeface="Times New Roman" pitchFamily="18" charset="0"/>
              </a:rPr>
              <a:t>index</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B+ tree is a balanced binary search tree. It follows a multi-level index format.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the B+ tree, leaf nodes denote actual data pointers. B+ tree ensures that all leaf nodes remain at the same height.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the B+ tree, the leaf nodes are linked using a link list. Therefore, a B+ tree can support random access as well as sequential access.</a:t>
            </a:r>
            <a:endParaRPr lang="en-US" sz="2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1082638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B+ </a:t>
            </a:r>
            <a:r>
              <a:rPr lang="en-US" sz="2800" b="1" dirty="0">
                <a:solidFill>
                  <a:schemeClr val="tx1"/>
                </a:solidFill>
                <a:latin typeface="Times New Roman" pitchFamily="18" charset="0"/>
                <a:cs typeface="Times New Roman" pitchFamily="18" charset="0"/>
              </a:rPr>
              <a:t>index</a:t>
            </a:r>
          </a:p>
          <a:p>
            <a:pPr algn="just">
              <a:buClr>
                <a:schemeClr val="tx1"/>
              </a:buClr>
              <a:buSzPct val="71000"/>
            </a:pPr>
            <a:r>
              <a:rPr lang="en-US" sz="2800" b="1" dirty="0">
                <a:solidFill>
                  <a:schemeClr val="tx1"/>
                </a:solidFill>
                <a:latin typeface="Times New Roman" pitchFamily="18" charset="0"/>
                <a:cs typeface="Times New Roman" pitchFamily="18" charset="0"/>
              </a:rPr>
              <a:t>Structure of B+ Tree</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the B+ tree, every leaf node is at equal distance from the root node. The B+ tree is of the order n where n is fixed for every B+ tree.</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It contains an internal node and leaf node.</a:t>
            </a:r>
            <a:endParaRPr lang="en-US" sz="2000" b="1" dirty="0">
              <a:solidFill>
                <a:schemeClr val="tx1"/>
              </a:solidFill>
              <a:latin typeface="Times New Roman" pitchFamily="18" charset="0"/>
              <a:cs typeface="Times New Roman" pitchFamily="18" charset="0"/>
            </a:endParaRPr>
          </a:p>
        </p:txBody>
      </p:sp>
      <p:pic>
        <p:nvPicPr>
          <p:cNvPr id="7170" name="Picture 2" descr="DBMS B+ 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0160" y="4450828"/>
            <a:ext cx="5943600" cy="148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370776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85000" lnSpcReduction="2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B+ </a:t>
            </a:r>
            <a:r>
              <a:rPr lang="en-US" sz="2800" b="1" dirty="0">
                <a:solidFill>
                  <a:schemeClr val="tx1"/>
                </a:solidFill>
                <a:latin typeface="Times New Roman" pitchFamily="18" charset="0"/>
                <a:cs typeface="Times New Roman" pitchFamily="18" charset="0"/>
              </a:rPr>
              <a:t>index</a:t>
            </a:r>
          </a:p>
          <a:p>
            <a:pPr algn="just">
              <a:buClr>
                <a:schemeClr val="tx1"/>
              </a:buClr>
              <a:buSzPct val="71000"/>
            </a:pPr>
            <a:r>
              <a:rPr lang="en-US" sz="2800" b="1" dirty="0">
                <a:solidFill>
                  <a:schemeClr val="tx1"/>
                </a:solidFill>
                <a:latin typeface="Times New Roman" pitchFamily="18" charset="0"/>
                <a:cs typeface="Times New Roman" pitchFamily="18" charset="0"/>
              </a:rPr>
              <a:t>Structure of B+ Tree</a:t>
            </a:r>
          </a:p>
          <a:p>
            <a:pPr algn="just">
              <a:buClr>
                <a:schemeClr val="tx1"/>
              </a:buClr>
              <a:buSzPct val="71000"/>
            </a:pPr>
            <a:r>
              <a:rPr lang="en-US" sz="2800" b="1" dirty="0">
                <a:solidFill>
                  <a:schemeClr val="tx1"/>
                </a:solidFill>
                <a:latin typeface="Times New Roman" pitchFamily="18" charset="0"/>
                <a:cs typeface="Times New Roman" pitchFamily="18" charset="0"/>
              </a:rPr>
              <a:t>Internal node</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An internal node of the B+ tree can contain at least n/2 record pointers except the root node.</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At most, an internal node of the tree contains n pointers.</a:t>
            </a:r>
          </a:p>
          <a:p>
            <a:pPr algn="just">
              <a:buClr>
                <a:schemeClr val="tx1"/>
              </a:buClr>
              <a:buSzPct val="71000"/>
            </a:pPr>
            <a:r>
              <a:rPr lang="en-US" sz="2800" b="1" dirty="0">
                <a:solidFill>
                  <a:schemeClr val="tx1"/>
                </a:solidFill>
                <a:latin typeface="Times New Roman" pitchFamily="18" charset="0"/>
                <a:cs typeface="Times New Roman" pitchFamily="18" charset="0"/>
              </a:rPr>
              <a:t>Leaf node</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leaf node of the B+ tree can contain at least n/2 record pointers and n/2 key values.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At most, a leaf node contains n record pointer and n key values.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Every leaf node of the B+ tree contains one block pointer P to point to next leaf node.</a:t>
            </a:r>
            <a:endParaRPr lang="en-US" sz="2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11976182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B+ index Insertion</a:t>
            </a:r>
            <a:endParaRPr lang="en-US" sz="2800" b="1"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Suppose we want to insert a record 60 in the below structure. It will go to the 3rd leaf node after 55. It is a balanced tree, and a leaf node of this tree is already full, so we cannot insert 60 there</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this case, we have to split the leaf node, so that it can be inserted into tree without affecting the fill factor, balance and order.</a:t>
            </a:r>
            <a:endParaRPr lang="en-US" sz="2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8652477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566283"/>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B+ index Insertion</a:t>
            </a:r>
            <a:endParaRPr lang="en-US" sz="2800" b="1" dirty="0">
              <a:solidFill>
                <a:schemeClr val="tx1"/>
              </a:solidFill>
              <a:latin typeface="Times New Roman" pitchFamily="18" charset="0"/>
              <a:cs typeface="Times New Roman" pitchFamily="18" charset="0"/>
            </a:endParaRPr>
          </a:p>
        </p:txBody>
      </p:sp>
      <p:pic>
        <p:nvPicPr>
          <p:cNvPr id="8194" name="Picture 2" descr="DBMS B+ 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7418" y="1710376"/>
            <a:ext cx="7555411" cy="2288418"/>
          </a:xfrm>
          <a:prstGeom prst="rect">
            <a:avLst/>
          </a:prstGeom>
          <a:noFill/>
          <a:extLst>
            <a:ext uri="{909E8E84-426E-40DD-AFC4-6F175D3DCCD1}">
              <a14:hiddenFill xmlns:a14="http://schemas.microsoft.com/office/drawing/2010/main">
                <a:solidFill>
                  <a:srgbClr val="FFFFFF"/>
                </a:solidFill>
              </a14:hiddenFill>
            </a:ext>
          </a:extLst>
        </p:spPr>
      </p:pic>
      <p:sp>
        <p:nvSpPr>
          <p:cNvPr id="6" name="Subtitle 2"/>
          <p:cNvSpPr txBox="1">
            <a:spLocks/>
          </p:cNvSpPr>
          <p:nvPr/>
        </p:nvSpPr>
        <p:spPr>
          <a:xfrm>
            <a:off x="1281567" y="4135272"/>
            <a:ext cx="8094254" cy="2349914"/>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3rd leaf node has the values (50, 55, 60, 65, 70) and its current root node is 50. We will split the leaf node of the tree in the middle so that its balance is not altered. So we can group (50, 55) and (60, 65, 70) into 2 leaf nodes.</a:t>
            </a:r>
            <a:endParaRPr lang="en-US" sz="2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74941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566283"/>
          </a:xfrm>
        </p:spPr>
        <p:txBody>
          <a:bodyPr>
            <a:normAutofit/>
          </a:bodyPr>
          <a:lstStyle/>
          <a:p>
            <a:pPr algn="just">
              <a:buClr>
                <a:schemeClr val="tx1"/>
              </a:buClr>
              <a:buSzPct val="71000"/>
            </a:pPr>
            <a:r>
              <a:rPr lang="en-US" sz="2800" b="1" dirty="0">
                <a:solidFill>
                  <a:schemeClr val="tx1"/>
                </a:solidFill>
                <a:latin typeface="Times New Roman" pitchFamily="18" charset="0"/>
                <a:cs typeface="Times New Roman" pitchFamily="18" charset="0"/>
              </a:rPr>
              <a:t>B+ index Insertion</a:t>
            </a:r>
          </a:p>
          <a:p>
            <a:pPr algn="just">
              <a:buClr>
                <a:schemeClr val="tx1"/>
              </a:buClr>
              <a:buSzPct val="71000"/>
            </a:pPr>
            <a:endParaRPr lang="en-US" sz="2800" b="1" dirty="0">
              <a:solidFill>
                <a:schemeClr val="tx1"/>
              </a:solidFill>
              <a:latin typeface="Times New Roman" pitchFamily="18" charset="0"/>
              <a:cs typeface="Times New Roman" pitchFamily="18" charset="0"/>
            </a:endParaRPr>
          </a:p>
        </p:txBody>
      </p:sp>
      <p:sp>
        <p:nvSpPr>
          <p:cNvPr id="6" name="Subtitle 2"/>
          <p:cNvSpPr txBox="1">
            <a:spLocks/>
          </p:cNvSpPr>
          <p:nvPr/>
        </p:nvSpPr>
        <p:spPr>
          <a:xfrm>
            <a:off x="1281567" y="4135272"/>
            <a:ext cx="8094254" cy="2349914"/>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If these two has to be leaf nodes, the intermediate node cannot branch from 50. It should have 60 added to it, and then we can have pointers to a new leaf node</a:t>
            </a:r>
            <a:r>
              <a:rPr lang="en-US" sz="2800" dirty="0" smtClean="0">
                <a:solidFill>
                  <a:schemeClr val="tx1"/>
                </a:solidFill>
                <a:latin typeface="Times New Roman" pitchFamily="18" charset="0"/>
                <a:cs typeface="Times New Roman" pitchFamily="18" charset="0"/>
              </a:rPr>
              <a:t>.</a:t>
            </a:r>
          </a:p>
        </p:txBody>
      </p:sp>
      <p:pic>
        <p:nvPicPr>
          <p:cNvPr id="10242" name="Picture 2" descr="DBMS B+ 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706" y="1672348"/>
            <a:ext cx="7528115" cy="2256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438262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566283"/>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Hash index</a:t>
            </a:r>
            <a:endParaRPr lang="en-US" sz="2800" b="1" dirty="0">
              <a:solidFill>
                <a:schemeClr val="tx1"/>
              </a:solidFill>
              <a:latin typeface="Times New Roman" pitchFamily="18" charset="0"/>
              <a:cs typeface="Times New Roman" pitchFamily="18" charset="0"/>
            </a:endParaRPr>
          </a:p>
        </p:txBody>
      </p:sp>
      <p:sp>
        <p:nvSpPr>
          <p:cNvPr id="6" name="Subtitle 2"/>
          <p:cNvSpPr txBox="1">
            <a:spLocks/>
          </p:cNvSpPr>
          <p:nvPr/>
        </p:nvSpPr>
        <p:spPr>
          <a:xfrm>
            <a:off x="1390749" y="1614985"/>
            <a:ext cx="8094254" cy="4594746"/>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Hashing technique is used to calculate the direct location of a data record on the disk without using index structure</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this technique, data is stored at the data blocks whose address is generated by using the hashing function.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memory location where these records are stored is known as </a:t>
            </a:r>
            <a:r>
              <a:rPr lang="en-US" sz="2800" b="1" dirty="0">
                <a:solidFill>
                  <a:schemeClr val="tx1"/>
                </a:solidFill>
                <a:latin typeface="Times New Roman" pitchFamily="18" charset="0"/>
                <a:cs typeface="Times New Roman" pitchFamily="18" charset="0"/>
              </a:rPr>
              <a:t>data bucket or data blocks</a:t>
            </a:r>
            <a:r>
              <a:rPr lang="en-US" sz="2800" b="1" dirty="0" smtClean="0">
                <a:solidFill>
                  <a:schemeClr val="tx1"/>
                </a:solidFill>
                <a:latin typeface="Times New Roman" pitchFamily="18" charset="0"/>
                <a:cs typeface="Times New Roman" pitchFamily="18" charset="0"/>
              </a:rPr>
              <a:t>.</a:t>
            </a:r>
            <a:endParaRPr lang="en-US" sz="28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63244544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566283"/>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Hash index</a:t>
            </a:r>
            <a:endParaRPr lang="en-US" sz="2800" b="1" dirty="0">
              <a:solidFill>
                <a:schemeClr val="tx1"/>
              </a:solidFill>
              <a:latin typeface="Times New Roman" pitchFamily="18" charset="0"/>
              <a:cs typeface="Times New Roman" pitchFamily="18" charset="0"/>
            </a:endParaRPr>
          </a:p>
        </p:txBody>
      </p:sp>
      <p:sp>
        <p:nvSpPr>
          <p:cNvPr id="6" name="Subtitle 2"/>
          <p:cNvSpPr txBox="1">
            <a:spLocks/>
          </p:cNvSpPr>
          <p:nvPr/>
        </p:nvSpPr>
        <p:spPr>
          <a:xfrm>
            <a:off x="1390749" y="1614985"/>
            <a:ext cx="8094254" cy="4594746"/>
          </a:xfrm>
          <a:prstGeom prst="rect">
            <a:avLst/>
          </a:prstGeom>
        </p:spPr>
        <p:txBody>
          <a:bodyPr vert="horz" lIns="91440" tIns="45720" rIns="91440" bIns="45720" rtlCol="0" anchor="t">
            <a:normAutofit lnSpcReduction="1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In </a:t>
            </a:r>
            <a:r>
              <a:rPr lang="en-US" sz="2800" dirty="0">
                <a:solidFill>
                  <a:schemeClr val="tx1"/>
                </a:solidFill>
                <a:latin typeface="Times New Roman" pitchFamily="18" charset="0"/>
                <a:cs typeface="Times New Roman" pitchFamily="18" charset="0"/>
              </a:rPr>
              <a:t>this, a hash function can choose any of the column value to generate the address.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Most </a:t>
            </a:r>
            <a:r>
              <a:rPr lang="en-US" sz="2800" dirty="0">
                <a:solidFill>
                  <a:schemeClr val="tx1"/>
                </a:solidFill>
                <a:latin typeface="Times New Roman" pitchFamily="18" charset="0"/>
                <a:cs typeface="Times New Roman" pitchFamily="18" charset="0"/>
              </a:rPr>
              <a:t>of the time, the hash function uses the primary key to generate the address of the data block.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 </a:t>
            </a:r>
            <a:r>
              <a:rPr lang="en-US" sz="2800" dirty="0">
                <a:solidFill>
                  <a:schemeClr val="tx1"/>
                </a:solidFill>
                <a:latin typeface="Times New Roman" pitchFamily="18" charset="0"/>
                <a:cs typeface="Times New Roman" pitchFamily="18" charset="0"/>
              </a:rPr>
              <a:t>hash function is a simple mathematical function to any complex mathematical function.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We </a:t>
            </a:r>
            <a:r>
              <a:rPr lang="en-US" sz="2800" dirty="0">
                <a:solidFill>
                  <a:schemeClr val="tx1"/>
                </a:solidFill>
                <a:latin typeface="Times New Roman" pitchFamily="18" charset="0"/>
                <a:cs typeface="Times New Roman" pitchFamily="18" charset="0"/>
              </a:rPr>
              <a:t>can even consider the primary key itself as the address of the data block. That means each row whose address will be the same as a primary key stored in the data block.</a:t>
            </a:r>
            <a:endParaRPr lang="en-US" sz="2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64188450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566283"/>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Hash index</a:t>
            </a:r>
            <a:endParaRPr lang="en-US" sz="2800" b="1" dirty="0">
              <a:solidFill>
                <a:schemeClr val="tx1"/>
              </a:solidFill>
              <a:latin typeface="Times New Roman" pitchFamily="18" charset="0"/>
              <a:cs typeface="Times New Roman" pitchFamily="18" charset="0"/>
            </a:endParaRPr>
          </a:p>
        </p:txBody>
      </p:sp>
      <p:pic>
        <p:nvPicPr>
          <p:cNvPr id="13314" name="Picture 2" descr="DBMS Hash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8464" y="1690046"/>
            <a:ext cx="7773775" cy="46758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535262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566283"/>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Hash index</a:t>
            </a:r>
            <a:endParaRPr lang="en-US" sz="2800" b="1" dirty="0">
              <a:solidFill>
                <a:schemeClr val="tx1"/>
              </a:solidFill>
              <a:latin typeface="Times New Roman" pitchFamily="18" charset="0"/>
              <a:cs typeface="Times New Roman" pitchFamily="18" charset="0"/>
            </a:endParaRPr>
          </a:p>
        </p:txBody>
      </p:sp>
      <p:sp>
        <p:nvSpPr>
          <p:cNvPr id="6" name="Subtitle 2"/>
          <p:cNvSpPr txBox="1">
            <a:spLocks/>
          </p:cNvSpPr>
          <p:nvPr/>
        </p:nvSpPr>
        <p:spPr>
          <a:xfrm>
            <a:off x="1390749" y="1614985"/>
            <a:ext cx="8094254" cy="4594746"/>
          </a:xfrm>
          <a:prstGeom prst="rect">
            <a:avLst/>
          </a:prstGeom>
        </p:spPr>
        <p:txBody>
          <a:bodyPr vert="horz" lIns="91440" tIns="45720" rIns="91440" bIns="45720" rtlCol="0" anchor="t">
            <a:normAutofit fontScale="925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above diagram shows data block addresses same as primary key value.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This </a:t>
            </a:r>
            <a:r>
              <a:rPr lang="en-US" sz="2800" dirty="0">
                <a:solidFill>
                  <a:schemeClr val="tx1"/>
                </a:solidFill>
                <a:latin typeface="Times New Roman" pitchFamily="18" charset="0"/>
                <a:cs typeface="Times New Roman" pitchFamily="18" charset="0"/>
              </a:rPr>
              <a:t>hash function can also be a simple mathematical function like exponential, mod, </a:t>
            </a:r>
            <a:r>
              <a:rPr lang="en-US" sz="2800" dirty="0" err="1">
                <a:solidFill>
                  <a:schemeClr val="tx1"/>
                </a:solidFill>
                <a:latin typeface="Times New Roman" pitchFamily="18" charset="0"/>
                <a:cs typeface="Times New Roman" pitchFamily="18" charset="0"/>
              </a:rPr>
              <a:t>cos</a:t>
            </a:r>
            <a:r>
              <a:rPr lang="en-US" sz="2800" dirty="0">
                <a:solidFill>
                  <a:schemeClr val="tx1"/>
                </a:solidFill>
                <a:latin typeface="Times New Roman" pitchFamily="18" charset="0"/>
                <a:cs typeface="Times New Roman" pitchFamily="18" charset="0"/>
              </a:rPr>
              <a:t>, sin, etc.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Suppose </a:t>
            </a:r>
            <a:r>
              <a:rPr lang="en-US" sz="2800" dirty="0">
                <a:solidFill>
                  <a:schemeClr val="tx1"/>
                </a:solidFill>
                <a:latin typeface="Times New Roman" pitchFamily="18" charset="0"/>
                <a:cs typeface="Times New Roman" pitchFamily="18" charset="0"/>
              </a:rPr>
              <a:t>we have mod (5) hash function to determine the address of the data block. </a:t>
            </a:r>
            <a:r>
              <a:rPr lang="en-US" sz="2800" dirty="0" smtClean="0">
                <a:solidFill>
                  <a:schemeClr val="tx1"/>
                </a:solidFill>
                <a:latin typeface="Times New Roman" pitchFamily="18" charset="0"/>
                <a:cs typeface="Times New Roman" pitchFamily="18" charset="0"/>
              </a:rPr>
              <a:t>I</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n </a:t>
            </a:r>
            <a:r>
              <a:rPr lang="en-US" sz="2800" dirty="0">
                <a:solidFill>
                  <a:schemeClr val="tx1"/>
                </a:solidFill>
                <a:latin typeface="Times New Roman" pitchFamily="18" charset="0"/>
                <a:cs typeface="Times New Roman" pitchFamily="18" charset="0"/>
              </a:rPr>
              <a:t>this case, it applies mod (5) hash function on the primary keys and generates 3, 3, 1, 4 and 2 respectively, and records are stored in those data block addresses.</a:t>
            </a:r>
            <a:endParaRPr lang="en-US" sz="2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12736743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566283"/>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Hash index</a:t>
            </a:r>
            <a:endParaRPr lang="en-US" sz="2800" b="1" dirty="0">
              <a:solidFill>
                <a:schemeClr val="tx1"/>
              </a:solidFill>
              <a:latin typeface="Times New Roman" pitchFamily="18" charset="0"/>
              <a:cs typeface="Times New Roman" pitchFamily="18" charset="0"/>
            </a:endParaRPr>
          </a:p>
        </p:txBody>
      </p:sp>
      <p:pic>
        <p:nvPicPr>
          <p:cNvPr id="15362" name="Picture 2" descr="DBMS Hash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9282" y="1619510"/>
            <a:ext cx="8114970" cy="4508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716147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934773"/>
          </a:xfrm>
        </p:spPr>
        <p:txBody>
          <a:bodyPr>
            <a:normAutofit fontScale="92500"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Hash index</a:t>
            </a:r>
          </a:p>
          <a:p>
            <a:pPr algn="just">
              <a:buClr>
                <a:schemeClr val="tx1"/>
              </a:buClr>
              <a:buSzPct val="71000"/>
            </a:pPr>
            <a:r>
              <a:rPr lang="en-US" sz="2800" b="1" dirty="0">
                <a:solidFill>
                  <a:schemeClr val="tx1"/>
                </a:solidFill>
                <a:latin typeface="Times New Roman" pitchFamily="18" charset="0"/>
                <a:cs typeface="Times New Roman" pitchFamily="18" charset="0"/>
              </a:rPr>
              <a:t>Types of Hashing:</a:t>
            </a:r>
          </a:p>
        </p:txBody>
      </p:sp>
      <p:pic>
        <p:nvPicPr>
          <p:cNvPr id="16386" name="Picture 2" descr="DBMS Hash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7706" y="2262638"/>
            <a:ext cx="5385416" cy="3034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197021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566283"/>
          </a:xfrm>
        </p:spPr>
        <p:txBody>
          <a:bodyPr>
            <a:normAutofit/>
          </a:bodyPr>
          <a:lstStyle/>
          <a:p>
            <a:pPr algn="just">
              <a:buClr>
                <a:schemeClr val="tx1"/>
              </a:buClr>
              <a:buSzPct val="71000"/>
            </a:pPr>
            <a:r>
              <a:rPr lang="en-US" sz="2800" b="1" dirty="0">
                <a:solidFill>
                  <a:schemeClr val="tx1"/>
                </a:solidFill>
                <a:latin typeface="Times New Roman" pitchFamily="18" charset="0"/>
                <a:cs typeface="Times New Roman" pitchFamily="18" charset="0"/>
              </a:rPr>
              <a:t>Indexed sequential access method (</a:t>
            </a:r>
            <a:r>
              <a:rPr lang="en-US" sz="2800" b="1" dirty="0" err="1">
                <a:solidFill>
                  <a:schemeClr val="tx1"/>
                </a:solidFill>
                <a:latin typeface="Times New Roman" pitchFamily="18" charset="0"/>
                <a:cs typeface="Times New Roman" pitchFamily="18" charset="0"/>
              </a:rPr>
              <a:t>ISAM</a:t>
            </a:r>
            <a:r>
              <a:rPr lang="en-US" sz="2800" b="1" dirty="0">
                <a:solidFill>
                  <a:schemeClr val="tx1"/>
                </a:solidFill>
                <a:latin typeface="Times New Roman" pitchFamily="18" charset="0"/>
                <a:cs typeface="Times New Roman" pitchFamily="18" charset="0"/>
              </a:rPr>
              <a:t>)</a:t>
            </a:r>
            <a:endParaRPr lang="en-US" sz="2800" b="1" dirty="0">
              <a:solidFill>
                <a:schemeClr val="tx1"/>
              </a:solidFill>
              <a:latin typeface="Times New Roman" pitchFamily="18" charset="0"/>
              <a:cs typeface="Times New Roman" pitchFamily="18" charset="0"/>
            </a:endParaRPr>
          </a:p>
        </p:txBody>
      </p:sp>
      <p:sp>
        <p:nvSpPr>
          <p:cNvPr id="6" name="Subtitle 2"/>
          <p:cNvSpPr txBox="1">
            <a:spLocks/>
          </p:cNvSpPr>
          <p:nvPr/>
        </p:nvSpPr>
        <p:spPr>
          <a:xfrm>
            <a:off x="1390749" y="1614985"/>
            <a:ext cx="8094254" cy="4594746"/>
          </a:xfrm>
          <a:prstGeom prst="rect">
            <a:avLst/>
          </a:prstGeom>
        </p:spPr>
        <p:txBody>
          <a:bodyPr vert="horz" lIns="91440" tIns="45720" rIns="91440" bIns="45720" rtlCol="0" anchor="t">
            <a:normAutofit lnSpcReduction="1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err="1">
                <a:solidFill>
                  <a:schemeClr val="tx1"/>
                </a:solidFill>
                <a:latin typeface="Times New Roman" pitchFamily="18" charset="0"/>
                <a:cs typeface="Times New Roman" pitchFamily="18" charset="0"/>
              </a:rPr>
              <a:t>ISAM</a:t>
            </a:r>
            <a:r>
              <a:rPr lang="en-US" sz="2800" dirty="0">
                <a:solidFill>
                  <a:schemeClr val="tx1"/>
                </a:solidFill>
                <a:latin typeface="Times New Roman" pitchFamily="18" charset="0"/>
                <a:cs typeface="Times New Roman" pitchFamily="18" charset="0"/>
              </a:rPr>
              <a:t> method is an advanced sequential file organization.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In </a:t>
            </a:r>
            <a:r>
              <a:rPr lang="en-US" sz="2800" dirty="0">
                <a:solidFill>
                  <a:schemeClr val="tx1"/>
                </a:solidFill>
                <a:latin typeface="Times New Roman" pitchFamily="18" charset="0"/>
                <a:cs typeface="Times New Roman" pitchFamily="18" charset="0"/>
              </a:rPr>
              <a:t>this method, records are stored in the file using the primary key.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An </a:t>
            </a:r>
            <a:r>
              <a:rPr lang="en-US" sz="2800" dirty="0">
                <a:solidFill>
                  <a:schemeClr val="tx1"/>
                </a:solidFill>
                <a:latin typeface="Times New Roman" pitchFamily="18" charset="0"/>
                <a:cs typeface="Times New Roman" pitchFamily="18" charset="0"/>
              </a:rPr>
              <a:t>index value is generated for each primary key and mapped with the record. This index contains the address of the record in the file</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If any record has to be retrieved based on its index value, then the address of the data block is fetched and the record is retrieved from the memory.</a:t>
            </a:r>
            <a:endParaRPr lang="en-US" sz="2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51098421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566283"/>
          </a:xfrm>
        </p:spPr>
        <p:txBody>
          <a:bodyPr>
            <a:normAutofit/>
          </a:bodyPr>
          <a:lstStyle/>
          <a:p>
            <a:pPr algn="just">
              <a:buClr>
                <a:schemeClr val="tx1"/>
              </a:buClr>
              <a:buSzPct val="71000"/>
            </a:pPr>
            <a:r>
              <a:rPr lang="en-US" sz="2800" b="1" dirty="0">
                <a:solidFill>
                  <a:schemeClr val="tx1"/>
                </a:solidFill>
                <a:latin typeface="Times New Roman" pitchFamily="18" charset="0"/>
                <a:cs typeface="Times New Roman" pitchFamily="18" charset="0"/>
              </a:rPr>
              <a:t>Indexed sequential access method (</a:t>
            </a:r>
            <a:r>
              <a:rPr lang="en-US" sz="2800" b="1" dirty="0" err="1">
                <a:solidFill>
                  <a:schemeClr val="tx1"/>
                </a:solidFill>
                <a:latin typeface="Times New Roman" pitchFamily="18" charset="0"/>
                <a:cs typeface="Times New Roman" pitchFamily="18" charset="0"/>
              </a:rPr>
              <a:t>ISAM</a:t>
            </a:r>
            <a:r>
              <a:rPr lang="en-US" sz="2800" b="1" dirty="0">
                <a:solidFill>
                  <a:schemeClr val="tx1"/>
                </a:solidFill>
                <a:latin typeface="Times New Roman" pitchFamily="18" charset="0"/>
                <a:cs typeface="Times New Roman" pitchFamily="18" charset="0"/>
              </a:rPr>
              <a:t>)</a:t>
            </a:r>
            <a:endParaRPr lang="en-US" sz="2800" b="1" dirty="0">
              <a:solidFill>
                <a:schemeClr val="tx1"/>
              </a:solidFill>
              <a:latin typeface="Times New Roman" pitchFamily="18" charset="0"/>
              <a:cs typeface="Times New Roman" pitchFamily="18" charset="0"/>
            </a:endParaRPr>
          </a:p>
        </p:txBody>
      </p:sp>
      <p:pic>
        <p:nvPicPr>
          <p:cNvPr id="1026" name="Picture 2" descr="DBMS Indexed sequential access metho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8464" y="1792286"/>
            <a:ext cx="6990156" cy="4458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655140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566283"/>
          </a:xfrm>
        </p:spPr>
        <p:txBody>
          <a:bodyPr>
            <a:normAutofit/>
          </a:bodyPr>
          <a:lstStyle/>
          <a:p>
            <a:pPr algn="just">
              <a:buClr>
                <a:schemeClr val="tx1"/>
              </a:buClr>
              <a:buSzPct val="71000"/>
            </a:pPr>
            <a:r>
              <a:rPr lang="en-US" sz="2800" b="1" dirty="0">
                <a:solidFill>
                  <a:schemeClr val="tx1"/>
                </a:solidFill>
                <a:latin typeface="Times New Roman" pitchFamily="18" charset="0"/>
                <a:cs typeface="Times New Roman" pitchFamily="18" charset="0"/>
              </a:rPr>
              <a:t>Indexed sequential access method (</a:t>
            </a:r>
            <a:r>
              <a:rPr lang="en-US" sz="2800" b="1" dirty="0" err="1">
                <a:solidFill>
                  <a:schemeClr val="tx1"/>
                </a:solidFill>
                <a:latin typeface="Times New Roman" pitchFamily="18" charset="0"/>
                <a:cs typeface="Times New Roman" pitchFamily="18" charset="0"/>
              </a:rPr>
              <a:t>ISAM</a:t>
            </a:r>
            <a:r>
              <a:rPr lang="en-US" sz="2800" b="1" dirty="0">
                <a:solidFill>
                  <a:schemeClr val="tx1"/>
                </a:solidFill>
                <a:latin typeface="Times New Roman" pitchFamily="18" charset="0"/>
                <a:cs typeface="Times New Roman" pitchFamily="18" charset="0"/>
              </a:rPr>
              <a:t>)</a:t>
            </a:r>
            <a:endParaRPr lang="en-US" sz="2800" b="1" dirty="0">
              <a:solidFill>
                <a:schemeClr val="tx1"/>
              </a:solidFill>
              <a:latin typeface="Times New Roman" pitchFamily="18" charset="0"/>
              <a:cs typeface="Times New Roman" pitchFamily="18" charset="0"/>
            </a:endParaRPr>
          </a:p>
        </p:txBody>
      </p:sp>
      <p:sp>
        <p:nvSpPr>
          <p:cNvPr id="6" name="Subtitle 2"/>
          <p:cNvSpPr txBox="1">
            <a:spLocks/>
          </p:cNvSpPr>
          <p:nvPr/>
        </p:nvSpPr>
        <p:spPr>
          <a:xfrm>
            <a:off x="1390749" y="1614985"/>
            <a:ext cx="8094254" cy="4594746"/>
          </a:xfrm>
          <a:prstGeom prst="rect">
            <a:avLst/>
          </a:prstGeom>
        </p:spPr>
        <p:txBody>
          <a:bodyPr vert="horz" lIns="91440" tIns="45720" rIns="91440" bIns="45720" rtlCol="0" anchor="t">
            <a:normAutofit lnSpcReduction="1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just">
              <a:buClr>
                <a:schemeClr val="tx1"/>
              </a:buClr>
              <a:buSzPct val="71000"/>
            </a:pPr>
            <a:r>
              <a:rPr lang="en-US" sz="2800" b="1" dirty="0">
                <a:solidFill>
                  <a:schemeClr val="tx1"/>
                </a:solidFill>
                <a:latin typeface="Times New Roman" pitchFamily="18" charset="0"/>
                <a:cs typeface="Times New Roman" pitchFamily="18" charset="0"/>
              </a:rPr>
              <a:t>Pros of </a:t>
            </a:r>
            <a:r>
              <a:rPr lang="en-US" sz="2800" b="1" dirty="0" err="1">
                <a:solidFill>
                  <a:schemeClr val="tx1"/>
                </a:solidFill>
                <a:latin typeface="Times New Roman" pitchFamily="18" charset="0"/>
                <a:cs typeface="Times New Roman" pitchFamily="18" charset="0"/>
              </a:rPr>
              <a:t>ISAM</a:t>
            </a:r>
            <a:r>
              <a:rPr lang="en-US" sz="2800" b="1" dirty="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this method, each record has the address of its data block, searching a record in a huge database is quick and easy.</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This method supports range retrieval and partial retrieval of records. Since the index is based on the primary key values, we can retrieve the data for the given range of value. In the same way, the partial value can also be easily searched, i.e., the student name starting with 'JA' can be easily searched.</a:t>
            </a:r>
            <a:endParaRPr lang="en-US" sz="2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64391674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8.4 Indexing </a:t>
            </a:r>
            <a:endParaRPr lang="en-US" sz="2800" dirty="0">
              <a:solidFill>
                <a:schemeClr val="bg1"/>
              </a:solidFill>
            </a:endParaRPr>
          </a:p>
        </p:txBody>
      </p:sp>
      <p:sp>
        <p:nvSpPr>
          <p:cNvPr id="3" name="Subtitle 2"/>
          <p:cNvSpPr>
            <a:spLocks noGrp="1"/>
          </p:cNvSpPr>
          <p:nvPr>
            <p:ph type="subTitle" idx="1"/>
          </p:nvPr>
        </p:nvSpPr>
        <p:spPr>
          <a:xfrm>
            <a:off x="1281567" y="1139687"/>
            <a:ext cx="8094254" cy="566283"/>
          </a:xfrm>
        </p:spPr>
        <p:txBody>
          <a:bodyPr>
            <a:normAutofit/>
          </a:bodyPr>
          <a:lstStyle/>
          <a:p>
            <a:pPr algn="just">
              <a:buClr>
                <a:schemeClr val="tx1"/>
              </a:buClr>
              <a:buSzPct val="71000"/>
            </a:pPr>
            <a:r>
              <a:rPr lang="en-US" sz="2800" b="1" dirty="0">
                <a:solidFill>
                  <a:schemeClr val="tx1"/>
                </a:solidFill>
                <a:latin typeface="Times New Roman" pitchFamily="18" charset="0"/>
                <a:cs typeface="Times New Roman" pitchFamily="18" charset="0"/>
              </a:rPr>
              <a:t>Indexed sequential access method (</a:t>
            </a:r>
            <a:r>
              <a:rPr lang="en-US" sz="2800" b="1" dirty="0" err="1">
                <a:solidFill>
                  <a:schemeClr val="tx1"/>
                </a:solidFill>
                <a:latin typeface="Times New Roman" pitchFamily="18" charset="0"/>
                <a:cs typeface="Times New Roman" pitchFamily="18" charset="0"/>
              </a:rPr>
              <a:t>ISAM</a:t>
            </a:r>
            <a:r>
              <a:rPr lang="en-US" sz="2800" b="1" dirty="0">
                <a:solidFill>
                  <a:schemeClr val="tx1"/>
                </a:solidFill>
                <a:latin typeface="Times New Roman" pitchFamily="18" charset="0"/>
                <a:cs typeface="Times New Roman" pitchFamily="18" charset="0"/>
              </a:rPr>
              <a:t>)</a:t>
            </a:r>
            <a:endParaRPr lang="en-US" sz="2800" b="1" dirty="0">
              <a:solidFill>
                <a:schemeClr val="tx1"/>
              </a:solidFill>
              <a:latin typeface="Times New Roman" pitchFamily="18" charset="0"/>
              <a:cs typeface="Times New Roman" pitchFamily="18" charset="0"/>
            </a:endParaRPr>
          </a:p>
        </p:txBody>
      </p:sp>
      <p:sp>
        <p:nvSpPr>
          <p:cNvPr id="6" name="Subtitle 2"/>
          <p:cNvSpPr txBox="1">
            <a:spLocks/>
          </p:cNvSpPr>
          <p:nvPr/>
        </p:nvSpPr>
        <p:spPr>
          <a:xfrm>
            <a:off x="1390749" y="1614985"/>
            <a:ext cx="8094254" cy="4594746"/>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Cons </a:t>
            </a:r>
            <a:r>
              <a:rPr lang="en-US" sz="2800" b="1" dirty="0">
                <a:solidFill>
                  <a:schemeClr val="tx1"/>
                </a:solidFill>
                <a:latin typeface="Times New Roman" pitchFamily="18" charset="0"/>
                <a:cs typeface="Times New Roman" pitchFamily="18" charset="0"/>
              </a:rPr>
              <a:t>of </a:t>
            </a:r>
            <a:r>
              <a:rPr lang="en-US" sz="2800" b="1" dirty="0" err="1">
                <a:solidFill>
                  <a:schemeClr val="tx1"/>
                </a:solidFill>
                <a:latin typeface="Times New Roman" pitchFamily="18" charset="0"/>
                <a:cs typeface="Times New Roman" pitchFamily="18" charset="0"/>
              </a:rPr>
              <a:t>ISAM</a:t>
            </a:r>
            <a:r>
              <a:rPr lang="en-US" sz="2800" b="1" dirty="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This method requires extra space in the disk to store the index value.</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When the new records are inserted, then these files have to be reconstructed to maintain the sequence.</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When the record is deleted, then the space used by it needs to be released. Otherwise, the performance of the database will slow down.</a:t>
            </a:r>
            <a:endParaRPr lang="en-US" sz="2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0299795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Assignment</a:t>
            </a:r>
            <a:endParaRPr lang="en-US" sz="2800" dirty="0">
              <a:solidFill>
                <a:schemeClr val="bg1"/>
              </a:solidFill>
            </a:endParaRPr>
          </a:p>
        </p:txBody>
      </p:sp>
      <p:sp>
        <p:nvSpPr>
          <p:cNvPr id="5"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Types of </a:t>
            </a:r>
            <a:r>
              <a:rPr lang="en-US" sz="2800" dirty="0" smtClean="0">
                <a:solidFill>
                  <a:srgbClr val="222222"/>
                </a:solidFill>
                <a:latin typeface="arial" panose="020B0604020202020204" pitchFamily="34" charset="0"/>
              </a:rPr>
              <a:t>Hashing</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Advantages and Disadvantages Indexing</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Non clustering Index</a:t>
            </a:r>
          </a:p>
          <a:p>
            <a:pPr marL="457200" indent="-457200" algn="just">
              <a:buClr>
                <a:schemeClr val="tx1"/>
              </a:buClr>
              <a:buSzPct val="71000"/>
              <a:buFont typeface="Wingdings" panose="05000000000000000000" pitchFamily="2" charset="2"/>
              <a:buChar char="v"/>
            </a:pPr>
            <a:endParaRPr lang="en-US" sz="2800" dirty="0" smtClean="0">
              <a:solidFill>
                <a:schemeClr val="tx1"/>
              </a:solidFill>
            </a:endParaRPr>
          </a:p>
        </p:txBody>
      </p:sp>
    </p:spTree>
    <p:extLst>
      <p:ext uri="{BB962C8B-B14F-4D97-AF65-F5344CB8AC3E}">
        <p14:creationId xmlns:p14="http://schemas.microsoft.com/office/powerpoint/2010/main" val="193234782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258956" y="2644170"/>
            <a:ext cx="8507895" cy="1569660"/>
          </a:xfrm>
          <a:prstGeom prst="rect">
            <a:avLst/>
          </a:prstGeom>
          <a:noFill/>
        </p:spPr>
        <p:txBody>
          <a:bodyPr wrap="square" lIns="91440" tIns="45720" rIns="91440" bIns="45720">
            <a:spAutoFit/>
          </a:bodyPr>
          <a:lstStyle/>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This is the end of the lecture!</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I hope you enjoyed it.</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Thank You</a:t>
            </a:r>
            <a:endParaRPr lang="en-US" sz="3200" b="0" cap="none" spc="0" dirty="0">
              <a:ln w="0"/>
              <a:solidFill>
                <a:schemeClr val="tx1"/>
              </a:solidFill>
              <a:effectLst>
                <a:outerShdw blurRad="38100" dist="19050" dir="2700000" algn="tl" rotWithShape="0">
                  <a:schemeClr val="dk1">
                    <a:alpha val="40000"/>
                  </a:schemeClr>
                </a:outerShdw>
              </a:effectLst>
              <a:latin typeface="Eras Medium ITC" panose="020B0602030504020804" pitchFamily="34" charset="0"/>
            </a:endParaRPr>
          </a:p>
        </p:txBody>
      </p:sp>
    </p:spTree>
    <p:extLst>
      <p:ext uri="{BB962C8B-B14F-4D97-AF65-F5344CB8AC3E}">
        <p14:creationId xmlns:p14="http://schemas.microsoft.com/office/powerpoint/2010/main" val="3930731771"/>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3740</TotalTime>
  <Words>4671</Words>
  <Application>Microsoft Office PowerPoint</Application>
  <PresentationFormat>Custom</PresentationFormat>
  <Paragraphs>424</Paragraphs>
  <Slides>73</Slides>
  <Notes>73</Notes>
  <HiddenSlides>0</HiddenSlides>
  <MMClips>0</MMClips>
  <ScaleCrop>false</ScaleCrop>
  <HeadingPairs>
    <vt:vector size="4" baseType="variant">
      <vt:variant>
        <vt:lpstr>Theme</vt:lpstr>
      </vt:variant>
      <vt:variant>
        <vt:i4>1</vt:i4>
      </vt:variant>
      <vt:variant>
        <vt:lpstr>Slide Titles</vt:lpstr>
      </vt:variant>
      <vt:variant>
        <vt:i4>73</vt:i4>
      </vt:variant>
    </vt:vector>
  </HeadingPairs>
  <TitlesOfParts>
    <vt:vector size="74" baseType="lpstr">
      <vt:lpstr>Facet</vt:lpstr>
      <vt:lpstr>Chapter 8 File Organization and Indexing</vt:lpstr>
      <vt:lpstr>8.1 Disk and Storage</vt:lpstr>
      <vt:lpstr>8.1 Disk and Storage</vt:lpstr>
      <vt:lpstr>8.2 Organization of records into block</vt:lpstr>
      <vt:lpstr>8.2 Organization of records into block</vt:lpstr>
      <vt:lpstr>8.2 Organization of records into block</vt:lpstr>
      <vt:lpstr>8.2 Organization of records into block</vt:lpstr>
      <vt:lpstr>8.2 Organization of records into block</vt:lpstr>
      <vt:lpstr>8.2 Organization of records into block</vt:lpstr>
      <vt:lpstr>8.2 Organization of records into block</vt:lpstr>
      <vt:lpstr>8.2 Organization of records into block</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8.3 File Organization</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8.4 Indexing </vt:lpstr>
      <vt:lpstr>Assignment</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Access Behavior and Impact Analysis on Education and Social Transformation in Dhangadhi Sub-Metropolitan City</dc:title>
  <dc:creator>Ravi Khadka</dc:creator>
  <cp:lastModifiedBy>city</cp:lastModifiedBy>
  <cp:revision>992</cp:revision>
  <dcterms:created xsi:type="dcterms:W3CDTF">2017-09-13T07:21:00Z</dcterms:created>
  <dcterms:modified xsi:type="dcterms:W3CDTF">2023-07-12T16:00:04Z</dcterms:modified>
</cp:coreProperties>
</file>