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4"/>
  </p:sldMasterIdLst>
  <p:notesMasterIdLst>
    <p:notesMasterId r:id="rId41"/>
  </p:notesMasterIdLst>
  <p:sldIdLst>
    <p:sldId id="257" r:id="rId5"/>
    <p:sldId id="383" r:id="rId6"/>
    <p:sldId id="451" r:id="rId7"/>
    <p:sldId id="453" r:id="rId8"/>
    <p:sldId id="452" r:id="rId9"/>
    <p:sldId id="454" r:id="rId10"/>
    <p:sldId id="455" r:id="rId11"/>
    <p:sldId id="456" r:id="rId12"/>
    <p:sldId id="457" r:id="rId13"/>
    <p:sldId id="458" r:id="rId14"/>
    <p:sldId id="459" r:id="rId15"/>
    <p:sldId id="460" r:id="rId16"/>
    <p:sldId id="461" r:id="rId17"/>
    <p:sldId id="462" r:id="rId18"/>
    <p:sldId id="463" r:id="rId19"/>
    <p:sldId id="464" r:id="rId20"/>
    <p:sldId id="465" r:id="rId21"/>
    <p:sldId id="466" r:id="rId22"/>
    <p:sldId id="467" r:id="rId23"/>
    <p:sldId id="468" r:id="rId24"/>
    <p:sldId id="469" r:id="rId25"/>
    <p:sldId id="470" r:id="rId26"/>
    <p:sldId id="471" r:id="rId27"/>
    <p:sldId id="472" r:id="rId28"/>
    <p:sldId id="473" r:id="rId29"/>
    <p:sldId id="474" r:id="rId30"/>
    <p:sldId id="475" r:id="rId31"/>
    <p:sldId id="476" r:id="rId32"/>
    <p:sldId id="477" r:id="rId33"/>
    <p:sldId id="478" r:id="rId34"/>
    <p:sldId id="479" r:id="rId35"/>
    <p:sldId id="480" r:id="rId36"/>
    <p:sldId id="481" r:id="rId37"/>
    <p:sldId id="482" r:id="rId38"/>
    <p:sldId id="483" r:id="rId39"/>
    <p:sldId id="275"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C73DF-4ACA-4A4E-BE24-698A41846534}" type="datetimeFigureOut">
              <a:rPr lang="en-US" smtClean="0"/>
              <a:t>4/26/2021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0F0832-C019-46EE-973A-B4AFD6309CA0}" type="slidenum">
              <a:rPr lang="en-US" smtClean="0"/>
              <a:t>‹#›</a:t>
            </a:fld>
            <a:endParaRPr lang="en-US"/>
          </a:p>
        </p:txBody>
      </p:sp>
    </p:spTree>
    <p:extLst>
      <p:ext uri="{BB962C8B-B14F-4D97-AF65-F5344CB8AC3E}">
        <p14:creationId xmlns:p14="http://schemas.microsoft.com/office/powerpoint/2010/main" val="247139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a:t>
            </a:fld>
            <a:endParaRPr lang="en-US"/>
          </a:p>
        </p:txBody>
      </p:sp>
    </p:spTree>
    <p:extLst>
      <p:ext uri="{BB962C8B-B14F-4D97-AF65-F5344CB8AC3E}">
        <p14:creationId xmlns:p14="http://schemas.microsoft.com/office/powerpoint/2010/main" val="3550778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a:t>
            </a:fld>
            <a:endParaRPr lang="en-US"/>
          </a:p>
        </p:txBody>
      </p:sp>
    </p:spTree>
    <p:extLst>
      <p:ext uri="{BB962C8B-B14F-4D97-AF65-F5344CB8AC3E}">
        <p14:creationId xmlns:p14="http://schemas.microsoft.com/office/powerpoint/2010/main" val="31740514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a:t>
            </a:fld>
            <a:endParaRPr lang="en-US"/>
          </a:p>
        </p:txBody>
      </p:sp>
    </p:spTree>
    <p:extLst>
      <p:ext uri="{BB962C8B-B14F-4D97-AF65-F5344CB8AC3E}">
        <p14:creationId xmlns:p14="http://schemas.microsoft.com/office/powerpoint/2010/main" val="5426462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4</a:t>
            </a:fld>
            <a:endParaRPr lang="en-US"/>
          </a:p>
        </p:txBody>
      </p:sp>
    </p:spTree>
    <p:extLst>
      <p:ext uri="{BB962C8B-B14F-4D97-AF65-F5344CB8AC3E}">
        <p14:creationId xmlns:p14="http://schemas.microsoft.com/office/powerpoint/2010/main" val="4987150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5</a:t>
            </a:fld>
            <a:endParaRPr lang="en-US"/>
          </a:p>
        </p:txBody>
      </p:sp>
    </p:spTree>
    <p:extLst>
      <p:ext uri="{BB962C8B-B14F-4D97-AF65-F5344CB8AC3E}">
        <p14:creationId xmlns:p14="http://schemas.microsoft.com/office/powerpoint/2010/main" val="18672867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6</a:t>
            </a:fld>
            <a:endParaRPr lang="en-US"/>
          </a:p>
        </p:txBody>
      </p:sp>
    </p:spTree>
    <p:extLst>
      <p:ext uri="{BB962C8B-B14F-4D97-AF65-F5344CB8AC3E}">
        <p14:creationId xmlns:p14="http://schemas.microsoft.com/office/powerpoint/2010/main" val="205832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7</a:t>
            </a:fld>
            <a:endParaRPr lang="en-US"/>
          </a:p>
        </p:txBody>
      </p:sp>
    </p:spTree>
    <p:extLst>
      <p:ext uri="{BB962C8B-B14F-4D97-AF65-F5344CB8AC3E}">
        <p14:creationId xmlns:p14="http://schemas.microsoft.com/office/powerpoint/2010/main" val="452087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8</a:t>
            </a:fld>
            <a:endParaRPr lang="en-US"/>
          </a:p>
        </p:txBody>
      </p:sp>
    </p:spTree>
    <p:extLst>
      <p:ext uri="{BB962C8B-B14F-4D97-AF65-F5344CB8AC3E}">
        <p14:creationId xmlns:p14="http://schemas.microsoft.com/office/powerpoint/2010/main" val="775479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9</a:t>
            </a:fld>
            <a:endParaRPr lang="en-US"/>
          </a:p>
        </p:txBody>
      </p:sp>
    </p:spTree>
    <p:extLst>
      <p:ext uri="{BB962C8B-B14F-4D97-AF65-F5344CB8AC3E}">
        <p14:creationId xmlns:p14="http://schemas.microsoft.com/office/powerpoint/2010/main" val="38489784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10</a:t>
            </a:fld>
            <a:endParaRPr lang="en-US"/>
          </a:p>
        </p:txBody>
      </p:sp>
    </p:spTree>
    <p:extLst>
      <p:ext uri="{BB962C8B-B14F-4D97-AF65-F5344CB8AC3E}">
        <p14:creationId xmlns:p14="http://schemas.microsoft.com/office/powerpoint/2010/main" val="18468046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11</a:t>
            </a:fld>
            <a:endParaRPr lang="en-US"/>
          </a:p>
        </p:txBody>
      </p:sp>
    </p:spTree>
    <p:extLst>
      <p:ext uri="{BB962C8B-B14F-4D97-AF65-F5344CB8AC3E}">
        <p14:creationId xmlns:p14="http://schemas.microsoft.com/office/powerpoint/2010/main" val="16060151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12</a:t>
            </a:fld>
            <a:endParaRPr lang="en-US"/>
          </a:p>
        </p:txBody>
      </p:sp>
    </p:spTree>
    <p:extLst>
      <p:ext uri="{BB962C8B-B14F-4D97-AF65-F5344CB8AC3E}">
        <p14:creationId xmlns:p14="http://schemas.microsoft.com/office/powerpoint/2010/main" val="6669786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13</a:t>
            </a:fld>
            <a:endParaRPr lang="en-US"/>
          </a:p>
        </p:txBody>
      </p:sp>
    </p:spTree>
    <p:extLst>
      <p:ext uri="{BB962C8B-B14F-4D97-AF65-F5344CB8AC3E}">
        <p14:creationId xmlns:p14="http://schemas.microsoft.com/office/powerpoint/2010/main" val="19046619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14</a:t>
            </a:fld>
            <a:endParaRPr lang="en-US"/>
          </a:p>
        </p:txBody>
      </p:sp>
    </p:spTree>
    <p:extLst>
      <p:ext uri="{BB962C8B-B14F-4D97-AF65-F5344CB8AC3E}">
        <p14:creationId xmlns:p14="http://schemas.microsoft.com/office/powerpoint/2010/main" val="1567996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15</a:t>
            </a:fld>
            <a:endParaRPr lang="en-US"/>
          </a:p>
        </p:txBody>
      </p:sp>
    </p:spTree>
    <p:extLst>
      <p:ext uri="{BB962C8B-B14F-4D97-AF65-F5344CB8AC3E}">
        <p14:creationId xmlns:p14="http://schemas.microsoft.com/office/powerpoint/2010/main" val="32766166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16</a:t>
            </a:fld>
            <a:endParaRPr lang="en-US"/>
          </a:p>
        </p:txBody>
      </p:sp>
    </p:spTree>
    <p:extLst>
      <p:ext uri="{BB962C8B-B14F-4D97-AF65-F5344CB8AC3E}">
        <p14:creationId xmlns:p14="http://schemas.microsoft.com/office/powerpoint/2010/main" val="283188996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17</a:t>
            </a:fld>
            <a:endParaRPr lang="en-US"/>
          </a:p>
        </p:txBody>
      </p:sp>
    </p:spTree>
    <p:extLst>
      <p:ext uri="{BB962C8B-B14F-4D97-AF65-F5344CB8AC3E}">
        <p14:creationId xmlns:p14="http://schemas.microsoft.com/office/powerpoint/2010/main" val="4067979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18</a:t>
            </a:fld>
            <a:endParaRPr lang="en-US"/>
          </a:p>
        </p:txBody>
      </p:sp>
    </p:spTree>
    <p:extLst>
      <p:ext uri="{BB962C8B-B14F-4D97-AF65-F5344CB8AC3E}">
        <p14:creationId xmlns:p14="http://schemas.microsoft.com/office/powerpoint/2010/main" val="3056405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19</a:t>
            </a:fld>
            <a:endParaRPr lang="en-US"/>
          </a:p>
        </p:txBody>
      </p:sp>
    </p:spTree>
    <p:extLst>
      <p:ext uri="{BB962C8B-B14F-4D97-AF65-F5344CB8AC3E}">
        <p14:creationId xmlns:p14="http://schemas.microsoft.com/office/powerpoint/2010/main" val="14116023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20</a:t>
            </a:fld>
            <a:endParaRPr lang="en-US"/>
          </a:p>
        </p:txBody>
      </p:sp>
    </p:spTree>
    <p:extLst>
      <p:ext uri="{BB962C8B-B14F-4D97-AF65-F5344CB8AC3E}">
        <p14:creationId xmlns:p14="http://schemas.microsoft.com/office/powerpoint/2010/main" val="28686040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21</a:t>
            </a:fld>
            <a:endParaRPr lang="en-US"/>
          </a:p>
        </p:txBody>
      </p:sp>
    </p:spTree>
    <p:extLst>
      <p:ext uri="{BB962C8B-B14F-4D97-AF65-F5344CB8AC3E}">
        <p14:creationId xmlns:p14="http://schemas.microsoft.com/office/powerpoint/2010/main" val="14449705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22</a:t>
            </a:fld>
            <a:endParaRPr lang="en-US"/>
          </a:p>
        </p:txBody>
      </p:sp>
    </p:spTree>
    <p:extLst>
      <p:ext uri="{BB962C8B-B14F-4D97-AF65-F5344CB8AC3E}">
        <p14:creationId xmlns:p14="http://schemas.microsoft.com/office/powerpoint/2010/main" val="23041366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23</a:t>
            </a:fld>
            <a:endParaRPr lang="en-US"/>
          </a:p>
        </p:txBody>
      </p:sp>
    </p:spTree>
    <p:extLst>
      <p:ext uri="{BB962C8B-B14F-4D97-AF65-F5344CB8AC3E}">
        <p14:creationId xmlns:p14="http://schemas.microsoft.com/office/powerpoint/2010/main" val="423362194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24</a:t>
            </a:fld>
            <a:endParaRPr lang="en-US"/>
          </a:p>
        </p:txBody>
      </p:sp>
    </p:spTree>
    <p:extLst>
      <p:ext uri="{BB962C8B-B14F-4D97-AF65-F5344CB8AC3E}">
        <p14:creationId xmlns:p14="http://schemas.microsoft.com/office/powerpoint/2010/main" val="32264736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25</a:t>
            </a:fld>
            <a:endParaRPr lang="en-US"/>
          </a:p>
        </p:txBody>
      </p:sp>
    </p:spTree>
    <p:extLst>
      <p:ext uri="{BB962C8B-B14F-4D97-AF65-F5344CB8AC3E}">
        <p14:creationId xmlns:p14="http://schemas.microsoft.com/office/powerpoint/2010/main" val="23401949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26</a:t>
            </a:fld>
            <a:endParaRPr lang="en-US"/>
          </a:p>
        </p:txBody>
      </p:sp>
    </p:spTree>
    <p:extLst>
      <p:ext uri="{BB962C8B-B14F-4D97-AF65-F5344CB8AC3E}">
        <p14:creationId xmlns:p14="http://schemas.microsoft.com/office/powerpoint/2010/main" val="174940792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27</a:t>
            </a:fld>
            <a:endParaRPr lang="en-US"/>
          </a:p>
        </p:txBody>
      </p:sp>
    </p:spTree>
    <p:extLst>
      <p:ext uri="{BB962C8B-B14F-4D97-AF65-F5344CB8AC3E}">
        <p14:creationId xmlns:p14="http://schemas.microsoft.com/office/powerpoint/2010/main" val="241797834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28</a:t>
            </a:fld>
            <a:endParaRPr lang="en-US"/>
          </a:p>
        </p:txBody>
      </p:sp>
    </p:spTree>
    <p:extLst>
      <p:ext uri="{BB962C8B-B14F-4D97-AF65-F5344CB8AC3E}">
        <p14:creationId xmlns:p14="http://schemas.microsoft.com/office/powerpoint/2010/main" val="35801827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29</a:t>
            </a:fld>
            <a:endParaRPr lang="en-US"/>
          </a:p>
        </p:txBody>
      </p:sp>
    </p:spTree>
    <p:extLst>
      <p:ext uri="{BB962C8B-B14F-4D97-AF65-F5344CB8AC3E}">
        <p14:creationId xmlns:p14="http://schemas.microsoft.com/office/powerpoint/2010/main" val="36637721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30</a:t>
            </a:fld>
            <a:endParaRPr lang="en-US"/>
          </a:p>
        </p:txBody>
      </p:sp>
    </p:spTree>
    <p:extLst>
      <p:ext uri="{BB962C8B-B14F-4D97-AF65-F5344CB8AC3E}">
        <p14:creationId xmlns:p14="http://schemas.microsoft.com/office/powerpoint/2010/main" val="24870785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31</a:t>
            </a:fld>
            <a:endParaRPr lang="en-US"/>
          </a:p>
        </p:txBody>
      </p:sp>
    </p:spTree>
    <p:extLst>
      <p:ext uri="{BB962C8B-B14F-4D97-AF65-F5344CB8AC3E}">
        <p14:creationId xmlns:p14="http://schemas.microsoft.com/office/powerpoint/2010/main" val="12438165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32</a:t>
            </a:fld>
            <a:endParaRPr lang="en-US"/>
          </a:p>
        </p:txBody>
      </p:sp>
    </p:spTree>
    <p:extLst>
      <p:ext uri="{BB962C8B-B14F-4D97-AF65-F5344CB8AC3E}">
        <p14:creationId xmlns:p14="http://schemas.microsoft.com/office/powerpoint/2010/main" val="42663455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33</a:t>
            </a:fld>
            <a:endParaRPr lang="en-US"/>
          </a:p>
        </p:txBody>
      </p:sp>
    </p:spTree>
    <p:extLst>
      <p:ext uri="{BB962C8B-B14F-4D97-AF65-F5344CB8AC3E}">
        <p14:creationId xmlns:p14="http://schemas.microsoft.com/office/powerpoint/2010/main" val="353229876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34</a:t>
            </a:fld>
            <a:endParaRPr lang="en-US"/>
          </a:p>
        </p:txBody>
      </p:sp>
    </p:spTree>
    <p:extLst>
      <p:ext uri="{BB962C8B-B14F-4D97-AF65-F5344CB8AC3E}">
        <p14:creationId xmlns:p14="http://schemas.microsoft.com/office/powerpoint/2010/main" val="34083488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35</a:t>
            </a:fld>
            <a:endParaRPr lang="en-US"/>
          </a:p>
        </p:txBody>
      </p:sp>
    </p:spTree>
    <p:extLst>
      <p:ext uri="{BB962C8B-B14F-4D97-AF65-F5344CB8AC3E}">
        <p14:creationId xmlns:p14="http://schemas.microsoft.com/office/powerpoint/2010/main" val="10082996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230F0832-C019-46EE-973A-B4AFD6309CA0}" type="slidenum">
              <a:rPr lang="en-US" smtClean="0"/>
              <a:t>36</a:t>
            </a:fld>
            <a:endParaRPr lang="en-US"/>
          </a:p>
        </p:txBody>
      </p:sp>
    </p:spTree>
    <p:extLst>
      <p:ext uri="{BB962C8B-B14F-4D97-AF65-F5344CB8AC3E}">
        <p14:creationId xmlns:p14="http://schemas.microsoft.com/office/powerpoint/2010/main" val="10250010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7"/>
            <a:ext cx="7766936" cy="1096899"/>
          </a:xfrm>
        </p:spPr>
        <p:txBody>
          <a:bodyPr anchor="t"/>
          <a:lstStyle>
            <a:lvl1pPr marL="0" indent="0" algn="r">
              <a:buNone/>
              <a:defRPr>
                <a:solidFill>
                  <a:schemeClr val="tx1">
                    <a:lumMod val="50000"/>
                    <a:lumOff val="50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74DD5E5-F825-4B33-AF67-A7F31E5A2821}" type="datetime1">
              <a:rPr lang="en-US" smtClean="0"/>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7728342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B0A645-7812-465D-BB5E-A8CA1F1DB31F}" type="datetime1">
              <a:rPr lang="en-US" smtClean="0"/>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916387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71"/>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3CDDB56-25F5-4763-9EA5-68F834D6E811}" type="datetime1">
              <a:rPr lang="en-US" smtClean="0"/>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6753875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6"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69" y="2160590"/>
            <a:ext cx="4184035"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3B901DB-480A-4D75-AD69-F9ABD9C9ECEB}" type="datetime1">
              <a:rPr lang="en-US" smtClean="0"/>
              <a:t>4/26/2021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45284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7" y="2160983"/>
            <a:ext cx="4185623"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7" y="2737249"/>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4" y="2160983"/>
            <a:ext cx="4185619" cy="576262"/>
          </a:xfrm>
        </p:spPr>
        <p:txBody>
          <a:bodyPr anchor="b">
            <a:noAutofit/>
          </a:bodyPr>
          <a:lstStyle>
            <a:lvl1pPr marL="0" indent="0">
              <a:buNone/>
              <a:defRPr sz="2400" b="0"/>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6" y="2737249"/>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2B31EA-9561-4FDF-BCE1-CAE98AD0C4D5}" type="datetime1">
              <a:rPr lang="en-US" smtClean="0"/>
              <a:t>4/26/2021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655331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08B6BF-29BB-4022-8B48-CF48B5627A0E}" type="datetime1">
              <a:rPr lang="en-US" smtClean="0"/>
              <a:t>4/26/2021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231791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36E9B8A-9C1C-47BE-9A52-00A57195BE87}" type="datetime1">
              <a:rPr lang="en-US" smtClean="0"/>
              <a:t>4/26/2021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2998442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3" y="514928"/>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5" y="2777069"/>
            <a:ext cx="3854528" cy="2584449"/>
          </a:xfrm>
        </p:spPr>
        <p:txBody>
          <a:bodyPr>
            <a:normAutofit/>
          </a:bodyPr>
          <a:lstStyle>
            <a:lvl1pPr marL="0" indent="0">
              <a:buNone/>
              <a:defRPr sz="1400"/>
            </a:lvl1pPr>
            <a:lvl2pPr marL="457051" indent="0">
              <a:buNone/>
              <a:defRPr sz="1400"/>
            </a:lvl2pPr>
            <a:lvl3pPr marL="914104" indent="0">
              <a:buNone/>
              <a:defRPr sz="1200"/>
            </a:lvl3pPr>
            <a:lvl4pPr marL="1371155" indent="0">
              <a:buNone/>
              <a:defRPr sz="1000"/>
            </a:lvl4pPr>
            <a:lvl5pPr marL="1828205" indent="0">
              <a:buNone/>
              <a:defRPr sz="1000"/>
            </a:lvl5pPr>
            <a:lvl6pPr marL="2285258" indent="0">
              <a:buNone/>
              <a:defRPr sz="1000"/>
            </a:lvl6pPr>
            <a:lvl7pPr marL="2742309" indent="0">
              <a:buNone/>
              <a:defRPr sz="1000"/>
            </a:lvl7pPr>
            <a:lvl8pPr marL="3199360" indent="0">
              <a:buNone/>
              <a:defRPr sz="1000"/>
            </a:lvl8pPr>
            <a:lvl9pPr marL="3656411"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F4F453E-3D4D-464A-831F-EB23A5A42A12}" type="datetime1">
              <a:rPr lang="en-US" smtClean="0"/>
              <a:t>4/26/2021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21830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6"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5" y="609600"/>
            <a:ext cx="8596668" cy="3845718"/>
          </a:xfrm>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6" y="5367338"/>
            <a:ext cx="8596667" cy="674024"/>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3B9743A-56F0-4312-8259-E51533341499}" type="datetime1">
              <a:rPr lang="en-US" smtClean="0"/>
              <a:t>4/26/2021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271604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BC2D58-99B7-4095-851E-63049442BAD8}" type="datetime1">
              <a:rPr lang="en-US" smtClean="0"/>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460474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8D284E-D999-40E1-8CDE-80A918580BC2}" type="datetime1">
              <a:rPr lang="en-US" smtClean="0"/>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0" name="TextBox 19"/>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sz="1800" dirty="0">
              <a:solidFill>
                <a:schemeClr val="accent1">
                  <a:lumMod val="60000"/>
                  <a:lumOff val="40000"/>
                </a:schemeClr>
              </a:solidFill>
              <a:latin typeface="Arial"/>
            </a:endParaRPr>
          </a:p>
        </p:txBody>
      </p:sp>
    </p:spTree>
    <p:extLst>
      <p:ext uri="{BB962C8B-B14F-4D97-AF65-F5344CB8AC3E}">
        <p14:creationId xmlns:p14="http://schemas.microsoft.com/office/powerpoint/2010/main" val="20333997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92C615-F352-46CA-997F-790F5C7AB59F}" type="datetime1">
              <a:rPr lang="en-US" smtClean="0"/>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52536788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5" y="609600"/>
            <a:ext cx="8094135"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9F8DF6-B2D7-4891-924E-F205B4F4C5B0}" type="datetime1">
              <a:rPr lang="en-US" smtClean="0"/>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
        <p:nvSpPr>
          <p:cNvPr id="24" name="TextBox 23"/>
          <p:cNvSpPr txBox="1"/>
          <p:nvPr/>
        </p:nvSpPr>
        <p:spPr>
          <a:xfrm>
            <a:off x="541871"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645023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189" indent="0">
              <a:buFontTx/>
              <a:buNone/>
              <a:defRPr/>
            </a:lvl2pPr>
            <a:lvl3pPr marL="914377" indent="0">
              <a:buFontTx/>
              <a:buNone/>
              <a:defRPr/>
            </a:lvl3pPr>
            <a:lvl4pPr marL="1371566" indent="0">
              <a:buFontTx/>
              <a:buNone/>
              <a:defRPr/>
            </a:lvl4pPr>
            <a:lvl5pPr marL="1828754"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C9D3E9-44D4-4A6E-8282-3CFF4443A4B7}" type="datetime1">
              <a:rPr lang="en-US" smtClean="0"/>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4135213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4637C3A-3E20-4D7B-93C7-DC2476BB2AB9}" type="datetime1">
              <a:rPr lang="en-US" smtClean="0"/>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1239343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5" y="609603"/>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7" y="609600"/>
            <a:ext cx="7060151"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1BB382-714F-487B-894A-7320A737CBE1}" type="datetime1">
              <a:rPr lang="en-US" smtClean="0"/>
              <a:t>4/26/2021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716904-6FC9-413C-90D2-F791BBDFC2B7}" type="slidenum">
              <a:rPr lang="en-US" smtClean="0"/>
              <a:t>‹#›</a:t>
            </a:fld>
            <a:endParaRPr lang="en-US"/>
          </a:p>
        </p:txBody>
      </p:sp>
    </p:spTree>
    <p:extLst>
      <p:ext uri="{BB962C8B-B14F-4D97-AF65-F5344CB8AC3E}">
        <p14:creationId xmlns:p14="http://schemas.microsoft.com/office/powerpoint/2010/main" val="319713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5"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5" y="2160590"/>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6"/>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590269F-6FC2-45F3-9E5C-EE0DAD7DBF51}" type="datetime1">
              <a:rPr lang="en-US" smtClean="0"/>
              <a:t>4/26/2021</a:t>
            </a:fld>
            <a:endParaRPr lang="en-US"/>
          </a:p>
        </p:txBody>
      </p:sp>
      <p:sp>
        <p:nvSpPr>
          <p:cNvPr id="5" name="Footer Placeholder 4"/>
          <p:cNvSpPr>
            <a:spLocks noGrp="1"/>
          </p:cNvSpPr>
          <p:nvPr>
            <p:ph type="ftr" sz="quarter" idx="3"/>
          </p:nvPr>
        </p:nvSpPr>
        <p:spPr>
          <a:xfrm>
            <a:off x="677335" y="6041366"/>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5" y="6041366"/>
            <a:ext cx="683339" cy="365125"/>
          </a:xfrm>
          <a:prstGeom prst="rect">
            <a:avLst/>
          </a:prstGeom>
        </p:spPr>
        <p:txBody>
          <a:bodyPr vert="horz" lIns="91440" tIns="45720" rIns="91440" bIns="45720" rtlCol="0" anchor="ctr"/>
          <a:lstStyle>
            <a:lvl1pPr algn="r">
              <a:defRPr sz="900">
                <a:solidFill>
                  <a:schemeClr val="accent1"/>
                </a:solidFill>
              </a:defRPr>
            </a:lvl1pPr>
          </a:lstStyle>
          <a:p>
            <a:fld id="{08716904-6FC9-413C-90D2-F791BBDFC2B7}" type="slidenum">
              <a:rPr lang="en-US" smtClean="0"/>
              <a:t>‹#›</a:t>
            </a:fld>
            <a:endParaRPr lang="en-US"/>
          </a:p>
        </p:txBody>
      </p:sp>
    </p:spTree>
    <p:extLst>
      <p:ext uri="{BB962C8B-B14F-4D97-AF65-F5344CB8AC3E}">
        <p14:creationId xmlns:p14="http://schemas.microsoft.com/office/powerpoint/2010/main" val="2197407594"/>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Lst>
  <p:hf sldNum="0" hdr="0" ftr="0" dt="0"/>
  <p:txStyles>
    <p:titleStyle>
      <a:lvl1pPr algn="l" defTabSz="457189"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891" indent="-342891" algn="l" defTabSz="457189"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32" indent="-285744" algn="l" defTabSz="457189"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2971" indent="-228594" algn="l" defTabSz="457189"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160"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349"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537"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726"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8914"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103" indent="-228594" algn="l" defTabSz="457189"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189" rtl="0" eaLnBrk="1" latinLnBrk="0" hangingPunct="1">
        <a:defRPr sz="1800" kern="1200">
          <a:solidFill>
            <a:schemeClr val="tx1"/>
          </a:solidFill>
          <a:latin typeface="+mn-lt"/>
          <a:ea typeface="+mn-ea"/>
          <a:cs typeface="+mn-cs"/>
        </a:defRPr>
      </a:lvl1pPr>
      <a:lvl2pPr marL="457189" algn="l" defTabSz="457189" rtl="0" eaLnBrk="1" latinLnBrk="0" hangingPunct="1">
        <a:defRPr sz="1800" kern="1200">
          <a:solidFill>
            <a:schemeClr val="tx1"/>
          </a:solidFill>
          <a:latin typeface="+mn-lt"/>
          <a:ea typeface="+mn-ea"/>
          <a:cs typeface="+mn-cs"/>
        </a:defRPr>
      </a:lvl2pPr>
      <a:lvl3pPr marL="914377" algn="l" defTabSz="457189" rtl="0" eaLnBrk="1" latinLnBrk="0" hangingPunct="1">
        <a:defRPr sz="1800" kern="1200">
          <a:solidFill>
            <a:schemeClr val="tx1"/>
          </a:solidFill>
          <a:latin typeface="+mn-lt"/>
          <a:ea typeface="+mn-ea"/>
          <a:cs typeface="+mn-cs"/>
        </a:defRPr>
      </a:lvl3pPr>
      <a:lvl4pPr marL="1371566" algn="l" defTabSz="457189" rtl="0" eaLnBrk="1" latinLnBrk="0" hangingPunct="1">
        <a:defRPr sz="1800" kern="1200">
          <a:solidFill>
            <a:schemeClr val="tx1"/>
          </a:solidFill>
          <a:latin typeface="+mn-lt"/>
          <a:ea typeface="+mn-ea"/>
          <a:cs typeface="+mn-cs"/>
        </a:defRPr>
      </a:lvl4pPr>
      <a:lvl5pPr marL="1828754" algn="l" defTabSz="457189" rtl="0" eaLnBrk="1" latinLnBrk="0" hangingPunct="1">
        <a:defRPr sz="1800" kern="1200">
          <a:solidFill>
            <a:schemeClr val="tx1"/>
          </a:solidFill>
          <a:latin typeface="+mn-lt"/>
          <a:ea typeface="+mn-ea"/>
          <a:cs typeface="+mn-cs"/>
        </a:defRPr>
      </a:lvl5pPr>
      <a:lvl6pPr marL="2285943" algn="l" defTabSz="457189" rtl="0" eaLnBrk="1" latinLnBrk="0" hangingPunct="1">
        <a:defRPr sz="1800" kern="1200">
          <a:solidFill>
            <a:schemeClr val="tx1"/>
          </a:solidFill>
          <a:latin typeface="+mn-lt"/>
          <a:ea typeface="+mn-ea"/>
          <a:cs typeface="+mn-cs"/>
        </a:defRPr>
      </a:lvl6pPr>
      <a:lvl7pPr marL="2743131" algn="l" defTabSz="457189" rtl="0" eaLnBrk="1" latinLnBrk="0" hangingPunct="1">
        <a:defRPr sz="1800" kern="1200">
          <a:solidFill>
            <a:schemeClr val="tx1"/>
          </a:solidFill>
          <a:latin typeface="+mn-lt"/>
          <a:ea typeface="+mn-ea"/>
          <a:cs typeface="+mn-cs"/>
        </a:defRPr>
      </a:lvl7pPr>
      <a:lvl8pPr marL="3200320" algn="l" defTabSz="457189" rtl="0" eaLnBrk="1" latinLnBrk="0" hangingPunct="1">
        <a:defRPr sz="1800" kern="1200">
          <a:solidFill>
            <a:schemeClr val="tx1"/>
          </a:solidFill>
          <a:latin typeface="+mn-lt"/>
          <a:ea typeface="+mn-ea"/>
          <a:cs typeface="+mn-cs"/>
        </a:defRPr>
      </a:lvl8pPr>
      <a:lvl9pPr marL="3657509" algn="l" defTabSz="457189"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357622"/>
            <a:ext cx="8094254" cy="554538"/>
          </a:xfrm>
        </p:spPr>
        <p:style>
          <a:lnRef idx="1">
            <a:schemeClr val="accent1"/>
          </a:lnRef>
          <a:fillRef idx="3">
            <a:schemeClr val="accent1"/>
          </a:fillRef>
          <a:effectRef idx="2">
            <a:schemeClr val="accent1"/>
          </a:effectRef>
          <a:fontRef idx="minor">
            <a:schemeClr val="lt1"/>
          </a:fontRef>
        </p:style>
        <p:txBody>
          <a:bodyPr/>
          <a:lstStyle/>
          <a:p>
            <a:pPr algn="l"/>
            <a:r>
              <a:rPr lang="en-US" sz="2800" dirty="0">
                <a:solidFill>
                  <a:schemeClr val="bg1"/>
                </a:solidFill>
              </a:rPr>
              <a:t>Chapter </a:t>
            </a:r>
            <a:r>
              <a:rPr lang="en-US" sz="2800" dirty="0" smtClean="0">
                <a:solidFill>
                  <a:schemeClr val="bg1"/>
                </a:solidFill>
              </a:rPr>
              <a:t>9 Crash Recovery</a:t>
            </a:r>
            <a:endParaRPr lang="en-US" sz="2800" dirty="0">
              <a:solidFill>
                <a:schemeClr val="bg1"/>
              </a:solidFill>
            </a:endParaRPr>
          </a:p>
        </p:txBody>
      </p:sp>
      <p:sp>
        <p:nvSpPr>
          <p:cNvPr id="3" name="Subtitle 2"/>
          <p:cNvSpPr>
            <a:spLocks noGrp="1"/>
          </p:cNvSpPr>
          <p:nvPr>
            <p:ph type="subTitle" idx="1"/>
          </p:nvPr>
        </p:nvSpPr>
        <p:spPr>
          <a:xfrm>
            <a:off x="1281567" y="1139688"/>
            <a:ext cx="8094254" cy="4929808"/>
          </a:xfrm>
        </p:spPr>
        <p:txBody>
          <a:bodyPr>
            <a:normAutofit lnSpcReduction="10000"/>
          </a:bodyPr>
          <a:lstStyle/>
          <a:p>
            <a:pPr algn="l">
              <a:buClr>
                <a:schemeClr val="tx1"/>
              </a:buClr>
              <a:buSzPct val="71000"/>
            </a:pPr>
            <a:r>
              <a:rPr lang="en-US" sz="2800" dirty="0">
                <a:solidFill>
                  <a:schemeClr val="tx1"/>
                </a:solidFill>
              </a:rPr>
              <a:t>9</a:t>
            </a:r>
            <a:r>
              <a:rPr lang="en-US" sz="2800" dirty="0" smtClean="0">
                <a:solidFill>
                  <a:schemeClr val="tx1"/>
                </a:solidFill>
              </a:rPr>
              <a:t>.1 Crash Recovery</a:t>
            </a:r>
            <a:endParaRPr lang="en-US" sz="2800" dirty="0">
              <a:solidFill>
                <a:schemeClr val="tx1"/>
              </a:solidFill>
            </a:endParaRPr>
          </a:p>
          <a:p>
            <a:pPr algn="l">
              <a:buClr>
                <a:schemeClr val="tx1"/>
              </a:buClr>
              <a:buSzPct val="71000"/>
            </a:pPr>
            <a:r>
              <a:rPr lang="en-US" sz="2800" dirty="0">
                <a:solidFill>
                  <a:schemeClr val="tx1"/>
                </a:solidFill>
              </a:rPr>
              <a:t>9</a:t>
            </a:r>
            <a:r>
              <a:rPr lang="en-US" sz="2800" dirty="0" smtClean="0">
                <a:solidFill>
                  <a:schemeClr val="tx1"/>
                </a:solidFill>
              </a:rPr>
              <a:t>.2 Failure Classification</a:t>
            </a:r>
          </a:p>
          <a:p>
            <a:pPr algn="l">
              <a:buClr>
                <a:schemeClr val="tx1"/>
              </a:buClr>
              <a:buSzPct val="71000"/>
            </a:pPr>
            <a:r>
              <a:rPr lang="en-US" sz="2800" dirty="0" smtClean="0">
                <a:solidFill>
                  <a:schemeClr val="tx1"/>
                </a:solidFill>
              </a:rPr>
              <a:t>9.3 Storage Structure</a:t>
            </a:r>
          </a:p>
          <a:p>
            <a:pPr algn="l">
              <a:buClr>
                <a:schemeClr val="tx1"/>
              </a:buClr>
              <a:buSzPct val="71000"/>
            </a:pPr>
            <a:r>
              <a:rPr lang="en-US" sz="2800" dirty="0" smtClean="0">
                <a:solidFill>
                  <a:schemeClr val="tx1"/>
                </a:solidFill>
              </a:rPr>
              <a:t>9.4 Recovery and Atomicity</a:t>
            </a:r>
            <a:endParaRPr lang="en-US" sz="2800" dirty="0">
              <a:solidFill>
                <a:schemeClr val="tx1"/>
              </a:solidFill>
            </a:endParaRPr>
          </a:p>
          <a:p>
            <a:pPr algn="l">
              <a:buClr>
                <a:schemeClr val="tx1"/>
              </a:buClr>
              <a:buSzPct val="71000"/>
            </a:pPr>
            <a:r>
              <a:rPr lang="en-US" sz="2800" dirty="0" smtClean="0">
                <a:solidFill>
                  <a:schemeClr val="tx1"/>
                </a:solidFill>
              </a:rPr>
              <a:t>9.5 Log Based Recovery</a:t>
            </a:r>
          </a:p>
          <a:p>
            <a:pPr algn="l">
              <a:buClr>
                <a:schemeClr val="tx1"/>
              </a:buClr>
              <a:buSzPct val="71000"/>
            </a:pPr>
            <a:r>
              <a:rPr lang="en-US" sz="2800" dirty="0" smtClean="0">
                <a:solidFill>
                  <a:schemeClr val="tx1"/>
                </a:solidFill>
              </a:rPr>
              <a:t>9.6 Checkpoints</a:t>
            </a:r>
          </a:p>
          <a:p>
            <a:pPr algn="l">
              <a:buClr>
                <a:schemeClr val="tx1"/>
              </a:buClr>
              <a:buSzPct val="71000"/>
            </a:pPr>
            <a:r>
              <a:rPr lang="en-US" sz="2800" dirty="0" smtClean="0">
                <a:solidFill>
                  <a:schemeClr val="tx1"/>
                </a:solidFill>
              </a:rPr>
              <a:t>9.7 Shadow paging</a:t>
            </a:r>
            <a:endParaRPr lang="en-US" sz="2800" dirty="0">
              <a:solidFill>
                <a:schemeClr val="tx1"/>
              </a:solidFill>
            </a:endParaRPr>
          </a:p>
          <a:p>
            <a:pPr algn="l">
              <a:buClr>
                <a:schemeClr val="tx1"/>
              </a:buClr>
              <a:buSzPct val="71000"/>
            </a:pPr>
            <a:r>
              <a:rPr lang="en-US" sz="2800" dirty="0" smtClean="0">
                <a:solidFill>
                  <a:schemeClr val="tx1"/>
                </a:solidFill>
              </a:rPr>
              <a:t>9.8 Data Backup / Recovery </a:t>
            </a:r>
            <a:endParaRPr lang="en-US" sz="2800" dirty="0">
              <a:solidFill>
                <a:schemeClr val="tx1"/>
              </a:solidFill>
            </a:endParaRPr>
          </a:p>
          <a:p>
            <a:pPr algn="l">
              <a:buClr>
                <a:schemeClr val="tx1"/>
              </a:buClr>
              <a:buSzPct val="71000"/>
            </a:pPr>
            <a:r>
              <a:rPr lang="en-US" sz="2800" dirty="0" smtClean="0">
                <a:solidFill>
                  <a:schemeClr val="tx1"/>
                </a:solidFill>
              </a:rPr>
              <a:t>9.9 Remote Backup System</a:t>
            </a:r>
            <a:endParaRPr lang="en-US" sz="2800" dirty="0">
              <a:solidFill>
                <a:schemeClr val="tx1"/>
              </a:solidFill>
            </a:endParaRPr>
          </a:p>
          <a:p>
            <a:pPr algn="l">
              <a:buClr>
                <a:schemeClr val="tx1"/>
              </a:buClr>
              <a:buSzPct val="71000"/>
            </a:pPr>
            <a:endParaRPr lang="en-US" sz="2800" dirty="0">
              <a:solidFill>
                <a:schemeClr val="tx1"/>
              </a:solidFill>
            </a:endParaRPr>
          </a:p>
        </p:txBody>
      </p:sp>
    </p:spTree>
    <p:extLst>
      <p:ext uri="{BB962C8B-B14F-4D97-AF65-F5344CB8AC3E}">
        <p14:creationId xmlns:p14="http://schemas.microsoft.com/office/powerpoint/2010/main" val="28190787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9.1 Crash Recovery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DBMS is a highly complex system with hundreds of transactions being executed every second.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The </a:t>
            </a:r>
            <a:r>
              <a:rPr lang="en-US" sz="2800" dirty="0">
                <a:solidFill>
                  <a:srgbClr val="222222"/>
                </a:solidFill>
                <a:latin typeface="arial" panose="020B0604020202020204" pitchFamily="34" charset="0"/>
              </a:rPr>
              <a:t>durability and robustness of a DBMS depends on its complex architecture and its underlying hardware and system software.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If </a:t>
            </a:r>
            <a:r>
              <a:rPr lang="en-US" sz="2800" dirty="0">
                <a:solidFill>
                  <a:srgbClr val="222222"/>
                </a:solidFill>
                <a:latin typeface="arial" panose="020B0604020202020204" pitchFamily="34" charset="0"/>
              </a:rPr>
              <a:t>it fails or crashes amid transactions, it is expected that the system would follow some sort of algorithm or techniques to recover lost data.</a:t>
            </a:r>
            <a:endParaRPr lang="en-US" sz="2800" dirty="0">
              <a:solidFill>
                <a:schemeClr val="tx1"/>
              </a:solidFill>
            </a:endParaRPr>
          </a:p>
        </p:txBody>
      </p:sp>
    </p:spTree>
    <p:extLst>
      <p:ext uri="{BB962C8B-B14F-4D97-AF65-F5344CB8AC3E}">
        <p14:creationId xmlns:p14="http://schemas.microsoft.com/office/powerpoint/2010/main" val="2287038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9.2 Failure classification</a:t>
            </a:r>
            <a:endParaRPr lang="en-US" sz="2800" dirty="0">
              <a:solidFill>
                <a:schemeClr val="bg1"/>
              </a:solidFill>
            </a:endParaRPr>
          </a:p>
        </p:txBody>
      </p:sp>
      <p:pic>
        <p:nvPicPr>
          <p:cNvPr id="2050" name="Picture 2" descr="https://whatisdbms.com/wp-content/uploads/2018/06/types-of-failur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567" y="1421096"/>
            <a:ext cx="8094254" cy="4611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66440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9.2 Failure classification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85000" lnSpcReduction="20000"/>
          </a:bodyPr>
          <a:lstStyle/>
          <a:p>
            <a:pPr algn="just">
              <a:buClr>
                <a:schemeClr val="tx1"/>
              </a:buClr>
              <a:buSzPct val="71000"/>
            </a:pPr>
            <a:r>
              <a:rPr lang="en-US" sz="2800" dirty="0">
                <a:solidFill>
                  <a:srgbClr val="222222"/>
                </a:solidFill>
                <a:latin typeface="arial" panose="020B0604020202020204" pitchFamily="34" charset="0"/>
              </a:rPr>
              <a:t>1) Transaction </a:t>
            </a:r>
            <a:r>
              <a:rPr lang="en-US" sz="2800" dirty="0" smtClean="0">
                <a:solidFill>
                  <a:srgbClr val="222222"/>
                </a:solidFill>
                <a:latin typeface="arial" panose="020B0604020202020204" pitchFamily="34" charset="0"/>
              </a:rPr>
              <a:t>Failure</a:t>
            </a:r>
            <a:endParaRPr lang="en-US" sz="2800" dirty="0">
              <a:solidFill>
                <a:srgbClr val="222222"/>
              </a:solidFill>
              <a:latin typeface="arial" panose="020B0604020202020204" pitchFamily="34" charset="0"/>
            </a:endParaRPr>
          </a:p>
          <a:p>
            <a:pPr algn="just">
              <a:buClr>
                <a:schemeClr val="tx1"/>
              </a:buClr>
              <a:buSzPct val="71000"/>
            </a:pPr>
            <a:r>
              <a:rPr lang="en-US" sz="2800" dirty="0" smtClean="0">
                <a:solidFill>
                  <a:srgbClr val="222222"/>
                </a:solidFill>
                <a:latin typeface="arial" panose="020B0604020202020204" pitchFamily="34" charset="0"/>
              </a:rPr>
              <a:t>		a. The </a:t>
            </a:r>
            <a:r>
              <a:rPr lang="en-US" sz="2800" dirty="0">
                <a:solidFill>
                  <a:srgbClr val="222222"/>
                </a:solidFill>
                <a:latin typeface="arial" panose="020B0604020202020204" pitchFamily="34" charset="0"/>
              </a:rPr>
              <a:t>transaction cannot continue because of internal conditions like data  </a:t>
            </a:r>
            <a:r>
              <a:rPr lang="en-US" sz="2800" dirty="0" smtClean="0">
                <a:solidFill>
                  <a:srgbClr val="222222"/>
                </a:solidFill>
                <a:latin typeface="arial" panose="020B0604020202020204" pitchFamily="34" charset="0"/>
              </a:rPr>
              <a:t>mismatch</a:t>
            </a:r>
            <a:r>
              <a:rPr lang="en-US" sz="2800" dirty="0">
                <a:solidFill>
                  <a:srgbClr val="222222"/>
                </a:solidFill>
                <a:latin typeface="arial" panose="020B0604020202020204" pitchFamily="34" charset="0"/>
              </a:rPr>
              <a:t>, overflow etc. </a:t>
            </a:r>
            <a:r>
              <a:rPr lang="en-US" sz="2800" b="1" dirty="0">
                <a:solidFill>
                  <a:srgbClr val="222222"/>
                </a:solidFill>
                <a:latin typeface="arial" panose="020B0604020202020204" pitchFamily="34" charset="0"/>
              </a:rPr>
              <a:t>this is logical error</a:t>
            </a:r>
            <a:r>
              <a:rPr lang="en-US" sz="2800" dirty="0">
                <a:solidFill>
                  <a:srgbClr val="222222"/>
                </a:solidFill>
                <a:latin typeface="arial" panose="020B0604020202020204" pitchFamily="34" charset="0"/>
              </a:rPr>
              <a:t>.</a:t>
            </a:r>
          </a:p>
          <a:p>
            <a:pPr algn="just">
              <a:buClr>
                <a:schemeClr val="tx1"/>
              </a:buClr>
              <a:buSzPct val="71000"/>
            </a:pPr>
            <a:r>
              <a:rPr lang="en-US" sz="2800" dirty="0" smtClean="0">
                <a:solidFill>
                  <a:srgbClr val="222222"/>
                </a:solidFill>
                <a:latin typeface="arial" panose="020B0604020202020204" pitchFamily="34" charset="0"/>
              </a:rPr>
              <a:t>		b</a:t>
            </a:r>
            <a:r>
              <a:rPr lang="en-US" sz="2800" dirty="0">
                <a:solidFill>
                  <a:srgbClr val="222222"/>
                </a:solidFill>
                <a:latin typeface="arial" panose="020B0604020202020204" pitchFamily="34" charset="0"/>
              </a:rPr>
              <a:t>. The transaction cannot continue as the system enter into an undesirable state </a:t>
            </a:r>
            <a:r>
              <a:rPr lang="en-US" sz="2800" dirty="0" smtClean="0">
                <a:solidFill>
                  <a:srgbClr val="222222"/>
                </a:solidFill>
                <a:latin typeface="arial" panose="020B0604020202020204" pitchFamily="34" charset="0"/>
              </a:rPr>
              <a:t>	like </a:t>
            </a:r>
            <a:r>
              <a:rPr lang="en-US" sz="2800" dirty="0">
                <a:solidFill>
                  <a:srgbClr val="222222"/>
                </a:solidFill>
                <a:latin typeface="arial" panose="020B0604020202020204" pitchFamily="34" charset="0"/>
              </a:rPr>
              <a:t>deadlock , </a:t>
            </a:r>
            <a:r>
              <a:rPr lang="en-US" sz="2800" b="1" dirty="0" smtClean="0">
                <a:solidFill>
                  <a:srgbClr val="222222"/>
                </a:solidFill>
                <a:latin typeface="arial" panose="020B0604020202020204" pitchFamily="34" charset="0"/>
              </a:rPr>
              <a:t>this is system error</a:t>
            </a:r>
          </a:p>
          <a:p>
            <a:pPr algn="just">
              <a:buClr>
                <a:schemeClr val="tx1"/>
              </a:buClr>
              <a:buSzPct val="71000"/>
            </a:pPr>
            <a:endParaRPr lang="en-US" sz="2800" dirty="0" smtClean="0">
              <a:solidFill>
                <a:srgbClr val="222222"/>
              </a:solidFill>
              <a:latin typeface="arial" panose="020B0604020202020204" pitchFamily="34" charset="0"/>
            </a:endParaRPr>
          </a:p>
          <a:p>
            <a:pPr algn="just">
              <a:buClr>
                <a:schemeClr val="tx1"/>
              </a:buClr>
              <a:buSzPct val="71000"/>
            </a:pPr>
            <a:r>
              <a:rPr lang="en-US" sz="2800" dirty="0" smtClean="0">
                <a:solidFill>
                  <a:srgbClr val="222222"/>
                </a:solidFill>
                <a:latin typeface="arial" panose="020B0604020202020204" pitchFamily="34" charset="0"/>
              </a:rPr>
              <a:t>2</a:t>
            </a:r>
            <a:r>
              <a:rPr lang="en-US" sz="2800" dirty="0">
                <a:solidFill>
                  <a:srgbClr val="222222"/>
                </a:solidFill>
                <a:latin typeface="arial" panose="020B0604020202020204" pitchFamily="34" charset="0"/>
              </a:rPr>
              <a:t>) System </a:t>
            </a:r>
            <a:r>
              <a:rPr lang="en-US" sz="2800" dirty="0" smtClean="0">
                <a:solidFill>
                  <a:srgbClr val="222222"/>
                </a:solidFill>
                <a:latin typeface="arial" panose="020B0604020202020204" pitchFamily="34" charset="0"/>
              </a:rPr>
              <a:t>crash</a:t>
            </a:r>
            <a:endParaRPr lang="en-US" sz="2800" dirty="0">
              <a:solidFill>
                <a:srgbClr val="222222"/>
              </a:solidFill>
              <a:latin typeface="arial" panose="020B0604020202020204" pitchFamily="34" charset="0"/>
            </a:endParaRPr>
          </a:p>
          <a:p>
            <a:pPr algn="just">
              <a:buClr>
                <a:schemeClr val="tx1"/>
              </a:buClr>
              <a:buSzPct val="71000"/>
            </a:pPr>
            <a:r>
              <a:rPr lang="en-US" sz="2800" dirty="0" smtClean="0">
                <a:solidFill>
                  <a:srgbClr val="222222"/>
                </a:solidFill>
                <a:latin typeface="arial" panose="020B0604020202020204" pitchFamily="34" charset="0"/>
              </a:rPr>
              <a:t>	a</a:t>
            </a:r>
            <a:r>
              <a:rPr lang="en-US" sz="2800" dirty="0">
                <a:solidFill>
                  <a:srgbClr val="222222"/>
                </a:solidFill>
                <a:latin typeface="arial" panose="020B0604020202020204" pitchFamily="34" charset="0"/>
              </a:rPr>
              <a:t>. It is the failure caused due to hardware </a:t>
            </a:r>
            <a:r>
              <a:rPr lang="en-US" sz="2800" dirty="0" smtClean="0">
                <a:solidFill>
                  <a:srgbClr val="222222"/>
                </a:solidFill>
                <a:latin typeface="arial" panose="020B0604020202020204" pitchFamily="34" charset="0"/>
              </a:rPr>
              <a:t>	malfunctioning </a:t>
            </a:r>
            <a:r>
              <a:rPr lang="en-US" sz="2800" dirty="0">
                <a:solidFill>
                  <a:srgbClr val="222222"/>
                </a:solidFill>
                <a:latin typeface="arial" panose="020B0604020202020204" pitchFamily="34" charset="0"/>
              </a:rPr>
              <a:t>or software bugs that do not affect data </a:t>
            </a:r>
            <a:r>
              <a:rPr lang="en-US" sz="2800" dirty="0" smtClean="0">
                <a:solidFill>
                  <a:srgbClr val="222222"/>
                </a:solidFill>
                <a:latin typeface="arial" panose="020B0604020202020204" pitchFamily="34" charset="0"/>
              </a:rPr>
              <a:t>	of </a:t>
            </a:r>
            <a:r>
              <a:rPr lang="en-US" sz="2800" dirty="0">
                <a:solidFill>
                  <a:srgbClr val="222222"/>
                </a:solidFill>
                <a:latin typeface="arial" panose="020B0604020202020204" pitchFamily="34" charset="0"/>
              </a:rPr>
              <a:t>nonvolatile storage.</a:t>
            </a:r>
          </a:p>
          <a:p>
            <a:pPr algn="just">
              <a:buClr>
                <a:schemeClr val="tx1"/>
              </a:buClr>
              <a:buSzPct val="71000"/>
            </a:pPr>
            <a:r>
              <a:rPr lang="en-US" sz="2800" dirty="0" smtClean="0">
                <a:solidFill>
                  <a:srgbClr val="222222"/>
                </a:solidFill>
                <a:latin typeface="arial" panose="020B0604020202020204" pitchFamily="34" charset="0"/>
              </a:rPr>
              <a:t>	</a:t>
            </a: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20106315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9.2 Failure classification</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dirty="0" smtClean="0">
                <a:solidFill>
                  <a:srgbClr val="222222"/>
                </a:solidFill>
                <a:latin typeface="arial" panose="020B0604020202020204" pitchFamily="34" charset="0"/>
              </a:rPr>
              <a:t>3</a:t>
            </a:r>
            <a:r>
              <a:rPr lang="en-US" sz="2800" dirty="0">
                <a:solidFill>
                  <a:srgbClr val="222222"/>
                </a:solidFill>
                <a:latin typeface="arial" panose="020B0604020202020204" pitchFamily="34" charset="0"/>
              </a:rPr>
              <a:t>) Disk </a:t>
            </a:r>
            <a:r>
              <a:rPr lang="en-US" sz="2800" dirty="0" smtClean="0">
                <a:solidFill>
                  <a:srgbClr val="222222"/>
                </a:solidFill>
                <a:latin typeface="arial" panose="020B0604020202020204" pitchFamily="34" charset="0"/>
              </a:rPr>
              <a:t>failure</a:t>
            </a:r>
            <a:endParaRPr lang="en-US" sz="2800" dirty="0">
              <a:solidFill>
                <a:srgbClr val="222222"/>
              </a:solidFill>
              <a:latin typeface="arial" panose="020B0604020202020204" pitchFamily="34" charset="0"/>
            </a:endParaRPr>
          </a:p>
          <a:p>
            <a:pPr algn="just">
              <a:buClr>
                <a:schemeClr val="tx1"/>
              </a:buClr>
              <a:buSzPct val="71000"/>
            </a:pPr>
            <a:r>
              <a:rPr lang="en-US" sz="2800" dirty="0" smtClean="0">
                <a:solidFill>
                  <a:srgbClr val="222222"/>
                </a:solidFill>
                <a:latin typeface="arial" panose="020B0604020202020204" pitchFamily="34" charset="0"/>
              </a:rPr>
              <a:t>	a</a:t>
            </a:r>
            <a:r>
              <a:rPr lang="en-US" sz="2800" dirty="0">
                <a:solidFill>
                  <a:srgbClr val="222222"/>
                </a:solidFill>
                <a:latin typeface="arial" panose="020B0604020202020204" pitchFamily="34" charset="0"/>
              </a:rPr>
              <a:t>. It is the failure caused due to head crash or data transfer failure.</a:t>
            </a:r>
          </a:p>
          <a:p>
            <a:pPr algn="just">
              <a:buClr>
                <a:schemeClr val="tx1"/>
              </a:buClr>
              <a:buSzPct val="71000"/>
            </a:pPr>
            <a:r>
              <a:rPr lang="en-US" sz="2800" dirty="0" smtClean="0">
                <a:solidFill>
                  <a:srgbClr val="222222"/>
                </a:solidFill>
                <a:latin typeface="arial" panose="020B0604020202020204" pitchFamily="34" charset="0"/>
              </a:rPr>
              <a:t>	b</a:t>
            </a:r>
            <a:r>
              <a:rPr lang="en-US" sz="2800" dirty="0">
                <a:solidFill>
                  <a:srgbClr val="222222"/>
                </a:solidFill>
                <a:latin typeface="arial" panose="020B0604020202020204" pitchFamily="34" charset="0"/>
              </a:rPr>
              <a:t>. Multiple backups are used to recover from this failure.</a:t>
            </a:r>
            <a:endParaRPr lang="en-US" sz="2800" dirty="0">
              <a:solidFill>
                <a:schemeClr val="tx1"/>
              </a:solidFill>
            </a:endParaRPr>
          </a:p>
        </p:txBody>
      </p:sp>
    </p:spTree>
    <p:extLst>
      <p:ext uri="{BB962C8B-B14F-4D97-AF65-F5344CB8AC3E}">
        <p14:creationId xmlns:p14="http://schemas.microsoft.com/office/powerpoint/2010/main" val="11998923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9.3 Storage Structure</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a:solidFill>
                  <a:srgbClr val="222222"/>
                </a:solidFill>
                <a:latin typeface="arial" panose="020B0604020202020204" pitchFamily="34" charset="0"/>
              </a:rPr>
              <a:t>Volatile storage − </a:t>
            </a:r>
            <a:endParaRPr lang="en-US" sz="2800" b="1"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As </a:t>
            </a:r>
            <a:r>
              <a:rPr lang="en-US" sz="2800" dirty="0">
                <a:solidFill>
                  <a:srgbClr val="222222"/>
                </a:solidFill>
                <a:latin typeface="arial" panose="020B0604020202020204" pitchFamily="34" charset="0"/>
              </a:rPr>
              <a:t>the name suggests, a volatile storage cannot survive system crashes.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Volatile </a:t>
            </a:r>
            <a:r>
              <a:rPr lang="en-US" sz="2800" dirty="0">
                <a:solidFill>
                  <a:srgbClr val="222222"/>
                </a:solidFill>
                <a:latin typeface="arial" panose="020B0604020202020204" pitchFamily="34" charset="0"/>
              </a:rPr>
              <a:t>storage devices are placed very close to the CPU; normally they are embedded onto the chipset itself.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For </a:t>
            </a:r>
            <a:r>
              <a:rPr lang="en-US" sz="2800" dirty="0">
                <a:solidFill>
                  <a:srgbClr val="222222"/>
                </a:solidFill>
                <a:latin typeface="arial" panose="020B0604020202020204" pitchFamily="34" charset="0"/>
              </a:rPr>
              <a:t>example, main memory and cache memory are examples of volatile storage.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They </a:t>
            </a:r>
            <a:r>
              <a:rPr lang="en-US" sz="2800" dirty="0">
                <a:solidFill>
                  <a:srgbClr val="222222"/>
                </a:solidFill>
                <a:latin typeface="arial" panose="020B0604020202020204" pitchFamily="34" charset="0"/>
              </a:rPr>
              <a:t>are fast but can store only a small amount of information.</a:t>
            </a:r>
          </a:p>
          <a:p>
            <a:pPr marL="457200" indent="-457200" algn="just">
              <a:buClr>
                <a:schemeClr val="tx1"/>
              </a:buClr>
              <a:buSzPct val="71000"/>
              <a:buFont typeface="Wingdings" panose="05000000000000000000" pitchFamily="2" charset="2"/>
              <a:buChar char="v"/>
            </a:pPr>
            <a:endParaRPr lang="en-US" sz="2800" b="1" dirty="0">
              <a:solidFill>
                <a:srgbClr val="222222"/>
              </a:solidFill>
              <a:latin typeface="arial" panose="020B0604020202020204" pitchFamily="34" charset="0"/>
            </a:endParaRPr>
          </a:p>
        </p:txBody>
      </p:sp>
    </p:spTree>
    <p:extLst>
      <p:ext uri="{BB962C8B-B14F-4D97-AF65-F5344CB8AC3E}">
        <p14:creationId xmlns:p14="http://schemas.microsoft.com/office/powerpoint/2010/main" val="225057608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9.3 Storage Structure</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Non-volatile </a:t>
            </a:r>
            <a:r>
              <a:rPr lang="en-US" sz="2800" b="1" dirty="0">
                <a:solidFill>
                  <a:srgbClr val="222222"/>
                </a:solidFill>
                <a:latin typeface="arial" panose="020B0604020202020204" pitchFamily="34" charset="0"/>
              </a:rPr>
              <a:t>storage − </a:t>
            </a:r>
            <a:endParaRPr lang="en-US" sz="2800" b="1"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These </a:t>
            </a:r>
            <a:r>
              <a:rPr lang="en-US" sz="2800" dirty="0">
                <a:solidFill>
                  <a:srgbClr val="222222"/>
                </a:solidFill>
                <a:latin typeface="arial" panose="020B0604020202020204" pitchFamily="34" charset="0"/>
              </a:rPr>
              <a:t>memories are made to survive system crashes.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They </a:t>
            </a:r>
            <a:r>
              <a:rPr lang="en-US" sz="2800" dirty="0">
                <a:solidFill>
                  <a:srgbClr val="222222"/>
                </a:solidFill>
                <a:latin typeface="arial" panose="020B0604020202020204" pitchFamily="34" charset="0"/>
              </a:rPr>
              <a:t>are huge in data storage capacity, but slower in accessibility.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Examples may include hard-disks, magnetic tapes, flash memory, and non-volatile (battery backed up) RAM.</a:t>
            </a:r>
            <a:endParaRPr lang="en-US" sz="2800" dirty="0">
              <a:solidFill>
                <a:schemeClr val="tx1"/>
              </a:solidFill>
            </a:endParaRPr>
          </a:p>
        </p:txBody>
      </p:sp>
    </p:spTree>
    <p:extLst>
      <p:ext uri="{BB962C8B-B14F-4D97-AF65-F5344CB8AC3E}">
        <p14:creationId xmlns:p14="http://schemas.microsoft.com/office/powerpoint/2010/main" val="49476692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9.3 Storage Structure</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b="1" dirty="0">
                <a:solidFill>
                  <a:srgbClr val="222222"/>
                </a:solidFill>
                <a:latin typeface="arial" panose="020B0604020202020204" pitchFamily="34" charset="0"/>
              </a:rPr>
              <a:t>Stable </a:t>
            </a:r>
            <a:r>
              <a:rPr lang="en-US" sz="2800" b="1" dirty="0" smtClean="0">
                <a:solidFill>
                  <a:srgbClr val="222222"/>
                </a:solidFill>
                <a:latin typeface="arial" panose="020B0604020202020204" pitchFamily="34" charset="0"/>
              </a:rPr>
              <a:t>Memory -</a:t>
            </a:r>
            <a:endParaRPr lang="en-US" sz="2800" b="1"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This is said to be third form of memory structure but it is same as non volatile memory.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In </a:t>
            </a:r>
            <a:r>
              <a:rPr lang="en-US" sz="2800" dirty="0">
                <a:solidFill>
                  <a:srgbClr val="222222"/>
                </a:solidFill>
                <a:latin typeface="arial" panose="020B0604020202020204" pitchFamily="34" charset="0"/>
              </a:rPr>
              <a:t>this case, copies of same non volatile memories are stored at different places.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This </a:t>
            </a:r>
            <a:r>
              <a:rPr lang="en-US" sz="2800" dirty="0">
                <a:solidFill>
                  <a:srgbClr val="222222"/>
                </a:solidFill>
                <a:latin typeface="arial" panose="020B0604020202020204" pitchFamily="34" charset="0"/>
              </a:rPr>
              <a:t>is because, in case of any crash and data loss, data can be recovered from other copies.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This </a:t>
            </a:r>
            <a:r>
              <a:rPr lang="en-US" sz="2800" dirty="0">
                <a:solidFill>
                  <a:srgbClr val="222222"/>
                </a:solidFill>
                <a:latin typeface="arial" panose="020B0604020202020204" pitchFamily="34" charset="0"/>
              </a:rPr>
              <a:t>is even helpful if there one of non-volatile memory is lost due to fire or flood.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It </a:t>
            </a:r>
            <a:r>
              <a:rPr lang="en-US" sz="2800" dirty="0">
                <a:solidFill>
                  <a:srgbClr val="222222"/>
                </a:solidFill>
                <a:latin typeface="arial" panose="020B0604020202020204" pitchFamily="34" charset="0"/>
              </a:rPr>
              <a:t>can be recovered from other network location. </a:t>
            </a:r>
            <a:endParaRPr lang="en-US" sz="2800" dirty="0">
              <a:solidFill>
                <a:schemeClr val="tx1"/>
              </a:solidFill>
            </a:endParaRPr>
          </a:p>
        </p:txBody>
      </p:sp>
    </p:spTree>
    <p:extLst>
      <p:ext uri="{BB962C8B-B14F-4D97-AF65-F5344CB8AC3E}">
        <p14:creationId xmlns:p14="http://schemas.microsoft.com/office/powerpoint/2010/main" val="4991646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9.4 Recovery and Atomicity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When </a:t>
            </a:r>
            <a:r>
              <a:rPr lang="en-US" sz="2800" dirty="0">
                <a:solidFill>
                  <a:srgbClr val="222222"/>
                </a:solidFill>
                <a:latin typeface="arial" panose="020B0604020202020204" pitchFamily="34" charset="0"/>
              </a:rPr>
              <a:t>a system crashes, it may have several transactions being executed and various files opened for them to modify the data items.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Transactions </a:t>
            </a:r>
            <a:r>
              <a:rPr lang="en-US" sz="2800" dirty="0">
                <a:solidFill>
                  <a:srgbClr val="222222"/>
                </a:solidFill>
                <a:latin typeface="arial" panose="020B0604020202020204" pitchFamily="34" charset="0"/>
              </a:rPr>
              <a:t>are made of various operations, which are atomic in nature.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But </a:t>
            </a:r>
            <a:r>
              <a:rPr lang="en-US" sz="2800" dirty="0">
                <a:solidFill>
                  <a:srgbClr val="222222"/>
                </a:solidFill>
                <a:latin typeface="arial" panose="020B0604020202020204" pitchFamily="34" charset="0"/>
              </a:rPr>
              <a:t>according to ACID properties of DBMS, atomicity of transactions as a whole must be maintained, that is, either all the operations are executed or none.</a:t>
            </a:r>
            <a:endParaRPr lang="en-US" sz="2800" dirty="0">
              <a:solidFill>
                <a:schemeClr val="tx1"/>
              </a:solidFill>
            </a:endParaRPr>
          </a:p>
        </p:txBody>
      </p:sp>
    </p:spTree>
    <p:extLst>
      <p:ext uri="{BB962C8B-B14F-4D97-AF65-F5344CB8AC3E}">
        <p14:creationId xmlns:p14="http://schemas.microsoft.com/office/powerpoint/2010/main" val="103249759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9.4 Recovery and Atomicity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lnSpcReduction="10000"/>
          </a:bodyPr>
          <a:lstStyle/>
          <a:p>
            <a:pPr algn="just">
              <a:buClr>
                <a:schemeClr val="tx1"/>
              </a:buClr>
              <a:buSzPct val="71000"/>
            </a:pPr>
            <a:r>
              <a:rPr lang="en-US" sz="2800" dirty="0">
                <a:solidFill>
                  <a:srgbClr val="222222"/>
                </a:solidFill>
                <a:latin typeface="arial" panose="020B0604020202020204" pitchFamily="34" charset="0"/>
              </a:rPr>
              <a:t>When a DBMS recovers from a crash, it should maintain the following </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It should check the states of all the transactions, which were being executed</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 transaction may be in the middle of some operation; the DBMS must ensure the atomicity of the transaction in this case</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It should check whether the transaction can be completed now or it needs to be rolled back</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No transactions would be allowed to leave the DBMS in an inconsistent state.</a:t>
            </a:r>
            <a:endParaRPr lang="en-US" sz="2800" dirty="0">
              <a:solidFill>
                <a:schemeClr val="tx1"/>
              </a:solidFill>
            </a:endParaRPr>
          </a:p>
        </p:txBody>
      </p:sp>
    </p:spTree>
    <p:extLst>
      <p:ext uri="{BB962C8B-B14F-4D97-AF65-F5344CB8AC3E}">
        <p14:creationId xmlns:p14="http://schemas.microsoft.com/office/powerpoint/2010/main" val="27745754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9.4 Recovery and Atomicity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dirty="0">
                <a:solidFill>
                  <a:srgbClr val="222222"/>
                </a:solidFill>
                <a:latin typeface="arial" panose="020B0604020202020204" pitchFamily="34" charset="0"/>
              </a:rPr>
              <a:t>There are two types of techniques, which can help a DBMS in recovering as well as maintaining the atomicity of a transaction </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Maintaining the logs of each transaction, and writing them onto some stable storage before actually modifying the database</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Maintaining shadow paging, where the changes are done on a volatile memory, and later, the actual database is updated.</a:t>
            </a:r>
            <a:endParaRPr lang="en-US" sz="2800" dirty="0">
              <a:solidFill>
                <a:schemeClr val="tx1"/>
              </a:solidFill>
            </a:endParaRPr>
          </a:p>
        </p:txBody>
      </p:sp>
    </p:spTree>
    <p:extLst>
      <p:ext uri="{BB962C8B-B14F-4D97-AF65-F5344CB8AC3E}">
        <p14:creationId xmlns:p14="http://schemas.microsoft.com/office/powerpoint/2010/main" val="670210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9.5 Log Based Recovery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Log is a sequence of records, which maintains the records of actions performed by a transaction.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It </a:t>
            </a:r>
            <a:r>
              <a:rPr lang="en-US" sz="2800" dirty="0">
                <a:solidFill>
                  <a:srgbClr val="222222"/>
                </a:solidFill>
                <a:latin typeface="arial" panose="020B0604020202020204" pitchFamily="34" charset="0"/>
              </a:rPr>
              <a:t>is important that the logs are written prior to the actual modification and stored on a stable storage media, which is failsafe.</a:t>
            </a:r>
          </a:p>
        </p:txBody>
      </p:sp>
    </p:spTree>
    <p:extLst>
      <p:ext uri="{BB962C8B-B14F-4D97-AF65-F5344CB8AC3E}">
        <p14:creationId xmlns:p14="http://schemas.microsoft.com/office/powerpoint/2010/main" val="299740397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9.5 Log Based Recovery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20000"/>
          </a:bodyPr>
          <a:lstStyle/>
          <a:p>
            <a:pPr algn="just">
              <a:buClr>
                <a:schemeClr val="tx1"/>
              </a:buClr>
              <a:buSzPct val="71000"/>
            </a:pPr>
            <a:r>
              <a:rPr lang="en-US" sz="2800" dirty="0">
                <a:solidFill>
                  <a:srgbClr val="222222"/>
                </a:solidFill>
                <a:latin typeface="arial" panose="020B0604020202020204" pitchFamily="34" charset="0"/>
              </a:rPr>
              <a:t>Log-based recovery works as follows </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log file is kept on a stable storage media</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When a transaction enters the system and starts execution, it writes a log about it</a:t>
            </a:r>
            <a:r>
              <a:rPr lang="en-US" sz="2800" dirty="0" smtClean="0">
                <a:solidFill>
                  <a:srgbClr val="222222"/>
                </a:solidFill>
                <a:latin typeface="arial" panose="020B0604020202020204" pitchFamily="34" charset="0"/>
              </a:rPr>
              <a:t>.</a:t>
            </a:r>
          </a:p>
          <a:p>
            <a:pPr algn="just">
              <a:buClr>
                <a:schemeClr val="tx1"/>
              </a:buClr>
              <a:buSzPct val="71000"/>
            </a:pPr>
            <a:r>
              <a:rPr lang="en-US" sz="2800" dirty="0" smtClean="0">
                <a:solidFill>
                  <a:srgbClr val="222222"/>
                </a:solidFill>
                <a:latin typeface="arial" panose="020B0604020202020204" pitchFamily="34" charset="0"/>
              </a:rPr>
              <a:t>		&lt;</a:t>
            </a:r>
            <a:r>
              <a:rPr lang="en-US" sz="2800" dirty="0" err="1">
                <a:solidFill>
                  <a:srgbClr val="222222"/>
                </a:solidFill>
                <a:latin typeface="arial" panose="020B0604020202020204" pitchFamily="34" charset="0"/>
              </a:rPr>
              <a:t>Tn</a:t>
            </a:r>
            <a:r>
              <a:rPr lang="en-US" sz="2800" dirty="0">
                <a:solidFill>
                  <a:srgbClr val="222222"/>
                </a:solidFill>
                <a:latin typeface="arial" panose="020B0604020202020204" pitchFamily="34" charset="0"/>
              </a:rPr>
              <a:t>, Start&gt;</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When the transaction modifies an item X, it write logs as follows </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algn="just">
              <a:buClr>
                <a:schemeClr val="tx1"/>
              </a:buClr>
              <a:buSzPct val="71000"/>
            </a:pPr>
            <a:r>
              <a:rPr lang="en-US" sz="2800" dirty="0" smtClean="0">
                <a:solidFill>
                  <a:srgbClr val="222222"/>
                </a:solidFill>
                <a:latin typeface="arial" panose="020B0604020202020204" pitchFamily="34" charset="0"/>
              </a:rPr>
              <a:t>		&lt;</a:t>
            </a:r>
            <a:r>
              <a:rPr lang="en-US" sz="2800" dirty="0" err="1">
                <a:solidFill>
                  <a:srgbClr val="222222"/>
                </a:solidFill>
                <a:latin typeface="arial" panose="020B0604020202020204" pitchFamily="34" charset="0"/>
              </a:rPr>
              <a:t>Tn</a:t>
            </a:r>
            <a:r>
              <a:rPr lang="en-US" sz="2800" dirty="0">
                <a:solidFill>
                  <a:srgbClr val="222222"/>
                </a:solidFill>
                <a:latin typeface="arial" panose="020B0604020202020204" pitchFamily="34" charset="0"/>
              </a:rPr>
              <a:t>, X, </a:t>
            </a:r>
            <a:r>
              <a:rPr lang="en-US" sz="2800" dirty="0" err="1">
                <a:solidFill>
                  <a:srgbClr val="222222"/>
                </a:solidFill>
                <a:latin typeface="arial" panose="020B0604020202020204" pitchFamily="34" charset="0"/>
              </a:rPr>
              <a:t>V1</a:t>
            </a:r>
            <a:r>
              <a:rPr lang="en-US" sz="2800" dirty="0">
                <a:solidFill>
                  <a:srgbClr val="222222"/>
                </a:solidFill>
                <a:latin typeface="arial" panose="020B0604020202020204" pitchFamily="34" charset="0"/>
              </a:rPr>
              <a:t>, </a:t>
            </a:r>
            <a:r>
              <a:rPr lang="en-US" sz="2800" dirty="0" err="1">
                <a:solidFill>
                  <a:srgbClr val="222222"/>
                </a:solidFill>
                <a:latin typeface="arial" panose="020B0604020202020204" pitchFamily="34" charset="0"/>
              </a:rPr>
              <a:t>V2</a:t>
            </a:r>
            <a:r>
              <a:rPr lang="en-US" sz="2800" dirty="0">
                <a:solidFill>
                  <a:srgbClr val="222222"/>
                </a:solidFill>
                <a:latin typeface="arial" panose="020B0604020202020204" pitchFamily="34" charset="0"/>
              </a:rPr>
              <a:t>&gt;</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It reads </a:t>
            </a:r>
            <a:r>
              <a:rPr lang="en-US" sz="2800" dirty="0" err="1">
                <a:solidFill>
                  <a:srgbClr val="222222"/>
                </a:solidFill>
                <a:latin typeface="arial" panose="020B0604020202020204" pitchFamily="34" charset="0"/>
              </a:rPr>
              <a:t>Tn</a:t>
            </a:r>
            <a:r>
              <a:rPr lang="en-US" sz="2800" dirty="0">
                <a:solidFill>
                  <a:srgbClr val="222222"/>
                </a:solidFill>
                <a:latin typeface="arial" panose="020B0604020202020204" pitchFamily="34" charset="0"/>
              </a:rPr>
              <a:t> has changed the value of X, from </a:t>
            </a:r>
            <a:r>
              <a:rPr lang="en-US" sz="2800" dirty="0" err="1">
                <a:solidFill>
                  <a:srgbClr val="222222"/>
                </a:solidFill>
                <a:latin typeface="arial" panose="020B0604020202020204" pitchFamily="34" charset="0"/>
              </a:rPr>
              <a:t>V1</a:t>
            </a:r>
            <a:r>
              <a:rPr lang="en-US" sz="2800" dirty="0">
                <a:solidFill>
                  <a:srgbClr val="222222"/>
                </a:solidFill>
                <a:latin typeface="arial" panose="020B0604020202020204" pitchFamily="34" charset="0"/>
              </a:rPr>
              <a:t> to </a:t>
            </a:r>
            <a:r>
              <a:rPr lang="en-US" sz="2800" dirty="0" err="1">
                <a:solidFill>
                  <a:srgbClr val="222222"/>
                </a:solidFill>
                <a:latin typeface="arial" panose="020B0604020202020204" pitchFamily="34" charset="0"/>
              </a:rPr>
              <a:t>V2</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When the transaction finishes, it logs −</a:t>
            </a:r>
          </a:p>
          <a:p>
            <a:pPr algn="just">
              <a:buClr>
                <a:schemeClr val="tx1"/>
              </a:buClr>
              <a:buSzPct val="71000"/>
            </a:pPr>
            <a:r>
              <a:rPr lang="en-US" sz="2800" dirty="0" smtClean="0">
                <a:solidFill>
                  <a:srgbClr val="222222"/>
                </a:solidFill>
                <a:latin typeface="arial" panose="020B0604020202020204" pitchFamily="34" charset="0"/>
              </a:rPr>
              <a:t>		&lt;</a:t>
            </a:r>
            <a:r>
              <a:rPr lang="en-US" sz="2800" dirty="0" err="1">
                <a:solidFill>
                  <a:srgbClr val="222222"/>
                </a:solidFill>
                <a:latin typeface="arial" panose="020B0604020202020204" pitchFamily="34" charset="0"/>
              </a:rPr>
              <a:t>Tn</a:t>
            </a:r>
            <a:r>
              <a:rPr lang="en-US" sz="2800" dirty="0">
                <a:solidFill>
                  <a:srgbClr val="222222"/>
                </a:solidFill>
                <a:latin typeface="arial" panose="020B0604020202020204" pitchFamily="34" charset="0"/>
              </a:rPr>
              <a:t>, commit&gt;</a:t>
            </a:r>
          </a:p>
        </p:txBody>
      </p:sp>
    </p:spTree>
    <p:extLst>
      <p:ext uri="{BB962C8B-B14F-4D97-AF65-F5344CB8AC3E}">
        <p14:creationId xmlns:p14="http://schemas.microsoft.com/office/powerpoint/2010/main" val="94931271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9.5 Log Based Recovery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dirty="0">
                <a:solidFill>
                  <a:srgbClr val="222222"/>
                </a:solidFill>
                <a:latin typeface="arial" panose="020B0604020202020204" pitchFamily="34" charset="0"/>
              </a:rPr>
              <a:t>The database can be modified using two approaches </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Deferred database modification − </a:t>
            </a:r>
            <a:r>
              <a:rPr lang="en-US" sz="2800" dirty="0">
                <a:solidFill>
                  <a:srgbClr val="222222"/>
                </a:solidFill>
                <a:latin typeface="arial" panose="020B0604020202020204" pitchFamily="34" charset="0"/>
              </a:rPr>
              <a:t>All logs are written on to the stable storage and the database is updated when a transaction commits</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Immediate database modification − </a:t>
            </a:r>
            <a:r>
              <a:rPr lang="en-US" sz="2800" dirty="0">
                <a:solidFill>
                  <a:srgbClr val="222222"/>
                </a:solidFill>
                <a:latin typeface="arial" panose="020B0604020202020204" pitchFamily="34" charset="0"/>
              </a:rPr>
              <a:t>Each log follows an actual database modification. That is, the database is modified immediately after every operation.</a:t>
            </a:r>
          </a:p>
        </p:txBody>
      </p:sp>
    </p:spTree>
    <p:extLst>
      <p:ext uri="{BB962C8B-B14F-4D97-AF65-F5344CB8AC3E}">
        <p14:creationId xmlns:p14="http://schemas.microsoft.com/office/powerpoint/2010/main" val="706224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9.5 Log Based Recovery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Deferred </a:t>
            </a:r>
            <a:r>
              <a:rPr lang="en-US" sz="2800" b="1" dirty="0">
                <a:solidFill>
                  <a:srgbClr val="222222"/>
                </a:solidFill>
                <a:latin typeface="arial" panose="020B0604020202020204" pitchFamily="34" charset="0"/>
              </a:rPr>
              <a:t>database modification </a:t>
            </a:r>
            <a:r>
              <a:rPr lang="en-US" sz="2800" b="1" dirty="0" smtClean="0">
                <a:solidFill>
                  <a:srgbClr val="222222"/>
                </a:solidFill>
                <a:latin typeface="arial" panose="020B0604020202020204" pitchFamily="34" charset="0"/>
              </a:rPr>
              <a:t>−</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It </a:t>
            </a:r>
            <a:r>
              <a:rPr lang="en-US" sz="2800" dirty="0">
                <a:solidFill>
                  <a:srgbClr val="222222"/>
                </a:solidFill>
                <a:latin typeface="arial" panose="020B0604020202020204" pitchFamily="34" charset="0"/>
              </a:rPr>
              <a:t>is also called NO-UNDO/REDO technique.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It </a:t>
            </a:r>
            <a:r>
              <a:rPr lang="en-US" sz="2800" dirty="0">
                <a:solidFill>
                  <a:srgbClr val="222222"/>
                </a:solidFill>
                <a:latin typeface="arial" panose="020B0604020202020204" pitchFamily="34" charset="0"/>
              </a:rPr>
              <a:t>is used for the recovery of the transaction failures which occur due to power, memory or OS failures.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Whenever </a:t>
            </a:r>
            <a:r>
              <a:rPr lang="en-US" sz="2800" dirty="0">
                <a:solidFill>
                  <a:srgbClr val="222222"/>
                </a:solidFill>
                <a:latin typeface="arial" panose="020B0604020202020204" pitchFamily="34" charset="0"/>
              </a:rPr>
              <a:t>any transaction is executed, the updates are not made immediately to the database. </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42084191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9.5 Log Based Recovery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a:bodyPr>
          <a:lstStyle/>
          <a:p>
            <a:pPr algn="just">
              <a:buClr>
                <a:schemeClr val="tx1"/>
              </a:buClr>
              <a:buSzPct val="71000"/>
            </a:pPr>
            <a:r>
              <a:rPr lang="en-US" sz="2800" b="1" dirty="0" smtClean="0">
                <a:solidFill>
                  <a:srgbClr val="222222"/>
                </a:solidFill>
                <a:latin typeface="arial" panose="020B0604020202020204" pitchFamily="34" charset="0"/>
              </a:rPr>
              <a:t>Deferred </a:t>
            </a:r>
            <a:r>
              <a:rPr lang="en-US" sz="2800" b="1" dirty="0">
                <a:solidFill>
                  <a:srgbClr val="222222"/>
                </a:solidFill>
                <a:latin typeface="arial" panose="020B0604020202020204" pitchFamily="34" charset="0"/>
              </a:rPr>
              <a:t>database modification </a:t>
            </a:r>
            <a:r>
              <a:rPr lang="en-US" sz="2800" b="1" dirty="0" smtClean="0">
                <a:solidFill>
                  <a:srgbClr val="222222"/>
                </a:solidFill>
                <a:latin typeface="arial" panose="020B0604020202020204" pitchFamily="34" charset="0"/>
              </a:rPr>
              <a:t>−</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They </a:t>
            </a:r>
            <a:r>
              <a:rPr lang="en-US" sz="2800" dirty="0">
                <a:solidFill>
                  <a:srgbClr val="222222"/>
                </a:solidFill>
                <a:latin typeface="arial" panose="020B0604020202020204" pitchFamily="34" charset="0"/>
              </a:rPr>
              <a:t>are first recorded on the log file and then those changes are applied once commit is done.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This </a:t>
            </a:r>
            <a:r>
              <a:rPr lang="en-US" sz="2800" dirty="0">
                <a:solidFill>
                  <a:srgbClr val="222222"/>
                </a:solidFill>
                <a:latin typeface="arial" panose="020B0604020202020204" pitchFamily="34" charset="0"/>
              </a:rPr>
              <a:t>is called “Re-doing” process. Once the rollback is done none of the changes are applied to the database and the changes in the log file are also discarded.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If </a:t>
            </a:r>
            <a:r>
              <a:rPr lang="en-US" sz="2800" dirty="0">
                <a:solidFill>
                  <a:srgbClr val="222222"/>
                </a:solidFill>
                <a:latin typeface="arial" panose="020B0604020202020204" pitchFamily="34" charset="0"/>
              </a:rPr>
              <a:t>commit is done before crashing of the system, then after restarting of the system the changes that have been recorded in the log file are thus applied to the database. </a:t>
            </a:r>
          </a:p>
        </p:txBody>
      </p:sp>
    </p:spTree>
    <p:extLst>
      <p:ext uri="{BB962C8B-B14F-4D97-AF65-F5344CB8AC3E}">
        <p14:creationId xmlns:p14="http://schemas.microsoft.com/office/powerpoint/2010/main" val="400415090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9.5 Log Based Recovery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fontScale="92500" lnSpcReduction="10000"/>
          </a:bodyPr>
          <a:lstStyle/>
          <a:p>
            <a:pPr algn="just">
              <a:buClr>
                <a:schemeClr val="tx1"/>
              </a:buClr>
              <a:buSzPct val="71000"/>
            </a:pPr>
            <a:r>
              <a:rPr lang="en-US" sz="2800" b="1" dirty="0" smtClean="0">
                <a:solidFill>
                  <a:srgbClr val="222222"/>
                </a:solidFill>
                <a:latin typeface="arial" panose="020B0604020202020204" pitchFamily="34" charset="0"/>
              </a:rPr>
              <a:t>Immediate database </a:t>
            </a:r>
            <a:r>
              <a:rPr lang="en-US" sz="2800" b="1" dirty="0">
                <a:solidFill>
                  <a:srgbClr val="222222"/>
                </a:solidFill>
                <a:latin typeface="arial" panose="020B0604020202020204" pitchFamily="34" charset="0"/>
              </a:rPr>
              <a:t>modification </a:t>
            </a:r>
            <a:r>
              <a:rPr lang="en-US" sz="2800" b="1" dirty="0" smtClean="0">
                <a:solidFill>
                  <a:srgbClr val="222222"/>
                </a:solidFill>
                <a:latin typeface="arial" panose="020B0604020202020204" pitchFamily="34" charset="0"/>
              </a:rPr>
              <a:t>−</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It </a:t>
            </a:r>
            <a:r>
              <a:rPr lang="en-US" sz="2800" dirty="0">
                <a:solidFill>
                  <a:srgbClr val="222222"/>
                </a:solidFill>
                <a:latin typeface="arial" panose="020B0604020202020204" pitchFamily="34" charset="0"/>
              </a:rPr>
              <a:t>is also called </a:t>
            </a:r>
            <a:r>
              <a:rPr lang="en-US" sz="2800" dirty="0" smtClean="0">
                <a:solidFill>
                  <a:srgbClr val="222222"/>
                </a:solidFill>
                <a:latin typeface="arial" panose="020B0604020202020204" pitchFamily="34" charset="0"/>
              </a:rPr>
              <a:t>UNDO/NO-REDO </a:t>
            </a:r>
            <a:r>
              <a:rPr lang="en-US" sz="2800" dirty="0">
                <a:solidFill>
                  <a:srgbClr val="222222"/>
                </a:solidFill>
                <a:latin typeface="arial" panose="020B0604020202020204" pitchFamily="34" charset="0"/>
              </a:rPr>
              <a:t>technique.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It </a:t>
            </a:r>
            <a:r>
              <a:rPr lang="en-US" sz="2800" dirty="0">
                <a:solidFill>
                  <a:srgbClr val="222222"/>
                </a:solidFill>
                <a:latin typeface="arial" panose="020B0604020202020204" pitchFamily="34" charset="0"/>
              </a:rPr>
              <a:t>is used for the recovery of the transaction failures which occur due to power, memory or OS failures.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Whenever </a:t>
            </a:r>
            <a:r>
              <a:rPr lang="en-US" sz="2800" dirty="0">
                <a:solidFill>
                  <a:srgbClr val="222222"/>
                </a:solidFill>
                <a:latin typeface="arial" panose="020B0604020202020204" pitchFamily="34" charset="0"/>
              </a:rPr>
              <a:t>any transaction is executed, the updates are made directly to the database and the log file is also maintained which contains both old and new values.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Once </a:t>
            </a:r>
            <a:r>
              <a:rPr lang="en-US" sz="2800" dirty="0">
                <a:solidFill>
                  <a:srgbClr val="222222"/>
                </a:solidFill>
                <a:latin typeface="arial" panose="020B0604020202020204" pitchFamily="34" charset="0"/>
              </a:rPr>
              <a:t>commit is done, all the changes get stored permanently into the database and records in log file are thus discarded</a:t>
            </a:r>
            <a:r>
              <a:rPr lang="en-US" sz="2800" dirty="0" smtClean="0">
                <a:solidFill>
                  <a:srgbClr val="222222"/>
                </a:solidFill>
                <a:latin typeface="arial" panose="020B0604020202020204" pitchFamily="34" charset="0"/>
              </a:rPr>
              <a:t>.</a:t>
            </a:r>
          </a:p>
        </p:txBody>
      </p:sp>
    </p:spTree>
    <p:extLst>
      <p:ext uri="{BB962C8B-B14F-4D97-AF65-F5344CB8AC3E}">
        <p14:creationId xmlns:p14="http://schemas.microsoft.com/office/powerpoint/2010/main" val="34171461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9.5 Log Based Recovery</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Immediate database </a:t>
            </a:r>
            <a:r>
              <a:rPr lang="en-US" sz="2800" b="1" dirty="0">
                <a:solidFill>
                  <a:srgbClr val="222222"/>
                </a:solidFill>
                <a:latin typeface="arial" panose="020B0604020202020204" pitchFamily="34" charset="0"/>
              </a:rPr>
              <a:t>modification </a:t>
            </a:r>
            <a:r>
              <a:rPr lang="en-US" sz="2800" b="1" dirty="0" smtClean="0">
                <a:solidFill>
                  <a:srgbClr val="222222"/>
                </a:solidFill>
                <a:latin typeface="arial" panose="020B0604020202020204" pitchFamily="34" charset="0"/>
              </a:rPr>
              <a:t>−</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Once </a:t>
            </a:r>
            <a:r>
              <a:rPr lang="en-US" sz="2800" dirty="0">
                <a:solidFill>
                  <a:srgbClr val="222222"/>
                </a:solidFill>
                <a:latin typeface="arial" panose="020B0604020202020204" pitchFamily="34" charset="0"/>
              </a:rPr>
              <a:t>rollback is done the old values get restored in the database and all the changes made to the database are also discarded.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This </a:t>
            </a:r>
            <a:r>
              <a:rPr lang="en-US" sz="2800" dirty="0">
                <a:solidFill>
                  <a:srgbClr val="222222"/>
                </a:solidFill>
                <a:latin typeface="arial" panose="020B0604020202020204" pitchFamily="34" charset="0"/>
              </a:rPr>
              <a:t>is called “Un-doing” process.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If </a:t>
            </a:r>
            <a:r>
              <a:rPr lang="en-US" sz="2800" dirty="0">
                <a:solidFill>
                  <a:srgbClr val="222222"/>
                </a:solidFill>
                <a:latin typeface="arial" panose="020B0604020202020204" pitchFamily="34" charset="0"/>
              </a:rPr>
              <a:t>commit is done before crashing of the system, then after restarting of the system the changes are stored permanently in the database. </a:t>
            </a:r>
            <a:endParaRPr lang="en-US" sz="2800" dirty="0" smtClean="0">
              <a:solidFill>
                <a:srgbClr val="222222"/>
              </a:solidFill>
              <a:latin typeface="arial" panose="020B0604020202020204" pitchFamily="34" charset="0"/>
            </a:endParaRPr>
          </a:p>
        </p:txBody>
      </p:sp>
    </p:spTree>
    <p:extLst>
      <p:ext uri="{BB962C8B-B14F-4D97-AF65-F5344CB8AC3E}">
        <p14:creationId xmlns:p14="http://schemas.microsoft.com/office/powerpoint/2010/main" val="39441790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Assignment</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endParaRPr lang="en-US" sz="2800" dirty="0" smtClean="0">
              <a:solidFill>
                <a:srgbClr val="222222"/>
              </a:solidFill>
              <a:latin typeface="arial" panose="020B0604020202020204" pitchFamily="34" charset="0"/>
            </a:endParaRPr>
          </a:p>
          <a:p>
            <a:pPr algn="just">
              <a:buClr>
                <a:schemeClr val="tx1"/>
              </a:buClr>
              <a:buSzPct val="71000"/>
            </a:pPr>
            <a:r>
              <a:rPr lang="en-US" sz="2800" smtClean="0">
                <a:solidFill>
                  <a:srgbClr val="222222"/>
                </a:solidFill>
                <a:latin typeface="arial" panose="020B0604020202020204" pitchFamily="34" charset="0"/>
              </a:rPr>
              <a:t>Difference </a:t>
            </a:r>
            <a:r>
              <a:rPr lang="en-US" sz="2800" dirty="0" smtClean="0">
                <a:solidFill>
                  <a:srgbClr val="222222"/>
                </a:solidFill>
                <a:latin typeface="arial" panose="020B0604020202020204" pitchFamily="34" charset="0"/>
              </a:rPr>
              <a:t>between deferred update and immediate update</a:t>
            </a:r>
          </a:p>
        </p:txBody>
      </p:sp>
    </p:spTree>
    <p:extLst>
      <p:ext uri="{BB962C8B-B14F-4D97-AF65-F5344CB8AC3E}">
        <p14:creationId xmlns:p14="http://schemas.microsoft.com/office/powerpoint/2010/main" val="21418154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9.6 Checkpoints</a:t>
            </a:r>
            <a:endParaRPr lang="en-US" sz="2800" dirty="0">
              <a:solidFill>
                <a:schemeClr val="bg1"/>
              </a:solidFill>
            </a:endParaRPr>
          </a:p>
        </p:txBody>
      </p:sp>
      <p:sp>
        <p:nvSpPr>
          <p:cNvPr id="3" name="Subtitle 2"/>
          <p:cNvSpPr>
            <a:spLocks noGrp="1"/>
          </p:cNvSpPr>
          <p:nvPr>
            <p:ph type="subTitle" idx="1"/>
          </p:nvPr>
        </p:nvSpPr>
        <p:spPr>
          <a:xfrm>
            <a:off x="1281567" y="1139687"/>
            <a:ext cx="8094254" cy="5424886"/>
          </a:xfrm>
        </p:spPr>
        <p:txBody>
          <a:bodyPr>
            <a:normAutofit fontScale="85000" lnSpcReduction="10000"/>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checkpoint is a type of mechanism where all the previous logs are removed from the system and permanently stored in the storage disk.</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checkpoint is like a bookmark. While the execution of the transaction, such checkpoints are marked, and the transaction is executed then using the steps of the transaction, the log files will be created.</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When it reaches to the checkpoint, then the transaction will be updated into the database, and till that point, the entire log file will be removed from the file. Then the log file is updated with the new step of transaction till next checkpoint and so on.</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checkpoint is used to declare a point before which the DBMS was in the consistent state, and all transactions were committed.</a:t>
            </a:r>
          </a:p>
        </p:txBody>
      </p:sp>
    </p:spTree>
    <p:extLst>
      <p:ext uri="{BB962C8B-B14F-4D97-AF65-F5344CB8AC3E}">
        <p14:creationId xmlns:p14="http://schemas.microsoft.com/office/powerpoint/2010/main" val="41758189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9.6.1 Recovery using Checkpoints</a:t>
            </a:r>
            <a:endParaRPr lang="en-US" sz="2800" dirty="0">
              <a:solidFill>
                <a:schemeClr val="bg1"/>
              </a:solidFill>
            </a:endParaRPr>
          </a:p>
        </p:txBody>
      </p:sp>
      <p:pic>
        <p:nvPicPr>
          <p:cNvPr id="1026" name="Picture 2" descr="DBMS Checkpoi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84125" y="1004925"/>
            <a:ext cx="6954909" cy="334871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119116" y="4482991"/>
            <a:ext cx="8570793" cy="1944122"/>
          </a:xfrm>
          <a:prstGeom prst="rect">
            <a:avLst/>
          </a:prstGeom>
        </p:spPr>
        <p:txBody>
          <a:bodyPr wrap="square">
            <a:spAutoFit/>
          </a:bodyPr>
          <a:lstStyle/>
          <a:p>
            <a:pPr marL="457200" lvl="0" indent="-457200" algn="just" defTabSz="457189">
              <a:spcBef>
                <a:spcPts val="1000"/>
              </a:spcBef>
              <a:buClr>
                <a:prstClr val="black"/>
              </a:buClr>
              <a:buSzPct val="71000"/>
              <a:buFont typeface="Wingdings" panose="05000000000000000000" pitchFamily="2" charset="2"/>
              <a:buChar char="v"/>
            </a:pPr>
            <a:r>
              <a:rPr lang="en-US" sz="2800" dirty="0">
                <a:solidFill>
                  <a:srgbClr val="222222"/>
                </a:solidFill>
                <a:latin typeface="arial" panose="020B0604020202020204" pitchFamily="34" charset="0"/>
              </a:rPr>
              <a:t>The recovery system reads log files from the end to start. It reads log files from </a:t>
            </a:r>
            <a:r>
              <a:rPr lang="en-US" sz="2800" dirty="0" err="1">
                <a:solidFill>
                  <a:srgbClr val="222222"/>
                </a:solidFill>
                <a:latin typeface="arial" panose="020B0604020202020204" pitchFamily="34" charset="0"/>
              </a:rPr>
              <a:t>T4</a:t>
            </a:r>
            <a:r>
              <a:rPr lang="en-US" sz="2800" dirty="0">
                <a:solidFill>
                  <a:srgbClr val="222222"/>
                </a:solidFill>
                <a:latin typeface="arial" panose="020B0604020202020204" pitchFamily="34" charset="0"/>
              </a:rPr>
              <a:t> to </a:t>
            </a:r>
            <a:r>
              <a:rPr lang="en-US" sz="2800" dirty="0" err="1">
                <a:solidFill>
                  <a:srgbClr val="222222"/>
                </a:solidFill>
                <a:latin typeface="arial" panose="020B0604020202020204" pitchFamily="34" charset="0"/>
              </a:rPr>
              <a:t>T1</a:t>
            </a:r>
            <a:r>
              <a:rPr lang="en-US" sz="2800" dirty="0">
                <a:solidFill>
                  <a:srgbClr val="222222"/>
                </a:solidFill>
                <a:latin typeface="arial" panose="020B0604020202020204" pitchFamily="34" charset="0"/>
              </a:rPr>
              <a:t>.</a:t>
            </a:r>
          </a:p>
          <a:p>
            <a:pPr marL="457200" lvl="0" indent="-457200" algn="just" defTabSz="457189">
              <a:spcBef>
                <a:spcPts val="1000"/>
              </a:spcBef>
              <a:buClr>
                <a:prstClr val="black"/>
              </a:buClr>
              <a:buSzPct val="71000"/>
              <a:buFont typeface="Wingdings" panose="05000000000000000000" pitchFamily="2" charset="2"/>
              <a:buChar char="v"/>
            </a:pPr>
            <a:r>
              <a:rPr lang="en-US" sz="2800" dirty="0">
                <a:solidFill>
                  <a:srgbClr val="222222"/>
                </a:solidFill>
                <a:latin typeface="arial" panose="020B0604020202020204" pitchFamily="34" charset="0"/>
              </a:rPr>
              <a:t>Recovery system maintains two lists, a redo-list, and an undo-list.</a:t>
            </a:r>
          </a:p>
        </p:txBody>
      </p:sp>
    </p:spTree>
    <p:extLst>
      <p:ext uri="{BB962C8B-B14F-4D97-AF65-F5344CB8AC3E}">
        <p14:creationId xmlns:p14="http://schemas.microsoft.com/office/powerpoint/2010/main" val="365939673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9.6.1 Recovery using Checkpoints</a:t>
            </a:r>
            <a:endParaRPr lang="en-US" sz="2800" dirty="0">
              <a:solidFill>
                <a:schemeClr val="bg1"/>
              </a:solidFill>
            </a:endParaRPr>
          </a:p>
        </p:txBody>
      </p:sp>
      <p:sp>
        <p:nvSpPr>
          <p:cNvPr id="4" name="Subtitle 2"/>
          <p:cNvSpPr>
            <a:spLocks noGrp="1"/>
          </p:cNvSpPr>
          <p:nvPr>
            <p:ph type="subTitle" idx="1"/>
          </p:nvPr>
        </p:nvSpPr>
        <p:spPr>
          <a:xfrm>
            <a:off x="1281567" y="1139687"/>
            <a:ext cx="8094254" cy="5424886"/>
          </a:xfrm>
        </p:spPr>
        <p:txBody>
          <a:bodyPr>
            <a:normAutofit lnSpcReduction="10000"/>
          </a:bodyPr>
          <a:lstStyle/>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The </a:t>
            </a:r>
            <a:r>
              <a:rPr lang="en-US" sz="2800" dirty="0">
                <a:solidFill>
                  <a:srgbClr val="222222"/>
                </a:solidFill>
                <a:latin typeface="arial" panose="020B0604020202020204" pitchFamily="34" charset="0"/>
              </a:rPr>
              <a:t>transaction is put into redo state if the recovery system sees a log with &lt;</a:t>
            </a:r>
            <a:r>
              <a:rPr lang="en-US" sz="2800" dirty="0" err="1">
                <a:solidFill>
                  <a:srgbClr val="222222"/>
                </a:solidFill>
                <a:latin typeface="arial" panose="020B0604020202020204" pitchFamily="34" charset="0"/>
              </a:rPr>
              <a:t>Tn</a:t>
            </a:r>
            <a:r>
              <a:rPr lang="en-US" sz="2800" dirty="0">
                <a:solidFill>
                  <a:srgbClr val="222222"/>
                </a:solidFill>
                <a:latin typeface="arial" panose="020B0604020202020204" pitchFamily="34" charset="0"/>
              </a:rPr>
              <a:t>, Start&gt; and &lt;</a:t>
            </a:r>
            <a:r>
              <a:rPr lang="en-US" sz="2800" dirty="0" err="1">
                <a:solidFill>
                  <a:srgbClr val="222222"/>
                </a:solidFill>
                <a:latin typeface="arial" panose="020B0604020202020204" pitchFamily="34" charset="0"/>
              </a:rPr>
              <a:t>Tn</a:t>
            </a:r>
            <a:r>
              <a:rPr lang="en-US" sz="2800" dirty="0">
                <a:solidFill>
                  <a:srgbClr val="222222"/>
                </a:solidFill>
                <a:latin typeface="arial" panose="020B0604020202020204" pitchFamily="34" charset="0"/>
              </a:rPr>
              <a:t>, Commit&gt; or just &lt;</a:t>
            </a:r>
            <a:r>
              <a:rPr lang="en-US" sz="2800" dirty="0" err="1">
                <a:solidFill>
                  <a:srgbClr val="222222"/>
                </a:solidFill>
                <a:latin typeface="arial" panose="020B0604020202020204" pitchFamily="34" charset="0"/>
              </a:rPr>
              <a:t>Tn</a:t>
            </a:r>
            <a:r>
              <a:rPr lang="en-US" sz="2800" dirty="0">
                <a:solidFill>
                  <a:srgbClr val="222222"/>
                </a:solidFill>
                <a:latin typeface="arial" panose="020B0604020202020204" pitchFamily="34" charset="0"/>
              </a:rPr>
              <a:t>, Commit&gt;. In the redo-list and their previous list, all the transactions are removed and then redone before saving their logs.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For example: In the log file, transaction </a:t>
            </a:r>
            <a:r>
              <a:rPr lang="en-US" sz="2800" dirty="0" err="1">
                <a:solidFill>
                  <a:srgbClr val="222222"/>
                </a:solidFill>
                <a:latin typeface="arial" panose="020B0604020202020204" pitchFamily="34" charset="0"/>
              </a:rPr>
              <a:t>T2</a:t>
            </a:r>
            <a:r>
              <a:rPr lang="en-US" sz="2800" dirty="0">
                <a:solidFill>
                  <a:srgbClr val="222222"/>
                </a:solidFill>
                <a:latin typeface="arial" panose="020B0604020202020204" pitchFamily="34" charset="0"/>
              </a:rPr>
              <a:t> and </a:t>
            </a:r>
            <a:r>
              <a:rPr lang="en-US" sz="2800" dirty="0" err="1">
                <a:solidFill>
                  <a:srgbClr val="222222"/>
                </a:solidFill>
                <a:latin typeface="arial" panose="020B0604020202020204" pitchFamily="34" charset="0"/>
              </a:rPr>
              <a:t>T3</a:t>
            </a:r>
            <a:r>
              <a:rPr lang="en-US" sz="2800" dirty="0">
                <a:solidFill>
                  <a:srgbClr val="222222"/>
                </a:solidFill>
                <a:latin typeface="arial" panose="020B0604020202020204" pitchFamily="34" charset="0"/>
              </a:rPr>
              <a:t> will have &lt;</a:t>
            </a:r>
            <a:r>
              <a:rPr lang="en-US" sz="2800" dirty="0" err="1">
                <a:solidFill>
                  <a:srgbClr val="222222"/>
                </a:solidFill>
                <a:latin typeface="arial" panose="020B0604020202020204" pitchFamily="34" charset="0"/>
              </a:rPr>
              <a:t>Tn</a:t>
            </a:r>
            <a:r>
              <a:rPr lang="en-US" sz="2800" dirty="0">
                <a:solidFill>
                  <a:srgbClr val="222222"/>
                </a:solidFill>
                <a:latin typeface="arial" panose="020B0604020202020204" pitchFamily="34" charset="0"/>
              </a:rPr>
              <a:t>, Start&gt; and &lt;</a:t>
            </a:r>
            <a:r>
              <a:rPr lang="en-US" sz="2800" dirty="0" err="1">
                <a:solidFill>
                  <a:srgbClr val="222222"/>
                </a:solidFill>
                <a:latin typeface="arial" panose="020B0604020202020204" pitchFamily="34" charset="0"/>
              </a:rPr>
              <a:t>Tn</a:t>
            </a:r>
            <a:r>
              <a:rPr lang="en-US" sz="2800" dirty="0">
                <a:solidFill>
                  <a:srgbClr val="222222"/>
                </a:solidFill>
                <a:latin typeface="arial" panose="020B0604020202020204" pitchFamily="34" charset="0"/>
              </a:rPr>
              <a:t>, Commit&gt;. The </a:t>
            </a:r>
            <a:r>
              <a:rPr lang="en-US" sz="2800" dirty="0" err="1">
                <a:solidFill>
                  <a:srgbClr val="222222"/>
                </a:solidFill>
                <a:latin typeface="arial" panose="020B0604020202020204" pitchFamily="34" charset="0"/>
              </a:rPr>
              <a:t>T1</a:t>
            </a:r>
            <a:r>
              <a:rPr lang="en-US" sz="2800" dirty="0">
                <a:solidFill>
                  <a:srgbClr val="222222"/>
                </a:solidFill>
                <a:latin typeface="arial" panose="020B0604020202020204" pitchFamily="34" charset="0"/>
              </a:rPr>
              <a:t> transaction will have only &lt;</a:t>
            </a:r>
            <a:r>
              <a:rPr lang="en-US" sz="2800" dirty="0" err="1">
                <a:solidFill>
                  <a:srgbClr val="222222"/>
                </a:solidFill>
                <a:latin typeface="arial" panose="020B0604020202020204" pitchFamily="34" charset="0"/>
              </a:rPr>
              <a:t>Tn</a:t>
            </a:r>
            <a:r>
              <a:rPr lang="en-US" sz="2800" dirty="0">
                <a:solidFill>
                  <a:srgbClr val="222222"/>
                </a:solidFill>
                <a:latin typeface="arial" panose="020B0604020202020204" pitchFamily="34" charset="0"/>
              </a:rPr>
              <a:t>, commit&gt; in the log file. That's why the transaction is committed after the checkpoint is crossed. Hence it puts </a:t>
            </a:r>
            <a:r>
              <a:rPr lang="en-US" sz="2800" dirty="0" err="1">
                <a:solidFill>
                  <a:srgbClr val="222222"/>
                </a:solidFill>
                <a:latin typeface="arial" panose="020B0604020202020204" pitchFamily="34" charset="0"/>
              </a:rPr>
              <a:t>T1</a:t>
            </a:r>
            <a:r>
              <a:rPr lang="en-US" sz="2800" dirty="0">
                <a:solidFill>
                  <a:srgbClr val="222222"/>
                </a:solidFill>
                <a:latin typeface="arial" panose="020B0604020202020204" pitchFamily="34" charset="0"/>
              </a:rPr>
              <a:t>, </a:t>
            </a:r>
            <a:r>
              <a:rPr lang="en-US" sz="2800" dirty="0" err="1">
                <a:solidFill>
                  <a:srgbClr val="222222"/>
                </a:solidFill>
                <a:latin typeface="arial" panose="020B0604020202020204" pitchFamily="34" charset="0"/>
              </a:rPr>
              <a:t>T2</a:t>
            </a:r>
            <a:r>
              <a:rPr lang="en-US" sz="2800" dirty="0">
                <a:solidFill>
                  <a:srgbClr val="222222"/>
                </a:solidFill>
                <a:latin typeface="arial" panose="020B0604020202020204" pitchFamily="34" charset="0"/>
              </a:rPr>
              <a:t> and </a:t>
            </a:r>
            <a:r>
              <a:rPr lang="en-US" sz="2800" dirty="0" err="1">
                <a:solidFill>
                  <a:srgbClr val="222222"/>
                </a:solidFill>
                <a:latin typeface="arial" panose="020B0604020202020204" pitchFamily="34" charset="0"/>
              </a:rPr>
              <a:t>T3</a:t>
            </a:r>
            <a:r>
              <a:rPr lang="en-US" sz="2800" dirty="0">
                <a:solidFill>
                  <a:srgbClr val="222222"/>
                </a:solidFill>
                <a:latin typeface="arial" panose="020B0604020202020204" pitchFamily="34" charset="0"/>
              </a:rPr>
              <a:t> transaction into redo list</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133111560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9.6.1 Recovery using Checkpoints</a:t>
            </a:r>
            <a:endParaRPr lang="en-US" sz="2800" dirty="0">
              <a:solidFill>
                <a:schemeClr val="bg1"/>
              </a:solidFill>
            </a:endParaRPr>
          </a:p>
        </p:txBody>
      </p:sp>
      <p:sp>
        <p:nvSpPr>
          <p:cNvPr id="4" name="Subtitle 2"/>
          <p:cNvSpPr>
            <a:spLocks noGrp="1"/>
          </p:cNvSpPr>
          <p:nvPr>
            <p:ph type="subTitle" idx="1"/>
          </p:nvPr>
        </p:nvSpPr>
        <p:spPr>
          <a:xfrm>
            <a:off x="1281567" y="1139687"/>
            <a:ext cx="8094254" cy="5424886"/>
          </a:xfrm>
        </p:spPr>
        <p:txBody>
          <a:bodyPr>
            <a:normAutofit/>
          </a:bodyPr>
          <a:lstStyle/>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The </a:t>
            </a:r>
            <a:r>
              <a:rPr lang="en-US" sz="2800" dirty="0">
                <a:solidFill>
                  <a:srgbClr val="222222"/>
                </a:solidFill>
                <a:latin typeface="arial" panose="020B0604020202020204" pitchFamily="34" charset="0"/>
              </a:rPr>
              <a:t>transaction is put into undo state if the recovery system sees a log with &lt;</a:t>
            </a:r>
            <a:r>
              <a:rPr lang="en-US" sz="2800" dirty="0" err="1">
                <a:solidFill>
                  <a:srgbClr val="222222"/>
                </a:solidFill>
                <a:latin typeface="arial" panose="020B0604020202020204" pitchFamily="34" charset="0"/>
              </a:rPr>
              <a:t>Tn</a:t>
            </a:r>
            <a:r>
              <a:rPr lang="en-US" sz="2800" dirty="0">
                <a:solidFill>
                  <a:srgbClr val="222222"/>
                </a:solidFill>
                <a:latin typeface="arial" panose="020B0604020202020204" pitchFamily="34" charset="0"/>
              </a:rPr>
              <a:t>, Start&gt; but no commit or abort log found. In the undo-list, all the transactions are undone, and their logs are removed.</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For example: Transaction </a:t>
            </a:r>
            <a:r>
              <a:rPr lang="en-US" sz="2800" dirty="0" err="1">
                <a:solidFill>
                  <a:srgbClr val="222222"/>
                </a:solidFill>
                <a:latin typeface="arial" panose="020B0604020202020204" pitchFamily="34" charset="0"/>
              </a:rPr>
              <a:t>T4</a:t>
            </a:r>
            <a:r>
              <a:rPr lang="en-US" sz="2800" dirty="0">
                <a:solidFill>
                  <a:srgbClr val="222222"/>
                </a:solidFill>
                <a:latin typeface="arial" panose="020B0604020202020204" pitchFamily="34" charset="0"/>
              </a:rPr>
              <a:t> will have &lt;</a:t>
            </a:r>
            <a:r>
              <a:rPr lang="en-US" sz="2800" dirty="0" err="1">
                <a:solidFill>
                  <a:srgbClr val="222222"/>
                </a:solidFill>
                <a:latin typeface="arial" panose="020B0604020202020204" pitchFamily="34" charset="0"/>
              </a:rPr>
              <a:t>Tn</a:t>
            </a:r>
            <a:r>
              <a:rPr lang="en-US" sz="2800" dirty="0">
                <a:solidFill>
                  <a:srgbClr val="222222"/>
                </a:solidFill>
                <a:latin typeface="arial" panose="020B0604020202020204" pitchFamily="34" charset="0"/>
              </a:rPr>
              <a:t>, Start&gt;. So </a:t>
            </a:r>
            <a:r>
              <a:rPr lang="en-US" sz="2800" dirty="0" err="1">
                <a:solidFill>
                  <a:srgbClr val="222222"/>
                </a:solidFill>
                <a:latin typeface="arial" panose="020B0604020202020204" pitchFamily="34" charset="0"/>
              </a:rPr>
              <a:t>T4</a:t>
            </a:r>
            <a:r>
              <a:rPr lang="en-US" sz="2800" dirty="0">
                <a:solidFill>
                  <a:srgbClr val="222222"/>
                </a:solidFill>
                <a:latin typeface="arial" panose="020B0604020202020204" pitchFamily="34" charset="0"/>
              </a:rPr>
              <a:t> will be put into undo list since this transaction is not yet complete and failed amid.</a:t>
            </a:r>
          </a:p>
        </p:txBody>
      </p:sp>
    </p:spTree>
    <p:extLst>
      <p:ext uri="{BB962C8B-B14F-4D97-AF65-F5344CB8AC3E}">
        <p14:creationId xmlns:p14="http://schemas.microsoft.com/office/powerpoint/2010/main" val="1344494174"/>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9.7 Shadow Paging</a:t>
            </a:r>
            <a:endParaRPr lang="en-US" sz="2800" dirty="0">
              <a:solidFill>
                <a:schemeClr val="bg1"/>
              </a:solidFill>
            </a:endParaRPr>
          </a:p>
        </p:txBody>
      </p:sp>
      <p:sp>
        <p:nvSpPr>
          <p:cNvPr id="4" name="Subtitle 2"/>
          <p:cNvSpPr>
            <a:spLocks noGrp="1"/>
          </p:cNvSpPr>
          <p:nvPr>
            <p:ph type="subTitle" idx="1"/>
          </p:nvPr>
        </p:nvSpPr>
        <p:spPr>
          <a:xfrm>
            <a:off x="1281567" y="1139687"/>
            <a:ext cx="8094254" cy="5424886"/>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Shadow Paging is recovery technique that is used to recover database.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In </a:t>
            </a:r>
            <a:r>
              <a:rPr lang="en-US" sz="2800" dirty="0">
                <a:solidFill>
                  <a:srgbClr val="222222"/>
                </a:solidFill>
                <a:latin typeface="arial" panose="020B0604020202020204" pitchFamily="34" charset="0"/>
              </a:rPr>
              <a:t>this recovery technique, database is considered as made up of fixed size of logical units of storage which are referred as pages.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pages </a:t>
            </a:r>
            <a:r>
              <a:rPr lang="en-US" sz="2800" dirty="0">
                <a:solidFill>
                  <a:srgbClr val="222222"/>
                </a:solidFill>
                <a:latin typeface="arial" panose="020B0604020202020204" pitchFamily="34" charset="0"/>
              </a:rPr>
              <a:t>are mapped into physical blocks of storage, with help of the page table which allow one entry for each logical page of database.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This </a:t>
            </a:r>
            <a:r>
              <a:rPr lang="en-US" sz="2800" dirty="0">
                <a:solidFill>
                  <a:srgbClr val="222222"/>
                </a:solidFill>
                <a:latin typeface="arial" panose="020B0604020202020204" pitchFamily="34" charset="0"/>
              </a:rPr>
              <a:t>method uses two page tables named current page table and shadow page table</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47474254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9.7 Shadow Paging</a:t>
            </a:r>
            <a:endParaRPr lang="en-US" sz="2800" dirty="0">
              <a:solidFill>
                <a:schemeClr val="bg1"/>
              </a:solidFill>
            </a:endParaRPr>
          </a:p>
        </p:txBody>
      </p:sp>
      <p:sp>
        <p:nvSpPr>
          <p:cNvPr id="4" name="Subtitle 2"/>
          <p:cNvSpPr>
            <a:spLocks noGrp="1"/>
          </p:cNvSpPr>
          <p:nvPr>
            <p:ph type="subTitle" idx="1"/>
          </p:nvPr>
        </p:nvSpPr>
        <p:spPr>
          <a:xfrm>
            <a:off x="1281567" y="1139687"/>
            <a:ext cx="8094254" cy="5424886"/>
          </a:xfrm>
        </p:spPr>
        <p:txBody>
          <a:bodyPr>
            <a:normAutofit fontScale="92500" lnSpcReduction="10000"/>
          </a:bodyPr>
          <a:lstStyle/>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The </a:t>
            </a:r>
            <a:r>
              <a:rPr lang="en-US" sz="2800" dirty="0">
                <a:solidFill>
                  <a:srgbClr val="222222"/>
                </a:solidFill>
                <a:latin typeface="arial" panose="020B0604020202020204" pitchFamily="34" charset="0"/>
              </a:rPr>
              <a:t>entries which are present in current page table are used to point to most recent database pages on disk.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Another </a:t>
            </a:r>
            <a:r>
              <a:rPr lang="en-US" sz="2800" dirty="0">
                <a:solidFill>
                  <a:srgbClr val="222222"/>
                </a:solidFill>
                <a:latin typeface="arial" panose="020B0604020202020204" pitchFamily="34" charset="0"/>
              </a:rPr>
              <a:t>table i.e., Shadow page table is used when the transaction starts which is copying current page table.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After </a:t>
            </a:r>
            <a:r>
              <a:rPr lang="en-US" sz="2800" dirty="0">
                <a:solidFill>
                  <a:srgbClr val="222222"/>
                </a:solidFill>
                <a:latin typeface="arial" panose="020B0604020202020204" pitchFamily="34" charset="0"/>
              </a:rPr>
              <a:t>this, shadow page table gets saved on disk and current page table is going to be used for transaction</a:t>
            </a:r>
            <a:r>
              <a:rPr lang="en-US" sz="2800" dirty="0" smtClean="0">
                <a:solidFill>
                  <a:srgbClr val="222222"/>
                </a:solidFill>
                <a:latin typeface="arial" panose="020B0604020202020204" pitchFamily="34" charset="0"/>
              </a:rPr>
              <a:t>.</a:t>
            </a: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 </a:t>
            </a:r>
            <a:r>
              <a:rPr lang="en-US" sz="2800" dirty="0">
                <a:solidFill>
                  <a:srgbClr val="222222"/>
                </a:solidFill>
                <a:latin typeface="arial" panose="020B0604020202020204" pitchFamily="34" charset="0"/>
              </a:rPr>
              <a:t>Entries present in current page table may be changed during execution but in shadow page table it never get changed.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After </a:t>
            </a:r>
            <a:r>
              <a:rPr lang="en-US" sz="2800" dirty="0">
                <a:solidFill>
                  <a:srgbClr val="222222"/>
                </a:solidFill>
                <a:latin typeface="arial" panose="020B0604020202020204" pitchFamily="34" charset="0"/>
              </a:rPr>
              <a:t>transaction, both tables become identical.</a:t>
            </a:r>
          </a:p>
        </p:txBody>
      </p:sp>
    </p:spTree>
    <p:extLst>
      <p:ext uri="{BB962C8B-B14F-4D97-AF65-F5344CB8AC3E}">
        <p14:creationId xmlns:p14="http://schemas.microsoft.com/office/powerpoint/2010/main" val="70902072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9.7.1 Working of Shadow Paging</a:t>
            </a:r>
            <a:endParaRPr lang="en-US" sz="2800" dirty="0">
              <a:solidFill>
                <a:schemeClr val="bg1"/>
              </a:solidFill>
            </a:endParaRPr>
          </a:p>
        </p:txBody>
      </p:sp>
      <p:pic>
        <p:nvPicPr>
          <p:cNvPr id="2050" name="Picture 2" descr="Lightbox"/>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60059" y="1110561"/>
            <a:ext cx="8338783" cy="4430429"/>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1160059" y="5841240"/>
            <a:ext cx="8215762" cy="369332"/>
          </a:xfrm>
          <a:prstGeom prst="rect">
            <a:avLst/>
          </a:prstGeom>
        </p:spPr>
        <p:txBody>
          <a:bodyPr wrap="square">
            <a:spAutoFit/>
          </a:bodyPr>
          <a:lstStyle/>
          <a:p>
            <a:r>
              <a:rPr lang="en-US" dirty="0">
                <a:solidFill>
                  <a:srgbClr val="40424E"/>
                </a:solidFill>
                <a:latin typeface="urw-din"/>
              </a:rPr>
              <a:t>This technique is also known as </a:t>
            </a:r>
            <a:r>
              <a:rPr lang="en-US" b="1" dirty="0">
                <a:solidFill>
                  <a:srgbClr val="40424E"/>
                </a:solidFill>
                <a:latin typeface="urw-din"/>
              </a:rPr>
              <a:t>Cut-of-Place updating.</a:t>
            </a:r>
            <a:endParaRPr lang="en-US" dirty="0"/>
          </a:p>
        </p:txBody>
      </p:sp>
    </p:spTree>
    <p:extLst>
      <p:ext uri="{BB962C8B-B14F-4D97-AF65-F5344CB8AC3E}">
        <p14:creationId xmlns:p14="http://schemas.microsoft.com/office/powerpoint/2010/main" val="395204408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a:solidFill>
                  <a:schemeClr val="bg1"/>
                </a:solidFill>
              </a:rPr>
              <a:t>9.7.1 Working of Shadow Paging</a:t>
            </a:r>
          </a:p>
        </p:txBody>
      </p:sp>
      <p:sp>
        <p:nvSpPr>
          <p:cNvPr id="4" name="Subtitle 2"/>
          <p:cNvSpPr>
            <a:spLocks noGrp="1"/>
          </p:cNvSpPr>
          <p:nvPr>
            <p:ph type="subTitle" idx="1"/>
          </p:nvPr>
        </p:nvSpPr>
        <p:spPr>
          <a:xfrm>
            <a:off x="1281567" y="1139687"/>
            <a:ext cx="8094254" cy="5424886"/>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All the read and write transactions are performed on the shadow copy of the database.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When the transactions get completed, then the results will be updated to the database.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If any transaction fails during the execution it will not be updated in the database because read and write operations are firstly performed on the shadow copy of the database.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The database is only updated when the transaction is successfully completed.</a:t>
            </a:r>
            <a:endParaRPr lang="en-US" sz="2600" dirty="0">
              <a:solidFill>
                <a:srgbClr val="222222"/>
              </a:solidFill>
              <a:latin typeface="arial" panose="020B0604020202020204" pitchFamily="34" charset="0"/>
            </a:endParaRPr>
          </a:p>
        </p:txBody>
      </p:sp>
    </p:spTree>
    <p:extLst>
      <p:ext uri="{BB962C8B-B14F-4D97-AF65-F5344CB8AC3E}">
        <p14:creationId xmlns:p14="http://schemas.microsoft.com/office/powerpoint/2010/main" val="172917953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9.7.2 Directories in Shadow </a:t>
            </a:r>
            <a:r>
              <a:rPr lang="en-US" sz="2800" dirty="0">
                <a:solidFill>
                  <a:schemeClr val="bg1"/>
                </a:solidFill>
              </a:rPr>
              <a:t>Paging</a:t>
            </a:r>
          </a:p>
        </p:txBody>
      </p:sp>
      <p:sp>
        <p:nvSpPr>
          <p:cNvPr id="4" name="Subtitle 2"/>
          <p:cNvSpPr>
            <a:spLocks noGrp="1"/>
          </p:cNvSpPr>
          <p:nvPr>
            <p:ph type="subTitle" idx="1"/>
          </p:nvPr>
        </p:nvSpPr>
        <p:spPr>
          <a:xfrm>
            <a:off x="1281567" y="1139687"/>
            <a:ext cx="8094254" cy="5424886"/>
          </a:xfrm>
        </p:spPr>
        <p:txBody>
          <a:bodyPr>
            <a:normAutofit/>
          </a:bodyPr>
          <a:lstStyle/>
          <a:p>
            <a:pPr algn="just">
              <a:buClr>
                <a:schemeClr val="tx1"/>
              </a:buClr>
              <a:buSzPct val="71000"/>
            </a:pPr>
            <a:r>
              <a:rPr lang="en-US" sz="2800" b="1" dirty="0">
                <a:solidFill>
                  <a:srgbClr val="222222"/>
                </a:solidFill>
                <a:latin typeface="arial" panose="020B0604020202020204" pitchFamily="34" charset="0"/>
              </a:rPr>
              <a:t>Current Directory or Current page table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At the start of the </a:t>
            </a:r>
            <a:r>
              <a:rPr lang="en-US" sz="2800" dirty="0" smtClean="0">
                <a:solidFill>
                  <a:srgbClr val="222222"/>
                </a:solidFill>
                <a:latin typeface="arial" panose="020B0604020202020204" pitchFamily="34" charset="0"/>
              </a:rPr>
              <a:t>transaction</a:t>
            </a:r>
            <a:r>
              <a:rPr lang="en-US" sz="2800" dirty="0">
                <a:solidFill>
                  <a:srgbClr val="222222"/>
                </a:solidFill>
                <a:latin typeface="arial" panose="020B0604020202020204" pitchFamily="34" charset="0"/>
              </a:rPr>
              <a:t>, both the directories (current and shadow) are identical and the current directory of a database is updated when the transaction performs a write operation.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The </a:t>
            </a:r>
            <a:r>
              <a:rPr lang="en-US" sz="2800" dirty="0">
                <a:solidFill>
                  <a:srgbClr val="222222"/>
                </a:solidFill>
                <a:latin typeface="arial" panose="020B0604020202020204" pitchFamily="34" charset="0"/>
              </a:rPr>
              <a:t>current directory is also called a current page table. The most recent pages of the database are stored in the current page table</a:t>
            </a:r>
            <a:r>
              <a:rPr lang="en-US" sz="2800" dirty="0" smtClean="0">
                <a:solidFill>
                  <a:srgbClr val="222222"/>
                </a:solidFill>
                <a:latin typeface="arial" panose="020B0604020202020204" pitchFamily="34" charset="0"/>
              </a:rPr>
              <a:t>.</a:t>
            </a:r>
            <a:endParaRPr lang="en-US" sz="2800" dirty="0">
              <a:solidFill>
                <a:srgbClr val="222222"/>
              </a:solidFill>
              <a:latin typeface="arial" panose="020B0604020202020204" pitchFamily="34" charset="0"/>
            </a:endParaRPr>
          </a:p>
          <a:p>
            <a:pPr algn="just">
              <a:buClr>
                <a:schemeClr val="tx1"/>
              </a:buClr>
              <a:buSzPct val="71000"/>
            </a:pPr>
            <a:r>
              <a:rPr lang="en-US" sz="2800" dirty="0" smtClean="0">
                <a:solidFill>
                  <a:srgbClr val="222222"/>
                </a:solidFill>
                <a:latin typeface="arial" panose="020B0604020202020204" pitchFamily="34" charset="0"/>
              </a:rPr>
              <a:t>.</a:t>
            </a:r>
            <a:endParaRPr lang="en-US" sz="2600" dirty="0">
              <a:solidFill>
                <a:srgbClr val="222222"/>
              </a:solidFill>
              <a:latin typeface="arial" panose="020B0604020202020204" pitchFamily="34" charset="0"/>
            </a:endParaRPr>
          </a:p>
        </p:txBody>
      </p:sp>
    </p:spTree>
    <p:extLst>
      <p:ext uri="{BB962C8B-B14F-4D97-AF65-F5344CB8AC3E}">
        <p14:creationId xmlns:p14="http://schemas.microsoft.com/office/powerpoint/2010/main" val="20747185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9.7.2 Directories in Shadow </a:t>
            </a:r>
            <a:r>
              <a:rPr lang="en-US" sz="2800" dirty="0">
                <a:solidFill>
                  <a:schemeClr val="bg1"/>
                </a:solidFill>
              </a:rPr>
              <a:t>Paging</a:t>
            </a:r>
          </a:p>
        </p:txBody>
      </p:sp>
      <p:sp>
        <p:nvSpPr>
          <p:cNvPr id="4" name="Subtitle 2"/>
          <p:cNvSpPr>
            <a:spLocks noGrp="1"/>
          </p:cNvSpPr>
          <p:nvPr>
            <p:ph type="subTitle" idx="1"/>
          </p:nvPr>
        </p:nvSpPr>
        <p:spPr>
          <a:xfrm>
            <a:off x="1281567" y="1139687"/>
            <a:ext cx="8094254" cy="5424886"/>
          </a:xfrm>
        </p:spPr>
        <p:txBody>
          <a:bodyPr>
            <a:normAutofit/>
          </a:bodyPr>
          <a:lstStyle/>
          <a:p>
            <a:pPr algn="just">
              <a:buClr>
                <a:schemeClr val="tx1"/>
              </a:buClr>
              <a:buSzPct val="71000"/>
            </a:pPr>
            <a:r>
              <a:rPr lang="en-US" sz="2800" b="1" dirty="0" smtClean="0">
                <a:solidFill>
                  <a:srgbClr val="222222"/>
                </a:solidFill>
                <a:latin typeface="arial" panose="020B0604020202020204" pitchFamily="34" charset="0"/>
              </a:rPr>
              <a:t>Shadow </a:t>
            </a:r>
            <a:r>
              <a:rPr lang="en-US" sz="2800" b="1" dirty="0">
                <a:solidFill>
                  <a:srgbClr val="222222"/>
                </a:solidFill>
                <a:latin typeface="arial" panose="020B0604020202020204" pitchFamily="34" charset="0"/>
              </a:rPr>
              <a:t>Directory or Shadow page table</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In this technique, a copy of a database is created that is called a shadow directory.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The </a:t>
            </a:r>
            <a:r>
              <a:rPr lang="en-US" sz="2800" dirty="0">
                <a:solidFill>
                  <a:srgbClr val="222222"/>
                </a:solidFill>
                <a:latin typeface="arial" panose="020B0604020202020204" pitchFamily="34" charset="0"/>
              </a:rPr>
              <a:t>shadow directory is never changed during the execution of a transaction. It is also called the shadow page table.</a:t>
            </a:r>
            <a:endParaRPr lang="en-US" sz="2600" dirty="0">
              <a:solidFill>
                <a:srgbClr val="222222"/>
              </a:solidFill>
              <a:latin typeface="arial" panose="020B0604020202020204" pitchFamily="34" charset="0"/>
            </a:endParaRPr>
          </a:p>
        </p:txBody>
      </p:sp>
    </p:spTree>
    <p:extLst>
      <p:ext uri="{BB962C8B-B14F-4D97-AF65-F5344CB8AC3E}">
        <p14:creationId xmlns:p14="http://schemas.microsoft.com/office/powerpoint/2010/main" val="127858795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Assignment</a:t>
            </a:r>
            <a:endParaRPr lang="en-US" sz="2800" dirty="0">
              <a:solidFill>
                <a:schemeClr val="bg1"/>
              </a:solidFill>
            </a:endParaRPr>
          </a:p>
        </p:txBody>
      </p:sp>
      <p:sp>
        <p:nvSpPr>
          <p:cNvPr id="3" name="Subtitle 2"/>
          <p:cNvSpPr>
            <a:spLocks noGrp="1"/>
          </p:cNvSpPr>
          <p:nvPr>
            <p:ph type="subTitle" idx="1"/>
          </p:nvPr>
        </p:nvSpPr>
        <p:spPr>
          <a:xfrm>
            <a:off x="1281567" y="1139687"/>
            <a:ext cx="8094254" cy="4990657"/>
          </a:xfrm>
        </p:spPr>
        <p:txBody>
          <a:bodyPr>
            <a:normAutofit/>
          </a:bodyPr>
          <a:lstStyle/>
          <a:p>
            <a:pPr algn="just">
              <a:buClr>
                <a:schemeClr val="tx1"/>
              </a:buClr>
              <a:buSzPct val="71000"/>
            </a:pPr>
            <a:endParaRPr lang="en-US" sz="2800" dirty="0" smtClean="0">
              <a:solidFill>
                <a:srgbClr val="222222"/>
              </a:solidFill>
              <a:latin typeface="arial" panose="020B0604020202020204" pitchFamily="34" charset="0"/>
            </a:endParaRPr>
          </a:p>
          <a:p>
            <a:pPr algn="just">
              <a:buClr>
                <a:schemeClr val="tx1"/>
              </a:buClr>
              <a:buSzPct val="71000"/>
            </a:pPr>
            <a:r>
              <a:rPr lang="en-US" sz="2800" dirty="0" smtClean="0">
                <a:solidFill>
                  <a:srgbClr val="222222"/>
                </a:solidFill>
                <a:latin typeface="arial" panose="020B0604020202020204" pitchFamily="34" charset="0"/>
              </a:rPr>
              <a:t>Advantages and Disadvantages of shadow paging</a:t>
            </a:r>
          </a:p>
        </p:txBody>
      </p:sp>
    </p:spTree>
    <p:extLst>
      <p:ext uri="{BB962C8B-B14F-4D97-AF65-F5344CB8AC3E}">
        <p14:creationId xmlns:p14="http://schemas.microsoft.com/office/powerpoint/2010/main" val="45047663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9.8 Data Backup / Recovery</a:t>
            </a:r>
            <a:endParaRPr lang="en-US" sz="2800" dirty="0">
              <a:solidFill>
                <a:schemeClr val="bg1"/>
              </a:solidFill>
            </a:endParaRPr>
          </a:p>
        </p:txBody>
      </p:sp>
      <p:sp>
        <p:nvSpPr>
          <p:cNvPr id="4" name="Subtitle 2"/>
          <p:cNvSpPr>
            <a:spLocks noGrp="1"/>
          </p:cNvSpPr>
          <p:nvPr>
            <p:ph type="subTitle" idx="1"/>
          </p:nvPr>
        </p:nvSpPr>
        <p:spPr>
          <a:xfrm>
            <a:off x="1281567" y="1139687"/>
            <a:ext cx="8094254" cy="5424886"/>
          </a:xfrm>
        </p:spPr>
        <p:txBody>
          <a:bodyPr>
            <a:normAutofit/>
          </a:bodyPr>
          <a:lstStyle/>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Database Backup is storage of data that means the copy of the data.</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It is a safeguard against unexpected data loss and application errors.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It protects the database against data loss.</a:t>
            </a:r>
          </a:p>
          <a:p>
            <a:pPr marL="457200" indent="-457200" algn="just">
              <a:buClr>
                <a:schemeClr val="tx1"/>
              </a:buClr>
              <a:buSzPct val="71000"/>
              <a:buFont typeface="Wingdings" panose="05000000000000000000" pitchFamily="2" charset="2"/>
              <a:buChar char="v"/>
            </a:pPr>
            <a:r>
              <a:rPr lang="en-US" sz="2800" dirty="0">
                <a:solidFill>
                  <a:srgbClr val="222222"/>
                </a:solidFill>
                <a:latin typeface="arial" panose="020B0604020202020204" pitchFamily="34" charset="0"/>
              </a:rPr>
              <a:t>If the original data is lost, then using the backup it can reconstructed.</a:t>
            </a:r>
            <a:endParaRPr lang="en-US" sz="2600" dirty="0">
              <a:solidFill>
                <a:srgbClr val="222222"/>
              </a:solidFill>
              <a:latin typeface="arial" panose="020B0604020202020204" pitchFamily="34" charset="0"/>
            </a:endParaRPr>
          </a:p>
        </p:txBody>
      </p:sp>
    </p:spTree>
    <p:extLst>
      <p:ext uri="{BB962C8B-B14F-4D97-AF65-F5344CB8AC3E}">
        <p14:creationId xmlns:p14="http://schemas.microsoft.com/office/powerpoint/2010/main" val="64716830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9.8.1 </a:t>
            </a:r>
            <a:r>
              <a:rPr lang="en-US" sz="2800" dirty="0">
                <a:solidFill>
                  <a:schemeClr val="bg1"/>
                </a:solidFill>
              </a:rPr>
              <a:t>Methods of Backup</a:t>
            </a:r>
          </a:p>
        </p:txBody>
      </p:sp>
      <p:sp>
        <p:nvSpPr>
          <p:cNvPr id="4" name="Subtitle 2"/>
          <p:cNvSpPr>
            <a:spLocks noGrp="1"/>
          </p:cNvSpPr>
          <p:nvPr>
            <p:ph type="subTitle" idx="1"/>
          </p:nvPr>
        </p:nvSpPr>
        <p:spPr>
          <a:xfrm>
            <a:off x="1281567" y="1139687"/>
            <a:ext cx="8094254" cy="5424886"/>
          </a:xfrm>
        </p:spPr>
        <p:txBody>
          <a:bodyPr>
            <a:normAutofit fontScale="92500" lnSpcReduction="10000"/>
          </a:bodyPr>
          <a:lstStyle/>
          <a:p>
            <a:pPr marL="457200" indent="-457200" algn="just">
              <a:buClr>
                <a:schemeClr val="tx1"/>
              </a:buClr>
              <a:buSzPct val="71000"/>
              <a:buFont typeface="Wingdings" panose="05000000000000000000" pitchFamily="2" charset="2"/>
              <a:buChar char="v"/>
            </a:pPr>
            <a:r>
              <a:rPr lang="en-US" sz="2800" b="1" dirty="0" smtClean="0">
                <a:solidFill>
                  <a:srgbClr val="222222"/>
                </a:solidFill>
                <a:latin typeface="arial" panose="020B0604020202020204" pitchFamily="34" charset="0"/>
              </a:rPr>
              <a:t>Full </a:t>
            </a:r>
            <a:r>
              <a:rPr lang="en-US" sz="2800" b="1" dirty="0">
                <a:solidFill>
                  <a:srgbClr val="222222"/>
                </a:solidFill>
                <a:latin typeface="arial" panose="020B0604020202020204" pitchFamily="34" charset="0"/>
              </a:rPr>
              <a:t>Backup </a:t>
            </a:r>
            <a:r>
              <a:rPr lang="en-US" sz="2800" dirty="0">
                <a:solidFill>
                  <a:srgbClr val="222222"/>
                </a:solidFill>
                <a:latin typeface="arial" panose="020B0604020202020204" pitchFamily="34" charset="0"/>
              </a:rPr>
              <a:t>-  This method takes a lot of time as the full copy of the database is made including the data and the transaction records.</a:t>
            </a: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Transaction Log </a:t>
            </a:r>
            <a:r>
              <a:rPr lang="en-US" sz="2800" dirty="0">
                <a:solidFill>
                  <a:srgbClr val="222222"/>
                </a:solidFill>
                <a:latin typeface="arial" panose="020B0604020202020204" pitchFamily="34" charset="0"/>
              </a:rPr>
              <a:t>-  Only the transaction logs are saved as the backup in this method. To keep the backup file as small as possible, the previous transaction log details are deleted once a new backup record is made.</a:t>
            </a:r>
          </a:p>
          <a:p>
            <a:pPr marL="457200" indent="-457200" algn="just">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Differential Backup </a:t>
            </a:r>
            <a:r>
              <a:rPr lang="en-US" sz="2800" dirty="0">
                <a:solidFill>
                  <a:srgbClr val="222222"/>
                </a:solidFill>
                <a:latin typeface="arial" panose="020B0604020202020204" pitchFamily="34" charset="0"/>
              </a:rPr>
              <a:t>-  This is similar to full backup in that it stores both the data and the transaction records. However only that information is saved in the backup that has changed since the last full backup. Because of this, differential backup leads to smaller files.</a:t>
            </a:r>
            <a:endParaRPr lang="en-US" sz="2600" dirty="0">
              <a:solidFill>
                <a:srgbClr val="222222"/>
              </a:solidFill>
              <a:latin typeface="arial" panose="020B0604020202020204" pitchFamily="34" charset="0"/>
            </a:endParaRPr>
          </a:p>
        </p:txBody>
      </p:sp>
    </p:spTree>
    <p:extLst>
      <p:ext uri="{BB962C8B-B14F-4D97-AF65-F5344CB8AC3E}">
        <p14:creationId xmlns:p14="http://schemas.microsoft.com/office/powerpoint/2010/main" val="374984673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9.8.2 </a:t>
            </a:r>
            <a:r>
              <a:rPr lang="en-US" sz="2800" dirty="0">
                <a:solidFill>
                  <a:schemeClr val="bg1"/>
                </a:solidFill>
              </a:rPr>
              <a:t>Database Recovery</a:t>
            </a:r>
          </a:p>
        </p:txBody>
      </p:sp>
      <p:sp>
        <p:nvSpPr>
          <p:cNvPr id="4" name="Subtitle 2"/>
          <p:cNvSpPr>
            <a:spLocks noGrp="1"/>
          </p:cNvSpPr>
          <p:nvPr>
            <p:ph type="subTitle" idx="1"/>
          </p:nvPr>
        </p:nvSpPr>
        <p:spPr>
          <a:xfrm>
            <a:off x="1281567" y="1139687"/>
            <a:ext cx="8094254" cy="5424886"/>
          </a:xfrm>
        </p:spPr>
        <p:txBody>
          <a:bodyPr>
            <a:normAutofit/>
          </a:bodyPr>
          <a:lstStyle/>
          <a:p>
            <a:pPr marL="457200" indent="-457200" algn="just">
              <a:buClr>
                <a:schemeClr val="tx1"/>
              </a:buClr>
              <a:buSzPct val="71000"/>
              <a:buFont typeface="Wingdings" panose="05000000000000000000" pitchFamily="2" charset="2"/>
              <a:buChar char="v"/>
            </a:pPr>
            <a:r>
              <a:rPr lang="en-US" sz="2800" b="1" dirty="0">
                <a:solidFill>
                  <a:srgbClr val="222222"/>
                </a:solidFill>
                <a:latin typeface="arial" panose="020B0604020202020204" pitchFamily="34" charset="0"/>
              </a:rPr>
              <a:t>Log based recovery </a:t>
            </a:r>
            <a:r>
              <a:rPr lang="en-US" sz="2800" dirty="0">
                <a:solidFill>
                  <a:srgbClr val="222222"/>
                </a:solidFill>
                <a:latin typeface="arial" panose="020B0604020202020204" pitchFamily="34" charset="0"/>
              </a:rPr>
              <a:t>-  In log based recovery, logs of all database transactions are stored in a secure area so that in case of a system failure, the database can recover the data. </a:t>
            </a:r>
            <a:endParaRPr lang="en-US" sz="2800" dirty="0" smtClean="0">
              <a:solidFill>
                <a:srgbClr val="222222"/>
              </a:solidFill>
              <a:latin typeface="arial" panose="020B0604020202020204" pitchFamily="34" charset="0"/>
            </a:endParaRPr>
          </a:p>
          <a:p>
            <a:pPr algn="just">
              <a:buClr>
                <a:schemeClr val="tx1"/>
              </a:buClr>
              <a:buSzPct val="71000"/>
            </a:pP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b="1" dirty="0" smtClean="0">
                <a:solidFill>
                  <a:srgbClr val="222222"/>
                </a:solidFill>
                <a:latin typeface="arial" panose="020B0604020202020204" pitchFamily="34" charset="0"/>
              </a:rPr>
              <a:t>Shadow </a:t>
            </a:r>
            <a:r>
              <a:rPr lang="en-US" sz="2800" b="1" dirty="0">
                <a:solidFill>
                  <a:srgbClr val="222222"/>
                </a:solidFill>
                <a:latin typeface="arial" panose="020B0604020202020204" pitchFamily="34" charset="0"/>
              </a:rPr>
              <a:t>paging </a:t>
            </a:r>
            <a:r>
              <a:rPr lang="en-US" sz="2800" dirty="0">
                <a:solidFill>
                  <a:srgbClr val="222222"/>
                </a:solidFill>
                <a:latin typeface="arial" panose="020B0604020202020204" pitchFamily="34" charset="0"/>
              </a:rPr>
              <a:t>-  In shadow paging, after the transaction is completed its data is automatically stored for safekeeping. </a:t>
            </a:r>
            <a:endParaRPr lang="en-US" sz="2600" dirty="0">
              <a:solidFill>
                <a:srgbClr val="222222"/>
              </a:solidFill>
              <a:latin typeface="arial" panose="020B0604020202020204" pitchFamily="34" charset="0"/>
            </a:endParaRPr>
          </a:p>
        </p:txBody>
      </p:sp>
    </p:spTree>
    <p:extLst>
      <p:ext uri="{BB962C8B-B14F-4D97-AF65-F5344CB8AC3E}">
        <p14:creationId xmlns:p14="http://schemas.microsoft.com/office/powerpoint/2010/main" val="419726905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9.9 Remote Backup System</a:t>
            </a:r>
            <a:endParaRPr lang="en-US" sz="2800" dirty="0">
              <a:solidFill>
                <a:schemeClr val="bg1"/>
              </a:solidFill>
            </a:endParaRPr>
          </a:p>
        </p:txBody>
      </p:sp>
      <p:sp>
        <p:nvSpPr>
          <p:cNvPr id="4" name="Subtitle 2"/>
          <p:cNvSpPr>
            <a:spLocks noGrp="1"/>
          </p:cNvSpPr>
          <p:nvPr>
            <p:ph type="subTitle" idx="1"/>
          </p:nvPr>
        </p:nvSpPr>
        <p:spPr>
          <a:xfrm>
            <a:off x="1281567" y="1139687"/>
            <a:ext cx="8094254" cy="5424886"/>
          </a:xfrm>
        </p:spPr>
        <p:txBody>
          <a:bodyPr>
            <a:normAutofit/>
          </a:bodyPr>
          <a:lstStyle/>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Remote </a:t>
            </a:r>
            <a:r>
              <a:rPr lang="en-US" sz="2800" dirty="0">
                <a:solidFill>
                  <a:srgbClr val="222222"/>
                </a:solidFill>
                <a:latin typeface="arial" panose="020B0604020202020204" pitchFamily="34" charset="0"/>
              </a:rPr>
              <a:t>backup provides a sense of security in case the primary location where the database is located gets destroyed.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Remote </a:t>
            </a:r>
            <a:r>
              <a:rPr lang="en-US" sz="2800" dirty="0">
                <a:solidFill>
                  <a:srgbClr val="222222"/>
                </a:solidFill>
                <a:latin typeface="arial" panose="020B0604020202020204" pitchFamily="34" charset="0"/>
              </a:rPr>
              <a:t>backup can be offline or real-time or online. </a:t>
            </a:r>
            <a:endParaRPr lang="en-US" sz="2800" dirty="0" smtClean="0">
              <a:solidFill>
                <a:srgbClr val="222222"/>
              </a:solidFill>
              <a:latin typeface="arial" panose="020B0604020202020204" pitchFamily="34" charset="0"/>
            </a:endParaRPr>
          </a:p>
          <a:p>
            <a:pPr marL="457200" indent="-457200" algn="just">
              <a:buClr>
                <a:schemeClr val="tx1"/>
              </a:buClr>
              <a:buSzPct val="71000"/>
              <a:buFont typeface="Wingdings" panose="05000000000000000000" pitchFamily="2" charset="2"/>
              <a:buChar char="v"/>
            </a:pPr>
            <a:r>
              <a:rPr lang="en-US" sz="2800" dirty="0" smtClean="0">
                <a:solidFill>
                  <a:srgbClr val="222222"/>
                </a:solidFill>
                <a:latin typeface="arial" panose="020B0604020202020204" pitchFamily="34" charset="0"/>
              </a:rPr>
              <a:t>In </a:t>
            </a:r>
            <a:r>
              <a:rPr lang="en-US" sz="2800" dirty="0">
                <a:solidFill>
                  <a:srgbClr val="222222"/>
                </a:solidFill>
                <a:latin typeface="arial" panose="020B0604020202020204" pitchFamily="34" charset="0"/>
              </a:rPr>
              <a:t>case it is offline, it is maintained manually.</a:t>
            </a:r>
          </a:p>
          <a:p>
            <a:pPr algn="just">
              <a:buClr>
                <a:schemeClr val="tx1"/>
              </a:buClr>
              <a:buSzPct val="71000"/>
            </a:pPr>
            <a:r>
              <a:rPr lang="en-US" sz="2800" dirty="0" smtClean="0">
                <a:solidFill>
                  <a:srgbClr val="222222"/>
                </a:solidFill>
                <a:latin typeface="arial" panose="020B0604020202020204" pitchFamily="34" charset="0"/>
              </a:rPr>
              <a:t> </a:t>
            </a:r>
            <a:endParaRPr lang="en-US" sz="2800" dirty="0">
              <a:solidFill>
                <a:srgbClr val="222222"/>
              </a:solidFill>
              <a:latin typeface="arial" panose="020B0604020202020204" pitchFamily="34" charset="0"/>
            </a:endParaRPr>
          </a:p>
        </p:txBody>
      </p:sp>
    </p:spTree>
    <p:extLst>
      <p:ext uri="{BB962C8B-B14F-4D97-AF65-F5344CB8AC3E}">
        <p14:creationId xmlns:p14="http://schemas.microsoft.com/office/powerpoint/2010/main" val="371010445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81567" y="450387"/>
            <a:ext cx="8094254" cy="554538"/>
          </a:xfrm>
        </p:spPr>
        <p:style>
          <a:lnRef idx="1">
            <a:schemeClr val="accent1"/>
          </a:lnRef>
          <a:fillRef idx="3">
            <a:schemeClr val="accent1"/>
          </a:fillRef>
          <a:effectRef idx="2">
            <a:schemeClr val="accent1"/>
          </a:effectRef>
          <a:fontRef idx="minor">
            <a:schemeClr val="lt1"/>
          </a:fontRef>
        </p:style>
        <p:txBody>
          <a:bodyPr/>
          <a:lstStyle/>
          <a:p>
            <a:pPr algn="l">
              <a:buClr>
                <a:schemeClr val="tx1"/>
              </a:buClr>
              <a:buSzPct val="71000"/>
            </a:pPr>
            <a:r>
              <a:rPr lang="en-US" sz="2800" dirty="0" smtClean="0">
                <a:solidFill>
                  <a:schemeClr val="bg1"/>
                </a:solidFill>
              </a:rPr>
              <a:t>9.9 Remote Backup System</a:t>
            </a:r>
            <a:endParaRPr lang="en-US" sz="2800" dirty="0">
              <a:solidFill>
                <a:schemeClr val="bg1"/>
              </a:solidFill>
            </a:endParaRPr>
          </a:p>
        </p:txBody>
      </p:sp>
      <p:pic>
        <p:nvPicPr>
          <p:cNvPr id="1026" name="Picture 2" descr="https://1.bp.blogspot.com/-4AMaQLuvyE8/Xr-RnCtyKWI/AAAAAAAAAp0/ko__h1K6ntMPGevCvydV8UBFMyoa9LwAACLcBGAsYHQ/s1600/remote-backup-system-in-dbms.webp"/>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8031" y="1517449"/>
            <a:ext cx="7143750" cy="3750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79831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258956" y="2644170"/>
            <a:ext cx="8507895" cy="1569660"/>
          </a:xfrm>
          <a:prstGeom prst="rect">
            <a:avLst/>
          </a:prstGeom>
          <a:noFill/>
        </p:spPr>
        <p:txBody>
          <a:bodyPr wrap="square" lIns="91440" tIns="45720" rIns="91440" bIns="45720">
            <a:spAutoFit/>
          </a:bodyPr>
          <a:lstStyle/>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This is the end of the lecture!</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I hope you enjoyed it.</a:t>
            </a:r>
          </a:p>
          <a:p>
            <a:pPr algn="ctr"/>
            <a:r>
              <a:rPr lang="en-US" sz="3200" dirty="0">
                <a:ln w="0"/>
                <a:effectLst>
                  <a:outerShdw blurRad="38100" dist="19050" dir="2700000" algn="tl" rotWithShape="0">
                    <a:schemeClr val="dk1">
                      <a:alpha val="40000"/>
                    </a:schemeClr>
                  </a:outerShdw>
                </a:effectLst>
                <a:latin typeface="Eras Medium ITC" panose="020B0602030504020804" pitchFamily="34" charset="0"/>
              </a:rPr>
              <a:t>Thank You</a:t>
            </a:r>
            <a:endParaRPr lang="en-US" sz="3200" b="0" cap="none" spc="0" dirty="0">
              <a:ln w="0"/>
              <a:solidFill>
                <a:schemeClr val="tx1"/>
              </a:solidFill>
              <a:effectLst>
                <a:outerShdw blurRad="38100" dist="19050" dir="2700000" algn="tl" rotWithShape="0">
                  <a:schemeClr val="dk1">
                    <a:alpha val="40000"/>
                  </a:schemeClr>
                </a:outerShdw>
              </a:effectLst>
              <a:latin typeface="Eras Medium ITC" panose="020B0602030504020804" pitchFamily="34" charset="0"/>
            </a:endParaRPr>
          </a:p>
        </p:txBody>
      </p:sp>
    </p:spTree>
    <p:extLst>
      <p:ext uri="{BB962C8B-B14F-4D97-AF65-F5344CB8AC3E}">
        <p14:creationId xmlns:p14="http://schemas.microsoft.com/office/powerpoint/2010/main" val="3930731771"/>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65BD02F5E4BC024DA86DFA7D8823C79F" ma:contentTypeVersion="2" ma:contentTypeDescription="Create a new document." ma:contentTypeScope="" ma:versionID="6e895eb2d3355a5bd38350496b6864ca">
  <xsd:schema xmlns:xsd="http://www.w3.org/2001/XMLSchema" xmlns:xs="http://www.w3.org/2001/XMLSchema" xmlns:p="http://schemas.microsoft.com/office/2006/metadata/properties" xmlns:ns2="4f2457a7-20ce-4dfa-a6dc-1acba1606d34" targetNamespace="http://schemas.microsoft.com/office/2006/metadata/properties" ma:root="true" ma:fieldsID="eec91d1fba82f9c905ffb3aa848bfe8c" ns2:_="">
    <xsd:import namespace="4f2457a7-20ce-4dfa-a6dc-1acba1606d34"/>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2457a7-20ce-4dfa-a6dc-1acba1606d3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2AA085C-F54A-4454-A583-FAA093E58743}">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EB854575-B785-45FD-8F15-75A3162CF2B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2457a7-20ce-4dfa-a6dc-1acba1606d3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6A5CB58-7963-4873-BCC7-C9199920F94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2921</TotalTime>
  <Words>2120</Words>
  <Application>Microsoft Office PowerPoint</Application>
  <PresentationFormat>Widescreen</PresentationFormat>
  <Paragraphs>202</Paragraphs>
  <Slides>36</Slides>
  <Notes>36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Arial</vt:lpstr>
      <vt:lpstr>Arial</vt:lpstr>
      <vt:lpstr>Calibri</vt:lpstr>
      <vt:lpstr>Eras Medium ITC</vt:lpstr>
      <vt:lpstr>Trebuchet MS</vt:lpstr>
      <vt:lpstr>urw-din</vt:lpstr>
      <vt:lpstr>Wingdings</vt:lpstr>
      <vt:lpstr>Wingdings 3</vt:lpstr>
      <vt:lpstr>Facet</vt:lpstr>
      <vt:lpstr>Chapter 9 Crash Recovery</vt:lpstr>
      <vt:lpstr>9.1 Crash Recovery</vt:lpstr>
      <vt:lpstr>9.2 Failure classification</vt:lpstr>
      <vt:lpstr>9.2 Failure classification</vt:lpstr>
      <vt:lpstr>9.2 Failure classification</vt:lpstr>
      <vt:lpstr>9.3 Storage Structure</vt:lpstr>
      <vt:lpstr>9.3 Storage Structure</vt:lpstr>
      <vt:lpstr>9.3 Storage Structure</vt:lpstr>
      <vt:lpstr>9.4 Recovery and Atomicity</vt:lpstr>
      <vt:lpstr>9.4 Recovery and Atomicity</vt:lpstr>
      <vt:lpstr>9.4 Recovery and Atomicity</vt:lpstr>
      <vt:lpstr>9.5 Log Based Recovery</vt:lpstr>
      <vt:lpstr>9.5 Log Based Recovery</vt:lpstr>
      <vt:lpstr>9.5 Log Based Recovery</vt:lpstr>
      <vt:lpstr>9.5 Log Based Recovery</vt:lpstr>
      <vt:lpstr>9.5 Log Based Recovery</vt:lpstr>
      <vt:lpstr>9.5 Log Based Recovery</vt:lpstr>
      <vt:lpstr>9.5 Log Based Recovery</vt:lpstr>
      <vt:lpstr>Assignment</vt:lpstr>
      <vt:lpstr>9.6 Checkpoints</vt:lpstr>
      <vt:lpstr>9.6.1 Recovery using Checkpoints</vt:lpstr>
      <vt:lpstr>9.6.1 Recovery using Checkpoints</vt:lpstr>
      <vt:lpstr>9.6.1 Recovery using Checkpoints</vt:lpstr>
      <vt:lpstr>9.7 Shadow Paging</vt:lpstr>
      <vt:lpstr>9.7 Shadow Paging</vt:lpstr>
      <vt:lpstr>9.7.1 Working of Shadow Paging</vt:lpstr>
      <vt:lpstr>9.7.1 Working of Shadow Paging</vt:lpstr>
      <vt:lpstr>9.7.2 Directories in Shadow Paging</vt:lpstr>
      <vt:lpstr>9.7.2 Directories in Shadow Paging</vt:lpstr>
      <vt:lpstr>Assignment</vt:lpstr>
      <vt:lpstr>9.8 Data Backup / Recovery</vt:lpstr>
      <vt:lpstr>9.8.1 Methods of Backup</vt:lpstr>
      <vt:lpstr>9.8.2 Database Recovery</vt:lpstr>
      <vt:lpstr>9.9 Remote Backup System</vt:lpstr>
      <vt:lpstr>9.9 Remote Backup System</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Technology Access Behavior and Impact Analysis on Education and Social Transformation in Dhangadhi Sub-Metropolitan City</dc:title>
  <dc:creator>Ravi Khadka</dc:creator>
  <cp:lastModifiedBy>city</cp:lastModifiedBy>
  <cp:revision>644</cp:revision>
  <dcterms:created xsi:type="dcterms:W3CDTF">2017-09-13T07:21:00Z</dcterms:created>
  <dcterms:modified xsi:type="dcterms:W3CDTF">2021-04-26T15:36:14Z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0x01010065BD02F5E4BC024DA86DFA7D8823C79F</vt:lpwstr>
  </property>
</Properties>
</file>