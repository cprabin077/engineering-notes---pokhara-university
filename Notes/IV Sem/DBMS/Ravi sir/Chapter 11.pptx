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4"/>
  </p:sldMasterIdLst>
  <p:notesMasterIdLst>
    <p:notesMasterId r:id="rId24"/>
  </p:notesMasterIdLst>
  <p:sldIdLst>
    <p:sldId id="257" r:id="rId5"/>
    <p:sldId id="383" r:id="rId6"/>
    <p:sldId id="583" r:id="rId7"/>
    <p:sldId id="584" r:id="rId8"/>
    <p:sldId id="585" r:id="rId9"/>
    <p:sldId id="586" r:id="rId10"/>
    <p:sldId id="587" r:id="rId11"/>
    <p:sldId id="484" r:id="rId12"/>
    <p:sldId id="588" r:id="rId13"/>
    <p:sldId id="589" r:id="rId14"/>
    <p:sldId id="590" r:id="rId15"/>
    <p:sldId id="591" r:id="rId16"/>
    <p:sldId id="592" r:id="rId17"/>
    <p:sldId id="593" r:id="rId18"/>
    <p:sldId id="485" r:id="rId19"/>
    <p:sldId id="595" r:id="rId20"/>
    <p:sldId id="594" r:id="rId21"/>
    <p:sldId id="486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C73DF-4ACA-4A4E-BE24-698A41846534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F0832-C019-46EE-973A-B4AFD6309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9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78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51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78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671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74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40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76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190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52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02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428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45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85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14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15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920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314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01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7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DD5E5-F825-4B33-AF67-A7F31E5A2821}" type="datetime1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3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0A645-7812-465D-BB5E-A8CA1F1DB31F}" type="datetime1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3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71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DB56-25F5-4763-9EA5-68F834D6E811}" type="datetime1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87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6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4184035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01DB-480A-4D75-AD69-F9ABD9C9ECEB}" type="datetime1">
              <a:rPr lang="en-US" smtClean="0"/>
              <a:t>5/6/2021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8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7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7" y="2737249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4" y="2160983"/>
            <a:ext cx="41856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6" y="2737249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31EA-9561-4FDF-BCE1-CAE98AD0C4D5}" type="datetime1">
              <a:rPr lang="en-US" smtClean="0"/>
              <a:t>5/6/2021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3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B6BF-29BB-4022-8B48-CF48B5627A0E}" type="datetime1">
              <a:rPr lang="en-US" smtClean="0"/>
              <a:t>5/6/2021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17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9B8A-9C1C-47BE-9A52-00A57195BE87}" type="datetime1">
              <a:rPr lang="en-US" smtClean="0"/>
              <a:t>5/6/2021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42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3" y="514928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51" indent="0">
              <a:buNone/>
              <a:defRPr sz="1400"/>
            </a:lvl2pPr>
            <a:lvl3pPr marL="914104" indent="0">
              <a:buNone/>
              <a:defRPr sz="1200"/>
            </a:lvl3pPr>
            <a:lvl4pPr marL="1371155" indent="0">
              <a:buNone/>
              <a:defRPr sz="1000"/>
            </a:lvl4pPr>
            <a:lvl5pPr marL="1828205" indent="0">
              <a:buNone/>
              <a:defRPr sz="1000"/>
            </a:lvl5pPr>
            <a:lvl6pPr marL="2285258" indent="0">
              <a:buNone/>
              <a:defRPr sz="1000"/>
            </a:lvl6pPr>
            <a:lvl7pPr marL="2742309" indent="0">
              <a:buNone/>
              <a:defRPr sz="1000"/>
            </a:lvl7pPr>
            <a:lvl8pPr marL="3199360" indent="0">
              <a:buNone/>
              <a:defRPr sz="1000"/>
            </a:lvl8pPr>
            <a:lvl9pPr marL="3656411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453E-3D4D-464A-831F-EB23A5A42A12}" type="datetime1">
              <a:rPr lang="en-US" smtClean="0"/>
              <a:t>5/6/2021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30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6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6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743A-56F0-4312-8259-E51533341499}" type="datetime1">
              <a:rPr lang="en-US" smtClean="0"/>
              <a:t>5/6/2021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0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C2D58-99B7-4095-851E-63049442BAD8}" type="datetime1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74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5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D284E-D999-40E1-8CDE-80A918580BC2}" type="datetime1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3399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C615-F352-46CA-997F-790F5C7AB59F}" type="datetime1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67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5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8DF6-B2D7-4891-924E-F205B4F4C5B0}" type="datetime1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4502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D3E9-44D4-4A6E-8282-3CFF4443A4B7}" type="datetime1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21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37C3A-3E20-4D7B-93C7-DC2476BB2AB9}" type="datetime1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43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5" y="609603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7" y="609600"/>
            <a:ext cx="706015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B382-714F-487B-894A-7320A737CBE1}" type="datetime1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3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0269F-6FC2-45F3-9E5C-EE0DAD7DBF51}" type="datetime1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5" y="6041366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5" y="6041366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0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hf sldNum="0" hdr="0" ftr="0" dt="0"/>
  <p:txStyles>
    <p:titleStyle>
      <a:lvl1pPr algn="l" defTabSz="457189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1" indent="-342891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6" y="357622"/>
            <a:ext cx="7991223" cy="68556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Chapter </a:t>
            </a:r>
            <a:r>
              <a:rPr lang="en-US" sz="2800" dirty="0" smtClean="0">
                <a:solidFill>
                  <a:schemeClr val="bg1"/>
                </a:solidFill>
              </a:rPr>
              <a:t>11 Advanced Database Concepts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9520" y="1481070"/>
            <a:ext cx="8094254" cy="3880088"/>
          </a:xfrm>
        </p:spPr>
        <p:txBody>
          <a:bodyPr>
            <a:normAutofit/>
          </a:bodyPr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tx1"/>
                </a:solidFill>
              </a:rPr>
              <a:t>11.1 Object Oriented Model</a:t>
            </a:r>
          </a:p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tx1"/>
                </a:solidFill>
              </a:rPr>
              <a:t>11.2 Object Relational Model</a:t>
            </a:r>
          </a:p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tx1"/>
                </a:solidFill>
              </a:rPr>
              <a:t>11.3 Object Relational Mapping</a:t>
            </a:r>
          </a:p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tx1"/>
                </a:solidFill>
              </a:rPr>
              <a:t>11.4 Distributed Database</a:t>
            </a:r>
          </a:p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tx1"/>
                </a:solidFill>
              </a:rPr>
              <a:t>11.5 Data Warehouse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07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bg1"/>
                </a:solidFill>
              </a:rPr>
              <a:t>11.1 Object Oriented Model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90657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An object-oriented database is a database that subscribes to a model with information represented by objects. </a:t>
            </a:r>
            <a:endParaRPr lang="en-US" sz="28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Object-oriented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databases are a niche offering in the relational database management system (RDBMS) field and are not as successful or well-known as mainstream database engines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Object oriented data model is based upon real world situations. </a:t>
            </a:r>
            <a:endParaRPr lang="en-US" sz="2800" dirty="0" smtClean="0">
              <a:solidFill>
                <a:schemeClr val="tx1"/>
              </a:solidFill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</a:rPr>
              <a:t>These </a:t>
            </a:r>
            <a:r>
              <a:rPr lang="en-US" sz="2800" dirty="0">
                <a:solidFill>
                  <a:schemeClr val="tx1"/>
                </a:solidFill>
              </a:rPr>
              <a:t>situations are represented as objects, with different attributes. </a:t>
            </a:r>
            <a:endParaRPr lang="en-US" sz="2800" dirty="0" smtClean="0">
              <a:solidFill>
                <a:schemeClr val="tx1"/>
              </a:solidFill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</a:rPr>
              <a:t>All </a:t>
            </a:r>
            <a:r>
              <a:rPr lang="en-US" sz="2800" dirty="0">
                <a:solidFill>
                  <a:schemeClr val="tx1"/>
                </a:solidFill>
              </a:rPr>
              <a:t>these object have multiple relationships between them</a:t>
            </a:r>
            <a:r>
              <a:rPr lang="en-US" sz="2800" dirty="0" smtClean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703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bg1"/>
                </a:solidFill>
              </a:rPr>
              <a:t>11.1 Object Oriented Model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9065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</a:rPr>
              <a:t>It </a:t>
            </a:r>
            <a:r>
              <a:rPr lang="en-US" sz="2800" dirty="0">
                <a:solidFill>
                  <a:schemeClr val="tx1"/>
                </a:solidFill>
              </a:rPr>
              <a:t>maintains correspondence between real world and database objects without loosing integrity and </a:t>
            </a:r>
            <a:r>
              <a:rPr lang="en-US" sz="2800" dirty="0" smtClean="0">
                <a:solidFill>
                  <a:schemeClr val="tx1"/>
                </a:solidFill>
              </a:rPr>
              <a:t>identity.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Object has state and behavior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</a:rPr>
              <a:t>Entity </a:t>
            </a:r>
            <a:r>
              <a:rPr lang="en-US" sz="2800" dirty="0">
                <a:solidFill>
                  <a:schemeClr val="tx1"/>
                </a:solidFill>
              </a:rPr>
              <a:t>is represented as a class.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</a:rPr>
              <a:t>Instances </a:t>
            </a:r>
            <a:r>
              <a:rPr lang="en-US" sz="2800" dirty="0">
                <a:solidFill>
                  <a:schemeClr val="tx1"/>
                </a:solidFill>
              </a:rPr>
              <a:t>of the class are objects.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</a:rPr>
              <a:t>Within </a:t>
            </a:r>
            <a:r>
              <a:rPr lang="en-US" sz="2800" dirty="0">
                <a:solidFill>
                  <a:schemeClr val="tx1"/>
                </a:solidFill>
              </a:rPr>
              <a:t>an object , the class attributes takes specific values.</a:t>
            </a:r>
          </a:p>
        </p:txBody>
      </p:sp>
    </p:spTree>
    <p:extLst>
      <p:ext uri="{BB962C8B-B14F-4D97-AF65-F5344CB8AC3E}">
        <p14:creationId xmlns:p14="http://schemas.microsoft.com/office/powerpoint/2010/main" val="4023529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bg1"/>
                </a:solidFill>
              </a:rPr>
              <a:t>11.1 Object Oriented Model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90657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tx1"/>
                </a:solidFill>
              </a:rPr>
              <a:t>Elements of object oriented model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</a:rPr>
              <a:t>Object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</a:rPr>
              <a:t>Attributes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</a:rPr>
              <a:t>Methods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</a:rPr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246540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bg1"/>
                </a:solidFill>
              </a:rPr>
              <a:t>11.2 Object Relational Model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90657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An Object relational model is a combination of a Object oriented database model and a Relational database model. </a:t>
            </a:r>
            <a:endParaRPr lang="en-US" sz="28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So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, it supports objects, classes, inheritance etc. just like Object Oriented models and has support for data types, tabular structures etc. like Relational data model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en-US" sz="28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One of the major goals of Object relational data model is to close the gap between relational databases and the object oriented 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practices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frequently used in many programming languages such as C++, C#, Java etc.</a:t>
            </a:r>
            <a:endParaRPr lang="en-US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121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bg1"/>
                </a:solidFill>
              </a:rPr>
              <a:t>11.2 Object Relational Model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90657"/>
          </a:xfrm>
        </p:spPr>
        <p:txBody>
          <a:bodyPr>
            <a:normAutofit fontScale="700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Objects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, classes and inheritance are directly supported in database schemas and in the query language. </a:t>
            </a:r>
            <a:endParaRPr lang="en-US" sz="28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In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addition, just as with pure relational systems, it supports extension of the data model with custom data types and methods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en-US" sz="28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An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object–relational database can be said to provide a middle ground between relational databases and object-oriented databases. </a:t>
            </a:r>
            <a:endParaRPr lang="en-US" sz="28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In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object–relational databases, the approach is essentially that of relational databases: </a:t>
            </a:r>
            <a:endParaRPr lang="en-US" sz="28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the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data resides in the database and is manipulated collectively with queries in a query language; </a:t>
            </a:r>
            <a:endParaRPr lang="en-US" sz="28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at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the other extreme are </a:t>
            </a:r>
            <a:r>
              <a:rPr lang="en-US" sz="2800" dirty="0" err="1" smtClean="0">
                <a:solidFill>
                  <a:srgbClr val="222222"/>
                </a:solidFill>
                <a:latin typeface="arial" panose="020B0604020202020204" pitchFamily="34" charset="0"/>
              </a:rPr>
              <a:t>OODBMS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in which the database is essentially a persistent object store for software written in an object-oriented programming language, with a programming API for storing and retrieving objects, and little or no specific support for querying.</a:t>
            </a:r>
            <a:endParaRPr lang="en-US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62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bg1"/>
                </a:solidFill>
              </a:rPr>
              <a:t>11.3 Object Relational Mapping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90657"/>
          </a:xfrm>
        </p:spPr>
        <p:txBody>
          <a:bodyPr>
            <a:normAutofit fontScale="925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err="1">
                <a:solidFill>
                  <a:srgbClr val="222222"/>
                </a:solidFill>
                <a:latin typeface="arial" panose="020B0604020202020204" pitchFamily="34" charset="0"/>
              </a:rPr>
              <a:t>ORM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is a programming technique for converting data between incompatible type systems into object oriented programming language.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This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creates a virtual object database , which can be used from within the programming language.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It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is necessary because objects are almost non-scales values while the DBMS can only store and manipulate scalar values organized within tables.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err="1" smtClean="0">
                <a:solidFill>
                  <a:srgbClr val="222222"/>
                </a:solidFill>
                <a:latin typeface="arial" panose="020B0604020202020204" pitchFamily="34" charset="0"/>
              </a:rPr>
              <a:t>ORM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convert object values into group of singular values for storages in the database.</a:t>
            </a:r>
            <a:endParaRPr lang="en-US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65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bg1"/>
                </a:solidFill>
              </a:rPr>
              <a:t>Object v/s Relational Model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567" y="1300765"/>
            <a:ext cx="8094254" cy="448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5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bg1"/>
                </a:solidFill>
              </a:rPr>
              <a:t>11.4 Distributed Database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90657"/>
          </a:xfrm>
        </p:spPr>
        <p:txBody>
          <a:bodyPr>
            <a:normAutofit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The database is stored on several computers known as sites.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Each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site is largely coupled.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There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is no any stored physical component.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Communication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between sites is done with network.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Local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transaction access data only from site where it was initiated.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Global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transaction access data from different sites.</a:t>
            </a:r>
            <a:endParaRPr lang="en-US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68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bg1"/>
                </a:solidFill>
              </a:rPr>
              <a:t>11.4.1 Heterogeneous Database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9065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Each site uses different schema.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Difficulty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in query and transaction processing.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Provide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limited facility for 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cooperation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Also, a particular site might be completely unaware of the other sites.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Different computers may use a different operating system, different database application.</a:t>
            </a:r>
          </a:p>
        </p:txBody>
      </p:sp>
    </p:spTree>
    <p:extLst>
      <p:ext uri="{BB962C8B-B14F-4D97-AF65-F5344CB8AC3E}">
        <p14:creationId xmlns:p14="http://schemas.microsoft.com/office/powerpoint/2010/main" val="211139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bg1"/>
                </a:solidFill>
              </a:rPr>
              <a:t>11.4.2 Homogeneous Database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9065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All sites have identical </a:t>
            </a:r>
            <a:r>
              <a:rPr lang="en-US" sz="2800" dirty="0" err="1">
                <a:solidFill>
                  <a:srgbClr val="222222"/>
                </a:solidFill>
                <a:latin typeface="arial" panose="020B0604020202020204" pitchFamily="34" charset="0"/>
              </a:rPr>
              <a:t>dbms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software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The operating system, database management system and the data structures used – all are same at all sites.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Agree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to cooperate in processing user requests.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Each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site surrender part of anatomy as a right to change schema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It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appears as a single system for users.</a:t>
            </a:r>
            <a:endParaRPr lang="en-US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24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>
                <a:solidFill>
                  <a:schemeClr val="bg1"/>
                </a:solidFill>
              </a:rPr>
              <a:t>11.4.3 </a:t>
            </a:r>
            <a:r>
              <a:rPr lang="en-US" sz="2800" dirty="0" smtClean="0">
                <a:solidFill>
                  <a:schemeClr val="bg1"/>
                </a:solidFill>
              </a:rPr>
              <a:t>Data </a:t>
            </a:r>
            <a:r>
              <a:rPr lang="en-US" sz="2800" dirty="0">
                <a:solidFill>
                  <a:schemeClr val="bg1"/>
                </a:solidFill>
              </a:rPr>
              <a:t>replication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90657"/>
          </a:xfrm>
        </p:spPr>
        <p:txBody>
          <a:bodyPr>
            <a:normAutofit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Approach to store distributed data in which system contains multiple copies of data in different sites.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Full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replication indicates storing at all sites,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Fully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redundant indicates each site having entire copy of database.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It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ensures availability ,parallelism and reduced data transfer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Update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cost is high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Difficult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for concurrency control</a:t>
            </a:r>
            <a:endParaRPr lang="en-US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65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>
                <a:solidFill>
                  <a:schemeClr val="bg1"/>
                </a:solidFill>
              </a:rPr>
              <a:t>11.4.4 </a:t>
            </a:r>
            <a:r>
              <a:rPr lang="en-US" sz="2800" dirty="0" smtClean="0">
                <a:solidFill>
                  <a:schemeClr val="bg1"/>
                </a:solidFill>
              </a:rPr>
              <a:t>Data </a:t>
            </a:r>
            <a:r>
              <a:rPr lang="en-US" sz="2800" dirty="0">
                <a:solidFill>
                  <a:schemeClr val="bg1"/>
                </a:solidFill>
              </a:rPr>
              <a:t>fragmentation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90657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Approach to store distributed in which relation r is divided.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Fragments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with sufficient information to reconstruct r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Each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schema should have common candidate key to ensure lossless join.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In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horizontal each tuple of r is assigned to one or more fragments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It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allows parallel processing and easy access.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In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vertical schema is split into several smaller schemes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It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allows parallel processing on relation</a:t>
            </a:r>
            <a:endParaRPr lang="en-US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08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bg1"/>
                </a:solidFill>
              </a:rPr>
              <a:t>11.5 Data Warehouse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9065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Data warehouse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is a single ,complete and consistent data store obtained from a variety of sources made available to end users in the understandable form and used as a business context.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It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is subject oriented, integrated , time-variant and non-volatile collection of data to support decision making process.</a:t>
            </a:r>
            <a:endParaRPr lang="en-US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27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>
                <a:solidFill>
                  <a:schemeClr val="bg1"/>
                </a:solidFill>
              </a:rPr>
              <a:t>11.5 Data Warehouse</a:t>
            </a:r>
          </a:p>
        </p:txBody>
      </p:sp>
      <p:pic>
        <p:nvPicPr>
          <p:cNvPr id="1026" name="Picture 2" descr="Data Warehouse - Last Night Stud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529" y="2053843"/>
            <a:ext cx="6272329" cy="3406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574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>
                <a:solidFill>
                  <a:schemeClr val="bg1"/>
                </a:solidFill>
              </a:rPr>
              <a:t>11.5.1 Need for Data Warehouse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90657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Business 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</a:rPr>
              <a:t>User: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Business users require a data warehouse to view summarized data from the past. Since these people are non-technical, the data may be presented to them in an elementary form.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Store 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</a:rPr>
              <a:t>historical data: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Data Warehouse is required to store the time variable data from the past. This input is made to be used for various purposes.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Make 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</a:rPr>
              <a:t>strategic decisions: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Some strategies may be depending upon the data in the data warehouse. So, data warehouse contributes to making strategic decisions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en-US" sz="28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9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>
                <a:solidFill>
                  <a:schemeClr val="bg1"/>
                </a:solidFill>
              </a:rPr>
              <a:t>11.5.1 Need for Data Warehouse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9065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For 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</a:rPr>
              <a:t>data consistency and quality: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Bringing the data from different sources at a commonplace, the user can effectively undertake to bring the uniformity and consistency in data.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High 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</a:rPr>
              <a:t>response time: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Data warehouse has to be ready for somewhat unexpected loads and types of queries, which demands a significant degree of flexibility and quick response time.</a:t>
            </a:r>
            <a:endParaRPr lang="en-US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914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buClr>
                <a:schemeClr val="tx1"/>
              </a:buClr>
              <a:buSzPct val="71000"/>
            </a:pPr>
            <a:r>
              <a:rPr lang="en-US" sz="2800" dirty="0" smtClean="0">
                <a:solidFill>
                  <a:schemeClr val="bg1"/>
                </a:solidFill>
              </a:rPr>
              <a:t>Assignment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9065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Advantages and Disadvantages of </a:t>
            </a:r>
            <a:r>
              <a:rPr lang="en-US" sz="2800" dirty="0" err="1" smtClean="0">
                <a:solidFill>
                  <a:srgbClr val="222222"/>
                </a:solidFill>
                <a:latin typeface="arial" panose="020B0604020202020204" pitchFamily="34" charset="0"/>
              </a:rPr>
              <a:t>OODBMS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Difference between </a:t>
            </a:r>
            <a:r>
              <a:rPr lang="en-US" sz="2800" dirty="0" err="1" smtClean="0">
                <a:solidFill>
                  <a:srgbClr val="222222"/>
                </a:solidFill>
                <a:latin typeface="arial" panose="020B0604020202020204" pitchFamily="34" charset="0"/>
              </a:rPr>
              <a:t>OODBMS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 and </a:t>
            </a:r>
            <a:r>
              <a:rPr lang="en-US" sz="2800" dirty="0" err="1" smtClean="0">
                <a:solidFill>
                  <a:srgbClr val="222222"/>
                </a:solidFill>
                <a:latin typeface="arial" panose="020B0604020202020204" pitchFamily="34" charset="0"/>
              </a:rPr>
              <a:t>ORDBMS</a:t>
            </a:r>
            <a:endParaRPr lang="en-US" sz="28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Advantages of Distributed Database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Distributed v/s Parallel Processing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Advantages and disadvantages of data warehouse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 err="1" smtClean="0">
                <a:solidFill>
                  <a:srgbClr val="222222"/>
                </a:solidFill>
                <a:latin typeface="arial" panose="020B0604020202020204" pitchFamily="34" charset="0"/>
              </a:rPr>
              <a:t>OLAP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v/s </a:t>
            </a:r>
            <a:r>
              <a:rPr lang="en-US" sz="2800" dirty="0" err="1" smtClean="0">
                <a:solidFill>
                  <a:srgbClr val="222222"/>
                </a:solidFill>
                <a:latin typeface="arial" panose="020B0604020202020204" pitchFamily="34" charset="0"/>
              </a:rPr>
              <a:t>OLTP</a:t>
            </a:r>
            <a:endParaRPr lang="en-US" sz="28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endParaRPr lang="en-US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53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258956" y="2644170"/>
            <a:ext cx="8507895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Medium ITC" panose="020B0602030504020804" pitchFamily="34" charset="0"/>
              </a:rPr>
              <a:t>This is the end of the lecture!</a:t>
            </a:r>
          </a:p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Medium ITC" panose="020B0602030504020804" pitchFamily="34" charset="0"/>
              </a:rPr>
              <a:t>I hope you enjoyed it.</a:t>
            </a:r>
          </a:p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Medium ITC" panose="020B0602030504020804" pitchFamily="34" charset="0"/>
              </a:rPr>
              <a:t>Thank You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ras Medium ITC" panose="020B06020305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73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BD02F5E4BC024DA86DFA7D8823C79F" ma:contentTypeVersion="2" ma:contentTypeDescription="Create a new document." ma:contentTypeScope="" ma:versionID="6e895eb2d3355a5bd38350496b6864ca">
  <xsd:schema xmlns:xsd="http://www.w3.org/2001/XMLSchema" xmlns:xs="http://www.w3.org/2001/XMLSchema" xmlns:p="http://schemas.microsoft.com/office/2006/metadata/properties" xmlns:ns2="4f2457a7-20ce-4dfa-a6dc-1acba1606d34" targetNamespace="http://schemas.microsoft.com/office/2006/metadata/properties" ma:root="true" ma:fieldsID="eec91d1fba82f9c905ffb3aa848bfe8c" ns2:_="">
    <xsd:import namespace="4f2457a7-20ce-4dfa-a6dc-1acba1606d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2457a7-20ce-4dfa-a6dc-1acba1606d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AA085C-F54A-4454-A583-FAA093E5874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B854575-B785-45FD-8F15-75A3162CF2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2457a7-20ce-4dfa-a6dc-1acba1606d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6A5CB58-7963-4873-BCC7-C9199920F9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5345</TotalTime>
  <Words>1046</Words>
  <Application>Microsoft Office PowerPoint</Application>
  <PresentationFormat>Widescreen</PresentationFormat>
  <Paragraphs>116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</vt:lpstr>
      <vt:lpstr>Calibri</vt:lpstr>
      <vt:lpstr>Eras Medium ITC</vt:lpstr>
      <vt:lpstr>Trebuchet MS</vt:lpstr>
      <vt:lpstr>Wingdings</vt:lpstr>
      <vt:lpstr>Wingdings 3</vt:lpstr>
      <vt:lpstr>Facet</vt:lpstr>
      <vt:lpstr>Chapter 11 Advanced Database Concepts</vt:lpstr>
      <vt:lpstr>11.1 Object Oriented Model</vt:lpstr>
      <vt:lpstr>11.1 Object Oriented Model</vt:lpstr>
      <vt:lpstr>11.1 Object Oriented Model</vt:lpstr>
      <vt:lpstr>11.2 Object Relational Model</vt:lpstr>
      <vt:lpstr>11.2 Object Relational Model</vt:lpstr>
      <vt:lpstr>11.3 Object Relational Mapping</vt:lpstr>
      <vt:lpstr>Object v/s Relational Model</vt:lpstr>
      <vt:lpstr>11.4 Distributed Database</vt:lpstr>
      <vt:lpstr>11.4.1 Heterogeneous Database</vt:lpstr>
      <vt:lpstr>11.4.2 Homogeneous Database</vt:lpstr>
      <vt:lpstr>11.4.3 Data replication</vt:lpstr>
      <vt:lpstr>11.4.4 Data fragmentation</vt:lpstr>
      <vt:lpstr>11.5 Data Warehouse</vt:lpstr>
      <vt:lpstr>11.5 Data Warehouse</vt:lpstr>
      <vt:lpstr>11.5.1 Need for Data Warehouse</vt:lpstr>
      <vt:lpstr>11.5.1 Need for Data Warehouse</vt:lpstr>
      <vt:lpstr>Assignment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Access Behavior and Impact Analysis on Education and Social Transformation in Dhangadhi Sub-Metropolitan City</dc:title>
  <dc:creator>Ravi Khadka</dc:creator>
  <cp:lastModifiedBy>city</cp:lastModifiedBy>
  <cp:revision>831</cp:revision>
  <dcterms:created xsi:type="dcterms:W3CDTF">2017-09-13T07:21:00Z</dcterms:created>
  <dcterms:modified xsi:type="dcterms:W3CDTF">2021-05-06T02:48:27Z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0x01010065BD02F5E4BC024DA86DFA7D8823C79F</vt:lpwstr>
  </property>
</Properties>
</file>