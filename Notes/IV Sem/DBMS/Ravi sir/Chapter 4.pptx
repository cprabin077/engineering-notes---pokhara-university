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notesMasterIdLst>
    <p:notesMasterId r:id="rId17"/>
  </p:notesMasterIdLst>
  <p:sldIdLst>
    <p:sldId id="257" r:id="rId2"/>
    <p:sldId id="383" r:id="rId3"/>
    <p:sldId id="309" r:id="rId4"/>
    <p:sldId id="481" r:id="rId5"/>
    <p:sldId id="482" r:id="rId6"/>
    <p:sldId id="384" r:id="rId7"/>
    <p:sldId id="483" r:id="rId8"/>
    <p:sldId id="484" r:id="rId9"/>
    <p:sldId id="485" r:id="rId10"/>
    <p:sldId id="486" r:id="rId11"/>
    <p:sldId id="487" r:id="rId12"/>
    <p:sldId id="385" r:id="rId13"/>
    <p:sldId id="488" r:id="rId14"/>
    <p:sldId id="489"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12/3/2020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2143616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2068633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2859892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1369829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246742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1656810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684786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4273169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1852027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4185778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3631561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463282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12/3/2020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12/3/2020</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4 Relational Database Query Languages</a:t>
            </a:r>
          </a:p>
        </p:txBody>
      </p:sp>
      <p:sp>
        <p:nvSpPr>
          <p:cNvPr id="3" name="Subtitle 2"/>
          <p:cNvSpPr>
            <a:spLocks noGrp="1"/>
          </p:cNvSpPr>
          <p:nvPr>
            <p:ph type="subTitle" idx="1"/>
          </p:nvPr>
        </p:nvSpPr>
        <p:spPr>
          <a:xfrm>
            <a:off x="1281567" y="1139688"/>
            <a:ext cx="8094254" cy="4929808"/>
          </a:xfrm>
        </p:spPr>
        <p:txBody>
          <a:bodyPr>
            <a:normAutofit/>
          </a:bodyPr>
          <a:lstStyle/>
          <a:p>
            <a:pPr algn="l">
              <a:buClr>
                <a:schemeClr val="tx1"/>
              </a:buClr>
              <a:buSzPct val="71000"/>
            </a:pPr>
            <a:r>
              <a:rPr lang="en-US" sz="2800" dirty="0">
                <a:solidFill>
                  <a:schemeClr val="tx1"/>
                </a:solidFill>
              </a:rPr>
              <a:t>4.1 SQL-feature of SQL, queries and sub-queries, join operation, set operations and other SQL constructs</a:t>
            </a:r>
          </a:p>
          <a:p>
            <a:pPr algn="l">
              <a:buClr>
                <a:schemeClr val="tx1"/>
              </a:buClr>
              <a:buSzPct val="71000"/>
            </a:pPr>
            <a:r>
              <a:rPr lang="en-US" sz="2800" dirty="0">
                <a:solidFill>
                  <a:schemeClr val="tx1"/>
                </a:solidFill>
              </a:rPr>
              <a:t>4.2 DDL and DML queries in SQL</a:t>
            </a:r>
          </a:p>
          <a:p>
            <a:pPr algn="l">
              <a:buClr>
                <a:schemeClr val="tx1"/>
              </a:buClr>
              <a:buSzPct val="71000"/>
            </a:pPr>
            <a:r>
              <a:rPr lang="en-US" sz="2800" dirty="0">
                <a:solidFill>
                  <a:schemeClr val="tx1"/>
                </a:solidFill>
              </a:rPr>
              <a:t>4.3 Stored Procedures</a:t>
            </a:r>
          </a:p>
          <a:p>
            <a:pPr algn="l">
              <a:buClr>
                <a:schemeClr val="tx1"/>
              </a:buClr>
              <a:buSzPct val="71000"/>
            </a:pPr>
            <a:r>
              <a:rPr lang="en-US" sz="2800" dirty="0">
                <a:solidFill>
                  <a:schemeClr val="tx1"/>
                </a:solidFill>
              </a:rPr>
              <a:t>4.4 QBE</a:t>
            </a:r>
          </a:p>
          <a:p>
            <a:pPr algn="l">
              <a:buClr>
                <a:schemeClr val="tx1"/>
              </a:buClr>
              <a:buSzPct val="71000"/>
            </a:pP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4.1 Introduction to SQL</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SQL was developed in 1970’s in an IBM laboratory “San Jose Research Laboratory” (now the </a:t>
            </a:r>
            <a:r>
              <a:rPr lang="en-US" sz="2800" dirty="0" err="1">
                <a:solidFill>
                  <a:srgbClr val="222222"/>
                </a:solidFill>
                <a:latin typeface="arial" panose="020B0604020202020204" pitchFamily="34" charset="0"/>
              </a:rPr>
              <a:t>Amaden</a:t>
            </a:r>
            <a:r>
              <a:rPr lang="en-US" sz="2800" dirty="0">
                <a:solidFill>
                  <a:srgbClr val="222222"/>
                </a:solidFill>
                <a:latin typeface="arial" panose="020B0604020202020204" pitchFamily="34" charset="0"/>
              </a:rPr>
              <a:t> Research center).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SQL is derived from the SEQUEL one of the database language popular during 1970’s. </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SQL established itself as the standard relational database language. Two standard organization (ANSI) and International standards organization (ISO) currently promote SQL standards to industry.</a:t>
            </a:r>
          </a:p>
          <a:p>
            <a:pPr marL="457200" indent="-457200" algn="just">
              <a:buClr>
                <a:schemeClr val="tx1"/>
              </a:buClr>
              <a:buSzPct val="71000"/>
              <a:buFont typeface="Wingdings" panose="05000000000000000000" pitchFamily="2" charset="2"/>
              <a:buChar char="v"/>
            </a:pPr>
            <a:r>
              <a:rPr lang="en-US" sz="2800" dirty="0">
                <a:solidFill>
                  <a:schemeClr val="tx1"/>
                </a:solidFill>
              </a:rPr>
              <a:t>Structured Query Language is a special-purpose programming language designed for managing data held in a RDBMS.</a:t>
            </a:r>
          </a:p>
        </p:txBody>
      </p:sp>
    </p:spTree>
    <p:extLst>
      <p:ext uri="{BB962C8B-B14F-4D97-AF65-F5344CB8AC3E}">
        <p14:creationId xmlns:p14="http://schemas.microsoft.com/office/powerpoint/2010/main" val="228703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Basic Term and Terminology</a:t>
            </a: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Query: </a:t>
            </a:r>
            <a:r>
              <a:rPr lang="en-US" sz="2800" i="0" dirty="0">
                <a:solidFill>
                  <a:srgbClr val="222222"/>
                </a:solidFill>
                <a:effectLst/>
                <a:latin typeface="arial" panose="020B0604020202020204" pitchFamily="34" charset="0"/>
              </a:rPr>
              <a:t>It is a statement requesting the retrieval of information.</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Query language: </a:t>
            </a:r>
            <a:r>
              <a:rPr lang="en-US" sz="2800" dirty="0">
                <a:solidFill>
                  <a:srgbClr val="222222"/>
                </a:solidFill>
                <a:latin typeface="arial" panose="020B0604020202020204" pitchFamily="34" charset="0"/>
              </a:rPr>
              <a:t>L</a:t>
            </a:r>
            <a:r>
              <a:rPr lang="en-US" sz="2800" i="0" dirty="0">
                <a:solidFill>
                  <a:srgbClr val="222222"/>
                </a:solidFill>
                <a:effectLst/>
                <a:latin typeface="arial" panose="020B0604020202020204" pitchFamily="34" charset="0"/>
              </a:rPr>
              <a:t>anguage through which user request information from database. The two types of query language are:</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Procedural language: User instructs the system to perform sequence of operation on the database to compete the desired result. Example: relational algebra</a:t>
            </a:r>
          </a:p>
          <a:p>
            <a:pPr marL="914389" lvl="1" indent="-457200" algn="just">
              <a:buClr>
                <a:schemeClr val="tx1"/>
              </a:buClr>
              <a:buSzPct val="71000"/>
              <a:buFont typeface="Wingdings" panose="05000000000000000000" pitchFamily="2" charset="2"/>
              <a:buChar char="Ø"/>
            </a:pPr>
            <a:r>
              <a:rPr lang="en-US" sz="2600" i="0" dirty="0">
                <a:solidFill>
                  <a:srgbClr val="222222"/>
                </a:solidFill>
                <a:effectLst/>
                <a:latin typeface="arial" panose="020B0604020202020204" pitchFamily="34" charset="0"/>
              </a:rPr>
              <a:t>Non- procedural language: User describes the desired information without giving a </a:t>
            </a:r>
            <a:r>
              <a:rPr lang="en-US" sz="2800" i="0" dirty="0">
                <a:solidFill>
                  <a:srgbClr val="222222"/>
                </a:solidFill>
                <a:effectLst/>
                <a:latin typeface="arial" panose="020B0604020202020204" pitchFamily="34" charset="0"/>
              </a:rPr>
              <a:t>specific procedure for obtaining that desired information. Examples: SQL</a:t>
            </a:r>
          </a:p>
        </p:txBody>
      </p:sp>
    </p:spTree>
    <p:extLst>
      <p:ext uri="{BB962C8B-B14F-4D97-AF65-F5344CB8AC3E}">
        <p14:creationId xmlns:p14="http://schemas.microsoft.com/office/powerpoint/2010/main" val="2794389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Basic Term and Terminology</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Data-definition language (DDL). </a:t>
            </a:r>
          </a:p>
          <a:p>
            <a:pPr lvl="1" algn="just">
              <a:buClr>
                <a:schemeClr val="tx1"/>
              </a:buClr>
              <a:buSzPct val="71000"/>
            </a:pPr>
            <a:r>
              <a:rPr lang="en-US" sz="2600" i="0" dirty="0">
                <a:solidFill>
                  <a:srgbClr val="222222"/>
                </a:solidFill>
                <a:effectLst/>
                <a:latin typeface="arial" panose="020B0604020202020204" pitchFamily="34" charset="0"/>
              </a:rPr>
              <a:t>The SQL DDL provides commands for defining relation schemas, deleting relations, and modifying relation schemas.</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Data-manipulation language (DML). </a:t>
            </a:r>
          </a:p>
          <a:p>
            <a:pPr lvl="1" algn="just">
              <a:buClr>
                <a:schemeClr val="tx1"/>
              </a:buClr>
              <a:buSzPct val="71000"/>
            </a:pPr>
            <a:r>
              <a:rPr lang="en-US" sz="2600" i="0" dirty="0">
                <a:solidFill>
                  <a:srgbClr val="222222"/>
                </a:solidFill>
                <a:effectLst/>
                <a:latin typeface="arial" panose="020B0604020202020204" pitchFamily="34" charset="0"/>
              </a:rPr>
              <a:t>The SQL DML provides the ability to query information from the database and to insert tuples into, delete tuples from, and modify tuples in the database.</a:t>
            </a:r>
          </a:p>
        </p:txBody>
      </p:sp>
    </p:spTree>
    <p:extLst>
      <p:ext uri="{BB962C8B-B14F-4D97-AF65-F5344CB8AC3E}">
        <p14:creationId xmlns:p14="http://schemas.microsoft.com/office/powerpoint/2010/main" val="3342492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Basic Term and Terminology</a:t>
            </a:r>
          </a:p>
        </p:txBody>
      </p:sp>
      <p:sp>
        <p:nvSpPr>
          <p:cNvPr id="3" name="Subtitle 2"/>
          <p:cNvSpPr>
            <a:spLocks noGrp="1"/>
          </p:cNvSpPr>
          <p:nvPr>
            <p:ph type="subTitle" idx="1"/>
          </p:nvPr>
        </p:nvSpPr>
        <p:spPr>
          <a:xfrm>
            <a:off x="1281567" y="1139687"/>
            <a:ext cx="8094254" cy="4990657"/>
          </a:xfrm>
        </p:spPr>
        <p:txBody>
          <a:bodyPr>
            <a:normAutofit fontScale="70000" lnSpcReduction="20000"/>
          </a:bodyPr>
          <a:lstStyle/>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Integrity. </a:t>
            </a:r>
          </a:p>
          <a:p>
            <a:pPr lvl="1" algn="just">
              <a:buClr>
                <a:schemeClr val="tx1"/>
              </a:buClr>
              <a:buSzPct val="71000"/>
            </a:pPr>
            <a:r>
              <a:rPr lang="en-US" sz="2600" i="0" dirty="0">
                <a:solidFill>
                  <a:schemeClr val="tx1"/>
                </a:solidFill>
                <a:effectLst/>
                <a:latin typeface="arial" panose="020B0604020202020204" pitchFamily="34" charset="0"/>
              </a:rPr>
              <a:t>The SQL DDL includes commands for specifying integrity constraints that the data stored in the database must satisfy. Updates that violate integrity constraints are disallowed.</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View definition. </a:t>
            </a:r>
          </a:p>
          <a:p>
            <a:pPr algn="just">
              <a:buClr>
                <a:schemeClr val="tx1"/>
              </a:buClr>
              <a:buSzPct val="71000"/>
            </a:pPr>
            <a:r>
              <a:rPr lang="en-US" sz="2800" dirty="0">
                <a:solidFill>
                  <a:schemeClr val="tx1"/>
                </a:solidFill>
                <a:latin typeface="arial" panose="020B0604020202020204" pitchFamily="34" charset="0"/>
              </a:rPr>
              <a:t>	</a:t>
            </a:r>
            <a:r>
              <a:rPr lang="en-US" sz="2800" i="0" dirty="0">
                <a:solidFill>
                  <a:schemeClr val="tx1"/>
                </a:solidFill>
                <a:effectLst/>
                <a:latin typeface="arial" panose="020B0604020202020204" pitchFamily="34" charset="0"/>
              </a:rPr>
              <a:t>The SQL DDL includes commands for defining views.</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Transaction control. </a:t>
            </a:r>
          </a:p>
          <a:p>
            <a:pPr lvl="1" algn="just">
              <a:buClr>
                <a:schemeClr val="tx1"/>
              </a:buClr>
              <a:buSzPct val="71000"/>
            </a:pPr>
            <a:r>
              <a:rPr lang="en-US" sz="2600" i="0" dirty="0">
                <a:solidFill>
                  <a:schemeClr val="tx1"/>
                </a:solidFill>
                <a:effectLst/>
                <a:latin typeface="arial" panose="020B0604020202020204" pitchFamily="34" charset="0"/>
              </a:rPr>
              <a:t>SQL includes commands for specifying the beginning and ending of transactions.</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Embedded SQL and dynamic SQL. </a:t>
            </a:r>
          </a:p>
          <a:p>
            <a:pPr lvl="1" algn="just">
              <a:buClr>
                <a:schemeClr val="tx1"/>
              </a:buClr>
              <a:buSzPct val="71000"/>
            </a:pPr>
            <a:r>
              <a:rPr lang="en-US" sz="2600" i="0" dirty="0">
                <a:solidFill>
                  <a:schemeClr val="tx1"/>
                </a:solidFill>
                <a:effectLst/>
                <a:latin typeface="arial" panose="020B0604020202020204" pitchFamily="34" charset="0"/>
              </a:rPr>
              <a:t>Embedded and dynamic SQL define how SQL statements can be embedded within general-purpose programming languages, such as C, C++, and Java.</a:t>
            </a:r>
          </a:p>
          <a:p>
            <a:pPr marL="457200" indent="-457200" algn="just">
              <a:buClr>
                <a:schemeClr val="tx1"/>
              </a:buClr>
              <a:buSzPct val="71000"/>
              <a:buFont typeface="Wingdings" panose="05000000000000000000" pitchFamily="2" charset="2"/>
              <a:buChar char="v"/>
            </a:pPr>
            <a:r>
              <a:rPr lang="en-US" sz="2800" i="0" dirty="0">
                <a:solidFill>
                  <a:srgbClr val="FF0000"/>
                </a:solidFill>
                <a:effectLst/>
                <a:latin typeface="arial" panose="020B0604020202020204" pitchFamily="34" charset="0"/>
              </a:rPr>
              <a:t>Authorization. </a:t>
            </a:r>
          </a:p>
          <a:p>
            <a:pPr lvl="1" algn="just">
              <a:buClr>
                <a:schemeClr val="tx1"/>
              </a:buClr>
              <a:buSzPct val="71000"/>
            </a:pPr>
            <a:r>
              <a:rPr lang="en-US" sz="2600" i="0" dirty="0">
                <a:solidFill>
                  <a:schemeClr val="tx1"/>
                </a:solidFill>
                <a:effectLst/>
                <a:latin typeface="arial" panose="020B0604020202020204" pitchFamily="34" charset="0"/>
              </a:rPr>
              <a:t>The SQL DDL includes commands for specifying access rights to relations and views.</a:t>
            </a:r>
            <a:endParaRPr lang="en-US" sz="2400" i="0" dirty="0">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607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Query language Vs. Formal languages</a:t>
            </a:r>
          </a:p>
        </p:txBody>
      </p:sp>
      <p:sp>
        <p:nvSpPr>
          <p:cNvPr id="3" name="Subtitle 2"/>
          <p:cNvSpPr>
            <a:spLocks noGrp="1"/>
          </p:cNvSpPr>
          <p:nvPr>
            <p:ph type="subTitle" idx="1"/>
          </p:nvPr>
        </p:nvSpPr>
        <p:spPr>
          <a:xfrm>
            <a:off x="1281567" y="1139687"/>
            <a:ext cx="8094254" cy="4990657"/>
          </a:xfrm>
        </p:spPr>
        <p:txBody>
          <a:bodyPr>
            <a:normAutofit fontScale="77500" lnSpcReduction="20000"/>
          </a:bodyPr>
          <a:lstStyle/>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formal languages provides concise notation for representing query. But commercial database system requires more user friendly query language. This is a main reason for why we need query languages, even we have formal languages.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 formal languages form the basis for data manipulation language of DBMS only but DBMS/commercial DBMS also supports data definition capabilities as well as data manipulation capabilities.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SQL is a most popular and powerful query language. It can do much more than just query database. It can define structure of data, modify data in database and allow to specify security constraints.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SQL is a truly non procedural language. It has all features of relational algebra, relational calculus as well as its own powerful features.</a:t>
            </a:r>
            <a:endParaRPr lang="en-US" sz="2600" dirty="0">
              <a:solidFill>
                <a:schemeClr val="tx1"/>
              </a:solidFill>
            </a:endParaRPr>
          </a:p>
        </p:txBody>
      </p:sp>
    </p:spTree>
    <p:extLst>
      <p:ext uri="{BB962C8B-B14F-4D97-AF65-F5344CB8AC3E}">
        <p14:creationId xmlns:p14="http://schemas.microsoft.com/office/powerpoint/2010/main" val="2345705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4.2 Categories of SQL Commands</a:t>
            </a: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SQL commands can be roughly divided into three major categories with regard to their functionality.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Firstly, there are those used to create and maintain the database structure. </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The</a:t>
            </a:r>
            <a:r>
              <a:rPr lang="en-US" sz="2800" dirty="0">
                <a:solidFill>
                  <a:srgbClr val="222222"/>
                </a:solidFill>
                <a:latin typeface="arial" panose="020B0604020202020204" pitchFamily="34" charset="0"/>
              </a:rPr>
              <a:t> </a:t>
            </a:r>
            <a:r>
              <a:rPr lang="en-US" sz="2800" i="0" dirty="0">
                <a:solidFill>
                  <a:srgbClr val="222222"/>
                </a:solidFill>
                <a:effectLst/>
                <a:latin typeface="arial" panose="020B0604020202020204" pitchFamily="34" charset="0"/>
              </a:rPr>
              <a:t>second category includes those commands that manipulate the data in such structures.</a:t>
            </a:r>
          </a:p>
          <a:p>
            <a:pPr marL="457200" indent="-457200" algn="just">
              <a:buClr>
                <a:schemeClr val="tx1"/>
              </a:buClr>
              <a:buSzPct val="71000"/>
              <a:buFont typeface="Wingdings" panose="05000000000000000000" pitchFamily="2" charset="2"/>
              <a:buChar char="v"/>
            </a:pPr>
            <a:r>
              <a:rPr lang="en-US" sz="2800" i="0" dirty="0">
                <a:solidFill>
                  <a:srgbClr val="222222"/>
                </a:solidFill>
                <a:effectLst/>
                <a:latin typeface="arial" panose="020B0604020202020204" pitchFamily="34" charset="0"/>
              </a:rPr>
              <a:t>And, thirdly there are those that control the use of the database. </a:t>
            </a:r>
            <a:endParaRPr lang="en-US" sz="2600" dirty="0">
              <a:solidFill>
                <a:schemeClr val="tx1"/>
              </a:solidFill>
            </a:endParaRPr>
          </a:p>
        </p:txBody>
      </p:sp>
    </p:spTree>
    <p:extLst>
      <p:ext uri="{BB962C8B-B14F-4D97-AF65-F5344CB8AC3E}">
        <p14:creationId xmlns:p14="http://schemas.microsoft.com/office/powerpoint/2010/main" val="1163957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4.2 Categories of SQL Commands</a:t>
            </a: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i="0" dirty="0">
                <a:solidFill>
                  <a:srgbClr val="222222"/>
                </a:solidFill>
                <a:effectLst/>
                <a:latin typeface="arial" panose="020B0604020202020204" pitchFamily="34" charset="0"/>
              </a:rPr>
              <a:t>Types of commands</a:t>
            </a: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Data Definition Language(DDL)</a:t>
            </a:r>
          </a:p>
          <a:p>
            <a:pPr marL="1371577" lvl="2"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Create and Maintain Database</a:t>
            </a:r>
          </a:p>
          <a:p>
            <a:pPr marL="914389" lvl="1" indent="-457200" algn="just">
              <a:buClr>
                <a:schemeClr val="tx1"/>
              </a:buClr>
              <a:buSzPct val="71000"/>
              <a:buFont typeface="Wingdings" panose="05000000000000000000" pitchFamily="2" charset="2"/>
              <a:buChar char="v"/>
            </a:pPr>
            <a:r>
              <a:rPr lang="en-US" sz="2600" i="0" dirty="0">
                <a:solidFill>
                  <a:srgbClr val="222222"/>
                </a:solidFill>
                <a:effectLst/>
                <a:latin typeface="arial" panose="020B0604020202020204" pitchFamily="34" charset="0"/>
              </a:rPr>
              <a:t>Data Manipulation Language(DML)</a:t>
            </a:r>
          </a:p>
          <a:p>
            <a:pPr marL="1371577" lvl="2"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Manipulate data in tables</a:t>
            </a:r>
            <a:endParaRPr lang="en-US" sz="2400" i="0" dirty="0">
              <a:solidFill>
                <a:srgbClr val="222222"/>
              </a:solidFill>
              <a:effectLst/>
              <a:latin typeface="arial" panose="020B0604020202020204" pitchFamily="34" charset="0"/>
            </a:endParaRP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Data Control Language(DCL)</a:t>
            </a:r>
          </a:p>
          <a:p>
            <a:pPr marL="1371577" lvl="2" indent="-457200" algn="just">
              <a:buClr>
                <a:schemeClr val="tx1"/>
              </a:buClr>
              <a:buSzPct val="71000"/>
              <a:buFont typeface="Wingdings" panose="05000000000000000000" pitchFamily="2" charset="2"/>
              <a:buChar char="Ø"/>
            </a:pPr>
            <a:r>
              <a:rPr lang="en-US" sz="2400" dirty="0">
                <a:solidFill>
                  <a:srgbClr val="222222"/>
                </a:solidFill>
                <a:latin typeface="arial" panose="020B0604020202020204" pitchFamily="34" charset="0"/>
              </a:rPr>
              <a:t>Control usage of data</a:t>
            </a:r>
            <a:endParaRPr lang="en-US" sz="2600" dirty="0">
              <a:solidFill>
                <a:srgbClr val="222222"/>
              </a:solidFill>
              <a:latin typeface="arial" panose="020B0604020202020204" pitchFamily="34" charset="0"/>
            </a:endParaRPr>
          </a:p>
          <a:p>
            <a:pPr marL="914389" lvl="1" indent="-457200" algn="just">
              <a:buClr>
                <a:schemeClr val="tx1"/>
              </a:buClr>
              <a:buSzPct val="71000"/>
              <a:buFont typeface="Wingdings" panose="05000000000000000000" pitchFamily="2" charset="2"/>
              <a:buChar char="v"/>
            </a:pPr>
            <a:r>
              <a:rPr lang="en-US" sz="2600" dirty="0">
                <a:solidFill>
                  <a:srgbClr val="222222"/>
                </a:solidFill>
                <a:latin typeface="arial" panose="020B0604020202020204" pitchFamily="34" charset="0"/>
              </a:rPr>
              <a:t>Transaction Control Language(TCL)</a:t>
            </a:r>
          </a:p>
          <a:p>
            <a:pPr marL="1371577" lvl="2" indent="-457200" algn="just">
              <a:buClr>
                <a:schemeClr val="tx1"/>
              </a:buClr>
              <a:buSzPct val="71000"/>
              <a:buFont typeface="Wingdings" panose="05000000000000000000" pitchFamily="2" charset="2"/>
              <a:buChar char="Ø"/>
            </a:pPr>
            <a:r>
              <a:rPr lang="en-US" sz="2400" i="0" dirty="0">
                <a:solidFill>
                  <a:srgbClr val="222222"/>
                </a:solidFill>
                <a:effectLst/>
                <a:latin typeface="arial" panose="020B0604020202020204" pitchFamily="34" charset="0"/>
              </a:rPr>
              <a:t>Control the transaction</a:t>
            </a:r>
          </a:p>
          <a:p>
            <a:pPr marL="457200" indent="-457200" algn="just">
              <a:buClr>
                <a:schemeClr val="tx1"/>
              </a:buClr>
              <a:buSzPct val="71000"/>
              <a:buFont typeface="Wingdings" panose="05000000000000000000" pitchFamily="2" charset="2"/>
              <a:buChar char="v"/>
            </a:pPr>
            <a:endParaRPr lang="en-US" sz="2600" dirty="0">
              <a:solidFill>
                <a:schemeClr val="tx1"/>
              </a:solidFill>
            </a:endParaRPr>
          </a:p>
        </p:txBody>
      </p:sp>
    </p:spTree>
    <p:extLst>
      <p:ext uri="{BB962C8B-B14F-4D97-AF65-F5344CB8AC3E}">
        <p14:creationId xmlns:p14="http://schemas.microsoft.com/office/powerpoint/2010/main" val="3262296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4.2 Categories of SQL Commands</a:t>
            </a:r>
          </a:p>
        </p:txBody>
      </p:sp>
      <p:sp>
        <p:nvSpPr>
          <p:cNvPr id="3" name="Subtitle 2"/>
          <p:cNvSpPr>
            <a:spLocks noGrp="1"/>
          </p:cNvSpPr>
          <p:nvPr>
            <p:ph type="subTitle" idx="1"/>
          </p:nvPr>
        </p:nvSpPr>
        <p:spPr>
          <a:xfrm>
            <a:off x="1281566" y="1139687"/>
            <a:ext cx="8678359" cy="4990657"/>
          </a:xfrm>
        </p:spPr>
        <p:txBody>
          <a:bodyPr>
            <a:normAutofit/>
          </a:bodyPr>
          <a:lstStyle/>
          <a:p>
            <a:pPr algn="just">
              <a:buClr>
                <a:schemeClr val="tx1"/>
              </a:buClr>
              <a:buSzPct val="71000"/>
            </a:pPr>
            <a:r>
              <a:rPr lang="en-US" sz="2600" dirty="0">
                <a:solidFill>
                  <a:srgbClr val="222222"/>
                </a:solidFill>
                <a:latin typeface="arial" panose="020B0604020202020204" pitchFamily="34" charset="0"/>
              </a:rPr>
              <a:t>Data Definition Language(DDL)</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Create : create database and tables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Alter : modify design of table in database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Drop : deletes database or a table in the database</a:t>
            </a:r>
          </a:p>
        </p:txBody>
      </p:sp>
    </p:spTree>
    <p:extLst>
      <p:ext uri="{BB962C8B-B14F-4D97-AF65-F5344CB8AC3E}">
        <p14:creationId xmlns:p14="http://schemas.microsoft.com/office/powerpoint/2010/main" val="2388313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4.2 Categories of SQL Commands</a:t>
            </a:r>
          </a:p>
        </p:txBody>
      </p:sp>
      <p:sp>
        <p:nvSpPr>
          <p:cNvPr id="3" name="Subtitle 2"/>
          <p:cNvSpPr>
            <a:spLocks noGrp="1"/>
          </p:cNvSpPr>
          <p:nvPr>
            <p:ph type="subTitle" idx="1"/>
          </p:nvPr>
        </p:nvSpPr>
        <p:spPr>
          <a:xfrm>
            <a:off x="1281566" y="1139687"/>
            <a:ext cx="8678359" cy="4990657"/>
          </a:xfrm>
        </p:spPr>
        <p:txBody>
          <a:bodyPr>
            <a:normAutofit/>
          </a:bodyPr>
          <a:lstStyle/>
          <a:p>
            <a:pPr algn="just">
              <a:buClr>
                <a:schemeClr val="tx1"/>
              </a:buClr>
              <a:buSzPct val="71000"/>
            </a:pPr>
            <a:r>
              <a:rPr lang="en-US" sz="2600" dirty="0">
                <a:solidFill>
                  <a:srgbClr val="222222"/>
                </a:solidFill>
                <a:latin typeface="arial" panose="020B0604020202020204" pitchFamily="34" charset="0"/>
              </a:rPr>
              <a:t>Data Manipulation Language(DML)</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Insert : save data in tables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Select : retrieve data from tables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Update: modify data in tables</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Delete : deletes data from tables</a:t>
            </a:r>
          </a:p>
        </p:txBody>
      </p:sp>
    </p:spTree>
    <p:extLst>
      <p:ext uri="{BB962C8B-B14F-4D97-AF65-F5344CB8AC3E}">
        <p14:creationId xmlns:p14="http://schemas.microsoft.com/office/powerpoint/2010/main" val="1071762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4.2 Categories of SQL Commands</a:t>
            </a:r>
          </a:p>
        </p:txBody>
      </p:sp>
      <p:sp>
        <p:nvSpPr>
          <p:cNvPr id="3" name="Subtitle 2"/>
          <p:cNvSpPr>
            <a:spLocks noGrp="1"/>
          </p:cNvSpPr>
          <p:nvPr>
            <p:ph type="subTitle" idx="1"/>
          </p:nvPr>
        </p:nvSpPr>
        <p:spPr>
          <a:xfrm>
            <a:off x="1281566" y="1139687"/>
            <a:ext cx="8678359" cy="4990657"/>
          </a:xfrm>
        </p:spPr>
        <p:txBody>
          <a:bodyPr>
            <a:normAutofit/>
          </a:bodyPr>
          <a:lstStyle/>
          <a:p>
            <a:pPr algn="just">
              <a:buClr>
                <a:schemeClr val="tx1"/>
              </a:buClr>
              <a:buSzPct val="71000"/>
            </a:pPr>
            <a:r>
              <a:rPr lang="en-US" sz="2600" dirty="0">
                <a:solidFill>
                  <a:srgbClr val="222222"/>
                </a:solidFill>
                <a:latin typeface="arial" panose="020B0604020202020204" pitchFamily="34" charset="0"/>
              </a:rPr>
              <a:t>Data Control Language(DCL)</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Grant: Give privileges to user to access data </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Revoke : Cancel the privileges given</a:t>
            </a:r>
          </a:p>
          <a:p>
            <a:pPr lvl="1" algn="just">
              <a:buClr>
                <a:schemeClr val="tx1"/>
              </a:buClr>
              <a:buSzPct val="71000"/>
            </a:pPr>
            <a:endParaRPr lang="en-US" sz="2600" dirty="0">
              <a:solidFill>
                <a:srgbClr val="222222"/>
              </a:solidFill>
              <a:latin typeface="arial" panose="020B0604020202020204" pitchFamily="34" charset="0"/>
            </a:endParaRPr>
          </a:p>
          <a:p>
            <a:pPr algn="just">
              <a:buClr>
                <a:schemeClr val="tx1"/>
              </a:buClr>
              <a:buSzPct val="71000"/>
            </a:pPr>
            <a:r>
              <a:rPr lang="en-US" sz="2600" dirty="0">
                <a:solidFill>
                  <a:srgbClr val="222222"/>
                </a:solidFill>
                <a:latin typeface="arial" panose="020B0604020202020204" pitchFamily="34" charset="0"/>
              </a:rPr>
              <a:t>Transaction Control Language(TCL)</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Commit : Saves the changes made to database</a:t>
            </a:r>
          </a:p>
          <a:p>
            <a:pPr marL="914389" lvl="1" indent="-457200" algn="just">
              <a:buClr>
                <a:schemeClr val="tx1"/>
              </a:buClr>
              <a:buSzPct val="71000"/>
              <a:buFont typeface="Wingdings" panose="05000000000000000000" pitchFamily="2" charset="2"/>
              <a:buChar char="Ø"/>
            </a:pPr>
            <a:r>
              <a:rPr lang="en-US" sz="2600" dirty="0">
                <a:solidFill>
                  <a:srgbClr val="222222"/>
                </a:solidFill>
                <a:latin typeface="arial" panose="020B0604020202020204" pitchFamily="34" charset="0"/>
              </a:rPr>
              <a:t>Rollback : Undo changes to database from the 				  current state database to last commit 				  state</a:t>
            </a:r>
          </a:p>
        </p:txBody>
      </p:sp>
    </p:spTree>
    <p:extLst>
      <p:ext uri="{BB962C8B-B14F-4D97-AF65-F5344CB8AC3E}">
        <p14:creationId xmlns:p14="http://schemas.microsoft.com/office/powerpoint/2010/main" val="522758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SQL RDBMS Concepts</a:t>
            </a:r>
          </a:p>
        </p:txBody>
      </p:sp>
      <p:pic>
        <p:nvPicPr>
          <p:cNvPr id="6" name="Picture 5">
            <a:extLst>
              <a:ext uri="{FF2B5EF4-FFF2-40B4-BE49-F238E27FC236}">
                <a16:creationId xmlns:a16="http://schemas.microsoft.com/office/drawing/2014/main" id="{FC6B0BB2-AF2A-41F1-96C6-CB33F9F55341}"/>
              </a:ext>
            </a:extLst>
          </p:cNvPr>
          <p:cNvPicPr>
            <a:picLocks noChangeAspect="1"/>
          </p:cNvPicPr>
          <p:nvPr/>
        </p:nvPicPr>
        <p:blipFill>
          <a:blip r:embed="rId3"/>
          <a:stretch>
            <a:fillRect/>
          </a:stretch>
        </p:blipFill>
        <p:spPr>
          <a:xfrm>
            <a:off x="1281568" y="1120213"/>
            <a:ext cx="8094254" cy="5095875"/>
          </a:xfrm>
          <a:prstGeom prst="rect">
            <a:avLst/>
          </a:prstGeom>
        </p:spPr>
      </p:pic>
    </p:spTree>
    <p:extLst>
      <p:ext uri="{BB962C8B-B14F-4D97-AF65-F5344CB8AC3E}">
        <p14:creationId xmlns:p14="http://schemas.microsoft.com/office/powerpoint/2010/main" val="1090536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SQL RDBMS Concepts</a:t>
            </a:r>
          </a:p>
        </p:txBody>
      </p:sp>
      <p:pic>
        <p:nvPicPr>
          <p:cNvPr id="3" name="Picture 2">
            <a:extLst>
              <a:ext uri="{FF2B5EF4-FFF2-40B4-BE49-F238E27FC236}">
                <a16:creationId xmlns:a16="http://schemas.microsoft.com/office/drawing/2014/main" id="{C7256EA5-6652-49B5-B4A6-5B362CF7ADDC}"/>
              </a:ext>
            </a:extLst>
          </p:cNvPr>
          <p:cNvPicPr>
            <a:picLocks noChangeAspect="1"/>
          </p:cNvPicPr>
          <p:nvPr/>
        </p:nvPicPr>
        <p:blipFill>
          <a:blip r:embed="rId3"/>
          <a:stretch>
            <a:fillRect/>
          </a:stretch>
        </p:blipFill>
        <p:spPr>
          <a:xfrm>
            <a:off x="1281568" y="1085814"/>
            <a:ext cx="8094254" cy="5207464"/>
          </a:xfrm>
          <a:prstGeom prst="rect">
            <a:avLst/>
          </a:prstGeom>
        </p:spPr>
      </p:pic>
    </p:spTree>
    <p:extLst>
      <p:ext uri="{BB962C8B-B14F-4D97-AF65-F5344CB8AC3E}">
        <p14:creationId xmlns:p14="http://schemas.microsoft.com/office/powerpoint/2010/main" val="3823962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SQL RDBMS Concepts</a:t>
            </a:r>
          </a:p>
        </p:txBody>
      </p:sp>
      <p:pic>
        <p:nvPicPr>
          <p:cNvPr id="5" name="Picture 4">
            <a:extLst>
              <a:ext uri="{FF2B5EF4-FFF2-40B4-BE49-F238E27FC236}">
                <a16:creationId xmlns:a16="http://schemas.microsoft.com/office/drawing/2014/main" id="{19FB4EC7-05EB-4DE6-A920-E74666FF5F13}"/>
              </a:ext>
            </a:extLst>
          </p:cNvPr>
          <p:cNvPicPr>
            <a:picLocks noChangeAspect="1"/>
          </p:cNvPicPr>
          <p:nvPr/>
        </p:nvPicPr>
        <p:blipFill>
          <a:blip r:embed="rId3"/>
          <a:stretch>
            <a:fillRect/>
          </a:stretch>
        </p:blipFill>
        <p:spPr>
          <a:xfrm>
            <a:off x="1281568" y="1119187"/>
            <a:ext cx="8094254" cy="5288426"/>
          </a:xfrm>
          <a:prstGeom prst="rect">
            <a:avLst/>
          </a:prstGeom>
        </p:spPr>
      </p:pic>
    </p:spTree>
    <p:extLst>
      <p:ext uri="{BB962C8B-B14F-4D97-AF65-F5344CB8AC3E}">
        <p14:creationId xmlns:p14="http://schemas.microsoft.com/office/powerpoint/2010/main" val="497981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3082</TotalTime>
  <Words>801</Words>
  <Application>Microsoft Office PowerPoint</Application>
  <PresentationFormat>Widescreen</PresentationFormat>
  <Paragraphs>91</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vt:lpstr>
      <vt:lpstr>Calibri</vt:lpstr>
      <vt:lpstr>Eras Medium ITC</vt:lpstr>
      <vt:lpstr>Trebuchet MS</vt:lpstr>
      <vt:lpstr>Wingdings</vt:lpstr>
      <vt:lpstr>Wingdings 3</vt:lpstr>
      <vt:lpstr>Facet</vt:lpstr>
      <vt:lpstr>Chapter 4 Relational Database Query Languages</vt:lpstr>
      <vt:lpstr>4.1 Introduction to SQL</vt:lpstr>
      <vt:lpstr>Basic Term and Terminology</vt:lpstr>
      <vt:lpstr>Basic Term and Terminology</vt:lpstr>
      <vt:lpstr>Basic Term and Terminology</vt:lpstr>
      <vt:lpstr>Query language Vs. Formal languages</vt:lpstr>
      <vt:lpstr>4.2 Categories of SQL Commands</vt:lpstr>
      <vt:lpstr>4.2 Categories of SQL Commands</vt:lpstr>
      <vt:lpstr>4.2 Categories of SQL Commands</vt:lpstr>
      <vt:lpstr>4.2 Categories of SQL Commands</vt:lpstr>
      <vt:lpstr>4.2 Categories of SQL Commands</vt:lpstr>
      <vt:lpstr>SQL RDBMS Concepts</vt:lpstr>
      <vt:lpstr>SQL RDBMS Concepts</vt:lpstr>
      <vt:lpstr>SQL RDBMS Concepts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Ravi Khadka</cp:lastModifiedBy>
  <cp:revision>656</cp:revision>
  <dcterms:created xsi:type="dcterms:W3CDTF">2017-09-13T07:21:00Z</dcterms:created>
  <dcterms:modified xsi:type="dcterms:W3CDTF">2020-12-03T04:14:12Z</dcterms:modified>
</cp:coreProperties>
</file>