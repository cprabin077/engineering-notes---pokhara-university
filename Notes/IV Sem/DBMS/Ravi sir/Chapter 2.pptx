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78"/>
  </p:notesMasterIdLst>
  <p:sldIdLst>
    <p:sldId id="257" r:id="rId2"/>
    <p:sldId id="307" r:id="rId3"/>
    <p:sldId id="277" r:id="rId4"/>
    <p:sldId id="308" r:id="rId5"/>
    <p:sldId id="309" r:id="rId6"/>
    <p:sldId id="310" r:id="rId7"/>
    <p:sldId id="311" r:id="rId8"/>
    <p:sldId id="315" r:id="rId9"/>
    <p:sldId id="312" r:id="rId10"/>
    <p:sldId id="313" r:id="rId11"/>
    <p:sldId id="314" r:id="rId12"/>
    <p:sldId id="316" r:id="rId13"/>
    <p:sldId id="317" r:id="rId14"/>
    <p:sldId id="318" r:id="rId15"/>
    <p:sldId id="319" r:id="rId16"/>
    <p:sldId id="321" r:id="rId17"/>
    <p:sldId id="322" r:id="rId18"/>
    <p:sldId id="324" r:id="rId19"/>
    <p:sldId id="323" r:id="rId20"/>
    <p:sldId id="325" r:id="rId21"/>
    <p:sldId id="326" r:id="rId22"/>
    <p:sldId id="345" r:id="rId23"/>
    <p:sldId id="327" r:id="rId24"/>
    <p:sldId id="328" r:id="rId25"/>
    <p:sldId id="329" r:id="rId26"/>
    <p:sldId id="330" r:id="rId27"/>
    <p:sldId id="331" r:id="rId28"/>
    <p:sldId id="332" r:id="rId29"/>
    <p:sldId id="333" r:id="rId30"/>
    <p:sldId id="334" r:id="rId31"/>
    <p:sldId id="335" r:id="rId32"/>
    <p:sldId id="336" r:id="rId33"/>
    <p:sldId id="337" r:id="rId34"/>
    <p:sldId id="338" r:id="rId35"/>
    <p:sldId id="339" r:id="rId36"/>
    <p:sldId id="346" r:id="rId37"/>
    <p:sldId id="340" r:id="rId38"/>
    <p:sldId id="341" r:id="rId39"/>
    <p:sldId id="342" r:id="rId40"/>
    <p:sldId id="343" r:id="rId41"/>
    <p:sldId id="347" r:id="rId42"/>
    <p:sldId id="348" r:id="rId43"/>
    <p:sldId id="349" r:id="rId44"/>
    <p:sldId id="350" r:id="rId45"/>
    <p:sldId id="351" r:id="rId46"/>
    <p:sldId id="353" r:id="rId47"/>
    <p:sldId id="354" r:id="rId48"/>
    <p:sldId id="355" r:id="rId49"/>
    <p:sldId id="357" r:id="rId50"/>
    <p:sldId id="356" r:id="rId51"/>
    <p:sldId id="352" r:id="rId52"/>
    <p:sldId id="358" r:id="rId53"/>
    <p:sldId id="368" r:id="rId54"/>
    <p:sldId id="359" r:id="rId55"/>
    <p:sldId id="360" r:id="rId56"/>
    <p:sldId id="361" r:id="rId57"/>
    <p:sldId id="362" r:id="rId58"/>
    <p:sldId id="363" r:id="rId59"/>
    <p:sldId id="364" r:id="rId60"/>
    <p:sldId id="365" r:id="rId61"/>
    <p:sldId id="367" r:id="rId62"/>
    <p:sldId id="369" r:id="rId63"/>
    <p:sldId id="370" r:id="rId64"/>
    <p:sldId id="372" r:id="rId65"/>
    <p:sldId id="371" r:id="rId66"/>
    <p:sldId id="373" r:id="rId67"/>
    <p:sldId id="374" r:id="rId68"/>
    <p:sldId id="375" r:id="rId69"/>
    <p:sldId id="376" r:id="rId70"/>
    <p:sldId id="377" r:id="rId71"/>
    <p:sldId id="378" r:id="rId72"/>
    <p:sldId id="380" r:id="rId73"/>
    <p:sldId id="379" r:id="rId74"/>
    <p:sldId id="381" r:id="rId75"/>
    <p:sldId id="382" r:id="rId76"/>
    <p:sldId id="275"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10/10/2020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1018164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a:t>
            </a:fld>
            <a:endParaRPr lang="en-US"/>
          </a:p>
        </p:txBody>
      </p:sp>
    </p:spTree>
    <p:extLst>
      <p:ext uri="{BB962C8B-B14F-4D97-AF65-F5344CB8AC3E}">
        <p14:creationId xmlns:p14="http://schemas.microsoft.com/office/powerpoint/2010/main" val="2057081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892815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a:t>
            </a:fld>
            <a:endParaRPr lang="en-US"/>
          </a:p>
        </p:txBody>
      </p:sp>
    </p:spTree>
    <p:extLst>
      <p:ext uri="{BB962C8B-B14F-4D97-AF65-F5344CB8AC3E}">
        <p14:creationId xmlns:p14="http://schemas.microsoft.com/office/powerpoint/2010/main" val="2143616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1238890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a:t>
            </a:fld>
            <a:endParaRPr lang="en-US"/>
          </a:p>
        </p:txBody>
      </p:sp>
    </p:spTree>
    <p:extLst>
      <p:ext uri="{BB962C8B-B14F-4D97-AF65-F5344CB8AC3E}">
        <p14:creationId xmlns:p14="http://schemas.microsoft.com/office/powerpoint/2010/main" val="3450829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2878335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1556551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1876355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22477617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570295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2728333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930460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3742487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16</a:t>
            </a:fld>
            <a:endParaRPr lang="en-US"/>
          </a:p>
        </p:txBody>
      </p:sp>
    </p:spTree>
    <p:extLst>
      <p:ext uri="{BB962C8B-B14F-4D97-AF65-F5344CB8AC3E}">
        <p14:creationId xmlns:p14="http://schemas.microsoft.com/office/powerpoint/2010/main" val="17587704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17</a:t>
            </a:fld>
            <a:endParaRPr lang="en-US"/>
          </a:p>
        </p:txBody>
      </p:sp>
    </p:spTree>
    <p:extLst>
      <p:ext uri="{BB962C8B-B14F-4D97-AF65-F5344CB8AC3E}">
        <p14:creationId xmlns:p14="http://schemas.microsoft.com/office/powerpoint/2010/main" val="246255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18</a:t>
            </a:fld>
            <a:endParaRPr lang="en-US"/>
          </a:p>
        </p:txBody>
      </p:sp>
    </p:spTree>
    <p:extLst>
      <p:ext uri="{BB962C8B-B14F-4D97-AF65-F5344CB8AC3E}">
        <p14:creationId xmlns:p14="http://schemas.microsoft.com/office/powerpoint/2010/main" val="8662992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19</a:t>
            </a:fld>
            <a:endParaRPr lang="en-US"/>
          </a:p>
        </p:txBody>
      </p:sp>
    </p:spTree>
    <p:extLst>
      <p:ext uri="{BB962C8B-B14F-4D97-AF65-F5344CB8AC3E}">
        <p14:creationId xmlns:p14="http://schemas.microsoft.com/office/powerpoint/2010/main" val="870170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20</a:t>
            </a:fld>
            <a:endParaRPr lang="en-US"/>
          </a:p>
        </p:txBody>
      </p:sp>
    </p:spTree>
    <p:extLst>
      <p:ext uri="{BB962C8B-B14F-4D97-AF65-F5344CB8AC3E}">
        <p14:creationId xmlns:p14="http://schemas.microsoft.com/office/powerpoint/2010/main" val="9346204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21</a:t>
            </a:fld>
            <a:endParaRPr lang="en-US"/>
          </a:p>
        </p:txBody>
      </p:sp>
    </p:spTree>
    <p:extLst>
      <p:ext uri="{BB962C8B-B14F-4D97-AF65-F5344CB8AC3E}">
        <p14:creationId xmlns:p14="http://schemas.microsoft.com/office/powerpoint/2010/main" val="12838729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22</a:t>
            </a:fld>
            <a:endParaRPr lang="en-US"/>
          </a:p>
        </p:txBody>
      </p:sp>
    </p:spTree>
    <p:extLst>
      <p:ext uri="{BB962C8B-B14F-4D97-AF65-F5344CB8AC3E}">
        <p14:creationId xmlns:p14="http://schemas.microsoft.com/office/powerpoint/2010/main" val="24282661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23</a:t>
            </a:fld>
            <a:endParaRPr lang="en-US"/>
          </a:p>
        </p:txBody>
      </p:sp>
    </p:spTree>
    <p:extLst>
      <p:ext uri="{BB962C8B-B14F-4D97-AF65-F5344CB8AC3E}">
        <p14:creationId xmlns:p14="http://schemas.microsoft.com/office/powerpoint/2010/main" val="35695546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24</a:t>
            </a:fld>
            <a:endParaRPr lang="en-US"/>
          </a:p>
        </p:txBody>
      </p:sp>
    </p:spTree>
    <p:extLst>
      <p:ext uri="{BB962C8B-B14F-4D97-AF65-F5344CB8AC3E}">
        <p14:creationId xmlns:p14="http://schemas.microsoft.com/office/powerpoint/2010/main" val="25693805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25</a:t>
            </a:fld>
            <a:endParaRPr lang="en-US"/>
          </a:p>
        </p:txBody>
      </p:sp>
    </p:spTree>
    <p:extLst>
      <p:ext uri="{BB962C8B-B14F-4D97-AF65-F5344CB8AC3E}">
        <p14:creationId xmlns:p14="http://schemas.microsoft.com/office/powerpoint/2010/main" val="35046770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26</a:t>
            </a:fld>
            <a:endParaRPr lang="en-US"/>
          </a:p>
        </p:txBody>
      </p:sp>
    </p:spTree>
    <p:extLst>
      <p:ext uri="{BB962C8B-B14F-4D97-AF65-F5344CB8AC3E}">
        <p14:creationId xmlns:p14="http://schemas.microsoft.com/office/powerpoint/2010/main" val="39674095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27</a:t>
            </a:fld>
            <a:endParaRPr lang="en-US"/>
          </a:p>
        </p:txBody>
      </p:sp>
    </p:spTree>
    <p:extLst>
      <p:ext uri="{BB962C8B-B14F-4D97-AF65-F5344CB8AC3E}">
        <p14:creationId xmlns:p14="http://schemas.microsoft.com/office/powerpoint/2010/main" val="3884249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28</a:t>
            </a:fld>
            <a:endParaRPr lang="en-US"/>
          </a:p>
        </p:txBody>
      </p:sp>
    </p:spTree>
    <p:extLst>
      <p:ext uri="{BB962C8B-B14F-4D97-AF65-F5344CB8AC3E}">
        <p14:creationId xmlns:p14="http://schemas.microsoft.com/office/powerpoint/2010/main" val="15394982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29</a:t>
            </a:fld>
            <a:endParaRPr lang="en-US"/>
          </a:p>
        </p:txBody>
      </p:sp>
    </p:spTree>
    <p:extLst>
      <p:ext uri="{BB962C8B-B14F-4D97-AF65-F5344CB8AC3E}">
        <p14:creationId xmlns:p14="http://schemas.microsoft.com/office/powerpoint/2010/main" val="16305431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30</a:t>
            </a:fld>
            <a:endParaRPr lang="en-US"/>
          </a:p>
        </p:txBody>
      </p:sp>
    </p:spTree>
    <p:extLst>
      <p:ext uri="{BB962C8B-B14F-4D97-AF65-F5344CB8AC3E}">
        <p14:creationId xmlns:p14="http://schemas.microsoft.com/office/powerpoint/2010/main" val="753461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31</a:t>
            </a:fld>
            <a:endParaRPr lang="en-US"/>
          </a:p>
        </p:txBody>
      </p:sp>
    </p:spTree>
    <p:extLst>
      <p:ext uri="{BB962C8B-B14F-4D97-AF65-F5344CB8AC3E}">
        <p14:creationId xmlns:p14="http://schemas.microsoft.com/office/powerpoint/2010/main" val="41386781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32</a:t>
            </a:fld>
            <a:endParaRPr lang="en-US"/>
          </a:p>
        </p:txBody>
      </p:sp>
    </p:spTree>
    <p:extLst>
      <p:ext uri="{BB962C8B-B14F-4D97-AF65-F5344CB8AC3E}">
        <p14:creationId xmlns:p14="http://schemas.microsoft.com/office/powerpoint/2010/main" val="5921524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33</a:t>
            </a:fld>
            <a:endParaRPr lang="en-US"/>
          </a:p>
        </p:txBody>
      </p:sp>
    </p:spTree>
    <p:extLst>
      <p:ext uri="{BB962C8B-B14F-4D97-AF65-F5344CB8AC3E}">
        <p14:creationId xmlns:p14="http://schemas.microsoft.com/office/powerpoint/2010/main" val="5122976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34</a:t>
            </a:fld>
            <a:endParaRPr lang="en-US"/>
          </a:p>
        </p:txBody>
      </p:sp>
    </p:spTree>
    <p:extLst>
      <p:ext uri="{BB962C8B-B14F-4D97-AF65-F5344CB8AC3E}">
        <p14:creationId xmlns:p14="http://schemas.microsoft.com/office/powerpoint/2010/main" val="812760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35</a:t>
            </a:fld>
            <a:endParaRPr lang="en-US"/>
          </a:p>
        </p:txBody>
      </p:sp>
    </p:spTree>
    <p:extLst>
      <p:ext uri="{BB962C8B-B14F-4D97-AF65-F5344CB8AC3E}">
        <p14:creationId xmlns:p14="http://schemas.microsoft.com/office/powerpoint/2010/main" val="17171017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36</a:t>
            </a:fld>
            <a:endParaRPr lang="en-US"/>
          </a:p>
        </p:txBody>
      </p:sp>
    </p:spTree>
    <p:extLst>
      <p:ext uri="{BB962C8B-B14F-4D97-AF65-F5344CB8AC3E}">
        <p14:creationId xmlns:p14="http://schemas.microsoft.com/office/powerpoint/2010/main" val="40647311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37</a:t>
            </a:fld>
            <a:endParaRPr lang="en-US"/>
          </a:p>
        </p:txBody>
      </p:sp>
    </p:spTree>
    <p:extLst>
      <p:ext uri="{BB962C8B-B14F-4D97-AF65-F5344CB8AC3E}">
        <p14:creationId xmlns:p14="http://schemas.microsoft.com/office/powerpoint/2010/main" val="35257967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38</a:t>
            </a:fld>
            <a:endParaRPr lang="en-US"/>
          </a:p>
        </p:txBody>
      </p:sp>
    </p:spTree>
    <p:extLst>
      <p:ext uri="{BB962C8B-B14F-4D97-AF65-F5344CB8AC3E}">
        <p14:creationId xmlns:p14="http://schemas.microsoft.com/office/powerpoint/2010/main" val="15230262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39</a:t>
            </a:fld>
            <a:endParaRPr lang="en-US"/>
          </a:p>
        </p:txBody>
      </p:sp>
    </p:spTree>
    <p:extLst>
      <p:ext uri="{BB962C8B-B14F-4D97-AF65-F5344CB8AC3E}">
        <p14:creationId xmlns:p14="http://schemas.microsoft.com/office/powerpoint/2010/main" val="4574954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40</a:t>
            </a:fld>
            <a:endParaRPr lang="en-US"/>
          </a:p>
        </p:txBody>
      </p:sp>
    </p:spTree>
    <p:extLst>
      <p:ext uri="{BB962C8B-B14F-4D97-AF65-F5344CB8AC3E}">
        <p14:creationId xmlns:p14="http://schemas.microsoft.com/office/powerpoint/2010/main" val="40910071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41</a:t>
            </a:fld>
            <a:endParaRPr lang="en-US"/>
          </a:p>
        </p:txBody>
      </p:sp>
    </p:spTree>
    <p:extLst>
      <p:ext uri="{BB962C8B-B14F-4D97-AF65-F5344CB8AC3E}">
        <p14:creationId xmlns:p14="http://schemas.microsoft.com/office/powerpoint/2010/main" val="32406409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42</a:t>
            </a:fld>
            <a:endParaRPr lang="en-US"/>
          </a:p>
        </p:txBody>
      </p:sp>
    </p:spTree>
    <p:extLst>
      <p:ext uri="{BB962C8B-B14F-4D97-AF65-F5344CB8AC3E}">
        <p14:creationId xmlns:p14="http://schemas.microsoft.com/office/powerpoint/2010/main" val="947747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43</a:t>
            </a:fld>
            <a:endParaRPr lang="en-US"/>
          </a:p>
        </p:txBody>
      </p:sp>
    </p:spTree>
    <p:extLst>
      <p:ext uri="{BB962C8B-B14F-4D97-AF65-F5344CB8AC3E}">
        <p14:creationId xmlns:p14="http://schemas.microsoft.com/office/powerpoint/2010/main" val="36336525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44</a:t>
            </a:fld>
            <a:endParaRPr lang="en-US"/>
          </a:p>
        </p:txBody>
      </p:sp>
    </p:spTree>
    <p:extLst>
      <p:ext uri="{BB962C8B-B14F-4D97-AF65-F5344CB8AC3E}">
        <p14:creationId xmlns:p14="http://schemas.microsoft.com/office/powerpoint/2010/main" val="23331098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45</a:t>
            </a:fld>
            <a:endParaRPr lang="en-US"/>
          </a:p>
        </p:txBody>
      </p:sp>
    </p:spTree>
    <p:extLst>
      <p:ext uri="{BB962C8B-B14F-4D97-AF65-F5344CB8AC3E}">
        <p14:creationId xmlns:p14="http://schemas.microsoft.com/office/powerpoint/2010/main" val="38038669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46</a:t>
            </a:fld>
            <a:endParaRPr lang="en-US"/>
          </a:p>
        </p:txBody>
      </p:sp>
    </p:spTree>
    <p:extLst>
      <p:ext uri="{BB962C8B-B14F-4D97-AF65-F5344CB8AC3E}">
        <p14:creationId xmlns:p14="http://schemas.microsoft.com/office/powerpoint/2010/main" val="27770018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47</a:t>
            </a:fld>
            <a:endParaRPr lang="en-US"/>
          </a:p>
        </p:txBody>
      </p:sp>
    </p:spTree>
    <p:extLst>
      <p:ext uri="{BB962C8B-B14F-4D97-AF65-F5344CB8AC3E}">
        <p14:creationId xmlns:p14="http://schemas.microsoft.com/office/powerpoint/2010/main" val="37385913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48</a:t>
            </a:fld>
            <a:endParaRPr lang="en-US"/>
          </a:p>
        </p:txBody>
      </p:sp>
    </p:spTree>
    <p:extLst>
      <p:ext uri="{BB962C8B-B14F-4D97-AF65-F5344CB8AC3E}">
        <p14:creationId xmlns:p14="http://schemas.microsoft.com/office/powerpoint/2010/main" val="311025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49</a:t>
            </a:fld>
            <a:endParaRPr lang="en-US"/>
          </a:p>
        </p:txBody>
      </p:sp>
    </p:spTree>
    <p:extLst>
      <p:ext uri="{BB962C8B-B14F-4D97-AF65-F5344CB8AC3E}">
        <p14:creationId xmlns:p14="http://schemas.microsoft.com/office/powerpoint/2010/main" val="163331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50</a:t>
            </a:fld>
            <a:endParaRPr lang="en-US"/>
          </a:p>
        </p:txBody>
      </p:sp>
    </p:spTree>
    <p:extLst>
      <p:ext uri="{BB962C8B-B14F-4D97-AF65-F5344CB8AC3E}">
        <p14:creationId xmlns:p14="http://schemas.microsoft.com/office/powerpoint/2010/main" val="41272787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51</a:t>
            </a:fld>
            <a:endParaRPr lang="en-US"/>
          </a:p>
        </p:txBody>
      </p:sp>
    </p:spTree>
    <p:extLst>
      <p:ext uri="{BB962C8B-B14F-4D97-AF65-F5344CB8AC3E}">
        <p14:creationId xmlns:p14="http://schemas.microsoft.com/office/powerpoint/2010/main" val="21463134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52</a:t>
            </a:fld>
            <a:endParaRPr lang="en-US"/>
          </a:p>
        </p:txBody>
      </p:sp>
    </p:spTree>
    <p:extLst>
      <p:ext uri="{BB962C8B-B14F-4D97-AF65-F5344CB8AC3E}">
        <p14:creationId xmlns:p14="http://schemas.microsoft.com/office/powerpoint/2010/main" val="42218763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53</a:t>
            </a:fld>
            <a:endParaRPr lang="en-US"/>
          </a:p>
        </p:txBody>
      </p:sp>
    </p:spTree>
    <p:extLst>
      <p:ext uri="{BB962C8B-B14F-4D97-AF65-F5344CB8AC3E}">
        <p14:creationId xmlns:p14="http://schemas.microsoft.com/office/powerpoint/2010/main" val="13182261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54</a:t>
            </a:fld>
            <a:endParaRPr lang="en-US"/>
          </a:p>
        </p:txBody>
      </p:sp>
    </p:spTree>
    <p:extLst>
      <p:ext uri="{BB962C8B-B14F-4D97-AF65-F5344CB8AC3E}">
        <p14:creationId xmlns:p14="http://schemas.microsoft.com/office/powerpoint/2010/main" val="41568611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55</a:t>
            </a:fld>
            <a:endParaRPr lang="en-US"/>
          </a:p>
        </p:txBody>
      </p:sp>
    </p:spTree>
    <p:extLst>
      <p:ext uri="{BB962C8B-B14F-4D97-AF65-F5344CB8AC3E}">
        <p14:creationId xmlns:p14="http://schemas.microsoft.com/office/powerpoint/2010/main" val="17962088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56</a:t>
            </a:fld>
            <a:endParaRPr lang="en-US"/>
          </a:p>
        </p:txBody>
      </p:sp>
    </p:spTree>
    <p:extLst>
      <p:ext uri="{BB962C8B-B14F-4D97-AF65-F5344CB8AC3E}">
        <p14:creationId xmlns:p14="http://schemas.microsoft.com/office/powerpoint/2010/main" val="2379301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57</a:t>
            </a:fld>
            <a:endParaRPr lang="en-US"/>
          </a:p>
        </p:txBody>
      </p:sp>
    </p:spTree>
    <p:extLst>
      <p:ext uri="{BB962C8B-B14F-4D97-AF65-F5344CB8AC3E}">
        <p14:creationId xmlns:p14="http://schemas.microsoft.com/office/powerpoint/2010/main" val="33188403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58</a:t>
            </a:fld>
            <a:endParaRPr lang="en-US"/>
          </a:p>
        </p:txBody>
      </p:sp>
    </p:spTree>
    <p:extLst>
      <p:ext uri="{BB962C8B-B14F-4D97-AF65-F5344CB8AC3E}">
        <p14:creationId xmlns:p14="http://schemas.microsoft.com/office/powerpoint/2010/main" val="23738165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59</a:t>
            </a:fld>
            <a:endParaRPr lang="en-US"/>
          </a:p>
        </p:txBody>
      </p:sp>
    </p:spTree>
    <p:extLst>
      <p:ext uri="{BB962C8B-B14F-4D97-AF65-F5344CB8AC3E}">
        <p14:creationId xmlns:p14="http://schemas.microsoft.com/office/powerpoint/2010/main" val="247828368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60</a:t>
            </a:fld>
            <a:endParaRPr lang="en-US"/>
          </a:p>
        </p:txBody>
      </p:sp>
    </p:spTree>
    <p:extLst>
      <p:ext uri="{BB962C8B-B14F-4D97-AF65-F5344CB8AC3E}">
        <p14:creationId xmlns:p14="http://schemas.microsoft.com/office/powerpoint/2010/main" val="319027133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61</a:t>
            </a:fld>
            <a:endParaRPr lang="en-US"/>
          </a:p>
        </p:txBody>
      </p:sp>
    </p:spTree>
    <p:extLst>
      <p:ext uri="{BB962C8B-B14F-4D97-AF65-F5344CB8AC3E}">
        <p14:creationId xmlns:p14="http://schemas.microsoft.com/office/powerpoint/2010/main" val="380552234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62</a:t>
            </a:fld>
            <a:endParaRPr lang="en-US"/>
          </a:p>
        </p:txBody>
      </p:sp>
    </p:spTree>
    <p:extLst>
      <p:ext uri="{BB962C8B-B14F-4D97-AF65-F5344CB8AC3E}">
        <p14:creationId xmlns:p14="http://schemas.microsoft.com/office/powerpoint/2010/main" val="362283082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63</a:t>
            </a:fld>
            <a:endParaRPr lang="en-US"/>
          </a:p>
        </p:txBody>
      </p:sp>
    </p:spTree>
    <p:extLst>
      <p:ext uri="{BB962C8B-B14F-4D97-AF65-F5344CB8AC3E}">
        <p14:creationId xmlns:p14="http://schemas.microsoft.com/office/powerpoint/2010/main" val="306277978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64</a:t>
            </a:fld>
            <a:endParaRPr lang="en-US"/>
          </a:p>
        </p:txBody>
      </p:sp>
    </p:spTree>
    <p:extLst>
      <p:ext uri="{BB962C8B-B14F-4D97-AF65-F5344CB8AC3E}">
        <p14:creationId xmlns:p14="http://schemas.microsoft.com/office/powerpoint/2010/main" val="24128505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65</a:t>
            </a:fld>
            <a:endParaRPr lang="en-US"/>
          </a:p>
        </p:txBody>
      </p:sp>
    </p:spTree>
    <p:extLst>
      <p:ext uri="{BB962C8B-B14F-4D97-AF65-F5344CB8AC3E}">
        <p14:creationId xmlns:p14="http://schemas.microsoft.com/office/powerpoint/2010/main" val="200662909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66</a:t>
            </a:fld>
            <a:endParaRPr lang="en-US"/>
          </a:p>
        </p:txBody>
      </p:sp>
    </p:spTree>
    <p:extLst>
      <p:ext uri="{BB962C8B-B14F-4D97-AF65-F5344CB8AC3E}">
        <p14:creationId xmlns:p14="http://schemas.microsoft.com/office/powerpoint/2010/main" val="21122233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67</a:t>
            </a:fld>
            <a:endParaRPr lang="en-US"/>
          </a:p>
        </p:txBody>
      </p:sp>
    </p:spTree>
    <p:extLst>
      <p:ext uri="{BB962C8B-B14F-4D97-AF65-F5344CB8AC3E}">
        <p14:creationId xmlns:p14="http://schemas.microsoft.com/office/powerpoint/2010/main" val="335510697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68</a:t>
            </a:fld>
            <a:endParaRPr lang="en-US"/>
          </a:p>
        </p:txBody>
      </p:sp>
    </p:spTree>
    <p:extLst>
      <p:ext uri="{BB962C8B-B14F-4D97-AF65-F5344CB8AC3E}">
        <p14:creationId xmlns:p14="http://schemas.microsoft.com/office/powerpoint/2010/main" val="13188824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69</a:t>
            </a:fld>
            <a:endParaRPr lang="en-US"/>
          </a:p>
        </p:txBody>
      </p:sp>
    </p:spTree>
    <p:extLst>
      <p:ext uri="{BB962C8B-B14F-4D97-AF65-F5344CB8AC3E}">
        <p14:creationId xmlns:p14="http://schemas.microsoft.com/office/powerpoint/2010/main" val="36310860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70</a:t>
            </a:fld>
            <a:endParaRPr lang="en-US"/>
          </a:p>
        </p:txBody>
      </p:sp>
    </p:spTree>
    <p:extLst>
      <p:ext uri="{BB962C8B-B14F-4D97-AF65-F5344CB8AC3E}">
        <p14:creationId xmlns:p14="http://schemas.microsoft.com/office/powerpoint/2010/main" val="90601934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71</a:t>
            </a:fld>
            <a:endParaRPr lang="en-US"/>
          </a:p>
        </p:txBody>
      </p:sp>
    </p:spTree>
    <p:extLst>
      <p:ext uri="{BB962C8B-B14F-4D97-AF65-F5344CB8AC3E}">
        <p14:creationId xmlns:p14="http://schemas.microsoft.com/office/powerpoint/2010/main" val="246852846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72</a:t>
            </a:fld>
            <a:endParaRPr lang="en-US"/>
          </a:p>
        </p:txBody>
      </p:sp>
    </p:spTree>
    <p:extLst>
      <p:ext uri="{BB962C8B-B14F-4D97-AF65-F5344CB8AC3E}">
        <p14:creationId xmlns:p14="http://schemas.microsoft.com/office/powerpoint/2010/main" val="102341695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73</a:t>
            </a:fld>
            <a:endParaRPr lang="en-US"/>
          </a:p>
        </p:txBody>
      </p:sp>
    </p:spTree>
    <p:extLst>
      <p:ext uri="{BB962C8B-B14F-4D97-AF65-F5344CB8AC3E}">
        <p14:creationId xmlns:p14="http://schemas.microsoft.com/office/powerpoint/2010/main" val="39121551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74</a:t>
            </a:fld>
            <a:endParaRPr lang="en-US"/>
          </a:p>
        </p:txBody>
      </p:sp>
    </p:spTree>
    <p:extLst>
      <p:ext uri="{BB962C8B-B14F-4D97-AF65-F5344CB8AC3E}">
        <p14:creationId xmlns:p14="http://schemas.microsoft.com/office/powerpoint/2010/main" val="302219498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75</a:t>
            </a:fld>
            <a:endParaRPr lang="en-US"/>
          </a:p>
        </p:txBody>
      </p:sp>
    </p:spTree>
    <p:extLst>
      <p:ext uri="{BB962C8B-B14F-4D97-AF65-F5344CB8AC3E}">
        <p14:creationId xmlns:p14="http://schemas.microsoft.com/office/powerpoint/2010/main" val="294164471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76</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10/10/2020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10/10/2020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10/10/2020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10/10/2020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10/10/2020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10/10/2020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10/10/2020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10/10/2020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10/10/2020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10/10/2020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10/10/2020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10/10/2020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10/10/2020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10/10/2020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10/10/2020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10/10/2020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10/10/2020</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hyperlink" Target="http://www.exploredatabase.com/2017/07/reduce-er-diagram-to-relation-table-solved-exercise.html" TargetMode="External"/><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hyperlink" Target="http://www.exploredatabase.com/2016/04/convert-entity-relationship-diagram-to-relation-schemas-exercises.html" TargetMode="Externa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357622"/>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Chapter 2 Data Models</a:t>
            </a:r>
          </a:p>
        </p:txBody>
      </p:sp>
      <p:sp>
        <p:nvSpPr>
          <p:cNvPr id="3" name="Subtitle 2"/>
          <p:cNvSpPr>
            <a:spLocks noGrp="1"/>
          </p:cNvSpPr>
          <p:nvPr>
            <p:ph type="subTitle" idx="1"/>
          </p:nvPr>
        </p:nvSpPr>
        <p:spPr>
          <a:xfrm>
            <a:off x="1281567" y="1139688"/>
            <a:ext cx="8094254" cy="4929808"/>
          </a:xfrm>
        </p:spPr>
        <p:txBody>
          <a:bodyPr>
            <a:normAutofit/>
          </a:bodyPr>
          <a:lstStyle/>
          <a:p>
            <a:pPr algn="l">
              <a:buClr>
                <a:schemeClr val="tx1"/>
              </a:buClr>
              <a:buSzPct val="71000"/>
            </a:pPr>
            <a:r>
              <a:rPr lang="en-US" sz="2800" dirty="0">
                <a:solidFill>
                  <a:schemeClr val="tx1"/>
                </a:solidFill>
              </a:rPr>
              <a:t>2.1 Introduction</a:t>
            </a:r>
          </a:p>
          <a:p>
            <a:pPr algn="l">
              <a:buClr>
                <a:schemeClr val="tx1"/>
              </a:buClr>
              <a:buSzPct val="71000"/>
            </a:pPr>
            <a:r>
              <a:rPr lang="en-US" sz="2800" dirty="0">
                <a:solidFill>
                  <a:schemeClr val="tx1"/>
                </a:solidFill>
              </a:rPr>
              <a:t>2.2 Conceptual, Logical and Physical Model</a:t>
            </a:r>
          </a:p>
          <a:p>
            <a:pPr algn="l">
              <a:buClr>
                <a:schemeClr val="tx1"/>
              </a:buClr>
              <a:buSzPct val="71000"/>
            </a:pPr>
            <a:r>
              <a:rPr lang="en-US" sz="2800" dirty="0">
                <a:solidFill>
                  <a:schemeClr val="tx1"/>
                </a:solidFill>
              </a:rPr>
              <a:t>2.3 E-R Model</a:t>
            </a:r>
          </a:p>
          <a:p>
            <a:pPr algn="l">
              <a:buClr>
                <a:schemeClr val="tx1"/>
              </a:buClr>
              <a:buSzPct val="71000"/>
            </a:pPr>
            <a:r>
              <a:rPr lang="en-US" sz="2800" dirty="0">
                <a:solidFill>
                  <a:schemeClr val="tx1"/>
                </a:solidFill>
              </a:rPr>
              <a:t>2.4 Relation with UML Class Diagram</a:t>
            </a:r>
          </a:p>
          <a:p>
            <a:pPr algn="l">
              <a:buClr>
                <a:schemeClr val="tx1"/>
              </a:buClr>
              <a:buSzPct val="71000"/>
            </a:pPr>
            <a:r>
              <a:rPr lang="en-US" sz="2800" dirty="0">
                <a:solidFill>
                  <a:schemeClr val="tx1"/>
                </a:solidFill>
              </a:rPr>
              <a:t>2.5 Alternate Data Model(Network data model, Hierarchical data model)</a:t>
            </a:r>
          </a:p>
          <a:p>
            <a:pPr algn="l">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2819078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2.1 Introduction</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basic structure or design of the database is the </a:t>
            </a:r>
            <a:r>
              <a:rPr lang="en-US" sz="2800" b="1" dirty="0">
                <a:solidFill>
                  <a:srgbClr val="222222"/>
                </a:solidFill>
                <a:latin typeface="arial" panose="020B0604020202020204" pitchFamily="34" charset="0"/>
              </a:rPr>
              <a:t>data model.</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 data model is a collection of conceptual tools for describing data, data relationships, data semantics, and consistency constraints.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Data Models are fundamental entities to introduce abstraction in a DBMS.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Data models define how data is connected to each other and how they are processed and stored inside the system.</a:t>
            </a:r>
            <a:r>
              <a:rPr lang="en-US" sz="2800" dirty="0">
                <a:solidFill>
                  <a:schemeClr val="tx1"/>
                </a:solidFill>
              </a:rPr>
              <a:t> </a:t>
            </a:r>
          </a:p>
        </p:txBody>
      </p:sp>
    </p:spTree>
    <p:extLst>
      <p:ext uri="{BB962C8B-B14F-4D97-AF65-F5344CB8AC3E}">
        <p14:creationId xmlns:p14="http://schemas.microsoft.com/office/powerpoint/2010/main" val="1684658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2.2 Conceptual, Logical and Physical Model</a:t>
            </a: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l">
              <a:buClr>
                <a:schemeClr val="tx1"/>
              </a:buClr>
              <a:buSzPct val="71000"/>
            </a:pPr>
            <a:r>
              <a:rPr lang="en-US" sz="2800" b="1" i="0" dirty="0">
                <a:solidFill>
                  <a:srgbClr val="222222"/>
                </a:solidFill>
                <a:effectLst/>
                <a:latin typeface="arial" panose="020B0604020202020204" pitchFamily="34" charset="0"/>
              </a:rPr>
              <a:t>Conceptual Data Model:</a:t>
            </a:r>
          </a:p>
          <a:p>
            <a:pPr marL="457200" indent="-457200" algn="l">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A conceptual data model identifies the highest-level relationships between the different entities.</a:t>
            </a:r>
          </a:p>
          <a:p>
            <a:pPr marL="457200" indent="-457200" algn="l">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Features of conceptual data model include:</a:t>
            </a:r>
          </a:p>
          <a:p>
            <a:pPr marL="914389" lvl="1" indent="-457200" algn="l">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Includes the important entities and the relationships among them.</a:t>
            </a:r>
          </a:p>
          <a:p>
            <a:pPr marL="914389" lvl="1" indent="-457200" algn="l">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No attribute is specified.</a:t>
            </a:r>
          </a:p>
          <a:p>
            <a:pPr marL="914389" lvl="1" indent="-457200" algn="l">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No primary key is specified.</a:t>
            </a:r>
          </a:p>
          <a:p>
            <a:pPr marL="457200" indent="-457200" algn="l">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The figure below is an example of a conceptual data model</a:t>
            </a:r>
            <a:endParaRPr lang="en-US" sz="2800" dirty="0">
              <a:solidFill>
                <a:schemeClr val="tx1"/>
              </a:solidFill>
            </a:endParaRPr>
          </a:p>
        </p:txBody>
      </p:sp>
    </p:spTree>
    <p:extLst>
      <p:ext uri="{BB962C8B-B14F-4D97-AF65-F5344CB8AC3E}">
        <p14:creationId xmlns:p14="http://schemas.microsoft.com/office/powerpoint/2010/main" val="1813734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2.2 Conceptual, Logical and Physical Model</a:t>
            </a:r>
          </a:p>
        </p:txBody>
      </p:sp>
      <p:sp>
        <p:nvSpPr>
          <p:cNvPr id="3" name="Subtitle 2"/>
          <p:cNvSpPr>
            <a:spLocks noGrp="1"/>
          </p:cNvSpPr>
          <p:nvPr>
            <p:ph type="subTitle" idx="1"/>
          </p:nvPr>
        </p:nvSpPr>
        <p:spPr>
          <a:xfrm>
            <a:off x="1281567" y="1049011"/>
            <a:ext cx="8094254" cy="461737"/>
          </a:xfrm>
        </p:spPr>
        <p:txBody>
          <a:bodyPr>
            <a:normAutofit fontScale="92500" lnSpcReduction="10000"/>
          </a:bodyPr>
          <a:lstStyle/>
          <a:p>
            <a:pPr algn="l">
              <a:buClr>
                <a:schemeClr val="tx1"/>
              </a:buClr>
              <a:buSzPct val="71000"/>
            </a:pPr>
            <a:r>
              <a:rPr lang="en-US" sz="2800" b="1" i="0" dirty="0">
                <a:solidFill>
                  <a:srgbClr val="222222"/>
                </a:solidFill>
                <a:effectLst/>
                <a:latin typeface="arial" panose="020B0604020202020204" pitchFamily="34" charset="0"/>
              </a:rPr>
              <a:t>Conceptual Data Model:</a:t>
            </a:r>
          </a:p>
        </p:txBody>
      </p:sp>
      <p:pic>
        <p:nvPicPr>
          <p:cNvPr id="1026" name="Picture 2">
            <a:extLst>
              <a:ext uri="{FF2B5EF4-FFF2-40B4-BE49-F238E27FC236}">
                <a16:creationId xmlns:a16="http://schemas.microsoft.com/office/drawing/2014/main" id="{29D686B2-9EBC-4767-B24A-81654AA585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6" y="1510747"/>
            <a:ext cx="8094253" cy="4896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8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2.2 Conceptual, Logical and Physical Model</a:t>
            </a: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a:solidFill>
                  <a:srgbClr val="222222"/>
                </a:solidFill>
                <a:latin typeface="arial" panose="020B0604020202020204" pitchFamily="34" charset="0"/>
              </a:rPr>
              <a:t>Logical</a:t>
            </a:r>
            <a:r>
              <a:rPr lang="en-US" sz="2800" b="1" i="0" dirty="0">
                <a:solidFill>
                  <a:srgbClr val="222222"/>
                </a:solidFill>
                <a:effectLst/>
                <a:latin typeface="arial" panose="020B0604020202020204" pitchFamily="34" charset="0"/>
              </a:rPr>
              <a:t> Data Model:</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A logical data model describes the data in as much detail as possible, without regard to how they will be physical implemented in the database.</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Features of a logical data model include:</a:t>
            </a:r>
          </a:p>
          <a:p>
            <a:pPr marL="914389" lvl="1" indent="-457200" algn="just">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Includes all entities and relationships among them.</a:t>
            </a:r>
          </a:p>
          <a:p>
            <a:pPr marL="914389" lvl="1" indent="-457200" algn="just">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All attributes for each entity are specified.</a:t>
            </a:r>
          </a:p>
          <a:p>
            <a:pPr marL="914389" lvl="1" indent="-457200" algn="just">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The primary key for each entity is specified.</a:t>
            </a:r>
          </a:p>
          <a:p>
            <a:pPr marL="914389" lvl="1" indent="-457200" algn="just">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Foreign keys (keys identifying the relationship between different entities) are specified.</a:t>
            </a:r>
          </a:p>
          <a:p>
            <a:pPr marL="914389" lvl="1" indent="-457200" algn="just">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Normalization occurs at this level.</a:t>
            </a:r>
            <a:endParaRPr lang="en-US" sz="2600" dirty="0">
              <a:solidFill>
                <a:schemeClr val="tx1"/>
              </a:solidFill>
            </a:endParaRPr>
          </a:p>
        </p:txBody>
      </p:sp>
    </p:spTree>
    <p:extLst>
      <p:ext uri="{BB962C8B-B14F-4D97-AF65-F5344CB8AC3E}">
        <p14:creationId xmlns:p14="http://schemas.microsoft.com/office/powerpoint/2010/main" val="2794389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2.2 Conceptual, Logical and Physical Model</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rgbClr val="222222"/>
                </a:solidFill>
                <a:latin typeface="arial" panose="020B0604020202020204" pitchFamily="34" charset="0"/>
              </a:rPr>
              <a:t>Logical</a:t>
            </a:r>
            <a:r>
              <a:rPr lang="en-US" sz="2800" b="1" i="0" dirty="0">
                <a:solidFill>
                  <a:srgbClr val="222222"/>
                </a:solidFill>
                <a:effectLst/>
                <a:latin typeface="arial" panose="020B0604020202020204" pitchFamily="34" charset="0"/>
              </a:rPr>
              <a:t> Data Model:									</a:t>
            </a:r>
            <a:endParaRPr lang="en-US" sz="2800" i="0" dirty="0">
              <a:solidFill>
                <a:srgbClr val="222222"/>
              </a:solidFill>
              <a:effectLst/>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The steps for designing the logical data model are as follows:</a:t>
            </a:r>
          </a:p>
          <a:p>
            <a:pPr marL="914389" lvl="1" indent="-457200" algn="just">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Specify primary keys for all entities.</a:t>
            </a:r>
          </a:p>
          <a:p>
            <a:pPr marL="914389" lvl="1" indent="-457200" algn="just">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Find the relationships between different entities.</a:t>
            </a:r>
          </a:p>
          <a:p>
            <a:pPr marL="914389" lvl="1" indent="-457200" algn="just">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Find all attributes for each entity.</a:t>
            </a:r>
          </a:p>
          <a:p>
            <a:pPr marL="914389" lvl="1" indent="-457200" algn="just">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Resolve many-to-many relationships.</a:t>
            </a:r>
          </a:p>
          <a:p>
            <a:pPr marL="914389" lvl="1" indent="-457200" algn="just">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Normalization.</a:t>
            </a:r>
          </a:p>
        </p:txBody>
      </p:sp>
      <p:sp>
        <p:nvSpPr>
          <p:cNvPr id="5" name="TextBox 4">
            <a:extLst>
              <a:ext uri="{FF2B5EF4-FFF2-40B4-BE49-F238E27FC236}">
                <a16:creationId xmlns:a16="http://schemas.microsoft.com/office/drawing/2014/main" id="{C7D26346-19FE-4F17-BC73-FFE4FD6496DA}"/>
              </a:ext>
            </a:extLst>
          </p:cNvPr>
          <p:cNvSpPr txBox="1"/>
          <p:nvPr/>
        </p:nvSpPr>
        <p:spPr>
          <a:xfrm>
            <a:off x="9481930" y="727656"/>
            <a:ext cx="881269" cy="369332"/>
          </a:xfrm>
          <a:prstGeom prst="rect">
            <a:avLst/>
          </a:prstGeom>
          <a:noFill/>
        </p:spPr>
        <p:txBody>
          <a:bodyPr wrap="square">
            <a:spAutoFit/>
          </a:bodyPr>
          <a:lstStyle/>
          <a:p>
            <a:pPr algn="just">
              <a:buClr>
                <a:schemeClr val="tx1"/>
              </a:buClr>
              <a:buSzPct val="71000"/>
            </a:pPr>
            <a:r>
              <a:rPr lang="en-US" sz="1800" b="1" i="0" dirty="0">
                <a:solidFill>
                  <a:schemeClr val="bg1">
                    <a:lumMod val="50000"/>
                  </a:schemeClr>
                </a:solidFill>
                <a:effectLst/>
                <a:latin typeface="arial" panose="020B0604020202020204" pitchFamily="34" charset="0"/>
              </a:rPr>
              <a:t>contd.</a:t>
            </a:r>
          </a:p>
        </p:txBody>
      </p:sp>
    </p:spTree>
    <p:extLst>
      <p:ext uri="{BB962C8B-B14F-4D97-AF65-F5344CB8AC3E}">
        <p14:creationId xmlns:p14="http://schemas.microsoft.com/office/powerpoint/2010/main" val="462523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2.2 Conceptual, Logical and Physical Model</a:t>
            </a:r>
          </a:p>
        </p:txBody>
      </p:sp>
      <p:sp>
        <p:nvSpPr>
          <p:cNvPr id="3" name="Subtitle 2"/>
          <p:cNvSpPr>
            <a:spLocks noGrp="1"/>
          </p:cNvSpPr>
          <p:nvPr>
            <p:ph type="subTitle" idx="1"/>
          </p:nvPr>
        </p:nvSpPr>
        <p:spPr>
          <a:xfrm>
            <a:off x="1281567" y="1139688"/>
            <a:ext cx="8094254" cy="554538"/>
          </a:xfrm>
        </p:spPr>
        <p:txBody>
          <a:bodyPr>
            <a:normAutofit/>
          </a:bodyPr>
          <a:lstStyle/>
          <a:p>
            <a:pPr algn="just">
              <a:buClr>
                <a:schemeClr val="tx1"/>
              </a:buClr>
              <a:buSzPct val="71000"/>
            </a:pPr>
            <a:r>
              <a:rPr lang="en-US" sz="2800" b="1" dirty="0">
                <a:solidFill>
                  <a:srgbClr val="222222"/>
                </a:solidFill>
                <a:latin typeface="arial" panose="020B0604020202020204" pitchFamily="34" charset="0"/>
              </a:rPr>
              <a:t>Logical</a:t>
            </a:r>
            <a:r>
              <a:rPr lang="en-US" sz="2800" b="1" i="0" dirty="0">
                <a:solidFill>
                  <a:srgbClr val="222222"/>
                </a:solidFill>
                <a:effectLst/>
                <a:latin typeface="arial" panose="020B0604020202020204" pitchFamily="34" charset="0"/>
              </a:rPr>
              <a:t> Data Model:									</a:t>
            </a:r>
            <a:endParaRPr lang="en-US" sz="2800" i="0" dirty="0">
              <a:solidFill>
                <a:srgbClr val="222222"/>
              </a:solidFill>
              <a:effectLst/>
              <a:latin typeface="arial" panose="020B0604020202020204" pitchFamily="34" charset="0"/>
            </a:endParaRPr>
          </a:p>
        </p:txBody>
      </p:sp>
      <p:sp>
        <p:nvSpPr>
          <p:cNvPr id="5" name="TextBox 4">
            <a:extLst>
              <a:ext uri="{FF2B5EF4-FFF2-40B4-BE49-F238E27FC236}">
                <a16:creationId xmlns:a16="http://schemas.microsoft.com/office/drawing/2014/main" id="{C7D26346-19FE-4F17-BC73-FFE4FD6496DA}"/>
              </a:ext>
            </a:extLst>
          </p:cNvPr>
          <p:cNvSpPr txBox="1"/>
          <p:nvPr/>
        </p:nvSpPr>
        <p:spPr>
          <a:xfrm>
            <a:off x="9481930" y="727656"/>
            <a:ext cx="881269" cy="369332"/>
          </a:xfrm>
          <a:prstGeom prst="rect">
            <a:avLst/>
          </a:prstGeom>
          <a:noFill/>
        </p:spPr>
        <p:txBody>
          <a:bodyPr wrap="square">
            <a:spAutoFit/>
          </a:bodyPr>
          <a:lstStyle/>
          <a:p>
            <a:pPr algn="just">
              <a:buClr>
                <a:schemeClr val="tx1"/>
              </a:buClr>
              <a:buSzPct val="71000"/>
            </a:pPr>
            <a:r>
              <a:rPr lang="en-US" sz="1800" b="1" i="0" dirty="0">
                <a:solidFill>
                  <a:schemeClr val="bg1">
                    <a:lumMod val="50000"/>
                  </a:schemeClr>
                </a:solidFill>
                <a:effectLst/>
                <a:latin typeface="arial" panose="020B0604020202020204" pitchFamily="34" charset="0"/>
              </a:rPr>
              <a:t>contd.</a:t>
            </a:r>
          </a:p>
        </p:txBody>
      </p:sp>
      <p:pic>
        <p:nvPicPr>
          <p:cNvPr id="3074" name="Picture 2">
            <a:extLst>
              <a:ext uri="{FF2B5EF4-FFF2-40B4-BE49-F238E27FC236}">
                <a16:creationId xmlns:a16="http://schemas.microsoft.com/office/drawing/2014/main" id="{E883AC35-4AA6-407B-825C-B6D76F234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8" y="1694226"/>
            <a:ext cx="8094253" cy="4876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674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2.2 Conceptual, Logical and Physical Model</a:t>
            </a:r>
          </a:p>
        </p:txBody>
      </p:sp>
      <p:sp>
        <p:nvSpPr>
          <p:cNvPr id="3" name="Subtitle 2"/>
          <p:cNvSpPr>
            <a:spLocks noGrp="1"/>
          </p:cNvSpPr>
          <p:nvPr>
            <p:ph type="subTitle" idx="1"/>
          </p:nvPr>
        </p:nvSpPr>
        <p:spPr>
          <a:xfrm>
            <a:off x="1281567" y="1139687"/>
            <a:ext cx="8094254" cy="4990657"/>
          </a:xfrm>
        </p:spPr>
        <p:txBody>
          <a:bodyPr>
            <a:noAutofit/>
          </a:bodyPr>
          <a:lstStyle/>
          <a:p>
            <a:pPr algn="just">
              <a:buClr>
                <a:schemeClr val="tx1"/>
              </a:buClr>
              <a:buSzPct val="71000"/>
            </a:pPr>
            <a:r>
              <a:rPr lang="en-US" sz="2000" b="1" dirty="0">
                <a:solidFill>
                  <a:srgbClr val="222222"/>
                </a:solidFill>
                <a:latin typeface="arial" panose="020B0604020202020204" pitchFamily="34" charset="0"/>
              </a:rPr>
              <a:t>Logical</a:t>
            </a:r>
            <a:r>
              <a:rPr lang="en-US" sz="2000" b="1" i="0" dirty="0">
                <a:solidFill>
                  <a:srgbClr val="222222"/>
                </a:solidFill>
                <a:effectLst/>
                <a:latin typeface="arial" panose="020B0604020202020204" pitchFamily="34" charset="0"/>
              </a:rPr>
              <a:t> Data Model:									</a:t>
            </a:r>
            <a:endParaRPr lang="en-US" sz="2000" i="0" dirty="0">
              <a:solidFill>
                <a:srgbClr val="222222"/>
              </a:solidFill>
              <a:effectLst/>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000" i="0" dirty="0">
                <a:solidFill>
                  <a:srgbClr val="222222"/>
                </a:solidFill>
                <a:effectLst/>
                <a:latin typeface="arial" panose="020B0604020202020204" pitchFamily="34" charset="0"/>
              </a:rPr>
              <a:t>Comparing the logical data model shown above with the conceptual data model diagram, we see the main differences between the two:</a:t>
            </a:r>
          </a:p>
          <a:p>
            <a:pPr marL="914389" lvl="1" indent="-457200" algn="just">
              <a:buClr>
                <a:schemeClr val="tx1"/>
              </a:buClr>
              <a:buSzPct val="71000"/>
              <a:buFont typeface="Wingdings" panose="05000000000000000000" pitchFamily="2" charset="2"/>
              <a:buChar char="Ø"/>
            </a:pPr>
            <a:r>
              <a:rPr lang="en-US" sz="2000" i="0" dirty="0">
                <a:solidFill>
                  <a:srgbClr val="222222"/>
                </a:solidFill>
                <a:effectLst/>
                <a:latin typeface="arial" panose="020B0604020202020204" pitchFamily="34" charset="0"/>
              </a:rPr>
              <a:t>In a logical data model, primary keys are present, whereas in a conceptual data model, no primary key is present.</a:t>
            </a:r>
          </a:p>
          <a:p>
            <a:pPr marL="914389" lvl="1" indent="-457200" algn="just">
              <a:buClr>
                <a:schemeClr val="tx1"/>
              </a:buClr>
              <a:buSzPct val="71000"/>
              <a:buFont typeface="Wingdings" panose="05000000000000000000" pitchFamily="2" charset="2"/>
              <a:buChar char="Ø"/>
            </a:pPr>
            <a:r>
              <a:rPr lang="en-US" sz="2000" dirty="0">
                <a:solidFill>
                  <a:srgbClr val="222222"/>
                </a:solidFill>
                <a:latin typeface="arial" panose="020B0604020202020204" pitchFamily="34" charset="0"/>
              </a:rPr>
              <a:t>I</a:t>
            </a:r>
            <a:r>
              <a:rPr lang="en-US" sz="2000" i="0" dirty="0">
                <a:solidFill>
                  <a:srgbClr val="222222"/>
                </a:solidFill>
                <a:effectLst/>
                <a:latin typeface="arial" panose="020B0604020202020204" pitchFamily="34" charset="0"/>
              </a:rPr>
              <a:t>n a logical data model, all attributes are specified within an entity. No attributes are specified in a conceptual data model.</a:t>
            </a:r>
          </a:p>
          <a:p>
            <a:pPr marL="914389" lvl="1" indent="-457200" algn="just">
              <a:buClr>
                <a:schemeClr val="tx1"/>
              </a:buClr>
              <a:buSzPct val="71000"/>
              <a:buFont typeface="Wingdings" panose="05000000000000000000" pitchFamily="2" charset="2"/>
              <a:buChar char="Ø"/>
            </a:pPr>
            <a:r>
              <a:rPr lang="en-US" sz="2000" i="0" dirty="0">
                <a:solidFill>
                  <a:srgbClr val="222222"/>
                </a:solidFill>
                <a:effectLst/>
                <a:latin typeface="arial" panose="020B0604020202020204" pitchFamily="34" charset="0"/>
              </a:rPr>
              <a:t>Relationships between entities are specified using primary keys and foreign keys in a logical data model.</a:t>
            </a:r>
          </a:p>
          <a:p>
            <a:pPr marL="914389" lvl="1" indent="-457200" algn="just">
              <a:buClr>
                <a:schemeClr val="tx1"/>
              </a:buClr>
              <a:buSzPct val="71000"/>
              <a:buFont typeface="Wingdings" panose="05000000000000000000" pitchFamily="2" charset="2"/>
              <a:buChar char="Ø"/>
            </a:pPr>
            <a:r>
              <a:rPr lang="en-US" sz="2000" i="0" dirty="0">
                <a:solidFill>
                  <a:srgbClr val="222222"/>
                </a:solidFill>
                <a:effectLst/>
                <a:latin typeface="arial" panose="020B0604020202020204" pitchFamily="34" charset="0"/>
              </a:rPr>
              <a:t>In a conceptual data model, the relationships are simply stated, not specified, so we simply know that two entities are related, but we do not specify what attributes are used for this relationship.</a:t>
            </a:r>
          </a:p>
        </p:txBody>
      </p:sp>
      <p:sp>
        <p:nvSpPr>
          <p:cNvPr id="5" name="TextBox 4">
            <a:extLst>
              <a:ext uri="{FF2B5EF4-FFF2-40B4-BE49-F238E27FC236}">
                <a16:creationId xmlns:a16="http://schemas.microsoft.com/office/drawing/2014/main" id="{C7D26346-19FE-4F17-BC73-FFE4FD6496DA}"/>
              </a:ext>
            </a:extLst>
          </p:cNvPr>
          <p:cNvSpPr txBox="1"/>
          <p:nvPr/>
        </p:nvSpPr>
        <p:spPr>
          <a:xfrm>
            <a:off x="9481930" y="727656"/>
            <a:ext cx="881269" cy="369332"/>
          </a:xfrm>
          <a:prstGeom prst="rect">
            <a:avLst/>
          </a:prstGeom>
          <a:noFill/>
        </p:spPr>
        <p:txBody>
          <a:bodyPr wrap="square">
            <a:spAutoFit/>
          </a:bodyPr>
          <a:lstStyle/>
          <a:p>
            <a:pPr algn="just">
              <a:buClr>
                <a:schemeClr val="tx1"/>
              </a:buClr>
              <a:buSzPct val="71000"/>
            </a:pPr>
            <a:r>
              <a:rPr lang="en-US" sz="1800" b="1" i="0" dirty="0">
                <a:solidFill>
                  <a:schemeClr val="bg1">
                    <a:lumMod val="50000"/>
                  </a:schemeClr>
                </a:solidFill>
                <a:effectLst/>
                <a:latin typeface="arial" panose="020B0604020202020204" pitchFamily="34" charset="0"/>
              </a:rPr>
              <a:t>contd.</a:t>
            </a:r>
          </a:p>
        </p:txBody>
      </p:sp>
    </p:spTree>
    <p:extLst>
      <p:ext uri="{BB962C8B-B14F-4D97-AF65-F5344CB8AC3E}">
        <p14:creationId xmlns:p14="http://schemas.microsoft.com/office/powerpoint/2010/main" val="427497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2.2 Conceptual, Logical and Physical Model</a:t>
            </a:r>
          </a:p>
        </p:txBody>
      </p:sp>
      <p:sp>
        <p:nvSpPr>
          <p:cNvPr id="3" name="Subtitle 2"/>
          <p:cNvSpPr>
            <a:spLocks noGrp="1"/>
          </p:cNvSpPr>
          <p:nvPr>
            <p:ph type="subTitle" idx="1"/>
          </p:nvPr>
        </p:nvSpPr>
        <p:spPr>
          <a:xfrm>
            <a:off x="1281567" y="1139687"/>
            <a:ext cx="8094254" cy="4990657"/>
          </a:xfrm>
        </p:spPr>
        <p:txBody>
          <a:bodyPr>
            <a:noAutofit/>
          </a:bodyPr>
          <a:lstStyle/>
          <a:p>
            <a:pPr algn="just">
              <a:buClr>
                <a:schemeClr val="tx1"/>
              </a:buClr>
              <a:buSzPct val="71000"/>
            </a:pPr>
            <a:r>
              <a:rPr lang="en-US" sz="1900" b="1" i="0" dirty="0">
                <a:solidFill>
                  <a:srgbClr val="222222"/>
                </a:solidFill>
                <a:effectLst/>
                <a:latin typeface="arial" panose="020B0604020202020204" pitchFamily="34" charset="0"/>
              </a:rPr>
              <a:t>Physical Data Model:</a:t>
            </a:r>
          </a:p>
          <a:p>
            <a:pPr marL="457200" indent="-457200" algn="just">
              <a:buClr>
                <a:schemeClr val="tx1"/>
              </a:buClr>
              <a:buSzPct val="71000"/>
              <a:buFont typeface="Wingdings" panose="05000000000000000000" pitchFamily="2" charset="2"/>
              <a:buChar char="v"/>
            </a:pPr>
            <a:r>
              <a:rPr lang="en-US" sz="1900" i="0" dirty="0">
                <a:solidFill>
                  <a:srgbClr val="222222"/>
                </a:solidFill>
                <a:effectLst/>
                <a:latin typeface="arial" panose="020B0604020202020204" pitchFamily="34" charset="0"/>
              </a:rPr>
              <a:t>Physical data model represents how the model will be built in the database. A physical database model shows all table structures, including column name, column data type, column constraints, primary key, foreign key, and relationships between tables. </a:t>
            </a:r>
          </a:p>
          <a:p>
            <a:pPr marL="457200" indent="-457200" algn="just">
              <a:buClr>
                <a:schemeClr val="tx1"/>
              </a:buClr>
              <a:buSzPct val="71000"/>
              <a:buFont typeface="Wingdings" panose="05000000000000000000" pitchFamily="2" charset="2"/>
              <a:buChar char="v"/>
            </a:pPr>
            <a:r>
              <a:rPr lang="en-US" sz="1900" i="0" dirty="0">
                <a:solidFill>
                  <a:srgbClr val="222222"/>
                </a:solidFill>
                <a:effectLst/>
                <a:latin typeface="arial" panose="020B0604020202020204" pitchFamily="34" charset="0"/>
              </a:rPr>
              <a:t>Features of a physical data model include:</a:t>
            </a:r>
          </a:p>
          <a:p>
            <a:pPr marL="914389" lvl="1" indent="-457200" algn="just">
              <a:buClr>
                <a:schemeClr val="tx1"/>
              </a:buClr>
              <a:buSzPct val="71000"/>
              <a:buFont typeface="Wingdings" panose="05000000000000000000" pitchFamily="2" charset="2"/>
              <a:buChar char="Ø"/>
            </a:pPr>
            <a:r>
              <a:rPr lang="en-US" sz="1900" i="0" dirty="0">
                <a:solidFill>
                  <a:srgbClr val="222222"/>
                </a:solidFill>
                <a:effectLst/>
                <a:latin typeface="arial" panose="020B0604020202020204" pitchFamily="34" charset="0"/>
              </a:rPr>
              <a:t>Specification all tables and columns.</a:t>
            </a:r>
          </a:p>
          <a:p>
            <a:pPr marL="914389" lvl="1" indent="-457200" algn="just">
              <a:buClr>
                <a:schemeClr val="tx1"/>
              </a:buClr>
              <a:buSzPct val="71000"/>
              <a:buFont typeface="Wingdings" panose="05000000000000000000" pitchFamily="2" charset="2"/>
              <a:buChar char="Ø"/>
            </a:pPr>
            <a:r>
              <a:rPr lang="en-US" sz="1900" i="0" dirty="0">
                <a:solidFill>
                  <a:srgbClr val="222222"/>
                </a:solidFill>
                <a:effectLst/>
                <a:latin typeface="arial" panose="020B0604020202020204" pitchFamily="34" charset="0"/>
              </a:rPr>
              <a:t>Foreign keys are used to identify relationships between tables.</a:t>
            </a:r>
          </a:p>
          <a:p>
            <a:pPr marL="914389" lvl="1" indent="-457200" algn="just">
              <a:buClr>
                <a:schemeClr val="tx1"/>
              </a:buClr>
              <a:buSzPct val="71000"/>
              <a:buFont typeface="Wingdings" panose="05000000000000000000" pitchFamily="2" charset="2"/>
              <a:buChar char="Ø"/>
            </a:pPr>
            <a:r>
              <a:rPr lang="en-US" sz="1900" i="0" dirty="0">
                <a:solidFill>
                  <a:srgbClr val="222222"/>
                </a:solidFill>
                <a:effectLst/>
                <a:latin typeface="arial" panose="020B0604020202020204" pitchFamily="34" charset="0"/>
              </a:rPr>
              <a:t>Denormalization may occur based on user requirements.</a:t>
            </a:r>
          </a:p>
          <a:p>
            <a:pPr marL="914389" lvl="1" indent="-457200" algn="just">
              <a:buClr>
                <a:schemeClr val="tx1"/>
              </a:buClr>
              <a:buSzPct val="71000"/>
              <a:buFont typeface="Wingdings" panose="05000000000000000000" pitchFamily="2" charset="2"/>
              <a:buChar char="Ø"/>
            </a:pPr>
            <a:r>
              <a:rPr lang="en-US" sz="1900" i="0" dirty="0">
                <a:solidFill>
                  <a:srgbClr val="222222"/>
                </a:solidFill>
                <a:effectLst/>
                <a:latin typeface="arial" panose="020B0604020202020204" pitchFamily="34" charset="0"/>
              </a:rPr>
              <a:t>Physical considerations may cause the physical data model to be quite different from the logical data model.</a:t>
            </a:r>
          </a:p>
          <a:p>
            <a:pPr marL="914389" lvl="1" indent="-457200" algn="just">
              <a:buClr>
                <a:schemeClr val="tx1"/>
              </a:buClr>
              <a:buSzPct val="71000"/>
              <a:buFont typeface="Wingdings" panose="05000000000000000000" pitchFamily="2" charset="2"/>
              <a:buChar char="Ø"/>
            </a:pPr>
            <a:r>
              <a:rPr lang="en-US" sz="1900" i="0" dirty="0">
                <a:solidFill>
                  <a:srgbClr val="222222"/>
                </a:solidFill>
                <a:effectLst/>
                <a:latin typeface="arial" panose="020B0604020202020204" pitchFamily="34" charset="0"/>
              </a:rPr>
              <a:t>Physical data model will be different for different RDBMS. For example, data type for a column may be different between Oracle, DB2 etc.</a:t>
            </a:r>
            <a:endParaRPr lang="en-US" sz="1900" dirty="0">
              <a:solidFill>
                <a:schemeClr val="tx1"/>
              </a:solidFill>
            </a:endParaRPr>
          </a:p>
        </p:txBody>
      </p:sp>
    </p:spTree>
    <p:extLst>
      <p:ext uri="{BB962C8B-B14F-4D97-AF65-F5344CB8AC3E}">
        <p14:creationId xmlns:p14="http://schemas.microsoft.com/office/powerpoint/2010/main" val="3741588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2.2 Conceptual, Logical and Physical Model</a:t>
            </a:r>
          </a:p>
        </p:txBody>
      </p:sp>
      <p:sp>
        <p:nvSpPr>
          <p:cNvPr id="3" name="Subtitle 2"/>
          <p:cNvSpPr>
            <a:spLocks noGrp="1"/>
          </p:cNvSpPr>
          <p:nvPr>
            <p:ph type="subTitle" idx="1"/>
          </p:nvPr>
        </p:nvSpPr>
        <p:spPr>
          <a:xfrm>
            <a:off x="1281567" y="1139687"/>
            <a:ext cx="8094254" cy="4990657"/>
          </a:xfrm>
        </p:spPr>
        <p:txBody>
          <a:bodyPr>
            <a:noAutofit/>
          </a:bodyPr>
          <a:lstStyle/>
          <a:p>
            <a:pPr algn="just">
              <a:buClr>
                <a:schemeClr val="tx1"/>
              </a:buClr>
              <a:buSzPct val="71000"/>
            </a:pPr>
            <a:r>
              <a:rPr lang="en-US" sz="2400" b="1" i="0" dirty="0">
                <a:solidFill>
                  <a:srgbClr val="222222"/>
                </a:solidFill>
                <a:effectLst/>
                <a:latin typeface="arial" panose="020B0604020202020204" pitchFamily="34" charset="0"/>
              </a:rPr>
              <a:t>Physical Data Model:</a:t>
            </a:r>
          </a:p>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rPr>
              <a:t>The steps for physical data model design are as follows:</a:t>
            </a:r>
          </a:p>
          <a:p>
            <a:pPr marL="914389" lvl="1" indent="-457200" algn="just">
              <a:buClr>
                <a:schemeClr val="tx1"/>
              </a:buClr>
              <a:buSzPct val="71000"/>
              <a:buFont typeface="Wingdings" panose="05000000000000000000" pitchFamily="2" charset="2"/>
              <a:buChar char="Ø"/>
            </a:pPr>
            <a:r>
              <a:rPr lang="en-US" sz="2400" i="0" dirty="0">
                <a:solidFill>
                  <a:srgbClr val="222222"/>
                </a:solidFill>
                <a:effectLst/>
                <a:latin typeface="arial" panose="020B0604020202020204" pitchFamily="34" charset="0"/>
              </a:rPr>
              <a:t>Convert entities into tables.</a:t>
            </a:r>
          </a:p>
          <a:p>
            <a:pPr marL="914389" lvl="1" indent="-457200" algn="just">
              <a:buClr>
                <a:schemeClr val="tx1"/>
              </a:buClr>
              <a:buSzPct val="71000"/>
              <a:buFont typeface="Wingdings" panose="05000000000000000000" pitchFamily="2" charset="2"/>
              <a:buChar char="Ø"/>
            </a:pPr>
            <a:r>
              <a:rPr lang="en-US" sz="2400" i="0" dirty="0">
                <a:solidFill>
                  <a:srgbClr val="222222"/>
                </a:solidFill>
                <a:effectLst/>
                <a:latin typeface="arial" panose="020B0604020202020204" pitchFamily="34" charset="0"/>
              </a:rPr>
              <a:t>Convert relationships into foreign keys.</a:t>
            </a:r>
          </a:p>
          <a:p>
            <a:pPr marL="914389" lvl="1" indent="-457200" algn="just">
              <a:buClr>
                <a:schemeClr val="tx1"/>
              </a:buClr>
              <a:buSzPct val="71000"/>
              <a:buFont typeface="Wingdings" panose="05000000000000000000" pitchFamily="2" charset="2"/>
              <a:buChar char="Ø"/>
            </a:pPr>
            <a:r>
              <a:rPr lang="en-US" sz="2400" i="0" dirty="0">
                <a:solidFill>
                  <a:srgbClr val="222222"/>
                </a:solidFill>
                <a:effectLst/>
                <a:latin typeface="arial" panose="020B0604020202020204" pitchFamily="34" charset="0"/>
              </a:rPr>
              <a:t>Convert attributes into columns.</a:t>
            </a:r>
          </a:p>
          <a:p>
            <a:pPr marL="914389" lvl="1" indent="-457200" algn="just">
              <a:buClr>
                <a:schemeClr val="tx1"/>
              </a:buClr>
              <a:buSzPct val="71000"/>
              <a:buFont typeface="Wingdings" panose="05000000000000000000" pitchFamily="2" charset="2"/>
              <a:buChar char="Ø"/>
            </a:pPr>
            <a:r>
              <a:rPr lang="en-US" sz="2400" i="0" dirty="0">
                <a:solidFill>
                  <a:srgbClr val="222222"/>
                </a:solidFill>
                <a:effectLst/>
                <a:latin typeface="arial" panose="020B0604020202020204" pitchFamily="34" charset="0"/>
              </a:rPr>
              <a:t>Modify the physical data model based on physical constraints / requirements.</a:t>
            </a:r>
          </a:p>
        </p:txBody>
      </p:sp>
      <p:sp>
        <p:nvSpPr>
          <p:cNvPr id="5" name="TextBox 4">
            <a:extLst>
              <a:ext uri="{FF2B5EF4-FFF2-40B4-BE49-F238E27FC236}">
                <a16:creationId xmlns:a16="http://schemas.microsoft.com/office/drawing/2014/main" id="{6B6747A7-E99A-4C06-9356-573AE365E089}"/>
              </a:ext>
            </a:extLst>
          </p:cNvPr>
          <p:cNvSpPr txBox="1"/>
          <p:nvPr/>
        </p:nvSpPr>
        <p:spPr>
          <a:xfrm>
            <a:off x="9481930" y="727656"/>
            <a:ext cx="881269" cy="369332"/>
          </a:xfrm>
          <a:prstGeom prst="rect">
            <a:avLst/>
          </a:prstGeom>
          <a:noFill/>
        </p:spPr>
        <p:txBody>
          <a:bodyPr wrap="square">
            <a:spAutoFit/>
          </a:bodyPr>
          <a:lstStyle/>
          <a:p>
            <a:pPr algn="just">
              <a:buClr>
                <a:schemeClr val="tx1"/>
              </a:buClr>
              <a:buSzPct val="71000"/>
            </a:pPr>
            <a:r>
              <a:rPr lang="en-US" sz="1800" b="1" i="0" dirty="0">
                <a:solidFill>
                  <a:schemeClr val="bg1">
                    <a:lumMod val="50000"/>
                  </a:schemeClr>
                </a:solidFill>
                <a:effectLst/>
                <a:latin typeface="arial" panose="020B0604020202020204" pitchFamily="34" charset="0"/>
              </a:rPr>
              <a:t>contd.</a:t>
            </a:r>
          </a:p>
        </p:txBody>
      </p:sp>
    </p:spTree>
    <p:extLst>
      <p:ext uri="{BB962C8B-B14F-4D97-AF65-F5344CB8AC3E}">
        <p14:creationId xmlns:p14="http://schemas.microsoft.com/office/powerpoint/2010/main" val="2553835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2.2 Conceptual, Logical and Physical Model</a:t>
            </a:r>
          </a:p>
        </p:txBody>
      </p:sp>
      <p:sp>
        <p:nvSpPr>
          <p:cNvPr id="3" name="Subtitle 2"/>
          <p:cNvSpPr>
            <a:spLocks noGrp="1"/>
          </p:cNvSpPr>
          <p:nvPr>
            <p:ph type="subTitle" idx="1"/>
          </p:nvPr>
        </p:nvSpPr>
        <p:spPr>
          <a:xfrm>
            <a:off x="1281567" y="1139688"/>
            <a:ext cx="8094254" cy="554538"/>
          </a:xfrm>
        </p:spPr>
        <p:txBody>
          <a:bodyPr>
            <a:noAutofit/>
          </a:bodyPr>
          <a:lstStyle/>
          <a:p>
            <a:pPr algn="just">
              <a:buClr>
                <a:schemeClr val="tx1"/>
              </a:buClr>
              <a:buSzPct val="71000"/>
            </a:pPr>
            <a:r>
              <a:rPr lang="en-US" sz="2400" b="1" i="0" dirty="0">
                <a:solidFill>
                  <a:srgbClr val="222222"/>
                </a:solidFill>
                <a:effectLst/>
                <a:latin typeface="arial" panose="020B0604020202020204" pitchFamily="34" charset="0"/>
              </a:rPr>
              <a:t>Physical Data Model:</a:t>
            </a:r>
          </a:p>
        </p:txBody>
      </p:sp>
      <p:sp>
        <p:nvSpPr>
          <p:cNvPr id="5" name="TextBox 4">
            <a:extLst>
              <a:ext uri="{FF2B5EF4-FFF2-40B4-BE49-F238E27FC236}">
                <a16:creationId xmlns:a16="http://schemas.microsoft.com/office/drawing/2014/main" id="{6B6747A7-E99A-4C06-9356-573AE365E089}"/>
              </a:ext>
            </a:extLst>
          </p:cNvPr>
          <p:cNvSpPr txBox="1"/>
          <p:nvPr/>
        </p:nvSpPr>
        <p:spPr>
          <a:xfrm>
            <a:off x="9481930" y="727656"/>
            <a:ext cx="881269" cy="369332"/>
          </a:xfrm>
          <a:prstGeom prst="rect">
            <a:avLst/>
          </a:prstGeom>
          <a:noFill/>
        </p:spPr>
        <p:txBody>
          <a:bodyPr wrap="square">
            <a:spAutoFit/>
          </a:bodyPr>
          <a:lstStyle/>
          <a:p>
            <a:pPr algn="just">
              <a:buClr>
                <a:schemeClr val="tx1"/>
              </a:buClr>
              <a:buSzPct val="71000"/>
            </a:pPr>
            <a:r>
              <a:rPr lang="en-US" sz="1800" b="1" i="0" dirty="0">
                <a:solidFill>
                  <a:schemeClr val="bg1">
                    <a:lumMod val="50000"/>
                  </a:schemeClr>
                </a:solidFill>
                <a:effectLst/>
                <a:latin typeface="arial" panose="020B0604020202020204" pitchFamily="34" charset="0"/>
              </a:rPr>
              <a:t>contd.</a:t>
            </a:r>
          </a:p>
        </p:txBody>
      </p:sp>
      <p:pic>
        <p:nvPicPr>
          <p:cNvPr id="5122" name="Picture 2">
            <a:extLst>
              <a:ext uri="{FF2B5EF4-FFF2-40B4-BE49-F238E27FC236}">
                <a16:creationId xmlns:a16="http://schemas.microsoft.com/office/drawing/2014/main" id="{E6375BE5-6DCA-46AE-A9D8-2139E40046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1828989"/>
            <a:ext cx="8094254" cy="4578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5009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2.2 Conceptual, Logical and Physical Model</a:t>
            </a:r>
          </a:p>
        </p:txBody>
      </p:sp>
      <p:sp>
        <p:nvSpPr>
          <p:cNvPr id="3" name="Subtitle 2"/>
          <p:cNvSpPr>
            <a:spLocks noGrp="1"/>
          </p:cNvSpPr>
          <p:nvPr>
            <p:ph type="subTitle" idx="1"/>
          </p:nvPr>
        </p:nvSpPr>
        <p:spPr>
          <a:xfrm>
            <a:off x="1281567" y="1139687"/>
            <a:ext cx="8094254" cy="4990657"/>
          </a:xfrm>
        </p:spPr>
        <p:txBody>
          <a:bodyPr>
            <a:noAutofit/>
          </a:bodyPr>
          <a:lstStyle/>
          <a:p>
            <a:pPr algn="just">
              <a:buClr>
                <a:schemeClr val="tx1"/>
              </a:buClr>
              <a:buSzPct val="71000"/>
            </a:pPr>
            <a:r>
              <a:rPr lang="en-US" sz="2400" b="1" i="0" dirty="0">
                <a:solidFill>
                  <a:srgbClr val="222222"/>
                </a:solidFill>
                <a:effectLst/>
                <a:latin typeface="arial" panose="020B0604020202020204" pitchFamily="34" charset="0"/>
              </a:rPr>
              <a:t>Physical Data Model:</a:t>
            </a:r>
          </a:p>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rPr>
              <a:t>Comparing the physical data model shown above with the logical data model diagram, we see the main differences between the two:</a:t>
            </a:r>
          </a:p>
          <a:p>
            <a:pPr marL="914389" lvl="1" indent="-457200" algn="just">
              <a:buClr>
                <a:schemeClr val="tx1"/>
              </a:buClr>
              <a:buSzPct val="71000"/>
              <a:buFont typeface="Wingdings" panose="05000000000000000000" pitchFamily="2" charset="2"/>
              <a:buChar char="Ø"/>
            </a:pPr>
            <a:r>
              <a:rPr lang="en-US" sz="2400" i="0" dirty="0">
                <a:solidFill>
                  <a:srgbClr val="222222"/>
                </a:solidFill>
                <a:effectLst/>
                <a:latin typeface="arial" panose="020B0604020202020204" pitchFamily="34" charset="0"/>
              </a:rPr>
              <a:t>Entity names are now table names.</a:t>
            </a:r>
          </a:p>
          <a:p>
            <a:pPr marL="914389" lvl="1" indent="-457200" algn="just">
              <a:buClr>
                <a:schemeClr val="tx1"/>
              </a:buClr>
              <a:buSzPct val="71000"/>
              <a:buFont typeface="Wingdings" panose="05000000000000000000" pitchFamily="2" charset="2"/>
              <a:buChar char="Ø"/>
            </a:pPr>
            <a:r>
              <a:rPr lang="en-US" sz="2400" i="0" dirty="0">
                <a:solidFill>
                  <a:srgbClr val="222222"/>
                </a:solidFill>
                <a:effectLst/>
                <a:latin typeface="arial" panose="020B0604020202020204" pitchFamily="34" charset="0"/>
              </a:rPr>
              <a:t>Attributes are now column names.</a:t>
            </a:r>
          </a:p>
          <a:p>
            <a:pPr marL="914389" lvl="1" indent="-457200" algn="just">
              <a:buClr>
                <a:schemeClr val="tx1"/>
              </a:buClr>
              <a:buSzPct val="71000"/>
              <a:buFont typeface="Wingdings" panose="05000000000000000000" pitchFamily="2" charset="2"/>
              <a:buChar char="Ø"/>
            </a:pPr>
            <a:r>
              <a:rPr lang="en-US" sz="2400" i="0" dirty="0">
                <a:solidFill>
                  <a:srgbClr val="222222"/>
                </a:solidFill>
                <a:effectLst/>
                <a:latin typeface="arial" panose="020B0604020202020204" pitchFamily="34" charset="0"/>
              </a:rPr>
              <a:t>Data type for each column is specified. Data types can be different depending on the actual database being used.</a:t>
            </a:r>
          </a:p>
        </p:txBody>
      </p:sp>
      <p:sp>
        <p:nvSpPr>
          <p:cNvPr id="5" name="TextBox 4">
            <a:extLst>
              <a:ext uri="{FF2B5EF4-FFF2-40B4-BE49-F238E27FC236}">
                <a16:creationId xmlns:a16="http://schemas.microsoft.com/office/drawing/2014/main" id="{6B6747A7-E99A-4C06-9356-573AE365E089}"/>
              </a:ext>
            </a:extLst>
          </p:cNvPr>
          <p:cNvSpPr txBox="1"/>
          <p:nvPr/>
        </p:nvSpPr>
        <p:spPr>
          <a:xfrm>
            <a:off x="9481930" y="727656"/>
            <a:ext cx="881269" cy="369332"/>
          </a:xfrm>
          <a:prstGeom prst="rect">
            <a:avLst/>
          </a:prstGeom>
          <a:noFill/>
        </p:spPr>
        <p:txBody>
          <a:bodyPr wrap="square">
            <a:spAutoFit/>
          </a:bodyPr>
          <a:lstStyle/>
          <a:p>
            <a:pPr algn="just">
              <a:buClr>
                <a:schemeClr val="tx1"/>
              </a:buClr>
              <a:buSzPct val="71000"/>
            </a:pPr>
            <a:r>
              <a:rPr lang="en-US" sz="1800" b="1" i="0" dirty="0">
                <a:solidFill>
                  <a:schemeClr val="bg1">
                    <a:lumMod val="50000"/>
                  </a:schemeClr>
                </a:solidFill>
                <a:effectLst/>
                <a:latin typeface="arial" panose="020B0604020202020204" pitchFamily="34" charset="0"/>
              </a:rPr>
              <a:t>contd.</a:t>
            </a:r>
          </a:p>
        </p:txBody>
      </p:sp>
    </p:spTree>
    <p:extLst>
      <p:ext uri="{BB962C8B-B14F-4D97-AF65-F5344CB8AC3E}">
        <p14:creationId xmlns:p14="http://schemas.microsoft.com/office/powerpoint/2010/main" val="2672972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2.2 Conceptual, Logical and Physical Model</a:t>
            </a:r>
          </a:p>
        </p:txBody>
      </p:sp>
      <p:sp>
        <p:nvSpPr>
          <p:cNvPr id="3" name="Subtitle 2"/>
          <p:cNvSpPr>
            <a:spLocks noGrp="1"/>
          </p:cNvSpPr>
          <p:nvPr>
            <p:ph type="subTitle" idx="1"/>
          </p:nvPr>
        </p:nvSpPr>
        <p:spPr>
          <a:xfrm>
            <a:off x="1281567" y="1139688"/>
            <a:ext cx="8094254" cy="554538"/>
          </a:xfrm>
        </p:spPr>
        <p:txBody>
          <a:bodyPr>
            <a:normAutofit fontScale="92500"/>
          </a:bodyPr>
          <a:lstStyle/>
          <a:p>
            <a:pPr algn="l">
              <a:buClr>
                <a:schemeClr val="tx1"/>
              </a:buClr>
              <a:buSzPct val="71000"/>
            </a:pPr>
            <a:r>
              <a:rPr lang="en-US" sz="2800" b="1" i="0" dirty="0">
                <a:solidFill>
                  <a:srgbClr val="222222"/>
                </a:solidFill>
                <a:effectLst/>
                <a:latin typeface="arial" panose="020B0604020202020204" pitchFamily="34" charset="0"/>
              </a:rPr>
              <a:t>The table below compares the different features:</a:t>
            </a:r>
          </a:p>
          <a:p>
            <a:pPr algn="l">
              <a:buClr>
                <a:schemeClr val="tx1"/>
              </a:buClr>
              <a:buSzPct val="71000"/>
            </a:pPr>
            <a:endParaRPr lang="en-US" sz="2800" b="1" i="0" dirty="0">
              <a:solidFill>
                <a:srgbClr val="222222"/>
              </a:solidFill>
              <a:effectLst/>
              <a:latin typeface="arial" panose="020B0604020202020204" pitchFamily="34" charset="0"/>
            </a:endParaRPr>
          </a:p>
        </p:txBody>
      </p:sp>
      <p:pic>
        <p:nvPicPr>
          <p:cNvPr id="10" name="Picture 9">
            <a:extLst>
              <a:ext uri="{FF2B5EF4-FFF2-40B4-BE49-F238E27FC236}">
                <a16:creationId xmlns:a16="http://schemas.microsoft.com/office/drawing/2014/main" id="{ED0956A1-EACF-459C-AC3F-3674FAAF09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1567" y="1828989"/>
            <a:ext cx="8094254" cy="4399533"/>
          </a:xfrm>
          <a:prstGeom prst="rect">
            <a:avLst/>
          </a:prstGeom>
        </p:spPr>
      </p:pic>
    </p:spTree>
    <p:extLst>
      <p:ext uri="{BB962C8B-B14F-4D97-AF65-F5344CB8AC3E}">
        <p14:creationId xmlns:p14="http://schemas.microsoft.com/office/powerpoint/2010/main" val="4225236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2.2 Conceptual, Logical and Physical Model</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rPr>
              <a:t>We can see that the complexity increases from conceptual to logical to physical. </a:t>
            </a:r>
          </a:p>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rPr>
              <a:t>This is why we always first start with the conceptual data model (so we understand at high level what are the different entities in our data and how they relate to one another).</a:t>
            </a:r>
          </a:p>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rPr>
              <a:t>Then move on to the logical data model (so we understand the details of our data without worrying about how they will actually implemented).</a:t>
            </a:r>
          </a:p>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rPr>
              <a:t>And, finally the physical data model (so we know exactly how to implement our data model in the database of choice).</a:t>
            </a:r>
            <a:endParaRPr lang="en-US" sz="2400" dirty="0">
              <a:solidFill>
                <a:schemeClr val="tx1"/>
              </a:solidFill>
            </a:endParaRPr>
          </a:p>
        </p:txBody>
      </p:sp>
      <p:sp>
        <p:nvSpPr>
          <p:cNvPr id="5" name="TextBox 4">
            <a:extLst>
              <a:ext uri="{FF2B5EF4-FFF2-40B4-BE49-F238E27FC236}">
                <a16:creationId xmlns:a16="http://schemas.microsoft.com/office/drawing/2014/main" id="{A5BCD877-04DA-4987-926B-57DC62A9DE1B}"/>
              </a:ext>
            </a:extLst>
          </p:cNvPr>
          <p:cNvSpPr txBox="1"/>
          <p:nvPr/>
        </p:nvSpPr>
        <p:spPr>
          <a:xfrm>
            <a:off x="9481930" y="727656"/>
            <a:ext cx="881269" cy="369332"/>
          </a:xfrm>
          <a:prstGeom prst="rect">
            <a:avLst/>
          </a:prstGeom>
          <a:noFill/>
        </p:spPr>
        <p:txBody>
          <a:bodyPr wrap="square">
            <a:spAutoFit/>
          </a:bodyPr>
          <a:lstStyle/>
          <a:p>
            <a:pPr algn="just">
              <a:buClr>
                <a:schemeClr val="tx1"/>
              </a:buClr>
              <a:buSzPct val="71000"/>
            </a:pPr>
            <a:r>
              <a:rPr lang="en-US" sz="1800" b="1" i="0" dirty="0">
                <a:solidFill>
                  <a:schemeClr val="bg1">
                    <a:lumMod val="50000"/>
                  </a:schemeClr>
                </a:solidFill>
                <a:effectLst/>
                <a:latin typeface="arial" panose="020B0604020202020204" pitchFamily="34" charset="0"/>
              </a:rPr>
              <a:t>contd.</a:t>
            </a:r>
          </a:p>
        </p:txBody>
      </p:sp>
    </p:spTree>
    <p:extLst>
      <p:ext uri="{BB962C8B-B14F-4D97-AF65-F5344CB8AC3E}">
        <p14:creationId xmlns:p14="http://schemas.microsoft.com/office/powerpoint/2010/main" val="1101118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An Entity–relationship model (ER model) describes the structure of a database with the help of a diagram, which is known as Entity Relationship Diagram (ER Diagram).</a:t>
            </a:r>
          </a:p>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 An ER model is a design or blueprint of a database that can later be implemented as a database. The main components of E-R model are: entity set and relationship set.</a:t>
            </a:r>
          </a:p>
          <a:p>
            <a:pPr marL="457200" indent="-457200" algn="just">
              <a:buClr>
                <a:schemeClr val="tx1"/>
              </a:buClr>
              <a:buSzPct val="71000"/>
              <a:buFont typeface="Wingdings" panose="05000000000000000000" pitchFamily="2" charset="2"/>
              <a:buChar char="v"/>
            </a:pPr>
            <a:r>
              <a:rPr lang="en-US" sz="2400" b="0" i="0" dirty="0">
                <a:solidFill>
                  <a:srgbClr val="222426"/>
                </a:solidFill>
                <a:effectLst/>
                <a:latin typeface="Arial" panose="020B0604020202020204" pitchFamily="34" charset="0"/>
                <a:cs typeface="Arial" panose="020B0604020202020204" pitchFamily="34" charset="0"/>
              </a:rPr>
              <a:t>An ER diagram shows the relationship among entity sets. </a:t>
            </a:r>
          </a:p>
          <a:p>
            <a:pPr marL="457200" indent="-457200" algn="just">
              <a:buClr>
                <a:schemeClr val="tx1"/>
              </a:buClr>
              <a:buSzPct val="71000"/>
              <a:buFont typeface="Wingdings" panose="05000000000000000000" pitchFamily="2" charset="2"/>
              <a:buChar char="v"/>
            </a:pPr>
            <a:r>
              <a:rPr lang="en-US" sz="2400" b="0" i="0" dirty="0">
                <a:solidFill>
                  <a:srgbClr val="222426"/>
                </a:solidFill>
                <a:effectLst/>
                <a:latin typeface="Arial" panose="020B0604020202020204" pitchFamily="34" charset="0"/>
                <a:cs typeface="Arial" panose="020B0604020202020204" pitchFamily="34" charset="0"/>
              </a:rPr>
              <a:t>An entity set is a group of similar entities and these entities can have attributes. </a:t>
            </a:r>
            <a:endParaRPr lang="en-US" sz="2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822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6086642" cy="4990657"/>
          </a:xfrm>
        </p:spPr>
        <p:txBody>
          <a:bodyPr>
            <a:normAutofit fontScale="92500"/>
          </a:bodyPr>
          <a:lstStyle/>
          <a:p>
            <a:pPr algn="just">
              <a:buClr>
                <a:schemeClr val="tx1"/>
              </a:buClr>
              <a:buSzPct val="71000"/>
            </a:pPr>
            <a:r>
              <a:rPr lang="en-US" sz="2400" i="0" dirty="0">
                <a:solidFill>
                  <a:srgbClr val="222222"/>
                </a:solidFill>
                <a:effectLst/>
                <a:latin typeface="Arial" panose="020B0604020202020204" pitchFamily="34" charset="0"/>
                <a:cs typeface="Arial" panose="020B0604020202020204" pitchFamily="34" charset="0"/>
              </a:rPr>
              <a:t>1. </a:t>
            </a:r>
            <a:r>
              <a:rPr lang="en-US" sz="2400" b="1" i="0" dirty="0">
                <a:solidFill>
                  <a:srgbClr val="222222"/>
                </a:solidFill>
                <a:effectLst/>
                <a:latin typeface="Arial" panose="020B0604020202020204" pitchFamily="34" charset="0"/>
                <a:cs typeface="Arial" panose="020B0604020202020204" pitchFamily="34" charset="0"/>
              </a:rPr>
              <a:t>Entity, Entity Type, Entity Set :</a:t>
            </a:r>
          </a:p>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An Entity may be an object with a physical existence - a particular person, car, house, or employee – or it may be an object with a conceptual existence – a company, a job, or a university course.</a:t>
            </a:r>
          </a:p>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An Entity is an object of Entity Type and set of all entities is called as entity set. </a:t>
            </a:r>
          </a:p>
          <a:p>
            <a:pPr marL="457200" indent="-4572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Example,</a:t>
            </a:r>
            <a:r>
              <a:rPr lang="en-US" sz="2400" i="0" dirty="0">
                <a:solidFill>
                  <a:srgbClr val="222222"/>
                </a:solidFill>
                <a:effectLst/>
                <a:latin typeface="Arial" panose="020B0604020202020204" pitchFamily="34" charset="0"/>
                <a:cs typeface="Arial" panose="020B0604020202020204" pitchFamily="34" charset="0"/>
              </a:rPr>
              <a:t> E1 is an entity having Entity Type Student and set of all students is called Entity Set.</a:t>
            </a:r>
          </a:p>
          <a:p>
            <a:pPr marL="457200" indent="-4572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In E-R diagram, Entity is represented by a rectangle.</a:t>
            </a:r>
            <a:endParaRPr lang="en-US" sz="2400" dirty="0">
              <a:solidFill>
                <a:schemeClr val="tx1"/>
              </a:solidFill>
              <a:latin typeface="Arial" panose="020B0604020202020204" pitchFamily="34" charset="0"/>
              <a:cs typeface="Arial" panose="020B0604020202020204" pitchFamily="34" charset="0"/>
            </a:endParaRPr>
          </a:p>
        </p:txBody>
      </p:sp>
      <p:pic>
        <p:nvPicPr>
          <p:cNvPr id="2050" name="Picture 2">
            <a:extLst>
              <a:ext uri="{FF2B5EF4-FFF2-40B4-BE49-F238E27FC236}">
                <a16:creationId xmlns:a16="http://schemas.microsoft.com/office/drawing/2014/main" id="{252145E6-1E2A-4E4C-A17F-34E741796A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0711" y="1362075"/>
            <a:ext cx="1955110" cy="3965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675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5397529" cy="4990657"/>
          </a:xfrm>
        </p:spPr>
        <p:txBody>
          <a:bodyPr>
            <a:normAutofit/>
          </a:bodyPr>
          <a:lstStyle/>
          <a:p>
            <a:pPr algn="just">
              <a:buClr>
                <a:schemeClr val="tx1"/>
              </a:buClr>
              <a:buSzPct val="71000"/>
            </a:pPr>
            <a:r>
              <a:rPr lang="en-US" sz="2400" dirty="0">
                <a:solidFill>
                  <a:srgbClr val="222222"/>
                </a:solidFill>
                <a:latin typeface="Arial" panose="020B0604020202020204" pitchFamily="34" charset="0"/>
                <a:cs typeface="Arial" panose="020B0604020202020204" pitchFamily="34" charset="0"/>
              </a:rPr>
              <a:t>2. </a:t>
            </a:r>
            <a:r>
              <a:rPr lang="en-US" sz="2400" b="1" i="0" dirty="0">
                <a:solidFill>
                  <a:srgbClr val="222222"/>
                </a:solidFill>
                <a:effectLst/>
                <a:latin typeface="Arial" panose="020B0604020202020204" pitchFamily="34" charset="0"/>
                <a:cs typeface="Arial" panose="020B0604020202020204" pitchFamily="34" charset="0"/>
              </a:rPr>
              <a:t>Attribute(s):</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Attributes are the properties which define the entity type. </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For example, </a:t>
            </a:r>
            <a:r>
              <a:rPr lang="en-US" sz="2400" i="0" dirty="0" err="1">
                <a:solidFill>
                  <a:srgbClr val="222222"/>
                </a:solidFill>
                <a:effectLst/>
                <a:latin typeface="Arial" panose="020B0604020202020204" pitchFamily="34" charset="0"/>
                <a:cs typeface="Arial" panose="020B0604020202020204" pitchFamily="34" charset="0"/>
              </a:rPr>
              <a:t>Roll_No</a:t>
            </a:r>
            <a:r>
              <a:rPr lang="en-US" sz="2400" i="0" dirty="0">
                <a:solidFill>
                  <a:srgbClr val="222222"/>
                </a:solidFill>
                <a:effectLst/>
                <a:latin typeface="Arial" panose="020B0604020202020204" pitchFamily="34" charset="0"/>
                <a:cs typeface="Arial" panose="020B0604020202020204" pitchFamily="34" charset="0"/>
              </a:rPr>
              <a:t>, Name, DOB, Age, Address, </a:t>
            </a:r>
            <a:r>
              <a:rPr lang="en-US" sz="2400" i="0" dirty="0" err="1">
                <a:solidFill>
                  <a:srgbClr val="222222"/>
                </a:solidFill>
                <a:effectLst/>
                <a:latin typeface="Arial" panose="020B0604020202020204" pitchFamily="34" charset="0"/>
                <a:cs typeface="Arial" panose="020B0604020202020204" pitchFamily="34" charset="0"/>
              </a:rPr>
              <a:t>Mobile_No</a:t>
            </a:r>
            <a:r>
              <a:rPr lang="en-US" sz="2400" i="0" dirty="0">
                <a:solidFill>
                  <a:srgbClr val="222222"/>
                </a:solidFill>
                <a:effectLst/>
                <a:latin typeface="Arial" panose="020B0604020202020204" pitchFamily="34" charset="0"/>
                <a:cs typeface="Arial" panose="020B0604020202020204" pitchFamily="34" charset="0"/>
              </a:rPr>
              <a:t> are the attributes which defines entity type Student.</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In ER diagram, attribute is represented by an oval.</a:t>
            </a:r>
            <a:endParaRPr lang="en-US" sz="2400" dirty="0">
              <a:solidFill>
                <a:schemeClr val="tx1"/>
              </a:solidFill>
              <a:latin typeface="Arial" panose="020B0604020202020204" pitchFamily="34" charset="0"/>
              <a:cs typeface="Arial" panose="020B0604020202020204" pitchFamily="34" charset="0"/>
            </a:endParaRPr>
          </a:p>
        </p:txBody>
      </p:sp>
      <p:pic>
        <p:nvPicPr>
          <p:cNvPr id="3074" name="Picture 2">
            <a:extLst>
              <a:ext uri="{FF2B5EF4-FFF2-40B4-BE49-F238E27FC236}">
                <a16:creationId xmlns:a16="http://schemas.microsoft.com/office/drawing/2014/main" id="{0BC205BF-C069-455F-8F87-5CB3AEFF62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6021" y="2172114"/>
            <a:ext cx="2209800" cy="1256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4884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5397529" cy="4990657"/>
          </a:xfrm>
        </p:spPr>
        <p:txBody>
          <a:bodyPr>
            <a:normAutofit/>
          </a:bodyPr>
          <a:lstStyle/>
          <a:p>
            <a:pPr algn="just">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Types of At</a:t>
            </a:r>
            <a:r>
              <a:rPr lang="en-US" sz="2400" b="1" dirty="0">
                <a:solidFill>
                  <a:srgbClr val="222222"/>
                </a:solidFill>
                <a:latin typeface="Arial" panose="020B0604020202020204" pitchFamily="34" charset="0"/>
                <a:cs typeface="Arial" panose="020B0604020202020204" pitchFamily="34" charset="0"/>
              </a:rPr>
              <a:t>tribute:</a:t>
            </a:r>
            <a:endParaRPr lang="en-US" sz="2400" b="1" i="0" dirty="0">
              <a:solidFill>
                <a:srgbClr val="222222"/>
              </a:solidFill>
              <a:effectLst/>
              <a:latin typeface="Arial" panose="020B0604020202020204" pitchFamily="34" charset="0"/>
              <a:cs typeface="Arial" panose="020B0604020202020204" pitchFamily="34" charset="0"/>
            </a:endParaRPr>
          </a:p>
          <a:p>
            <a:pPr algn="just">
              <a:buClr>
                <a:schemeClr val="tx1"/>
              </a:buClr>
              <a:buSzPct val="71000"/>
            </a:pPr>
            <a:r>
              <a:rPr lang="en-US" sz="2400" i="0" dirty="0">
                <a:solidFill>
                  <a:srgbClr val="222222"/>
                </a:solidFill>
                <a:effectLst/>
                <a:latin typeface="Arial" panose="020B0604020202020204" pitchFamily="34" charset="0"/>
                <a:cs typeface="Arial" panose="020B0604020202020204" pitchFamily="34" charset="0"/>
              </a:rPr>
              <a:t>a. </a:t>
            </a:r>
            <a:r>
              <a:rPr lang="en-US" sz="2400" i="0" dirty="0">
                <a:solidFill>
                  <a:srgbClr val="FF0000"/>
                </a:solidFill>
                <a:effectLst/>
                <a:latin typeface="Arial" panose="020B0604020202020204" pitchFamily="34" charset="0"/>
                <a:cs typeface="Arial" panose="020B0604020202020204" pitchFamily="34" charset="0"/>
              </a:rPr>
              <a:t>Key Attribute </a:t>
            </a:r>
            <a:r>
              <a:rPr lang="en-US" sz="2400" i="0" dirty="0">
                <a:solidFill>
                  <a:srgbClr val="222222"/>
                </a:solidFill>
                <a:effectLst/>
                <a:latin typeface="Arial" panose="020B0604020202020204" pitchFamily="34" charset="0"/>
                <a:cs typeface="Arial" panose="020B0604020202020204" pitchFamily="34" charset="0"/>
              </a:rPr>
              <a:t>–</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The attribute which uniquely identifies each entity in the entity set is called key attribute.</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For example, </a:t>
            </a:r>
            <a:r>
              <a:rPr lang="en-US" sz="2400" i="0" dirty="0" err="1">
                <a:solidFill>
                  <a:srgbClr val="222222"/>
                </a:solidFill>
                <a:effectLst/>
                <a:latin typeface="Arial" panose="020B0604020202020204" pitchFamily="34" charset="0"/>
                <a:cs typeface="Arial" panose="020B0604020202020204" pitchFamily="34" charset="0"/>
              </a:rPr>
              <a:t>Roll_No</a:t>
            </a:r>
            <a:r>
              <a:rPr lang="en-US" sz="2400" i="0" dirty="0">
                <a:solidFill>
                  <a:srgbClr val="222222"/>
                </a:solidFill>
                <a:effectLst/>
                <a:latin typeface="Arial" panose="020B0604020202020204" pitchFamily="34" charset="0"/>
                <a:cs typeface="Arial" panose="020B0604020202020204" pitchFamily="34" charset="0"/>
              </a:rPr>
              <a:t> will be unique for each student. </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In ER diagram, key attribute is represented by an oval with underlying lines.</a:t>
            </a:r>
            <a:endParaRPr lang="en-US" sz="2400" dirty="0">
              <a:solidFill>
                <a:schemeClr val="tx1"/>
              </a:solidFill>
              <a:latin typeface="Arial" panose="020B0604020202020204" pitchFamily="34" charset="0"/>
              <a:cs typeface="Arial" panose="020B0604020202020204" pitchFamily="34" charset="0"/>
            </a:endParaRPr>
          </a:p>
        </p:txBody>
      </p:sp>
      <p:pic>
        <p:nvPicPr>
          <p:cNvPr id="4098" name="Picture 2">
            <a:extLst>
              <a:ext uri="{FF2B5EF4-FFF2-40B4-BE49-F238E27FC236}">
                <a16:creationId xmlns:a16="http://schemas.microsoft.com/office/drawing/2014/main" id="{C4AC9B08-7091-472B-BE11-DA197D257E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2178" y="2728705"/>
            <a:ext cx="2209800" cy="116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632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2473000"/>
          </a:xfrm>
        </p:spPr>
        <p:txBody>
          <a:bodyPr>
            <a:normAutofit fontScale="77500" lnSpcReduction="20000"/>
          </a:bodyPr>
          <a:lstStyle/>
          <a:p>
            <a:pPr algn="just">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Types of At</a:t>
            </a:r>
            <a:r>
              <a:rPr lang="en-US" sz="2400" b="1" dirty="0">
                <a:solidFill>
                  <a:srgbClr val="222222"/>
                </a:solidFill>
                <a:latin typeface="Arial" panose="020B0604020202020204" pitchFamily="34" charset="0"/>
                <a:cs typeface="Arial" panose="020B0604020202020204" pitchFamily="34" charset="0"/>
              </a:rPr>
              <a:t>tribute:</a:t>
            </a:r>
            <a:endParaRPr lang="en-US" sz="2400" b="1" i="0" dirty="0">
              <a:solidFill>
                <a:srgbClr val="222222"/>
              </a:solidFill>
              <a:effectLst/>
              <a:latin typeface="Arial" panose="020B0604020202020204" pitchFamily="34" charset="0"/>
              <a:cs typeface="Arial" panose="020B0604020202020204" pitchFamily="34" charset="0"/>
            </a:endParaRPr>
          </a:p>
          <a:p>
            <a:pPr algn="just">
              <a:buClr>
                <a:schemeClr val="tx1"/>
              </a:buClr>
              <a:buSzPct val="71000"/>
            </a:pPr>
            <a:r>
              <a:rPr lang="en-US" sz="2400" dirty="0">
                <a:solidFill>
                  <a:srgbClr val="222222"/>
                </a:solidFill>
                <a:latin typeface="Arial" panose="020B0604020202020204" pitchFamily="34" charset="0"/>
                <a:cs typeface="Arial" panose="020B0604020202020204" pitchFamily="34" charset="0"/>
              </a:rPr>
              <a:t>b.</a:t>
            </a:r>
            <a:r>
              <a:rPr lang="en-US" sz="2400" i="0" dirty="0">
                <a:solidFill>
                  <a:srgbClr val="222222"/>
                </a:solidFill>
                <a:effectLst/>
                <a:latin typeface="Arial" panose="020B0604020202020204" pitchFamily="34" charset="0"/>
                <a:cs typeface="Arial" panose="020B0604020202020204" pitchFamily="34" charset="0"/>
              </a:rPr>
              <a:t> </a:t>
            </a:r>
            <a:r>
              <a:rPr lang="en-US" sz="2400" i="0" dirty="0">
                <a:solidFill>
                  <a:srgbClr val="FF0000"/>
                </a:solidFill>
                <a:effectLst/>
                <a:latin typeface="Arial" panose="020B0604020202020204" pitchFamily="34" charset="0"/>
                <a:cs typeface="Arial" panose="020B0604020202020204" pitchFamily="34" charset="0"/>
              </a:rPr>
              <a:t>Composite Attribute –</a:t>
            </a:r>
          </a:p>
          <a:p>
            <a:pPr marL="342900" indent="-342900" algn="just">
              <a:buClr>
                <a:schemeClr val="tx1"/>
              </a:buClr>
              <a:buSzPct val="71000"/>
              <a:buFont typeface="Wingdings" panose="05000000000000000000" pitchFamily="2" charset="2"/>
              <a:buChar char="v"/>
            </a:pPr>
            <a:r>
              <a:rPr lang="en-US" sz="2400" i="0" dirty="0">
                <a:solidFill>
                  <a:schemeClr val="tx1"/>
                </a:solidFill>
                <a:effectLst/>
                <a:latin typeface="Arial" panose="020B0604020202020204" pitchFamily="34" charset="0"/>
                <a:cs typeface="Arial" panose="020B0604020202020204" pitchFamily="34" charset="0"/>
              </a:rPr>
              <a:t>An attribute composed of many other attribute is called as composite attribute. </a:t>
            </a:r>
          </a:p>
          <a:p>
            <a:pPr marL="342900" indent="-342900" algn="just">
              <a:buClr>
                <a:schemeClr val="tx1"/>
              </a:buClr>
              <a:buSzPct val="71000"/>
              <a:buFont typeface="Wingdings" panose="05000000000000000000" pitchFamily="2" charset="2"/>
              <a:buChar char="v"/>
            </a:pPr>
            <a:r>
              <a:rPr lang="en-US" sz="2400" i="0" dirty="0">
                <a:solidFill>
                  <a:schemeClr val="tx1"/>
                </a:solidFill>
                <a:effectLst/>
                <a:latin typeface="Arial" panose="020B0604020202020204" pitchFamily="34" charset="0"/>
                <a:cs typeface="Arial" panose="020B0604020202020204" pitchFamily="34" charset="0"/>
              </a:rPr>
              <a:t>For example, Address attribute of student Entity type consists of Street, City, State, and Country. </a:t>
            </a:r>
          </a:p>
          <a:p>
            <a:pPr marL="342900" indent="-342900" algn="just">
              <a:buClr>
                <a:schemeClr val="tx1"/>
              </a:buClr>
              <a:buSzPct val="71000"/>
              <a:buFont typeface="Wingdings" panose="05000000000000000000" pitchFamily="2" charset="2"/>
              <a:buChar char="v"/>
            </a:pPr>
            <a:r>
              <a:rPr lang="en-US" sz="2400" i="0" dirty="0">
                <a:solidFill>
                  <a:schemeClr val="tx1"/>
                </a:solidFill>
                <a:effectLst/>
                <a:latin typeface="Arial" panose="020B0604020202020204" pitchFamily="34" charset="0"/>
                <a:cs typeface="Arial" panose="020B0604020202020204" pitchFamily="34" charset="0"/>
              </a:rPr>
              <a:t>In ER diagram, composite attribute is represented by an oval comprising of ovals.</a:t>
            </a:r>
            <a:endParaRPr lang="en-US" sz="2400" dirty="0">
              <a:solidFill>
                <a:schemeClr val="tx1"/>
              </a:solidFill>
              <a:latin typeface="Arial" panose="020B0604020202020204" pitchFamily="34" charset="0"/>
              <a:cs typeface="Arial" panose="020B0604020202020204" pitchFamily="34" charset="0"/>
            </a:endParaRPr>
          </a:p>
        </p:txBody>
      </p:sp>
      <p:pic>
        <p:nvPicPr>
          <p:cNvPr id="4100" name="Picture 4">
            <a:extLst>
              <a:ext uri="{FF2B5EF4-FFF2-40B4-BE49-F238E27FC236}">
                <a16:creationId xmlns:a16="http://schemas.microsoft.com/office/drawing/2014/main" id="{BB69A62F-3F98-4FC7-B70F-13B7BBA36A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3747448"/>
            <a:ext cx="8094254" cy="2186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9851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5397529" cy="4990657"/>
          </a:xfrm>
        </p:spPr>
        <p:txBody>
          <a:bodyPr>
            <a:normAutofit/>
          </a:bodyPr>
          <a:lstStyle/>
          <a:p>
            <a:pPr algn="just">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Types of At</a:t>
            </a:r>
            <a:r>
              <a:rPr lang="en-US" sz="2400" b="1" dirty="0">
                <a:solidFill>
                  <a:srgbClr val="222222"/>
                </a:solidFill>
                <a:latin typeface="Arial" panose="020B0604020202020204" pitchFamily="34" charset="0"/>
                <a:cs typeface="Arial" panose="020B0604020202020204" pitchFamily="34" charset="0"/>
              </a:rPr>
              <a:t>tribute:</a:t>
            </a:r>
            <a:endParaRPr lang="en-US" sz="2400" b="1" i="0" dirty="0">
              <a:solidFill>
                <a:srgbClr val="222222"/>
              </a:solidFill>
              <a:effectLst/>
              <a:latin typeface="Arial" panose="020B0604020202020204" pitchFamily="34" charset="0"/>
              <a:cs typeface="Arial" panose="020B0604020202020204" pitchFamily="34" charset="0"/>
            </a:endParaRPr>
          </a:p>
          <a:p>
            <a:pPr algn="just">
              <a:buClr>
                <a:schemeClr val="tx1"/>
              </a:buClr>
              <a:buSzPct val="71000"/>
            </a:pPr>
            <a:r>
              <a:rPr lang="en-US" sz="2400" dirty="0">
                <a:solidFill>
                  <a:srgbClr val="222222"/>
                </a:solidFill>
                <a:latin typeface="Arial" panose="020B0604020202020204" pitchFamily="34" charset="0"/>
                <a:cs typeface="Arial" panose="020B0604020202020204" pitchFamily="34" charset="0"/>
              </a:rPr>
              <a:t>c</a:t>
            </a:r>
            <a:r>
              <a:rPr lang="en-US" sz="2400" i="0" dirty="0">
                <a:solidFill>
                  <a:srgbClr val="222222"/>
                </a:solidFill>
                <a:effectLst/>
                <a:latin typeface="Arial" panose="020B0604020202020204" pitchFamily="34" charset="0"/>
                <a:cs typeface="Arial" panose="020B0604020202020204" pitchFamily="34" charset="0"/>
              </a:rPr>
              <a:t>. </a:t>
            </a:r>
            <a:r>
              <a:rPr lang="en-US" sz="2400" dirty="0">
                <a:solidFill>
                  <a:srgbClr val="FF0000"/>
                </a:solidFill>
                <a:latin typeface="Arial" panose="020B0604020202020204" pitchFamily="34" charset="0"/>
                <a:cs typeface="Arial" panose="020B0604020202020204" pitchFamily="34" charset="0"/>
              </a:rPr>
              <a:t>Multivalued </a:t>
            </a:r>
            <a:r>
              <a:rPr lang="en-US" sz="2400" i="0" dirty="0">
                <a:solidFill>
                  <a:srgbClr val="FF0000"/>
                </a:solidFill>
                <a:effectLst/>
                <a:latin typeface="Arial" panose="020B0604020202020204" pitchFamily="34" charset="0"/>
                <a:cs typeface="Arial" panose="020B0604020202020204" pitchFamily="34" charset="0"/>
              </a:rPr>
              <a:t>Attribute </a:t>
            </a:r>
            <a:r>
              <a:rPr lang="en-US" sz="2400" i="0" dirty="0">
                <a:solidFill>
                  <a:srgbClr val="222222"/>
                </a:solidFill>
                <a:effectLst/>
                <a:latin typeface="Arial" panose="020B0604020202020204" pitchFamily="34" charset="0"/>
                <a:cs typeface="Arial" panose="020B0604020202020204" pitchFamily="34" charset="0"/>
              </a:rPr>
              <a:t>–</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An attribute consisting more than one value for a given entity. </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For example, </a:t>
            </a:r>
            <a:r>
              <a:rPr lang="en-US" sz="2400" i="0" dirty="0" err="1">
                <a:solidFill>
                  <a:srgbClr val="222222"/>
                </a:solidFill>
                <a:effectLst/>
                <a:latin typeface="Arial" panose="020B0604020202020204" pitchFamily="34" charset="0"/>
                <a:cs typeface="Arial" panose="020B0604020202020204" pitchFamily="34" charset="0"/>
              </a:rPr>
              <a:t>Phone_No</a:t>
            </a:r>
            <a:r>
              <a:rPr lang="en-US" sz="2400" i="0" dirty="0">
                <a:solidFill>
                  <a:srgbClr val="222222"/>
                </a:solidFill>
                <a:effectLst/>
                <a:latin typeface="Arial" panose="020B0604020202020204" pitchFamily="34" charset="0"/>
                <a:cs typeface="Arial" panose="020B0604020202020204" pitchFamily="34" charset="0"/>
              </a:rPr>
              <a:t> (can be more than one for a given student). </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In ER diagram, multivalued attribute is represented by double oval.</a:t>
            </a:r>
            <a:endParaRPr lang="en-US" sz="2400" dirty="0">
              <a:solidFill>
                <a:schemeClr val="tx1"/>
              </a:solidFill>
              <a:latin typeface="Arial" panose="020B0604020202020204" pitchFamily="34" charset="0"/>
              <a:cs typeface="Arial" panose="020B0604020202020204" pitchFamily="34" charset="0"/>
            </a:endParaRPr>
          </a:p>
        </p:txBody>
      </p:sp>
      <p:pic>
        <p:nvPicPr>
          <p:cNvPr id="6146" name="Picture 2">
            <a:extLst>
              <a:ext uri="{FF2B5EF4-FFF2-40B4-BE49-F238E27FC236}">
                <a16:creationId xmlns:a16="http://schemas.microsoft.com/office/drawing/2014/main" id="{83BDFF89-69E6-41A6-898E-C42EB12B95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5521" y="2752725"/>
            <a:ext cx="2400300" cy="135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4713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5397529" cy="4990657"/>
          </a:xfrm>
        </p:spPr>
        <p:txBody>
          <a:bodyPr>
            <a:normAutofit/>
          </a:bodyPr>
          <a:lstStyle/>
          <a:p>
            <a:pPr algn="just">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Types of At</a:t>
            </a:r>
            <a:r>
              <a:rPr lang="en-US" sz="2400" b="1" dirty="0">
                <a:solidFill>
                  <a:srgbClr val="222222"/>
                </a:solidFill>
                <a:latin typeface="Arial" panose="020B0604020202020204" pitchFamily="34" charset="0"/>
                <a:cs typeface="Arial" panose="020B0604020202020204" pitchFamily="34" charset="0"/>
              </a:rPr>
              <a:t>tribute:</a:t>
            </a:r>
            <a:endParaRPr lang="en-US" sz="2400" b="1" i="0" dirty="0">
              <a:solidFill>
                <a:srgbClr val="222222"/>
              </a:solidFill>
              <a:effectLst/>
              <a:latin typeface="Arial" panose="020B0604020202020204" pitchFamily="34" charset="0"/>
              <a:cs typeface="Arial" panose="020B0604020202020204" pitchFamily="34" charset="0"/>
            </a:endParaRPr>
          </a:p>
          <a:p>
            <a:pPr algn="just">
              <a:buClr>
                <a:schemeClr val="tx1"/>
              </a:buClr>
              <a:buSzPct val="71000"/>
            </a:pPr>
            <a:r>
              <a:rPr lang="en-US" sz="2400" i="0" dirty="0">
                <a:solidFill>
                  <a:srgbClr val="222222"/>
                </a:solidFill>
                <a:effectLst/>
                <a:latin typeface="Arial" panose="020B0604020202020204" pitchFamily="34" charset="0"/>
                <a:cs typeface="Arial" panose="020B0604020202020204" pitchFamily="34" charset="0"/>
              </a:rPr>
              <a:t>d. </a:t>
            </a:r>
            <a:r>
              <a:rPr lang="en-US" sz="2400" i="0" dirty="0">
                <a:solidFill>
                  <a:srgbClr val="FF0000"/>
                </a:solidFill>
                <a:effectLst/>
                <a:latin typeface="Arial" panose="020B0604020202020204" pitchFamily="34" charset="0"/>
                <a:cs typeface="Arial" panose="020B0604020202020204" pitchFamily="34" charset="0"/>
              </a:rPr>
              <a:t>Derived</a:t>
            </a:r>
            <a:r>
              <a:rPr lang="en-US" sz="2400" dirty="0">
                <a:solidFill>
                  <a:srgbClr val="FF0000"/>
                </a:solidFill>
                <a:latin typeface="Arial" panose="020B0604020202020204" pitchFamily="34" charset="0"/>
                <a:cs typeface="Arial" panose="020B0604020202020204" pitchFamily="34" charset="0"/>
              </a:rPr>
              <a:t> </a:t>
            </a:r>
            <a:r>
              <a:rPr lang="en-US" sz="2400" i="0" dirty="0">
                <a:solidFill>
                  <a:srgbClr val="FF0000"/>
                </a:solidFill>
                <a:effectLst/>
                <a:latin typeface="Arial" panose="020B0604020202020204" pitchFamily="34" charset="0"/>
                <a:cs typeface="Arial" panose="020B0604020202020204" pitchFamily="34" charset="0"/>
              </a:rPr>
              <a:t>Attribute </a:t>
            </a:r>
            <a:r>
              <a:rPr lang="en-US" sz="2400" i="0" dirty="0">
                <a:solidFill>
                  <a:srgbClr val="222222"/>
                </a:solidFill>
                <a:effectLst/>
                <a:latin typeface="Arial" panose="020B0604020202020204" pitchFamily="34" charset="0"/>
                <a:cs typeface="Arial" panose="020B0604020202020204" pitchFamily="34" charset="0"/>
              </a:rPr>
              <a:t>–</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An attribute which can be derived from other attributes of the entity type is known as derived attribute.</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Example,</a:t>
            </a:r>
            <a:r>
              <a:rPr lang="en-US" sz="2400" i="0" dirty="0">
                <a:solidFill>
                  <a:srgbClr val="222222"/>
                </a:solidFill>
                <a:effectLst/>
                <a:latin typeface="Arial" panose="020B0604020202020204" pitchFamily="34" charset="0"/>
                <a:cs typeface="Arial" panose="020B0604020202020204" pitchFamily="34" charset="0"/>
              </a:rPr>
              <a:t> Age (can be derived from DOB). </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In ER diagram, derived attribute is represented by dashed oval.</a:t>
            </a:r>
            <a:endParaRPr lang="en-US" sz="2400" dirty="0">
              <a:solidFill>
                <a:schemeClr val="tx1"/>
              </a:solidFill>
              <a:latin typeface="Arial" panose="020B0604020202020204" pitchFamily="34" charset="0"/>
              <a:cs typeface="Arial" panose="020B0604020202020204" pitchFamily="34" charset="0"/>
            </a:endParaRPr>
          </a:p>
        </p:txBody>
      </p:sp>
      <p:pic>
        <p:nvPicPr>
          <p:cNvPr id="7170" name="Picture 2">
            <a:extLst>
              <a:ext uri="{FF2B5EF4-FFF2-40B4-BE49-F238E27FC236}">
                <a16:creationId xmlns:a16="http://schemas.microsoft.com/office/drawing/2014/main" id="{3E29CB33-B812-40FF-A935-88274E2B2C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6021" y="2940740"/>
            <a:ext cx="2209800" cy="116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935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2531166"/>
          </a:xfrm>
        </p:spPr>
        <p:txBody>
          <a:bodyPr>
            <a:normAutofit fontScale="77500" lnSpcReduction="20000"/>
          </a:bodyPr>
          <a:lstStyle/>
          <a:p>
            <a:pPr algn="l">
              <a:buClr>
                <a:schemeClr val="tx1"/>
              </a:buClr>
              <a:buSzPct val="71000"/>
            </a:pPr>
            <a:r>
              <a:rPr lang="en-US" sz="2400" b="1" i="0" dirty="0">
                <a:solidFill>
                  <a:schemeClr val="tx1"/>
                </a:solidFill>
                <a:effectLst/>
                <a:latin typeface="Arial" panose="020B0604020202020204" pitchFamily="34" charset="0"/>
                <a:cs typeface="Arial" panose="020B0604020202020204" pitchFamily="34" charset="0"/>
              </a:rPr>
              <a:t>Types of attribute</a:t>
            </a:r>
          </a:p>
          <a:p>
            <a:pPr algn="l">
              <a:buClr>
                <a:schemeClr val="tx1"/>
              </a:buClr>
              <a:buSzPct val="71000"/>
            </a:pPr>
            <a:r>
              <a:rPr lang="en-US" sz="2400" b="1" i="0" dirty="0">
                <a:solidFill>
                  <a:schemeClr val="tx1"/>
                </a:solidFill>
                <a:effectLst/>
                <a:latin typeface="Arial" panose="020B0604020202020204" pitchFamily="34" charset="0"/>
                <a:cs typeface="Arial" panose="020B0604020202020204" pitchFamily="34" charset="0"/>
              </a:rPr>
              <a:t>e. </a:t>
            </a:r>
            <a:r>
              <a:rPr lang="en-US" sz="2400" b="1" i="0" dirty="0">
                <a:solidFill>
                  <a:schemeClr val="accent1"/>
                </a:solidFill>
                <a:effectLst/>
                <a:latin typeface="Arial" panose="020B0604020202020204" pitchFamily="34" charset="0"/>
                <a:cs typeface="Arial" panose="020B0604020202020204" pitchFamily="34" charset="0"/>
              </a:rPr>
              <a:t>Descriptive attribute</a:t>
            </a:r>
          </a:p>
          <a:p>
            <a:pPr marL="342900" indent="-342900" algn="just">
              <a:spcBef>
                <a:spcPts val="600"/>
              </a:spcBef>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cs typeface="Arial" panose="020B0604020202020204" pitchFamily="34" charset="0"/>
              </a:rPr>
              <a:t>The attribute(s) used for describing the relationship is called descriptive attributes, also referred as relationship attributes. </a:t>
            </a:r>
          </a:p>
          <a:p>
            <a:pPr marL="342900" indent="-342900" algn="just">
              <a:spcBef>
                <a:spcPts val="600"/>
              </a:spcBef>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cs typeface="Arial" panose="020B0604020202020204" pitchFamily="34" charset="0"/>
              </a:rPr>
              <a:t>They are actually used for storing information about the relationship. </a:t>
            </a:r>
          </a:p>
          <a:p>
            <a:pPr marL="342900" indent="-342900" algn="just">
              <a:spcBef>
                <a:spcPts val="600"/>
              </a:spcBef>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cs typeface="Arial" panose="020B0604020202020204" pitchFamily="34" charset="0"/>
              </a:rPr>
              <a:t>A relationship can have zero or more attributes.</a:t>
            </a:r>
          </a:p>
        </p:txBody>
      </p:sp>
      <p:pic>
        <p:nvPicPr>
          <p:cNvPr id="26626" name="Picture 2">
            <a:extLst>
              <a:ext uri="{FF2B5EF4-FFF2-40B4-BE49-F238E27FC236}">
                <a16:creationId xmlns:a16="http://schemas.microsoft.com/office/drawing/2014/main" id="{95813A9A-8FF7-4062-97DC-3F6294F7F8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5148" y="3805615"/>
            <a:ext cx="6241774" cy="17145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C1C1964-5F60-469A-9AF0-884FD3C2A7F0}"/>
              </a:ext>
            </a:extLst>
          </p:cNvPr>
          <p:cNvSpPr txBox="1"/>
          <p:nvPr/>
        </p:nvSpPr>
        <p:spPr>
          <a:xfrm>
            <a:off x="1712844" y="6038281"/>
            <a:ext cx="6102626" cy="369332"/>
          </a:xfrm>
          <a:prstGeom prst="rect">
            <a:avLst/>
          </a:prstGeom>
          <a:noFill/>
        </p:spPr>
        <p:txBody>
          <a:bodyPr wrap="square">
            <a:spAutoFit/>
          </a:bodyPr>
          <a:lstStyle/>
          <a:p>
            <a:r>
              <a:rPr lang="en-US" b="0" i="0" dirty="0">
                <a:solidFill>
                  <a:srgbClr val="222222"/>
                </a:solidFill>
                <a:effectLst/>
                <a:latin typeface="book antiqua" panose="02040602050305030304" pitchFamily="18" charset="0"/>
              </a:rPr>
              <a:t>-LAD (Last Accessed Date)</a:t>
            </a:r>
            <a:endParaRPr lang="en-US" dirty="0"/>
          </a:p>
        </p:txBody>
      </p:sp>
    </p:spTree>
    <p:extLst>
      <p:ext uri="{BB962C8B-B14F-4D97-AF65-F5344CB8AC3E}">
        <p14:creationId xmlns:p14="http://schemas.microsoft.com/office/powerpoint/2010/main" val="602404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6"/>
            <a:ext cx="8094254" cy="790931"/>
          </a:xfrm>
        </p:spPr>
        <p:txBody>
          <a:bodyPr>
            <a:normAutofit lnSpcReduction="10000"/>
          </a:bodyPr>
          <a:lstStyle/>
          <a:p>
            <a:pPr algn="just">
              <a:buClr>
                <a:schemeClr val="tx1"/>
              </a:buClr>
              <a:buSzPct val="71000"/>
            </a:pPr>
            <a:r>
              <a:rPr lang="en-US" sz="2400" dirty="0">
                <a:solidFill>
                  <a:schemeClr val="tx1"/>
                </a:solidFill>
                <a:latin typeface="Arial" panose="020B0604020202020204" pitchFamily="34" charset="0"/>
                <a:cs typeface="Arial" panose="020B0604020202020204" pitchFamily="34" charset="0"/>
              </a:rPr>
              <a:t>The complete entity type Student with its attributes can be represented as:</a:t>
            </a:r>
          </a:p>
        </p:txBody>
      </p:sp>
      <p:pic>
        <p:nvPicPr>
          <p:cNvPr id="8194" name="Picture 2">
            <a:extLst>
              <a:ext uri="{FF2B5EF4-FFF2-40B4-BE49-F238E27FC236}">
                <a16:creationId xmlns:a16="http://schemas.microsoft.com/office/drawing/2014/main" id="{A99665DF-ECAF-4374-A870-57A6DFBAD0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1930618"/>
            <a:ext cx="8094254" cy="447699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7C04CFF9-897D-43E3-BDCD-DD3930FD68D8}"/>
              </a:ext>
            </a:extLst>
          </p:cNvPr>
          <p:cNvCxnSpPr/>
          <p:nvPr/>
        </p:nvCxnSpPr>
        <p:spPr>
          <a:xfrm>
            <a:off x="1802296" y="3478695"/>
            <a:ext cx="689113"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130143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3724875"/>
          </a:xfrm>
        </p:spPr>
        <p:txBody>
          <a:bodyPr>
            <a:normAutofit/>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3. Relationship Type and Relationship Set:</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A relationship type represents the association between entity types. </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For </a:t>
            </a:r>
            <a:r>
              <a:rPr lang="en-US" sz="2400" i="0" dirty="0" err="1">
                <a:solidFill>
                  <a:srgbClr val="222222"/>
                </a:solidFill>
                <a:effectLst/>
                <a:latin typeface="Arial" panose="020B0604020202020204" pitchFamily="34" charset="0"/>
                <a:cs typeface="Arial" panose="020B0604020202020204" pitchFamily="34" charset="0"/>
              </a:rPr>
              <a:t>example,‘Enrolled</a:t>
            </a:r>
            <a:r>
              <a:rPr lang="en-US" sz="2400" i="0" dirty="0">
                <a:solidFill>
                  <a:srgbClr val="222222"/>
                </a:solidFill>
                <a:effectLst/>
                <a:latin typeface="Arial" panose="020B0604020202020204" pitchFamily="34" charset="0"/>
                <a:cs typeface="Arial" panose="020B0604020202020204" pitchFamily="34" charset="0"/>
              </a:rPr>
              <a:t> in’ is a relationship type that exists between entity type Student and Course. </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In ER diagram, relationship type is represented by a diamond and connecting the entities with lines.</a:t>
            </a:r>
            <a:endParaRPr lang="en-US" sz="2400" dirty="0">
              <a:solidFill>
                <a:schemeClr val="tx1"/>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E6EEBA5C-2755-4D6C-84EE-6458E7966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4413989"/>
            <a:ext cx="8094254"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2688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1895061"/>
          </a:xfrm>
        </p:spPr>
        <p:txBody>
          <a:bodyPr>
            <a:normAutofit fontScale="92500" lnSpcReduction="10000"/>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3. Relationship Type and Relationship Set:</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A set of relationships of same type is known as relationship set. </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The following relationship set depicts S1 is enrolled in C2, S2 is enrolled in C1 and S3 is enrolled in C3.</a:t>
            </a:r>
            <a:endParaRPr lang="en-US" sz="2400" dirty="0">
              <a:solidFill>
                <a:schemeClr val="tx1"/>
              </a:solidFill>
              <a:latin typeface="Arial" panose="020B0604020202020204" pitchFamily="34" charset="0"/>
              <a:cs typeface="Arial" panose="020B0604020202020204" pitchFamily="34" charset="0"/>
            </a:endParaRPr>
          </a:p>
        </p:txBody>
      </p:sp>
      <p:pic>
        <p:nvPicPr>
          <p:cNvPr id="11266" name="Picture 2">
            <a:extLst>
              <a:ext uri="{FF2B5EF4-FFF2-40B4-BE49-F238E27FC236}">
                <a16:creationId xmlns:a16="http://schemas.microsoft.com/office/drawing/2014/main" id="{967D5C0A-1573-4DA5-A244-32C552308F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3034748"/>
            <a:ext cx="8094254" cy="2978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2385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2782955"/>
          </a:xfrm>
        </p:spPr>
        <p:txBody>
          <a:bodyPr>
            <a:normAutofit fontScale="92500" lnSpcReduction="10000"/>
          </a:bodyPr>
          <a:lstStyle/>
          <a:p>
            <a:pPr algn="l">
              <a:buClr>
                <a:schemeClr val="tx1"/>
              </a:buClr>
              <a:buSzPct val="71000"/>
            </a:pPr>
            <a:r>
              <a:rPr lang="en-US" sz="2400" b="1" dirty="0">
                <a:solidFill>
                  <a:srgbClr val="222222"/>
                </a:solidFill>
                <a:latin typeface="Arial" panose="020B0604020202020204" pitchFamily="34" charset="0"/>
                <a:cs typeface="Arial" panose="020B0604020202020204" pitchFamily="34" charset="0"/>
              </a:rPr>
              <a:t>Degree of a r</a:t>
            </a:r>
            <a:r>
              <a:rPr lang="en-US" sz="2400" b="1" i="0" dirty="0">
                <a:solidFill>
                  <a:srgbClr val="222222"/>
                </a:solidFill>
                <a:effectLst/>
                <a:latin typeface="Arial" panose="020B0604020202020204" pitchFamily="34" charset="0"/>
                <a:cs typeface="Arial" panose="020B0604020202020204" pitchFamily="34" charset="0"/>
              </a:rPr>
              <a:t>elationship Set:</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The number of different entity sets participating in a relationship set is called as degree of a relationship set.</a:t>
            </a:r>
          </a:p>
          <a:p>
            <a:pPr algn="just">
              <a:buClr>
                <a:schemeClr val="tx1"/>
              </a:buClr>
              <a:buSzPct val="71000"/>
            </a:pPr>
            <a:r>
              <a:rPr lang="en-US" sz="2400" dirty="0">
                <a:solidFill>
                  <a:schemeClr val="tx1"/>
                </a:solidFill>
                <a:latin typeface="Arial" panose="020B0604020202020204" pitchFamily="34" charset="0"/>
                <a:cs typeface="Arial" panose="020B0604020202020204" pitchFamily="34" charset="0"/>
              </a:rPr>
              <a:t>1. </a:t>
            </a:r>
            <a:r>
              <a:rPr lang="en-US" sz="2400" dirty="0">
                <a:solidFill>
                  <a:srgbClr val="FF0000"/>
                </a:solidFill>
                <a:latin typeface="Arial" panose="020B0604020202020204" pitchFamily="34" charset="0"/>
                <a:cs typeface="Arial" panose="020B0604020202020204" pitchFamily="34" charset="0"/>
              </a:rPr>
              <a:t>Unary Relationship </a:t>
            </a:r>
            <a:r>
              <a:rPr lang="en-US" sz="2400" dirty="0">
                <a:solidFill>
                  <a:schemeClr val="tx1"/>
                </a:solidFill>
                <a:latin typeface="Arial" panose="020B0604020202020204" pitchFamily="34" charset="0"/>
                <a:cs typeface="Arial" panose="020B0604020202020204" pitchFamily="34" charset="0"/>
              </a:rPr>
              <a:t>–</a:t>
            </a:r>
          </a:p>
          <a:p>
            <a:pPr marL="342900" indent="-342900" algn="just">
              <a:buClr>
                <a:schemeClr val="tx1"/>
              </a:buClr>
              <a:buSzPct val="71000"/>
              <a:buFont typeface="Wingdings" panose="05000000000000000000" pitchFamily="2" charset="2"/>
              <a:buChar char="v"/>
            </a:pPr>
            <a:r>
              <a:rPr lang="en-US" sz="2400" dirty="0">
                <a:solidFill>
                  <a:schemeClr val="tx1"/>
                </a:solidFill>
                <a:latin typeface="Arial" panose="020B0604020202020204" pitchFamily="34" charset="0"/>
                <a:cs typeface="Arial" panose="020B0604020202020204" pitchFamily="34" charset="0"/>
              </a:rPr>
              <a:t>When there is only ONE entity set participating in a relation, the relationship is called as unary relationship. </a:t>
            </a:r>
          </a:p>
          <a:p>
            <a:pPr marL="342900" indent="-342900" algn="just">
              <a:buClr>
                <a:schemeClr val="tx1"/>
              </a:buClr>
              <a:buSzPct val="71000"/>
              <a:buFont typeface="Wingdings" panose="05000000000000000000" pitchFamily="2" charset="2"/>
              <a:buChar char="v"/>
            </a:pPr>
            <a:r>
              <a:rPr lang="en-US" sz="2400" dirty="0">
                <a:solidFill>
                  <a:schemeClr val="tx1"/>
                </a:solidFill>
                <a:latin typeface="Arial" panose="020B0604020202020204" pitchFamily="34" charset="0"/>
                <a:cs typeface="Arial" panose="020B0604020202020204" pitchFamily="34" charset="0"/>
              </a:rPr>
              <a:t>For example, one person is married to only one person.</a:t>
            </a:r>
          </a:p>
        </p:txBody>
      </p:sp>
      <p:pic>
        <p:nvPicPr>
          <p:cNvPr id="12290" name="Picture 2">
            <a:extLst>
              <a:ext uri="{FF2B5EF4-FFF2-40B4-BE49-F238E27FC236}">
                <a16:creationId xmlns:a16="http://schemas.microsoft.com/office/drawing/2014/main" id="{D040C6F5-2CD8-4C7F-ADB5-7C69E11F35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6919" y="4057404"/>
            <a:ext cx="554355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036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2782955"/>
          </a:xfrm>
        </p:spPr>
        <p:txBody>
          <a:bodyPr>
            <a:normAutofit fontScale="92500" lnSpcReduction="10000"/>
          </a:bodyPr>
          <a:lstStyle/>
          <a:p>
            <a:pPr algn="l">
              <a:buClr>
                <a:schemeClr val="tx1"/>
              </a:buClr>
              <a:buSzPct val="71000"/>
            </a:pPr>
            <a:r>
              <a:rPr lang="en-US" sz="2400" b="1" dirty="0">
                <a:solidFill>
                  <a:srgbClr val="222222"/>
                </a:solidFill>
                <a:latin typeface="Arial" panose="020B0604020202020204" pitchFamily="34" charset="0"/>
                <a:cs typeface="Arial" panose="020B0604020202020204" pitchFamily="34" charset="0"/>
              </a:rPr>
              <a:t>Degree of a r</a:t>
            </a:r>
            <a:r>
              <a:rPr lang="en-US" sz="2400" b="1" i="0" dirty="0">
                <a:solidFill>
                  <a:srgbClr val="222222"/>
                </a:solidFill>
                <a:effectLst/>
                <a:latin typeface="Arial" panose="020B0604020202020204" pitchFamily="34" charset="0"/>
                <a:cs typeface="Arial" panose="020B0604020202020204" pitchFamily="34" charset="0"/>
              </a:rPr>
              <a:t>elationship Set:</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The number of different entity sets participating in a relationship set is called as degree of a relationship set.</a:t>
            </a:r>
          </a:p>
          <a:p>
            <a:pPr algn="just">
              <a:buClr>
                <a:schemeClr val="tx1"/>
              </a:buClr>
              <a:buSzPct val="71000"/>
            </a:pPr>
            <a:r>
              <a:rPr lang="en-US" sz="2400" dirty="0">
                <a:solidFill>
                  <a:schemeClr val="tx1"/>
                </a:solidFill>
                <a:latin typeface="Arial" panose="020B0604020202020204" pitchFamily="34" charset="0"/>
                <a:cs typeface="Arial" panose="020B0604020202020204" pitchFamily="34" charset="0"/>
              </a:rPr>
              <a:t>2. </a:t>
            </a:r>
            <a:r>
              <a:rPr lang="en-US" sz="2400" dirty="0">
                <a:solidFill>
                  <a:srgbClr val="FF0000"/>
                </a:solidFill>
                <a:latin typeface="Arial" panose="020B0604020202020204" pitchFamily="34" charset="0"/>
                <a:cs typeface="Arial" panose="020B0604020202020204" pitchFamily="34" charset="0"/>
              </a:rPr>
              <a:t>Binary Relationship </a:t>
            </a:r>
            <a:r>
              <a:rPr lang="en-US" sz="2400" dirty="0">
                <a:solidFill>
                  <a:schemeClr val="tx1"/>
                </a:solidFill>
                <a:latin typeface="Arial" panose="020B0604020202020204" pitchFamily="34" charset="0"/>
                <a:cs typeface="Arial" panose="020B0604020202020204" pitchFamily="34" charset="0"/>
              </a:rPr>
              <a:t>–</a:t>
            </a:r>
          </a:p>
          <a:p>
            <a:pPr marL="342900" indent="-342900" algn="just">
              <a:buClr>
                <a:schemeClr val="tx1"/>
              </a:buClr>
              <a:buSzPct val="71000"/>
              <a:buFont typeface="Wingdings" panose="05000000000000000000" pitchFamily="2" charset="2"/>
              <a:buChar char="v"/>
            </a:pPr>
            <a:r>
              <a:rPr lang="en-US" sz="2400" dirty="0">
                <a:solidFill>
                  <a:schemeClr val="tx1"/>
                </a:solidFill>
                <a:latin typeface="Arial" panose="020B0604020202020204" pitchFamily="34" charset="0"/>
                <a:cs typeface="Arial" panose="020B0604020202020204" pitchFamily="34" charset="0"/>
              </a:rPr>
              <a:t>When there are TWO entities set participating in a relation, the relationship is called as binary relationship.</a:t>
            </a:r>
          </a:p>
          <a:p>
            <a:pPr marL="342900" indent="-342900" algn="just">
              <a:buClr>
                <a:schemeClr val="tx1"/>
              </a:buClr>
              <a:buSzPct val="71000"/>
              <a:buFont typeface="Wingdings" panose="05000000000000000000" pitchFamily="2" charset="2"/>
              <a:buChar char="v"/>
            </a:pPr>
            <a:r>
              <a:rPr lang="en-US" sz="2400" dirty="0">
                <a:solidFill>
                  <a:schemeClr val="tx1"/>
                </a:solidFill>
                <a:latin typeface="Arial" panose="020B0604020202020204" pitchFamily="34" charset="0"/>
                <a:cs typeface="Arial" panose="020B0604020202020204" pitchFamily="34" charset="0"/>
              </a:rPr>
              <a:t>For example, Student is enrolled in Course.</a:t>
            </a:r>
          </a:p>
        </p:txBody>
      </p:sp>
      <p:pic>
        <p:nvPicPr>
          <p:cNvPr id="13314" name="Picture 2">
            <a:extLst>
              <a:ext uri="{FF2B5EF4-FFF2-40B4-BE49-F238E27FC236}">
                <a16:creationId xmlns:a16="http://schemas.microsoft.com/office/drawing/2014/main" id="{B49FFE67-1E55-42AD-BC7C-3F1213F9E7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4083907"/>
            <a:ext cx="8094254"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50564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2782955"/>
          </a:xfrm>
        </p:spPr>
        <p:txBody>
          <a:bodyPr>
            <a:normAutofit/>
          </a:bodyPr>
          <a:lstStyle/>
          <a:p>
            <a:pPr algn="l">
              <a:buClr>
                <a:schemeClr val="tx1"/>
              </a:buClr>
              <a:buSzPct val="71000"/>
            </a:pPr>
            <a:r>
              <a:rPr lang="en-US" sz="2400" b="1" dirty="0">
                <a:solidFill>
                  <a:srgbClr val="222222"/>
                </a:solidFill>
                <a:latin typeface="Arial" panose="020B0604020202020204" pitchFamily="34" charset="0"/>
                <a:cs typeface="Arial" panose="020B0604020202020204" pitchFamily="34" charset="0"/>
              </a:rPr>
              <a:t>Degree of a r</a:t>
            </a:r>
            <a:r>
              <a:rPr lang="en-US" sz="2400" b="1" i="0" dirty="0">
                <a:solidFill>
                  <a:srgbClr val="222222"/>
                </a:solidFill>
                <a:effectLst/>
                <a:latin typeface="Arial" panose="020B0604020202020204" pitchFamily="34" charset="0"/>
                <a:cs typeface="Arial" panose="020B0604020202020204" pitchFamily="34" charset="0"/>
              </a:rPr>
              <a:t>elationship Set:</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The number of different entity sets participating in a relationship set is called as degree of a relationship set.</a:t>
            </a:r>
          </a:p>
          <a:p>
            <a:pPr algn="just">
              <a:buClr>
                <a:schemeClr val="tx1"/>
              </a:buClr>
              <a:buSzPct val="71000"/>
            </a:pPr>
            <a:r>
              <a:rPr lang="en-US" sz="2400" dirty="0">
                <a:solidFill>
                  <a:schemeClr val="tx1"/>
                </a:solidFill>
                <a:latin typeface="Arial" panose="020B0604020202020204" pitchFamily="34" charset="0"/>
                <a:cs typeface="Arial" panose="020B0604020202020204" pitchFamily="34" charset="0"/>
              </a:rPr>
              <a:t>2. </a:t>
            </a:r>
            <a:r>
              <a:rPr lang="en-US" sz="2400" dirty="0">
                <a:solidFill>
                  <a:srgbClr val="FF0000"/>
                </a:solidFill>
                <a:latin typeface="Arial" panose="020B0604020202020204" pitchFamily="34" charset="0"/>
                <a:cs typeface="Arial" panose="020B0604020202020204" pitchFamily="34" charset="0"/>
              </a:rPr>
              <a:t>n-</a:t>
            </a:r>
            <a:r>
              <a:rPr lang="en-US" sz="2400" dirty="0" err="1">
                <a:solidFill>
                  <a:srgbClr val="FF0000"/>
                </a:solidFill>
                <a:latin typeface="Arial" panose="020B0604020202020204" pitchFamily="34" charset="0"/>
                <a:cs typeface="Arial" panose="020B0604020202020204" pitchFamily="34" charset="0"/>
              </a:rPr>
              <a:t>ary</a:t>
            </a:r>
            <a:r>
              <a:rPr lang="en-US" sz="2400" dirty="0">
                <a:solidFill>
                  <a:srgbClr val="FF0000"/>
                </a:solidFill>
                <a:latin typeface="Arial" panose="020B0604020202020204" pitchFamily="34" charset="0"/>
                <a:cs typeface="Arial" panose="020B0604020202020204" pitchFamily="34" charset="0"/>
              </a:rPr>
              <a:t> Relationship </a:t>
            </a:r>
            <a:r>
              <a:rPr lang="en-US" sz="2400" dirty="0">
                <a:solidFill>
                  <a:schemeClr val="tx1"/>
                </a:solidFill>
                <a:latin typeface="Arial" panose="020B0604020202020204" pitchFamily="34" charset="0"/>
                <a:cs typeface="Arial" panose="020B0604020202020204" pitchFamily="34" charset="0"/>
              </a:rPr>
              <a:t>–</a:t>
            </a:r>
          </a:p>
          <a:p>
            <a:pPr marL="342900" indent="-342900" algn="just">
              <a:buClr>
                <a:schemeClr val="tx1"/>
              </a:buClr>
              <a:buSzPct val="71000"/>
              <a:buFont typeface="Wingdings" panose="05000000000000000000" pitchFamily="2" charset="2"/>
              <a:buChar char="v"/>
            </a:pPr>
            <a:r>
              <a:rPr lang="en-US" sz="2400" dirty="0">
                <a:solidFill>
                  <a:schemeClr val="tx1"/>
                </a:solidFill>
                <a:latin typeface="Arial" panose="020B0604020202020204" pitchFamily="34" charset="0"/>
                <a:cs typeface="Arial" panose="020B0604020202020204" pitchFamily="34" charset="0"/>
              </a:rPr>
              <a:t>When there are n entities set participating in a relation, the relationship is called as n-</a:t>
            </a:r>
            <a:r>
              <a:rPr lang="en-US" sz="2400" dirty="0" err="1">
                <a:solidFill>
                  <a:schemeClr val="tx1"/>
                </a:solidFill>
                <a:latin typeface="Arial" panose="020B0604020202020204" pitchFamily="34" charset="0"/>
                <a:cs typeface="Arial" panose="020B0604020202020204" pitchFamily="34" charset="0"/>
              </a:rPr>
              <a:t>ary</a:t>
            </a:r>
            <a:r>
              <a:rPr lang="en-US" sz="2400" dirty="0">
                <a:solidFill>
                  <a:schemeClr val="tx1"/>
                </a:solidFill>
                <a:latin typeface="Arial" panose="020B0604020202020204" pitchFamily="34" charset="0"/>
                <a:cs typeface="Arial" panose="020B0604020202020204" pitchFamily="34" charset="0"/>
              </a:rPr>
              <a:t> relationship.</a:t>
            </a:r>
          </a:p>
        </p:txBody>
      </p:sp>
      <p:pic>
        <p:nvPicPr>
          <p:cNvPr id="14338" name="Picture 2" descr="What is the degree of relation in DBMS?">
            <a:extLst>
              <a:ext uri="{FF2B5EF4-FFF2-40B4-BE49-F238E27FC236}">
                <a16:creationId xmlns:a16="http://schemas.microsoft.com/office/drawing/2014/main" id="{3A11628B-EF14-4C0F-A071-3741922625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8295" y="3922642"/>
            <a:ext cx="7040798" cy="2259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884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3816626"/>
          </a:xfrm>
        </p:spPr>
        <p:txBody>
          <a:bodyPr>
            <a:normAutofit/>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Cardinality:</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The number of times an entity of an entity set participates in a relationship set is known as cardinality.</a:t>
            </a:r>
          </a:p>
          <a:p>
            <a:pPr marL="342900" indent="-3429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Cardinality can be of different types:</a:t>
            </a:r>
          </a:p>
          <a:p>
            <a:pPr marL="800089" lvl="1" indent="-342900" algn="just">
              <a:buClr>
                <a:schemeClr val="tx1"/>
              </a:buClr>
              <a:buSzPct val="71000"/>
              <a:buFont typeface="Wingdings" panose="05000000000000000000" pitchFamily="2" charset="2"/>
              <a:buChar char="Ø"/>
            </a:pPr>
            <a:r>
              <a:rPr lang="en-US" sz="2200" i="0" dirty="0">
                <a:solidFill>
                  <a:srgbClr val="222222"/>
                </a:solidFill>
                <a:effectLst/>
                <a:latin typeface="Arial" panose="020B0604020202020204" pitchFamily="34" charset="0"/>
                <a:cs typeface="Arial" panose="020B0604020202020204" pitchFamily="34" charset="0"/>
              </a:rPr>
              <a:t>One-to-one</a:t>
            </a:r>
          </a:p>
          <a:p>
            <a:pPr marL="800089" lvl="1" indent="-342900" algn="just">
              <a:buClr>
                <a:schemeClr val="tx1"/>
              </a:buClr>
              <a:buSzPct val="71000"/>
              <a:buFont typeface="Wingdings" panose="05000000000000000000" pitchFamily="2" charset="2"/>
              <a:buChar char="Ø"/>
            </a:pPr>
            <a:r>
              <a:rPr lang="en-US" sz="2200" dirty="0">
                <a:solidFill>
                  <a:srgbClr val="222222"/>
                </a:solidFill>
                <a:latin typeface="Arial" panose="020B0604020202020204" pitchFamily="34" charset="0"/>
                <a:cs typeface="Arial" panose="020B0604020202020204" pitchFamily="34" charset="0"/>
              </a:rPr>
              <a:t>Many-to-one</a:t>
            </a:r>
          </a:p>
          <a:p>
            <a:pPr marL="800089" lvl="1" indent="-342900" algn="just">
              <a:buClr>
                <a:schemeClr val="tx1"/>
              </a:buClr>
              <a:buSzPct val="71000"/>
              <a:buFont typeface="Wingdings" panose="05000000000000000000" pitchFamily="2" charset="2"/>
              <a:buChar char="Ø"/>
            </a:pPr>
            <a:r>
              <a:rPr lang="en-US" sz="2200" i="0" dirty="0">
                <a:solidFill>
                  <a:srgbClr val="222222"/>
                </a:solidFill>
                <a:effectLst/>
                <a:latin typeface="Arial" panose="020B0604020202020204" pitchFamily="34" charset="0"/>
                <a:cs typeface="Arial" panose="020B0604020202020204" pitchFamily="34" charset="0"/>
              </a:rPr>
              <a:t>Many-to-many</a:t>
            </a:r>
          </a:p>
          <a:p>
            <a:pPr marL="342900" indent="-342900" algn="just">
              <a:buClr>
                <a:schemeClr val="tx1"/>
              </a:buClr>
              <a:buSzPct val="71000"/>
              <a:buFont typeface="Wingdings" panose="05000000000000000000" pitchFamily="2" charset="2"/>
              <a:buChar char="v"/>
            </a:pPr>
            <a:endParaRPr lang="en-US" sz="2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16078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2411896"/>
          </a:xfrm>
        </p:spPr>
        <p:txBody>
          <a:bodyPr>
            <a:normAutofit fontScale="92500" lnSpcReduction="20000"/>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Cardinality:</a:t>
            </a:r>
          </a:p>
          <a:p>
            <a:pPr algn="just">
              <a:buClr>
                <a:schemeClr val="tx1"/>
              </a:buClr>
              <a:buSzPct val="71000"/>
            </a:pPr>
            <a:r>
              <a:rPr lang="en-US" sz="2400" b="1" dirty="0">
                <a:solidFill>
                  <a:srgbClr val="FF0000"/>
                </a:solidFill>
                <a:latin typeface="Arial" panose="020B0604020202020204" pitchFamily="34" charset="0"/>
                <a:cs typeface="Arial" panose="020B0604020202020204" pitchFamily="34" charset="0"/>
              </a:rPr>
              <a:t>1. One to one – </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When each entity in each entity set can take part only once in the relationship, the cardinality is one to one.</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Let us assume that a male can marry to one female and a female can marry to one male. So the relationship will be one to one.</a:t>
            </a:r>
            <a:endParaRPr lang="en-US" sz="2400" i="0" dirty="0">
              <a:solidFill>
                <a:srgbClr val="222222"/>
              </a:solidFill>
              <a:effectLst/>
              <a:latin typeface="Arial" panose="020B0604020202020204" pitchFamily="34" charset="0"/>
              <a:cs typeface="Arial" panose="020B0604020202020204" pitchFamily="34" charset="0"/>
            </a:endParaRPr>
          </a:p>
          <a:p>
            <a:pPr marL="342900" indent="-342900" algn="just">
              <a:buClr>
                <a:schemeClr val="tx1"/>
              </a:buClr>
              <a:buSzPct val="71000"/>
              <a:buFont typeface="Wingdings" panose="05000000000000000000" pitchFamily="2" charset="2"/>
              <a:buChar char="v"/>
            </a:pPr>
            <a:endParaRPr lang="en-US" sz="2400" dirty="0">
              <a:solidFill>
                <a:schemeClr val="tx1"/>
              </a:solidFill>
              <a:latin typeface="Arial" panose="020B0604020202020204" pitchFamily="34" charset="0"/>
              <a:cs typeface="Arial" panose="020B0604020202020204" pitchFamily="34" charset="0"/>
            </a:endParaRPr>
          </a:p>
        </p:txBody>
      </p:sp>
      <p:pic>
        <p:nvPicPr>
          <p:cNvPr id="15362" name="Picture 2">
            <a:extLst>
              <a:ext uri="{FF2B5EF4-FFF2-40B4-BE49-F238E27FC236}">
                <a16:creationId xmlns:a16="http://schemas.microsoft.com/office/drawing/2014/main" id="{ECCF6CA6-6DFD-4117-9BAD-5A7F3A83F8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2626" y="3686345"/>
            <a:ext cx="6440556"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9165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8"/>
            <a:ext cx="8094254" cy="1351722"/>
          </a:xfrm>
        </p:spPr>
        <p:txBody>
          <a:bodyPr>
            <a:normAutofit lnSpcReduction="10000"/>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Cardinality:</a:t>
            </a:r>
          </a:p>
          <a:p>
            <a:pPr algn="just">
              <a:buClr>
                <a:schemeClr val="tx1"/>
              </a:buClr>
              <a:buSzPct val="71000"/>
            </a:pPr>
            <a:r>
              <a:rPr lang="en-US" sz="2400" b="1" dirty="0">
                <a:solidFill>
                  <a:srgbClr val="FF0000"/>
                </a:solidFill>
                <a:latin typeface="Arial" panose="020B0604020202020204" pitchFamily="34" charset="0"/>
                <a:cs typeface="Arial" panose="020B0604020202020204" pitchFamily="34" charset="0"/>
              </a:rPr>
              <a:t>1. One to one – </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Using Sets, it can be represented as:</a:t>
            </a:r>
          </a:p>
        </p:txBody>
      </p:sp>
      <p:pic>
        <p:nvPicPr>
          <p:cNvPr id="17410" name="Picture 2">
            <a:extLst>
              <a:ext uri="{FF2B5EF4-FFF2-40B4-BE49-F238E27FC236}">
                <a16:creationId xmlns:a16="http://schemas.microsoft.com/office/drawing/2014/main" id="{DF68FA4E-AAAC-4CAA-8313-0CD55FD1E3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0923" y="2491410"/>
            <a:ext cx="7305675" cy="366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9541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6"/>
            <a:ext cx="8094254" cy="3366053"/>
          </a:xfrm>
        </p:spPr>
        <p:txBody>
          <a:bodyPr>
            <a:normAutofit fontScale="85000" lnSpcReduction="10000"/>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Cardinality:</a:t>
            </a:r>
          </a:p>
          <a:p>
            <a:pPr algn="just">
              <a:buClr>
                <a:schemeClr val="tx1"/>
              </a:buClr>
              <a:buSzPct val="71000"/>
            </a:pPr>
            <a:r>
              <a:rPr lang="en-US" sz="2400" b="1" dirty="0">
                <a:solidFill>
                  <a:srgbClr val="FF0000"/>
                </a:solidFill>
                <a:latin typeface="Arial" panose="020B0604020202020204" pitchFamily="34" charset="0"/>
                <a:cs typeface="Arial" panose="020B0604020202020204" pitchFamily="34" charset="0"/>
              </a:rPr>
              <a:t>2. Many to one – </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When entities in one entity set can take part only once in the relationship set and entities in other entity set can take part more than once in the relationship set, cardinality is many to one. </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Let us assume that a student can take only one course but one course can be taken by many students. So the cardinality will be n to 1. </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It means that for one course there can be n students but for one student, there will be only one course.</a:t>
            </a:r>
            <a:endParaRPr lang="en-US" sz="2400" dirty="0">
              <a:solidFill>
                <a:schemeClr val="tx1"/>
              </a:solidFill>
              <a:latin typeface="Arial" panose="020B0604020202020204" pitchFamily="34" charset="0"/>
              <a:cs typeface="Arial" panose="020B0604020202020204" pitchFamily="34" charset="0"/>
            </a:endParaRPr>
          </a:p>
        </p:txBody>
      </p:sp>
      <p:pic>
        <p:nvPicPr>
          <p:cNvPr id="19458" name="Picture 2">
            <a:extLst>
              <a:ext uri="{FF2B5EF4-FFF2-40B4-BE49-F238E27FC236}">
                <a16:creationId xmlns:a16="http://schemas.microsoft.com/office/drawing/2014/main" id="{BC5CFD5D-37A5-4D2C-BDB5-58E71156E4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799" y="4640500"/>
            <a:ext cx="7547021"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174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8"/>
            <a:ext cx="8094254" cy="1351722"/>
          </a:xfrm>
        </p:spPr>
        <p:txBody>
          <a:bodyPr>
            <a:normAutofit lnSpcReduction="10000"/>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Cardinality:</a:t>
            </a:r>
          </a:p>
          <a:p>
            <a:pPr algn="just">
              <a:buClr>
                <a:schemeClr val="tx1"/>
              </a:buClr>
              <a:buSzPct val="71000"/>
            </a:pPr>
            <a:r>
              <a:rPr lang="en-US" sz="2400" b="1" dirty="0">
                <a:solidFill>
                  <a:srgbClr val="FF0000"/>
                </a:solidFill>
                <a:latin typeface="Arial" panose="020B0604020202020204" pitchFamily="34" charset="0"/>
                <a:cs typeface="Arial" panose="020B0604020202020204" pitchFamily="34" charset="0"/>
              </a:rPr>
              <a:t>2. Many to one – </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Using Sets, it can be represented as:</a:t>
            </a:r>
          </a:p>
        </p:txBody>
      </p:sp>
      <p:pic>
        <p:nvPicPr>
          <p:cNvPr id="18434" name="Picture 2">
            <a:extLst>
              <a:ext uri="{FF2B5EF4-FFF2-40B4-BE49-F238E27FC236}">
                <a16:creationId xmlns:a16="http://schemas.microsoft.com/office/drawing/2014/main" id="{B6881075-BDEE-45E5-A295-61E6491201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2466" y="2750446"/>
            <a:ext cx="7181850" cy="3232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1957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6"/>
            <a:ext cx="8094254" cy="3366053"/>
          </a:xfrm>
        </p:spPr>
        <p:txBody>
          <a:bodyPr>
            <a:normAutofit/>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Cardinality:</a:t>
            </a:r>
          </a:p>
          <a:p>
            <a:pPr algn="just">
              <a:buClr>
                <a:schemeClr val="tx1"/>
              </a:buClr>
              <a:buSzPct val="71000"/>
            </a:pPr>
            <a:r>
              <a:rPr lang="en-US" sz="2400" b="1" dirty="0">
                <a:solidFill>
                  <a:srgbClr val="FF0000"/>
                </a:solidFill>
                <a:latin typeface="Arial" panose="020B0604020202020204" pitchFamily="34" charset="0"/>
                <a:cs typeface="Arial" panose="020B0604020202020204" pitchFamily="34" charset="0"/>
              </a:rPr>
              <a:t>3. Many to many – </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When entities in all entity sets can take part more than once in the relationship cardinality is many to many. </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Let us assume that a student can take more than one course and one course can be taken by many students. So the relationship will be many to many.</a:t>
            </a:r>
            <a:endParaRPr lang="en-US" sz="2400" dirty="0">
              <a:solidFill>
                <a:schemeClr val="tx1"/>
              </a:solidFill>
              <a:latin typeface="Arial" panose="020B0604020202020204" pitchFamily="34" charset="0"/>
              <a:cs typeface="Arial" panose="020B0604020202020204" pitchFamily="34" charset="0"/>
            </a:endParaRPr>
          </a:p>
        </p:txBody>
      </p:sp>
      <p:pic>
        <p:nvPicPr>
          <p:cNvPr id="21506" name="Picture 2">
            <a:extLst>
              <a:ext uri="{FF2B5EF4-FFF2-40B4-BE49-F238E27FC236}">
                <a16:creationId xmlns:a16="http://schemas.microsoft.com/office/drawing/2014/main" id="{D5AE0228-71EE-4A8B-9ED7-1AF0F2731D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3129" y="4332632"/>
            <a:ext cx="7531129" cy="163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06574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8"/>
            <a:ext cx="8094254" cy="1351722"/>
          </a:xfrm>
        </p:spPr>
        <p:txBody>
          <a:bodyPr>
            <a:normAutofit lnSpcReduction="10000"/>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Cardinality:</a:t>
            </a:r>
          </a:p>
          <a:p>
            <a:pPr algn="just">
              <a:buClr>
                <a:schemeClr val="tx1"/>
              </a:buClr>
              <a:buSzPct val="71000"/>
            </a:pPr>
            <a:r>
              <a:rPr lang="en-US" sz="2400" b="1" dirty="0">
                <a:solidFill>
                  <a:srgbClr val="FF0000"/>
                </a:solidFill>
                <a:latin typeface="Arial" panose="020B0604020202020204" pitchFamily="34" charset="0"/>
                <a:cs typeface="Arial" panose="020B0604020202020204" pitchFamily="34" charset="0"/>
              </a:rPr>
              <a:t>3. Many to many – </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Using Sets, it can be represented as:</a:t>
            </a:r>
          </a:p>
        </p:txBody>
      </p:sp>
      <p:pic>
        <p:nvPicPr>
          <p:cNvPr id="20482" name="Picture 2">
            <a:extLst>
              <a:ext uri="{FF2B5EF4-FFF2-40B4-BE49-F238E27FC236}">
                <a16:creationId xmlns:a16="http://schemas.microsoft.com/office/drawing/2014/main" id="{105B8D3B-C3F5-4E8E-A872-F802CDCDB7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769" y="2835965"/>
            <a:ext cx="7181850" cy="340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6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251791"/>
          </a:xfrm>
        </p:spPr>
        <p:txBody>
          <a:bodyPr>
            <a:normAutofit fontScale="55000" lnSpcReduction="20000"/>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Cardinality:</a:t>
            </a:r>
          </a:p>
        </p:txBody>
      </p:sp>
      <p:pic>
        <p:nvPicPr>
          <p:cNvPr id="28674" name="Picture 2">
            <a:extLst>
              <a:ext uri="{FF2B5EF4-FFF2-40B4-BE49-F238E27FC236}">
                <a16:creationId xmlns:a16="http://schemas.microsoft.com/office/drawing/2014/main" id="{4288F87C-EC2C-4140-93DB-3F33B9B2F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343" y="1391478"/>
            <a:ext cx="7990477" cy="5327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3914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5267926"/>
          </a:xfrm>
        </p:spPr>
        <p:txBody>
          <a:bodyPr>
            <a:normAutofit/>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Participation Constraint:</a:t>
            </a:r>
          </a:p>
          <a:p>
            <a:pPr marL="342900" indent="-342900" algn="l">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cs typeface="Arial" panose="020B0604020202020204" pitchFamily="34" charset="0"/>
              </a:rPr>
              <a:t>Participation Constraint is applied on the entity participating in the relationship set.</a:t>
            </a:r>
          </a:p>
          <a:p>
            <a:pPr algn="just">
              <a:buClr>
                <a:schemeClr val="tx1"/>
              </a:buClr>
              <a:buSzPct val="71000"/>
            </a:pPr>
            <a:r>
              <a:rPr lang="en-US" sz="2400" b="1" dirty="0">
                <a:solidFill>
                  <a:srgbClr val="FF0000"/>
                </a:solidFill>
                <a:latin typeface="Arial" panose="020B0604020202020204" pitchFamily="34" charset="0"/>
                <a:cs typeface="Arial" panose="020B0604020202020204" pitchFamily="34" charset="0"/>
              </a:rPr>
              <a:t>1. Total Participation – </a:t>
            </a:r>
          </a:p>
          <a:p>
            <a:pPr algn="just">
              <a:buClr>
                <a:schemeClr val="tx1"/>
              </a:buClr>
              <a:buSzPct val="71000"/>
            </a:pPr>
            <a:r>
              <a:rPr lang="en-US" sz="2400" dirty="0">
                <a:solidFill>
                  <a:schemeClr val="tx1"/>
                </a:solidFill>
                <a:latin typeface="Arial" panose="020B0604020202020204" pitchFamily="34" charset="0"/>
                <a:cs typeface="Arial" panose="020B0604020202020204" pitchFamily="34" charset="0"/>
              </a:rPr>
              <a:t>Each entity in the entity set must participate in the relationship. If each student must enroll in a course, the participation of student will be total. Total participation is shown by double line in ER diagram.</a:t>
            </a:r>
          </a:p>
          <a:p>
            <a:pPr algn="just">
              <a:buClr>
                <a:schemeClr val="tx1"/>
              </a:buClr>
              <a:buSzPct val="71000"/>
            </a:pPr>
            <a:r>
              <a:rPr lang="en-US" sz="2400" b="1" dirty="0">
                <a:solidFill>
                  <a:srgbClr val="FF0000"/>
                </a:solidFill>
                <a:latin typeface="Arial" panose="020B0604020202020204" pitchFamily="34" charset="0"/>
                <a:cs typeface="Arial" panose="020B0604020202020204" pitchFamily="34" charset="0"/>
              </a:rPr>
              <a:t>2. Partial Participation – </a:t>
            </a:r>
          </a:p>
          <a:p>
            <a:pPr algn="just">
              <a:buClr>
                <a:schemeClr val="tx1"/>
              </a:buClr>
              <a:buSzPct val="71000"/>
            </a:pPr>
            <a:r>
              <a:rPr lang="en-US" sz="2400" dirty="0">
                <a:solidFill>
                  <a:schemeClr val="tx1"/>
                </a:solidFill>
                <a:latin typeface="Arial" panose="020B0604020202020204" pitchFamily="34" charset="0"/>
                <a:cs typeface="Arial" panose="020B0604020202020204" pitchFamily="34" charset="0"/>
              </a:rPr>
              <a:t>The entity in the entity set may or may NOT participate in the relationship. If some courses are not enrolled by any of the student, the participation of course will be partial.</a:t>
            </a:r>
          </a:p>
        </p:txBody>
      </p:sp>
    </p:spTree>
    <p:extLst>
      <p:ext uri="{BB962C8B-B14F-4D97-AF65-F5344CB8AC3E}">
        <p14:creationId xmlns:p14="http://schemas.microsoft.com/office/powerpoint/2010/main" val="35785951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2093843"/>
          </a:xfrm>
        </p:spPr>
        <p:txBody>
          <a:bodyPr>
            <a:normAutofit/>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Participation Constraint:</a:t>
            </a:r>
            <a:endParaRPr lang="en-US" sz="2400" b="1" dirty="0">
              <a:solidFill>
                <a:srgbClr val="FF0000"/>
              </a:solidFill>
              <a:latin typeface="Arial" panose="020B0604020202020204" pitchFamily="34" charset="0"/>
              <a:cs typeface="Arial" panose="020B0604020202020204" pitchFamily="34" charset="0"/>
            </a:endParaRP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The diagram depicts the ‘Enrolled in’ relationship set with Student Entity set having total participation and Course Entity set having partial participation.</a:t>
            </a:r>
          </a:p>
          <a:p>
            <a:pPr marL="342900" indent="-342900" algn="just">
              <a:buClr>
                <a:schemeClr val="tx1"/>
              </a:buClr>
              <a:buSzPct val="71000"/>
              <a:buFont typeface="Wingdings" panose="05000000000000000000" pitchFamily="2" charset="2"/>
              <a:buChar char="v"/>
            </a:pPr>
            <a:endParaRPr lang="en-US" sz="2400" dirty="0">
              <a:solidFill>
                <a:srgbClr val="222222"/>
              </a:solidFill>
              <a:latin typeface="Arial" panose="020B0604020202020204" pitchFamily="34" charset="0"/>
              <a:cs typeface="Arial" panose="020B0604020202020204" pitchFamily="34" charset="0"/>
            </a:endParaRPr>
          </a:p>
        </p:txBody>
      </p:sp>
      <p:pic>
        <p:nvPicPr>
          <p:cNvPr id="22530" name="Picture 2">
            <a:extLst>
              <a:ext uri="{FF2B5EF4-FFF2-40B4-BE49-F238E27FC236}">
                <a16:creationId xmlns:a16="http://schemas.microsoft.com/office/drawing/2014/main" id="{8DF9935B-853A-45CE-A458-5B46AFCDD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7340" y="3368292"/>
            <a:ext cx="6361043" cy="2350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3621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2093843"/>
          </a:xfrm>
        </p:spPr>
        <p:txBody>
          <a:bodyPr>
            <a:normAutofit lnSpcReduction="10000"/>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Participation Constraint:</a:t>
            </a:r>
            <a:endParaRPr lang="en-US" sz="2400" b="1" dirty="0">
              <a:solidFill>
                <a:srgbClr val="FF0000"/>
              </a:solidFill>
              <a:latin typeface="Arial" panose="020B0604020202020204" pitchFamily="34" charset="0"/>
              <a:cs typeface="Arial" panose="020B0604020202020204" pitchFamily="34" charset="0"/>
            </a:endParaRP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Using set, it can be represented as</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cs typeface="Arial" panose="020B0604020202020204" pitchFamily="34" charset="0"/>
              </a:rPr>
              <a:t>Every student in Student Entity set is participating in relationship but there exists a course C4 which is not taking part in the relationship.</a:t>
            </a:r>
          </a:p>
        </p:txBody>
      </p:sp>
      <p:pic>
        <p:nvPicPr>
          <p:cNvPr id="24578" name="Picture 2">
            <a:extLst>
              <a:ext uri="{FF2B5EF4-FFF2-40B4-BE49-F238E27FC236}">
                <a16:creationId xmlns:a16="http://schemas.microsoft.com/office/drawing/2014/main" id="{F25FE844-37D7-4AB6-9987-3D37E108DC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1408" y="3368292"/>
            <a:ext cx="5830957" cy="2860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0725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6"/>
            <a:ext cx="8094254" cy="3922643"/>
          </a:xfrm>
        </p:spPr>
        <p:txBody>
          <a:bodyPr>
            <a:normAutofit fontScale="62500" lnSpcReduction="20000"/>
          </a:bodyPr>
          <a:lstStyle/>
          <a:p>
            <a:pPr algn="l">
              <a:buClr>
                <a:schemeClr val="tx1"/>
              </a:buClr>
              <a:buSzPct val="71000"/>
            </a:pPr>
            <a:r>
              <a:rPr lang="en-US" sz="2400" b="1" i="0" dirty="0">
                <a:solidFill>
                  <a:srgbClr val="222222"/>
                </a:solidFill>
                <a:effectLst/>
                <a:latin typeface="Arial" panose="020B0604020202020204" pitchFamily="34" charset="0"/>
                <a:cs typeface="Arial" panose="020B0604020202020204" pitchFamily="34" charset="0"/>
              </a:rPr>
              <a:t>Weak Entity Type and Identifying Relationship:</a:t>
            </a:r>
          </a:p>
          <a:p>
            <a:pPr marL="342900" indent="-342900" algn="just">
              <a:spcBef>
                <a:spcPts val="600"/>
              </a:spcBef>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cs typeface="Arial" panose="020B0604020202020204" pitchFamily="34" charset="0"/>
              </a:rPr>
              <a:t>An entity type has a key attribute which uniquely identifies each entity in the entity set. </a:t>
            </a:r>
          </a:p>
          <a:p>
            <a:pPr marL="342900" indent="-342900" algn="just">
              <a:spcBef>
                <a:spcPts val="600"/>
              </a:spcBef>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cs typeface="Arial" panose="020B0604020202020204" pitchFamily="34" charset="0"/>
              </a:rPr>
              <a:t>But there exists some entity type for which key attribute can’t be defined. These are called Weak Entity type.</a:t>
            </a:r>
          </a:p>
          <a:p>
            <a:pPr marL="342900" indent="-342900" algn="just">
              <a:spcBef>
                <a:spcPts val="600"/>
              </a:spcBef>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cs typeface="Arial" panose="020B0604020202020204" pitchFamily="34" charset="0"/>
              </a:rPr>
              <a:t>For example, A company may store the information of dependents (Parents, Children, Spouse) of an Employee. </a:t>
            </a:r>
          </a:p>
          <a:p>
            <a:pPr marL="342900" indent="-342900" algn="just">
              <a:spcBef>
                <a:spcPts val="600"/>
              </a:spcBef>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cs typeface="Arial" panose="020B0604020202020204" pitchFamily="34" charset="0"/>
              </a:rPr>
              <a:t>But the dependents don’t have existence without the employee. So Dependent will be weak entity type and Employee will be Identifying Entity type for Dependent.</a:t>
            </a:r>
          </a:p>
          <a:p>
            <a:pPr marL="342900" indent="-342900" algn="just">
              <a:spcBef>
                <a:spcPts val="600"/>
              </a:spcBef>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cs typeface="Arial" panose="020B0604020202020204" pitchFamily="34" charset="0"/>
              </a:rPr>
              <a:t>A weak entity type is represented by a double rectangle. </a:t>
            </a:r>
          </a:p>
          <a:p>
            <a:pPr marL="342900" indent="-342900" algn="just">
              <a:spcBef>
                <a:spcPts val="600"/>
              </a:spcBef>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cs typeface="Arial" panose="020B0604020202020204" pitchFamily="34" charset="0"/>
              </a:rPr>
              <a:t>The participation of weak entity type is always total. </a:t>
            </a:r>
          </a:p>
          <a:p>
            <a:pPr marL="342900" indent="-342900" algn="just">
              <a:spcBef>
                <a:spcPts val="600"/>
              </a:spcBef>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cs typeface="Arial" panose="020B0604020202020204" pitchFamily="34" charset="0"/>
              </a:rPr>
              <a:t>The relationship between weak entity type and its identifying strong entity type is called identifying relationship and it is represented by double diamond.</a:t>
            </a:r>
          </a:p>
        </p:txBody>
      </p:sp>
      <p:pic>
        <p:nvPicPr>
          <p:cNvPr id="25602" name="Picture 2">
            <a:extLst>
              <a:ext uri="{FF2B5EF4-FFF2-40B4-BE49-F238E27FC236}">
                <a16:creationId xmlns:a16="http://schemas.microsoft.com/office/drawing/2014/main" id="{92925BD9-F86D-4CFB-8604-A74A442057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895" y="4973906"/>
            <a:ext cx="6314661" cy="148881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57525C78-E511-430A-92B3-33C6B9AE98C3}"/>
              </a:ext>
            </a:extLst>
          </p:cNvPr>
          <p:cNvCxnSpPr>
            <a:cxnSpLocks/>
          </p:cNvCxnSpPr>
          <p:nvPr/>
        </p:nvCxnSpPr>
        <p:spPr>
          <a:xfrm>
            <a:off x="6042992" y="5771322"/>
            <a:ext cx="887895"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83825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6"/>
            <a:ext cx="8094254" cy="1828801"/>
          </a:xfrm>
        </p:spPr>
        <p:txBody>
          <a:bodyPr>
            <a:normAutofit lnSpcReduction="10000"/>
          </a:bodyPr>
          <a:lstStyle/>
          <a:p>
            <a:pPr algn="l">
              <a:buClr>
                <a:schemeClr val="tx1"/>
              </a:buClr>
              <a:buSzPct val="71000"/>
            </a:pPr>
            <a:r>
              <a:rPr lang="en-US" sz="2400" b="1" dirty="0">
                <a:solidFill>
                  <a:srgbClr val="222222"/>
                </a:solidFill>
                <a:latin typeface="Arial" panose="020B0604020202020204" pitchFamily="34" charset="0"/>
                <a:cs typeface="Arial" panose="020B0604020202020204" pitchFamily="34" charset="0"/>
              </a:rPr>
              <a:t>Role indicator</a:t>
            </a:r>
            <a:r>
              <a:rPr lang="en-US" sz="2400" b="1" i="0" dirty="0">
                <a:solidFill>
                  <a:srgbClr val="222222"/>
                </a:solidFill>
                <a:effectLst/>
                <a:latin typeface="Arial" panose="020B0604020202020204" pitchFamily="34" charset="0"/>
                <a:cs typeface="Arial" panose="020B0604020202020204" pitchFamily="34" charset="0"/>
              </a:rPr>
              <a:t>:</a:t>
            </a:r>
          </a:p>
          <a:p>
            <a:pPr marL="342900" indent="-342900" algn="just">
              <a:spcBef>
                <a:spcPts val="600"/>
              </a:spcBef>
              <a:buClr>
                <a:schemeClr val="tx1"/>
              </a:buClr>
              <a:buSzPct val="71000"/>
              <a:buFont typeface="Wingdings" panose="05000000000000000000" pitchFamily="2" charset="2"/>
              <a:buChar char="v"/>
            </a:pPr>
            <a:r>
              <a:rPr lang="en-US" sz="2900" dirty="0">
                <a:solidFill>
                  <a:srgbClr val="222222"/>
                </a:solidFill>
                <a:latin typeface="Arial" panose="020B0604020202020204" pitchFamily="34" charset="0"/>
                <a:cs typeface="Arial" panose="020B0604020202020204" pitchFamily="34" charset="0"/>
              </a:rPr>
              <a:t>If an entity set plays more than one role, role indicators describe the different purpose in the relationship.</a:t>
            </a:r>
          </a:p>
        </p:txBody>
      </p:sp>
      <p:pic>
        <p:nvPicPr>
          <p:cNvPr id="27650" name="Picture 2">
            <a:extLst>
              <a:ext uri="{FF2B5EF4-FFF2-40B4-BE49-F238E27FC236}">
                <a16:creationId xmlns:a16="http://schemas.microsoft.com/office/drawing/2014/main" id="{C8CDA74A-0129-4916-9192-146EC2CD2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3757" y="2796209"/>
            <a:ext cx="7812064" cy="3061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3773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pic>
        <p:nvPicPr>
          <p:cNvPr id="1026" name="Picture 2" descr="16 &#10;ENTITY-RELATIONSHIP DIAGRAMS &#10; Crow’s foot notation: A type of cardinality notation. It is &#10;called crow's foot notati...">
            <a:extLst>
              <a:ext uri="{FF2B5EF4-FFF2-40B4-BE49-F238E27FC236}">
                <a16:creationId xmlns:a16="http://schemas.microsoft.com/office/drawing/2014/main" id="{EBC041E0-3D10-472E-ADE8-701A048B45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6" y="1004925"/>
            <a:ext cx="8094253" cy="5402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142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pic>
        <p:nvPicPr>
          <p:cNvPr id="2054" name="Picture 6" descr="Technical Programming and Design: Biological database PublicHouse  visualized with MySQL Workbench">
            <a:extLst>
              <a:ext uri="{FF2B5EF4-FFF2-40B4-BE49-F238E27FC236}">
                <a16:creationId xmlns:a16="http://schemas.microsoft.com/office/drawing/2014/main" id="{5984F651-EA54-45DE-B6BB-BD0B201DB2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1179444"/>
            <a:ext cx="8094254" cy="4757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06430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pic>
        <p:nvPicPr>
          <p:cNvPr id="3074" name="Picture 2" descr="SUMMARY OF SYMBOLS USED IN E-R NOTATION &#10;Crows feet notation &#10; ">
            <a:extLst>
              <a:ext uri="{FF2B5EF4-FFF2-40B4-BE49-F238E27FC236}">
                <a16:creationId xmlns:a16="http://schemas.microsoft.com/office/drawing/2014/main" id="{A1D67B4E-4926-4DAE-AD43-96774E3C1E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6" y="1147762"/>
            <a:ext cx="8193737" cy="456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5364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pic>
        <p:nvPicPr>
          <p:cNvPr id="7" name="Picture 6">
            <a:extLst>
              <a:ext uri="{FF2B5EF4-FFF2-40B4-BE49-F238E27FC236}">
                <a16:creationId xmlns:a16="http://schemas.microsoft.com/office/drawing/2014/main" id="{C5AF6ECA-1549-4BBE-8510-22F87EEF89F5}"/>
              </a:ext>
            </a:extLst>
          </p:cNvPr>
          <p:cNvPicPr>
            <a:picLocks noChangeAspect="1"/>
          </p:cNvPicPr>
          <p:nvPr/>
        </p:nvPicPr>
        <p:blipFill>
          <a:blip r:embed="rId3"/>
          <a:stretch>
            <a:fillRect/>
          </a:stretch>
        </p:blipFill>
        <p:spPr>
          <a:xfrm>
            <a:off x="1281567" y="1055693"/>
            <a:ext cx="8094254" cy="4938188"/>
          </a:xfrm>
          <a:prstGeom prst="rect">
            <a:avLst/>
          </a:prstGeom>
        </p:spPr>
      </p:pic>
    </p:spTree>
    <p:extLst>
      <p:ext uri="{BB962C8B-B14F-4D97-AF65-F5344CB8AC3E}">
        <p14:creationId xmlns:p14="http://schemas.microsoft.com/office/powerpoint/2010/main" val="1325578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pic>
        <p:nvPicPr>
          <p:cNvPr id="5" name="Picture 4">
            <a:extLst>
              <a:ext uri="{FF2B5EF4-FFF2-40B4-BE49-F238E27FC236}">
                <a16:creationId xmlns:a16="http://schemas.microsoft.com/office/drawing/2014/main" id="{971741ED-FD6D-4614-BE4D-35AA068A2B5A}"/>
              </a:ext>
            </a:extLst>
          </p:cNvPr>
          <p:cNvPicPr>
            <a:picLocks noChangeAspect="1"/>
          </p:cNvPicPr>
          <p:nvPr/>
        </p:nvPicPr>
        <p:blipFill>
          <a:blip r:embed="rId3"/>
          <a:stretch>
            <a:fillRect/>
          </a:stretch>
        </p:blipFill>
        <p:spPr>
          <a:xfrm>
            <a:off x="1281567" y="1135620"/>
            <a:ext cx="8094254" cy="5169856"/>
          </a:xfrm>
          <a:prstGeom prst="rect">
            <a:avLst/>
          </a:prstGeom>
        </p:spPr>
      </p:pic>
    </p:spTree>
    <p:extLst>
      <p:ext uri="{BB962C8B-B14F-4D97-AF65-F5344CB8AC3E}">
        <p14:creationId xmlns:p14="http://schemas.microsoft.com/office/powerpoint/2010/main" val="38622558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pic>
        <p:nvPicPr>
          <p:cNvPr id="6" name="Picture 5">
            <a:extLst>
              <a:ext uri="{FF2B5EF4-FFF2-40B4-BE49-F238E27FC236}">
                <a16:creationId xmlns:a16="http://schemas.microsoft.com/office/drawing/2014/main" id="{4958C4E3-736E-49EF-A27F-16A1EF0B05D1}"/>
              </a:ext>
            </a:extLst>
          </p:cNvPr>
          <p:cNvPicPr>
            <a:picLocks noChangeAspect="1"/>
          </p:cNvPicPr>
          <p:nvPr/>
        </p:nvPicPr>
        <p:blipFill>
          <a:blip r:embed="rId3"/>
          <a:stretch>
            <a:fillRect/>
          </a:stretch>
        </p:blipFill>
        <p:spPr>
          <a:xfrm>
            <a:off x="1281567" y="1065480"/>
            <a:ext cx="8094254" cy="5169856"/>
          </a:xfrm>
          <a:prstGeom prst="rect">
            <a:avLst/>
          </a:prstGeom>
        </p:spPr>
      </p:pic>
    </p:spTree>
    <p:extLst>
      <p:ext uri="{BB962C8B-B14F-4D97-AF65-F5344CB8AC3E}">
        <p14:creationId xmlns:p14="http://schemas.microsoft.com/office/powerpoint/2010/main" val="12657423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pic>
        <p:nvPicPr>
          <p:cNvPr id="69" name="Picture 68">
            <a:extLst>
              <a:ext uri="{FF2B5EF4-FFF2-40B4-BE49-F238E27FC236}">
                <a16:creationId xmlns:a16="http://schemas.microsoft.com/office/drawing/2014/main" id="{22806114-97D3-4F6E-BD30-0C98FAA91BA8}"/>
              </a:ext>
            </a:extLst>
          </p:cNvPr>
          <p:cNvPicPr>
            <a:picLocks noChangeAspect="1"/>
          </p:cNvPicPr>
          <p:nvPr/>
        </p:nvPicPr>
        <p:blipFill>
          <a:blip r:embed="rId3"/>
          <a:stretch>
            <a:fillRect/>
          </a:stretch>
        </p:blipFill>
        <p:spPr>
          <a:xfrm>
            <a:off x="1281568" y="1237757"/>
            <a:ext cx="8094254" cy="5169856"/>
          </a:xfrm>
          <a:prstGeom prst="rect">
            <a:avLst/>
          </a:prstGeom>
        </p:spPr>
      </p:pic>
    </p:spTree>
    <p:extLst>
      <p:ext uri="{BB962C8B-B14F-4D97-AF65-F5344CB8AC3E}">
        <p14:creationId xmlns:p14="http://schemas.microsoft.com/office/powerpoint/2010/main" val="9767178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pic>
        <p:nvPicPr>
          <p:cNvPr id="5" name="Picture 4">
            <a:extLst>
              <a:ext uri="{FF2B5EF4-FFF2-40B4-BE49-F238E27FC236}">
                <a16:creationId xmlns:a16="http://schemas.microsoft.com/office/drawing/2014/main" id="{AFAE90F2-1EE3-4989-AE46-37080B7777A9}"/>
              </a:ext>
            </a:extLst>
          </p:cNvPr>
          <p:cNvPicPr>
            <a:picLocks noChangeAspect="1"/>
          </p:cNvPicPr>
          <p:nvPr/>
        </p:nvPicPr>
        <p:blipFill>
          <a:blip r:embed="rId3"/>
          <a:stretch>
            <a:fillRect/>
          </a:stretch>
        </p:blipFill>
        <p:spPr>
          <a:xfrm>
            <a:off x="1281567" y="1237757"/>
            <a:ext cx="8094254" cy="5169856"/>
          </a:xfrm>
          <a:prstGeom prst="rect">
            <a:avLst/>
          </a:prstGeom>
        </p:spPr>
      </p:pic>
    </p:spTree>
    <p:extLst>
      <p:ext uri="{BB962C8B-B14F-4D97-AF65-F5344CB8AC3E}">
        <p14:creationId xmlns:p14="http://schemas.microsoft.com/office/powerpoint/2010/main" val="35024155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pic>
        <p:nvPicPr>
          <p:cNvPr id="38" name="Picture 37">
            <a:extLst>
              <a:ext uri="{FF2B5EF4-FFF2-40B4-BE49-F238E27FC236}">
                <a16:creationId xmlns:a16="http://schemas.microsoft.com/office/drawing/2014/main" id="{EB3472EA-D48A-4657-8835-462A2F641C2A}"/>
              </a:ext>
            </a:extLst>
          </p:cNvPr>
          <p:cNvPicPr>
            <a:picLocks noChangeAspect="1"/>
          </p:cNvPicPr>
          <p:nvPr/>
        </p:nvPicPr>
        <p:blipFill>
          <a:blip r:embed="rId3"/>
          <a:stretch>
            <a:fillRect/>
          </a:stretch>
        </p:blipFill>
        <p:spPr>
          <a:xfrm>
            <a:off x="1281568" y="1144992"/>
            <a:ext cx="8094254" cy="5169856"/>
          </a:xfrm>
          <a:prstGeom prst="rect">
            <a:avLst/>
          </a:prstGeom>
        </p:spPr>
      </p:pic>
    </p:spTree>
    <p:extLst>
      <p:ext uri="{BB962C8B-B14F-4D97-AF65-F5344CB8AC3E}">
        <p14:creationId xmlns:p14="http://schemas.microsoft.com/office/powerpoint/2010/main" val="2564984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6"/>
            <a:ext cx="8094254" cy="344557"/>
          </a:xfrm>
        </p:spPr>
        <p:txBody>
          <a:bodyPr>
            <a:normAutofit fontScale="70000" lnSpcReduction="20000"/>
          </a:bodyPr>
          <a:lstStyle/>
          <a:p>
            <a:pPr algn="l">
              <a:buClr>
                <a:schemeClr val="tx1"/>
              </a:buClr>
              <a:buSzPct val="71000"/>
            </a:pPr>
            <a:r>
              <a:rPr lang="en-US" sz="2400" b="1" dirty="0">
                <a:solidFill>
                  <a:srgbClr val="222222"/>
                </a:solidFill>
                <a:latin typeface="Arial" panose="020B0604020202020204" pitchFamily="34" charset="0"/>
                <a:cs typeface="Arial" panose="020B0604020202020204" pitchFamily="34" charset="0"/>
              </a:rPr>
              <a:t>Example : </a:t>
            </a:r>
            <a:r>
              <a:rPr lang="en-US" sz="2900" dirty="0">
                <a:solidFill>
                  <a:srgbClr val="222222"/>
                </a:solidFill>
                <a:latin typeface="Arial" panose="020B0604020202020204" pitchFamily="34" charset="0"/>
                <a:cs typeface="Arial" panose="020B0604020202020204" pitchFamily="34" charset="0"/>
              </a:rPr>
              <a:t>E-R diagram of Banking Enterprises.</a:t>
            </a:r>
          </a:p>
        </p:txBody>
      </p:sp>
      <p:pic>
        <p:nvPicPr>
          <p:cNvPr id="4100" name="Picture 4" descr="DR_2578] Er Diagram Dbms Ppt Free Diagram">
            <a:extLst>
              <a:ext uri="{FF2B5EF4-FFF2-40B4-BE49-F238E27FC236}">
                <a16:creationId xmlns:a16="http://schemas.microsoft.com/office/drawing/2014/main" id="{EA665891-D265-45C6-A33B-BC353975D7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1484243"/>
            <a:ext cx="8094253"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93665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 </a:t>
            </a:r>
          </a:p>
        </p:txBody>
      </p:sp>
      <p:sp>
        <p:nvSpPr>
          <p:cNvPr id="3" name="Subtitle 2"/>
          <p:cNvSpPr>
            <a:spLocks noGrp="1"/>
          </p:cNvSpPr>
          <p:nvPr>
            <p:ph type="subTitle" idx="1"/>
          </p:nvPr>
        </p:nvSpPr>
        <p:spPr>
          <a:xfrm>
            <a:off x="1281567" y="1139686"/>
            <a:ext cx="8094254" cy="4996071"/>
          </a:xfrm>
        </p:spPr>
        <p:txBody>
          <a:bodyPr>
            <a:normAutofit fontScale="77500" lnSpcReduction="20000"/>
          </a:bodyPr>
          <a:lstStyle/>
          <a:p>
            <a:pPr algn="l">
              <a:buClr>
                <a:schemeClr val="tx1"/>
              </a:buClr>
              <a:buSzPct val="71000"/>
            </a:pPr>
            <a:r>
              <a:rPr lang="en-US" sz="2400" b="1" dirty="0">
                <a:solidFill>
                  <a:srgbClr val="222222"/>
                </a:solidFill>
                <a:latin typeface="Arial" panose="020B0604020202020204" pitchFamily="34" charset="0"/>
                <a:cs typeface="Arial" panose="020B0604020202020204" pitchFamily="34" charset="0"/>
              </a:rPr>
              <a:t>Assignment :</a:t>
            </a:r>
          </a:p>
          <a:p>
            <a:pPr algn="l">
              <a:buClr>
                <a:schemeClr val="tx1"/>
              </a:buClr>
              <a:buSzPct val="71000"/>
            </a:pPr>
            <a:r>
              <a:rPr lang="en-US" sz="2400" b="1" dirty="0">
                <a:solidFill>
                  <a:srgbClr val="222222"/>
                </a:solidFill>
                <a:latin typeface="Arial" panose="020B0604020202020204" pitchFamily="34" charset="0"/>
                <a:cs typeface="Arial" panose="020B0604020202020204" pitchFamily="34" charset="0"/>
              </a:rPr>
              <a:t>Practice ER Diagram Question – A Sample Solution</a:t>
            </a:r>
          </a:p>
          <a:p>
            <a:pPr algn="l">
              <a:buClr>
                <a:schemeClr val="tx1"/>
              </a:buClr>
              <a:buSzPct val="71000"/>
            </a:pPr>
            <a:r>
              <a:rPr lang="en-US" sz="2400" dirty="0">
                <a:solidFill>
                  <a:srgbClr val="222222"/>
                </a:solidFill>
                <a:latin typeface="Arial" panose="020B0604020202020204" pitchFamily="34" charset="0"/>
                <a:cs typeface="Arial" panose="020B0604020202020204" pitchFamily="34" charset="0"/>
              </a:rPr>
              <a:t>Suppose you are given the following requirements for a simple database for the National Cricket League (NCL):</a:t>
            </a:r>
          </a:p>
          <a:p>
            <a:pPr marL="800089" lvl="1" indent="-342900" algn="l">
              <a:buClr>
                <a:schemeClr val="tx1"/>
              </a:buClr>
              <a:buSzPct val="71000"/>
              <a:buFont typeface="Wingdings" panose="05000000000000000000" pitchFamily="2" charset="2"/>
              <a:buChar char="Ø"/>
            </a:pPr>
            <a:r>
              <a:rPr lang="en-US" sz="2200" dirty="0">
                <a:solidFill>
                  <a:srgbClr val="222222"/>
                </a:solidFill>
                <a:latin typeface="Arial" panose="020B0604020202020204" pitchFamily="34" charset="0"/>
                <a:cs typeface="Arial" panose="020B0604020202020204" pitchFamily="34" charset="0"/>
              </a:rPr>
              <a:t>the NCL has many teams,</a:t>
            </a:r>
          </a:p>
          <a:p>
            <a:pPr marL="800089" lvl="1" indent="-342900" algn="l">
              <a:buClr>
                <a:schemeClr val="tx1"/>
              </a:buClr>
              <a:buSzPct val="71000"/>
              <a:buFont typeface="Wingdings" panose="05000000000000000000" pitchFamily="2" charset="2"/>
              <a:buChar char="Ø"/>
            </a:pPr>
            <a:r>
              <a:rPr lang="en-US" sz="2200" dirty="0">
                <a:solidFill>
                  <a:srgbClr val="222222"/>
                </a:solidFill>
                <a:latin typeface="Arial" panose="020B0604020202020204" pitchFamily="34" charset="0"/>
                <a:cs typeface="Arial" panose="020B0604020202020204" pitchFamily="34" charset="0"/>
              </a:rPr>
              <a:t>each team has a name, a city, a coach, a captain, and a set of players,</a:t>
            </a:r>
          </a:p>
          <a:p>
            <a:pPr marL="800089" lvl="1" indent="-342900" algn="l">
              <a:buClr>
                <a:schemeClr val="tx1"/>
              </a:buClr>
              <a:buSzPct val="71000"/>
              <a:buFont typeface="Wingdings" panose="05000000000000000000" pitchFamily="2" charset="2"/>
              <a:buChar char="Ø"/>
            </a:pPr>
            <a:r>
              <a:rPr lang="en-US" sz="2200" dirty="0">
                <a:solidFill>
                  <a:srgbClr val="222222"/>
                </a:solidFill>
                <a:latin typeface="Arial" panose="020B0604020202020204" pitchFamily="34" charset="0"/>
                <a:cs typeface="Arial" panose="020B0604020202020204" pitchFamily="34" charset="0"/>
              </a:rPr>
              <a:t>each player belongs to only one team,</a:t>
            </a:r>
          </a:p>
          <a:p>
            <a:pPr marL="800089" lvl="1" indent="-342900" algn="l">
              <a:buClr>
                <a:schemeClr val="tx1"/>
              </a:buClr>
              <a:buSzPct val="71000"/>
              <a:buFont typeface="Wingdings" panose="05000000000000000000" pitchFamily="2" charset="2"/>
              <a:buChar char="Ø"/>
            </a:pPr>
            <a:r>
              <a:rPr lang="en-US" sz="2200" dirty="0">
                <a:solidFill>
                  <a:srgbClr val="222222"/>
                </a:solidFill>
                <a:latin typeface="Arial" panose="020B0604020202020204" pitchFamily="34" charset="0"/>
                <a:cs typeface="Arial" panose="020B0604020202020204" pitchFamily="34" charset="0"/>
              </a:rPr>
              <a:t>each player has a name, a position (such as left wing or goalie), a skill level, and a set of injury records,</a:t>
            </a:r>
          </a:p>
          <a:p>
            <a:pPr marL="800089" lvl="1" indent="-342900" algn="l">
              <a:buClr>
                <a:schemeClr val="tx1"/>
              </a:buClr>
              <a:buSzPct val="71000"/>
              <a:buFont typeface="Wingdings" panose="05000000000000000000" pitchFamily="2" charset="2"/>
              <a:buChar char="Ø"/>
            </a:pPr>
            <a:r>
              <a:rPr lang="en-US" sz="2200" dirty="0">
                <a:solidFill>
                  <a:srgbClr val="222222"/>
                </a:solidFill>
                <a:latin typeface="Arial" panose="020B0604020202020204" pitchFamily="34" charset="0"/>
                <a:cs typeface="Arial" panose="020B0604020202020204" pitchFamily="34" charset="0"/>
              </a:rPr>
              <a:t>a team captain is also a player,</a:t>
            </a:r>
          </a:p>
          <a:p>
            <a:pPr marL="800089" lvl="1" indent="-342900" algn="l">
              <a:buClr>
                <a:schemeClr val="tx1"/>
              </a:buClr>
              <a:buSzPct val="71000"/>
              <a:buFont typeface="Wingdings" panose="05000000000000000000" pitchFamily="2" charset="2"/>
              <a:buChar char="Ø"/>
            </a:pPr>
            <a:r>
              <a:rPr lang="en-US" sz="2200" dirty="0">
                <a:solidFill>
                  <a:srgbClr val="222222"/>
                </a:solidFill>
                <a:latin typeface="Arial" panose="020B0604020202020204" pitchFamily="34" charset="0"/>
                <a:cs typeface="Arial" panose="020B0604020202020204" pitchFamily="34" charset="0"/>
              </a:rPr>
              <a:t>a game is played between two teams (referred to as </a:t>
            </a:r>
            <a:r>
              <a:rPr lang="en-US" sz="2200" dirty="0" err="1">
                <a:solidFill>
                  <a:srgbClr val="222222"/>
                </a:solidFill>
                <a:latin typeface="Arial" panose="020B0604020202020204" pitchFamily="34" charset="0"/>
                <a:cs typeface="Arial" panose="020B0604020202020204" pitchFamily="34" charset="0"/>
              </a:rPr>
              <a:t>host_team</a:t>
            </a:r>
            <a:r>
              <a:rPr lang="en-US" sz="2200" dirty="0">
                <a:solidFill>
                  <a:srgbClr val="222222"/>
                </a:solidFill>
                <a:latin typeface="Arial" panose="020B0604020202020204" pitchFamily="34" charset="0"/>
                <a:cs typeface="Arial" panose="020B0604020202020204" pitchFamily="34" charset="0"/>
              </a:rPr>
              <a:t> and </a:t>
            </a:r>
            <a:r>
              <a:rPr lang="en-US" sz="2200" dirty="0" err="1">
                <a:solidFill>
                  <a:srgbClr val="222222"/>
                </a:solidFill>
                <a:latin typeface="Arial" panose="020B0604020202020204" pitchFamily="34" charset="0"/>
                <a:cs typeface="Arial" panose="020B0604020202020204" pitchFamily="34" charset="0"/>
              </a:rPr>
              <a:t>guest_team</a:t>
            </a:r>
            <a:r>
              <a:rPr lang="en-US" sz="2200" dirty="0">
                <a:solidFill>
                  <a:srgbClr val="222222"/>
                </a:solidFill>
                <a:latin typeface="Arial" panose="020B0604020202020204" pitchFamily="34" charset="0"/>
                <a:cs typeface="Arial" panose="020B0604020202020204" pitchFamily="34" charset="0"/>
              </a:rPr>
              <a:t>) and has a date (such as </a:t>
            </a:r>
            <a:r>
              <a:rPr lang="en-US" sz="2200" dirty="0" err="1">
                <a:solidFill>
                  <a:srgbClr val="222222"/>
                </a:solidFill>
                <a:latin typeface="Arial" panose="020B0604020202020204" pitchFamily="34" charset="0"/>
                <a:cs typeface="Arial" panose="020B0604020202020204" pitchFamily="34" charset="0"/>
              </a:rPr>
              <a:t>OCt</a:t>
            </a:r>
            <a:r>
              <a:rPr lang="en-US" sz="2200" dirty="0">
                <a:solidFill>
                  <a:srgbClr val="222222"/>
                </a:solidFill>
                <a:latin typeface="Arial" panose="020B0604020202020204" pitchFamily="34" charset="0"/>
                <a:cs typeface="Arial" panose="020B0604020202020204" pitchFamily="34" charset="0"/>
              </a:rPr>
              <a:t> 3rd, 2020) and a score (such as 4 to 2).</a:t>
            </a:r>
          </a:p>
          <a:p>
            <a:pPr algn="l">
              <a:buClr>
                <a:schemeClr val="tx1"/>
              </a:buClr>
              <a:buSzPct val="71000"/>
            </a:pPr>
            <a:r>
              <a:rPr lang="en-US" sz="2400" dirty="0">
                <a:solidFill>
                  <a:srgbClr val="222222"/>
                </a:solidFill>
                <a:latin typeface="Arial" panose="020B0604020202020204" pitchFamily="34" charset="0"/>
                <a:cs typeface="Arial" panose="020B0604020202020204" pitchFamily="34" charset="0"/>
              </a:rPr>
              <a:t>Construct a clean and concise ER diagram for the NCL database. List your assumptions and clearly indicate the cardinality mappings as well as any role indicators in your ER diagram.</a:t>
            </a:r>
          </a:p>
        </p:txBody>
      </p:sp>
    </p:spTree>
    <p:extLst>
      <p:ext uri="{BB962C8B-B14F-4D97-AF65-F5344CB8AC3E}">
        <p14:creationId xmlns:p14="http://schemas.microsoft.com/office/powerpoint/2010/main" val="9619116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 </a:t>
            </a:r>
          </a:p>
        </p:txBody>
      </p:sp>
      <p:sp>
        <p:nvSpPr>
          <p:cNvPr id="3" name="Subtitle 2"/>
          <p:cNvSpPr>
            <a:spLocks noGrp="1"/>
          </p:cNvSpPr>
          <p:nvPr>
            <p:ph type="subTitle" idx="1"/>
          </p:nvPr>
        </p:nvSpPr>
        <p:spPr>
          <a:xfrm>
            <a:off x="1281567" y="1139686"/>
            <a:ext cx="8094254" cy="768627"/>
          </a:xfrm>
        </p:spPr>
        <p:txBody>
          <a:bodyPr>
            <a:normAutofit fontScale="92500" lnSpcReduction="20000"/>
          </a:bodyPr>
          <a:lstStyle/>
          <a:p>
            <a:pPr algn="l">
              <a:buClr>
                <a:schemeClr val="tx1"/>
              </a:buClr>
              <a:buSzPct val="71000"/>
            </a:pPr>
            <a:r>
              <a:rPr lang="en-US" sz="2400" b="1" dirty="0">
                <a:solidFill>
                  <a:srgbClr val="222222"/>
                </a:solidFill>
                <a:latin typeface="Arial" panose="020B0604020202020204" pitchFamily="34" charset="0"/>
                <a:cs typeface="Arial" panose="020B0604020202020204" pitchFamily="34" charset="0"/>
              </a:rPr>
              <a:t>Assignment :</a:t>
            </a:r>
          </a:p>
          <a:p>
            <a:pPr algn="l">
              <a:buClr>
                <a:schemeClr val="tx1"/>
              </a:buClr>
              <a:buSzPct val="71000"/>
            </a:pPr>
            <a:r>
              <a:rPr lang="en-US" sz="2400" b="1" dirty="0">
                <a:solidFill>
                  <a:srgbClr val="222222"/>
                </a:solidFill>
                <a:latin typeface="Arial" panose="020B0604020202020204" pitchFamily="34" charset="0"/>
                <a:cs typeface="Arial" panose="020B0604020202020204" pitchFamily="34" charset="0"/>
              </a:rPr>
              <a:t>Practice ER Diagram Question – A Sample Solution</a:t>
            </a:r>
          </a:p>
        </p:txBody>
      </p:sp>
      <p:pic>
        <p:nvPicPr>
          <p:cNvPr id="2052" name="Picture 4">
            <a:extLst>
              <a:ext uri="{FF2B5EF4-FFF2-40B4-BE49-F238E27FC236}">
                <a16:creationId xmlns:a16="http://schemas.microsoft.com/office/drawing/2014/main" id="{6B99466B-5B42-4606-A147-B5F8666939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6" y="2043074"/>
            <a:ext cx="8094253" cy="4364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8315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4990657"/>
          </a:xfrm>
        </p:spPr>
        <p:txBody>
          <a:bodyPr>
            <a:noAutofit/>
          </a:bodyPr>
          <a:lstStyle/>
          <a:p>
            <a:pPr algn="just">
              <a:buClr>
                <a:schemeClr val="tx1"/>
              </a:buClr>
              <a:buSzPct val="71000"/>
            </a:pPr>
            <a:r>
              <a:rPr lang="en-US" sz="2000" b="1" i="0" dirty="0">
                <a:solidFill>
                  <a:srgbClr val="222222"/>
                </a:solidFill>
                <a:effectLst/>
                <a:latin typeface="arial" panose="020B0604020202020204" pitchFamily="34" charset="0"/>
              </a:rPr>
              <a:t>Extended feature of E-R Model:									</a:t>
            </a:r>
            <a:endParaRPr lang="en-US" sz="2000" i="0" dirty="0">
              <a:solidFill>
                <a:srgbClr val="222222"/>
              </a:solidFill>
              <a:effectLst/>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000" dirty="0">
                <a:solidFill>
                  <a:srgbClr val="222222"/>
                </a:solidFill>
                <a:latin typeface="arial" panose="020B0604020202020204" pitchFamily="34" charset="0"/>
              </a:rPr>
              <a:t>A</a:t>
            </a:r>
            <a:r>
              <a:rPr lang="en-US" sz="2000" i="0" dirty="0">
                <a:solidFill>
                  <a:srgbClr val="222222"/>
                </a:solidFill>
                <a:effectLst/>
                <a:latin typeface="arial" panose="020B0604020202020204" pitchFamily="34" charset="0"/>
              </a:rPr>
              <a:t>s part of the Enhanced ER Model, along with other improvements, three new concepts were added to the existing ER Model, they were:</a:t>
            </a:r>
          </a:p>
          <a:p>
            <a:pPr marL="914389" lvl="1" indent="-457200" algn="just">
              <a:buClr>
                <a:schemeClr val="tx1"/>
              </a:buClr>
              <a:buSzPct val="71000"/>
              <a:buFont typeface="Wingdings" panose="05000000000000000000" pitchFamily="2" charset="2"/>
              <a:buChar char="v"/>
            </a:pPr>
            <a:r>
              <a:rPr lang="en-US" sz="2000" i="0" dirty="0">
                <a:solidFill>
                  <a:srgbClr val="222222"/>
                </a:solidFill>
                <a:effectLst/>
                <a:latin typeface="arial" panose="020B0604020202020204" pitchFamily="34" charset="0"/>
              </a:rPr>
              <a:t>Generalization</a:t>
            </a:r>
          </a:p>
          <a:p>
            <a:pPr marL="914389" lvl="1" indent="-457200" algn="just">
              <a:buClr>
                <a:schemeClr val="tx1"/>
              </a:buClr>
              <a:buSzPct val="71000"/>
              <a:buFont typeface="Wingdings" panose="05000000000000000000" pitchFamily="2" charset="2"/>
              <a:buChar char="v"/>
            </a:pPr>
            <a:r>
              <a:rPr lang="en-US" sz="2000" i="0" dirty="0">
                <a:solidFill>
                  <a:srgbClr val="222222"/>
                </a:solidFill>
                <a:effectLst/>
                <a:latin typeface="arial" panose="020B0604020202020204" pitchFamily="34" charset="0"/>
              </a:rPr>
              <a:t>Specialization</a:t>
            </a:r>
          </a:p>
          <a:p>
            <a:pPr marL="914389" lvl="1" indent="-457200" algn="just">
              <a:buClr>
                <a:schemeClr val="tx1"/>
              </a:buClr>
              <a:buSzPct val="71000"/>
              <a:buFont typeface="Wingdings" panose="05000000000000000000" pitchFamily="2" charset="2"/>
              <a:buChar char="v"/>
            </a:pPr>
            <a:r>
              <a:rPr lang="en-US" sz="2000" i="0" dirty="0">
                <a:solidFill>
                  <a:srgbClr val="222222"/>
                </a:solidFill>
                <a:effectLst/>
                <a:latin typeface="arial" panose="020B0604020202020204" pitchFamily="34" charset="0"/>
              </a:rPr>
              <a:t>Aggregation</a:t>
            </a:r>
          </a:p>
          <a:p>
            <a:pPr marL="457200" indent="-457200" algn="just">
              <a:buClr>
                <a:schemeClr val="tx1"/>
              </a:buClr>
              <a:buSzPct val="71000"/>
              <a:buFont typeface="Wingdings" panose="05000000000000000000" pitchFamily="2" charset="2"/>
              <a:buChar char="v"/>
            </a:pPr>
            <a:r>
              <a:rPr lang="en-US" sz="2000" i="0" dirty="0">
                <a:solidFill>
                  <a:srgbClr val="222222"/>
                </a:solidFill>
                <a:effectLst/>
                <a:latin typeface="arial" panose="020B0604020202020204" pitchFamily="34" charset="0"/>
              </a:rPr>
              <a:t>Let's understand what they are, and why were they added to the existing ER Model</a:t>
            </a:r>
          </a:p>
        </p:txBody>
      </p:sp>
    </p:spTree>
    <p:extLst>
      <p:ext uri="{BB962C8B-B14F-4D97-AF65-F5344CB8AC3E}">
        <p14:creationId xmlns:p14="http://schemas.microsoft.com/office/powerpoint/2010/main" val="30925282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4990657"/>
          </a:xfrm>
        </p:spPr>
        <p:txBody>
          <a:bodyPr>
            <a:noAutofit/>
          </a:bodyPr>
          <a:lstStyle/>
          <a:p>
            <a:pPr algn="just">
              <a:buClr>
                <a:schemeClr val="tx1"/>
              </a:buClr>
              <a:buSzPct val="71000"/>
            </a:pPr>
            <a:r>
              <a:rPr lang="en-US" sz="2000" b="1" i="0" dirty="0">
                <a:solidFill>
                  <a:srgbClr val="222222"/>
                </a:solidFill>
                <a:effectLst/>
                <a:latin typeface="arial" panose="020B0604020202020204" pitchFamily="34" charset="0"/>
              </a:rPr>
              <a:t>Extended feature of E-R Model:									</a:t>
            </a:r>
            <a:endParaRPr lang="en-US" sz="2000" i="0" dirty="0">
              <a:solidFill>
                <a:srgbClr val="222222"/>
              </a:solidFill>
              <a:effectLst/>
              <a:latin typeface="arial" panose="020B0604020202020204" pitchFamily="34" charset="0"/>
            </a:endParaRPr>
          </a:p>
          <a:p>
            <a:pPr algn="just">
              <a:buClr>
                <a:schemeClr val="tx1"/>
              </a:buClr>
              <a:buSzPct val="71000"/>
            </a:pPr>
            <a:r>
              <a:rPr lang="en-US" sz="2000" dirty="0">
                <a:solidFill>
                  <a:srgbClr val="FF0000"/>
                </a:solidFill>
                <a:latin typeface="arial" panose="020B0604020202020204" pitchFamily="34" charset="0"/>
              </a:rPr>
              <a:t>1. Generalization</a:t>
            </a:r>
          </a:p>
          <a:p>
            <a:pPr marL="457200" indent="-457200" algn="just">
              <a:buClr>
                <a:schemeClr val="tx1"/>
              </a:buClr>
              <a:buSzPct val="71000"/>
              <a:buFont typeface="Wingdings" panose="05000000000000000000" pitchFamily="2" charset="2"/>
              <a:buChar char="v"/>
            </a:pPr>
            <a:r>
              <a:rPr lang="en-US" sz="2000" dirty="0">
                <a:solidFill>
                  <a:srgbClr val="222222"/>
                </a:solidFill>
                <a:latin typeface="arial" panose="020B0604020202020204" pitchFamily="34" charset="0"/>
              </a:rPr>
              <a:t>Generalization is a bottom-up approach in which two lower level entities combine to form a higher level entity. </a:t>
            </a:r>
          </a:p>
          <a:p>
            <a:pPr marL="457200" indent="-457200" algn="just">
              <a:buClr>
                <a:schemeClr val="tx1"/>
              </a:buClr>
              <a:buSzPct val="71000"/>
              <a:buFont typeface="Wingdings" panose="05000000000000000000" pitchFamily="2" charset="2"/>
              <a:buChar char="v"/>
            </a:pPr>
            <a:r>
              <a:rPr lang="en-US" sz="2000" dirty="0">
                <a:solidFill>
                  <a:srgbClr val="222222"/>
                </a:solidFill>
                <a:latin typeface="arial" panose="020B0604020202020204" pitchFamily="34" charset="0"/>
              </a:rPr>
              <a:t>In generalization, the higher level entity can also combine with other lower level entities to make further higher level entity.</a:t>
            </a:r>
          </a:p>
          <a:p>
            <a:pPr marL="457200" indent="-457200" algn="just">
              <a:buClr>
                <a:schemeClr val="tx1"/>
              </a:buClr>
              <a:buSzPct val="71000"/>
              <a:buFont typeface="Wingdings" panose="05000000000000000000" pitchFamily="2" charset="2"/>
              <a:buChar char="v"/>
            </a:pPr>
            <a:r>
              <a:rPr lang="en-US" sz="2000" dirty="0">
                <a:solidFill>
                  <a:srgbClr val="222222"/>
                </a:solidFill>
                <a:latin typeface="arial" panose="020B0604020202020204" pitchFamily="34" charset="0"/>
              </a:rPr>
              <a:t>It's more like Superclass and Subclass system, but the only difference is the approach, which is bottom-up. </a:t>
            </a:r>
          </a:p>
          <a:p>
            <a:pPr marL="457200" indent="-457200" algn="just">
              <a:buClr>
                <a:schemeClr val="tx1"/>
              </a:buClr>
              <a:buSzPct val="71000"/>
              <a:buFont typeface="Wingdings" panose="05000000000000000000" pitchFamily="2" charset="2"/>
              <a:buChar char="v"/>
            </a:pPr>
            <a:r>
              <a:rPr lang="en-US" sz="2000" dirty="0">
                <a:solidFill>
                  <a:srgbClr val="222222"/>
                </a:solidFill>
                <a:latin typeface="arial" panose="020B0604020202020204" pitchFamily="34" charset="0"/>
              </a:rPr>
              <a:t>Hence, entities are combined to form a more generalized entity, in other words, sub-classes are combined to form a super-class.</a:t>
            </a:r>
            <a:endParaRPr lang="en-US" sz="200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40742826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1828800"/>
          </a:xfrm>
        </p:spPr>
        <p:txBody>
          <a:bodyPr>
            <a:noAutofit/>
          </a:bodyPr>
          <a:lstStyle/>
          <a:p>
            <a:pPr algn="just">
              <a:buClr>
                <a:schemeClr val="tx1"/>
              </a:buClr>
              <a:buSzPct val="71000"/>
            </a:pPr>
            <a:r>
              <a:rPr lang="en-US" sz="2000" b="1" i="0" dirty="0">
                <a:solidFill>
                  <a:srgbClr val="222222"/>
                </a:solidFill>
                <a:effectLst/>
                <a:latin typeface="arial" panose="020B0604020202020204" pitchFamily="34" charset="0"/>
              </a:rPr>
              <a:t>Extended feature of E-R Model:									</a:t>
            </a:r>
            <a:endParaRPr lang="en-US" sz="2000" i="0" dirty="0">
              <a:solidFill>
                <a:srgbClr val="222222"/>
              </a:solidFill>
              <a:effectLst/>
              <a:latin typeface="arial" panose="020B0604020202020204" pitchFamily="34" charset="0"/>
            </a:endParaRPr>
          </a:p>
          <a:p>
            <a:pPr algn="just">
              <a:buClr>
                <a:schemeClr val="tx1"/>
              </a:buClr>
              <a:buSzPct val="71000"/>
            </a:pPr>
            <a:r>
              <a:rPr lang="en-US" sz="2000" dirty="0">
                <a:solidFill>
                  <a:srgbClr val="FF0000"/>
                </a:solidFill>
                <a:latin typeface="arial" panose="020B0604020202020204" pitchFamily="34" charset="0"/>
              </a:rPr>
              <a:t>1. Generalization</a:t>
            </a:r>
          </a:p>
          <a:p>
            <a:pPr marL="457200" indent="-457200" algn="just">
              <a:buClr>
                <a:schemeClr val="tx1"/>
              </a:buClr>
              <a:buSzPct val="71000"/>
              <a:buFont typeface="Wingdings" panose="05000000000000000000" pitchFamily="2" charset="2"/>
              <a:buChar char="v"/>
            </a:pPr>
            <a:r>
              <a:rPr lang="en-US" sz="2000" dirty="0">
                <a:solidFill>
                  <a:srgbClr val="222222"/>
                </a:solidFill>
                <a:latin typeface="arial" panose="020B0604020202020204" pitchFamily="34" charset="0"/>
              </a:rPr>
              <a:t>For example, Saving and Current account types entities can be generalized and an entity with name Account can be created, which covers both.</a:t>
            </a:r>
          </a:p>
        </p:txBody>
      </p:sp>
      <p:pic>
        <p:nvPicPr>
          <p:cNvPr id="5122" name="Picture 2" descr="generalization in ER model">
            <a:extLst>
              <a:ext uri="{FF2B5EF4-FFF2-40B4-BE49-F238E27FC236}">
                <a16:creationId xmlns:a16="http://schemas.microsoft.com/office/drawing/2014/main" id="{4B1FBE05-C281-4C39-AB4A-436F46445A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4191" y="2968487"/>
            <a:ext cx="5242399" cy="3207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7502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4990657"/>
          </a:xfrm>
        </p:spPr>
        <p:txBody>
          <a:bodyPr>
            <a:noAutofit/>
          </a:bodyPr>
          <a:lstStyle/>
          <a:p>
            <a:pPr algn="just">
              <a:buClr>
                <a:schemeClr val="tx1"/>
              </a:buClr>
              <a:buSzPct val="71000"/>
            </a:pPr>
            <a:r>
              <a:rPr lang="en-US" sz="2000" b="1" i="0" dirty="0">
                <a:solidFill>
                  <a:srgbClr val="222222"/>
                </a:solidFill>
                <a:effectLst/>
                <a:latin typeface="arial" panose="020B0604020202020204" pitchFamily="34" charset="0"/>
              </a:rPr>
              <a:t>Extended feature of E-R Model:									</a:t>
            </a:r>
            <a:endParaRPr lang="en-US" sz="2000" i="0" dirty="0">
              <a:solidFill>
                <a:srgbClr val="222222"/>
              </a:solidFill>
              <a:effectLst/>
              <a:latin typeface="arial" panose="020B0604020202020204" pitchFamily="34" charset="0"/>
            </a:endParaRPr>
          </a:p>
          <a:p>
            <a:pPr algn="just">
              <a:buClr>
                <a:schemeClr val="tx1"/>
              </a:buClr>
              <a:buSzPct val="71000"/>
            </a:pPr>
            <a:r>
              <a:rPr lang="en-US" sz="2000" dirty="0">
                <a:solidFill>
                  <a:srgbClr val="FF0000"/>
                </a:solidFill>
                <a:latin typeface="arial" panose="020B0604020202020204" pitchFamily="34" charset="0"/>
              </a:rPr>
              <a:t>2. Specialization</a:t>
            </a:r>
          </a:p>
          <a:p>
            <a:pPr marL="457200" indent="-457200" algn="just">
              <a:buClr>
                <a:schemeClr val="tx1"/>
              </a:buClr>
              <a:buSzPct val="71000"/>
              <a:buFont typeface="Wingdings" panose="05000000000000000000" pitchFamily="2" charset="2"/>
              <a:buChar char="v"/>
            </a:pPr>
            <a:r>
              <a:rPr lang="en-US" sz="2000" dirty="0">
                <a:solidFill>
                  <a:srgbClr val="222222"/>
                </a:solidFill>
                <a:latin typeface="arial" panose="020B0604020202020204" pitchFamily="34" charset="0"/>
              </a:rPr>
              <a:t>Specialization is opposite to Generalization. </a:t>
            </a:r>
          </a:p>
          <a:p>
            <a:pPr marL="457200" indent="-457200" algn="just">
              <a:buClr>
                <a:schemeClr val="tx1"/>
              </a:buClr>
              <a:buSzPct val="71000"/>
              <a:buFont typeface="Wingdings" panose="05000000000000000000" pitchFamily="2" charset="2"/>
              <a:buChar char="v"/>
            </a:pPr>
            <a:r>
              <a:rPr lang="en-US" sz="2000" dirty="0">
                <a:solidFill>
                  <a:srgbClr val="222222"/>
                </a:solidFill>
                <a:latin typeface="arial" panose="020B0604020202020204" pitchFamily="34" charset="0"/>
              </a:rPr>
              <a:t>It is a top-down approach in which one higher level entity can be broken down into two lower level entity. </a:t>
            </a:r>
          </a:p>
          <a:p>
            <a:pPr marL="457200" indent="-457200" algn="just">
              <a:buClr>
                <a:schemeClr val="tx1"/>
              </a:buClr>
              <a:buSzPct val="71000"/>
              <a:buFont typeface="Wingdings" panose="05000000000000000000" pitchFamily="2" charset="2"/>
              <a:buChar char="v"/>
            </a:pPr>
            <a:r>
              <a:rPr lang="en-US" sz="2000" dirty="0">
                <a:solidFill>
                  <a:srgbClr val="222222"/>
                </a:solidFill>
                <a:latin typeface="arial" panose="020B0604020202020204" pitchFamily="34" charset="0"/>
              </a:rPr>
              <a:t>In specialization, a higher level entity may not have any lower-level entity sets, it's possible.</a:t>
            </a:r>
          </a:p>
          <a:p>
            <a:pPr algn="just">
              <a:buClr>
                <a:schemeClr val="tx1"/>
              </a:buClr>
              <a:buSzPct val="71000"/>
            </a:pPr>
            <a:endParaRPr lang="en-US" sz="2000" dirty="0">
              <a:solidFill>
                <a:srgbClr val="222222"/>
              </a:solidFill>
              <a:latin typeface="arial" panose="020B0604020202020204" pitchFamily="34" charset="0"/>
            </a:endParaRPr>
          </a:p>
        </p:txBody>
      </p:sp>
      <p:pic>
        <p:nvPicPr>
          <p:cNvPr id="13314" name="Picture 2" descr="Specialization in ER Model">
            <a:extLst>
              <a:ext uri="{FF2B5EF4-FFF2-40B4-BE49-F238E27FC236}">
                <a16:creationId xmlns:a16="http://schemas.microsoft.com/office/drawing/2014/main" id="{6FF99232-189B-4983-92AC-B8C4E28ED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5268" y="3800248"/>
            <a:ext cx="4292384" cy="2736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66933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5267926"/>
          </a:xfrm>
        </p:spPr>
        <p:txBody>
          <a:bodyPr>
            <a:noAutofit/>
          </a:bodyPr>
          <a:lstStyle/>
          <a:p>
            <a:pPr algn="just">
              <a:buClr>
                <a:schemeClr val="tx1"/>
              </a:buClr>
              <a:buSzPct val="71000"/>
            </a:pPr>
            <a:r>
              <a:rPr lang="en-US" sz="2000" b="1" i="0" dirty="0">
                <a:solidFill>
                  <a:srgbClr val="222222"/>
                </a:solidFill>
                <a:effectLst/>
                <a:latin typeface="arial" panose="020B0604020202020204" pitchFamily="34" charset="0"/>
              </a:rPr>
              <a:t>Extended feature of E-R Model:									</a:t>
            </a:r>
            <a:endParaRPr lang="en-US" sz="2000" i="0" dirty="0">
              <a:solidFill>
                <a:srgbClr val="222222"/>
              </a:solidFill>
              <a:effectLst/>
              <a:latin typeface="arial" panose="020B0604020202020204" pitchFamily="34" charset="0"/>
            </a:endParaRPr>
          </a:p>
          <a:p>
            <a:pPr algn="just">
              <a:buClr>
                <a:schemeClr val="tx1"/>
              </a:buClr>
              <a:buSzPct val="71000"/>
            </a:pPr>
            <a:r>
              <a:rPr lang="en-US" sz="2000" dirty="0">
                <a:solidFill>
                  <a:srgbClr val="FF0000"/>
                </a:solidFill>
                <a:latin typeface="arial" panose="020B0604020202020204" pitchFamily="34" charset="0"/>
              </a:rPr>
              <a:t>3. Aggregation</a:t>
            </a:r>
          </a:p>
          <a:p>
            <a:pPr marL="457200" indent="-457200" algn="just">
              <a:buClr>
                <a:schemeClr val="tx1"/>
              </a:buClr>
              <a:buSzPct val="71000"/>
              <a:buFont typeface="Wingdings" panose="05000000000000000000" pitchFamily="2" charset="2"/>
              <a:buChar char="v"/>
            </a:pPr>
            <a:r>
              <a:rPr lang="en-US" sz="2000" dirty="0">
                <a:solidFill>
                  <a:srgbClr val="222222"/>
                </a:solidFill>
                <a:latin typeface="arial" panose="020B0604020202020204" pitchFamily="34" charset="0"/>
              </a:rPr>
              <a:t>Aggregation is a process when relation between two entities is treated as a single entity.</a:t>
            </a:r>
          </a:p>
          <a:p>
            <a:pPr marL="457200" indent="-457200" algn="just">
              <a:buClr>
                <a:schemeClr val="tx1"/>
              </a:buClr>
              <a:buSzPct val="71000"/>
              <a:buFont typeface="Wingdings" panose="05000000000000000000" pitchFamily="2" charset="2"/>
              <a:buChar char="v"/>
            </a:pPr>
            <a:r>
              <a:rPr lang="en-US" sz="2000" dirty="0">
                <a:solidFill>
                  <a:srgbClr val="222222"/>
                </a:solidFill>
                <a:latin typeface="arial" panose="020B0604020202020204" pitchFamily="34" charset="0"/>
              </a:rPr>
              <a:t>In the diagram above, the relationship between Center and Course together, is acting as an Entity, which is in relationship with another entity Visitor.</a:t>
            </a:r>
          </a:p>
          <a:p>
            <a:pPr algn="just">
              <a:buClr>
                <a:schemeClr val="tx1"/>
              </a:buClr>
              <a:buSzPct val="71000"/>
            </a:pPr>
            <a:endParaRPr lang="en-US" sz="2000" dirty="0">
              <a:solidFill>
                <a:srgbClr val="222222"/>
              </a:solidFill>
              <a:latin typeface="arial" panose="020B0604020202020204" pitchFamily="34" charset="0"/>
            </a:endParaRPr>
          </a:p>
        </p:txBody>
      </p:sp>
      <p:pic>
        <p:nvPicPr>
          <p:cNvPr id="15362" name="Picture 2" descr="aggregration">
            <a:extLst>
              <a:ext uri="{FF2B5EF4-FFF2-40B4-BE49-F238E27FC236}">
                <a16:creationId xmlns:a16="http://schemas.microsoft.com/office/drawing/2014/main" id="{DDD39C6B-2B01-4121-A11C-554C2352A3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9063" y="3734873"/>
            <a:ext cx="4762500" cy="2672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83832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371061"/>
          </a:xfrm>
        </p:spPr>
        <p:txBody>
          <a:bodyPr>
            <a:noAutofit/>
          </a:bodyPr>
          <a:lstStyle/>
          <a:p>
            <a:pPr algn="just">
              <a:buClr>
                <a:schemeClr val="tx1"/>
              </a:buClr>
              <a:buSzPct val="71000"/>
            </a:pPr>
            <a:r>
              <a:rPr lang="en-US" sz="2000" b="1" i="0" dirty="0">
                <a:solidFill>
                  <a:srgbClr val="222222"/>
                </a:solidFill>
                <a:effectLst/>
                <a:latin typeface="arial" panose="020B0604020202020204" pitchFamily="34" charset="0"/>
              </a:rPr>
              <a:t>Extended feature of E-R Model: </a:t>
            </a:r>
            <a:r>
              <a:rPr lang="en-US" sz="2000" b="1" i="0" dirty="0">
                <a:solidFill>
                  <a:srgbClr val="FF0000"/>
                </a:solidFill>
                <a:effectLst/>
                <a:latin typeface="arial" panose="020B0604020202020204" pitchFamily="34" charset="0"/>
              </a:rPr>
              <a:t>Specialization and Generalization</a:t>
            </a:r>
            <a:r>
              <a:rPr lang="en-US" sz="2000" b="1" i="0" dirty="0">
                <a:solidFill>
                  <a:srgbClr val="222222"/>
                </a:solidFill>
                <a:effectLst/>
                <a:latin typeface="arial" panose="020B0604020202020204" pitchFamily="34" charset="0"/>
              </a:rPr>
              <a:t>								</a:t>
            </a:r>
            <a:endParaRPr lang="en-US" sz="2000" i="0" dirty="0">
              <a:solidFill>
                <a:srgbClr val="222222"/>
              </a:solidFill>
              <a:effectLst/>
              <a:latin typeface="arial" panose="020B0604020202020204" pitchFamily="34" charset="0"/>
            </a:endParaRPr>
          </a:p>
          <a:p>
            <a:pPr algn="just">
              <a:buClr>
                <a:schemeClr val="tx1"/>
              </a:buClr>
              <a:buSzPct val="71000"/>
            </a:pPr>
            <a:endParaRPr lang="en-US" sz="2000" dirty="0">
              <a:solidFill>
                <a:srgbClr val="222222"/>
              </a:solidFill>
              <a:latin typeface="arial" panose="020B0604020202020204" pitchFamily="34" charset="0"/>
            </a:endParaRPr>
          </a:p>
        </p:txBody>
      </p:sp>
      <p:pic>
        <p:nvPicPr>
          <p:cNvPr id="16386" name="Picture 2" descr="Specialization, Generalization and Aggregation - CSVeda">
            <a:extLst>
              <a:ext uri="{FF2B5EF4-FFF2-40B4-BE49-F238E27FC236}">
                <a16:creationId xmlns:a16="http://schemas.microsoft.com/office/drawing/2014/main" id="{B3654C81-A75D-49E9-A142-B7CFC759BE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1524000"/>
            <a:ext cx="8094254" cy="4883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5971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371061"/>
          </a:xfrm>
        </p:spPr>
        <p:txBody>
          <a:bodyPr>
            <a:noAutofit/>
          </a:bodyPr>
          <a:lstStyle/>
          <a:p>
            <a:pPr algn="just">
              <a:buClr>
                <a:schemeClr val="tx1"/>
              </a:buClr>
              <a:buSzPct val="71000"/>
            </a:pPr>
            <a:r>
              <a:rPr lang="en-US" sz="2000" b="1" i="0" dirty="0">
                <a:solidFill>
                  <a:srgbClr val="222222"/>
                </a:solidFill>
                <a:effectLst/>
                <a:latin typeface="arial" panose="020B0604020202020204" pitchFamily="34" charset="0"/>
              </a:rPr>
              <a:t>Extended feature of E-R Model:	</a:t>
            </a:r>
            <a:r>
              <a:rPr lang="en-US" sz="2000" b="1" i="0" dirty="0">
                <a:solidFill>
                  <a:srgbClr val="FF0000"/>
                </a:solidFill>
                <a:effectLst/>
                <a:latin typeface="arial" panose="020B0604020202020204" pitchFamily="34" charset="0"/>
              </a:rPr>
              <a:t>Aggregation</a:t>
            </a:r>
            <a:r>
              <a:rPr lang="en-US" sz="2000" b="1" i="0" dirty="0">
                <a:solidFill>
                  <a:srgbClr val="222222"/>
                </a:solidFill>
                <a:effectLst/>
                <a:latin typeface="arial" panose="020B0604020202020204" pitchFamily="34" charset="0"/>
              </a:rPr>
              <a:t>								</a:t>
            </a:r>
            <a:endParaRPr lang="en-US" sz="2000" i="0" dirty="0">
              <a:solidFill>
                <a:srgbClr val="222222"/>
              </a:solidFill>
              <a:effectLst/>
              <a:latin typeface="arial" panose="020B0604020202020204" pitchFamily="34" charset="0"/>
            </a:endParaRPr>
          </a:p>
          <a:p>
            <a:pPr algn="just">
              <a:buClr>
                <a:schemeClr val="tx1"/>
              </a:buClr>
              <a:buSzPct val="71000"/>
            </a:pPr>
            <a:endParaRPr lang="en-US" sz="2000" dirty="0">
              <a:solidFill>
                <a:srgbClr val="222222"/>
              </a:solidFill>
              <a:latin typeface="arial" panose="020B0604020202020204" pitchFamily="34" charset="0"/>
            </a:endParaRPr>
          </a:p>
        </p:txBody>
      </p:sp>
      <p:pic>
        <p:nvPicPr>
          <p:cNvPr id="17410" name="Picture 2" descr="DBMS Generalization, Specialization and Aggregation - Ducat Tutorials">
            <a:extLst>
              <a:ext uri="{FF2B5EF4-FFF2-40B4-BE49-F238E27FC236}">
                <a16:creationId xmlns:a16="http://schemas.microsoft.com/office/drawing/2014/main" id="{F5B2561E-8EDC-47F4-9841-94E66A6DE5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928"/>
          <a:stretch/>
        </p:blipFill>
        <p:spPr bwMode="auto">
          <a:xfrm>
            <a:off x="1281566" y="1510748"/>
            <a:ext cx="8094253" cy="4591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5174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2.3 E-R Model</a:t>
            </a:r>
          </a:p>
        </p:txBody>
      </p:sp>
      <p:sp>
        <p:nvSpPr>
          <p:cNvPr id="3" name="Subtitle 2"/>
          <p:cNvSpPr>
            <a:spLocks noGrp="1"/>
          </p:cNvSpPr>
          <p:nvPr>
            <p:ph type="subTitle" idx="1"/>
          </p:nvPr>
        </p:nvSpPr>
        <p:spPr>
          <a:xfrm>
            <a:off x="1281567" y="1139687"/>
            <a:ext cx="8094254" cy="3313043"/>
          </a:xfrm>
        </p:spPr>
        <p:txBody>
          <a:bodyPr>
            <a:noAutofit/>
          </a:bodyPr>
          <a:lstStyle/>
          <a:p>
            <a:pPr algn="just">
              <a:buClr>
                <a:schemeClr val="tx1"/>
              </a:buClr>
              <a:buSzPct val="71000"/>
            </a:pPr>
            <a:r>
              <a:rPr lang="en-US" sz="2000" b="1" dirty="0">
                <a:solidFill>
                  <a:srgbClr val="222222"/>
                </a:solidFill>
                <a:latin typeface="arial" panose="020B0604020202020204" pitchFamily="34" charset="0"/>
              </a:rPr>
              <a:t>Assignment</a:t>
            </a:r>
          </a:p>
          <a:p>
            <a:pPr algn="just">
              <a:buClr>
                <a:schemeClr val="tx1"/>
              </a:buClr>
              <a:buSzPct val="71000"/>
            </a:pPr>
            <a:r>
              <a:rPr lang="en-US" sz="2000" b="1" dirty="0">
                <a:solidFill>
                  <a:srgbClr val="222222"/>
                </a:solidFill>
                <a:latin typeface="arial" panose="020B0604020202020204" pitchFamily="34" charset="0"/>
              </a:rPr>
              <a:t>Draw an ER diagram of library management system.</a:t>
            </a:r>
          </a:p>
          <a:p>
            <a:pPr algn="just">
              <a:buClr>
                <a:schemeClr val="tx1"/>
              </a:buClr>
              <a:buSzPct val="71000"/>
            </a:pPr>
            <a:r>
              <a:rPr lang="en-US" sz="2000" b="1" i="0" dirty="0">
                <a:solidFill>
                  <a:srgbClr val="222222"/>
                </a:solidFill>
                <a:effectLst/>
                <a:latin typeface="arial" panose="020B0604020202020204" pitchFamily="34" charset="0"/>
              </a:rPr>
              <a:t>								</a:t>
            </a:r>
            <a:endParaRPr lang="en-US" sz="2000" i="0" dirty="0">
              <a:solidFill>
                <a:srgbClr val="222222"/>
              </a:solidFill>
              <a:effectLst/>
              <a:latin typeface="arial" panose="020B0604020202020204" pitchFamily="34" charset="0"/>
            </a:endParaRPr>
          </a:p>
          <a:p>
            <a:pPr algn="just">
              <a:buClr>
                <a:schemeClr val="tx1"/>
              </a:buClr>
              <a:buSzPct val="71000"/>
            </a:pPr>
            <a:endParaRPr lang="en-US" sz="2000" dirty="0">
              <a:solidFill>
                <a:srgbClr val="222222"/>
              </a:solidFill>
              <a:latin typeface="arial" panose="020B0604020202020204" pitchFamily="34" charset="0"/>
            </a:endParaRPr>
          </a:p>
        </p:txBody>
      </p:sp>
    </p:spTree>
    <p:extLst>
      <p:ext uri="{BB962C8B-B14F-4D97-AF65-F5344CB8AC3E}">
        <p14:creationId xmlns:p14="http://schemas.microsoft.com/office/powerpoint/2010/main" val="20029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2.4 Relation with UML Class Diagram</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UML: Unified Modeling Language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UML has many components to graphically model different aspects of an entire software system.</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Example: Use case diagram, activity diagram, sequence diagram, Class diagram.</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UML class diagram corresponds to E-R diagram, but several differences.</a:t>
            </a:r>
          </a:p>
          <a:p>
            <a:pPr marL="457200" indent="-457200" algn="just">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12982117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2.4 Relation with UML Class Diagram</a:t>
            </a:r>
          </a:p>
        </p:txBody>
      </p:sp>
      <p:pic>
        <p:nvPicPr>
          <p:cNvPr id="6" name="Picture 5">
            <a:extLst>
              <a:ext uri="{FF2B5EF4-FFF2-40B4-BE49-F238E27FC236}">
                <a16:creationId xmlns:a16="http://schemas.microsoft.com/office/drawing/2014/main" id="{3DCB763B-F82E-4616-9837-E2B52EB9DF79}"/>
              </a:ext>
            </a:extLst>
          </p:cNvPr>
          <p:cNvPicPr>
            <a:picLocks noChangeAspect="1"/>
          </p:cNvPicPr>
          <p:nvPr/>
        </p:nvPicPr>
        <p:blipFill>
          <a:blip r:embed="rId3"/>
          <a:stretch>
            <a:fillRect/>
          </a:stretch>
        </p:blipFill>
        <p:spPr>
          <a:xfrm>
            <a:off x="1281567" y="1563757"/>
            <a:ext cx="8094254" cy="4956312"/>
          </a:xfrm>
          <a:prstGeom prst="rect">
            <a:avLst/>
          </a:prstGeom>
        </p:spPr>
      </p:pic>
      <p:sp>
        <p:nvSpPr>
          <p:cNvPr id="7" name="TextBox 6">
            <a:extLst>
              <a:ext uri="{FF2B5EF4-FFF2-40B4-BE49-F238E27FC236}">
                <a16:creationId xmlns:a16="http://schemas.microsoft.com/office/drawing/2014/main" id="{1AD00EFC-760C-414E-9D1B-7973A8B9D06E}"/>
              </a:ext>
            </a:extLst>
          </p:cNvPr>
          <p:cNvSpPr txBox="1"/>
          <p:nvPr/>
        </p:nvSpPr>
        <p:spPr>
          <a:xfrm>
            <a:off x="1341294" y="1099675"/>
            <a:ext cx="5112515" cy="369332"/>
          </a:xfrm>
          <a:prstGeom prst="rect">
            <a:avLst/>
          </a:prstGeom>
          <a:noFill/>
        </p:spPr>
        <p:txBody>
          <a:bodyPr wrap="square" rtlCol="0">
            <a:spAutoFit/>
          </a:bodyPr>
          <a:lstStyle/>
          <a:p>
            <a:r>
              <a:rPr lang="en-US" dirty="0"/>
              <a:t>UML Notation</a:t>
            </a:r>
          </a:p>
        </p:txBody>
      </p:sp>
    </p:spTree>
    <p:extLst>
      <p:ext uri="{BB962C8B-B14F-4D97-AF65-F5344CB8AC3E}">
        <p14:creationId xmlns:p14="http://schemas.microsoft.com/office/powerpoint/2010/main" val="17644212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2.4 Relation with UML Class Diagram</a:t>
            </a:r>
          </a:p>
        </p:txBody>
      </p:sp>
      <p:sp>
        <p:nvSpPr>
          <p:cNvPr id="3" name="Subtitle 2"/>
          <p:cNvSpPr>
            <a:spLocks noGrp="1"/>
          </p:cNvSpPr>
          <p:nvPr>
            <p:ph type="subTitle" idx="1"/>
          </p:nvPr>
        </p:nvSpPr>
        <p:spPr>
          <a:xfrm>
            <a:off x="1281567" y="1192696"/>
            <a:ext cx="8094254" cy="4937648"/>
          </a:xfrm>
        </p:spPr>
        <p:txBody>
          <a:bodyPr>
            <a:normAutofit fontScale="77500" lnSpcReduction="200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Entity sets are shown as boxes, and attributes are shown within the box, rather than as separate ellipses in E-R diagrams.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Binary relationship sets are represented in UML by just drawing a line connecting the entity sets. The relationship set name is written adjacent to the line.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role played by an entity set in a relationship set may also be specified by writing the role name on the line, adjacent to the entity set.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relationship set name may alternatively be written in a box, along with attributes of the relationship set, and the box is connected, using a dotted line, to the line depicting the relationship set.</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Non-binary relationships drawn using diamonds, just as in ER diagrams</a:t>
            </a:r>
            <a:endParaRPr lang="en-US" sz="2800" dirty="0">
              <a:solidFill>
                <a:schemeClr val="tx1"/>
              </a:solidFill>
            </a:endParaRPr>
          </a:p>
        </p:txBody>
      </p:sp>
      <p:sp>
        <p:nvSpPr>
          <p:cNvPr id="5" name="TextBox 4">
            <a:extLst>
              <a:ext uri="{FF2B5EF4-FFF2-40B4-BE49-F238E27FC236}">
                <a16:creationId xmlns:a16="http://schemas.microsoft.com/office/drawing/2014/main" id="{9F88F013-CB22-4986-A9E8-CE95F43BE064}"/>
              </a:ext>
            </a:extLst>
          </p:cNvPr>
          <p:cNvSpPr txBox="1"/>
          <p:nvPr/>
        </p:nvSpPr>
        <p:spPr>
          <a:xfrm>
            <a:off x="8450993" y="635593"/>
            <a:ext cx="924828" cy="369332"/>
          </a:xfrm>
          <a:prstGeom prst="rect">
            <a:avLst/>
          </a:prstGeom>
          <a:noFill/>
        </p:spPr>
        <p:txBody>
          <a:bodyPr wrap="square" rtlCol="0">
            <a:spAutoFit/>
          </a:bodyPr>
          <a:lstStyle/>
          <a:p>
            <a:r>
              <a:rPr lang="en-US" dirty="0">
                <a:solidFill>
                  <a:schemeClr val="tx1">
                    <a:lumMod val="50000"/>
                    <a:lumOff val="50000"/>
                  </a:schemeClr>
                </a:solidFill>
              </a:rPr>
              <a:t>Contd.</a:t>
            </a:r>
          </a:p>
        </p:txBody>
      </p:sp>
    </p:spTree>
    <p:extLst>
      <p:ext uri="{BB962C8B-B14F-4D97-AF65-F5344CB8AC3E}">
        <p14:creationId xmlns:p14="http://schemas.microsoft.com/office/powerpoint/2010/main" val="42334022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2.4 Relation with UML Class Diagram</a:t>
            </a:r>
          </a:p>
        </p:txBody>
      </p:sp>
      <p:sp>
        <p:nvSpPr>
          <p:cNvPr id="7" name="TextBox 6">
            <a:extLst>
              <a:ext uri="{FF2B5EF4-FFF2-40B4-BE49-F238E27FC236}">
                <a16:creationId xmlns:a16="http://schemas.microsoft.com/office/drawing/2014/main" id="{1AD00EFC-760C-414E-9D1B-7973A8B9D06E}"/>
              </a:ext>
            </a:extLst>
          </p:cNvPr>
          <p:cNvSpPr txBox="1"/>
          <p:nvPr/>
        </p:nvSpPr>
        <p:spPr>
          <a:xfrm>
            <a:off x="1341294" y="1099675"/>
            <a:ext cx="5112515" cy="369332"/>
          </a:xfrm>
          <a:prstGeom prst="rect">
            <a:avLst/>
          </a:prstGeom>
          <a:noFill/>
        </p:spPr>
        <p:txBody>
          <a:bodyPr wrap="square" rtlCol="0">
            <a:spAutoFit/>
          </a:bodyPr>
          <a:lstStyle/>
          <a:p>
            <a:r>
              <a:rPr lang="en-US" dirty="0"/>
              <a:t>UML Notation</a:t>
            </a:r>
          </a:p>
        </p:txBody>
      </p:sp>
      <p:sp>
        <p:nvSpPr>
          <p:cNvPr id="3" name="TextBox 2">
            <a:extLst>
              <a:ext uri="{FF2B5EF4-FFF2-40B4-BE49-F238E27FC236}">
                <a16:creationId xmlns:a16="http://schemas.microsoft.com/office/drawing/2014/main" id="{7A9BDD42-92B6-4228-B3DD-F13656ABEAEB}"/>
              </a:ext>
            </a:extLst>
          </p:cNvPr>
          <p:cNvSpPr txBox="1"/>
          <p:nvPr/>
        </p:nvSpPr>
        <p:spPr>
          <a:xfrm>
            <a:off x="8450993" y="635593"/>
            <a:ext cx="924828" cy="369332"/>
          </a:xfrm>
          <a:prstGeom prst="rect">
            <a:avLst/>
          </a:prstGeom>
          <a:noFill/>
        </p:spPr>
        <p:txBody>
          <a:bodyPr wrap="square" rtlCol="0">
            <a:spAutoFit/>
          </a:bodyPr>
          <a:lstStyle/>
          <a:p>
            <a:r>
              <a:rPr lang="en-US" dirty="0">
                <a:solidFill>
                  <a:schemeClr val="tx1">
                    <a:lumMod val="50000"/>
                    <a:lumOff val="50000"/>
                  </a:schemeClr>
                </a:solidFill>
              </a:rPr>
              <a:t>Contd.</a:t>
            </a:r>
          </a:p>
        </p:txBody>
      </p:sp>
      <p:pic>
        <p:nvPicPr>
          <p:cNvPr id="4" name="Picture 3">
            <a:extLst>
              <a:ext uri="{FF2B5EF4-FFF2-40B4-BE49-F238E27FC236}">
                <a16:creationId xmlns:a16="http://schemas.microsoft.com/office/drawing/2014/main" id="{9B7AE840-DB7B-4A8F-9DE1-7CC6591BEDFC}"/>
              </a:ext>
            </a:extLst>
          </p:cNvPr>
          <p:cNvPicPr>
            <a:picLocks noChangeAspect="1"/>
          </p:cNvPicPr>
          <p:nvPr/>
        </p:nvPicPr>
        <p:blipFill>
          <a:blip r:embed="rId3"/>
          <a:stretch>
            <a:fillRect/>
          </a:stretch>
        </p:blipFill>
        <p:spPr>
          <a:xfrm>
            <a:off x="1281567" y="1563757"/>
            <a:ext cx="8094254" cy="4843856"/>
          </a:xfrm>
          <a:prstGeom prst="rect">
            <a:avLst/>
          </a:prstGeom>
        </p:spPr>
      </p:pic>
    </p:spTree>
    <p:extLst>
      <p:ext uri="{BB962C8B-B14F-4D97-AF65-F5344CB8AC3E}">
        <p14:creationId xmlns:p14="http://schemas.microsoft.com/office/powerpoint/2010/main" val="28520425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2.4 Relation with UML Class Diagram</a:t>
            </a:r>
          </a:p>
        </p:txBody>
      </p:sp>
      <p:sp>
        <p:nvSpPr>
          <p:cNvPr id="3" name="Subtitle 2"/>
          <p:cNvSpPr>
            <a:spLocks noGrp="1"/>
          </p:cNvSpPr>
          <p:nvPr>
            <p:ph type="subTitle" idx="1"/>
          </p:nvPr>
        </p:nvSpPr>
        <p:spPr>
          <a:xfrm>
            <a:off x="1281567" y="1192696"/>
            <a:ext cx="8094254" cy="4937648"/>
          </a:xfrm>
        </p:spPr>
        <p:txBody>
          <a:bodyPr>
            <a:normAutofit fontScale="85000" lnSpcReduction="200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Cardinality constraints are specified in the form </a:t>
            </a:r>
            <a:r>
              <a:rPr lang="en-US" sz="2800" i="1" dirty="0" err="1">
                <a:solidFill>
                  <a:srgbClr val="222222"/>
                </a:solidFill>
                <a:latin typeface="arial" panose="020B0604020202020204" pitchFamily="34" charset="0"/>
              </a:rPr>
              <a:t>l..h</a:t>
            </a:r>
            <a:r>
              <a:rPr lang="en-US" sz="2800" i="1" dirty="0">
                <a:solidFill>
                  <a:srgbClr val="222222"/>
                </a:solidFill>
                <a:latin typeface="arial" panose="020B0604020202020204" pitchFamily="34" charset="0"/>
              </a:rPr>
              <a:t> </a:t>
            </a:r>
            <a:r>
              <a:rPr lang="en-US" sz="2800" dirty="0">
                <a:solidFill>
                  <a:srgbClr val="222222"/>
                </a:solidFill>
                <a:latin typeface="arial" panose="020B0604020202020204" pitchFamily="34" charset="0"/>
              </a:rPr>
              <a:t>, where </a:t>
            </a:r>
            <a:r>
              <a:rPr lang="en-US" sz="2800" i="1" dirty="0">
                <a:solidFill>
                  <a:srgbClr val="222222"/>
                </a:solidFill>
                <a:latin typeface="arial" panose="020B0604020202020204" pitchFamily="34" charset="0"/>
              </a:rPr>
              <a:t>l</a:t>
            </a:r>
            <a:r>
              <a:rPr lang="en-US" sz="2800" dirty="0">
                <a:solidFill>
                  <a:srgbClr val="222222"/>
                </a:solidFill>
                <a:latin typeface="arial" panose="020B0604020202020204" pitchFamily="34" charset="0"/>
              </a:rPr>
              <a:t> denotes the minimum and </a:t>
            </a:r>
            <a:r>
              <a:rPr lang="en-US" sz="2800" i="1" dirty="0">
                <a:solidFill>
                  <a:srgbClr val="222222"/>
                </a:solidFill>
                <a:latin typeface="arial" panose="020B0604020202020204" pitchFamily="34" charset="0"/>
              </a:rPr>
              <a:t>h</a:t>
            </a:r>
            <a:r>
              <a:rPr lang="en-US" sz="2800" dirty="0">
                <a:solidFill>
                  <a:srgbClr val="222222"/>
                </a:solidFill>
                <a:latin typeface="arial" panose="020B0604020202020204" pitchFamily="34" charset="0"/>
              </a:rPr>
              <a:t> the maximum number of relationships an entity can participate in.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Beware: the positioning of the constraints is exactly the reverse of the positioning of constraints in E-R diagrams.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constraint 0..* on the E2 side and 0..1 on the E1 side means that each E2 entity can participate in at most one relationship, whereas each E1 entity can participate in many relationships; in other words, the relationship is many to one from E2 to E1.</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Single values, such as 1 or * may be written on edges; The single value 1 on an edge is treated as equivalent to 1..1, while * is equivalent to 0..*.</a:t>
            </a:r>
            <a:endParaRPr lang="en-US" sz="2800" dirty="0">
              <a:solidFill>
                <a:schemeClr val="tx1"/>
              </a:solidFill>
            </a:endParaRPr>
          </a:p>
        </p:txBody>
      </p:sp>
      <p:sp>
        <p:nvSpPr>
          <p:cNvPr id="5" name="TextBox 4">
            <a:extLst>
              <a:ext uri="{FF2B5EF4-FFF2-40B4-BE49-F238E27FC236}">
                <a16:creationId xmlns:a16="http://schemas.microsoft.com/office/drawing/2014/main" id="{9F88F013-CB22-4986-A9E8-CE95F43BE064}"/>
              </a:ext>
            </a:extLst>
          </p:cNvPr>
          <p:cNvSpPr txBox="1"/>
          <p:nvPr/>
        </p:nvSpPr>
        <p:spPr>
          <a:xfrm>
            <a:off x="8450993" y="635593"/>
            <a:ext cx="924828" cy="369332"/>
          </a:xfrm>
          <a:prstGeom prst="rect">
            <a:avLst/>
          </a:prstGeom>
          <a:noFill/>
        </p:spPr>
        <p:txBody>
          <a:bodyPr wrap="square" rtlCol="0">
            <a:spAutoFit/>
          </a:bodyPr>
          <a:lstStyle/>
          <a:p>
            <a:r>
              <a:rPr lang="en-US" dirty="0">
                <a:solidFill>
                  <a:schemeClr val="tx1">
                    <a:lumMod val="50000"/>
                    <a:lumOff val="50000"/>
                  </a:schemeClr>
                </a:solidFill>
              </a:rPr>
              <a:t>Contd.</a:t>
            </a:r>
          </a:p>
        </p:txBody>
      </p:sp>
    </p:spTree>
    <p:extLst>
      <p:ext uri="{BB962C8B-B14F-4D97-AF65-F5344CB8AC3E}">
        <p14:creationId xmlns:p14="http://schemas.microsoft.com/office/powerpoint/2010/main" val="34118182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2.5 Alternate Data Model</a:t>
            </a:r>
          </a:p>
        </p:txBody>
      </p:sp>
      <p:sp>
        <p:nvSpPr>
          <p:cNvPr id="3" name="Subtitle 2"/>
          <p:cNvSpPr>
            <a:spLocks noGrp="1"/>
          </p:cNvSpPr>
          <p:nvPr>
            <p:ph type="subTitle" idx="1"/>
          </p:nvPr>
        </p:nvSpPr>
        <p:spPr>
          <a:xfrm>
            <a:off x="1281567" y="1192696"/>
            <a:ext cx="8094254" cy="4937648"/>
          </a:xfrm>
        </p:spPr>
        <p:txBody>
          <a:bodyPr>
            <a:normAutofit fontScale="85000" lnSpcReduction="20000"/>
          </a:bodyPr>
          <a:lstStyle/>
          <a:p>
            <a:pPr algn="just">
              <a:buClr>
                <a:schemeClr val="tx1"/>
              </a:buClr>
              <a:buSzPct val="71000"/>
            </a:pPr>
            <a:r>
              <a:rPr lang="en-US" sz="2800" dirty="0">
                <a:solidFill>
                  <a:srgbClr val="FF0000"/>
                </a:solidFill>
                <a:latin typeface="arial" panose="020B0604020202020204" pitchFamily="34" charset="0"/>
              </a:rPr>
              <a:t>Hierarchical Model</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This database model organizes data into a tree-like-structure, with a single root, to which all the other data is linked.</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hierarchy starts from the Root data, and expands like a tree, adding child nodes to the parent nodes.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In this model, a child node will only have a single parent node.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This model efficiently describes many real-world relationships like index of a book, recipes etc.</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Data is organized into tree-like structure with one one-to-many relationship between two different types of data.</a:t>
            </a:r>
          </a:p>
        </p:txBody>
      </p:sp>
    </p:spTree>
    <p:extLst>
      <p:ext uri="{BB962C8B-B14F-4D97-AF65-F5344CB8AC3E}">
        <p14:creationId xmlns:p14="http://schemas.microsoft.com/office/powerpoint/2010/main" val="33709062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2.5 Alternate Data Model</a:t>
            </a:r>
          </a:p>
        </p:txBody>
      </p:sp>
      <p:sp>
        <p:nvSpPr>
          <p:cNvPr id="5" name="TextBox 4">
            <a:extLst>
              <a:ext uri="{FF2B5EF4-FFF2-40B4-BE49-F238E27FC236}">
                <a16:creationId xmlns:a16="http://schemas.microsoft.com/office/drawing/2014/main" id="{9F88F013-CB22-4986-A9E8-CE95F43BE064}"/>
              </a:ext>
            </a:extLst>
          </p:cNvPr>
          <p:cNvSpPr txBox="1"/>
          <p:nvPr/>
        </p:nvSpPr>
        <p:spPr>
          <a:xfrm>
            <a:off x="8450993" y="635593"/>
            <a:ext cx="924828" cy="369332"/>
          </a:xfrm>
          <a:prstGeom prst="rect">
            <a:avLst/>
          </a:prstGeom>
          <a:noFill/>
        </p:spPr>
        <p:txBody>
          <a:bodyPr wrap="square" rtlCol="0">
            <a:spAutoFit/>
          </a:bodyPr>
          <a:lstStyle/>
          <a:p>
            <a:r>
              <a:rPr lang="en-US" dirty="0">
                <a:solidFill>
                  <a:schemeClr val="tx1">
                    <a:lumMod val="50000"/>
                    <a:lumOff val="50000"/>
                  </a:schemeClr>
                </a:solidFill>
              </a:rPr>
              <a:t>Contd.</a:t>
            </a:r>
          </a:p>
        </p:txBody>
      </p:sp>
      <p:sp>
        <p:nvSpPr>
          <p:cNvPr id="7" name="Subtitle 2">
            <a:extLst>
              <a:ext uri="{FF2B5EF4-FFF2-40B4-BE49-F238E27FC236}">
                <a16:creationId xmlns:a16="http://schemas.microsoft.com/office/drawing/2014/main" id="{E90A3E18-596B-4A75-B518-6A45406D1D15}"/>
              </a:ext>
            </a:extLst>
          </p:cNvPr>
          <p:cNvSpPr>
            <a:spLocks noGrp="1"/>
          </p:cNvSpPr>
          <p:nvPr>
            <p:ph type="subTitle" idx="1"/>
          </p:nvPr>
        </p:nvSpPr>
        <p:spPr>
          <a:xfrm>
            <a:off x="1281567" y="1192696"/>
            <a:ext cx="8094254" cy="554538"/>
          </a:xfrm>
        </p:spPr>
        <p:txBody>
          <a:bodyPr>
            <a:normAutofit/>
          </a:bodyPr>
          <a:lstStyle/>
          <a:p>
            <a:pPr algn="just">
              <a:buClr>
                <a:schemeClr val="tx1"/>
              </a:buClr>
              <a:buSzPct val="71000"/>
            </a:pPr>
            <a:r>
              <a:rPr lang="en-US" sz="2800" dirty="0">
                <a:solidFill>
                  <a:srgbClr val="FF0000"/>
                </a:solidFill>
                <a:latin typeface="arial" panose="020B0604020202020204" pitchFamily="34" charset="0"/>
              </a:rPr>
              <a:t>Hierarchical Model</a:t>
            </a:r>
          </a:p>
        </p:txBody>
      </p:sp>
      <p:pic>
        <p:nvPicPr>
          <p:cNvPr id="1026" name="Picture 2" descr="Hierarchical Model of database">
            <a:extLst>
              <a:ext uri="{FF2B5EF4-FFF2-40B4-BE49-F238E27FC236}">
                <a16:creationId xmlns:a16="http://schemas.microsoft.com/office/drawing/2014/main" id="{C0199482-9A51-4933-8E0C-FAA68522FD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6" y="1747233"/>
            <a:ext cx="8094253" cy="4660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02281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2.5 Alternate Data Model</a:t>
            </a:r>
          </a:p>
        </p:txBody>
      </p:sp>
      <p:sp>
        <p:nvSpPr>
          <p:cNvPr id="3" name="Subtitle 2"/>
          <p:cNvSpPr>
            <a:spLocks noGrp="1"/>
          </p:cNvSpPr>
          <p:nvPr>
            <p:ph type="subTitle" idx="1"/>
          </p:nvPr>
        </p:nvSpPr>
        <p:spPr>
          <a:xfrm>
            <a:off x="1281567" y="1192696"/>
            <a:ext cx="8094254" cy="4937648"/>
          </a:xfrm>
        </p:spPr>
        <p:txBody>
          <a:bodyPr>
            <a:normAutofit fontScale="92500" lnSpcReduction="20000"/>
          </a:bodyPr>
          <a:lstStyle/>
          <a:p>
            <a:pPr algn="just">
              <a:buClr>
                <a:schemeClr val="tx1"/>
              </a:buClr>
              <a:buSzPct val="71000"/>
            </a:pPr>
            <a:r>
              <a:rPr lang="en-US" sz="2800" dirty="0">
                <a:solidFill>
                  <a:srgbClr val="FF0000"/>
                </a:solidFill>
                <a:latin typeface="arial" panose="020B0604020202020204" pitchFamily="34" charset="0"/>
              </a:rPr>
              <a:t>Network Model</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This is an extension of the Hierarchical model.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Data is organized more like a graph, and are allowed to have more than one parent node.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Data is more related as more relationships are established in this database model.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Also, as the data is more related, hence accessing the data is also easier and fast.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This database model was used to map many-to-many data relationships.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This was the most widely used database model, before Relational Model was introduced.</a:t>
            </a:r>
          </a:p>
        </p:txBody>
      </p:sp>
    </p:spTree>
    <p:extLst>
      <p:ext uri="{BB962C8B-B14F-4D97-AF65-F5344CB8AC3E}">
        <p14:creationId xmlns:p14="http://schemas.microsoft.com/office/powerpoint/2010/main" val="23481707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2.5 Alternate Data Model</a:t>
            </a:r>
          </a:p>
        </p:txBody>
      </p:sp>
      <p:sp>
        <p:nvSpPr>
          <p:cNvPr id="5" name="TextBox 4">
            <a:extLst>
              <a:ext uri="{FF2B5EF4-FFF2-40B4-BE49-F238E27FC236}">
                <a16:creationId xmlns:a16="http://schemas.microsoft.com/office/drawing/2014/main" id="{9F88F013-CB22-4986-A9E8-CE95F43BE064}"/>
              </a:ext>
            </a:extLst>
          </p:cNvPr>
          <p:cNvSpPr txBox="1"/>
          <p:nvPr/>
        </p:nvSpPr>
        <p:spPr>
          <a:xfrm>
            <a:off x="8450993" y="635593"/>
            <a:ext cx="924828" cy="369332"/>
          </a:xfrm>
          <a:prstGeom prst="rect">
            <a:avLst/>
          </a:prstGeom>
          <a:noFill/>
        </p:spPr>
        <p:txBody>
          <a:bodyPr wrap="square" rtlCol="0">
            <a:spAutoFit/>
          </a:bodyPr>
          <a:lstStyle/>
          <a:p>
            <a:r>
              <a:rPr lang="en-US" dirty="0">
                <a:solidFill>
                  <a:schemeClr val="tx1">
                    <a:lumMod val="50000"/>
                    <a:lumOff val="50000"/>
                  </a:schemeClr>
                </a:solidFill>
              </a:rPr>
              <a:t>Contd.</a:t>
            </a:r>
          </a:p>
        </p:txBody>
      </p:sp>
      <p:sp>
        <p:nvSpPr>
          <p:cNvPr id="7" name="Subtitle 2">
            <a:extLst>
              <a:ext uri="{FF2B5EF4-FFF2-40B4-BE49-F238E27FC236}">
                <a16:creationId xmlns:a16="http://schemas.microsoft.com/office/drawing/2014/main" id="{E90A3E18-596B-4A75-B518-6A45406D1D15}"/>
              </a:ext>
            </a:extLst>
          </p:cNvPr>
          <p:cNvSpPr>
            <a:spLocks noGrp="1"/>
          </p:cNvSpPr>
          <p:nvPr>
            <p:ph type="subTitle" idx="1"/>
          </p:nvPr>
        </p:nvSpPr>
        <p:spPr>
          <a:xfrm>
            <a:off x="1281567" y="1192696"/>
            <a:ext cx="8094254" cy="554538"/>
          </a:xfrm>
        </p:spPr>
        <p:txBody>
          <a:bodyPr>
            <a:normAutofit/>
          </a:bodyPr>
          <a:lstStyle/>
          <a:p>
            <a:pPr algn="just">
              <a:buClr>
                <a:schemeClr val="tx1"/>
              </a:buClr>
              <a:buSzPct val="71000"/>
            </a:pPr>
            <a:r>
              <a:rPr lang="en-US" sz="2800" dirty="0">
                <a:solidFill>
                  <a:srgbClr val="FF0000"/>
                </a:solidFill>
                <a:latin typeface="arial" panose="020B0604020202020204" pitchFamily="34" charset="0"/>
              </a:rPr>
              <a:t>Network Model</a:t>
            </a:r>
          </a:p>
        </p:txBody>
      </p:sp>
      <p:pic>
        <p:nvPicPr>
          <p:cNvPr id="2050" name="Picture 2" descr="Data Modeling Tutorial: How to Design Databases Using Various Models">
            <a:extLst>
              <a:ext uri="{FF2B5EF4-FFF2-40B4-BE49-F238E27FC236}">
                <a16:creationId xmlns:a16="http://schemas.microsoft.com/office/drawing/2014/main" id="{39F5E3D3-6954-4F7B-8307-9D0C872F2B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6" y="1747234"/>
            <a:ext cx="8094253" cy="4660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5788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Reducing E-R diagram to Tables</a:t>
            </a:r>
          </a:p>
        </p:txBody>
      </p:sp>
      <p:pic>
        <p:nvPicPr>
          <p:cNvPr id="3074" name="Picture 2" descr="DBMS Reduction of ER diagram to Table">
            <a:extLst>
              <a:ext uri="{FF2B5EF4-FFF2-40B4-BE49-F238E27FC236}">
                <a16:creationId xmlns:a16="http://schemas.microsoft.com/office/drawing/2014/main" id="{0EFB03BC-2DE2-4889-B496-3508B6F6C0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6" y="1274901"/>
            <a:ext cx="8094253" cy="5019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13870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Reducing E-R diagram to Tables</a:t>
            </a:r>
          </a:p>
        </p:txBody>
      </p:sp>
      <p:sp>
        <p:nvSpPr>
          <p:cNvPr id="3" name="TextBox 2">
            <a:extLst>
              <a:ext uri="{FF2B5EF4-FFF2-40B4-BE49-F238E27FC236}">
                <a16:creationId xmlns:a16="http://schemas.microsoft.com/office/drawing/2014/main" id="{335A3302-AC7F-4559-A44C-8A6F69A555C5}"/>
              </a:ext>
            </a:extLst>
          </p:cNvPr>
          <p:cNvSpPr txBox="1"/>
          <p:nvPr/>
        </p:nvSpPr>
        <p:spPr>
          <a:xfrm>
            <a:off x="8450993" y="635593"/>
            <a:ext cx="924828" cy="369332"/>
          </a:xfrm>
          <a:prstGeom prst="rect">
            <a:avLst/>
          </a:prstGeom>
          <a:noFill/>
        </p:spPr>
        <p:txBody>
          <a:bodyPr wrap="square" rtlCol="0">
            <a:spAutoFit/>
          </a:bodyPr>
          <a:lstStyle/>
          <a:p>
            <a:r>
              <a:rPr lang="en-US" dirty="0">
                <a:solidFill>
                  <a:schemeClr val="tx1">
                    <a:lumMod val="50000"/>
                    <a:lumOff val="50000"/>
                  </a:schemeClr>
                </a:solidFill>
              </a:rPr>
              <a:t>Contd.</a:t>
            </a:r>
          </a:p>
        </p:txBody>
      </p:sp>
      <p:sp>
        <p:nvSpPr>
          <p:cNvPr id="6" name="Subtitle 2">
            <a:extLst>
              <a:ext uri="{FF2B5EF4-FFF2-40B4-BE49-F238E27FC236}">
                <a16:creationId xmlns:a16="http://schemas.microsoft.com/office/drawing/2014/main" id="{1B0FB6E9-EDDB-4CDC-9A8B-E7815F086BA4}"/>
              </a:ext>
            </a:extLst>
          </p:cNvPr>
          <p:cNvSpPr>
            <a:spLocks noGrp="1"/>
          </p:cNvSpPr>
          <p:nvPr>
            <p:ph type="subTitle" idx="1"/>
          </p:nvPr>
        </p:nvSpPr>
        <p:spPr>
          <a:xfrm>
            <a:off x="1281567" y="1192696"/>
            <a:ext cx="8094254" cy="4937648"/>
          </a:xfrm>
        </p:spPr>
        <p:txBody>
          <a:bodyPr>
            <a:normAutofit fontScale="77500" lnSpcReduction="20000"/>
          </a:bodyPr>
          <a:lstStyle/>
          <a:p>
            <a:pPr algn="just">
              <a:buClr>
                <a:schemeClr val="tx1"/>
              </a:buClr>
              <a:buSzPct val="71000"/>
            </a:pPr>
            <a:r>
              <a:rPr lang="en-US" sz="2800" dirty="0">
                <a:solidFill>
                  <a:srgbClr val="FF0000"/>
                </a:solidFill>
                <a:latin typeface="arial" panose="020B0604020202020204" pitchFamily="34" charset="0"/>
              </a:rPr>
              <a:t>Some points to remember:</a:t>
            </a: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Entity type becomes a table.</a:t>
            </a:r>
          </a:p>
          <a:p>
            <a:pPr marL="914389" lvl="1"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In the given ER diagram, LECTURE, STUDENT, SUBJECT and COURSE forms individual tables.</a:t>
            </a: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All single-valued attribute becomes a column for the table.</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In the STUDENT entity, STUDENT_NAME and STUDENT_ID form the column of STUDENT table. Similarly, COURSE_NAME and COURSE_ID form the column of COURSE table and so on.</a:t>
            </a: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A key attribute of the entity type represented by the primary key.</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In the given ER diagram, COURSE_ID, STUDENT_ID, SUBJECT_ID, and LECTURE_ID are the key attribute of the entity.</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6950835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Reducing E-R diagram to Tables</a:t>
            </a:r>
          </a:p>
        </p:txBody>
      </p:sp>
      <p:sp>
        <p:nvSpPr>
          <p:cNvPr id="3" name="TextBox 2">
            <a:extLst>
              <a:ext uri="{FF2B5EF4-FFF2-40B4-BE49-F238E27FC236}">
                <a16:creationId xmlns:a16="http://schemas.microsoft.com/office/drawing/2014/main" id="{335A3302-AC7F-4559-A44C-8A6F69A555C5}"/>
              </a:ext>
            </a:extLst>
          </p:cNvPr>
          <p:cNvSpPr txBox="1"/>
          <p:nvPr/>
        </p:nvSpPr>
        <p:spPr>
          <a:xfrm>
            <a:off x="8450993" y="635593"/>
            <a:ext cx="924828" cy="369332"/>
          </a:xfrm>
          <a:prstGeom prst="rect">
            <a:avLst/>
          </a:prstGeom>
          <a:noFill/>
        </p:spPr>
        <p:txBody>
          <a:bodyPr wrap="square" rtlCol="0">
            <a:spAutoFit/>
          </a:bodyPr>
          <a:lstStyle/>
          <a:p>
            <a:r>
              <a:rPr lang="en-US" dirty="0">
                <a:solidFill>
                  <a:schemeClr val="tx1">
                    <a:lumMod val="50000"/>
                    <a:lumOff val="50000"/>
                  </a:schemeClr>
                </a:solidFill>
              </a:rPr>
              <a:t>Contd.</a:t>
            </a:r>
          </a:p>
        </p:txBody>
      </p:sp>
      <p:sp>
        <p:nvSpPr>
          <p:cNvPr id="6" name="Subtitle 2">
            <a:extLst>
              <a:ext uri="{FF2B5EF4-FFF2-40B4-BE49-F238E27FC236}">
                <a16:creationId xmlns:a16="http://schemas.microsoft.com/office/drawing/2014/main" id="{1B0FB6E9-EDDB-4CDC-9A8B-E7815F086BA4}"/>
              </a:ext>
            </a:extLst>
          </p:cNvPr>
          <p:cNvSpPr>
            <a:spLocks noGrp="1"/>
          </p:cNvSpPr>
          <p:nvPr>
            <p:ph type="subTitle" idx="1"/>
          </p:nvPr>
        </p:nvSpPr>
        <p:spPr>
          <a:xfrm>
            <a:off x="1281567" y="1192696"/>
            <a:ext cx="8094254" cy="4937648"/>
          </a:xfrm>
        </p:spPr>
        <p:txBody>
          <a:bodyPr>
            <a:normAutofit fontScale="70000" lnSpcReduction="20000"/>
          </a:bodyPr>
          <a:lstStyle/>
          <a:p>
            <a:pPr algn="just">
              <a:buClr>
                <a:schemeClr val="tx1"/>
              </a:buClr>
              <a:buSzPct val="71000"/>
            </a:pPr>
            <a:r>
              <a:rPr lang="en-US" sz="2800" dirty="0">
                <a:solidFill>
                  <a:srgbClr val="FF0000"/>
                </a:solidFill>
                <a:latin typeface="arial" panose="020B0604020202020204" pitchFamily="34" charset="0"/>
              </a:rPr>
              <a:t>Some points to remember:</a:t>
            </a: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The multivalued attribute is represented by a separate table.</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In the student table, a hobby is a multivalued attribute. So it is not possible to represent multiple values in a single column of STUDENT table. Hence we create a table STUD_HOBBY with column name STUDENT_ID and HOBBY. Using both the column, we create a composite key.</a:t>
            </a: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Composite attribute represented by components.</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In the given ER diagram, student address is a composite attribute. It contains CITY, PIN, DOOR#, STREET, and STATE. In the STUDENT table, these attributes can merge as an individual column.</a:t>
            </a: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Derived attributes are not considered in the table.</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In the STUDENT table, Age is the derived attribute. It can be calculated at any point of time by calculating the difference between current date and Date of Birth.</a:t>
            </a:r>
          </a:p>
        </p:txBody>
      </p:sp>
    </p:spTree>
    <p:extLst>
      <p:ext uri="{BB962C8B-B14F-4D97-AF65-F5344CB8AC3E}">
        <p14:creationId xmlns:p14="http://schemas.microsoft.com/office/powerpoint/2010/main" val="38207727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Reducing E-R diagram to Tables</a:t>
            </a:r>
          </a:p>
        </p:txBody>
      </p:sp>
      <p:sp>
        <p:nvSpPr>
          <p:cNvPr id="3" name="TextBox 2">
            <a:extLst>
              <a:ext uri="{FF2B5EF4-FFF2-40B4-BE49-F238E27FC236}">
                <a16:creationId xmlns:a16="http://schemas.microsoft.com/office/drawing/2014/main" id="{335A3302-AC7F-4559-A44C-8A6F69A555C5}"/>
              </a:ext>
            </a:extLst>
          </p:cNvPr>
          <p:cNvSpPr txBox="1"/>
          <p:nvPr/>
        </p:nvSpPr>
        <p:spPr>
          <a:xfrm>
            <a:off x="8450993" y="635593"/>
            <a:ext cx="924828" cy="369332"/>
          </a:xfrm>
          <a:prstGeom prst="rect">
            <a:avLst/>
          </a:prstGeom>
          <a:noFill/>
        </p:spPr>
        <p:txBody>
          <a:bodyPr wrap="square" rtlCol="0">
            <a:spAutoFit/>
          </a:bodyPr>
          <a:lstStyle/>
          <a:p>
            <a:r>
              <a:rPr lang="en-US" dirty="0">
                <a:solidFill>
                  <a:schemeClr val="tx1">
                    <a:lumMod val="50000"/>
                    <a:lumOff val="50000"/>
                  </a:schemeClr>
                </a:solidFill>
              </a:rPr>
              <a:t>Contd.</a:t>
            </a:r>
          </a:p>
        </p:txBody>
      </p:sp>
      <p:pic>
        <p:nvPicPr>
          <p:cNvPr id="4098" name="Picture 2" descr="DBMS Reduction of ER diagram to Table">
            <a:extLst>
              <a:ext uri="{FF2B5EF4-FFF2-40B4-BE49-F238E27FC236}">
                <a16:creationId xmlns:a16="http://schemas.microsoft.com/office/drawing/2014/main" id="{581184C1-EF0E-4696-804F-1C7DB2098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1709530"/>
            <a:ext cx="8094254" cy="469808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25BF9E6-C139-469D-A2A9-07478712A055}"/>
              </a:ext>
            </a:extLst>
          </p:cNvPr>
          <p:cNvSpPr txBox="1"/>
          <p:nvPr/>
        </p:nvSpPr>
        <p:spPr>
          <a:xfrm>
            <a:off x="1281566" y="1172561"/>
            <a:ext cx="8094253" cy="369332"/>
          </a:xfrm>
          <a:prstGeom prst="rect">
            <a:avLst/>
          </a:prstGeom>
          <a:noFill/>
        </p:spPr>
        <p:txBody>
          <a:bodyPr wrap="square" rtlCol="0">
            <a:spAutoFit/>
          </a:bodyPr>
          <a:lstStyle/>
          <a:p>
            <a:r>
              <a:rPr lang="en-US" dirty="0"/>
              <a:t>Table structure for the given ER diagram is as below:</a:t>
            </a:r>
          </a:p>
        </p:txBody>
      </p:sp>
    </p:spTree>
    <p:extLst>
      <p:ext uri="{BB962C8B-B14F-4D97-AF65-F5344CB8AC3E}">
        <p14:creationId xmlns:p14="http://schemas.microsoft.com/office/powerpoint/2010/main" val="35467677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Reducing E-R diagram to Tables</a:t>
            </a:r>
          </a:p>
        </p:txBody>
      </p:sp>
      <p:sp>
        <p:nvSpPr>
          <p:cNvPr id="7" name="TextBox 6">
            <a:extLst>
              <a:ext uri="{FF2B5EF4-FFF2-40B4-BE49-F238E27FC236}">
                <a16:creationId xmlns:a16="http://schemas.microsoft.com/office/drawing/2014/main" id="{325BF9E6-C139-469D-A2A9-07478712A055}"/>
              </a:ext>
            </a:extLst>
          </p:cNvPr>
          <p:cNvSpPr txBox="1"/>
          <p:nvPr/>
        </p:nvSpPr>
        <p:spPr>
          <a:xfrm>
            <a:off x="1281567" y="1172561"/>
            <a:ext cx="8094253" cy="954107"/>
          </a:xfrm>
          <a:prstGeom prst="rect">
            <a:avLst/>
          </a:prstGeom>
          <a:noFill/>
        </p:spPr>
        <p:txBody>
          <a:bodyPr wrap="square" rtlCol="0">
            <a:spAutoFit/>
          </a:bodyPr>
          <a:lstStyle/>
          <a:p>
            <a:r>
              <a:rPr lang="en-US" sz="2800" dirty="0"/>
              <a:t>If you want to know more about how to reduce E-R diagram to tables, just go to the given links.</a:t>
            </a:r>
          </a:p>
        </p:txBody>
      </p:sp>
      <p:sp>
        <p:nvSpPr>
          <p:cNvPr id="4" name="TextBox 3">
            <a:extLst>
              <a:ext uri="{FF2B5EF4-FFF2-40B4-BE49-F238E27FC236}">
                <a16:creationId xmlns:a16="http://schemas.microsoft.com/office/drawing/2014/main" id="{B40EE1E8-9EC0-4A07-9519-67CF825501D9}"/>
              </a:ext>
            </a:extLst>
          </p:cNvPr>
          <p:cNvSpPr txBox="1"/>
          <p:nvPr/>
        </p:nvSpPr>
        <p:spPr>
          <a:xfrm>
            <a:off x="1281566" y="2636926"/>
            <a:ext cx="8094253" cy="3539430"/>
          </a:xfrm>
          <a:prstGeom prst="rect">
            <a:avLst/>
          </a:prstGeom>
          <a:noFill/>
        </p:spPr>
        <p:txBody>
          <a:bodyPr wrap="square" rtlCol="0">
            <a:spAutoFit/>
          </a:bodyPr>
          <a:lstStyle/>
          <a:p>
            <a:r>
              <a:rPr lang="en-US" sz="2800" dirty="0">
                <a:hlinkClick r:id="rId3"/>
              </a:rPr>
              <a:t>http://www.exploredatabase.com/2017/07/reduce-er-diagram-to-relation-table-solved-exercise.html</a:t>
            </a:r>
            <a:endParaRPr lang="en-US" sz="2800" dirty="0"/>
          </a:p>
          <a:p>
            <a:endParaRPr lang="en-US" sz="2800" dirty="0"/>
          </a:p>
          <a:p>
            <a:r>
              <a:rPr lang="en-US" sz="2800" dirty="0">
                <a:hlinkClick r:id="rId4"/>
              </a:rPr>
              <a:t>http://www.exploredatabase.com/2016/04/convert-entity-relationship-diagram-to-relation-schemas-exercises.html</a:t>
            </a:r>
            <a:endParaRPr lang="en-US" sz="2800" dirty="0"/>
          </a:p>
          <a:p>
            <a:endParaRPr lang="en-US" sz="2800" dirty="0"/>
          </a:p>
        </p:txBody>
      </p:sp>
    </p:spTree>
    <p:extLst>
      <p:ext uri="{BB962C8B-B14F-4D97-AF65-F5344CB8AC3E}">
        <p14:creationId xmlns:p14="http://schemas.microsoft.com/office/powerpoint/2010/main" val="13587379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258956" y="2644170"/>
            <a:ext cx="8507895" cy="1569660"/>
          </a:xfrm>
          <a:prstGeom prst="rect">
            <a:avLst/>
          </a:prstGeom>
          <a:noFill/>
        </p:spPr>
        <p:txBody>
          <a:bodyPr wrap="square" lIns="91440" tIns="45720" rIns="91440" bIns="45720">
            <a:spAutoFit/>
          </a:bodyPr>
          <a:lstStyle/>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This is the end of the lecture!</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I hope you enjoyed it.</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Thank You</a:t>
            </a:r>
            <a:endParaRPr lang="en-US" sz="3200" b="0" cap="none" spc="0" dirty="0">
              <a:ln w="0"/>
              <a:solidFill>
                <a:schemeClr val="tx1"/>
              </a:solidFill>
              <a:effectLst>
                <a:outerShdw blurRad="38100" dist="19050" dir="2700000" algn="tl" rotWithShape="0">
                  <a:schemeClr val="dk1">
                    <a:alpha val="40000"/>
                  </a:schemeClr>
                </a:outerShdw>
              </a:effectLst>
              <a:latin typeface="Eras Medium ITC" panose="020B0602030504020804" pitchFamily="34" charset="0"/>
            </a:endParaRPr>
          </a:p>
        </p:txBody>
      </p:sp>
    </p:spTree>
    <p:extLst>
      <p:ext uri="{BB962C8B-B14F-4D97-AF65-F5344CB8AC3E}">
        <p14:creationId xmlns:p14="http://schemas.microsoft.com/office/powerpoint/2010/main" val="3930731771"/>
      </p:ext>
    </p:extLst>
  </p:cSld>
  <p:clrMapOvr>
    <a:masterClrMapping/>
  </p:clrMapOvr>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1993</TotalTime>
  <Words>4067</Words>
  <Application>Microsoft Office PowerPoint</Application>
  <PresentationFormat>Widescreen</PresentationFormat>
  <Paragraphs>435</Paragraphs>
  <Slides>76</Slides>
  <Notes>76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76</vt:i4>
      </vt:variant>
    </vt:vector>
  </HeadingPairs>
  <TitlesOfParts>
    <vt:vector size="85" baseType="lpstr">
      <vt:lpstr>Arial</vt:lpstr>
      <vt:lpstr>Arial</vt:lpstr>
      <vt:lpstr>book antiqua</vt:lpstr>
      <vt:lpstr>Calibri</vt:lpstr>
      <vt:lpstr>Eras Medium ITC</vt:lpstr>
      <vt:lpstr>Trebuchet MS</vt:lpstr>
      <vt:lpstr>Wingdings</vt:lpstr>
      <vt:lpstr>Wingdings 3</vt:lpstr>
      <vt:lpstr>Facet</vt:lpstr>
      <vt:lpstr>Chapter 2 Data Models</vt:lpstr>
      <vt:lpstr>2.1 Introduction</vt:lpstr>
      <vt:lpstr>2.2 Conceptual, Logical and Physical Model</vt:lpstr>
      <vt:lpstr>2.2 Conceptual, Logical and Physical Model</vt:lpstr>
      <vt:lpstr>2.2 Conceptual, Logical and Physical Model</vt:lpstr>
      <vt:lpstr>2.2 Conceptual, Logical and Physical Model</vt:lpstr>
      <vt:lpstr>2.2 Conceptual, Logical and Physical Model</vt:lpstr>
      <vt:lpstr>2.2 Conceptual, Logical and Physical Model</vt:lpstr>
      <vt:lpstr>2.2 Conceptual, Logical and Physical Model</vt:lpstr>
      <vt:lpstr>2.2 Conceptual, Logical and Physical Model</vt:lpstr>
      <vt:lpstr>2.2 Conceptual, Logical and Physical Model</vt:lpstr>
      <vt:lpstr>2.2 Conceptual, Logical and Physical Model</vt:lpstr>
      <vt:lpstr>2.2 Conceptual, Logical and Physical Model</vt:lpstr>
      <vt:lpstr>2.2 Conceptual, Logical and Physical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vt:lpstr>
      <vt:lpstr>2.3 E-R Model </vt:lpstr>
      <vt:lpstr>2.3 E-R Model </vt:lpstr>
      <vt:lpstr>2.3 E-R Model</vt:lpstr>
      <vt:lpstr>2.3 E-R Model</vt:lpstr>
      <vt:lpstr>2.3 E-R Model</vt:lpstr>
      <vt:lpstr>2.3 E-R Model</vt:lpstr>
      <vt:lpstr>2.3 E-R Model</vt:lpstr>
      <vt:lpstr>2.3 E-R Model</vt:lpstr>
      <vt:lpstr>2.3 E-R Model</vt:lpstr>
      <vt:lpstr>2.3 E-R Model</vt:lpstr>
      <vt:lpstr>2.4 Relation with UML Class Diagram</vt:lpstr>
      <vt:lpstr>2.4 Relation with UML Class Diagram</vt:lpstr>
      <vt:lpstr>2.4 Relation with UML Class Diagram</vt:lpstr>
      <vt:lpstr>2.4 Relation with UML Class Diagram</vt:lpstr>
      <vt:lpstr>2.4 Relation with UML Class Diagram</vt:lpstr>
      <vt:lpstr>2.5 Alternate Data Model</vt:lpstr>
      <vt:lpstr>2.5 Alternate Data Model</vt:lpstr>
      <vt:lpstr>2.5 Alternate Data Model</vt:lpstr>
      <vt:lpstr>2.5 Alternate Data Model</vt:lpstr>
      <vt:lpstr>Reducing E-R diagram to Tables</vt:lpstr>
      <vt:lpstr>Reducing E-R diagram to Tables</vt:lpstr>
      <vt:lpstr>Reducing E-R diagram to Tables</vt:lpstr>
      <vt:lpstr>Reducing E-R diagram to Tables</vt:lpstr>
      <vt:lpstr>Reducing E-R diagram to Tables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Ravi Khadka</dc:creator>
  <cp:lastModifiedBy>Ravi Khadka</cp:lastModifiedBy>
  <cp:revision>463</cp:revision>
  <dcterms:created xsi:type="dcterms:W3CDTF">2017-09-13T07:21:00Z</dcterms:created>
  <dcterms:modified xsi:type="dcterms:W3CDTF">2020-10-10T13:19:18Z</dcterms:modified>
</cp:coreProperties>
</file>