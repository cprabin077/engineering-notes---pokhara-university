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1" r:id="rId4"/>
  </p:sldMasterIdLst>
  <p:notesMasterIdLst>
    <p:notesMasterId r:id="rId109"/>
  </p:notesMasterIdLst>
  <p:sldIdLst>
    <p:sldId id="257" r:id="rId5"/>
    <p:sldId id="383" r:id="rId6"/>
    <p:sldId id="484" r:id="rId7"/>
    <p:sldId id="485" r:id="rId8"/>
    <p:sldId id="486" r:id="rId9"/>
    <p:sldId id="487" r:id="rId10"/>
    <p:sldId id="451" r:id="rId11"/>
    <p:sldId id="488" r:id="rId12"/>
    <p:sldId id="454" r:id="rId13"/>
    <p:sldId id="489" r:id="rId14"/>
    <p:sldId id="490" r:id="rId15"/>
    <p:sldId id="491" r:id="rId16"/>
    <p:sldId id="492" r:id="rId17"/>
    <p:sldId id="493" r:id="rId18"/>
    <p:sldId id="494" r:id="rId19"/>
    <p:sldId id="495" r:id="rId20"/>
    <p:sldId id="496" r:id="rId21"/>
    <p:sldId id="499" r:id="rId22"/>
    <p:sldId id="497" r:id="rId23"/>
    <p:sldId id="498" r:id="rId24"/>
    <p:sldId id="500" r:id="rId25"/>
    <p:sldId id="501" r:id="rId26"/>
    <p:sldId id="502" r:id="rId27"/>
    <p:sldId id="503" r:id="rId28"/>
    <p:sldId id="504" r:id="rId29"/>
    <p:sldId id="505" r:id="rId30"/>
    <p:sldId id="507" r:id="rId31"/>
    <p:sldId id="506" r:id="rId32"/>
    <p:sldId id="508" r:id="rId33"/>
    <p:sldId id="509" r:id="rId34"/>
    <p:sldId id="510" r:id="rId35"/>
    <p:sldId id="511" r:id="rId36"/>
    <p:sldId id="512" r:id="rId37"/>
    <p:sldId id="513" r:id="rId38"/>
    <p:sldId id="514" r:id="rId39"/>
    <p:sldId id="515" r:id="rId40"/>
    <p:sldId id="516" r:id="rId41"/>
    <p:sldId id="517" r:id="rId42"/>
    <p:sldId id="518" r:id="rId43"/>
    <p:sldId id="519" r:id="rId44"/>
    <p:sldId id="541" r:id="rId45"/>
    <p:sldId id="520" r:id="rId46"/>
    <p:sldId id="521" r:id="rId47"/>
    <p:sldId id="522" r:id="rId48"/>
    <p:sldId id="523" r:id="rId49"/>
    <p:sldId id="524" r:id="rId50"/>
    <p:sldId id="525" r:id="rId51"/>
    <p:sldId id="526" r:id="rId52"/>
    <p:sldId id="527" r:id="rId53"/>
    <p:sldId id="528" r:id="rId54"/>
    <p:sldId id="529" r:id="rId55"/>
    <p:sldId id="530" r:id="rId56"/>
    <p:sldId id="531" r:id="rId57"/>
    <p:sldId id="532" r:id="rId58"/>
    <p:sldId id="533" r:id="rId59"/>
    <p:sldId id="534" r:id="rId60"/>
    <p:sldId id="535" r:id="rId61"/>
    <p:sldId id="536" r:id="rId62"/>
    <p:sldId id="537" r:id="rId63"/>
    <p:sldId id="538" r:id="rId64"/>
    <p:sldId id="539" r:id="rId65"/>
    <p:sldId id="540" r:id="rId66"/>
    <p:sldId id="542" r:id="rId67"/>
    <p:sldId id="543" r:id="rId68"/>
    <p:sldId id="544" r:id="rId69"/>
    <p:sldId id="545" r:id="rId70"/>
    <p:sldId id="546" r:id="rId71"/>
    <p:sldId id="547" r:id="rId72"/>
    <p:sldId id="548" r:id="rId73"/>
    <p:sldId id="549" r:id="rId74"/>
    <p:sldId id="550" r:id="rId75"/>
    <p:sldId id="551" r:id="rId76"/>
    <p:sldId id="552" r:id="rId77"/>
    <p:sldId id="553" r:id="rId78"/>
    <p:sldId id="554" r:id="rId79"/>
    <p:sldId id="555" r:id="rId80"/>
    <p:sldId id="556" r:id="rId81"/>
    <p:sldId id="557" r:id="rId82"/>
    <p:sldId id="558" r:id="rId83"/>
    <p:sldId id="559" r:id="rId84"/>
    <p:sldId id="560" r:id="rId85"/>
    <p:sldId id="561" r:id="rId86"/>
    <p:sldId id="562" r:id="rId87"/>
    <p:sldId id="563" r:id="rId88"/>
    <p:sldId id="564" r:id="rId89"/>
    <p:sldId id="565" r:id="rId90"/>
    <p:sldId id="566" r:id="rId91"/>
    <p:sldId id="567" r:id="rId92"/>
    <p:sldId id="568" r:id="rId93"/>
    <p:sldId id="569" r:id="rId94"/>
    <p:sldId id="570" r:id="rId95"/>
    <p:sldId id="571" r:id="rId96"/>
    <p:sldId id="572" r:id="rId97"/>
    <p:sldId id="573" r:id="rId98"/>
    <p:sldId id="574" r:id="rId99"/>
    <p:sldId id="575" r:id="rId100"/>
    <p:sldId id="576" r:id="rId101"/>
    <p:sldId id="577" r:id="rId102"/>
    <p:sldId id="578" r:id="rId103"/>
    <p:sldId id="579" r:id="rId104"/>
    <p:sldId id="580" r:id="rId105"/>
    <p:sldId id="581" r:id="rId106"/>
    <p:sldId id="582" r:id="rId107"/>
    <p:sldId id="275" r:id="rId10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576"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12"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07" Type="http://schemas.openxmlformats.org/officeDocument/2006/relationships/slide" Target="slides/slide103.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slide" Target="slides/slide70.xml"/><Relationship Id="rId79" Type="http://schemas.openxmlformats.org/officeDocument/2006/relationships/slide" Target="slides/slide75.xml"/><Relationship Id="rId87" Type="http://schemas.openxmlformats.org/officeDocument/2006/relationships/slide" Target="slides/slide83.xml"/><Relationship Id="rId102" Type="http://schemas.openxmlformats.org/officeDocument/2006/relationships/slide" Target="slides/slide98.xml"/><Relationship Id="rId110"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slide" Target="slides/slide57.xml"/><Relationship Id="rId82" Type="http://schemas.openxmlformats.org/officeDocument/2006/relationships/slide" Target="slides/slide78.xml"/><Relationship Id="rId90" Type="http://schemas.openxmlformats.org/officeDocument/2006/relationships/slide" Target="slides/slide86.xml"/><Relationship Id="rId95" Type="http://schemas.openxmlformats.org/officeDocument/2006/relationships/slide" Target="slides/slide9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13"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slide" Target="slides/slide81.xml"/><Relationship Id="rId93" Type="http://schemas.openxmlformats.org/officeDocument/2006/relationships/slide" Target="slides/slide89.xml"/><Relationship Id="rId98" Type="http://schemas.openxmlformats.org/officeDocument/2006/relationships/slide" Target="slides/slide9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103" Type="http://schemas.openxmlformats.org/officeDocument/2006/relationships/slide" Target="slides/slide99.xml"/><Relationship Id="rId108" Type="http://schemas.openxmlformats.org/officeDocument/2006/relationships/slide" Target="slides/slide104.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slide" Target="slides/slide92.xml"/><Relationship Id="rId11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6" Type="http://schemas.openxmlformats.org/officeDocument/2006/relationships/slide" Target="slides/slide102.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notesMaster" Target="notesMasters/notesMaster1.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2C73DF-4ACA-4A4E-BE24-698A41846534}" type="datetimeFigureOut">
              <a:rPr lang="en-US" smtClean="0"/>
              <a:t>5/3/2021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0F0832-C019-46EE-973A-B4AFD6309CA0}" type="slidenum">
              <a:rPr lang="en-US" smtClean="0"/>
              <a:t>‹#›</a:t>
            </a:fld>
            <a:endParaRPr lang="en-US"/>
          </a:p>
        </p:txBody>
      </p:sp>
    </p:spTree>
    <p:extLst>
      <p:ext uri="{BB962C8B-B14F-4D97-AF65-F5344CB8AC3E}">
        <p14:creationId xmlns:p14="http://schemas.microsoft.com/office/powerpoint/2010/main" val="2471397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a:t>
            </a:fld>
            <a:endParaRPr lang="en-US"/>
          </a:p>
        </p:txBody>
      </p:sp>
    </p:spTree>
    <p:extLst>
      <p:ext uri="{BB962C8B-B14F-4D97-AF65-F5344CB8AC3E}">
        <p14:creationId xmlns:p14="http://schemas.microsoft.com/office/powerpoint/2010/main" val="35507780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a:t>
            </a:fld>
            <a:endParaRPr lang="en-US"/>
          </a:p>
        </p:txBody>
      </p:sp>
    </p:spTree>
    <p:extLst>
      <p:ext uri="{BB962C8B-B14F-4D97-AF65-F5344CB8AC3E}">
        <p14:creationId xmlns:p14="http://schemas.microsoft.com/office/powerpoint/2010/main" val="26271906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4</a:t>
            </a:fld>
            <a:endParaRPr lang="en-US"/>
          </a:p>
        </p:txBody>
      </p:sp>
    </p:spTree>
    <p:extLst>
      <p:ext uri="{BB962C8B-B14F-4D97-AF65-F5344CB8AC3E}">
        <p14:creationId xmlns:p14="http://schemas.microsoft.com/office/powerpoint/2010/main" val="20377140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5</a:t>
            </a:fld>
            <a:endParaRPr lang="en-US"/>
          </a:p>
        </p:txBody>
      </p:sp>
    </p:spTree>
    <p:extLst>
      <p:ext uri="{BB962C8B-B14F-4D97-AF65-F5344CB8AC3E}">
        <p14:creationId xmlns:p14="http://schemas.microsoft.com/office/powerpoint/2010/main" val="20128314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6</a:t>
            </a:fld>
            <a:endParaRPr lang="en-US"/>
          </a:p>
        </p:txBody>
      </p:sp>
    </p:spTree>
    <p:extLst>
      <p:ext uri="{BB962C8B-B14F-4D97-AF65-F5344CB8AC3E}">
        <p14:creationId xmlns:p14="http://schemas.microsoft.com/office/powerpoint/2010/main" val="19995595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7</a:t>
            </a:fld>
            <a:endParaRPr lang="en-US"/>
          </a:p>
        </p:txBody>
      </p:sp>
    </p:spTree>
    <p:extLst>
      <p:ext uri="{BB962C8B-B14F-4D97-AF65-F5344CB8AC3E}">
        <p14:creationId xmlns:p14="http://schemas.microsoft.com/office/powerpoint/2010/main" val="5426462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8</a:t>
            </a:fld>
            <a:endParaRPr lang="en-US"/>
          </a:p>
        </p:txBody>
      </p:sp>
    </p:spTree>
    <p:extLst>
      <p:ext uri="{BB962C8B-B14F-4D97-AF65-F5344CB8AC3E}">
        <p14:creationId xmlns:p14="http://schemas.microsoft.com/office/powerpoint/2010/main" val="36473144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9</a:t>
            </a:fld>
            <a:endParaRPr lang="en-US"/>
          </a:p>
        </p:txBody>
      </p:sp>
    </p:spTree>
    <p:extLst>
      <p:ext uri="{BB962C8B-B14F-4D97-AF65-F5344CB8AC3E}">
        <p14:creationId xmlns:p14="http://schemas.microsoft.com/office/powerpoint/2010/main" val="205832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10</a:t>
            </a:fld>
            <a:endParaRPr lang="en-US"/>
          </a:p>
        </p:txBody>
      </p:sp>
    </p:spTree>
    <p:extLst>
      <p:ext uri="{BB962C8B-B14F-4D97-AF65-F5344CB8AC3E}">
        <p14:creationId xmlns:p14="http://schemas.microsoft.com/office/powerpoint/2010/main" val="39067276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11</a:t>
            </a:fld>
            <a:endParaRPr lang="en-US"/>
          </a:p>
        </p:txBody>
      </p:sp>
    </p:spTree>
    <p:extLst>
      <p:ext uri="{BB962C8B-B14F-4D97-AF65-F5344CB8AC3E}">
        <p14:creationId xmlns:p14="http://schemas.microsoft.com/office/powerpoint/2010/main" val="23450105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12</a:t>
            </a:fld>
            <a:endParaRPr lang="en-US"/>
          </a:p>
        </p:txBody>
      </p:sp>
    </p:spTree>
    <p:extLst>
      <p:ext uri="{BB962C8B-B14F-4D97-AF65-F5344CB8AC3E}">
        <p14:creationId xmlns:p14="http://schemas.microsoft.com/office/powerpoint/2010/main" val="2758368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13</a:t>
            </a:fld>
            <a:endParaRPr lang="en-US"/>
          </a:p>
        </p:txBody>
      </p:sp>
    </p:spTree>
    <p:extLst>
      <p:ext uri="{BB962C8B-B14F-4D97-AF65-F5344CB8AC3E}">
        <p14:creationId xmlns:p14="http://schemas.microsoft.com/office/powerpoint/2010/main" val="42130406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14</a:t>
            </a:fld>
            <a:endParaRPr lang="en-US"/>
          </a:p>
        </p:txBody>
      </p:sp>
    </p:spTree>
    <p:extLst>
      <p:ext uri="{BB962C8B-B14F-4D97-AF65-F5344CB8AC3E}">
        <p14:creationId xmlns:p14="http://schemas.microsoft.com/office/powerpoint/2010/main" val="34951515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15</a:t>
            </a:fld>
            <a:endParaRPr lang="en-US"/>
          </a:p>
        </p:txBody>
      </p:sp>
    </p:spTree>
    <p:extLst>
      <p:ext uri="{BB962C8B-B14F-4D97-AF65-F5344CB8AC3E}">
        <p14:creationId xmlns:p14="http://schemas.microsoft.com/office/powerpoint/2010/main" val="13248697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16</a:t>
            </a:fld>
            <a:endParaRPr lang="en-US"/>
          </a:p>
        </p:txBody>
      </p:sp>
    </p:spTree>
    <p:extLst>
      <p:ext uri="{BB962C8B-B14F-4D97-AF65-F5344CB8AC3E}">
        <p14:creationId xmlns:p14="http://schemas.microsoft.com/office/powerpoint/2010/main" val="21489107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17</a:t>
            </a:fld>
            <a:endParaRPr lang="en-US"/>
          </a:p>
        </p:txBody>
      </p:sp>
    </p:spTree>
    <p:extLst>
      <p:ext uri="{BB962C8B-B14F-4D97-AF65-F5344CB8AC3E}">
        <p14:creationId xmlns:p14="http://schemas.microsoft.com/office/powerpoint/2010/main" val="274388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18</a:t>
            </a:fld>
            <a:endParaRPr lang="en-US"/>
          </a:p>
        </p:txBody>
      </p:sp>
    </p:spTree>
    <p:extLst>
      <p:ext uri="{BB962C8B-B14F-4D97-AF65-F5344CB8AC3E}">
        <p14:creationId xmlns:p14="http://schemas.microsoft.com/office/powerpoint/2010/main" val="291531572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19</a:t>
            </a:fld>
            <a:endParaRPr lang="en-US"/>
          </a:p>
        </p:txBody>
      </p:sp>
    </p:spTree>
    <p:extLst>
      <p:ext uri="{BB962C8B-B14F-4D97-AF65-F5344CB8AC3E}">
        <p14:creationId xmlns:p14="http://schemas.microsoft.com/office/powerpoint/2010/main" val="15738581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20</a:t>
            </a:fld>
            <a:endParaRPr lang="en-US"/>
          </a:p>
        </p:txBody>
      </p:sp>
    </p:spTree>
    <p:extLst>
      <p:ext uri="{BB962C8B-B14F-4D97-AF65-F5344CB8AC3E}">
        <p14:creationId xmlns:p14="http://schemas.microsoft.com/office/powerpoint/2010/main" val="2298751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21</a:t>
            </a:fld>
            <a:endParaRPr lang="en-US"/>
          </a:p>
        </p:txBody>
      </p:sp>
    </p:spTree>
    <p:extLst>
      <p:ext uri="{BB962C8B-B14F-4D97-AF65-F5344CB8AC3E}">
        <p14:creationId xmlns:p14="http://schemas.microsoft.com/office/powerpoint/2010/main" val="23622760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22</a:t>
            </a:fld>
            <a:endParaRPr lang="en-US"/>
          </a:p>
        </p:txBody>
      </p:sp>
    </p:spTree>
    <p:extLst>
      <p:ext uri="{BB962C8B-B14F-4D97-AF65-F5344CB8AC3E}">
        <p14:creationId xmlns:p14="http://schemas.microsoft.com/office/powerpoint/2010/main" val="34015495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23</a:t>
            </a:fld>
            <a:endParaRPr lang="en-US"/>
          </a:p>
        </p:txBody>
      </p:sp>
    </p:spTree>
    <p:extLst>
      <p:ext uri="{BB962C8B-B14F-4D97-AF65-F5344CB8AC3E}">
        <p14:creationId xmlns:p14="http://schemas.microsoft.com/office/powerpoint/2010/main" val="10418948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24</a:t>
            </a:fld>
            <a:endParaRPr lang="en-US"/>
          </a:p>
        </p:txBody>
      </p:sp>
    </p:spTree>
    <p:extLst>
      <p:ext uri="{BB962C8B-B14F-4D97-AF65-F5344CB8AC3E}">
        <p14:creationId xmlns:p14="http://schemas.microsoft.com/office/powerpoint/2010/main" val="407382459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25</a:t>
            </a:fld>
            <a:endParaRPr lang="en-US"/>
          </a:p>
        </p:txBody>
      </p:sp>
    </p:spTree>
    <p:extLst>
      <p:ext uri="{BB962C8B-B14F-4D97-AF65-F5344CB8AC3E}">
        <p14:creationId xmlns:p14="http://schemas.microsoft.com/office/powerpoint/2010/main" val="117841690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26</a:t>
            </a:fld>
            <a:endParaRPr lang="en-US"/>
          </a:p>
        </p:txBody>
      </p:sp>
    </p:spTree>
    <p:extLst>
      <p:ext uri="{BB962C8B-B14F-4D97-AF65-F5344CB8AC3E}">
        <p14:creationId xmlns:p14="http://schemas.microsoft.com/office/powerpoint/2010/main" val="116451753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27</a:t>
            </a:fld>
            <a:endParaRPr lang="en-US"/>
          </a:p>
        </p:txBody>
      </p:sp>
    </p:spTree>
    <p:extLst>
      <p:ext uri="{BB962C8B-B14F-4D97-AF65-F5344CB8AC3E}">
        <p14:creationId xmlns:p14="http://schemas.microsoft.com/office/powerpoint/2010/main" val="264166061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28</a:t>
            </a:fld>
            <a:endParaRPr lang="en-US"/>
          </a:p>
        </p:txBody>
      </p:sp>
    </p:spTree>
    <p:extLst>
      <p:ext uri="{BB962C8B-B14F-4D97-AF65-F5344CB8AC3E}">
        <p14:creationId xmlns:p14="http://schemas.microsoft.com/office/powerpoint/2010/main" val="61106371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29</a:t>
            </a:fld>
            <a:endParaRPr lang="en-US"/>
          </a:p>
        </p:txBody>
      </p:sp>
    </p:spTree>
    <p:extLst>
      <p:ext uri="{BB962C8B-B14F-4D97-AF65-F5344CB8AC3E}">
        <p14:creationId xmlns:p14="http://schemas.microsoft.com/office/powerpoint/2010/main" val="50423800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30</a:t>
            </a:fld>
            <a:endParaRPr lang="en-US"/>
          </a:p>
        </p:txBody>
      </p:sp>
    </p:spTree>
    <p:extLst>
      <p:ext uri="{BB962C8B-B14F-4D97-AF65-F5344CB8AC3E}">
        <p14:creationId xmlns:p14="http://schemas.microsoft.com/office/powerpoint/2010/main" val="9562944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31</a:t>
            </a:fld>
            <a:endParaRPr lang="en-US"/>
          </a:p>
        </p:txBody>
      </p:sp>
    </p:spTree>
    <p:extLst>
      <p:ext uri="{BB962C8B-B14F-4D97-AF65-F5344CB8AC3E}">
        <p14:creationId xmlns:p14="http://schemas.microsoft.com/office/powerpoint/2010/main" val="79168163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32</a:t>
            </a:fld>
            <a:endParaRPr lang="en-US"/>
          </a:p>
        </p:txBody>
      </p:sp>
    </p:spTree>
    <p:extLst>
      <p:ext uri="{BB962C8B-B14F-4D97-AF65-F5344CB8AC3E}">
        <p14:creationId xmlns:p14="http://schemas.microsoft.com/office/powerpoint/2010/main" val="389222256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33</a:t>
            </a:fld>
            <a:endParaRPr lang="en-US"/>
          </a:p>
        </p:txBody>
      </p:sp>
    </p:spTree>
    <p:extLst>
      <p:ext uri="{BB962C8B-B14F-4D97-AF65-F5344CB8AC3E}">
        <p14:creationId xmlns:p14="http://schemas.microsoft.com/office/powerpoint/2010/main" val="423531390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34</a:t>
            </a:fld>
            <a:endParaRPr lang="en-US"/>
          </a:p>
        </p:txBody>
      </p:sp>
    </p:spTree>
    <p:extLst>
      <p:ext uri="{BB962C8B-B14F-4D97-AF65-F5344CB8AC3E}">
        <p14:creationId xmlns:p14="http://schemas.microsoft.com/office/powerpoint/2010/main" val="262494117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35</a:t>
            </a:fld>
            <a:endParaRPr lang="en-US"/>
          </a:p>
        </p:txBody>
      </p:sp>
    </p:spTree>
    <p:extLst>
      <p:ext uri="{BB962C8B-B14F-4D97-AF65-F5344CB8AC3E}">
        <p14:creationId xmlns:p14="http://schemas.microsoft.com/office/powerpoint/2010/main" val="424836558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36</a:t>
            </a:fld>
            <a:endParaRPr lang="en-US"/>
          </a:p>
        </p:txBody>
      </p:sp>
    </p:spTree>
    <p:extLst>
      <p:ext uri="{BB962C8B-B14F-4D97-AF65-F5344CB8AC3E}">
        <p14:creationId xmlns:p14="http://schemas.microsoft.com/office/powerpoint/2010/main" val="413628956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37</a:t>
            </a:fld>
            <a:endParaRPr lang="en-US"/>
          </a:p>
        </p:txBody>
      </p:sp>
    </p:spTree>
    <p:extLst>
      <p:ext uri="{BB962C8B-B14F-4D97-AF65-F5344CB8AC3E}">
        <p14:creationId xmlns:p14="http://schemas.microsoft.com/office/powerpoint/2010/main" val="325272431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38</a:t>
            </a:fld>
            <a:endParaRPr lang="en-US"/>
          </a:p>
        </p:txBody>
      </p:sp>
    </p:spTree>
    <p:extLst>
      <p:ext uri="{BB962C8B-B14F-4D97-AF65-F5344CB8AC3E}">
        <p14:creationId xmlns:p14="http://schemas.microsoft.com/office/powerpoint/2010/main" val="85973901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39</a:t>
            </a:fld>
            <a:endParaRPr lang="en-US"/>
          </a:p>
        </p:txBody>
      </p:sp>
    </p:spTree>
    <p:extLst>
      <p:ext uri="{BB962C8B-B14F-4D97-AF65-F5344CB8AC3E}">
        <p14:creationId xmlns:p14="http://schemas.microsoft.com/office/powerpoint/2010/main" val="261010930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40</a:t>
            </a:fld>
            <a:endParaRPr lang="en-US"/>
          </a:p>
        </p:txBody>
      </p:sp>
    </p:spTree>
    <p:extLst>
      <p:ext uri="{BB962C8B-B14F-4D97-AF65-F5344CB8AC3E}">
        <p14:creationId xmlns:p14="http://schemas.microsoft.com/office/powerpoint/2010/main" val="9668895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41</a:t>
            </a:fld>
            <a:endParaRPr lang="en-US"/>
          </a:p>
        </p:txBody>
      </p:sp>
    </p:spTree>
    <p:extLst>
      <p:ext uri="{BB962C8B-B14F-4D97-AF65-F5344CB8AC3E}">
        <p14:creationId xmlns:p14="http://schemas.microsoft.com/office/powerpoint/2010/main" val="192833083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42</a:t>
            </a:fld>
            <a:endParaRPr lang="en-US"/>
          </a:p>
        </p:txBody>
      </p:sp>
    </p:spTree>
    <p:extLst>
      <p:ext uri="{BB962C8B-B14F-4D97-AF65-F5344CB8AC3E}">
        <p14:creationId xmlns:p14="http://schemas.microsoft.com/office/powerpoint/2010/main" val="13842420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43</a:t>
            </a:fld>
            <a:endParaRPr lang="en-US"/>
          </a:p>
        </p:txBody>
      </p:sp>
    </p:spTree>
    <p:extLst>
      <p:ext uri="{BB962C8B-B14F-4D97-AF65-F5344CB8AC3E}">
        <p14:creationId xmlns:p14="http://schemas.microsoft.com/office/powerpoint/2010/main" val="115584776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44</a:t>
            </a:fld>
            <a:endParaRPr lang="en-US"/>
          </a:p>
        </p:txBody>
      </p:sp>
    </p:spTree>
    <p:extLst>
      <p:ext uri="{BB962C8B-B14F-4D97-AF65-F5344CB8AC3E}">
        <p14:creationId xmlns:p14="http://schemas.microsoft.com/office/powerpoint/2010/main" val="3292025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45</a:t>
            </a:fld>
            <a:endParaRPr lang="en-US"/>
          </a:p>
        </p:txBody>
      </p:sp>
    </p:spTree>
    <p:extLst>
      <p:ext uri="{BB962C8B-B14F-4D97-AF65-F5344CB8AC3E}">
        <p14:creationId xmlns:p14="http://schemas.microsoft.com/office/powerpoint/2010/main" val="85881936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46</a:t>
            </a:fld>
            <a:endParaRPr lang="en-US"/>
          </a:p>
        </p:txBody>
      </p:sp>
    </p:spTree>
    <p:extLst>
      <p:ext uri="{BB962C8B-B14F-4D97-AF65-F5344CB8AC3E}">
        <p14:creationId xmlns:p14="http://schemas.microsoft.com/office/powerpoint/2010/main" val="325091896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47</a:t>
            </a:fld>
            <a:endParaRPr lang="en-US"/>
          </a:p>
        </p:txBody>
      </p:sp>
    </p:spTree>
    <p:extLst>
      <p:ext uri="{BB962C8B-B14F-4D97-AF65-F5344CB8AC3E}">
        <p14:creationId xmlns:p14="http://schemas.microsoft.com/office/powerpoint/2010/main" val="101510253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48</a:t>
            </a:fld>
            <a:endParaRPr lang="en-US"/>
          </a:p>
        </p:txBody>
      </p:sp>
    </p:spTree>
    <p:extLst>
      <p:ext uri="{BB962C8B-B14F-4D97-AF65-F5344CB8AC3E}">
        <p14:creationId xmlns:p14="http://schemas.microsoft.com/office/powerpoint/2010/main" val="320184465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49</a:t>
            </a:fld>
            <a:endParaRPr lang="en-US"/>
          </a:p>
        </p:txBody>
      </p:sp>
    </p:spTree>
    <p:extLst>
      <p:ext uri="{BB962C8B-B14F-4D97-AF65-F5344CB8AC3E}">
        <p14:creationId xmlns:p14="http://schemas.microsoft.com/office/powerpoint/2010/main" val="287233115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50</a:t>
            </a:fld>
            <a:endParaRPr lang="en-US"/>
          </a:p>
        </p:txBody>
      </p:sp>
    </p:spTree>
    <p:extLst>
      <p:ext uri="{BB962C8B-B14F-4D97-AF65-F5344CB8AC3E}">
        <p14:creationId xmlns:p14="http://schemas.microsoft.com/office/powerpoint/2010/main" val="420435937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51</a:t>
            </a:fld>
            <a:endParaRPr lang="en-US"/>
          </a:p>
        </p:txBody>
      </p:sp>
    </p:spTree>
    <p:extLst>
      <p:ext uri="{BB962C8B-B14F-4D97-AF65-F5344CB8AC3E}">
        <p14:creationId xmlns:p14="http://schemas.microsoft.com/office/powerpoint/2010/main" val="207408687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52</a:t>
            </a:fld>
            <a:endParaRPr lang="en-US"/>
          </a:p>
        </p:txBody>
      </p:sp>
    </p:spTree>
    <p:extLst>
      <p:ext uri="{BB962C8B-B14F-4D97-AF65-F5344CB8AC3E}">
        <p14:creationId xmlns:p14="http://schemas.microsoft.com/office/powerpoint/2010/main" val="365715954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53</a:t>
            </a:fld>
            <a:endParaRPr lang="en-US"/>
          </a:p>
        </p:txBody>
      </p:sp>
    </p:spTree>
    <p:extLst>
      <p:ext uri="{BB962C8B-B14F-4D97-AF65-F5344CB8AC3E}">
        <p14:creationId xmlns:p14="http://schemas.microsoft.com/office/powerpoint/2010/main" val="131581299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54</a:t>
            </a:fld>
            <a:endParaRPr lang="en-US"/>
          </a:p>
        </p:txBody>
      </p:sp>
    </p:spTree>
    <p:extLst>
      <p:ext uri="{BB962C8B-B14F-4D97-AF65-F5344CB8AC3E}">
        <p14:creationId xmlns:p14="http://schemas.microsoft.com/office/powerpoint/2010/main" val="155816033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55</a:t>
            </a:fld>
            <a:endParaRPr lang="en-US"/>
          </a:p>
        </p:txBody>
      </p:sp>
    </p:spTree>
    <p:extLst>
      <p:ext uri="{BB962C8B-B14F-4D97-AF65-F5344CB8AC3E}">
        <p14:creationId xmlns:p14="http://schemas.microsoft.com/office/powerpoint/2010/main" val="59183971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56</a:t>
            </a:fld>
            <a:endParaRPr lang="en-US"/>
          </a:p>
        </p:txBody>
      </p:sp>
    </p:spTree>
    <p:extLst>
      <p:ext uri="{BB962C8B-B14F-4D97-AF65-F5344CB8AC3E}">
        <p14:creationId xmlns:p14="http://schemas.microsoft.com/office/powerpoint/2010/main" val="19051975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57</a:t>
            </a:fld>
            <a:endParaRPr lang="en-US"/>
          </a:p>
        </p:txBody>
      </p:sp>
    </p:spTree>
    <p:extLst>
      <p:ext uri="{BB962C8B-B14F-4D97-AF65-F5344CB8AC3E}">
        <p14:creationId xmlns:p14="http://schemas.microsoft.com/office/powerpoint/2010/main" val="418049352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58</a:t>
            </a:fld>
            <a:endParaRPr lang="en-US"/>
          </a:p>
        </p:txBody>
      </p:sp>
    </p:spTree>
    <p:extLst>
      <p:ext uri="{BB962C8B-B14F-4D97-AF65-F5344CB8AC3E}">
        <p14:creationId xmlns:p14="http://schemas.microsoft.com/office/powerpoint/2010/main" val="397866295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59</a:t>
            </a:fld>
            <a:endParaRPr lang="en-US"/>
          </a:p>
        </p:txBody>
      </p:sp>
    </p:spTree>
    <p:extLst>
      <p:ext uri="{BB962C8B-B14F-4D97-AF65-F5344CB8AC3E}">
        <p14:creationId xmlns:p14="http://schemas.microsoft.com/office/powerpoint/2010/main" val="187881815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60</a:t>
            </a:fld>
            <a:endParaRPr lang="en-US"/>
          </a:p>
        </p:txBody>
      </p:sp>
    </p:spTree>
    <p:extLst>
      <p:ext uri="{BB962C8B-B14F-4D97-AF65-F5344CB8AC3E}">
        <p14:creationId xmlns:p14="http://schemas.microsoft.com/office/powerpoint/2010/main" val="132506622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61</a:t>
            </a:fld>
            <a:endParaRPr lang="en-US"/>
          </a:p>
        </p:txBody>
      </p:sp>
    </p:spTree>
    <p:extLst>
      <p:ext uri="{BB962C8B-B14F-4D97-AF65-F5344CB8AC3E}">
        <p14:creationId xmlns:p14="http://schemas.microsoft.com/office/powerpoint/2010/main" val="402681770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62</a:t>
            </a:fld>
            <a:endParaRPr lang="en-US"/>
          </a:p>
        </p:txBody>
      </p:sp>
    </p:spTree>
    <p:extLst>
      <p:ext uri="{BB962C8B-B14F-4D97-AF65-F5344CB8AC3E}">
        <p14:creationId xmlns:p14="http://schemas.microsoft.com/office/powerpoint/2010/main" val="220308118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63</a:t>
            </a:fld>
            <a:endParaRPr lang="en-US"/>
          </a:p>
        </p:txBody>
      </p:sp>
    </p:spTree>
    <p:extLst>
      <p:ext uri="{BB962C8B-B14F-4D97-AF65-F5344CB8AC3E}">
        <p14:creationId xmlns:p14="http://schemas.microsoft.com/office/powerpoint/2010/main" val="233061032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64</a:t>
            </a:fld>
            <a:endParaRPr lang="en-US"/>
          </a:p>
        </p:txBody>
      </p:sp>
    </p:spTree>
    <p:extLst>
      <p:ext uri="{BB962C8B-B14F-4D97-AF65-F5344CB8AC3E}">
        <p14:creationId xmlns:p14="http://schemas.microsoft.com/office/powerpoint/2010/main" val="242273597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65</a:t>
            </a:fld>
            <a:endParaRPr lang="en-US"/>
          </a:p>
        </p:txBody>
      </p:sp>
    </p:spTree>
    <p:extLst>
      <p:ext uri="{BB962C8B-B14F-4D97-AF65-F5344CB8AC3E}">
        <p14:creationId xmlns:p14="http://schemas.microsoft.com/office/powerpoint/2010/main" val="78715578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66</a:t>
            </a:fld>
            <a:endParaRPr lang="en-US"/>
          </a:p>
        </p:txBody>
      </p:sp>
    </p:spTree>
    <p:extLst>
      <p:ext uri="{BB962C8B-B14F-4D97-AF65-F5344CB8AC3E}">
        <p14:creationId xmlns:p14="http://schemas.microsoft.com/office/powerpoint/2010/main" val="236057322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67</a:t>
            </a:fld>
            <a:endParaRPr lang="en-US"/>
          </a:p>
        </p:txBody>
      </p:sp>
    </p:spTree>
    <p:extLst>
      <p:ext uri="{BB962C8B-B14F-4D97-AF65-F5344CB8AC3E}">
        <p14:creationId xmlns:p14="http://schemas.microsoft.com/office/powerpoint/2010/main" val="67453303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68</a:t>
            </a:fld>
            <a:endParaRPr lang="en-US"/>
          </a:p>
        </p:txBody>
      </p:sp>
    </p:spTree>
    <p:extLst>
      <p:ext uri="{BB962C8B-B14F-4D97-AF65-F5344CB8AC3E}">
        <p14:creationId xmlns:p14="http://schemas.microsoft.com/office/powerpoint/2010/main" val="317808832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69</a:t>
            </a:fld>
            <a:endParaRPr lang="en-US"/>
          </a:p>
        </p:txBody>
      </p:sp>
    </p:spTree>
    <p:extLst>
      <p:ext uri="{BB962C8B-B14F-4D97-AF65-F5344CB8AC3E}">
        <p14:creationId xmlns:p14="http://schemas.microsoft.com/office/powerpoint/2010/main" val="1025485366"/>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70</a:t>
            </a:fld>
            <a:endParaRPr lang="en-US"/>
          </a:p>
        </p:txBody>
      </p:sp>
    </p:spTree>
    <p:extLst>
      <p:ext uri="{BB962C8B-B14F-4D97-AF65-F5344CB8AC3E}">
        <p14:creationId xmlns:p14="http://schemas.microsoft.com/office/powerpoint/2010/main" val="295326651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71</a:t>
            </a:fld>
            <a:endParaRPr lang="en-US"/>
          </a:p>
        </p:txBody>
      </p:sp>
    </p:spTree>
    <p:extLst>
      <p:ext uri="{BB962C8B-B14F-4D97-AF65-F5344CB8AC3E}">
        <p14:creationId xmlns:p14="http://schemas.microsoft.com/office/powerpoint/2010/main" val="266106689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72</a:t>
            </a:fld>
            <a:endParaRPr lang="en-US"/>
          </a:p>
        </p:txBody>
      </p:sp>
    </p:spTree>
    <p:extLst>
      <p:ext uri="{BB962C8B-B14F-4D97-AF65-F5344CB8AC3E}">
        <p14:creationId xmlns:p14="http://schemas.microsoft.com/office/powerpoint/2010/main" val="99529186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73</a:t>
            </a:fld>
            <a:endParaRPr lang="en-US"/>
          </a:p>
        </p:txBody>
      </p:sp>
    </p:spTree>
    <p:extLst>
      <p:ext uri="{BB962C8B-B14F-4D97-AF65-F5344CB8AC3E}">
        <p14:creationId xmlns:p14="http://schemas.microsoft.com/office/powerpoint/2010/main" val="4164544354"/>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74</a:t>
            </a:fld>
            <a:endParaRPr lang="en-US"/>
          </a:p>
        </p:txBody>
      </p:sp>
    </p:spTree>
    <p:extLst>
      <p:ext uri="{BB962C8B-B14F-4D97-AF65-F5344CB8AC3E}">
        <p14:creationId xmlns:p14="http://schemas.microsoft.com/office/powerpoint/2010/main" val="1727826820"/>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75</a:t>
            </a:fld>
            <a:endParaRPr lang="en-US"/>
          </a:p>
        </p:txBody>
      </p:sp>
    </p:spTree>
    <p:extLst>
      <p:ext uri="{BB962C8B-B14F-4D97-AF65-F5344CB8AC3E}">
        <p14:creationId xmlns:p14="http://schemas.microsoft.com/office/powerpoint/2010/main" val="133533724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76</a:t>
            </a:fld>
            <a:endParaRPr lang="en-US"/>
          </a:p>
        </p:txBody>
      </p:sp>
    </p:spTree>
    <p:extLst>
      <p:ext uri="{BB962C8B-B14F-4D97-AF65-F5344CB8AC3E}">
        <p14:creationId xmlns:p14="http://schemas.microsoft.com/office/powerpoint/2010/main" val="3353443050"/>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77</a:t>
            </a:fld>
            <a:endParaRPr lang="en-US"/>
          </a:p>
        </p:txBody>
      </p:sp>
    </p:spTree>
    <p:extLst>
      <p:ext uri="{BB962C8B-B14F-4D97-AF65-F5344CB8AC3E}">
        <p14:creationId xmlns:p14="http://schemas.microsoft.com/office/powerpoint/2010/main" val="217564713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78</a:t>
            </a:fld>
            <a:endParaRPr lang="en-US"/>
          </a:p>
        </p:txBody>
      </p:sp>
    </p:spTree>
    <p:extLst>
      <p:ext uri="{BB962C8B-B14F-4D97-AF65-F5344CB8AC3E}">
        <p14:creationId xmlns:p14="http://schemas.microsoft.com/office/powerpoint/2010/main" val="1532328670"/>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79</a:t>
            </a:fld>
            <a:endParaRPr lang="en-US"/>
          </a:p>
        </p:txBody>
      </p:sp>
    </p:spTree>
    <p:extLst>
      <p:ext uri="{BB962C8B-B14F-4D97-AF65-F5344CB8AC3E}">
        <p14:creationId xmlns:p14="http://schemas.microsoft.com/office/powerpoint/2010/main" val="3417906022"/>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80</a:t>
            </a:fld>
            <a:endParaRPr lang="en-US"/>
          </a:p>
        </p:txBody>
      </p:sp>
    </p:spTree>
    <p:extLst>
      <p:ext uri="{BB962C8B-B14F-4D97-AF65-F5344CB8AC3E}">
        <p14:creationId xmlns:p14="http://schemas.microsoft.com/office/powerpoint/2010/main" val="2013289675"/>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81</a:t>
            </a:fld>
            <a:endParaRPr lang="en-US"/>
          </a:p>
        </p:txBody>
      </p:sp>
    </p:spTree>
    <p:extLst>
      <p:ext uri="{BB962C8B-B14F-4D97-AF65-F5344CB8AC3E}">
        <p14:creationId xmlns:p14="http://schemas.microsoft.com/office/powerpoint/2010/main" val="658693515"/>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82</a:t>
            </a:fld>
            <a:endParaRPr lang="en-US"/>
          </a:p>
        </p:txBody>
      </p:sp>
    </p:spTree>
    <p:extLst>
      <p:ext uri="{BB962C8B-B14F-4D97-AF65-F5344CB8AC3E}">
        <p14:creationId xmlns:p14="http://schemas.microsoft.com/office/powerpoint/2010/main" val="1539766690"/>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83</a:t>
            </a:fld>
            <a:endParaRPr lang="en-US"/>
          </a:p>
        </p:txBody>
      </p:sp>
    </p:spTree>
    <p:extLst>
      <p:ext uri="{BB962C8B-B14F-4D97-AF65-F5344CB8AC3E}">
        <p14:creationId xmlns:p14="http://schemas.microsoft.com/office/powerpoint/2010/main" val="1376933720"/>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84</a:t>
            </a:fld>
            <a:endParaRPr lang="en-US"/>
          </a:p>
        </p:txBody>
      </p:sp>
    </p:spTree>
    <p:extLst>
      <p:ext uri="{BB962C8B-B14F-4D97-AF65-F5344CB8AC3E}">
        <p14:creationId xmlns:p14="http://schemas.microsoft.com/office/powerpoint/2010/main" val="1365730682"/>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85</a:t>
            </a:fld>
            <a:endParaRPr lang="en-US"/>
          </a:p>
        </p:txBody>
      </p:sp>
    </p:spTree>
    <p:extLst>
      <p:ext uri="{BB962C8B-B14F-4D97-AF65-F5344CB8AC3E}">
        <p14:creationId xmlns:p14="http://schemas.microsoft.com/office/powerpoint/2010/main" val="2549428647"/>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86</a:t>
            </a:fld>
            <a:endParaRPr lang="en-US"/>
          </a:p>
        </p:txBody>
      </p:sp>
    </p:spTree>
    <p:extLst>
      <p:ext uri="{BB962C8B-B14F-4D97-AF65-F5344CB8AC3E}">
        <p14:creationId xmlns:p14="http://schemas.microsoft.com/office/powerpoint/2010/main" val="3240239263"/>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87</a:t>
            </a:fld>
            <a:endParaRPr lang="en-US"/>
          </a:p>
        </p:txBody>
      </p:sp>
    </p:spTree>
    <p:extLst>
      <p:ext uri="{BB962C8B-B14F-4D97-AF65-F5344CB8AC3E}">
        <p14:creationId xmlns:p14="http://schemas.microsoft.com/office/powerpoint/2010/main" val="1920966803"/>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88</a:t>
            </a:fld>
            <a:endParaRPr lang="en-US"/>
          </a:p>
        </p:txBody>
      </p:sp>
    </p:spTree>
    <p:extLst>
      <p:ext uri="{BB962C8B-B14F-4D97-AF65-F5344CB8AC3E}">
        <p14:creationId xmlns:p14="http://schemas.microsoft.com/office/powerpoint/2010/main" val="4179494008"/>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89</a:t>
            </a:fld>
            <a:endParaRPr lang="en-US"/>
          </a:p>
        </p:txBody>
      </p:sp>
    </p:spTree>
    <p:extLst>
      <p:ext uri="{BB962C8B-B14F-4D97-AF65-F5344CB8AC3E}">
        <p14:creationId xmlns:p14="http://schemas.microsoft.com/office/powerpoint/2010/main" val="3718475463"/>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90</a:t>
            </a:fld>
            <a:endParaRPr lang="en-US"/>
          </a:p>
        </p:txBody>
      </p:sp>
    </p:spTree>
    <p:extLst>
      <p:ext uri="{BB962C8B-B14F-4D97-AF65-F5344CB8AC3E}">
        <p14:creationId xmlns:p14="http://schemas.microsoft.com/office/powerpoint/2010/main" val="915865250"/>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91</a:t>
            </a:fld>
            <a:endParaRPr lang="en-US"/>
          </a:p>
        </p:txBody>
      </p:sp>
    </p:spTree>
    <p:extLst>
      <p:ext uri="{BB962C8B-B14F-4D97-AF65-F5344CB8AC3E}">
        <p14:creationId xmlns:p14="http://schemas.microsoft.com/office/powerpoint/2010/main" val="882257417"/>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92</a:t>
            </a:fld>
            <a:endParaRPr lang="en-US"/>
          </a:p>
        </p:txBody>
      </p:sp>
    </p:spTree>
    <p:extLst>
      <p:ext uri="{BB962C8B-B14F-4D97-AF65-F5344CB8AC3E}">
        <p14:creationId xmlns:p14="http://schemas.microsoft.com/office/powerpoint/2010/main" val="2671444586"/>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93</a:t>
            </a:fld>
            <a:endParaRPr lang="en-US"/>
          </a:p>
        </p:txBody>
      </p:sp>
    </p:spTree>
    <p:extLst>
      <p:ext uri="{BB962C8B-B14F-4D97-AF65-F5344CB8AC3E}">
        <p14:creationId xmlns:p14="http://schemas.microsoft.com/office/powerpoint/2010/main" val="136290006"/>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94</a:t>
            </a:fld>
            <a:endParaRPr lang="en-US"/>
          </a:p>
        </p:txBody>
      </p:sp>
    </p:spTree>
    <p:extLst>
      <p:ext uri="{BB962C8B-B14F-4D97-AF65-F5344CB8AC3E}">
        <p14:creationId xmlns:p14="http://schemas.microsoft.com/office/powerpoint/2010/main" val="1715344284"/>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95</a:t>
            </a:fld>
            <a:endParaRPr lang="en-US"/>
          </a:p>
        </p:txBody>
      </p:sp>
    </p:spTree>
    <p:extLst>
      <p:ext uri="{BB962C8B-B14F-4D97-AF65-F5344CB8AC3E}">
        <p14:creationId xmlns:p14="http://schemas.microsoft.com/office/powerpoint/2010/main" val="2464205864"/>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96</a:t>
            </a:fld>
            <a:endParaRPr lang="en-US"/>
          </a:p>
        </p:txBody>
      </p:sp>
    </p:spTree>
    <p:extLst>
      <p:ext uri="{BB962C8B-B14F-4D97-AF65-F5344CB8AC3E}">
        <p14:creationId xmlns:p14="http://schemas.microsoft.com/office/powerpoint/2010/main" val="3617841309"/>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97</a:t>
            </a:fld>
            <a:endParaRPr lang="en-US"/>
          </a:p>
        </p:txBody>
      </p:sp>
    </p:spTree>
    <p:extLst>
      <p:ext uri="{BB962C8B-B14F-4D97-AF65-F5344CB8AC3E}">
        <p14:creationId xmlns:p14="http://schemas.microsoft.com/office/powerpoint/2010/main" val="1582918109"/>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98</a:t>
            </a:fld>
            <a:endParaRPr lang="en-US"/>
          </a:p>
        </p:txBody>
      </p:sp>
    </p:spTree>
    <p:extLst>
      <p:ext uri="{BB962C8B-B14F-4D97-AF65-F5344CB8AC3E}">
        <p14:creationId xmlns:p14="http://schemas.microsoft.com/office/powerpoint/2010/main" val="1241901227"/>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99</a:t>
            </a:fld>
            <a:endParaRPr lang="en-US"/>
          </a:p>
        </p:txBody>
      </p:sp>
    </p:spTree>
    <p:extLst>
      <p:ext uri="{BB962C8B-B14F-4D97-AF65-F5344CB8AC3E}">
        <p14:creationId xmlns:p14="http://schemas.microsoft.com/office/powerpoint/2010/main" val="1416364395"/>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100</a:t>
            </a:fld>
            <a:endParaRPr lang="en-US"/>
          </a:p>
        </p:txBody>
      </p:sp>
    </p:spTree>
    <p:extLst>
      <p:ext uri="{BB962C8B-B14F-4D97-AF65-F5344CB8AC3E}">
        <p14:creationId xmlns:p14="http://schemas.microsoft.com/office/powerpoint/2010/main" val="2818518498"/>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101</a:t>
            </a:fld>
            <a:endParaRPr lang="en-US"/>
          </a:p>
        </p:txBody>
      </p:sp>
    </p:spTree>
    <p:extLst>
      <p:ext uri="{BB962C8B-B14F-4D97-AF65-F5344CB8AC3E}">
        <p14:creationId xmlns:p14="http://schemas.microsoft.com/office/powerpoint/2010/main" val="2453997750"/>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102</a:t>
            </a:fld>
            <a:endParaRPr lang="en-US"/>
          </a:p>
        </p:txBody>
      </p:sp>
    </p:spTree>
    <p:extLst>
      <p:ext uri="{BB962C8B-B14F-4D97-AF65-F5344CB8AC3E}">
        <p14:creationId xmlns:p14="http://schemas.microsoft.com/office/powerpoint/2010/main" val="2761902624"/>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103</a:t>
            </a:fld>
            <a:endParaRPr lang="en-US"/>
          </a:p>
        </p:txBody>
      </p:sp>
    </p:spTree>
    <p:extLst>
      <p:ext uri="{BB962C8B-B14F-4D97-AF65-F5344CB8AC3E}">
        <p14:creationId xmlns:p14="http://schemas.microsoft.com/office/powerpoint/2010/main" val="250227516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104</a:t>
            </a:fld>
            <a:endParaRPr lang="en-US"/>
          </a:p>
        </p:txBody>
      </p:sp>
    </p:spTree>
    <p:extLst>
      <p:ext uri="{BB962C8B-B14F-4D97-AF65-F5344CB8AC3E}">
        <p14:creationId xmlns:p14="http://schemas.microsoft.com/office/powerpoint/2010/main" val="10250010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7"/>
            <a:ext cx="7766936" cy="1096899"/>
          </a:xfrm>
        </p:spPr>
        <p:txBody>
          <a:bodyPr anchor="t"/>
          <a:lstStyle>
            <a:lvl1pPr marL="0" indent="0" algn="r">
              <a:buNone/>
              <a:defRPr>
                <a:solidFill>
                  <a:schemeClr val="tx1">
                    <a:lumMod val="50000"/>
                    <a:lumOff val="50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74DD5E5-F825-4B33-AF67-A7F31E5A2821}" type="datetime1">
              <a:rPr lang="en-US" smtClean="0"/>
              <a:t>5/3/2021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7728342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8B0A645-7812-465D-BB5E-A8CA1F1DB31F}" type="datetime1">
              <a:rPr lang="en-US" smtClean="0"/>
              <a:t>5/3/2021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12916387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71"/>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3CDDB56-25F5-4763-9EA5-68F834D6E811}" type="datetime1">
              <a:rPr lang="en-US" smtClean="0"/>
              <a:t>5/3/2021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36753875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6"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69" y="2160590"/>
            <a:ext cx="4184035"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3B901DB-480A-4D75-AD69-F9ABD9C9ECEB}" type="datetime1">
              <a:rPr lang="en-US" smtClean="0"/>
              <a:t>5/3/2021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14452842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7" y="2160983"/>
            <a:ext cx="4185623" cy="576262"/>
          </a:xfrm>
        </p:spPr>
        <p:txBody>
          <a:bodyPr anchor="b">
            <a:noAutofit/>
          </a:bodyPr>
          <a:lstStyle>
            <a:lvl1pPr marL="0" indent="0">
              <a:buNone/>
              <a:defRPr sz="2400" b="0"/>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7" y="2737249"/>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4" y="2160983"/>
            <a:ext cx="4185619" cy="576262"/>
          </a:xfrm>
        </p:spPr>
        <p:txBody>
          <a:bodyPr anchor="b">
            <a:noAutofit/>
          </a:bodyPr>
          <a:lstStyle>
            <a:lvl1pPr marL="0" indent="0">
              <a:buNone/>
              <a:defRPr sz="2400" b="0"/>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6" y="2737249"/>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82B31EA-9561-4FDF-BCE1-CAE98AD0C4D5}" type="datetime1">
              <a:rPr lang="en-US" smtClean="0"/>
              <a:t>5/3/2021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65533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F08B6BF-29BB-4022-8B48-CF48B5627A0E}" type="datetime1">
              <a:rPr lang="en-US" smtClean="0"/>
              <a:t>5/3/2021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31231791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36E9B8A-9C1C-47BE-9A52-00A57195BE87}" type="datetime1">
              <a:rPr lang="en-US" smtClean="0"/>
              <a:t>5/3/2021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29984427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3" y="514928"/>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5" y="2777069"/>
            <a:ext cx="3854528" cy="2584449"/>
          </a:xfrm>
        </p:spPr>
        <p:txBody>
          <a:bodyPr>
            <a:normAutofit/>
          </a:bodyPr>
          <a:lstStyle>
            <a:lvl1pPr marL="0" indent="0">
              <a:buNone/>
              <a:defRPr sz="1400"/>
            </a:lvl1pPr>
            <a:lvl2pPr marL="457051" indent="0">
              <a:buNone/>
              <a:defRPr sz="1400"/>
            </a:lvl2pPr>
            <a:lvl3pPr marL="914104" indent="0">
              <a:buNone/>
              <a:defRPr sz="1200"/>
            </a:lvl3pPr>
            <a:lvl4pPr marL="1371155" indent="0">
              <a:buNone/>
              <a:defRPr sz="1000"/>
            </a:lvl4pPr>
            <a:lvl5pPr marL="1828205" indent="0">
              <a:buNone/>
              <a:defRPr sz="1000"/>
            </a:lvl5pPr>
            <a:lvl6pPr marL="2285258" indent="0">
              <a:buNone/>
              <a:defRPr sz="1000"/>
            </a:lvl6pPr>
            <a:lvl7pPr marL="2742309" indent="0">
              <a:buNone/>
              <a:defRPr sz="1000"/>
            </a:lvl7pPr>
            <a:lvl8pPr marL="3199360" indent="0">
              <a:buNone/>
              <a:defRPr sz="1000"/>
            </a:lvl8pPr>
            <a:lvl9pPr marL="3656411"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F4F453E-3D4D-464A-831F-EB23A5A42A12}" type="datetime1">
              <a:rPr lang="en-US" smtClean="0"/>
              <a:t>5/3/2021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42218304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6"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5" y="609600"/>
            <a:ext cx="8596668" cy="3845718"/>
          </a:xfrm>
        </p:spPr>
        <p:txBody>
          <a:bodyPr anchor="t">
            <a:normAutofit/>
          </a:bodyPr>
          <a:lstStyle>
            <a:lvl1pPr marL="0" indent="0" algn="ctr">
              <a:buNone/>
              <a:defRPr sz="1600"/>
            </a:lvl1pPr>
            <a:lvl2pPr marL="457189" indent="0">
              <a:buNone/>
              <a:defRPr sz="1600"/>
            </a:lvl2pPr>
            <a:lvl3pPr marL="914377" indent="0">
              <a:buNone/>
              <a:defRPr sz="1600"/>
            </a:lvl3pPr>
            <a:lvl4pPr marL="1371566" indent="0">
              <a:buNone/>
              <a:defRPr sz="1600"/>
            </a:lvl4pPr>
            <a:lvl5pPr marL="1828754" indent="0">
              <a:buNone/>
              <a:defRPr sz="1600"/>
            </a:lvl5pPr>
            <a:lvl6pPr marL="2285943" indent="0">
              <a:buNone/>
              <a:defRPr sz="1600"/>
            </a:lvl6pPr>
            <a:lvl7pPr marL="2743131" indent="0">
              <a:buNone/>
              <a:defRPr sz="1600"/>
            </a:lvl7pPr>
            <a:lvl8pPr marL="3200320" indent="0">
              <a:buNone/>
              <a:defRPr sz="1600"/>
            </a:lvl8pPr>
            <a:lvl9pPr marL="3657509"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6" y="5367338"/>
            <a:ext cx="8596667" cy="674024"/>
          </a:xfrm>
        </p:spPr>
        <p:txBody>
          <a:bodyPr>
            <a:normAutofit/>
          </a:bodyPr>
          <a:lstStyle>
            <a:lvl1pPr marL="0" indent="0">
              <a:buNone/>
              <a:defRPr sz="12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3B9743A-56F0-4312-8259-E51533341499}" type="datetime1">
              <a:rPr lang="en-US" smtClean="0"/>
              <a:t>5/3/2021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42716047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BC2D58-99B7-4095-851E-63049442BAD8}" type="datetime1">
              <a:rPr lang="en-US" smtClean="0"/>
              <a:t>5/3/2021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4604747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5" y="609600"/>
            <a:ext cx="809413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189" indent="0">
              <a:buFontTx/>
              <a:buNone/>
              <a:defRPr/>
            </a:lvl2pPr>
            <a:lvl3pPr marL="914377" indent="0">
              <a:buFontTx/>
              <a:buNone/>
              <a:defRPr/>
            </a:lvl3pPr>
            <a:lvl4pPr marL="1371566" indent="0">
              <a:buFontTx/>
              <a:buNone/>
              <a:defRPr/>
            </a:lvl4pPr>
            <a:lvl5pPr marL="1828754"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78D284E-D999-40E1-8CDE-80A918580BC2}" type="datetime1">
              <a:rPr lang="en-US" smtClean="0"/>
              <a:t>5/3/2021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
        <p:nvSpPr>
          <p:cNvPr id="20" name="TextBox 19"/>
          <p:cNvSpPr txBox="1"/>
          <p:nvPr/>
        </p:nvSpPr>
        <p:spPr>
          <a:xfrm>
            <a:off x="541871"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sz="1800" dirty="0">
              <a:solidFill>
                <a:schemeClr val="accent1">
                  <a:lumMod val="60000"/>
                  <a:lumOff val="40000"/>
                </a:schemeClr>
              </a:solidFill>
              <a:latin typeface="Arial"/>
            </a:endParaRPr>
          </a:p>
        </p:txBody>
      </p:sp>
    </p:spTree>
    <p:extLst>
      <p:ext uri="{BB962C8B-B14F-4D97-AF65-F5344CB8AC3E}">
        <p14:creationId xmlns:p14="http://schemas.microsoft.com/office/powerpoint/2010/main" val="20333997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E92C615-F352-46CA-997F-790F5C7AB59F}" type="datetime1">
              <a:rPr lang="en-US" smtClean="0"/>
              <a:t>5/3/2021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15253678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5" y="609600"/>
            <a:ext cx="809413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189" indent="0">
              <a:buFontTx/>
              <a:buNone/>
              <a:defRPr/>
            </a:lvl2pPr>
            <a:lvl3pPr marL="914377" indent="0">
              <a:buFontTx/>
              <a:buNone/>
              <a:defRPr/>
            </a:lvl3pPr>
            <a:lvl4pPr marL="1371566" indent="0">
              <a:buFontTx/>
              <a:buNone/>
              <a:defRPr/>
            </a:lvl4pPr>
            <a:lvl5pPr marL="1828754"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59F8DF6-B2D7-4891-924E-F205B4F4C5B0}" type="datetime1">
              <a:rPr lang="en-US" smtClean="0"/>
              <a:t>5/3/2021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
        <p:nvSpPr>
          <p:cNvPr id="24" name="TextBox 23"/>
          <p:cNvSpPr txBox="1"/>
          <p:nvPr/>
        </p:nvSpPr>
        <p:spPr>
          <a:xfrm>
            <a:off x="541871"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564502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801"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189" indent="0">
              <a:buFontTx/>
              <a:buNone/>
              <a:defRPr/>
            </a:lvl2pPr>
            <a:lvl3pPr marL="914377" indent="0">
              <a:buFontTx/>
              <a:buNone/>
              <a:defRPr/>
            </a:lvl3pPr>
            <a:lvl4pPr marL="1371566" indent="0">
              <a:buFontTx/>
              <a:buNone/>
              <a:defRPr/>
            </a:lvl4pPr>
            <a:lvl5pPr marL="1828754"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C9D3E9-44D4-4A6E-8282-3CFF4443A4B7}" type="datetime1">
              <a:rPr lang="en-US" smtClean="0"/>
              <a:t>5/3/2021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14135213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637C3A-3E20-4D7B-93C7-DC2476BB2AB9}" type="datetime1">
              <a:rPr lang="en-US" smtClean="0"/>
              <a:t>5/3/2021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1239343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5" y="609603"/>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7" y="609600"/>
            <a:ext cx="7060151"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1BB382-714F-487B-894A-7320A737CBE1}" type="datetime1">
              <a:rPr lang="en-US" smtClean="0"/>
              <a:t>5/3/2021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31971369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5"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5" y="2160590"/>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6"/>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590269F-6FC2-45F3-9E5C-EE0DAD7DBF51}" type="datetime1">
              <a:rPr lang="en-US" smtClean="0"/>
              <a:t>5/3/2021</a:t>
            </a:fld>
            <a:endParaRPr lang="en-US"/>
          </a:p>
        </p:txBody>
      </p:sp>
      <p:sp>
        <p:nvSpPr>
          <p:cNvPr id="5" name="Footer Placeholder 4"/>
          <p:cNvSpPr>
            <a:spLocks noGrp="1"/>
          </p:cNvSpPr>
          <p:nvPr>
            <p:ph type="ftr" sz="quarter" idx="3"/>
          </p:nvPr>
        </p:nvSpPr>
        <p:spPr>
          <a:xfrm>
            <a:off x="677335" y="6041366"/>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5" y="6041366"/>
            <a:ext cx="683339" cy="365125"/>
          </a:xfrm>
          <a:prstGeom prst="rect">
            <a:avLst/>
          </a:prstGeom>
        </p:spPr>
        <p:txBody>
          <a:bodyPr vert="horz" lIns="91440" tIns="45720" rIns="91440" bIns="45720" rtlCol="0" anchor="ctr"/>
          <a:lstStyle>
            <a:lvl1pPr algn="r">
              <a:defRPr sz="900">
                <a:solidFill>
                  <a:schemeClr val="accent1"/>
                </a:solidFill>
              </a:defRPr>
            </a:lvl1pPr>
          </a:lstStyle>
          <a:p>
            <a:fld id="{08716904-6FC9-413C-90D2-F791BBDFC2B7}" type="slidenum">
              <a:rPr lang="en-US" smtClean="0"/>
              <a:t>‹#›</a:t>
            </a:fld>
            <a:endParaRPr lang="en-US"/>
          </a:p>
        </p:txBody>
      </p:sp>
    </p:spTree>
    <p:extLst>
      <p:ext uri="{BB962C8B-B14F-4D97-AF65-F5344CB8AC3E}">
        <p14:creationId xmlns:p14="http://schemas.microsoft.com/office/powerpoint/2010/main" val="2197407594"/>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Lst>
  <p:hf sldNum="0" hdr="0" ftr="0" dt="0"/>
  <p:txStyles>
    <p:titleStyle>
      <a:lvl1pPr algn="l" defTabSz="457189"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891" indent="-342891" algn="l" defTabSz="457189"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32" indent="-285744" algn="l" defTabSz="457189"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2971" indent="-228594" algn="l" defTabSz="457189"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160" indent="-228594" algn="l" defTabSz="457189"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349" indent="-228594" algn="l" defTabSz="457189"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537" indent="-228594" algn="l" defTabSz="457189"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726" indent="-228594" algn="l" defTabSz="457189"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8914" indent="-228594" algn="l" defTabSz="457189"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103" indent="-228594" algn="l" defTabSz="457189"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4.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5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90.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02.xml"/><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3" Type="http://schemas.openxmlformats.org/officeDocument/2006/relationships/hyperlink" Target="https://www.geeksforgeeks.org/deadlock-in-dbms/" TargetMode="External"/><Relationship Id="rId2" Type="http://schemas.openxmlformats.org/officeDocument/2006/relationships/notesSlide" Target="../notesSlides/notesSlide103.xml"/><Relationship Id="rId1" Type="http://schemas.openxmlformats.org/officeDocument/2006/relationships/slideLayout" Target="../slideLayouts/slideLayout1.xml"/><Relationship Id="rId4" Type="http://schemas.openxmlformats.org/officeDocument/2006/relationships/hyperlink" Target="https://www.geeksforgeeks.org/starvation-in-dbms/" TargetMode="Externa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6" y="357621"/>
            <a:ext cx="8210163" cy="891629"/>
          </a:xfrm>
        </p:spPr>
        <p:style>
          <a:lnRef idx="1">
            <a:schemeClr val="accent1"/>
          </a:lnRef>
          <a:fillRef idx="3">
            <a:schemeClr val="accent1"/>
          </a:fillRef>
          <a:effectRef idx="2">
            <a:schemeClr val="accent1"/>
          </a:effectRef>
          <a:fontRef idx="minor">
            <a:schemeClr val="lt1"/>
          </a:fontRef>
        </p:style>
        <p:txBody>
          <a:bodyPr/>
          <a:lstStyle/>
          <a:p>
            <a:pPr algn="l"/>
            <a:r>
              <a:rPr lang="en-US" sz="2800" dirty="0">
                <a:solidFill>
                  <a:schemeClr val="bg1"/>
                </a:solidFill>
              </a:rPr>
              <a:t>Chapter </a:t>
            </a:r>
            <a:r>
              <a:rPr lang="en-US" sz="2800" dirty="0" smtClean="0">
                <a:solidFill>
                  <a:schemeClr val="bg1"/>
                </a:solidFill>
              </a:rPr>
              <a:t>10 Transaction Processing and Concurrency Control</a:t>
            </a:r>
            <a:endParaRPr lang="en-US" sz="2800" dirty="0">
              <a:solidFill>
                <a:schemeClr val="bg1"/>
              </a:solidFill>
            </a:endParaRPr>
          </a:p>
        </p:txBody>
      </p:sp>
      <p:sp>
        <p:nvSpPr>
          <p:cNvPr id="3" name="Subtitle 2"/>
          <p:cNvSpPr>
            <a:spLocks noGrp="1"/>
          </p:cNvSpPr>
          <p:nvPr>
            <p:ph type="subTitle" idx="1"/>
          </p:nvPr>
        </p:nvSpPr>
        <p:spPr>
          <a:xfrm>
            <a:off x="1339520" y="1481070"/>
            <a:ext cx="8094254" cy="3880088"/>
          </a:xfrm>
        </p:spPr>
        <p:txBody>
          <a:bodyPr>
            <a:normAutofit/>
          </a:bodyPr>
          <a:lstStyle/>
          <a:p>
            <a:pPr algn="l">
              <a:buClr>
                <a:schemeClr val="tx1"/>
              </a:buClr>
              <a:buSzPct val="71000"/>
            </a:pPr>
            <a:r>
              <a:rPr lang="en-US" sz="2800" dirty="0" smtClean="0">
                <a:solidFill>
                  <a:schemeClr val="tx1"/>
                </a:solidFill>
              </a:rPr>
              <a:t>10.1 Transaction</a:t>
            </a:r>
          </a:p>
          <a:p>
            <a:pPr algn="l">
              <a:buClr>
                <a:schemeClr val="tx1"/>
              </a:buClr>
              <a:buSzPct val="71000"/>
            </a:pPr>
            <a:r>
              <a:rPr lang="en-US" sz="2800" dirty="0" smtClean="0">
                <a:solidFill>
                  <a:schemeClr val="tx1"/>
                </a:solidFill>
              </a:rPr>
              <a:t>10.2 ACID Properties</a:t>
            </a:r>
          </a:p>
          <a:p>
            <a:pPr algn="l">
              <a:buClr>
                <a:schemeClr val="tx1"/>
              </a:buClr>
              <a:buSzPct val="71000"/>
            </a:pPr>
            <a:r>
              <a:rPr lang="en-US" sz="2800" dirty="0" smtClean="0">
                <a:solidFill>
                  <a:schemeClr val="tx1"/>
                </a:solidFill>
              </a:rPr>
              <a:t>10.3 Schedule</a:t>
            </a:r>
          </a:p>
          <a:p>
            <a:pPr algn="l">
              <a:buClr>
                <a:schemeClr val="tx1"/>
              </a:buClr>
              <a:buSzPct val="71000"/>
            </a:pPr>
            <a:r>
              <a:rPr lang="en-US" sz="2800" dirty="0" smtClean="0">
                <a:solidFill>
                  <a:schemeClr val="tx1"/>
                </a:solidFill>
              </a:rPr>
              <a:t>10.4 </a:t>
            </a:r>
            <a:r>
              <a:rPr lang="en-US" sz="2800" dirty="0" err="1" smtClean="0">
                <a:solidFill>
                  <a:schemeClr val="tx1"/>
                </a:solidFill>
              </a:rPr>
              <a:t>Serializability</a:t>
            </a:r>
            <a:endParaRPr lang="en-US" sz="2800" dirty="0" smtClean="0">
              <a:solidFill>
                <a:schemeClr val="tx1"/>
              </a:solidFill>
            </a:endParaRPr>
          </a:p>
          <a:p>
            <a:pPr algn="l">
              <a:buClr>
                <a:schemeClr val="tx1"/>
              </a:buClr>
              <a:buSzPct val="71000"/>
            </a:pPr>
            <a:r>
              <a:rPr lang="en-US" sz="2800" dirty="0" smtClean="0">
                <a:solidFill>
                  <a:schemeClr val="tx1"/>
                </a:solidFill>
              </a:rPr>
              <a:t>10.5 Concurrency Control</a:t>
            </a:r>
            <a:endParaRPr lang="en-US" sz="2800" dirty="0">
              <a:solidFill>
                <a:schemeClr val="tx1"/>
              </a:solidFill>
            </a:endParaRPr>
          </a:p>
          <a:p>
            <a:pPr algn="l">
              <a:buClr>
                <a:schemeClr val="tx1"/>
              </a:buClr>
              <a:buSzPct val="71000"/>
            </a:pPr>
            <a:endParaRPr lang="en-US" sz="2800" dirty="0">
              <a:solidFill>
                <a:schemeClr val="tx1"/>
              </a:solidFill>
            </a:endParaRPr>
          </a:p>
        </p:txBody>
      </p:sp>
    </p:spTree>
    <p:extLst>
      <p:ext uri="{BB962C8B-B14F-4D97-AF65-F5344CB8AC3E}">
        <p14:creationId xmlns:p14="http://schemas.microsoft.com/office/powerpoint/2010/main" val="281907879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10.1 Transaction</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lnSpcReduction="10000"/>
          </a:bodyPr>
          <a:lstStyle/>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Transaction is a single logical unit of operation which on collection performs some meaningful actions.</a:t>
            </a: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The </a:t>
            </a:r>
            <a:r>
              <a:rPr lang="en-US" sz="2800" dirty="0">
                <a:solidFill>
                  <a:srgbClr val="222222"/>
                </a:solidFill>
                <a:latin typeface="arial" panose="020B0604020202020204" pitchFamily="34" charset="0"/>
              </a:rPr>
              <a:t>system should ensure proper execution of transactions</a:t>
            </a: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Either </a:t>
            </a:r>
            <a:r>
              <a:rPr lang="en-US" sz="2800" dirty="0">
                <a:solidFill>
                  <a:srgbClr val="222222"/>
                </a:solidFill>
                <a:latin typeface="arial" panose="020B0604020202020204" pitchFamily="34" charset="0"/>
              </a:rPr>
              <a:t>the entire transaction executes or none of them executes</a:t>
            </a: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The </a:t>
            </a:r>
            <a:r>
              <a:rPr lang="en-US" sz="2800" dirty="0">
                <a:solidFill>
                  <a:srgbClr val="222222"/>
                </a:solidFill>
                <a:latin typeface="arial" panose="020B0604020202020204" pitchFamily="34" charset="0"/>
              </a:rPr>
              <a:t>system also manages concurrent execution of transactions</a:t>
            </a: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Each </a:t>
            </a:r>
            <a:r>
              <a:rPr lang="en-US" sz="2800" dirty="0">
                <a:solidFill>
                  <a:srgbClr val="222222"/>
                </a:solidFill>
                <a:latin typeface="arial" panose="020B0604020202020204" pitchFamily="34" charset="0"/>
              </a:rPr>
              <a:t>transaction access and possible updates various data items.</a:t>
            </a:r>
            <a:endParaRPr lang="en-US" sz="2800" dirty="0">
              <a:solidFill>
                <a:schemeClr val="tx1"/>
              </a:solidFill>
            </a:endParaRPr>
          </a:p>
        </p:txBody>
      </p:sp>
    </p:spTree>
    <p:extLst>
      <p:ext uri="{BB962C8B-B14F-4D97-AF65-F5344CB8AC3E}">
        <p14:creationId xmlns:p14="http://schemas.microsoft.com/office/powerpoint/2010/main" val="22870382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10.1 Transaction</a:t>
            </a:r>
            <a:endParaRPr lang="en-US" sz="2800" dirty="0">
              <a:solidFill>
                <a:schemeClr val="bg1"/>
              </a:solidFill>
            </a:endParaRPr>
          </a:p>
        </p:txBody>
      </p:sp>
      <p:sp>
        <p:nvSpPr>
          <p:cNvPr id="3" name="Subtitle 2"/>
          <p:cNvSpPr>
            <a:spLocks noGrp="1"/>
          </p:cNvSpPr>
          <p:nvPr>
            <p:ph type="subTitle" idx="1"/>
          </p:nvPr>
        </p:nvSpPr>
        <p:spPr>
          <a:xfrm>
            <a:off x="1281567" y="1139687"/>
            <a:ext cx="8094254" cy="5505812"/>
          </a:xfrm>
        </p:spPr>
        <p:txBody>
          <a:bodyPr>
            <a:normAutofit fontScale="70000" lnSpcReduction="20000"/>
          </a:bodyPr>
          <a:lstStyle/>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Let's pick up an example of a simple transaction where a user transfers 620 from A's account into B's account. </a:t>
            </a:r>
            <a:endParaRPr lang="en-US" sz="2800" dirty="0" smtClean="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This </a:t>
            </a:r>
            <a:r>
              <a:rPr lang="en-US" sz="2800" dirty="0">
                <a:solidFill>
                  <a:srgbClr val="222222"/>
                </a:solidFill>
                <a:latin typeface="arial" panose="020B0604020202020204" pitchFamily="34" charset="0"/>
              </a:rPr>
              <a:t>transaction may seem small and straightforward but includes more than a few low-level tasks within it</a:t>
            </a:r>
            <a:r>
              <a:rPr lang="en-US" sz="2800" dirty="0" smtClean="0">
                <a:solidFill>
                  <a:srgbClr val="222222"/>
                </a:solidFill>
                <a:latin typeface="arial" panose="020B0604020202020204" pitchFamily="34" charset="0"/>
              </a:rPr>
              <a:t>.</a:t>
            </a:r>
            <a:endParaRPr lang="en-US" sz="2800" dirty="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The first one is A's Account</a:t>
            </a:r>
            <a:r>
              <a:rPr lang="en-US" sz="2800" dirty="0" smtClean="0">
                <a:solidFill>
                  <a:srgbClr val="222222"/>
                </a:solidFill>
                <a:latin typeface="arial" panose="020B0604020202020204" pitchFamily="34" charset="0"/>
              </a:rPr>
              <a:t>:</a:t>
            </a:r>
            <a:endParaRPr lang="en-US" sz="2800" dirty="0">
              <a:solidFill>
                <a:srgbClr val="222222"/>
              </a:solidFill>
              <a:latin typeface="arial" panose="020B0604020202020204" pitchFamily="34" charset="0"/>
            </a:endParaRPr>
          </a:p>
          <a:p>
            <a:pPr marL="971539" lvl="1" indent="-514350" algn="just">
              <a:buClr>
                <a:schemeClr val="tx1"/>
              </a:buClr>
              <a:buSzPct val="71000"/>
              <a:buFont typeface="+mj-lt"/>
              <a:buAutoNum type="arabicPeriod"/>
            </a:pPr>
            <a:r>
              <a:rPr lang="en-US" sz="2600" dirty="0" err="1">
                <a:solidFill>
                  <a:srgbClr val="222222"/>
                </a:solidFill>
                <a:latin typeface="arial" panose="020B0604020202020204" pitchFamily="34" charset="0"/>
              </a:rPr>
              <a:t>Open_Acct</a:t>
            </a:r>
            <a:r>
              <a:rPr lang="en-US" sz="2600" dirty="0">
                <a:solidFill>
                  <a:srgbClr val="222222"/>
                </a:solidFill>
                <a:latin typeface="arial" panose="020B0604020202020204" pitchFamily="34" charset="0"/>
              </a:rPr>
              <a:t>(A)</a:t>
            </a:r>
          </a:p>
          <a:p>
            <a:pPr marL="971539" lvl="1" indent="-514350" algn="just">
              <a:buClr>
                <a:schemeClr val="tx1"/>
              </a:buClr>
              <a:buSzPct val="71000"/>
              <a:buFont typeface="+mj-lt"/>
              <a:buAutoNum type="arabicPeriod"/>
            </a:pPr>
            <a:r>
              <a:rPr lang="en-US" sz="2600" dirty="0" err="1">
                <a:solidFill>
                  <a:srgbClr val="222222"/>
                </a:solidFill>
                <a:latin typeface="arial" panose="020B0604020202020204" pitchFamily="34" charset="0"/>
              </a:rPr>
              <a:t>Old_Bal</a:t>
            </a:r>
            <a:r>
              <a:rPr lang="en-US" sz="2600" dirty="0">
                <a:solidFill>
                  <a:srgbClr val="222222"/>
                </a:solidFill>
                <a:latin typeface="arial" panose="020B0604020202020204" pitchFamily="34" charset="0"/>
              </a:rPr>
              <a:t> = </a:t>
            </a:r>
            <a:r>
              <a:rPr lang="en-US" sz="2600" dirty="0" err="1">
                <a:solidFill>
                  <a:srgbClr val="222222"/>
                </a:solidFill>
                <a:latin typeface="arial" panose="020B0604020202020204" pitchFamily="34" charset="0"/>
              </a:rPr>
              <a:t>A.bal</a:t>
            </a:r>
            <a:endParaRPr lang="en-US" sz="2600" dirty="0">
              <a:solidFill>
                <a:srgbClr val="222222"/>
              </a:solidFill>
              <a:latin typeface="arial" panose="020B0604020202020204" pitchFamily="34" charset="0"/>
            </a:endParaRPr>
          </a:p>
          <a:p>
            <a:pPr marL="971539" lvl="1" indent="-514350" algn="just">
              <a:buClr>
                <a:schemeClr val="tx1"/>
              </a:buClr>
              <a:buSzPct val="71000"/>
              <a:buFont typeface="+mj-lt"/>
              <a:buAutoNum type="arabicPeriod"/>
            </a:pPr>
            <a:r>
              <a:rPr lang="en-US" sz="2600" dirty="0" err="1">
                <a:solidFill>
                  <a:srgbClr val="222222"/>
                </a:solidFill>
                <a:latin typeface="arial" panose="020B0604020202020204" pitchFamily="34" charset="0"/>
              </a:rPr>
              <a:t>New_Bal</a:t>
            </a:r>
            <a:r>
              <a:rPr lang="en-US" sz="2600" dirty="0">
                <a:solidFill>
                  <a:srgbClr val="222222"/>
                </a:solidFill>
                <a:latin typeface="arial" panose="020B0604020202020204" pitchFamily="34" charset="0"/>
              </a:rPr>
              <a:t> = </a:t>
            </a:r>
            <a:r>
              <a:rPr lang="en-US" sz="2600" dirty="0" err="1">
                <a:solidFill>
                  <a:srgbClr val="222222"/>
                </a:solidFill>
                <a:latin typeface="arial" panose="020B0604020202020204" pitchFamily="34" charset="0"/>
              </a:rPr>
              <a:t>Old_Bal</a:t>
            </a:r>
            <a:r>
              <a:rPr lang="en-US" sz="2600" dirty="0">
                <a:solidFill>
                  <a:srgbClr val="222222"/>
                </a:solidFill>
                <a:latin typeface="arial" panose="020B0604020202020204" pitchFamily="34" charset="0"/>
              </a:rPr>
              <a:t> - 620</a:t>
            </a:r>
          </a:p>
          <a:p>
            <a:pPr marL="971539" lvl="1" indent="-514350" algn="just">
              <a:buClr>
                <a:schemeClr val="tx1"/>
              </a:buClr>
              <a:buSzPct val="71000"/>
              <a:buFont typeface="+mj-lt"/>
              <a:buAutoNum type="arabicPeriod"/>
            </a:pPr>
            <a:r>
              <a:rPr lang="en-US" sz="2600" dirty="0" err="1">
                <a:solidFill>
                  <a:srgbClr val="222222"/>
                </a:solidFill>
                <a:latin typeface="arial" panose="020B0604020202020204" pitchFamily="34" charset="0"/>
              </a:rPr>
              <a:t>A.bal</a:t>
            </a:r>
            <a:r>
              <a:rPr lang="en-US" sz="2600" dirty="0">
                <a:solidFill>
                  <a:srgbClr val="222222"/>
                </a:solidFill>
                <a:latin typeface="arial" panose="020B0604020202020204" pitchFamily="34" charset="0"/>
              </a:rPr>
              <a:t> = </a:t>
            </a:r>
            <a:r>
              <a:rPr lang="en-US" sz="2600" dirty="0" err="1">
                <a:solidFill>
                  <a:srgbClr val="222222"/>
                </a:solidFill>
                <a:latin typeface="arial" panose="020B0604020202020204" pitchFamily="34" charset="0"/>
              </a:rPr>
              <a:t>New_Bal</a:t>
            </a:r>
            <a:endParaRPr lang="en-US" sz="2600" dirty="0">
              <a:solidFill>
                <a:srgbClr val="222222"/>
              </a:solidFill>
              <a:latin typeface="arial" panose="020B0604020202020204" pitchFamily="34" charset="0"/>
            </a:endParaRPr>
          </a:p>
          <a:p>
            <a:pPr marL="971539" lvl="1" indent="-514350" algn="just">
              <a:buClr>
                <a:schemeClr val="tx1"/>
              </a:buClr>
              <a:buSzPct val="71000"/>
              <a:buFont typeface="+mj-lt"/>
              <a:buAutoNum type="arabicPeriod"/>
            </a:pPr>
            <a:r>
              <a:rPr lang="en-US" sz="2600" dirty="0" err="1">
                <a:solidFill>
                  <a:srgbClr val="222222"/>
                </a:solidFill>
                <a:latin typeface="arial" panose="020B0604020202020204" pitchFamily="34" charset="0"/>
              </a:rPr>
              <a:t>Close_Acct</a:t>
            </a:r>
            <a:r>
              <a:rPr lang="en-US" sz="2600" dirty="0">
                <a:solidFill>
                  <a:srgbClr val="222222"/>
                </a:solidFill>
                <a:latin typeface="arial" panose="020B0604020202020204" pitchFamily="34" charset="0"/>
              </a:rPr>
              <a:t>(A</a:t>
            </a:r>
            <a:r>
              <a:rPr lang="en-US" sz="2600" dirty="0" smtClean="0">
                <a:solidFill>
                  <a:srgbClr val="222222"/>
                </a:solidFill>
                <a:latin typeface="arial" panose="020B0604020202020204" pitchFamily="34" charset="0"/>
              </a:rPr>
              <a:t>)</a:t>
            </a:r>
            <a:endParaRPr lang="en-US" sz="2600" dirty="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The 2nd one is B's transaction</a:t>
            </a:r>
            <a:r>
              <a:rPr lang="en-US" sz="2800" dirty="0" smtClean="0">
                <a:solidFill>
                  <a:srgbClr val="222222"/>
                </a:solidFill>
                <a:latin typeface="arial" panose="020B0604020202020204" pitchFamily="34" charset="0"/>
              </a:rPr>
              <a:t>:</a:t>
            </a:r>
            <a:endParaRPr lang="en-US" sz="2800" dirty="0">
              <a:solidFill>
                <a:srgbClr val="222222"/>
              </a:solidFill>
              <a:latin typeface="arial" panose="020B0604020202020204" pitchFamily="34" charset="0"/>
            </a:endParaRPr>
          </a:p>
          <a:p>
            <a:pPr marL="971539" lvl="1" indent="-514350" algn="just">
              <a:buClr>
                <a:schemeClr val="tx1"/>
              </a:buClr>
              <a:buSzPct val="71000"/>
              <a:buFont typeface="+mj-lt"/>
              <a:buAutoNum type="arabicPeriod"/>
            </a:pPr>
            <a:r>
              <a:rPr lang="en-US" sz="2600" dirty="0" err="1">
                <a:solidFill>
                  <a:srgbClr val="222222"/>
                </a:solidFill>
                <a:latin typeface="arial" panose="020B0604020202020204" pitchFamily="34" charset="0"/>
              </a:rPr>
              <a:t>Open_Acct</a:t>
            </a:r>
            <a:r>
              <a:rPr lang="en-US" sz="2600" dirty="0">
                <a:solidFill>
                  <a:srgbClr val="222222"/>
                </a:solidFill>
                <a:latin typeface="arial" panose="020B0604020202020204" pitchFamily="34" charset="0"/>
              </a:rPr>
              <a:t>(B)</a:t>
            </a:r>
          </a:p>
          <a:p>
            <a:pPr marL="971539" lvl="1" indent="-514350" algn="just">
              <a:buClr>
                <a:schemeClr val="tx1"/>
              </a:buClr>
              <a:buSzPct val="71000"/>
              <a:buFont typeface="+mj-lt"/>
              <a:buAutoNum type="arabicPeriod"/>
            </a:pPr>
            <a:r>
              <a:rPr lang="en-US" sz="2600" dirty="0" err="1">
                <a:solidFill>
                  <a:srgbClr val="222222"/>
                </a:solidFill>
                <a:latin typeface="arial" panose="020B0604020202020204" pitchFamily="34" charset="0"/>
              </a:rPr>
              <a:t>Old_Bal</a:t>
            </a:r>
            <a:r>
              <a:rPr lang="en-US" sz="2600" dirty="0">
                <a:solidFill>
                  <a:srgbClr val="222222"/>
                </a:solidFill>
                <a:latin typeface="arial" panose="020B0604020202020204" pitchFamily="34" charset="0"/>
              </a:rPr>
              <a:t> = </a:t>
            </a:r>
            <a:r>
              <a:rPr lang="en-US" sz="2600" dirty="0" err="1">
                <a:solidFill>
                  <a:srgbClr val="222222"/>
                </a:solidFill>
                <a:latin typeface="arial" panose="020B0604020202020204" pitchFamily="34" charset="0"/>
              </a:rPr>
              <a:t>B.bal</a:t>
            </a:r>
            <a:endParaRPr lang="en-US" sz="2600" dirty="0">
              <a:solidFill>
                <a:srgbClr val="222222"/>
              </a:solidFill>
              <a:latin typeface="arial" panose="020B0604020202020204" pitchFamily="34" charset="0"/>
            </a:endParaRPr>
          </a:p>
          <a:p>
            <a:pPr marL="971539" lvl="1" indent="-514350" algn="just">
              <a:buClr>
                <a:schemeClr val="tx1"/>
              </a:buClr>
              <a:buSzPct val="71000"/>
              <a:buFont typeface="+mj-lt"/>
              <a:buAutoNum type="arabicPeriod"/>
            </a:pPr>
            <a:r>
              <a:rPr lang="en-US" sz="2600" dirty="0" err="1">
                <a:solidFill>
                  <a:srgbClr val="222222"/>
                </a:solidFill>
                <a:latin typeface="arial" panose="020B0604020202020204" pitchFamily="34" charset="0"/>
              </a:rPr>
              <a:t>New_Bal</a:t>
            </a:r>
            <a:r>
              <a:rPr lang="en-US" sz="2600" dirty="0">
                <a:solidFill>
                  <a:srgbClr val="222222"/>
                </a:solidFill>
                <a:latin typeface="arial" panose="020B0604020202020204" pitchFamily="34" charset="0"/>
              </a:rPr>
              <a:t> = </a:t>
            </a:r>
            <a:r>
              <a:rPr lang="en-US" sz="2600" dirty="0" err="1">
                <a:solidFill>
                  <a:srgbClr val="222222"/>
                </a:solidFill>
                <a:latin typeface="arial" panose="020B0604020202020204" pitchFamily="34" charset="0"/>
              </a:rPr>
              <a:t>Old_Bal</a:t>
            </a:r>
            <a:r>
              <a:rPr lang="en-US" sz="2600" dirty="0">
                <a:solidFill>
                  <a:srgbClr val="222222"/>
                </a:solidFill>
                <a:latin typeface="arial" panose="020B0604020202020204" pitchFamily="34" charset="0"/>
              </a:rPr>
              <a:t> + 620</a:t>
            </a:r>
          </a:p>
          <a:p>
            <a:pPr marL="971539" lvl="1" indent="-514350" algn="just">
              <a:buClr>
                <a:schemeClr val="tx1"/>
              </a:buClr>
              <a:buSzPct val="71000"/>
              <a:buFont typeface="+mj-lt"/>
              <a:buAutoNum type="arabicPeriod"/>
            </a:pPr>
            <a:r>
              <a:rPr lang="en-US" sz="2600" dirty="0" err="1">
                <a:solidFill>
                  <a:srgbClr val="222222"/>
                </a:solidFill>
                <a:latin typeface="arial" panose="020B0604020202020204" pitchFamily="34" charset="0"/>
              </a:rPr>
              <a:t>B.bal</a:t>
            </a:r>
            <a:r>
              <a:rPr lang="en-US" sz="2600" dirty="0">
                <a:solidFill>
                  <a:srgbClr val="222222"/>
                </a:solidFill>
                <a:latin typeface="arial" panose="020B0604020202020204" pitchFamily="34" charset="0"/>
              </a:rPr>
              <a:t> = </a:t>
            </a:r>
            <a:r>
              <a:rPr lang="en-US" sz="2600" dirty="0" err="1">
                <a:solidFill>
                  <a:srgbClr val="222222"/>
                </a:solidFill>
                <a:latin typeface="arial" panose="020B0604020202020204" pitchFamily="34" charset="0"/>
              </a:rPr>
              <a:t>New_Bal</a:t>
            </a:r>
            <a:endParaRPr lang="en-US" sz="2600" dirty="0">
              <a:solidFill>
                <a:srgbClr val="222222"/>
              </a:solidFill>
              <a:latin typeface="arial" panose="020B0604020202020204" pitchFamily="34" charset="0"/>
            </a:endParaRPr>
          </a:p>
          <a:p>
            <a:pPr marL="971539" lvl="1" indent="-514350" algn="just">
              <a:buClr>
                <a:schemeClr val="tx1"/>
              </a:buClr>
              <a:buSzPct val="71000"/>
              <a:buFont typeface="+mj-lt"/>
              <a:buAutoNum type="arabicPeriod"/>
            </a:pPr>
            <a:r>
              <a:rPr lang="en-US" sz="2600" dirty="0" err="1">
                <a:solidFill>
                  <a:srgbClr val="222222"/>
                </a:solidFill>
                <a:latin typeface="arial" panose="020B0604020202020204" pitchFamily="34" charset="0"/>
              </a:rPr>
              <a:t>Close_Acct</a:t>
            </a:r>
            <a:r>
              <a:rPr lang="en-US" sz="2600" dirty="0">
                <a:solidFill>
                  <a:srgbClr val="222222"/>
                </a:solidFill>
                <a:latin typeface="arial" panose="020B0604020202020204" pitchFamily="34" charset="0"/>
              </a:rPr>
              <a:t>(B)</a:t>
            </a:r>
            <a:endParaRPr lang="en-US" sz="2600" dirty="0">
              <a:solidFill>
                <a:schemeClr val="tx1"/>
              </a:solidFill>
            </a:endParaRPr>
          </a:p>
        </p:txBody>
      </p:sp>
    </p:spTree>
    <p:extLst>
      <p:ext uri="{BB962C8B-B14F-4D97-AF65-F5344CB8AC3E}">
        <p14:creationId xmlns:p14="http://schemas.microsoft.com/office/powerpoint/2010/main" val="415505331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10.1.1 Operation of Transaction</a:t>
            </a:r>
            <a:endParaRPr lang="en-US" sz="2800" dirty="0">
              <a:solidFill>
                <a:schemeClr val="bg1"/>
              </a:solidFill>
            </a:endParaRPr>
          </a:p>
        </p:txBody>
      </p:sp>
      <p:sp>
        <p:nvSpPr>
          <p:cNvPr id="3" name="Subtitle 2"/>
          <p:cNvSpPr>
            <a:spLocks noGrp="1"/>
          </p:cNvSpPr>
          <p:nvPr>
            <p:ph type="subTitle" idx="1"/>
          </p:nvPr>
        </p:nvSpPr>
        <p:spPr>
          <a:xfrm>
            <a:off x="1281567" y="1139687"/>
            <a:ext cx="8094254" cy="5338386"/>
          </a:xfrm>
        </p:spPr>
        <p:txBody>
          <a:bodyPr>
            <a:normAutofit fontScale="62500" lnSpcReduction="20000"/>
          </a:bodyPr>
          <a:lstStyle/>
          <a:p>
            <a:pPr algn="just">
              <a:buClr>
                <a:schemeClr val="tx1"/>
              </a:buClr>
              <a:buSzPct val="71000"/>
            </a:pPr>
            <a:r>
              <a:rPr lang="en-US" sz="2900" dirty="0">
                <a:solidFill>
                  <a:srgbClr val="222222"/>
                </a:solidFill>
                <a:latin typeface="arial" panose="020B0604020202020204" pitchFamily="34" charset="0"/>
              </a:rPr>
              <a:t>Following are the main operations of transaction</a:t>
            </a:r>
            <a:r>
              <a:rPr lang="en-US" sz="2900" dirty="0" smtClean="0">
                <a:solidFill>
                  <a:srgbClr val="222222"/>
                </a:solidFill>
                <a:latin typeface="arial" panose="020B0604020202020204" pitchFamily="34" charset="0"/>
              </a:rPr>
              <a:t>:</a:t>
            </a:r>
            <a:endParaRPr lang="en-US" sz="2900" dirty="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v"/>
            </a:pPr>
            <a:r>
              <a:rPr lang="en-US" sz="2900" b="1" dirty="0">
                <a:solidFill>
                  <a:srgbClr val="222222"/>
                </a:solidFill>
                <a:latin typeface="arial" panose="020B0604020202020204" pitchFamily="34" charset="0"/>
              </a:rPr>
              <a:t>Read(X): </a:t>
            </a:r>
            <a:r>
              <a:rPr lang="en-US" sz="2900" dirty="0">
                <a:solidFill>
                  <a:srgbClr val="222222"/>
                </a:solidFill>
                <a:latin typeface="arial" panose="020B0604020202020204" pitchFamily="34" charset="0"/>
              </a:rPr>
              <a:t>Read operation is used to read the value of X from the database and stores it in a buffer in main memory</a:t>
            </a:r>
            <a:r>
              <a:rPr lang="en-US" sz="2900" dirty="0" smtClean="0">
                <a:solidFill>
                  <a:srgbClr val="222222"/>
                </a:solidFill>
                <a:latin typeface="arial" panose="020B0604020202020204" pitchFamily="34" charset="0"/>
              </a:rPr>
              <a:t>.</a:t>
            </a:r>
            <a:endParaRPr lang="en-US" sz="2900" dirty="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v"/>
            </a:pPr>
            <a:r>
              <a:rPr lang="en-US" sz="2900" b="1" dirty="0">
                <a:solidFill>
                  <a:srgbClr val="222222"/>
                </a:solidFill>
                <a:latin typeface="arial" panose="020B0604020202020204" pitchFamily="34" charset="0"/>
              </a:rPr>
              <a:t>Write(X): </a:t>
            </a:r>
            <a:r>
              <a:rPr lang="en-US" sz="2900" dirty="0">
                <a:solidFill>
                  <a:srgbClr val="222222"/>
                </a:solidFill>
                <a:latin typeface="arial" panose="020B0604020202020204" pitchFamily="34" charset="0"/>
              </a:rPr>
              <a:t>Write operation is used to write the value back to the database from the buffer</a:t>
            </a:r>
            <a:r>
              <a:rPr lang="en-US" sz="2900" dirty="0" smtClean="0">
                <a:solidFill>
                  <a:srgbClr val="222222"/>
                </a:solidFill>
                <a:latin typeface="arial" panose="020B0604020202020204" pitchFamily="34" charset="0"/>
              </a:rPr>
              <a:t>.</a:t>
            </a:r>
            <a:endParaRPr lang="en-US" sz="2900" dirty="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v"/>
            </a:pPr>
            <a:r>
              <a:rPr lang="en-US" sz="2900" dirty="0">
                <a:solidFill>
                  <a:srgbClr val="222222"/>
                </a:solidFill>
                <a:latin typeface="arial" panose="020B0604020202020204" pitchFamily="34" charset="0"/>
              </a:rPr>
              <a:t>Let's take an example to debit transaction from an account which consists of following operations</a:t>
            </a:r>
            <a:r>
              <a:rPr lang="en-US" sz="2900" dirty="0" smtClean="0">
                <a:solidFill>
                  <a:srgbClr val="222222"/>
                </a:solidFill>
                <a:latin typeface="arial" panose="020B0604020202020204" pitchFamily="34" charset="0"/>
              </a:rPr>
              <a:t>:</a:t>
            </a:r>
            <a:endParaRPr lang="en-US" sz="2900" dirty="0">
              <a:solidFill>
                <a:srgbClr val="222222"/>
              </a:solidFill>
              <a:latin typeface="arial" panose="020B0604020202020204" pitchFamily="34" charset="0"/>
            </a:endParaRPr>
          </a:p>
          <a:p>
            <a:pPr lvl="2" algn="just">
              <a:buClr>
                <a:schemeClr val="tx1"/>
              </a:buClr>
              <a:buSzPct val="71000"/>
            </a:pPr>
            <a:r>
              <a:rPr lang="en-US" sz="2900" dirty="0">
                <a:solidFill>
                  <a:srgbClr val="222222"/>
                </a:solidFill>
                <a:latin typeface="arial" panose="020B0604020202020204" pitchFamily="34" charset="0"/>
              </a:rPr>
              <a:t>1.  R(X);  </a:t>
            </a:r>
          </a:p>
          <a:p>
            <a:pPr lvl="2" algn="just">
              <a:buClr>
                <a:schemeClr val="tx1"/>
              </a:buClr>
              <a:buSzPct val="71000"/>
            </a:pPr>
            <a:r>
              <a:rPr lang="en-US" sz="2900" dirty="0">
                <a:solidFill>
                  <a:srgbClr val="222222"/>
                </a:solidFill>
                <a:latin typeface="arial" panose="020B0604020202020204" pitchFamily="34" charset="0"/>
              </a:rPr>
              <a:t>2.  X = X - 500;  </a:t>
            </a:r>
          </a:p>
          <a:p>
            <a:pPr lvl="2" algn="just">
              <a:buClr>
                <a:schemeClr val="tx1"/>
              </a:buClr>
              <a:buSzPct val="71000"/>
            </a:pPr>
            <a:r>
              <a:rPr lang="en-US" sz="2900" dirty="0">
                <a:solidFill>
                  <a:srgbClr val="222222"/>
                </a:solidFill>
                <a:latin typeface="arial" panose="020B0604020202020204" pitchFamily="34" charset="0"/>
              </a:rPr>
              <a:t>3.  W(X);  </a:t>
            </a:r>
          </a:p>
          <a:p>
            <a:pPr marL="457200" indent="-457200" algn="just">
              <a:buClr>
                <a:schemeClr val="tx1"/>
              </a:buClr>
              <a:buSzPct val="71000"/>
              <a:buFont typeface="Wingdings" panose="05000000000000000000" pitchFamily="2" charset="2"/>
              <a:buChar char="v"/>
            </a:pPr>
            <a:r>
              <a:rPr lang="en-US" sz="2900" dirty="0">
                <a:solidFill>
                  <a:srgbClr val="222222"/>
                </a:solidFill>
                <a:latin typeface="arial" panose="020B0604020202020204" pitchFamily="34" charset="0"/>
              </a:rPr>
              <a:t>Let's assume the value of X before starting of the transaction is 4000</a:t>
            </a:r>
            <a:r>
              <a:rPr lang="en-US" sz="2900" dirty="0" smtClean="0">
                <a:solidFill>
                  <a:srgbClr val="222222"/>
                </a:solidFill>
                <a:latin typeface="arial" panose="020B0604020202020204" pitchFamily="34" charset="0"/>
              </a:rPr>
              <a:t>.</a:t>
            </a:r>
            <a:endParaRPr lang="en-US" sz="2900" dirty="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v"/>
            </a:pPr>
            <a:r>
              <a:rPr lang="en-US" sz="2900" dirty="0">
                <a:solidFill>
                  <a:srgbClr val="222222"/>
                </a:solidFill>
                <a:latin typeface="arial" panose="020B0604020202020204" pitchFamily="34" charset="0"/>
              </a:rPr>
              <a:t>The first operation reads X's value from database and stores it in a buffer.</a:t>
            </a:r>
          </a:p>
          <a:p>
            <a:pPr marL="457200" indent="-457200" algn="just">
              <a:buClr>
                <a:schemeClr val="tx1"/>
              </a:buClr>
              <a:buSzPct val="71000"/>
              <a:buFont typeface="Wingdings" panose="05000000000000000000" pitchFamily="2" charset="2"/>
              <a:buChar char="v"/>
            </a:pPr>
            <a:r>
              <a:rPr lang="en-US" sz="2900" dirty="0">
                <a:solidFill>
                  <a:srgbClr val="222222"/>
                </a:solidFill>
                <a:latin typeface="arial" panose="020B0604020202020204" pitchFamily="34" charset="0"/>
              </a:rPr>
              <a:t>The second operation will decrease the value of X by 500. So buffer will contain 3500.</a:t>
            </a:r>
          </a:p>
          <a:p>
            <a:pPr marL="457200" indent="-457200" algn="just">
              <a:buClr>
                <a:schemeClr val="tx1"/>
              </a:buClr>
              <a:buSzPct val="71000"/>
              <a:buFont typeface="Wingdings" panose="05000000000000000000" pitchFamily="2" charset="2"/>
              <a:buChar char="v"/>
            </a:pPr>
            <a:r>
              <a:rPr lang="en-US" sz="2900" dirty="0">
                <a:solidFill>
                  <a:srgbClr val="222222"/>
                </a:solidFill>
                <a:latin typeface="arial" panose="020B0604020202020204" pitchFamily="34" charset="0"/>
              </a:rPr>
              <a:t>The third operation will write the buffer's value to the database. So X's final value will be 3500</a:t>
            </a:r>
            <a:r>
              <a:rPr lang="en-US" sz="2800" dirty="0" smtClean="0">
                <a:solidFill>
                  <a:srgbClr val="222222"/>
                </a:solidFill>
                <a:latin typeface="arial" panose="020B0604020202020204" pitchFamily="34" charset="0"/>
              </a:rPr>
              <a:t>.</a:t>
            </a:r>
            <a:endParaRPr lang="en-US" sz="2800" dirty="0">
              <a:solidFill>
                <a:srgbClr val="222222"/>
              </a:solidFill>
              <a:latin typeface="arial" panose="020B0604020202020204" pitchFamily="34" charset="0"/>
            </a:endParaRPr>
          </a:p>
        </p:txBody>
      </p:sp>
    </p:spTree>
    <p:extLst>
      <p:ext uri="{BB962C8B-B14F-4D97-AF65-F5344CB8AC3E}">
        <p14:creationId xmlns:p14="http://schemas.microsoft.com/office/powerpoint/2010/main" val="177574080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10.1.1 Operation of Transaction</a:t>
            </a:r>
            <a:endParaRPr lang="en-US" sz="2800" dirty="0">
              <a:solidFill>
                <a:schemeClr val="bg1"/>
              </a:solidFill>
            </a:endParaRPr>
          </a:p>
        </p:txBody>
      </p:sp>
      <p:sp>
        <p:nvSpPr>
          <p:cNvPr id="3" name="Subtitle 2"/>
          <p:cNvSpPr>
            <a:spLocks noGrp="1"/>
          </p:cNvSpPr>
          <p:nvPr>
            <p:ph type="subTitle" idx="1"/>
          </p:nvPr>
        </p:nvSpPr>
        <p:spPr>
          <a:xfrm>
            <a:off x="1281567" y="1139687"/>
            <a:ext cx="8094254" cy="5505812"/>
          </a:xfrm>
        </p:spPr>
        <p:txBody>
          <a:bodyPr>
            <a:normAutofit fontScale="92500" lnSpcReduction="20000"/>
          </a:bodyPr>
          <a:lstStyle/>
          <a:p>
            <a:pPr algn="just">
              <a:buClr>
                <a:schemeClr val="tx1"/>
              </a:buClr>
              <a:buSzPct val="71000"/>
            </a:pPr>
            <a:endParaRPr lang="en-US" sz="2800" dirty="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For example: If in the above transaction, the debit transaction fails after executing operation 2 then X's value will remain 4000 in the database which is not acceptable by the bank.</a:t>
            </a:r>
          </a:p>
          <a:p>
            <a:pPr marL="457200" indent="-457200" algn="just">
              <a:buClr>
                <a:schemeClr val="tx1"/>
              </a:buClr>
              <a:buSzPct val="71000"/>
              <a:buFont typeface="Wingdings" panose="05000000000000000000" pitchFamily="2" charset="2"/>
              <a:buChar char="v"/>
            </a:pPr>
            <a:endParaRPr lang="en-US" sz="2800" dirty="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To solve this problem, we have two important operations:</a:t>
            </a:r>
          </a:p>
          <a:p>
            <a:pPr marL="457200" indent="-457200" algn="just">
              <a:buClr>
                <a:schemeClr val="tx1"/>
              </a:buClr>
              <a:buSzPct val="71000"/>
              <a:buFont typeface="Wingdings" panose="05000000000000000000" pitchFamily="2" charset="2"/>
              <a:buChar char="v"/>
            </a:pPr>
            <a:endParaRPr lang="en-US" sz="2800" dirty="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v"/>
            </a:pPr>
            <a:r>
              <a:rPr lang="en-US" sz="2800" b="1" dirty="0">
                <a:solidFill>
                  <a:srgbClr val="222222"/>
                </a:solidFill>
                <a:latin typeface="arial" panose="020B0604020202020204" pitchFamily="34" charset="0"/>
              </a:rPr>
              <a:t>Commit: </a:t>
            </a:r>
            <a:r>
              <a:rPr lang="en-US" sz="2800" dirty="0">
                <a:solidFill>
                  <a:srgbClr val="222222"/>
                </a:solidFill>
                <a:latin typeface="arial" panose="020B0604020202020204" pitchFamily="34" charset="0"/>
              </a:rPr>
              <a:t>It is used to save the work done permanently.</a:t>
            </a:r>
          </a:p>
          <a:p>
            <a:pPr marL="457200" indent="-457200" algn="just">
              <a:buClr>
                <a:schemeClr val="tx1"/>
              </a:buClr>
              <a:buSzPct val="71000"/>
              <a:buFont typeface="Wingdings" panose="05000000000000000000" pitchFamily="2" charset="2"/>
              <a:buChar char="v"/>
            </a:pPr>
            <a:endParaRPr lang="en-US" sz="2800" dirty="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v"/>
            </a:pPr>
            <a:r>
              <a:rPr lang="en-US" sz="2800" b="1" dirty="0">
                <a:solidFill>
                  <a:srgbClr val="222222"/>
                </a:solidFill>
                <a:latin typeface="arial" panose="020B0604020202020204" pitchFamily="34" charset="0"/>
              </a:rPr>
              <a:t>Rollback: </a:t>
            </a:r>
            <a:r>
              <a:rPr lang="en-US" sz="2800" dirty="0">
                <a:solidFill>
                  <a:srgbClr val="222222"/>
                </a:solidFill>
                <a:latin typeface="arial" panose="020B0604020202020204" pitchFamily="34" charset="0"/>
              </a:rPr>
              <a:t>It is used to undo the work done.</a:t>
            </a:r>
          </a:p>
          <a:p>
            <a:pPr marL="457200" indent="-457200" algn="just">
              <a:buClr>
                <a:schemeClr val="tx1"/>
              </a:buClr>
              <a:buSzPct val="71000"/>
              <a:buFont typeface="Wingdings" panose="05000000000000000000" pitchFamily="2" charset="2"/>
              <a:buChar char="v"/>
            </a:pPr>
            <a:endParaRPr lang="en-US" sz="2800" dirty="0">
              <a:solidFill>
                <a:srgbClr val="222222"/>
              </a:solidFill>
              <a:latin typeface="arial" panose="020B0604020202020204" pitchFamily="34" charset="0"/>
            </a:endParaRPr>
          </a:p>
        </p:txBody>
      </p:sp>
    </p:spTree>
    <p:extLst>
      <p:ext uri="{BB962C8B-B14F-4D97-AF65-F5344CB8AC3E}">
        <p14:creationId xmlns:p14="http://schemas.microsoft.com/office/powerpoint/2010/main" val="219053825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10.1.2 States of Transaction</a:t>
            </a:r>
            <a:endParaRPr lang="en-US" sz="2800" dirty="0">
              <a:solidFill>
                <a:schemeClr val="bg1"/>
              </a:solidFill>
            </a:endParaRPr>
          </a:p>
        </p:txBody>
      </p:sp>
      <p:sp>
        <p:nvSpPr>
          <p:cNvPr id="3" name="Subtitle 2"/>
          <p:cNvSpPr>
            <a:spLocks noGrp="1"/>
          </p:cNvSpPr>
          <p:nvPr>
            <p:ph type="subTitle" idx="1"/>
          </p:nvPr>
        </p:nvSpPr>
        <p:spPr>
          <a:xfrm>
            <a:off x="1281567" y="1139687"/>
            <a:ext cx="8094254" cy="5338386"/>
          </a:xfrm>
        </p:spPr>
        <p:txBody>
          <a:bodyPr>
            <a:normAutofit/>
          </a:bodyPr>
          <a:lstStyle/>
          <a:p>
            <a:pPr marL="457200" indent="-457200" algn="just">
              <a:buClr>
                <a:schemeClr val="tx1"/>
              </a:buClr>
              <a:buSzPct val="71000"/>
              <a:buFont typeface="Wingdings" panose="05000000000000000000" pitchFamily="2" charset="2"/>
              <a:buChar char="v"/>
            </a:pPr>
            <a:r>
              <a:rPr lang="en-US" sz="2900" b="1" dirty="0">
                <a:solidFill>
                  <a:srgbClr val="222222"/>
                </a:solidFill>
                <a:latin typeface="arial" panose="020B0604020202020204" pitchFamily="34" charset="0"/>
              </a:rPr>
              <a:t>Active state </a:t>
            </a:r>
            <a:r>
              <a:rPr lang="en-US" sz="2900" dirty="0">
                <a:solidFill>
                  <a:srgbClr val="222222"/>
                </a:solidFill>
                <a:latin typeface="arial" panose="020B0604020202020204" pitchFamily="34" charset="0"/>
              </a:rPr>
              <a:t>: the transaction is executing in the state</a:t>
            </a:r>
          </a:p>
          <a:p>
            <a:pPr marL="457200" indent="-457200" algn="just">
              <a:buClr>
                <a:schemeClr val="tx1"/>
              </a:buClr>
              <a:buSzPct val="71000"/>
              <a:buFont typeface="Wingdings" panose="05000000000000000000" pitchFamily="2" charset="2"/>
              <a:buChar char="v"/>
            </a:pPr>
            <a:r>
              <a:rPr lang="en-US" sz="2900" b="1" dirty="0" smtClean="0">
                <a:solidFill>
                  <a:srgbClr val="222222"/>
                </a:solidFill>
                <a:latin typeface="arial" panose="020B0604020202020204" pitchFamily="34" charset="0"/>
              </a:rPr>
              <a:t>Partially committed: </a:t>
            </a:r>
            <a:r>
              <a:rPr lang="en-US" sz="2900" dirty="0">
                <a:solidFill>
                  <a:srgbClr val="222222"/>
                </a:solidFill>
                <a:latin typeface="arial" panose="020B0604020202020204" pitchFamily="34" charset="0"/>
              </a:rPr>
              <a:t>the final statement has been executed.</a:t>
            </a:r>
          </a:p>
          <a:p>
            <a:pPr marL="457200" indent="-457200" algn="just">
              <a:buClr>
                <a:schemeClr val="tx1"/>
              </a:buClr>
              <a:buSzPct val="71000"/>
              <a:buFont typeface="Wingdings" panose="05000000000000000000" pitchFamily="2" charset="2"/>
              <a:buChar char="v"/>
            </a:pPr>
            <a:r>
              <a:rPr lang="en-US" sz="2900" b="1" dirty="0" smtClean="0">
                <a:solidFill>
                  <a:srgbClr val="222222"/>
                </a:solidFill>
                <a:latin typeface="arial" panose="020B0604020202020204" pitchFamily="34" charset="0"/>
              </a:rPr>
              <a:t>Committed</a:t>
            </a:r>
            <a:r>
              <a:rPr lang="en-US" sz="2900" dirty="0" smtClean="0">
                <a:solidFill>
                  <a:srgbClr val="222222"/>
                </a:solidFill>
                <a:latin typeface="arial" panose="020B0604020202020204" pitchFamily="34" charset="0"/>
              </a:rPr>
              <a:t> </a:t>
            </a:r>
            <a:r>
              <a:rPr lang="en-US" sz="2900" dirty="0">
                <a:solidFill>
                  <a:srgbClr val="222222"/>
                </a:solidFill>
                <a:latin typeface="arial" panose="020B0604020202020204" pitchFamily="34" charset="0"/>
              </a:rPr>
              <a:t>: the transaction is completely successfully.</a:t>
            </a:r>
          </a:p>
          <a:p>
            <a:pPr marL="457200" indent="-457200" algn="just">
              <a:buClr>
                <a:schemeClr val="tx1"/>
              </a:buClr>
              <a:buSzPct val="71000"/>
              <a:buFont typeface="Wingdings" panose="05000000000000000000" pitchFamily="2" charset="2"/>
              <a:buChar char="v"/>
            </a:pPr>
            <a:r>
              <a:rPr lang="en-US" sz="2900" b="1" dirty="0" smtClean="0">
                <a:solidFill>
                  <a:srgbClr val="222222"/>
                </a:solidFill>
                <a:latin typeface="arial" panose="020B0604020202020204" pitchFamily="34" charset="0"/>
              </a:rPr>
              <a:t>Failed</a:t>
            </a:r>
            <a:r>
              <a:rPr lang="en-US" sz="2900" b="1" dirty="0">
                <a:solidFill>
                  <a:srgbClr val="222222"/>
                </a:solidFill>
                <a:latin typeface="arial" panose="020B0604020202020204" pitchFamily="34" charset="0"/>
              </a:rPr>
              <a:t>: </a:t>
            </a:r>
            <a:r>
              <a:rPr lang="en-US" sz="2900" dirty="0">
                <a:solidFill>
                  <a:srgbClr val="222222"/>
                </a:solidFill>
                <a:latin typeface="arial" panose="020B0604020202020204" pitchFamily="34" charset="0"/>
              </a:rPr>
              <a:t>Normal execution can not be proceed.</a:t>
            </a:r>
          </a:p>
          <a:p>
            <a:pPr marL="457200" indent="-457200" algn="just">
              <a:buClr>
                <a:schemeClr val="tx1"/>
              </a:buClr>
              <a:buSzPct val="71000"/>
              <a:buFont typeface="Wingdings" panose="05000000000000000000" pitchFamily="2" charset="2"/>
              <a:buChar char="v"/>
            </a:pPr>
            <a:r>
              <a:rPr lang="en-US" sz="2900" b="1" dirty="0" smtClean="0">
                <a:solidFill>
                  <a:srgbClr val="222222"/>
                </a:solidFill>
                <a:latin typeface="arial" panose="020B0604020202020204" pitchFamily="34" charset="0"/>
              </a:rPr>
              <a:t>Aborted: </a:t>
            </a:r>
            <a:r>
              <a:rPr lang="en-US" sz="2900" dirty="0" smtClean="0">
                <a:solidFill>
                  <a:srgbClr val="222222"/>
                </a:solidFill>
                <a:latin typeface="arial" panose="020B0604020202020204" pitchFamily="34" charset="0"/>
              </a:rPr>
              <a:t>Transaction </a:t>
            </a:r>
            <a:r>
              <a:rPr lang="en-US" sz="2900" dirty="0">
                <a:solidFill>
                  <a:srgbClr val="222222"/>
                </a:solidFill>
                <a:latin typeface="arial" panose="020B0604020202020204" pitchFamily="34" charset="0"/>
              </a:rPr>
              <a:t>is rolled back and database is restored</a:t>
            </a:r>
            <a:endParaRPr lang="en-US" sz="2800" dirty="0">
              <a:solidFill>
                <a:srgbClr val="222222"/>
              </a:solidFill>
              <a:latin typeface="arial" panose="020B0604020202020204" pitchFamily="34" charset="0"/>
            </a:endParaRPr>
          </a:p>
        </p:txBody>
      </p:sp>
    </p:spTree>
    <p:extLst>
      <p:ext uri="{BB962C8B-B14F-4D97-AF65-F5344CB8AC3E}">
        <p14:creationId xmlns:p14="http://schemas.microsoft.com/office/powerpoint/2010/main" val="273574658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10.1.2 States of Transaction</a:t>
            </a:r>
          </a:p>
        </p:txBody>
      </p:sp>
      <p:pic>
        <p:nvPicPr>
          <p:cNvPr id="1028" name="Picture 4" descr="DBMS States of Transac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4101" y="1447263"/>
            <a:ext cx="7675809" cy="37815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664400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10.2 ACID Properties of Transaction</a:t>
            </a:r>
            <a:endParaRPr lang="en-US" sz="2800" dirty="0">
              <a:solidFill>
                <a:schemeClr val="bg1"/>
              </a:solidFill>
            </a:endParaRPr>
          </a:p>
        </p:txBody>
      </p:sp>
      <p:pic>
        <p:nvPicPr>
          <p:cNvPr id="2050" name="Picture 2" descr="DBMS Transaction propert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1568" y="1004925"/>
            <a:ext cx="8094254" cy="56019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923512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10.2 ACID Properties of Transaction</a:t>
            </a:r>
          </a:p>
        </p:txBody>
      </p:sp>
      <p:sp>
        <p:nvSpPr>
          <p:cNvPr id="3" name="Subtitle 2"/>
          <p:cNvSpPr>
            <a:spLocks noGrp="1"/>
          </p:cNvSpPr>
          <p:nvPr>
            <p:ph type="subTitle" idx="1"/>
          </p:nvPr>
        </p:nvSpPr>
        <p:spPr>
          <a:xfrm>
            <a:off x="1281567" y="1139687"/>
            <a:ext cx="8094254" cy="4990657"/>
          </a:xfrm>
        </p:spPr>
        <p:txBody>
          <a:bodyPr>
            <a:normAutofit fontScale="92500" lnSpcReduction="10000"/>
          </a:bodyPr>
          <a:lstStyle/>
          <a:p>
            <a:pPr algn="just">
              <a:buClr>
                <a:schemeClr val="tx1"/>
              </a:buClr>
              <a:buSzPct val="71000"/>
            </a:pPr>
            <a:r>
              <a:rPr lang="en-US" sz="2800" b="1" dirty="0" smtClean="0">
                <a:solidFill>
                  <a:srgbClr val="222222"/>
                </a:solidFill>
                <a:latin typeface="arial" panose="020B0604020202020204" pitchFamily="34" charset="0"/>
              </a:rPr>
              <a:t>Atomicity− </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It states that all operations of the transaction take place at once if not, the transaction is aborted.</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There is no midway, i.e., the transaction cannot occur partially. Each transaction is treated as one unit and either run to completion or is not executed at all</a:t>
            </a:r>
            <a:r>
              <a:rPr lang="en-US" sz="2800" dirty="0" smtClean="0">
                <a:solidFill>
                  <a:srgbClr val="222222"/>
                </a:solidFill>
                <a:latin typeface="arial" panose="020B0604020202020204" pitchFamily="34" charset="0"/>
              </a:rPr>
              <a:t>.</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Atomicity involves the following two operations</a:t>
            </a:r>
            <a:r>
              <a:rPr lang="en-US" sz="2800" dirty="0" smtClean="0">
                <a:solidFill>
                  <a:srgbClr val="222222"/>
                </a:solidFill>
                <a:latin typeface="arial" panose="020B0604020202020204" pitchFamily="34" charset="0"/>
              </a:rPr>
              <a:t>:</a:t>
            </a:r>
            <a:endParaRPr lang="en-US" sz="2800" dirty="0">
              <a:solidFill>
                <a:srgbClr val="222222"/>
              </a:solidFill>
              <a:latin typeface="arial" panose="020B0604020202020204" pitchFamily="34" charset="0"/>
            </a:endParaRPr>
          </a:p>
          <a:p>
            <a:pPr marL="914389" lvl="1" indent="-457200" algn="just">
              <a:buClr>
                <a:schemeClr val="tx1"/>
              </a:buClr>
              <a:buSzPct val="71000"/>
              <a:buFont typeface="Wingdings" panose="05000000000000000000" pitchFamily="2" charset="2"/>
              <a:buChar char="Ø"/>
            </a:pPr>
            <a:r>
              <a:rPr lang="en-US" sz="2600" b="1" dirty="0">
                <a:solidFill>
                  <a:srgbClr val="222222"/>
                </a:solidFill>
                <a:latin typeface="arial" panose="020B0604020202020204" pitchFamily="34" charset="0"/>
              </a:rPr>
              <a:t>Abort: </a:t>
            </a:r>
            <a:r>
              <a:rPr lang="en-US" sz="2600" dirty="0">
                <a:solidFill>
                  <a:srgbClr val="222222"/>
                </a:solidFill>
                <a:latin typeface="arial" panose="020B0604020202020204" pitchFamily="34" charset="0"/>
              </a:rPr>
              <a:t>If a transaction aborts then all the changes made are not visible</a:t>
            </a:r>
            <a:r>
              <a:rPr lang="en-US" sz="2600" dirty="0" smtClean="0">
                <a:solidFill>
                  <a:srgbClr val="222222"/>
                </a:solidFill>
                <a:latin typeface="arial" panose="020B0604020202020204" pitchFamily="34" charset="0"/>
              </a:rPr>
              <a:t>.</a:t>
            </a:r>
            <a:endParaRPr lang="en-US" sz="2600" dirty="0">
              <a:solidFill>
                <a:srgbClr val="222222"/>
              </a:solidFill>
              <a:latin typeface="arial" panose="020B0604020202020204" pitchFamily="34" charset="0"/>
            </a:endParaRPr>
          </a:p>
          <a:p>
            <a:pPr marL="914389" lvl="1" indent="-457200" algn="just">
              <a:buClr>
                <a:schemeClr val="tx1"/>
              </a:buClr>
              <a:buSzPct val="71000"/>
              <a:buFont typeface="Wingdings" panose="05000000000000000000" pitchFamily="2" charset="2"/>
              <a:buChar char="Ø"/>
            </a:pPr>
            <a:r>
              <a:rPr lang="en-US" sz="2600" b="1" dirty="0">
                <a:solidFill>
                  <a:srgbClr val="222222"/>
                </a:solidFill>
                <a:latin typeface="arial" panose="020B0604020202020204" pitchFamily="34" charset="0"/>
              </a:rPr>
              <a:t>Commit: </a:t>
            </a:r>
            <a:r>
              <a:rPr lang="en-US" sz="2600" dirty="0">
                <a:solidFill>
                  <a:srgbClr val="222222"/>
                </a:solidFill>
                <a:latin typeface="arial" panose="020B0604020202020204" pitchFamily="34" charset="0"/>
              </a:rPr>
              <a:t>If a transaction commits then all the changes made are visible.</a:t>
            </a:r>
          </a:p>
          <a:p>
            <a:pPr algn="just">
              <a:buClr>
                <a:schemeClr val="tx1"/>
              </a:buClr>
              <a:buSzPct val="71000"/>
            </a:pPr>
            <a:endParaRPr lang="en-US" sz="2800" b="1" dirty="0">
              <a:solidFill>
                <a:srgbClr val="222222"/>
              </a:solidFill>
              <a:latin typeface="arial" panose="020B0604020202020204" pitchFamily="34" charset="0"/>
            </a:endParaRPr>
          </a:p>
        </p:txBody>
      </p:sp>
    </p:spTree>
    <p:extLst>
      <p:ext uri="{BB962C8B-B14F-4D97-AF65-F5344CB8AC3E}">
        <p14:creationId xmlns:p14="http://schemas.microsoft.com/office/powerpoint/2010/main" val="225057608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10.2 ACID Properties of Transaction</a:t>
            </a:r>
          </a:p>
        </p:txBody>
      </p:sp>
      <p:sp>
        <p:nvSpPr>
          <p:cNvPr id="3" name="Subtitle 2"/>
          <p:cNvSpPr>
            <a:spLocks noGrp="1"/>
          </p:cNvSpPr>
          <p:nvPr>
            <p:ph type="subTitle" idx="1"/>
          </p:nvPr>
        </p:nvSpPr>
        <p:spPr>
          <a:xfrm>
            <a:off x="1281568" y="1004925"/>
            <a:ext cx="8094254" cy="934481"/>
          </a:xfrm>
        </p:spPr>
        <p:txBody>
          <a:bodyPr>
            <a:normAutofit fontScale="92500" lnSpcReduction="10000"/>
          </a:bodyPr>
          <a:lstStyle/>
          <a:p>
            <a:pPr algn="just">
              <a:buClr>
                <a:schemeClr val="tx1"/>
              </a:buClr>
              <a:buSzPct val="71000"/>
            </a:pPr>
            <a:r>
              <a:rPr lang="en-US" sz="2800" b="1" dirty="0" smtClean="0">
                <a:solidFill>
                  <a:srgbClr val="222222"/>
                </a:solidFill>
                <a:latin typeface="arial" panose="020B0604020202020204" pitchFamily="34" charset="0"/>
              </a:rPr>
              <a:t>Atomicity− </a:t>
            </a:r>
          </a:p>
          <a:p>
            <a:pPr marL="457200" indent="-457200" algn="just">
              <a:buClr>
                <a:schemeClr val="tx1"/>
              </a:buClr>
              <a:buSzPct val="71000"/>
              <a:buFont typeface="Wingdings" panose="05000000000000000000" pitchFamily="2" charset="2"/>
              <a:buChar char="Ø"/>
            </a:pPr>
            <a:r>
              <a:rPr lang="en-US" sz="2800" b="1" dirty="0" smtClean="0">
                <a:solidFill>
                  <a:srgbClr val="222222"/>
                </a:solidFill>
                <a:latin typeface="arial" panose="020B0604020202020204" pitchFamily="34" charset="0"/>
              </a:rPr>
              <a:t>Example:</a:t>
            </a:r>
            <a:endParaRPr lang="en-US" sz="2800" b="1" dirty="0">
              <a:solidFill>
                <a:srgbClr val="222222"/>
              </a:solidFill>
              <a:latin typeface="arial" panose="020B0604020202020204" pitchFamily="34" charset="0"/>
            </a:endParaRPr>
          </a:p>
        </p:txBody>
      </p:sp>
      <p:graphicFrame>
        <p:nvGraphicFramePr>
          <p:cNvPr id="7" name="Table 6"/>
          <p:cNvGraphicFramePr>
            <a:graphicFrameLocks noGrp="1"/>
          </p:cNvGraphicFramePr>
          <p:nvPr>
            <p:extLst>
              <p:ext uri="{D42A27DB-BD31-4B8C-83A1-F6EECF244321}">
                <p14:modId xmlns:p14="http://schemas.microsoft.com/office/powerpoint/2010/main" val="4098107022"/>
              </p:ext>
            </p:extLst>
          </p:nvPr>
        </p:nvGraphicFramePr>
        <p:xfrm>
          <a:off x="2282840" y="1939406"/>
          <a:ext cx="6091707" cy="1609080"/>
        </p:xfrm>
        <a:graphic>
          <a:graphicData uri="http://schemas.openxmlformats.org/drawingml/2006/table">
            <a:tbl>
              <a:tblPr/>
              <a:tblGrid>
                <a:gridCol w="2897275"/>
                <a:gridCol w="3194432"/>
              </a:tblGrid>
              <a:tr h="462860">
                <a:tc>
                  <a:txBody>
                    <a:bodyPr/>
                    <a:lstStyle/>
                    <a:p>
                      <a:pPr algn="l" fontAlgn="t"/>
                      <a:r>
                        <a:rPr lang="en-US" dirty="0" err="1">
                          <a:solidFill>
                            <a:srgbClr val="000000"/>
                          </a:solidFill>
                          <a:effectLst/>
                          <a:latin typeface="times new roman" panose="02020603050405020304" pitchFamily="18" charset="0"/>
                        </a:rPr>
                        <a:t>T1</a:t>
                      </a:r>
                      <a:endParaRPr lang="en-US" dirty="0">
                        <a:solidFill>
                          <a:srgbClr val="000000"/>
                        </a:solidFill>
                        <a:effectLst/>
                        <a:latin typeface="times new roman" panose="02020603050405020304" pitchFamily="18" charset="0"/>
                      </a:endParaRPr>
                    </a:p>
                  </a:txBody>
                  <a:tcPr marL="114300" marR="114300" marT="114300" marB="114300">
                    <a:lnL w="9525" cap="flat" cmpd="sng" algn="ctr">
                      <a:solidFill>
                        <a:srgbClr val="F0D3F5"/>
                      </a:solidFill>
                      <a:prstDash val="solid"/>
                      <a:round/>
                      <a:headEnd type="none" w="med" len="med"/>
                      <a:tailEnd type="none" w="med" len="med"/>
                    </a:lnL>
                    <a:lnR w="9525" cap="flat" cmpd="sng" algn="ctr">
                      <a:solidFill>
                        <a:srgbClr val="F0D3F5"/>
                      </a:solidFill>
                      <a:prstDash val="solid"/>
                      <a:round/>
                      <a:headEnd type="none" w="med" len="med"/>
                      <a:tailEnd type="none" w="med" len="med"/>
                    </a:lnR>
                    <a:lnT w="9525" cap="flat" cmpd="sng" algn="ctr">
                      <a:solidFill>
                        <a:srgbClr val="F0D3F5"/>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US" dirty="0" err="1">
                          <a:solidFill>
                            <a:srgbClr val="000000"/>
                          </a:solidFill>
                          <a:effectLst/>
                          <a:latin typeface="times new roman" panose="02020603050405020304" pitchFamily="18" charset="0"/>
                        </a:rPr>
                        <a:t>T2</a:t>
                      </a:r>
                      <a:endParaRPr lang="en-US" dirty="0">
                        <a:solidFill>
                          <a:srgbClr val="000000"/>
                        </a:solidFill>
                        <a:effectLst/>
                        <a:latin typeface="times new roman" panose="02020603050405020304" pitchFamily="18" charset="0"/>
                      </a:endParaRPr>
                    </a:p>
                  </a:txBody>
                  <a:tcPr marL="114300" marR="114300" marT="114300" marB="114300">
                    <a:lnL w="9525" cap="flat" cmpd="sng" algn="ctr">
                      <a:solidFill>
                        <a:srgbClr val="F0D3F5"/>
                      </a:solidFill>
                      <a:prstDash val="solid"/>
                      <a:round/>
                      <a:headEnd type="none" w="med" len="med"/>
                      <a:tailEnd type="none" w="med" len="med"/>
                    </a:lnL>
                    <a:lnR w="9525" cap="flat" cmpd="sng" algn="ctr">
                      <a:solidFill>
                        <a:srgbClr val="F0D3F5"/>
                      </a:solidFill>
                      <a:prstDash val="solid"/>
                      <a:round/>
                      <a:headEnd type="none" w="med" len="med"/>
                      <a:tailEnd type="none" w="med" len="med"/>
                    </a:lnR>
                    <a:lnT w="9525" cap="flat" cmpd="sng" algn="ctr">
                      <a:solidFill>
                        <a:srgbClr val="F0D3F5"/>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r>
              <a:tr h="1106160">
                <a:tc>
                  <a:txBody>
                    <a:bodyPr/>
                    <a:lstStyle/>
                    <a:p>
                      <a:pPr algn="l" fontAlgn="t"/>
                      <a:r>
                        <a:rPr lang="en-US" dirty="0">
                          <a:solidFill>
                            <a:srgbClr val="000000"/>
                          </a:solidFill>
                          <a:effectLst/>
                          <a:latin typeface="verdana" panose="020B0604030504040204" pitchFamily="34" charset="0"/>
                        </a:rPr>
                        <a:t>Read(A)</a:t>
                      </a:r>
                      <a:br>
                        <a:rPr lang="en-US" dirty="0">
                          <a:solidFill>
                            <a:srgbClr val="000000"/>
                          </a:solidFill>
                          <a:effectLst/>
                          <a:latin typeface="verdana" panose="020B0604030504040204" pitchFamily="34" charset="0"/>
                        </a:rPr>
                      </a:br>
                      <a:r>
                        <a:rPr lang="en-US" dirty="0">
                          <a:solidFill>
                            <a:srgbClr val="000000"/>
                          </a:solidFill>
                          <a:effectLst/>
                          <a:latin typeface="verdana" panose="020B0604030504040204" pitchFamily="34" charset="0"/>
                        </a:rPr>
                        <a:t>A:= A-100</a:t>
                      </a:r>
                      <a:br>
                        <a:rPr lang="en-US" dirty="0">
                          <a:solidFill>
                            <a:srgbClr val="000000"/>
                          </a:solidFill>
                          <a:effectLst/>
                          <a:latin typeface="verdana" panose="020B0604030504040204" pitchFamily="34" charset="0"/>
                        </a:rPr>
                      </a:br>
                      <a:r>
                        <a:rPr lang="en-US" dirty="0">
                          <a:solidFill>
                            <a:srgbClr val="000000"/>
                          </a:solidFill>
                          <a:effectLst/>
                          <a:latin typeface="verdana" panose="020B0604030504040204" pitchFamily="34" charset="0"/>
                        </a:rPr>
                        <a:t>Write(A)</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dirty="0">
                          <a:solidFill>
                            <a:srgbClr val="000000"/>
                          </a:solidFill>
                          <a:effectLst/>
                          <a:latin typeface="verdana" panose="020B0604030504040204" pitchFamily="34" charset="0"/>
                        </a:rPr>
                        <a:t>Read(B)</a:t>
                      </a:r>
                      <a:br>
                        <a:rPr lang="en-US" dirty="0">
                          <a:solidFill>
                            <a:srgbClr val="000000"/>
                          </a:solidFill>
                          <a:effectLst/>
                          <a:latin typeface="verdana" panose="020B0604030504040204" pitchFamily="34" charset="0"/>
                        </a:rPr>
                      </a:br>
                      <a:r>
                        <a:rPr lang="en-US" dirty="0">
                          <a:solidFill>
                            <a:srgbClr val="000000"/>
                          </a:solidFill>
                          <a:effectLst/>
                          <a:latin typeface="verdana" panose="020B0604030504040204" pitchFamily="34" charset="0"/>
                        </a:rPr>
                        <a:t>Y:= </a:t>
                      </a:r>
                      <a:r>
                        <a:rPr lang="en-US" dirty="0" err="1">
                          <a:solidFill>
                            <a:srgbClr val="000000"/>
                          </a:solidFill>
                          <a:effectLst/>
                          <a:latin typeface="verdana" panose="020B0604030504040204" pitchFamily="34" charset="0"/>
                        </a:rPr>
                        <a:t>Y+100</a:t>
                      </a:r>
                      <a:r>
                        <a:rPr lang="en-US" dirty="0">
                          <a:solidFill>
                            <a:srgbClr val="000000"/>
                          </a:solidFill>
                          <a:effectLst/>
                          <a:latin typeface="verdana" panose="020B0604030504040204" pitchFamily="34" charset="0"/>
                        </a:rPr>
                        <a:t/>
                      </a:r>
                      <a:br>
                        <a:rPr lang="en-US" dirty="0">
                          <a:solidFill>
                            <a:srgbClr val="000000"/>
                          </a:solidFill>
                          <a:effectLst/>
                          <a:latin typeface="verdana" panose="020B0604030504040204" pitchFamily="34" charset="0"/>
                        </a:rPr>
                      </a:br>
                      <a:r>
                        <a:rPr lang="en-US" dirty="0">
                          <a:solidFill>
                            <a:srgbClr val="000000"/>
                          </a:solidFill>
                          <a:effectLst/>
                          <a:latin typeface="verdana" panose="020B0604030504040204" pitchFamily="34" charset="0"/>
                        </a:rPr>
                        <a:t>Write(B)</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r>
            </a:tbl>
          </a:graphicData>
        </a:graphic>
      </p:graphicFrame>
      <p:sp>
        <p:nvSpPr>
          <p:cNvPr id="8" name="Subtitle 2"/>
          <p:cNvSpPr txBox="1">
            <a:spLocks/>
          </p:cNvSpPr>
          <p:nvPr/>
        </p:nvSpPr>
        <p:spPr>
          <a:xfrm>
            <a:off x="1281567" y="3747752"/>
            <a:ext cx="8094254" cy="2382592"/>
          </a:xfrm>
          <a:prstGeom prst="rect">
            <a:avLst/>
          </a:prstGeom>
        </p:spPr>
        <p:txBody>
          <a:bodyPr vert="horz" lIns="91440" tIns="45720" rIns="91440" bIns="45720" rtlCol="0" anchor="t">
            <a:normAutofit fontScale="77500" lnSpcReduction="20000"/>
          </a:bodyPr>
          <a:lstStyle>
            <a:lvl1pPr marL="0" indent="0" algn="r" defTabSz="457189"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189" indent="0" algn="ctr" defTabSz="457189"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377" indent="0" algn="ctr" defTabSz="457189"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566"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754"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5943"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131"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320"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509"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After completion of the transaction, A consists of </a:t>
            </a:r>
            <a:r>
              <a:rPr lang="en-US" sz="2800" dirty="0" err="1">
                <a:solidFill>
                  <a:srgbClr val="222222"/>
                </a:solidFill>
                <a:latin typeface="arial" panose="020B0604020202020204" pitchFamily="34" charset="0"/>
              </a:rPr>
              <a:t>Rs</a:t>
            </a:r>
            <a:r>
              <a:rPr lang="en-US" sz="2800" dirty="0">
                <a:solidFill>
                  <a:srgbClr val="222222"/>
                </a:solidFill>
                <a:latin typeface="arial" panose="020B0604020202020204" pitchFamily="34" charset="0"/>
              </a:rPr>
              <a:t> 500 and B consists of </a:t>
            </a:r>
            <a:r>
              <a:rPr lang="en-US" sz="2800" dirty="0" err="1">
                <a:solidFill>
                  <a:srgbClr val="222222"/>
                </a:solidFill>
                <a:latin typeface="arial" panose="020B0604020202020204" pitchFamily="34" charset="0"/>
              </a:rPr>
              <a:t>Rs</a:t>
            </a:r>
            <a:r>
              <a:rPr lang="en-US" sz="2800" dirty="0">
                <a:solidFill>
                  <a:srgbClr val="222222"/>
                </a:solidFill>
                <a:latin typeface="arial" panose="020B0604020202020204" pitchFamily="34" charset="0"/>
              </a:rPr>
              <a:t> 400</a:t>
            </a:r>
            <a:r>
              <a:rPr lang="en-US" sz="2800" dirty="0" smtClean="0">
                <a:solidFill>
                  <a:srgbClr val="222222"/>
                </a:solidFill>
                <a:latin typeface="arial" panose="020B0604020202020204" pitchFamily="34" charset="0"/>
              </a:rPr>
              <a:t>.</a:t>
            </a:r>
            <a:endParaRPr lang="en-US" sz="2800" dirty="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If the transaction T fails after the completion of transaction </a:t>
            </a:r>
            <a:r>
              <a:rPr lang="en-US" sz="2800" dirty="0" err="1">
                <a:solidFill>
                  <a:srgbClr val="222222"/>
                </a:solidFill>
                <a:latin typeface="arial" panose="020B0604020202020204" pitchFamily="34" charset="0"/>
              </a:rPr>
              <a:t>T1</a:t>
            </a:r>
            <a:r>
              <a:rPr lang="en-US" sz="2800" dirty="0">
                <a:solidFill>
                  <a:srgbClr val="222222"/>
                </a:solidFill>
                <a:latin typeface="arial" panose="020B0604020202020204" pitchFamily="34" charset="0"/>
              </a:rPr>
              <a:t> but before completion of transaction </a:t>
            </a:r>
            <a:r>
              <a:rPr lang="en-US" sz="2800" dirty="0" err="1">
                <a:solidFill>
                  <a:srgbClr val="222222"/>
                </a:solidFill>
                <a:latin typeface="arial" panose="020B0604020202020204" pitchFamily="34" charset="0"/>
              </a:rPr>
              <a:t>T2</a:t>
            </a:r>
            <a:r>
              <a:rPr lang="en-US" sz="2800" dirty="0">
                <a:solidFill>
                  <a:srgbClr val="222222"/>
                </a:solidFill>
                <a:latin typeface="arial" panose="020B0604020202020204" pitchFamily="34" charset="0"/>
              </a:rPr>
              <a:t>, then the amount will be deducted from A but not added to B. This shows the inconsistent database state. In order to ensure correctness of database state, the transaction must be executed in entirety.</a:t>
            </a:r>
            <a:endParaRPr lang="en-US" sz="2800" dirty="0">
              <a:solidFill>
                <a:schemeClr val="tx1"/>
              </a:solidFill>
            </a:endParaRPr>
          </a:p>
        </p:txBody>
      </p:sp>
    </p:spTree>
    <p:extLst>
      <p:ext uri="{BB962C8B-B14F-4D97-AF65-F5344CB8AC3E}">
        <p14:creationId xmlns:p14="http://schemas.microsoft.com/office/powerpoint/2010/main" val="314575693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10.2 ACID Properties of Transaction</a:t>
            </a:r>
          </a:p>
        </p:txBody>
      </p:sp>
      <p:sp>
        <p:nvSpPr>
          <p:cNvPr id="3" name="Subtitle 2"/>
          <p:cNvSpPr>
            <a:spLocks noGrp="1"/>
          </p:cNvSpPr>
          <p:nvPr>
            <p:ph type="subTitle" idx="1"/>
          </p:nvPr>
        </p:nvSpPr>
        <p:spPr>
          <a:xfrm>
            <a:off x="1281567" y="1139687"/>
            <a:ext cx="8094254" cy="4990657"/>
          </a:xfrm>
        </p:spPr>
        <p:txBody>
          <a:bodyPr>
            <a:normAutofit fontScale="92500" lnSpcReduction="20000"/>
          </a:bodyPr>
          <a:lstStyle/>
          <a:p>
            <a:pPr algn="just">
              <a:buClr>
                <a:schemeClr val="tx1"/>
              </a:buClr>
              <a:buSzPct val="71000"/>
            </a:pPr>
            <a:r>
              <a:rPr lang="en-US" sz="2800" b="1" dirty="0" smtClean="0">
                <a:solidFill>
                  <a:srgbClr val="222222"/>
                </a:solidFill>
                <a:latin typeface="arial" panose="020B0604020202020204" pitchFamily="34" charset="0"/>
              </a:rPr>
              <a:t>Consistency− </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The integrity constraints are maintained so that the database is consistent before and after the transaction.</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The execution of a transaction will leave a database in either its prior stable state or a new stable state.</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The consistent property of database states that every transaction sees a consistent database instance.</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The transaction is used to transform the database from one consistent state to another consistent state.</a:t>
            </a:r>
            <a:endParaRPr lang="en-US" sz="2800" b="1" dirty="0">
              <a:solidFill>
                <a:srgbClr val="222222"/>
              </a:solidFill>
              <a:latin typeface="arial" panose="020B0604020202020204" pitchFamily="34" charset="0"/>
            </a:endParaRPr>
          </a:p>
        </p:txBody>
      </p:sp>
    </p:spTree>
    <p:extLst>
      <p:ext uri="{BB962C8B-B14F-4D97-AF65-F5344CB8AC3E}">
        <p14:creationId xmlns:p14="http://schemas.microsoft.com/office/powerpoint/2010/main" val="118163987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10.2 ACID Properties of Transaction</a:t>
            </a:r>
          </a:p>
        </p:txBody>
      </p:sp>
      <p:sp>
        <p:nvSpPr>
          <p:cNvPr id="3" name="Subtitle 2"/>
          <p:cNvSpPr>
            <a:spLocks noGrp="1"/>
          </p:cNvSpPr>
          <p:nvPr>
            <p:ph type="subTitle" idx="1"/>
          </p:nvPr>
        </p:nvSpPr>
        <p:spPr>
          <a:xfrm>
            <a:off x="1281568" y="1004925"/>
            <a:ext cx="8094254" cy="934481"/>
          </a:xfrm>
        </p:spPr>
        <p:txBody>
          <a:bodyPr>
            <a:normAutofit fontScale="92500" lnSpcReduction="10000"/>
          </a:bodyPr>
          <a:lstStyle/>
          <a:p>
            <a:pPr algn="just">
              <a:buClr>
                <a:schemeClr val="tx1"/>
              </a:buClr>
              <a:buSzPct val="71000"/>
            </a:pPr>
            <a:r>
              <a:rPr lang="en-US" sz="2800" b="1" dirty="0">
                <a:solidFill>
                  <a:srgbClr val="222222"/>
                </a:solidFill>
                <a:latin typeface="arial" panose="020B0604020202020204" pitchFamily="34" charset="0"/>
              </a:rPr>
              <a:t>Consistency − </a:t>
            </a:r>
            <a:endParaRPr lang="en-US" sz="2800" b="1" dirty="0" smtClean="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Ø"/>
            </a:pPr>
            <a:r>
              <a:rPr lang="en-US" sz="2800" b="1" dirty="0" smtClean="0">
                <a:solidFill>
                  <a:srgbClr val="222222"/>
                </a:solidFill>
                <a:latin typeface="arial" panose="020B0604020202020204" pitchFamily="34" charset="0"/>
              </a:rPr>
              <a:t>Example:</a:t>
            </a:r>
            <a:endParaRPr lang="en-US" sz="2800" b="1" dirty="0">
              <a:solidFill>
                <a:srgbClr val="222222"/>
              </a:solidFill>
              <a:latin typeface="arial" panose="020B0604020202020204" pitchFamily="34" charset="0"/>
            </a:endParaRPr>
          </a:p>
        </p:txBody>
      </p:sp>
      <p:sp>
        <p:nvSpPr>
          <p:cNvPr id="8" name="Subtitle 2"/>
          <p:cNvSpPr txBox="1">
            <a:spLocks/>
          </p:cNvSpPr>
          <p:nvPr/>
        </p:nvSpPr>
        <p:spPr>
          <a:xfrm>
            <a:off x="1281567" y="3747752"/>
            <a:ext cx="8094254" cy="1751527"/>
          </a:xfrm>
          <a:prstGeom prst="rect">
            <a:avLst/>
          </a:prstGeom>
        </p:spPr>
        <p:txBody>
          <a:bodyPr vert="horz" lIns="91440" tIns="45720" rIns="91440" bIns="45720" rtlCol="0" anchor="t">
            <a:normAutofit/>
          </a:bodyPr>
          <a:lstStyle>
            <a:lvl1pPr marL="0" indent="0" algn="r" defTabSz="457189"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189" indent="0" algn="ctr" defTabSz="457189"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377" indent="0" algn="ctr" defTabSz="457189"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566"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754"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5943"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131"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320"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509"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Therefore, the database is consistent. In the case when </a:t>
            </a:r>
            <a:r>
              <a:rPr lang="en-US" sz="2800" dirty="0" err="1">
                <a:solidFill>
                  <a:srgbClr val="222222"/>
                </a:solidFill>
                <a:latin typeface="arial" panose="020B0604020202020204" pitchFamily="34" charset="0"/>
              </a:rPr>
              <a:t>T1</a:t>
            </a:r>
            <a:r>
              <a:rPr lang="en-US" sz="2800" dirty="0">
                <a:solidFill>
                  <a:srgbClr val="222222"/>
                </a:solidFill>
                <a:latin typeface="arial" panose="020B0604020202020204" pitchFamily="34" charset="0"/>
              </a:rPr>
              <a:t> is completed but </a:t>
            </a:r>
            <a:r>
              <a:rPr lang="en-US" sz="2800" dirty="0" err="1">
                <a:solidFill>
                  <a:srgbClr val="222222"/>
                </a:solidFill>
                <a:latin typeface="arial" panose="020B0604020202020204" pitchFamily="34" charset="0"/>
              </a:rPr>
              <a:t>T2</a:t>
            </a:r>
            <a:r>
              <a:rPr lang="en-US" sz="2800" dirty="0">
                <a:solidFill>
                  <a:srgbClr val="222222"/>
                </a:solidFill>
                <a:latin typeface="arial" panose="020B0604020202020204" pitchFamily="34" charset="0"/>
              </a:rPr>
              <a:t> fails, then inconsistency will occur.</a:t>
            </a:r>
            <a:endParaRPr lang="en-US" sz="2800" dirty="0">
              <a:solidFill>
                <a:schemeClr val="tx1"/>
              </a:solidFill>
            </a:endParaRPr>
          </a:p>
        </p:txBody>
      </p:sp>
      <p:sp>
        <p:nvSpPr>
          <p:cNvPr id="4" name="Rectangle 3"/>
          <p:cNvSpPr/>
          <p:nvPr/>
        </p:nvSpPr>
        <p:spPr>
          <a:xfrm>
            <a:off x="1966174" y="2294466"/>
            <a:ext cx="6379335" cy="646331"/>
          </a:xfrm>
          <a:prstGeom prst="rect">
            <a:avLst/>
          </a:prstGeom>
        </p:spPr>
        <p:txBody>
          <a:bodyPr wrap="square">
            <a:spAutoFit/>
          </a:bodyPr>
          <a:lstStyle/>
          <a:p>
            <a:pPr>
              <a:buFont typeface="+mj-lt"/>
              <a:buAutoNum type="arabicPeriod"/>
            </a:pPr>
            <a:r>
              <a:rPr lang="en-US" dirty="0">
                <a:solidFill>
                  <a:srgbClr val="000000"/>
                </a:solidFill>
                <a:latin typeface="verdana" panose="020B0604030504040204" pitchFamily="34" charset="0"/>
              </a:rPr>
              <a:t>Total before T occurs = </a:t>
            </a:r>
            <a:r>
              <a:rPr lang="en-US" dirty="0">
                <a:solidFill>
                  <a:srgbClr val="C00000"/>
                </a:solidFill>
                <a:latin typeface="verdana" panose="020B0604030504040204" pitchFamily="34" charset="0"/>
              </a:rPr>
              <a:t>600</a:t>
            </a:r>
            <a:r>
              <a:rPr lang="en-US" dirty="0">
                <a:solidFill>
                  <a:srgbClr val="000000"/>
                </a:solidFill>
                <a:latin typeface="verdana" panose="020B0604030504040204" pitchFamily="34" charset="0"/>
              </a:rPr>
              <a:t>+</a:t>
            </a:r>
            <a:r>
              <a:rPr lang="en-US" dirty="0">
                <a:solidFill>
                  <a:srgbClr val="C00000"/>
                </a:solidFill>
                <a:latin typeface="verdana" panose="020B0604030504040204" pitchFamily="34" charset="0"/>
              </a:rPr>
              <a:t>300</a:t>
            </a:r>
            <a:r>
              <a:rPr lang="en-US" dirty="0">
                <a:solidFill>
                  <a:srgbClr val="000000"/>
                </a:solidFill>
                <a:latin typeface="verdana" panose="020B0604030504040204" pitchFamily="34" charset="0"/>
              </a:rPr>
              <a:t>=</a:t>
            </a:r>
            <a:r>
              <a:rPr lang="en-US" dirty="0">
                <a:solidFill>
                  <a:srgbClr val="C00000"/>
                </a:solidFill>
                <a:latin typeface="verdana" panose="020B0604030504040204" pitchFamily="34" charset="0"/>
              </a:rPr>
              <a:t>900</a:t>
            </a:r>
            <a:r>
              <a:rPr lang="en-US" dirty="0">
                <a:solidFill>
                  <a:srgbClr val="000000"/>
                </a:solidFill>
                <a:latin typeface="verdana" panose="020B0604030504040204" pitchFamily="34" charset="0"/>
              </a:rPr>
              <a:t>  </a:t>
            </a:r>
          </a:p>
          <a:p>
            <a:pPr>
              <a:buFont typeface="+mj-lt"/>
              <a:buAutoNum type="arabicPeriod"/>
            </a:pPr>
            <a:r>
              <a:rPr lang="en-US" dirty="0">
                <a:solidFill>
                  <a:srgbClr val="000000"/>
                </a:solidFill>
                <a:latin typeface="verdana" panose="020B0604030504040204" pitchFamily="34" charset="0"/>
              </a:rPr>
              <a:t>Total after T occurs= </a:t>
            </a:r>
            <a:r>
              <a:rPr lang="en-US" dirty="0">
                <a:solidFill>
                  <a:srgbClr val="C00000"/>
                </a:solidFill>
                <a:latin typeface="verdana" panose="020B0604030504040204" pitchFamily="34" charset="0"/>
              </a:rPr>
              <a:t>500</a:t>
            </a:r>
            <a:r>
              <a:rPr lang="en-US" dirty="0">
                <a:solidFill>
                  <a:srgbClr val="000000"/>
                </a:solidFill>
                <a:latin typeface="verdana" panose="020B0604030504040204" pitchFamily="34" charset="0"/>
              </a:rPr>
              <a:t>+</a:t>
            </a:r>
            <a:r>
              <a:rPr lang="en-US" dirty="0">
                <a:solidFill>
                  <a:srgbClr val="C00000"/>
                </a:solidFill>
                <a:latin typeface="verdana" panose="020B0604030504040204" pitchFamily="34" charset="0"/>
              </a:rPr>
              <a:t>400</a:t>
            </a:r>
            <a:r>
              <a:rPr lang="en-US" dirty="0">
                <a:solidFill>
                  <a:srgbClr val="000000"/>
                </a:solidFill>
                <a:latin typeface="verdana" panose="020B0604030504040204" pitchFamily="34" charset="0"/>
              </a:rPr>
              <a:t>=</a:t>
            </a:r>
            <a:r>
              <a:rPr lang="en-US" dirty="0">
                <a:solidFill>
                  <a:srgbClr val="C00000"/>
                </a:solidFill>
                <a:latin typeface="verdana" panose="020B0604030504040204" pitchFamily="34" charset="0"/>
              </a:rPr>
              <a:t>900</a:t>
            </a:r>
            <a:r>
              <a:rPr lang="en-US" dirty="0">
                <a:solidFill>
                  <a:srgbClr val="000000"/>
                </a:solidFill>
                <a:latin typeface="verdana" panose="020B0604030504040204" pitchFamily="34" charset="0"/>
              </a:rPr>
              <a:t>  </a:t>
            </a:r>
            <a:endParaRPr lang="en-US" b="0" i="0" dirty="0">
              <a:solidFill>
                <a:srgbClr val="000000"/>
              </a:solidFill>
              <a:effectLst/>
              <a:latin typeface="verdana" panose="020B0604030504040204" pitchFamily="34" charset="0"/>
            </a:endParaRPr>
          </a:p>
        </p:txBody>
      </p:sp>
    </p:spTree>
    <p:extLst>
      <p:ext uri="{BB962C8B-B14F-4D97-AF65-F5344CB8AC3E}">
        <p14:creationId xmlns:p14="http://schemas.microsoft.com/office/powerpoint/2010/main" val="45497432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10.2 ACID Properties of Transaction</a:t>
            </a:r>
          </a:p>
        </p:txBody>
      </p:sp>
      <p:sp>
        <p:nvSpPr>
          <p:cNvPr id="3" name="Subtitle 2"/>
          <p:cNvSpPr>
            <a:spLocks noGrp="1"/>
          </p:cNvSpPr>
          <p:nvPr>
            <p:ph type="subTitle" idx="1"/>
          </p:nvPr>
        </p:nvSpPr>
        <p:spPr>
          <a:xfrm>
            <a:off x="1281567" y="1139687"/>
            <a:ext cx="8094254" cy="4990657"/>
          </a:xfrm>
        </p:spPr>
        <p:txBody>
          <a:bodyPr>
            <a:normAutofit lnSpcReduction="10000"/>
          </a:bodyPr>
          <a:lstStyle/>
          <a:p>
            <a:pPr algn="just">
              <a:buClr>
                <a:schemeClr val="tx1"/>
              </a:buClr>
              <a:buSzPct val="71000"/>
            </a:pPr>
            <a:r>
              <a:rPr lang="en-US" sz="2800" b="1" dirty="0" smtClean="0">
                <a:solidFill>
                  <a:srgbClr val="222222"/>
                </a:solidFill>
                <a:latin typeface="arial" panose="020B0604020202020204" pitchFamily="34" charset="0"/>
              </a:rPr>
              <a:t>Isolation− </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It shows that the data which is used at the time of execution of a transaction cannot be used by the second transaction until the first one is completed.</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In isolation, if the transaction </a:t>
            </a:r>
            <a:r>
              <a:rPr lang="en-US" sz="2800" dirty="0" err="1">
                <a:solidFill>
                  <a:srgbClr val="222222"/>
                </a:solidFill>
                <a:latin typeface="arial" panose="020B0604020202020204" pitchFamily="34" charset="0"/>
              </a:rPr>
              <a:t>T1</a:t>
            </a:r>
            <a:r>
              <a:rPr lang="en-US" sz="2800" dirty="0">
                <a:solidFill>
                  <a:srgbClr val="222222"/>
                </a:solidFill>
                <a:latin typeface="arial" panose="020B0604020202020204" pitchFamily="34" charset="0"/>
              </a:rPr>
              <a:t> is being executed and using the data item X, then that data item can't be accessed by any other transaction </a:t>
            </a:r>
            <a:r>
              <a:rPr lang="en-US" sz="2800" dirty="0" err="1">
                <a:solidFill>
                  <a:srgbClr val="222222"/>
                </a:solidFill>
                <a:latin typeface="arial" panose="020B0604020202020204" pitchFamily="34" charset="0"/>
              </a:rPr>
              <a:t>T2</a:t>
            </a:r>
            <a:r>
              <a:rPr lang="en-US" sz="2800" dirty="0">
                <a:solidFill>
                  <a:srgbClr val="222222"/>
                </a:solidFill>
                <a:latin typeface="arial" panose="020B0604020202020204" pitchFamily="34" charset="0"/>
              </a:rPr>
              <a:t> until the transaction </a:t>
            </a:r>
            <a:r>
              <a:rPr lang="en-US" sz="2800" dirty="0" err="1">
                <a:solidFill>
                  <a:srgbClr val="222222"/>
                </a:solidFill>
                <a:latin typeface="arial" panose="020B0604020202020204" pitchFamily="34" charset="0"/>
              </a:rPr>
              <a:t>T1</a:t>
            </a:r>
            <a:r>
              <a:rPr lang="en-US" sz="2800" dirty="0">
                <a:solidFill>
                  <a:srgbClr val="222222"/>
                </a:solidFill>
                <a:latin typeface="arial" panose="020B0604020202020204" pitchFamily="34" charset="0"/>
              </a:rPr>
              <a:t> ends.</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The concurrency control subsystem of the DBMS enforced the isolation property.</a:t>
            </a:r>
            <a:endParaRPr lang="en-US" sz="2800" b="1" dirty="0">
              <a:solidFill>
                <a:srgbClr val="222222"/>
              </a:solidFill>
              <a:latin typeface="arial" panose="020B0604020202020204" pitchFamily="34" charset="0"/>
            </a:endParaRPr>
          </a:p>
        </p:txBody>
      </p:sp>
    </p:spTree>
    <p:extLst>
      <p:ext uri="{BB962C8B-B14F-4D97-AF65-F5344CB8AC3E}">
        <p14:creationId xmlns:p14="http://schemas.microsoft.com/office/powerpoint/2010/main" val="150893514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10.2 ACID Properties of Transaction</a:t>
            </a:r>
          </a:p>
        </p:txBody>
      </p:sp>
      <p:sp>
        <p:nvSpPr>
          <p:cNvPr id="3" name="Subtitle 2"/>
          <p:cNvSpPr>
            <a:spLocks noGrp="1"/>
          </p:cNvSpPr>
          <p:nvPr>
            <p:ph type="subTitle" idx="1"/>
          </p:nvPr>
        </p:nvSpPr>
        <p:spPr>
          <a:xfrm>
            <a:off x="1281567" y="1139687"/>
            <a:ext cx="8094254" cy="4990657"/>
          </a:xfrm>
        </p:spPr>
        <p:txBody>
          <a:bodyPr>
            <a:normAutofit fontScale="92500" lnSpcReduction="20000"/>
          </a:bodyPr>
          <a:lstStyle/>
          <a:p>
            <a:pPr algn="just">
              <a:buClr>
                <a:schemeClr val="tx1"/>
              </a:buClr>
              <a:buSzPct val="71000"/>
            </a:pPr>
            <a:r>
              <a:rPr lang="en-US" sz="2800" b="1" dirty="0">
                <a:solidFill>
                  <a:srgbClr val="222222"/>
                </a:solidFill>
                <a:latin typeface="arial" panose="020B0604020202020204" pitchFamily="34" charset="0"/>
              </a:rPr>
              <a:t>Durability </a:t>
            </a:r>
            <a:r>
              <a:rPr lang="en-US" sz="2800" b="1" dirty="0" smtClean="0">
                <a:solidFill>
                  <a:srgbClr val="222222"/>
                </a:solidFill>
                <a:latin typeface="arial" panose="020B0604020202020204" pitchFamily="34" charset="0"/>
              </a:rPr>
              <a:t>− </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The durability property is used to indicate the performance of the database's consistent state. It states that the transaction made the permanent changes.</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They cannot be lost by the erroneous operation of a faulty transaction or by the system failure. When a transaction is completed, then the database reaches a state known as the consistent state. That consistent state cannot be lost, even in the event of a system's failure.</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The recovery subsystem of the DBMS has the responsibility of Durability property.</a:t>
            </a:r>
            <a:endParaRPr lang="en-US" sz="2800" b="1" dirty="0">
              <a:solidFill>
                <a:srgbClr val="222222"/>
              </a:solidFill>
              <a:latin typeface="arial" panose="020B0604020202020204" pitchFamily="34" charset="0"/>
            </a:endParaRPr>
          </a:p>
        </p:txBody>
      </p:sp>
    </p:spTree>
    <p:extLst>
      <p:ext uri="{BB962C8B-B14F-4D97-AF65-F5344CB8AC3E}">
        <p14:creationId xmlns:p14="http://schemas.microsoft.com/office/powerpoint/2010/main" val="429031669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10.3 Schedule</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fontScale="92500" lnSpcReduction="10000"/>
          </a:bodyPr>
          <a:lstStyle/>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Schedule is the sequence of instructions that specify chronological order in which instructions of concurred transactions are executed.</a:t>
            </a: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It </a:t>
            </a:r>
            <a:r>
              <a:rPr lang="en-US" sz="2800" dirty="0">
                <a:solidFill>
                  <a:srgbClr val="222222"/>
                </a:solidFill>
                <a:latin typeface="arial" panose="020B0604020202020204" pitchFamily="34" charset="0"/>
              </a:rPr>
              <a:t>must preserve the consistency of the database</a:t>
            </a:r>
            <a:r>
              <a:rPr lang="en-US" sz="2800" dirty="0" smtClean="0">
                <a:solidFill>
                  <a:srgbClr val="222222"/>
                </a:solidFill>
                <a:latin typeface="arial" panose="020B0604020202020204" pitchFamily="34" charset="0"/>
              </a:rPr>
              <a:t>.</a:t>
            </a:r>
          </a:p>
          <a:p>
            <a:pPr marL="457200" indent="-457200" algn="just">
              <a:buClr>
                <a:schemeClr val="tx1"/>
              </a:buClr>
              <a:buSzPct val="71000"/>
              <a:buFont typeface="Wingdings" panose="05000000000000000000" pitchFamily="2" charset="2"/>
              <a:buChar char="v"/>
            </a:pPr>
            <a:r>
              <a:rPr lang="en-US" sz="2800" dirty="0" smtClean="0">
                <a:solidFill>
                  <a:schemeClr val="tx1"/>
                </a:solidFill>
              </a:rPr>
              <a:t>Schedule is </a:t>
            </a:r>
            <a:r>
              <a:rPr lang="en-US" sz="2800" dirty="0">
                <a:solidFill>
                  <a:schemeClr val="tx1"/>
                </a:solidFill>
              </a:rPr>
              <a:t>a process of lining the transactions and executing them one by one. </a:t>
            </a:r>
            <a:endParaRPr lang="en-US" sz="2800" dirty="0" smtClean="0">
              <a:solidFill>
                <a:schemeClr val="tx1"/>
              </a:solidFill>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rPr>
              <a:t>When </a:t>
            </a:r>
            <a:r>
              <a:rPr lang="en-US" sz="2800" dirty="0">
                <a:solidFill>
                  <a:schemeClr val="tx1"/>
                </a:solidFill>
              </a:rPr>
              <a:t>there are multiple transactions that are running in a concurrent manner and the order of operation is needed to be set so that the operations do not overlap each other, Scheduling is brought into play and the transactions are timed accordingly.</a:t>
            </a:r>
          </a:p>
        </p:txBody>
      </p:sp>
    </p:spTree>
    <p:extLst>
      <p:ext uri="{BB962C8B-B14F-4D97-AF65-F5344CB8AC3E}">
        <p14:creationId xmlns:p14="http://schemas.microsoft.com/office/powerpoint/2010/main" val="140370287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10.3.1 Type of Schedule</a:t>
            </a:r>
            <a:endParaRPr lang="en-US" sz="2800" dirty="0">
              <a:solidFill>
                <a:schemeClr val="bg1"/>
              </a:solidFill>
            </a:endParaRPr>
          </a:p>
        </p:txBody>
      </p:sp>
      <p:pic>
        <p:nvPicPr>
          <p:cNvPr id="1028" name="Picture 4" descr="DBMS Schedu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41952" y="1393265"/>
            <a:ext cx="5949658" cy="36552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966722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10.3.1 Type of Schedule</a:t>
            </a: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r>
              <a:rPr lang="en-US" sz="2800" b="1" dirty="0" smtClean="0">
                <a:solidFill>
                  <a:srgbClr val="222222"/>
                </a:solidFill>
                <a:latin typeface="arial" panose="020B0604020202020204" pitchFamily="34" charset="0"/>
              </a:rPr>
              <a:t>1. Serial Schedule </a:t>
            </a:r>
          </a:p>
          <a:p>
            <a:pPr marL="514350" indent="-51435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Schedules in which the transactions are executed non-interleaved, </a:t>
            </a:r>
            <a:endParaRPr lang="en-US" sz="2800" dirty="0" smtClean="0">
              <a:solidFill>
                <a:srgbClr val="222222"/>
              </a:solidFill>
              <a:latin typeface="arial" panose="020B0604020202020204" pitchFamily="34" charset="0"/>
            </a:endParaRPr>
          </a:p>
          <a:p>
            <a:pPr marL="514350" indent="-51435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i.e</a:t>
            </a:r>
            <a:r>
              <a:rPr lang="en-US" sz="2800" dirty="0">
                <a:solidFill>
                  <a:srgbClr val="222222"/>
                </a:solidFill>
                <a:latin typeface="arial" panose="020B0604020202020204" pitchFamily="34" charset="0"/>
              </a:rPr>
              <a:t>., a serial schedule is one in which no transaction starts until a running transaction has ended are called serial schedules</a:t>
            </a:r>
            <a:r>
              <a:rPr lang="en-US" sz="2800" dirty="0" smtClean="0">
                <a:solidFill>
                  <a:srgbClr val="222222"/>
                </a:solidFill>
                <a:latin typeface="arial" panose="020B0604020202020204" pitchFamily="34" charset="0"/>
              </a:rPr>
              <a:t>.</a:t>
            </a:r>
          </a:p>
          <a:p>
            <a:pPr marL="514350" indent="-51435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Always ensure  a consistent state.</a:t>
            </a:r>
            <a:endParaRPr lang="en-US" sz="2800" dirty="0">
              <a:solidFill>
                <a:schemeClr val="tx1"/>
              </a:solidFill>
            </a:endParaRPr>
          </a:p>
        </p:txBody>
      </p:sp>
    </p:spTree>
    <p:extLst>
      <p:ext uri="{BB962C8B-B14F-4D97-AF65-F5344CB8AC3E}">
        <p14:creationId xmlns:p14="http://schemas.microsoft.com/office/powerpoint/2010/main" val="20906125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10.3.1 Type of Schedule</a:t>
            </a:r>
          </a:p>
        </p:txBody>
      </p:sp>
      <p:sp>
        <p:nvSpPr>
          <p:cNvPr id="3" name="Subtitle 2"/>
          <p:cNvSpPr>
            <a:spLocks noGrp="1"/>
          </p:cNvSpPr>
          <p:nvPr>
            <p:ph type="subTitle" idx="1"/>
          </p:nvPr>
        </p:nvSpPr>
        <p:spPr>
          <a:xfrm>
            <a:off x="1281567" y="1139688"/>
            <a:ext cx="8094254" cy="611840"/>
          </a:xfrm>
        </p:spPr>
        <p:txBody>
          <a:bodyPr>
            <a:normAutofit/>
          </a:bodyPr>
          <a:lstStyle/>
          <a:p>
            <a:pPr algn="just">
              <a:buClr>
                <a:schemeClr val="tx1"/>
              </a:buClr>
              <a:buSzPct val="71000"/>
            </a:pPr>
            <a:r>
              <a:rPr lang="en-US" sz="2800" b="1" dirty="0" smtClean="0">
                <a:solidFill>
                  <a:srgbClr val="222222"/>
                </a:solidFill>
                <a:latin typeface="arial" panose="020B0604020202020204" pitchFamily="34" charset="0"/>
              </a:rPr>
              <a:t>1. Serial Schedule </a:t>
            </a:r>
          </a:p>
        </p:txBody>
      </p:sp>
      <p:sp>
        <p:nvSpPr>
          <p:cNvPr id="6" name="Rectangle 5"/>
          <p:cNvSpPr/>
          <p:nvPr/>
        </p:nvSpPr>
        <p:spPr>
          <a:xfrm>
            <a:off x="1837385" y="5668731"/>
            <a:ext cx="6096000" cy="646331"/>
          </a:xfrm>
          <a:prstGeom prst="rect">
            <a:avLst/>
          </a:prstGeom>
        </p:spPr>
        <p:txBody>
          <a:bodyPr>
            <a:spAutoFit/>
          </a:bodyPr>
          <a:lstStyle/>
          <a:p>
            <a:r>
              <a:rPr lang="en-US" dirty="0">
                <a:solidFill>
                  <a:srgbClr val="40424E"/>
                </a:solidFill>
                <a:latin typeface="urw-din"/>
              </a:rPr>
              <a:t>This is a serial schedule since the transactions perform serially in the order </a:t>
            </a:r>
            <a:r>
              <a:rPr lang="en-US" dirty="0" err="1">
                <a:solidFill>
                  <a:srgbClr val="40424E"/>
                </a:solidFill>
                <a:latin typeface="urw-din"/>
              </a:rPr>
              <a:t>T</a:t>
            </a:r>
            <a:r>
              <a:rPr lang="en-US" baseline="-25000" dirty="0" err="1">
                <a:solidFill>
                  <a:srgbClr val="40424E"/>
                </a:solidFill>
                <a:latin typeface="urw-din"/>
              </a:rPr>
              <a:t>1</a:t>
            </a:r>
            <a:r>
              <a:rPr lang="en-US" dirty="0">
                <a:solidFill>
                  <a:srgbClr val="40424E"/>
                </a:solidFill>
                <a:latin typeface="urw-din"/>
              </a:rPr>
              <a:t> —&gt; </a:t>
            </a:r>
            <a:r>
              <a:rPr lang="en-US" dirty="0" err="1">
                <a:solidFill>
                  <a:srgbClr val="40424E"/>
                </a:solidFill>
                <a:latin typeface="urw-din"/>
              </a:rPr>
              <a:t>T</a:t>
            </a:r>
            <a:r>
              <a:rPr lang="en-US" baseline="-25000" dirty="0" err="1">
                <a:solidFill>
                  <a:srgbClr val="40424E"/>
                </a:solidFill>
                <a:latin typeface="urw-din"/>
              </a:rPr>
              <a:t>2</a:t>
            </a:r>
            <a:endParaRPr lang="en-US" dirty="0"/>
          </a:p>
        </p:txBody>
      </p:sp>
      <p:pic>
        <p:nvPicPr>
          <p:cNvPr id="2052" name="Picture 4" descr="DBMS Schedu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7536" y="1751528"/>
            <a:ext cx="6005849" cy="37618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570462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10.3.1 Type of Schedule</a:t>
            </a:r>
          </a:p>
        </p:txBody>
      </p:sp>
      <p:sp>
        <p:nvSpPr>
          <p:cNvPr id="3" name="Subtitle 2"/>
          <p:cNvSpPr>
            <a:spLocks noGrp="1"/>
          </p:cNvSpPr>
          <p:nvPr>
            <p:ph type="subTitle" idx="1"/>
          </p:nvPr>
        </p:nvSpPr>
        <p:spPr>
          <a:xfrm>
            <a:off x="1281567" y="1139688"/>
            <a:ext cx="8094254" cy="611840"/>
          </a:xfrm>
        </p:spPr>
        <p:txBody>
          <a:bodyPr>
            <a:normAutofit/>
          </a:bodyPr>
          <a:lstStyle/>
          <a:p>
            <a:pPr algn="just">
              <a:buClr>
                <a:schemeClr val="tx1"/>
              </a:buClr>
              <a:buSzPct val="71000"/>
            </a:pPr>
            <a:r>
              <a:rPr lang="en-US" sz="2800" b="1" dirty="0" smtClean="0">
                <a:solidFill>
                  <a:srgbClr val="222222"/>
                </a:solidFill>
                <a:latin typeface="arial" panose="020B0604020202020204" pitchFamily="34" charset="0"/>
              </a:rPr>
              <a:t>1. Serial Schedule </a:t>
            </a:r>
          </a:p>
        </p:txBody>
      </p:sp>
      <p:sp>
        <p:nvSpPr>
          <p:cNvPr id="6" name="Rectangle 5"/>
          <p:cNvSpPr/>
          <p:nvPr/>
        </p:nvSpPr>
        <p:spPr>
          <a:xfrm>
            <a:off x="1837385" y="5668731"/>
            <a:ext cx="6096000" cy="646331"/>
          </a:xfrm>
          <a:prstGeom prst="rect">
            <a:avLst/>
          </a:prstGeom>
        </p:spPr>
        <p:txBody>
          <a:bodyPr>
            <a:spAutoFit/>
          </a:bodyPr>
          <a:lstStyle/>
          <a:p>
            <a:r>
              <a:rPr lang="en-US" dirty="0">
                <a:solidFill>
                  <a:srgbClr val="40424E"/>
                </a:solidFill>
                <a:latin typeface="urw-din"/>
              </a:rPr>
              <a:t>This is a serial schedule since the transactions perform serially in the order </a:t>
            </a:r>
            <a:r>
              <a:rPr lang="en-US" dirty="0" err="1" smtClean="0">
                <a:solidFill>
                  <a:srgbClr val="40424E"/>
                </a:solidFill>
                <a:latin typeface="urw-din"/>
              </a:rPr>
              <a:t>T</a:t>
            </a:r>
            <a:r>
              <a:rPr lang="en-US" baseline="-25000" dirty="0" err="1" smtClean="0">
                <a:solidFill>
                  <a:srgbClr val="40424E"/>
                </a:solidFill>
                <a:latin typeface="urw-din"/>
              </a:rPr>
              <a:t>2</a:t>
            </a:r>
            <a:r>
              <a:rPr lang="en-US" dirty="0">
                <a:solidFill>
                  <a:srgbClr val="40424E"/>
                </a:solidFill>
                <a:latin typeface="urw-din"/>
              </a:rPr>
              <a:t> —&gt; </a:t>
            </a:r>
            <a:r>
              <a:rPr lang="en-US" dirty="0" err="1" smtClean="0">
                <a:solidFill>
                  <a:srgbClr val="40424E"/>
                </a:solidFill>
                <a:latin typeface="urw-din"/>
              </a:rPr>
              <a:t>T</a:t>
            </a:r>
            <a:r>
              <a:rPr lang="en-US" baseline="-25000" dirty="0" err="1" smtClean="0">
                <a:solidFill>
                  <a:srgbClr val="40424E"/>
                </a:solidFill>
                <a:latin typeface="urw-din"/>
              </a:rPr>
              <a:t>1</a:t>
            </a:r>
            <a:endParaRPr lang="en-US" dirty="0"/>
          </a:p>
        </p:txBody>
      </p:sp>
      <p:pic>
        <p:nvPicPr>
          <p:cNvPr id="2056" name="Picture 8" descr="DBMS Schedu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9555" y="1653750"/>
            <a:ext cx="7302321" cy="39228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48273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10.3.1 Type of Schedule</a:t>
            </a: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r>
              <a:rPr lang="en-US" sz="2800" b="1" dirty="0" smtClean="0">
                <a:solidFill>
                  <a:srgbClr val="222222"/>
                </a:solidFill>
                <a:latin typeface="arial" panose="020B0604020202020204" pitchFamily="34" charset="0"/>
              </a:rPr>
              <a:t>2. Non- Serial Schedule </a:t>
            </a:r>
          </a:p>
          <a:p>
            <a:pPr marL="514350" indent="-51435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This is a type of Scheduling where the operations of multiple transactions are interleaved. </a:t>
            </a:r>
            <a:endParaRPr lang="en-US" sz="2800" dirty="0" smtClean="0">
              <a:solidFill>
                <a:srgbClr val="222222"/>
              </a:solidFill>
              <a:latin typeface="arial" panose="020B0604020202020204" pitchFamily="34" charset="0"/>
            </a:endParaRPr>
          </a:p>
          <a:p>
            <a:pPr marL="514350" indent="-51435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This </a:t>
            </a:r>
            <a:r>
              <a:rPr lang="en-US" sz="2800" dirty="0">
                <a:solidFill>
                  <a:srgbClr val="222222"/>
                </a:solidFill>
                <a:latin typeface="arial" panose="020B0604020202020204" pitchFamily="34" charset="0"/>
              </a:rPr>
              <a:t>might lead to a rise in the concurrency problem. </a:t>
            </a:r>
            <a:endParaRPr lang="en-US" sz="2800" dirty="0" smtClean="0">
              <a:solidFill>
                <a:srgbClr val="222222"/>
              </a:solidFill>
              <a:latin typeface="arial" panose="020B0604020202020204" pitchFamily="34" charset="0"/>
            </a:endParaRPr>
          </a:p>
          <a:p>
            <a:pPr marL="514350" indent="-51435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It </a:t>
            </a:r>
            <a:r>
              <a:rPr lang="en-US" sz="2800" dirty="0">
                <a:solidFill>
                  <a:srgbClr val="222222"/>
                </a:solidFill>
                <a:latin typeface="arial" panose="020B0604020202020204" pitchFamily="34" charset="0"/>
              </a:rPr>
              <a:t>contains many possible orders in which the system can execute the individual operations of the transactions.</a:t>
            </a:r>
            <a:endParaRPr lang="en-US" sz="2800" dirty="0" smtClean="0">
              <a:solidFill>
                <a:srgbClr val="222222"/>
              </a:solidFill>
              <a:latin typeface="arial" panose="020B0604020202020204" pitchFamily="34" charset="0"/>
            </a:endParaRPr>
          </a:p>
        </p:txBody>
      </p:sp>
    </p:spTree>
    <p:extLst>
      <p:ext uri="{BB962C8B-B14F-4D97-AF65-F5344CB8AC3E}">
        <p14:creationId xmlns:p14="http://schemas.microsoft.com/office/powerpoint/2010/main" val="427905923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10.3.1 Type of Schedule</a:t>
            </a:r>
          </a:p>
        </p:txBody>
      </p:sp>
      <p:sp>
        <p:nvSpPr>
          <p:cNvPr id="3" name="Subtitle 2"/>
          <p:cNvSpPr>
            <a:spLocks noGrp="1"/>
          </p:cNvSpPr>
          <p:nvPr>
            <p:ph type="subTitle" idx="1"/>
          </p:nvPr>
        </p:nvSpPr>
        <p:spPr>
          <a:xfrm>
            <a:off x="1281567" y="1139688"/>
            <a:ext cx="8094254" cy="560324"/>
          </a:xfrm>
        </p:spPr>
        <p:txBody>
          <a:bodyPr>
            <a:normAutofit/>
          </a:bodyPr>
          <a:lstStyle/>
          <a:p>
            <a:pPr algn="just">
              <a:buClr>
                <a:schemeClr val="tx1"/>
              </a:buClr>
              <a:buSzPct val="71000"/>
            </a:pPr>
            <a:r>
              <a:rPr lang="en-US" sz="2800" b="1" dirty="0" smtClean="0">
                <a:solidFill>
                  <a:srgbClr val="222222"/>
                </a:solidFill>
                <a:latin typeface="arial" panose="020B0604020202020204" pitchFamily="34" charset="0"/>
              </a:rPr>
              <a:t>2. Non- Serial Schedule </a:t>
            </a:r>
          </a:p>
        </p:txBody>
      </p:sp>
      <p:pic>
        <p:nvPicPr>
          <p:cNvPr id="4098" name="Picture 2" descr="DBMS Schedu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25769" y="1975184"/>
            <a:ext cx="6555346" cy="40778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810302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10.3.1 Type of Schedule</a:t>
            </a:r>
          </a:p>
        </p:txBody>
      </p:sp>
      <p:sp>
        <p:nvSpPr>
          <p:cNvPr id="3" name="Subtitle 2"/>
          <p:cNvSpPr>
            <a:spLocks noGrp="1"/>
          </p:cNvSpPr>
          <p:nvPr>
            <p:ph type="subTitle" idx="1"/>
          </p:nvPr>
        </p:nvSpPr>
        <p:spPr>
          <a:xfrm>
            <a:off x="1281567" y="1139688"/>
            <a:ext cx="8094254" cy="560324"/>
          </a:xfrm>
        </p:spPr>
        <p:txBody>
          <a:bodyPr>
            <a:normAutofit/>
          </a:bodyPr>
          <a:lstStyle/>
          <a:p>
            <a:pPr algn="just">
              <a:buClr>
                <a:schemeClr val="tx1"/>
              </a:buClr>
              <a:buSzPct val="71000"/>
            </a:pPr>
            <a:r>
              <a:rPr lang="en-US" sz="2800" b="1" dirty="0" smtClean="0">
                <a:solidFill>
                  <a:srgbClr val="222222"/>
                </a:solidFill>
                <a:latin typeface="arial" panose="020B0604020202020204" pitchFamily="34" charset="0"/>
              </a:rPr>
              <a:t>2. Non- Serial Schedule </a:t>
            </a:r>
          </a:p>
        </p:txBody>
      </p:sp>
      <p:pic>
        <p:nvPicPr>
          <p:cNvPr id="5122" name="Picture 2" descr="DBMS Schedu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5617" y="1834775"/>
            <a:ext cx="6800045" cy="43857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143811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10.3.1 Type of Schedule</a:t>
            </a:r>
          </a:p>
        </p:txBody>
      </p:sp>
      <p:sp>
        <p:nvSpPr>
          <p:cNvPr id="3" name="Subtitle 2"/>
          <p:cNvSpPr>
            <a:spLocks noGrp="1"/>
          </p:cNvSpPr>
          <p:nvPr>
            <p:ph type="subTitle" idx="1"/>
          </p:nvPr>
        </p:nvSpPr>
        <p:spPr>
          <a:xfrm>
            <a:off x="1281567" y="1139687"/>
            <a:ext cx="8094254" cy="4990657"/>
          </a:xfrm>
        </p:spPr>
        <p:txBody>
          <a:bodyPr>
            <a:normAutofit lnSpcReduction="10000"/>
          </a:bodyPr>
          <a:lstStyle/>
          <a:p>
            <a:pPr algn="just">
              <a:buClr>
                <a:schemeClr val="tx1"/>
              </a:buClr>
              <a:buSzPct val="71000"/>
            </a:pPr>
            <a:r>
              <a:rPr lang="en-US" sz="2800" b="1" dirty="0" smtClean="0">
                <a:solidFill>
                  <a:srgbClr val="222222"/>
                </a:solidFill>
                <a:latin typeface="arial" panose="020B0604020202020204" pitchFamily="34" charset="0"/>
              </a:rPr>
              <a:t>3</a:t>
            </a:r>
            <a:r>
              <a:rPr lang="en-US" sz="2800" b="1" dirty="0">
                <a:solidFill>
                  <a:srgbClr val="222222"/>
                </a:solidFill>
                <a:latin typeface="arial" panose="020B0604020202020204" pitchFamily="34" charset="0"/>
              </a:rPr>
              <a:t>. Serializable </a:t>
            </a:r>
            <a:r>
              <a:rPr lang="en-US" sz="2800" b="1" dirty="0" smtClean="0">
                <a:solidFill>
                  <a:srgbClr val="222222"/>
                </a:solidFill>
                <a:latin typeface="arial" panose="020B0604020202020204" pitchFamily="34" charset="0"/>
              </a:rPr>
              <a:t>schedule</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The </a:t>
            </a:r>
            <a:r>
              <a:rPr lang="en-US" sz="2800" b="1" dirty="0" err="1">
                <a:solidFill>
                  <a:srgbClr val="222222"/>
                </a:solidFill>
                <a:latin typeface="arial" panose="020B0604020202020204" pitchFamily="34" charset="0"/>
              </a:rPr>
              <a:t>serializability</a:t>
            </a:r>
            <a:r>
              <a:rPr lang="en-US" sz="2800" dirty="0">
                <a:solidFill>
                  <a:srgbClr val="222222"/>
                </a:solidFill>
                <a:latin typeface="arial" panose="020B0604020202020204" pitchFamily="34" charset="0"/>
              </a:rPr>
              <a:t> of schedules is used to find non-serial schedules that allow the transaction to execute concurrently without interfering with one another.</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It identifies which schedules are correct when executions of the transaction have interleaving of their operations.</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A non-serial schedule will be serializable if its result is equal to the result of its transactions executed serially.</a:t>
            </a:r>
            <a:endParaRPr lang="en-US" sz="2800" dirty="0" smtClean="0">
              <a:solidFill>
                <a:srgbClr val="222222"/>
              </a:solidFill>
              <a:latin typeface="arial" panose="020B0604020202020204" pitchFamily="34" charset="0"/>
            </a:endParaRPr>
          </a:p>
        </p:txBody>
      </p:sp>
    </p:spTree>
    <p:extLst>
      <p:ext uri="{BB962C8B-B14F-4D97-AF65-F5344CB8AC3E}">
        <p14:creationId xmlns:p14="http://schemas.microsoft.com/office/powerpoint/2010/main" val="414191776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10.3.1 Type of Schedule</a:t>
            </a: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r>
              <a:rPr lang="en-US" sz="2800" b="1" dirty="0" smtClean="0">
                <a:solidFill>
                  <a:srgbClr val="222222"/>
                </a:solidFill>
                <a:latin typeface="arial" panose="020B0604020202020204" pitchFamily="34" charset="0"/>
              </a:rPr>
              <a:t>Other schedules are :</a:t>
            </a: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Recoverable Schedule</a:t>
            </a: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Cascading Schedule</a:t>
            </a:r>
          </a:p>
          <a:p>
            <a:pPr marL="457200" indent="-457200" algn="just">
              <a:buClr>
                <a:schemeClr val="tx1"/>
              </a:buClr>
              <a:buSzPct val="71000"/>
              <a:buFont typeface="Wingdings" panose="05000000000000000000" pitchFamily="2" charset="2"/>
              <a:buChar char="v"/>
            </a:pPr>
            <a:r>
              <a:rPr lang="en-US" sz="2800" dirty="0" err="1" smtClean="0">
                <a:solidFill>
                  <a:srgbClr val="222222"/>
                </a:solidFill>
                <a:latin typeface="arial" panose="020B0604020202020204" pitchFamily="34" charset="0"/>
              </a:rPr>
              <a:t>Cascadeless</a:t>
            </a:r>
            <a:r>
              <a:rPr lang="en-US" sz="2800" dirty="0" smtClean="0">
                <a:solidFill>
                  <a:srgbClr val="222222"/>
                </a:solidFill>
                <a:latin typeface="arial" panose="020B0604020202020204" pitchFamily="34" charset="0"/>
              </a:rPr>
              <a:t> Schedule</a:t>
            </a: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Strict Schedule</a:t>
            </a: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Non - </a:t>
            </a:r>
            <a:r>
              <a:rPr lang="en-US" sz="2800" dirty="0">
                <a:solidFill>
                  <a:srgbClr val="222222"/>
                </a:solidFill>
                <a:latin typeface="arial" panose="020B0604020202020204" pitchFamily="34" charset="0"/>
              </a:rPr>
              <a:t>Recoverable Schedule</a:t>
            </a:r>
          </a:p>
          <a:p>
            <a:pPr algn="just">
              <a:buClr>
                <a:schemeClr val="tx1"/>
              </a:buClr>
              <a:buSzPct val="71000"/>
            </a:pPr>
            <a:endParaRPr lang="en-US" sz="2800" dirty="0" smtClean="0">
              <a:solidFill>
                <a:srgbClr val="222222"/>
              </a:solidFill>
              <a:latin typeface="arial" panose="020B0604020202020204" pitchFamily="34" charset="0"/>
            </a:endParaRPr>
          </a:p>
        </p:txBody>
      </p:sp>
    </p:spTree>
    <p:extLst>
      <p:ext uri="{BB962C8B-B14F-4D97-AF65-F5344CB8AC3E}">
        <p14:creationId xmlns:p14="http://schemas.microsoft.com/office/powerpoint/2010/main" val="228824333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10.3.1 Type of Schedule</a:t>
            </a: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r>
              <a:rPr lang="en-US" sz="2800" b="1" dirty="0" smtClean="0">
                <a:solidFill>
                  <a:srgbClr val="222222"/>
                </a:solidFill>
                <a:latin typeface="arial" panose="020B0604020202020204" pitchFamily="34" charset="0"/>
              </a:rPr>
              <a:t>Other schedules are :</a:t>
            </a:r>
          </a:p>
          <a:p>
            <a:pPr algn="just">
              <a:buClr>
                <a:schemeClr val="tx1"/>
              </a:buClr>
              <a:buSzPct val="71000"/>
            </a:pPr>
            <a:r>
              <a:rPr lang="en-US" sz="2800" b="1" dirty="0" smtClean="0">
                <a:solidFill>
                  <a:srgbClr val="222222"/>
                </a:solidFill>
                <a:latin typeface="arial" panose="020B0604020202020204" pitchFamily="34" charset="0"/>
              </a:rPr>
              <a:t>a. Recoverable Schedule</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Schedules in which transactions commit only after all transactions whose changes they read commit are called recoverable schedules. </a:t>
            </a:r>
            <a:endParaRPr lang="en-US" sz="2800" dirty="0" smtClean="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In </a:t>
            </a:r>
            <a:r>
              <a:rPr lang="en-US" sz="2800" dirty="0">
                <a:solidFill>
                  <a:srgbClr val="222222"/>
                </a:solidFill>
                <a:latin typeface="arial" panose="020B0604020202020204" pitchFamily="34" charset="0"/>
              </a:rPr>
              <a:t>other words, if some transaction </a:t>
            </a:r>
            <a:r>
              <a:rPr lang="en-US" sz="2800" dirty="0" err="1">
                <a:solidFill>
                  <a:srgbClr val="222222"/>
                </a:solidFill>
                <a:latin typeface="arial" panose="020B0604020202020204" pitchFamily="34" charset="0"/>
              </a:rPr>
              <a:t>Tj</a:t>
            </a:r>
            <a:r>
              <a:rPr lang="en-US" sz="2800" dirty="0">
                <a:solidFill>
                  <a:srgbClr val="222222"/>
                </a:solidFill>
                <a:latin typeface="arial" panose="020B0604020202020204" pitchFamily="34" charset="0"/>
              </a:rPr>
              <a:t> is reading value updated or written by some other transaction </a:t>
            </a:r>
            <a:r>
              <a:rPr lang="en-US" sz="2800" dirty="0" err="1">
                <a:solidFill>
                  <a:srgbClr val="222222"/>
                </a:solidFill>
                <a:latin typeface="arial" panose="020B0604020202020204" pitchFamily="34" charset="0"/>
              </a:rPr>
              <a:t>Ti</a:t>
            </a:r>
            <a:r>
              <a:rPr lang="en-US" sz="2800" dirty="0">
                <a:solidFill>
                  <a:srgbClr val="222222"/>
                </a:solidFill>
                <a:latin typeface="arial" panose="020B0604020202020204" pitchFamily="34" charset="0"/>
              </a:rPr>
              <a:t>, then the commit of </a:t>
            </a:r>
            <a:r>
              <a:rPr lang="en-US" sz="2800" dirty="0" err="1">
                <a:solidFill>
                  <a:srgbClr val="222222"/>
                </a:solidFill>
                <a:latin typeface="arial" panose="020B0604020202020204" pitchFamily="34" charset="0"/>
              </a:rPr>
              <a:t>Tj</a:t>
            </a:r>
            <a:r>
              <a:rPr lang="en-US" sz="2800" dirty="0">
                <a:solidFill>
                  <a:srgbClr val="222222"/>
                </a:solidFill>
                <a:latin typeface="arial" panose="020B0604020202020204" pitchFamily="34" charset="0"/>
              </a:rPr>
              <a:t> must occur after the commit of </a:t>
            </a:r>
            <a:r>
              <a:rPr lang="en-US" sz="2800" dirty="0" err="1">
                <a:solidFill>
                  <a:srgbClr val="222222"/>
                </a:solidFill>
                <a:latin typeface="arial" panose="020B0604020202020204" pitchFamily="34" charset="0"/>
              </a:rPr>
              <a:t>Ti</a:t>
            </a:r>
            <a:r>
              <a:rPr lang="en-US" sz="2800" dirty="0">
                <a:solidFill>
                  <a:srgbClr val="222222"/>
                </a:solidFill>
                <a:latin typeface="arial" panose="020B0604020202020204" pitchFamily="34" charset="0"/>
              </a:rPr>
              <a:t>.</a:t>
            </a:r>
            <a:endParaRPr lang="en-US" sz="2800" dirty="0" smtClean="0">
              <a:solidFill>
                <a:srgbClr val="222222"/>
              </a:solidFill>
              <a:latin typeface="arial" panose="020B0604020202020204" pitchFamily="34" charset="0"/>
            </a:endParaRPr>
          </a:p>
        </p:txBody>
      </p:sp>
    </p:spTree>
    <p:extLst>
      <p:ext uri="{BB962C8B-B14F-4D97-AF65-F5344CB8AC3E}">
        <p14:creationId xmlns:p14="http://schemas.microsoft.com/office/powerpoint/2010/main" val="223360625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10.3.1 Type of Schedule</a:t>
            </a:r>
          </a:p>
        </p:txBody>
      </p:sp>
      <p:sp>
        <p:nvSpPr>
          <p:cNvPr id="3" name="Subtitle 2"/>
          <p:cNvSpPr>
            <a:spLocks noGrp="1"/>
          </p:cNvSpPr>
          <p:nvPr>
            <p:ph type="subTitle" idx="1"/>
          </p:nvPr>
        </p:nvSpPr>
        <p:spPr>
          <a:xfrm>
            <a:off x="1281567" y="1139688"/>
            <a:ext cx="8094254" cy="1152752"/>
          </a:xfrm>
        </p:spPr>
        <p:txBody>
          <a:bodyPr>
            <a:normAutofit/>
          </a:bodyPr>
          <a:lstStyle/>
          <a:p>
            <a:pPr algn="just">
              <a:buClr>
                <a:schemeClr val="tx1"/>
              </a:buClr>
              <a:buSzPct val="71000"/>
            </a:pPr>
            <a:r>
              <a:rPr lang="en-US" sz="2800" b="1" dirty="0" smtClean="0">
                <a:solidFill>
                  <a:srgbClr val="222222"/>
                </a:solidFill>
                <a:latin typeface="arial" panose="020B0604020202020204" pitchFamily="34" charset="0"/>
              </a:rPr>
              <a:t>Other schedules are :</a:t>
            </a:r>
          </a:p>
          <a:p>
            <a:pPr algn="just">
              <a:buClr>
                <a:schemeClr val="tx1"/>
              </a:buClr>
              <a:buSzPct val="71000"/>
            </a:pPr>
            <a:r>
              <a:rPr lang="en-US" sz="2800" b="1" dirty="0" smtClean="0">
                <a:solidFill>
                  <a:srgbClr val="222222"/>
                </a:solidFill>
                <a:latin typeface="arial" panose="020B0604020202020204" pitchFamily="34" charset="0"/>
              </a:rPr>
              <a:t>a. Recoverable Schedule</a:t>
            </a:r>
          </a:p>
        </p:txBody>
      </p:sp>
      <p:graphicFrame>
        <p:nvGraphicFramePr>
          <p:cNvPr id="7" name="Table 6"/>
          <p:cNvGraphicFramePr>
            <a:graphicFrameLocks noGrp="1"/>
          </p:cNvGraphicFramePr>
          <p:nvPr>
            <p:extLst>
              <p:ext uri="{D42A27DB-BD31-4B8C-83A1-F6EECF244321}">
                <p14:modId xmlns:p14="http://schemas.microsoft.com/office/powerpoint/2010/main" val="2365160494"/>
              </p:ext>
            </p:extLst>
          </p:nvPr>
        </p:nvGraphicFramePr>
        <p:xfrm>
          <a:off x="3573397" y="2456478"/>
          <a:ext cx="2856758" cy="3147060"/>
        </p:xfrm>
        <a:graphic>
          <a:graphicData uri="http://schemas.openxmlformats.org/drawingml/2006/table">
            <a:tbl>
              <a:tblPr firstRow="1" bandRow="1">
                <a:tableStyleId>{9D7B26C5-4107-4FEC-AEDC-1716B250A1EF}</a:tableStyleId>
              </a:tblPr>
              <a:tblGrid>
                <a:gridCol w="1428379"/>
                <a:gridCol w="1428379"/>
              </a:tblGrid>
              <a:tr h="0">
                <a:tc>
                  <a:txBody>
                    <a:bodyPr/>
                    <a:lstStyle/>
                    <a:p>
                      <a:pPr algn="l" fontAlgn="base"/>
                      <a:r>
                        <a:rPr lang="en-US" sz="1400" dirty="0" err="1">
                          <a:effectLst/>
                        </a:rPr>
                        <a:t>T</a:t>
                      </a:r>
                      <a:r>
                        <a:rPr lang="en-US" sz="1400" baseline="-25000" dirty="0" err="1">
                          <a:effectLst/>
                        </a:rPr>
                        <a:t>1</a:t>
                      </a:r>
                      <a:endParaRPr lang="en-US" sz="1400" b="0" dirty="0">
                        <a:effectLst/>
                      </a:endParaRPr>
                    </a:p>
                  </a:txBody>
                  <a:tcPr marL="95250" marR="95250" marT="95250" marB="95250" anchor="ctr">
                    <a:lnR w="12700" cap="flat" cmpd="sng" algn="ctr">
                      <a:solidFill>
                        <a:schemeClr val="tx1"/>
                      </a:solidFill>
                      <a:prstDash val="solid"/>
                      <a:round/>
                      <a:headEnd type="none" w="med" len="med"/>
                      <a:tailEnd type="none" w="med" len="med"/>
                    </a:lnR>
                  </a:tcPr>
                </a:tc>
                <a:tc>
                  <a:txBody>
                    <a:bodyPr/>
                    <a:lstStyle/>
                    <a:p>
                      <a:pPr algn="l" fontAlgn="base"/>
                      <a:r>
                        <a:rPr lang="en-US" sz="1400" dirty="0" err="1">
                          <a:effectLst/>
                        </a:rPr>
                        <a:t>T</a:t>
                      </a:r>
                      <a:r>
                        <a:rPr lang="en-US" sz="1400" baseline="-25000" dirty="0" err="1">
                          <a:effectLst/>
                        </a:rPr>
                        <a:t>2</a:t>
                      </a:r>
                      <a:endParaRPr lang="en-US" sz="1400" b="0" dirty="0">
                        <a:effectLst/>
                      </a:endParaRPr>
                    </a:p>
                  </a:txBody>
                  <a:tcPr marL="95250" marR="95250" marT="95250" marB="95250" anchor="ctr">
                    <a:lnL w="12700" cap="flat" cmpd="sng" algn="ctr">
                      <a:solidFill>
                        <a:schemeClr val="tx1"/>
                      </a:solidFill>
                      <a:prstDash val="solid"/>
                      <a:round/>
                      <a:headEnd type="none" w="med" len="med"/>
                      <a:tailEnd type="none" w="med" len="med"/>
                    </a:lnL>
                  </a:tcPr>
                </a:tc>
              </a:tr>
              <a:tr h="0">
                <a:tc>
                  <a:txBody>
                    <a:bodyPr/>
                    <a:lstStyle/>
                    <a:p>
                      <a:pPr algn="l" fontAlgn="base"/>
                      <a:r>
                        <a:rPr lang="en-US" sz="1250" dirty="0">
                          <a:effectLst/>
                        </a:rPr>
                        <a:t>R(A)</a:t>
                      </a:r>
                      <a:endParaRPr lang="en-US" sz="1250" b="0" dirty="0">
                        <a:effectLst/>
                      </a:endParaRPr>
                    </a:p>
                  </a:txBody>
                  <a:tcPr marL="95250" marR="95250" marT="133350" marB="133350" anchor="ctr">
                    <a:lnR w="12700" cap="flat" cmpd="sng" algn="ctr">
                      <a:solidFill>
                        <a:schemeClr val="tx1"/>
                      </a:solidFill>
                      <a:prstDash val="solid"/>
                      <a:round/>
                      <a:headEnd type="none" w="med" len="med"/>
                      <a:tailEnd type="none" w="med" len="med"/>
                    </a:lnR>
                  </a:tcPr>
                </a:tc>
                <a:tc>
                  <a:txBody>
                    <a:bodyPr/>
                    <a:lstStyle/>
                    <a:p>
                      <a:pPr algn="l" fontAlgn="base"/>
                      <a:endParaRPr lang="en-US" sz="1250" b="0" dirty="0">
                        <a:effectLst/>
                      </a:endParaRPr>
                    </a:p>
                  </a:txBody>
                  <a:tcPr marL="95250" marR="95250" marT="133350" marB="133350" anchor="ctr">
                    <a:lnL w="12700" cap="flat" cmpd="sng" algn="ctr">
                      <a:solidFill>
                        <a:schemeClr val="tx1"/>
                      </a:solidFill>
                      <a:prstDash val="solid"/>
                      <a:round/>
                      <a:headEnd type="none" w="med" len="med"/>
                      <a:tailEnd type="none" w="med" len="med"/>
                    </a:lnL>
                  </a:tcPr>
                </a:tc>
              </a:tr>
              <a:tr h="0">
                <a:tc>
                  <a:txBody>
                    <a:bodyPr/>
                    <a:lstStyle/>
                    <a:p>
                      <a:pPr algn="l" fontAlgn="base"/>
                      <a:r>
                        <a:rPr lang="en-US" sz="1250" dirty="0">
                          <a:effectLst/>
                        </a:rPr>
                        <a:t>W(A)</a:t>
                      </a:r>
                      <a:endParaRPr lang="en-US" sz="1250" b="0" dirty="0">
                        <a:effectLst/>
                      </a:endParaRPr>
                    </a:p>
                  </a:txBody>
                  <a:tcPr marL="95250" marR="95250" marT="133350" marB="133350" anchor="ctr">
                    <a:lnR w="12700" cap="flat" cmpd="sng" algn="ctr">
                      <a:solidFill>
                        <a:schemeClr val="tx1"/>
                      </a:solidFill>
                      <a:prstDash val="solid"/>
                      <a:round/>
                      <a:headEnd type="none" w="med" len="med"/>
                      <a:tailEnd type="none" w="med" len="med"/>
                    </a:lnR>
                  </a:tcPr>
                </a:tc>
                <a:tc>
                  <a:txBody>
                    <a:bodyPr/>
                    <a:lstStyle/>
                    <a:p>
                      <a:pPr algn="l" fontAlgn="base"/>
                      <a:endParaRPr lang="en-US" sz="1250" b="0">
                        <a:effectLst/>
                      </a:endParaRPr>
                    </a:p>
                  </a:txBody>
                  <a:tcPr marL="95250" marR="95250" marT="133350" marB="133350" anchor="ctr">
                    <a:lnL w="12700" cap="flat" cmpd="sng" algn="ctr">
                      <a:solidFill>
                        <a:schemeClr val="tx1"/>
                      </a:solidFill>
                      <a:prstDash val="solid"/>
                      <a:round/>
                      <a:headEnd type="none" w="med" len="med"/>
                      <a:tailEnd type="none" w="med" len="med"/>
                    </a:lnL>
                  </a:tcPr>
                </a:tc>
              </a:tr>
              <a:tr h="0">
                <a:tc>
                  <a:txBody>
                    <a:bodyPr/>
                    <a:lstStyle/>
                    <a:p>
                      <a:pPr algn="l" fontAlgn="base"/>
                      <a:endParaRPr lang="en-US" sz="1250" b="0" dirty="0">
                        <a:effectLst/>
                      </a:endParaRPr>
                    </a:p>
                  </a:txBody>
                  <a:tcPr marL="95250" marR="95250" marT="133350" marB="133350" anchor="ctr">
                    <a:lnR w="12700" cap="flat" cmpd="sng" algn="ctr">
                      <a:solidFill>
                        <a:schemeClr val="tx1"/>
                      </a:solidFill>
                      <a:prstDash val="solid"/>
                      <a:round/>
                      <a:headEnd type="none" w="med" len="med"/>
                      <a:tailEnd type="none" w="med" len="med"/>
                    </a:lnR>
                  </a:tcPr>
                </a:tc>
                <a:tc>
                  <a:txBody>
                    <a:bodyPr/>
                    <a:lstStyle/>
                    <a:p>
                      <a:pPr algn="l" fontAlgn="base"/>
                      <a:r>
                        <a:rPr lang="en-US" sz="1250">
                          <a:effectLst/>
                        </a:rPr>
                        <a:t>W(A)</a:t>
                      </a:r>
                      <a:endParaRPr lang="en-US" sz="1250" b="0">
                        <a:effectLst/>
                      </a:endParaRPr>
                    </a:p>
                  </a:txBody>
                  <a:tcPr marL="95250" marR="95250" marT="133350" marB="133350" anchor="ctr">
                    <a:lnL w="12700" cap="flat" cmpd="sng" algn="ctr">
                      <a:solidFill>
                        <a:schemeClr val="tx1"/>
                      </a:solidFill>
                      <a:prstDash val="solid"/>
                      <a:round/>
                      <a:headEnd type="none" w="med" len="med"/>
                      <a:tailEnd type="none" w="med" len="med"/>
                    </a:lnL>
                  </a:tcPr>
                </a:tc>
              </a:tr>
              <a:tr h="0">
                <a:tc>
                  <a:txBody>
                    <a:bodyPr/>
                    <a:lstStyle/>
                    <a:p>
                      <a:pPr algn="l" fontAlgn="base"/>
                      <a:endParaRPr lang="en-US" sz="1250" b="0" dirty="0">
                        <a:effectLst/>
                      </a:endParaRPr>
                    </a:p>
                  </a:txBody>
                  <a:tcPr marL="95250" marR="95250" marT="133350" marB="133350" anchor="ctr">
                    <a:lnR w="12700" cap="flat" cmpd="sng" algn="ctr">
                      <a:solidFill>
                        <a:schemeClr val="tx1"/>
                      </a:solidFill>
                      <a:prstDash val="solid"/>
                      <a:round/>
                      <a:headEnd type="none" w="med" len="med"/>
                      <a:tailEnd type="none" w="med" len="med"/>
                    </a:lnR>
                  </a:tcPr>
                </a:tc>
                <a:tc>
                  <a:txBody>
                    <a:bodyPr/>
                    <a:lstStyle/>
                    <a:p>
                      <a:pPr algn="l" fontAlgn="base"/>
                      <a:r>
                        <a:rPr lang="en-US" sz="1250">
                          <a:effectLst/>
                        </a:rPr>
                        <a:t>R(A)</a:t>
                      </a:r>
                      <a:endParaRPr lang="en-US" sz="1250" b="0">
                        <a:effectLst/>
                      </a:endParaRPr>
                    </a:p>
                  </a:txBody>
                  <a:tcPr marL="95250" marR="95250" marT="133350" marB="133350" anchor="ctr">
                    <a:lnL w="12700" cap="flat" cmpd="sng" algn="ctr">
                      <a:solidFill>
                        <a:schemeClr val="tx1"/>
                      </a:solidFill>
                      <a:prstDash val="solid"/>
                      <a:round/>
                      <a:headEnd type="none" w="med" len="med"/>
                      <a:tailEnd type="none" w="med" len="med"/>
                    </a:lnL>
                  </a:tcPr>
                </a:tc>
              </a:tr>
              <a:tr h="0">
                <a:tc>
                  <a:txBody>
                    <a:bodyPr/>
                    <a:lstStyle/>
                    <a:p>
                      <a:pPr algn="l" fontAlgn="base"/>
                      <a:r>
                        <a:rPr lang="en-US" sz="1250" dirty="0">
                          <a:effectLst/>
                        </a:rPr>
                        <a:t>commit</a:t>
                      </a:r>
                      <a:endParaRPr lang="en-US" sz="1250" b="0" dirty="0">
                        <a:effectLst/>
                      </a:endParaRPr>
                    </a:p>
                  </a:txBody>
                  <a:tcPr marL="95250" marR="95250" marT="133350" marB="133350" anchor="ctr">
                    <a:lnR w="12700" cap="flat" cmpd="sng" algn="ctr">
                      <a:solidFill>
                        <a:schemeClr val="tx1"/>
                      </a:solidFill>
                      <a:prstDash val="solid"/>
                      <a:round/>
                      <a:headEnd type="none" w="med" len="med"/>
                      <a:tailEnd type="none" w="med" len="med"/>
                    </a:lnR>
                  </a:tcPr>
                </a:tc>
                <a:tc>
                  <a:txBody>
                    <a:bodyPr/>
                    <a:lstStyle/>
                    <a:p>
                      <a:pPr algn="l" fontAlgn="base"/>
                      <a:endParaRPr lang="en-US" sz="1250" b="0">
                        <a:effectLst/>
                      </a:endParaRPr>
                    </a:p>
                  </a:txBody>
                  <a:tcPr marL="95250" marR="95250" marT="133350" marB="133350" anchor="ctr">
                    <a:lnL w="12700" cap="flat" cmpd="sng" algn="ctr">
                      <a:solidFill>
                        <a:schemeClr val="tx1"/>
                      </a:solidFill>
                      <a:prstDash val="solid"/>
                      <a:round/>
                      <a:headEnd type="none" w="med" len="med"/>
                      <a:tailEnd type="none" w="med" len="med"/>
                    </a:lnL>
                  </a:tcPr>
                </a:tc>
              </a:tr>
              <a:tr h="0">
                <a:tc>
                  <a:txBody>
                    <a:bodyPr/>
                    <a:lstStyle/>
                    <a:p>
                      <a:pPr algn="l" fontAlgn="base"/>
                      <a:endParaRPr lang="en-US" sz="1250" b="0" dirty="0">
                        <a:effectLst/>
                      </a:endParaRPr>
                    </a:p>
                  </a:txBody>
                  <a:tcPr marL="95250" marR="95250" marT="133350" marB="133350" anchor="ctr">
                    <a:lnR w="12700" cap="flat" cmpd="sng" algn="ctr">
                      <a:solidFill>
                        <a:schemeClr val="tx1"/>
                      </a:solidFill>
                      <a:prstDash val="solid"/>
                      <a:round/>
                      <a:headEnd type="none" w="med" len="med"/>
                      <a:tailEnd type="none" w="med" len="med"/>
                    </a:lnR>
                  </a:tcPr>
                </a:tc>
                <a:tc>
                  <a:txBody>
                    <a:bodyPr/>
                    <a:lstStyle/>
                    <a:p>
                      <a:pPr algn="l" fontAlgn="base"/>
                      <a:r>
                        <a:rPr lang="en-US" sz="1250" dirty="0">
                          <a:effectLst/>
                        </a:rPr>
                        <a:t>commit</a:t>
                      </a:r>
                      <a:endParaRPr lang="en-US" sz="1250" b="0" dirty="0">
                        <a:effectLst/>
                      </a:endParaRPr>
                    </a:p>
                  </a:txBody>
                  <a:tcPr marL="95250" marR="95250" marT="133350" marB="133350" anchor="ctr">
                    <a:lnL w="12700" cap="flat" cmpd="sng" algn="ctr">
                      <a:solidFill>
                        <a:schemeClr val="tx1"/>
                      </a:solidFill>
                      <a:prstDash val="solid"/>
                      <a:round/>
                      <a:headEnd type="none" w="med" len="med"/>
                      <a:tailEnd type="none" w="med" len="med"/>
                    </a:lnL>
                  </a:tcPr>
                </a:tc>
              </a:tr>
            </a:tbl>
          </a:graphicData>
        </a:graphic>
      </p:graphicFrame>
      <p:sp>
        <p:nvSpPr>
          <p:cNvPr id="8" name="Rectangle 7"/>
          <p:cNvSpPr/>
          <p:nvPr/>
        </p:nvSpPr>
        <p:spPr>
          <a:xfrm>
            <a:off x="1669961" y="5884414"/>
            <a:ext cx="6096000" cy="646331"/>
          </a:xfrm>
          <a:prstGeom prst="rect">
            <a:avLst/>
          </a:prstGeom>
        </p:spPr>
        <p:txBody>
          <a:bodyPr>
            <a:spAutoFit/>
          </a:bodyPr>
          <a:lstStyle/>
          <a:p>
            <a:r>
              <a:rPr lang="en-US" dirty="0">
                <a:solidFill>
                  <a:srgbClr val="40424E"/>
                </a:solidFill>
                <a:latin typeface="urw-din"/>
              </a:rPr>
              <a:t>This is a recoverable schedule since </a:t>
            </a:r>
            <a:r>
              <a:rPr lang="en-US" dirty="0" err="1">
                <a:solidFill>
                  <a:srgbClr val="40424E"/>
                </a:solidFill>
                <a:latin typeface="urw-din"/>
              </a:rPr>
              <a:t>T</a:t>
            </a:r>
            <a:r>
              <a:rPr lang="en-US" baseline="-25000" dirty="0" err="1">
                <a:solidFill>
                  <a:srgbClr val="40424E"/>
                </a:solidFill>
                <a:latin typeface="urw-din"/>
              </a:rPr>
              <a:t>1</a:t>
            </a:r>
            <a:r>
              <a:rPr lang="en-US" dirty="0">
                <a:solidFill>
                  <a:srgbClr val="40424E"/>
                </a:solidFill>
                <a:latin typeface="urw-din"/>
              </a:rPr>
              <a:t> commits before </a:t>
            </a:r>
            <a:r>
              <a:rPr lang="en-US" dirty="0" err="1">
                <a:solidFill>
                  <a:srgbClr val="40424E"/>
                </a:solidFill>
                <a:latin typeface="urw-din"/>
              </a:rPr>
              <a:t>T</a:t>
            </a:r>
            <a:r>
              <a:rPr lang="en-US" baseline="-25000" dirty="0" err="1">
                <a:solidFill>
                  <a:srgbClr val="40424E"/>
                </a:solidFill>
                <a:latin typeface="urw-din"/>
              </a:rPr>
              <a:t>2</a:t>
            </a:r>
            <a:r>
              <a:rPr lang="en-US" dirty="0">
                <a:solidFill>
                  <a:srgbClr val="40424E"/>
                </a:solidFill>
                <a:latin typeface="urw-din"/>
              </a:rPr>
              <a:t>, that makes the value read by </a:t>
            </a:r>
            <a:r>
              <a:rPr lang="en-US" dirty="0" err="1">
                <a:solidFill>
                  <a:srgbClr val="40424E"/>
                </a:solidFill>
                <a:latin typeface="urw-din"/>
              </a:rPr>
              <a:t>T</a:t>
            </a:r>
            <a:r>
              <a:rPr lang="en-US" baseline="-25000" dirty="0" err="1">
                <a:solidFill>
                  <a:srgbClr val="40424E"/>
                </a:solidFill>
                <a:latin typeface="urw-din"/>
              </a:rPr>
              <a:t>2</a:t>
            </a:r>
            <a:r>
              <a:rPr lang="en-US" dirty="0">
                <a:solidFill>
                  <a:srgbClr val="40424E"/>
                </a:solidFill>
                <a:latin typeface="urw-din"/>
              </a:rPr>
              <a:t> correct.</a:t>
            </a:r>
            <a:endParaRPr lang="en-US" dirty="0"/>
          </a:p>
        </p:txBody>
      </p:sp>
    </p:spTree>
    <p:extLst>
      <p:ext uri="{BB962C8B-B14F-4D97-AF65-F5344CB8AC3E}">
        <p14:creationId xmlns:p14="http://schemas.microsoft.com/office/powerpoint/2010/main" val="234780237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10.3.1 Type of Schedule</a:t>
            </a: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r>
              <a:rPr lang="en-US" sz="2800" b="1" dirty="0" smtClean="0">
                <a:solidFill>
                  <a:srgbClr val="222222"/>
                </a:solidFill>
                <a:latin typeface="arial" panose="020B0604020202020204" pitchFamily="34" charset="0"/>
              </a:rPr>
              <a:t>Other schedules are :</a:t>
            </a:r>
          </a:p>
          <a:p>
            <a:pPr algn="just">
              <a:buClr>
                <a:schemeClr val="tx1"/>
              </a:buClr>
              <a:buSzPct val="71000"/>
            </a:pPr>
            <a:r>
              <a:rPr lang="en-US" sz="2800" b="1" dirty="0">
                <a:solidFill>
                  <a:srgbClr val="222222"/>
                </a:solidFill>
                <a:latin typeface="arial" panose="020B0604020202020204" pitchFamily="34" charset="0"/>
              </a:rPr>
              <a:t>b</a:t>
            </a:r>
            <a:r>
              <a:rPr lang="en-US" sz="2800" b="1" dirty="0" smtClean="0">
                <a:solidFill>
                  <a:srgbClr val="222222"/>
                </a:solidFill>
                <a:latin typeface="arial" panose="020B0604020202020204" pitchFamily="34" charset="0"/>
              </a:rPr>
              <a:t>. </a:t>
            </a:r>
            <a:r>
              <a:rPr lang="en-US" sz="2800" b="1" dirty="0">
                <a:solidFill>
                  <a:srgbClr val="222222"/>
                </a:solidFill>
                <a:latin typeface="arial" panose="020B0604020202020204" pitchFamily="34" charset="0"/>
              </a:rPr>
              <a:t>Cascading Schedule</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Also called Avoids cascading aborts/rollbacks (ACA). </a:t>
            </a:r>
            <a:endParaRPr lang="en-US" sz="2800" dirty="0" smtClean="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When </a:t>
            </a:r>
            <a:r>
              <a:rPr lang="en-US" sz="2800" dirty="0">
                <a:solidFill>
                  <a:srgbClr val="222222"/>
                </a:solidFill>
                <a:latin typeface="arial" panose="020B0604020202020204" pitchFamily="34" charset="0"/>
              </a:rPr>
              <a:t>there is a failure in one transaction and this leads to the rolling back or aborting other dependent transactions, then such scheduling is referred to as Cascading rollback or cascading abort. </a:t>
            </a:r>
            <a:endParaRPr lang="en-US" sz="2800" dirty="0" smtClean="0">
              <a:solidFill>
                <a:srgbClr val="222222"/>
              </a:solidFill>
              <a:latin typeface="arial" panose="020B0604020202020204" pitchFamily="34" charset="0"/>
            </a:endParaRPr>
          </a:p>
        </p:txBody>
      </p:sp>
    </p:spTree>
    <p:extLst>
      <p:ext uri="{BB962C8B-B14F-4D97-AF65-F5344CB8AC3E}">
        <p14:creationId xmlns:p14="http://schemas.microsoft.com/office/powerpoint/2010/main" val="272286113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10.3.1 Type of Schedule</a:t>
            </a:r>
          </a:p>
        </p:txBody>
      </p:sp>
      <p:sp>
        <p:nvSpPr>
          <p:cNvPr id="3" name="Subtitle 2"/>
          <p:cNvSpPr>
            <a:spLocks noGrp="1"/>
          </p:cNvSpPr>
          <p:nvPr>
            <p:ph type="subTitle" idx="1"/>
          </p:nvPr>
        </p:nvSpPr>
        <p:spPr>
          <a:xfrm>
            <a:off x="1281567" y="1139688"/>
            <a:ext cx="8094254" cy="1152752"/>
          </a:xfrm>
        </p:spPr>
        <p:txBody>
          <a:bodyPr>
            <a:normAutofit/>
          </a:bodyPr>
          <a:lstStyle/>
          <a:p>
            <a:pPr algn="just">
              <a:buClr>
                <a:schemeClr val="tx1"/>
              </a:buClr>
              <a:buSzPct val="71000"/>
            </a:pPr>
            <a:r>
              <a:rPr lang="en-US" sz="2800" b="1" dirty="0" smtClean="0">
                <a:solidFill>
                  <a:srgbClr val="222222"/>
                </a:solidFill>
                <a:latin typeface="arial" panose="020B0604020202020204" pitchFamily="34" charset="0"/>
              </a:rPr>
              <a:t>Other schedules are :</a:t>
            </a:r>
          </a:p>
          <a:p>
            <a:pPr algn="just">
              <a:buClr>
                <a:schemeClr val="tx1"/>
              </a:buClr>
              <a:buSzPct val="71000"/>
            </a:pPr>
            <a:r>
              <a:rPr lang="en-US" sz="2800" b="1" dirty="0">
                <a:solidFill>
                  <a:srgbClr val="222222"/>
                </a:solidFill>
                <a:latin typeface="arial" panose="020B0604020202020204" pitchFamily="34" charset="0"/>
              </a:rPr>
              <a:t>b</a:t>
            </a:r>
            <a:r>
              <a:rPr lang="en-US" sz="2800" b="1" dirty="0" smtClean="0">
                <a:solidFill>
                  <a:srgbClr val="222222"/>
                </a:solidFill>
                <a:latin typeface="arial" panose="020B0604020202020204" pitchFamily="34" charset="0"/>
              </a:rPr>
              <a:t>. </a:t>
            </a:r>
            <a:r>
              <a:rPr lang="en-US" sz="2800" b="1" dirty="0">
                <a:solidFill>
                  <a:srgbClr val="222222"/>
                </a:solidFill>
                <a:latin typeface="arial" panose="020B0604020202020204" pitchFamily="34" charset="0"/>
              </a:rPr>
              <a:t>Cascading Schedule</a:t>
            </a:r>
            <a:endParaRPr lang="en-US" sz="2800" b="1" dirty="0" smtClean="0">
              <a:solidFill>
                <a:srgbClr val="222222"/>
              </a:solidFill>
              <a:latin typeface="arial" panose="020B0604020202020204" pitchFamily="34" charset="0"/>
            </a:endParaRPr>
          </a:p>
        </p:txBody>
      </p:sp>
      <p:pic>
        <p:nvPicPr>
          <p:cNvPr id="7170" name="Picture 2" descr="https://media.geeksforgeeks.org/wp-content/uploads/6-54.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4304" y="2202288"/>
            <a:ext cx="6271206" cy="44099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141608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10.3.1 Type of Schedule</a:t>
            </a:r>
          </a:p>
        </p:txBody>
      </p:sp>
      <p:sp>
        <p:nvSpPr>
          <p:cNvPr id="3" name="Subtitle 2"/>
          <p:cNvSpPr>
            <a:spLocks noGrp="1"/>
          </p:cNvSpPr>
          <p:nvPr>
            <p:ph type="subTitle" idx="1"/>
          </p:nvPr>
        </p:nvSpPr>
        <p:spPr>
          <a:xfrm>
            <a:off x="1281567" y="1139687"/>
            <a:ext cx="8094254" cy="4990657"/>
          </a:xfrm>
        </p:spPr>
        <p:txBody>
          <a:bodyPr>
            <a:normAutofit fontScale="92500" lnSpcReduction="10000"/>
          </a:bodyPr>
          <a:lstStyle/>
          <a:p>
            <a:pPr algn="just">
              <a:buClr>
                <a:schemeClr val="tx1"/>
              </a:buClr>
              <a:buSzPct val="71000"/>
            </a:pPr>
            <a:r>
              <a:rPr lang="en-US" sz="2800" b="1" dirty="0" smtClean="0">
                <a:solidFill>
                  <a:srgbClr val="222222"/>
                </a:solidFill>
                <a:latin typeface="arial" panose="020B0604020202020204" pitchFamily="34" charset="0"/>
              </a:rPr>
              <a:t>Other schedules are :</a:t>
            </a:r>
          </a:p>
          <a:p>
            <a:pPr algn="just">
              <a:buClr>
                <a:schemeClr val="tx1"/>
              </a:buClr>
              <a:buSzPct val="71000"/>
            </a:pPr>
            <a:r>
              <a:rPr lang="en-US" sz="2800" b="1" dirty="0" smtClean="0">
                <a:solidFill>
                  <a:srgbClr val="222222"/>
                </a:solidFill>
                <a:latin typeface="arial" panose="020B0604020202020204" pitchFamily="34" charset="0"/>
              </a:rPr>
              <a:t>c. </a:t>
            </a:r>
            <a:r>
              <a:rPr lang="en-US" sz="2800" b="1" dirty="0" err="1">
                <a:solidFill>
                  <a:srgbClr val="222222"/>
                </a:solidFill>
                <a:latin typeface="arial" panose="020B0604020202020204" pitchFamily="34" charset="0"/>
              </a:rPr>
              <a:t>Cascadeless</a:t>
            </a:r>
            <a:r>
              <a:rPr lang="en-US" sz="2800" b="1" dirty="0">
                <a:solidFill>
                  <a:srgbClr val="222222"/>
                </a:solidFill>
                <a:latin typeface="arial" panose="020B0604020202020204" pitchFamily="34" charset="0"/>
              </a:rPr>
              <a:t> </a:t>
            </a:r>
            <a:r>
              <a:rPr lang="en-US" sz="2800" b="1" dirty="0" smtClean="0">
                <a:solidFill>
                  <a:srgbClr val="222222"/>
                </a:solidFill>
                <a:latin typeface="arial" panose="020B0604020202020204" pitchFamily="34" charset="0"/>
              </a:rPr>
              <a:t>Schedule</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Schedules in which transactions read values only after all transactions whose changes they are going to read commit are called </a:t>
            </a:r>
            <a:r>
              <a:rPr lang="en-US" sz="2800" dirty="0" err="1">
                <a:solidFill>
                  <a:srgbClr val="222222"/>
                </a:solidFill>
                <a:latin typeface="arial" panose="020B0604020202020204" pitchFamily="34" charset="0"/>
              </a:rPr>
              <a:t>cascadeless</a:t>
            </a:r>
            <a:r>
              <a:rPr lang="en-US" sz="2800" dirty="0">
                <a:solidFill>
                  <a:srgbClr val="222222"/>
                </a:solidFill>
                <a:latin typeface="arial" panose="020B0604020202020204" pitchFamily="34" charset="0"/>
              </a:rPr>
              <a:t> schedules. </a:t>
            </a:r>
            <a:endParaRPr lang="en-US" sz="2800" dirty="0" smtClean="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Avoids </a:t>
            </a:r>
            <a:r>
              <a:rPr lang="en-US" sz="2800" dirty="0">
                <a:solidFill>
                  <a:srgbClr val="222222"/>
                </a:solidFill>
                <a:latin typeface="arial" panose="020B0604020202020204" pitchFamily="34" charset="0"/>
              </a:rPr>
              <a:t>that a single transaction abort leads to a series of transaction rollbacks</a:t>
            </a:r>
            <a:r>
              <a:rPr lang="en-US" sz="2800" dirty="0" smtClean="0">
                <a:solidFill>
                  <a:srgbClr val="222222"/>
                </a:solidFill>
                <a:latin typeface="arial" panose="020B0604020202020204" pitchFamily="34" charset="0"/>
              </a:rPr>
              <a:t>.</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In other words, if some transaction </a:t>
            </a:r>
            <a:r>
              <a:rPr lang="en-US" sz="2800" dirty="0" err="1">
                <a:solidFill>
                  <a:srgbClr val="222222"/>
                </a:solidFill>
                <a:latin typeface="arial" panose="020B0604020202020204" pitchFamily="34" charset="0"/>
              </a:rPr>
              <a:t>Tj</a:t>
            </a:r>
            <a:r>
              <a:rPr lang="en-US" sz="2800" dirty="0">
                <a:solidFill>
                  <a:srgbClr val="222222"/>
                </a:solidFill>
                <a:latin typeface="arial" panose="020B0604020202020204" pitchFamily="34" charset="0"/>
              </a:rPr>
              <a:t> wants to read value updated or written by some other transaction </a:t>
            </a:r>
            <a:r>
              <a:rPr lang="en-US" sz="2800" dirty="0" err="1">
                <a:solidFill>
                  <a:srgbClr val="222222"/>
                </a:solidFill>
                <a:latin typeface="arial" panose="020B0604020202020204" pitchFamily="34" charset="0"/>
              </a:rPr>
              <a:t>Ti</a:t>
            </a:r>
            <a:r>
              <a:rPr lang="en-US" sz="2800" dirty="0">
                <a:solidFill>
                  <a:srgbClr val="222222"/>
                </a:solidFill>
                <a:latin typeface="arial" panose="020B0604020202020204" pitchFamily="34" charset="0"/>
              </a:rPr>
              <a:t>, then the commit of </a:t>
            </a:r>
            <a:r>
              <a:rPr lang="en-US" sz="2800" dirty="0" err="1">
                <a:solidFill>
                  <a:srgbClr val="222222"/>
                </a:solidFill>
                <a:latin typeface="arial" panose="020B0604020202020204" pitchFamily="34" charset="0"/>
              </a:rPr>
              <a:t>Tj</a:t>
            </a:r>
            <a:r>
              <a:rPr lang="en-US" sz="2800" dirty="0">
                <a:solidFill>
                  <a:srgbClr val="222222"/>
                </a:solidFill>
                <a:latin typeface="arial" panose="020B0604020202020204" pitchFamily="34" charset="0"/>
              </a:rPr>
              <a:t> must read it after the commit of </a:t>
            </a:r>
            <a:r>
              <a:rPr lang="en-US" sz="2800" dirty="0" err="1">
                <a:solidFill>
                  <a:srgbClr val="222222"/>
                </a:solidFill>
                <a:latin typeface="arial" panose="020B0604020202020204" pitchFamily="34" charset="0"/>
              </a:rPr>
              <a:t>Ti</a:t>
            </a:r>
            <a:r>
              <a:rPr lang="en-US" sz="2800" dirty="0">
                <a:solidFill>
                  <a:srgbClr val="222222"/>
                </a:solidFill>
                <a:latin typeface="arial" panose="020B0604020202020204" pitchFamily="34" charset="0"/>
              </a:rPr>
              <a:t>.</a:t>
            </a:r>
            <a:endParaRPr lang="en-US" sz="2800" dirty="0" smtClean="0">
              <a:solidFill>
                <a:srgbClr val="222222"/>
              </a:solidFill>
              <a:latin typeface="arial" panose="020B0604020202020204" pitchFamily="34" charset="0"/>
            </a:endParaRPr>
          </a:p>
        </p:txBody>
      </p:sp>
    </p:spTree>
    <p:extLst>
      <p:ext uri="{BB962C8B-B14F-4D97-AF65-F5344CB8AC3E}">
        <p14:creationId xmlns:p14="http://schemas.microsoft.com/office/powerpoint/2010/main" val="324212750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10.3.1 Type of Schedule</a:t>
            </a:r>
          </a:p>
        </p:txBody>
      </p:sp>
      <p:sp>
        <p:nvSpPr>
          <p:cNvPr id="3" name="Subtitle 2"/>
          <p:cNvSpPr>
            <a:spLocks noGrp="1"/>
          </p:cNvSpPr>
          <p:nvPr>
            <p:ph type="subTitle" idx="1"/>
          </p:nvPr>
        </p:nvSpPr>
        <p:spPr>
          <a:xfrm>
            <a:off x="1281567" y="1139688"/>
            <a:ext cx="8094254" cy="1152752"/>
          </a:xfrm>
        </p:spPr>
        <p:txBody>
          <a:bodyPr>
            <a:normAutofit/>
          </a:bodyPr>
          <a:lstStyle/>
          <a:p>
            <a:pPr algn="just">
              <a:buClr>
                <a:schemeClr val="tx1"/>
              </a:buClr>
              <a:buSzPct val="71000"/>
            </a:pPr>
            <a:r>
              <a:rPr lang="en-US" sz="2800" b="1" dirty="0" smtClean="0">
                <a:solidFill>
                  <a:srgbClr val="222222"/>
                </a:solidFill>
                <a:latin typeface="arial" panose="020B0604020202020204" pitchFamily="34" charset="0"/>
              </a:rPr>
              <a:t>Other schedules are :</a:t>
            </a:r>
          </a:p>
          <a:p>
            <a:pPr algn="just">
              <a:buClr>
                <a:schemeClr val="tx1"/>
              </a:buClr>
              <a:buSzPct val="71000"/>
            </a:pPr>
            <a:r>
              <a:rPr lang="en-US" sz="2800" b="1" dirty="0">
                <a:solidFill>
                  <a:srgbClr val="222222"/>
                </a:solidFill>
                <a:latin typeface="arial" panose="020B0604020202020204" pitchFamily="34" charset="0"/>
              </a:rPr>
              <a:t>c. </a:t>
            </a:r>
            <a:r>
              <a:rPr lang="en-US" sz="2800" b="1" dirty="0" err="1">
                <a:solidFill>
                  <a:srgbClr val="222222"/>
                </a:solidFill>
                <a:latin typeface="arial" panose="020B0604020202020204" pitchFamily="34" charset="0"/>
              </a:rPr>
              <a:t>Cascadeless</a:t>
            </a:r>
            <a:r>
              <a:rPr lang="en-US" sz="2800" b="1" dirty="0">
                <a:solidFill>
                  <a:srgbClr val="222222"/>
                </a:solidFill>
                <a:latin typeface="arial" panose="020B0604020202020204" pitchFamily="34" charset="0"/>
              </a:rPr>
              <a:t> Schedule</a:t>
            </a:r>
          </a:p>
        </p:txBody>
      </p:sp>
      <p:graphicFrame>
        <p:nvGraphicFramePr>
          <p:cNvPr id="4" name="Table 3"/>
          <p:cNvGraphicFramePr>
            <a:graphicFrameLocks noGrp="1"/>
          </p:cNvGraphicFramePr>
          <p:nvPr>
            <p:extLst>
              <p:ext uri="{D42A27DB-BD31-4B8C-83A1-F6EECF244321}">
                <p14:modId xmlns:p14="http://schemas.microsoft.com/office/powerpoint/2010/main" val="3668743331"/>
              </p:ext>
            </p:extLst>
          </p:nvPr>
        </p:nvGraphicFramePr>
        <p:xfrm>
          <a:off x="3604790" y="2527776"/>
          <a:ext cx="2742458" cy="3124200"/>
        </p:xfrm>
        <a:graphic>
          <a:graphicData uri="http://schemas.openxmlformats.org/drawingml/2006/table">
            <a:tbl>
              <a:tblPr firstRow="1" bandRow="1">
                <a:tableStyleId>{9D7B26C5-4107-4FEC-AEDC-1716B250A1EF}</a:tableStyleId>
              </a:tblPr>
              <a:tblGrid>
                <a:gridCol w="1371229"/>
                <a:gridCol w="1371229"/>
              </a:tblGrid>
              <a:tr h="0">
                <a:tc>
                  <a:txBody>
                    <a:bodyPr/>
                    <a:lstStyle/>
                    <a:p>
                      <a:pPr marL="0" algn="l" defTabSz="457189" rtl="0" eaLnBrk="1" fontAlgn="base" latinLnBrk="0" hangingPunct="1"/>
                      <a:r>
                        <a:rPr lang="en-US" sz="1250" kern="1200" dirty="0" err="1">
                          <a:effectLst/>
                        </a:rPr>
                        <a:t>T1</a:t>
                      </a:r>
                      <a:endParaRPr lang="en-US" sz="1250" kern="1200" dirty="0">
                        <a:solidFill>
                          <a:schemeClr val="tx1"/>
                        </a:solidFill>
                        <a:effectLst/>
                        <a:latin typeface="+mn-lt"/>
                        <a:ea typeface="+mn-ea"/>
                        <a:cs typeface="+mn-cs"/>
                      </a:endParaRPr>
                    </a:p>
                  </a:txBody>
                  <a:tcPr marL="95250" marR="95250" marT="95250" marB="95250" anchor="ctr">
                    <a:lnR w="12700" cap="flat" cmpd="sng" algn="ctr">
                      <a:solidFill>
                        <a:schemeClr val="tx1"/>
                      </a:solidFill>
                      <a:prstDash val="solid"/>
                      <a:round/>
                      <a:headEnd type="none" w="med" len="med"/>
                      <a:tailEnd type="none" w="med" len="med"/>
                    </a:lnR>
                  </a:tcPr>
                </a:tc>
                <a:tc>
                  <a:txBody>
                    <a:bodyPr/>
                    <a:lstStyle/>
                    <a:p>
                      <a:pPr marL="0" algn="l" defTabSz="457189" rtl="0" eaLnBrk="1" fontAlgn="base" latinLnBrk="0" hangingPunct="1"/>
                      <a:r>
                        <a:rPr lang="en-US" sz="1250" kern="1200" dirty="0" err="1">
                          <a:effectLst/>
                        </a:rPr>
                        <a:t>T2</a:t>
                      </a:r>
                      <a:endParaRPr lang="en-US" sz="1250" kern="1200" dirty="0">
                        <a:solidFill>
                          <a:schemeClr val="tx1"/>
                        </a:solidFill>
                        <a:effectLst/>
                        <a:latin typeface="+mn-lt"/>
                        <a:ea typeface="+mn-ea"/>
                        <a:cs typeface="+mn-cs"/>
                      </a:endParaRPr>
                    </a:p>
                  </a:txBody>
                  <a:tcPr marL="95250" marR="95250" marT="95250" marB="95250" anchor="ctr">
                    <a:lnL w="12700" cap="flat" cmpd="sng" algn="ctr">
                      <a:solidFill>
                        <a:schemeClr val="tx1"/>
                      </a:solidFill>
                      <a:prstDash val="solid"/>
                      <a:round/>
                      <a:headEnd type="none" w="med" len="med"/>
                      <a:tailEnd type="none" w="med" len="med"/>
                    </a:lnL>
                  </a:tcPr>
                </a:tc>
              </a:tr>
              <a:tr h="0">
                <a:tc>
                  <a:txBody>
                    <a:bodyPr/>
                    <a:lstStyle/>
                    <a:p>
                      <a:pPr marL="0" algn="l" defTabSz="457189" rtl="0" eaLnBrk="1" fontAlgn="base" latinLnBrk="0" hangingPunct="1"/>
                      <a:r>
                        <a:rPr lang="en-US" sz="1250" kern="1200" dirty="0">
                          <a:effectLst/>
                        </a:rPr>
                        <a:t>R(A)</a:t>
                      </a:r>
                      <a:endParaRPr lang="en-US" sz="1250" kern="1200" dirty="0">
                        <a:solidFill>
                          <a:schemeClr val="tx1"/>
                        </a:solidFill>
                        <a:effectLst/>
                        <a:latin typeface="+mn-lt"/>
                        <a:ea typeface="+mn-ea"/>
                        <a:cs typeface="+mn-cs"/>
                      </a:endParaRPr>
                    </a:p>
                  </a:txBody>
                  <a:tcPr marL="95250" marR="95250" marT="133350" marB="133350" anchor="ctr">
                    <a:lnR w="12700" cap="flat" cmpd="sng" algn="ctr">
                      <a:solidFill>
                        <a:schemeClr val="tx1"/>
                      </a:solidFill>
                      <a:prstDash val="solid"/>
                      <a:round/>
                      <a:headEnd type="none" w="med" len="med"/>
                      <a:tailEnd type="none" w="med" len="med"/>
                    </a:lnR>
                  </a:tcPr>
                </a:tc>
                <a:tc>
                  <a:txBody>
                    <a:bodyPr/>
                    <a:lstStyle/>
                    <a:p>
                      <a:pPr marL="0" algn="l" defTabSz="457189" rtl="0" eaLnBrk="1" fontAlgn="base" latinLnBrk="0" hangingPunct="1"/>
                      <a:endParaRPr lang="en-US" sz="1250" kern="1200">
                        <a:solidFill>
                          <a:schemeClr val="tx1"/>
                        </a:solidFill>
                        <a:effectLst/>
                        <a:latin typeface="+mn-lt"/>
                        <a:ea typeface="+mn-ea"/>
                        <a:cs typeface="+mn-cs"/>
                      </a:endParaRPr>
                    </a:p>
                  </a:txBody>
                  <a:tcPr marL="95250" marR="95250" marT="133350" marB="133350" anchor="ctr">
                    <a:lnL w="12700" cap="flat" cmpd="sng" algn="ctr">
                      <a:solidFill>
                        <a:schemeClr val="tx1"/>
                      </a:solidFill>
                      <a:prstDash val="solid"/>
                      <a:round/>
                      <a:headEnd type="none" w="med" len="med"/>
                      <a:tailEnd type="none" w="med" len="med"/>
                    </a:lnL>
                  </a:tcPr>
                </a:tc>
              </a:tr>
              <a:tr h="0">
                <a:tc>
                  <a:txBody>
                    <a:bodyPr/>
                    <a:lstStyle/>
                    <a:p>
                      <a:pPr marL="0" algn="l" defTabSz="457189" rtl="0" eaLnBrk="1" fontAlgn="base" latinLnBrk="0" hangingPunct="1"/>
                      <a:r>
                        <a:rPr lang="en-US" sz="1250" kern="1200" dirty="0">
                          <a:effectLst/>
                        </a:rPr>
                        <a:t>W(A)</a:t>
                      </a:r>
                      <a:endParaRPr lang="en-US" sz="1250" kern="1200" dirty="0">
                        <a:solidFill>
                          <a:schemeClr val="tx1"/>
                        </a:solidFill>
                        <a:effectLst/>
                        <a:latin typeface="+mn-lt"/>
                        <a:ea typeface="+mn-ea"/>
                        <a:cs typeface="+mn-cs"/>
                      </a:endParaRPr>
                    </a:p>
                  </a:txBody>
                  <a:tcPr marL="95250" marR="95250" marT="133350" marB="133350" anchor="ctr">
                    <a:lnR w="12700" cap="flat" cmpd="sng" algn="ctr">
                      <a:solidFill>
                        <a:schemeClr val="tx1"/>
                      </a:solidFill>
                      <a:prstDash val="solid"/>
                      <a:round/>
                      <a:headEnd type="none" w="med" len="med"/>
                      <a:tailEnd type="none" w="med" len="med"/>
                    </a:lnR>
                  </a:tcPr>
                </a:tc>
                <a:tc>
                  <a:txBody>
                    <a:bodyPr/>
                    <a:lstStyle/>
                    <a:p>
                      <a:pPr marL="0" algn="l" defTabSz="457189" rtl="0" eaLnBrk="1" fontAlgn="base" latinLnBrk="0" hangingPunct="1"/>
                      <a:endParaRPr lang="en-US" sz="1250" kern="1200" dirty="0">
                        <a:solidFill>
                          <a:schemeClr val="tx1"/>
                        </a:solidFill>
                        <a:effectLst/>
                        <a:latin typeface="+mn-lt"/>
                        <a:ea typeface="+mn-ea"/>
                        <a:cs typeface="+mn-cs"/>
                      </a:endParaRPr>
                    </a:p>
                  </a:txBody>
                  <a:tcPr marL="95250" marR="95250" marT="133350" marB="133350" anchor="ctr">
                    <a:lnL w="12700" cap="flat" cmpd="sng" algn="ctr">
                      <a:solidFill>
                        <a:schemeClr val="tx1"/>
                      </a:solidFill>
                      <a:prstDash val="solid"/>
                      <a:round/>
                      <a:headEnd type="none" w="med" len="med"/>
                      <a:tailEnd type="none" w="med" len="med"/>
                    </a:lnL>
                  </a:tcPr>
                </a:tc>
              </a:tr>
              <a:tr h="0">
                <a:tc>
                  <a:txBody>
                    <a:bodyPr/>
                    <a:lstStyle/>
                    <a:p>
                      <a:pPr marL="0" algn="l" defTabSz="457189" rtl="0" eaLnBrk="1" fontAlgn="base" latinLnBrk="0" hangingPunct="1"/>
                      <a:endParaRPr lang="en-US" sz="1250" kern="1200" dirty="0">
                        <a:solidFill>
                          <a:schemeClr val="tx1"/>
                        </a:solidFill>
                        <a:effectLst/>
                        <a:latin typeface="+mn-lt"/>
                        <a:ea typeface="+mn-ea"/>
                        <a:cs typeface="+mn-cs"/>
                      </a:endParaRPr>
                    </a:p>
                  </a:txBody>
                  <a:tcPr marL="95250" marR="95250" marT="133350" marB="133350" anchor="ctr">
                    <a:lnR w="12700" cap="flat" cmpd="sng" algn="ctr">
                      <a:solidFill>
                        <a:schemeClr val="tx1"/>
                      </a:solidFill>
                      <a:prstDash val="solid"/>
                      <a:round/>
                      <a:headEnd type="none" w="med" len="med"/>
                      <a:tailEnd type="none" w="med" len="med"/>
                    </a:lnR>
                  </a:tcPr>
                </a:tc>
                <a:tc>
                  <a:txBody>
                    <a:bodyPr/>
                    <a:lstStyle/>
                    <a:p>
                      <a:pPr marL="0" algn="l" defTabSz="457189" rtl="0" eaLnBrk="1" fontAlgn="base" latinLnBrk="0" hangingPunct="1"/>
                      <a:r>
                        <a:rPr lang="en-US" sz="1250" kern="1200" dirty="0">
                          <a:effectLst/>
                        </a:rPr>
                        <a:t>W(A)</a:t>
                      </a:r>
                      <a:endParaRPr lang="en-US" sz="1250" kern="1200" dirty="0">
                        <a:solidFill>
                          <a:schemeClr val="tx1"/>
                        </a:solidFill>
                        <a:effectLst/>
                        <a:latin typeface="+mn-lt"/>
                        <a:ea typeface="+mn-ea"/>
                        <a:cs typeface="+mn-cs"/>
                      </a:endParaRPr>
                    </a:p>
                  </a:txBody>
                  <a:tcPr marL="95250" marR="95250" marT="133350" marB="133350" anchor="ctr">
                    <a:lnL w="12700" cap="flat" cmpd="sng" algn="ctr">
                      <a:solidFill>
                        <a:schemeClr val="tx1"/>
                      </a:solidFill>
                      <a:prstDash val="solid"/>
                      <a:round/>
                      <a:headEnd type="none" w="med" len="med"/>
                      <a:tailEnd type="none" w="med" len="med"/>
                    </a:lnL>
                  </a:tcPr>
                </a:tc>
              </a:tr>
              <a:tr h="0">
                <a:tc>
                  <a:txBody>
                    <a:bodyPr/>
                    <a:lstStyle/>
                    <a:p>
                      <a:pPr marL="0" algn="l" defTabSz="457189" rtl="0" eaLnBrk="1" fontAlgn="base" latinLnBrk="0" hangingPunct="1"/>
                      <a:r>
                        <a:rPr lang="en-US" sz="1250" kern="1200" dirty="0">
                          <a:effectLst/>
                        </a:rPr>
                        <a:t>commit</a:t>
                      </a:r>
                      <a:endParaRPr lang="en-US" sz="1250" kern="1200" dirty="0">
                        <a:solidFill>
                          <a:schemeClr val="tx1"/>
                        </a:solidFill>
                        <a:effectLst/>
                        <a:latin typeface="+mn-lt"/>
                        <a:ea typeface="+mn-ea"/>
                        <a:cs typeface="+mn-cs"/>
                      </a:endParaRPr>
                    </a:p>
                  </a:txBody>
                  <a:tcPr marL="95250" marR="95250" marT="133350" marB="133350" anchor="ctr">
                    <a:lnR w="12700" cap="flat" cmpd="sng" algn="ctr">
                      <a:solidFill>
                        <a:schemeClr val="tx1"/>
                      </a:solidFill>
                      <a:prstDash val="solid"/>
                      <a:round/>
                      <a:headEnd type="none" w="med" len="med"/>
                      <a:tailEnd type="none" w="med" len="med"/>
                    </a:lnR>
                  </a:tcPr>
                </a:tc>
                <a:tc>
                  <a:txBody>
                    <a:bodyPr/>
                    <a:lstStyle/>
                    <a:p>
                      <a:pPr marL="0" algn="l" defTabSz="457189" rtl="0" eaLnBrk="1" fontAlgn="base" latinLnBrk="0" hangingPunct="1"/>
                      <a:endParaRPr lang="en-US" sz="1250" kern="1200" dirty="0">
                        <a:solidFill>
                          <a:schemeClr val="tx1"/>
                        </a:solidFill>
                        <a:effectLst/>
                        <a:latin typeface="+mn-lt"/>
                        <a:ea typeface="+mn-ea"/>
                        <a:cs typeface="+mn-cs"/>
                      </a:endParaRPr>
                    </a:p>
                  </a:txBody>
                  <a:tcPr marL="95250" marR="95250" marT="133350" marB="133350" anchor="ctr">
                    <a:lnL w="12700" cap="flat" cmpd="sng" algn="ctr">
                      <a:solidFill>
                        <a:schemeClr val="tx1"/>
                      </a:solidFill>
                      <a:prstDash val="solid"/>
                      <a:round/>
                      <a:headEnd type="none" w="med" len="med"/>
                      <a:tailEnd type="none" w="med" len="med"/>
                    </a:lnL>
                  </a:tcPr>
                </a:tc>
              </a:tr>
              <a:tr h="0">
                <a:tc>
                  <a:txBody>
                    <a:bodyPr/>
                    <a:lstStyle/>
                    <a:p>
                      <a:pPr marL="0" algn="l" defTabSz="457189" rtl="0" eaLnBrk="1" fontAlgn="base" latinLnBrk="0" hangingPunct="1"/>
                      <a:endParaRPr lang="en-US" sz="1250" kern="1200" dirty="0">
                        <a:solidFill>
                          <a:schemeClr val="tx1"/>
                        </a:solidFill>
                        <a:effectLst/>
                        <a:latin typeface="+mn-lt"/>
                        <a:ea typeface="+mn-ea"/>
                        <a:cs typeface="+mn-cs"/>
                      </a:endParaRPr>
                    </a:p>
                  </a:txBody>
                  <a:tcPr marL="95250" marR="95250" marT="133350" marB="133350" anchor="ctr">
                    <a:lnR w="12700" cap="flat" cmpd="sng" algn="ctr">
                      <a:solidFill>
                        <a:schemeClr val="tx1"/>
                      </a:solidFill>
                      <a:prstDash val="solid"/>
                      <a:round/>
                      <a:headEnd type="none" w="med" len="med"/>
                      <a:tailEnd type="none" w="med" len="med"/>
                    </a:lnR>
                  </a:tcPr>
                </a:tc>
                <a:tc>
                  <a:txBody>
                    <a:bodyPr/>
                    <a:lstStyle/>
                    <a:p>
                      <a:pPr marL="0" algn="l" defTabSz="457189" rtl="0" eaLnBrk="1" fontAlgn="base" latinLnBrk="0" hangingPunct="1"/>
                      <a:r>
                        <a:rPr lang="en-US" sz="1250" kern="1200" dirty="0">
                          <a:effectLst/>
                        </a:rPr>
                        <a:t>R(A)</a:t>
                      </a:r>
                      <a:endParaRPr lang="en-US" sz="1250" kern="1200" dirty="0">
                        <a:solidFill>
                          <a:schemeClr val="tx1"/>
                        </a:solidFill>
                        <a:effectLst/>
                        <a:latin typeface="+mn-lt"/>
                        <a:ea typeface="+mn-ea"/>
                        <a:cs typeface="+mn-cs"/>
                      </a:endParaRPr>
                    </a:p>
                  </a:txBody>
                  <a:tcPr marL="95250" marR="95250" marT="133350" marB="133350" anchor="ctr">
                    <a:lnL w="12700" cap="flat" cmpd="sng" algn="ctr">
                      <a:solidFill>
                        <a:schemeClr val="tx1"/>
                      </a:solidFill>
                      <a:prstDash val="solid"/>
                      <a:round/>
                      <a:headEnd type="none" w="med" len="med"/>
                      <a:tailEnd type="none" w="med" len="med"/>
                    </a:lnL>
                  </a:tcPr>
                </a:tc>
              </a:tr>
              <a:tr h="0">
                <a:tc>
                  <a:txBody>
                    <a:bodyPr/>
                    <a:lstStyle/>
                    <a:p>
                      <a:pPr marL="0" algn="l" defTabSz="457189" rtl="0" eaLnBrk="1" fontAlgn="base" latinLnBrk="0" hangingPunct="1"/>
                      <a:endParaRPr lang="en-US" sz="1250" kern="1200" dirty="0">
                        <a:solidFill>
                          <a:schemeClr val="tx1"/>
                        </a:solidFill>
                        <a:effectLst/>
                        <a:latin typeface="+mn-lt"/>
                        <a:ea typeface="+mn-ea"/>
                        <a:cs typeface="+mn-cs"/>
                      </a:endParaRPr>
                    </a:p>
                  </a:txBody>
                  <a:tcPr marL="95250" marR="95250" marT="133350" marB="133350" anchor="ctr">
                    <a:lnR w="12700" cap="flat" cmpd="sng" algn="ctr">
                      <a:solidFill>
                        <a:schemeClr val="tx1"/>
                      </a:solidFill>
                      <a:prstDash val="solid"/>
                      <a:round/>
                      <a:headEnd type="none" w="med" len="med"/>
                      <a:tailEnd type="none" w="med" len="med"/>
                    </a:lnR>
                  </a:tcPr>
                </a:tc>
                <a:tc>
                  <a:txBody>
                    <a:bodyPr/>
                    <a:lstStyle/>
                    <a:p>
                      <a:pPr marL="0" algn="l" defTabSz="457189" rtl="0" eaLnBrk="1" fontAlgn="base" latinLnBrk="0" hangingPunct="1"/>
                      <a:r>
                        <a:rPr lang="en-US" sz="1250" kern="1200" dirty="0">
                          <a:effectLst/>
                        </a:rPr>
                        <a:t>commit</a:t>
                      </a:r>
                      <a:endParaRPr lang="en-US" sz="1250" kern="1200" dirty="0">
                        <a:solidFill>
                          <a:schemeClr val="tx1"/>
                        </a:solidFill>
                        <a:effectLst/>
                        <a:latin typeface="+mn-lt"/>
                        <a:ea typeface="+mn-ea"/>
                        <a:cs typeface="+mn-cs"/>
                      </a:endParaRPr>
                    </a:p>
                  </a:txBody>
                  <a:tcPr marL="95250" marR="95250" marT="133350" marB="133350" anchor="ctr">
                    <a:lnL w="12700" cap="flat" cmpd="sng" algn="ctr">
                      <a:solidFill>
                        <a:schemeClr val="tx1"/>
                      </a:solidFill>
                      <a:prstDash val="solid"/>
                      <a:round/>
                      <a:headEnd type="none" w="med" len="med"/>
                      <a:tailEnd type="none" w="med" len="med"/>
                    </a:lnL>
                  </a:tcPr>
                </a:tc>
              </a:tr>
            </a:tbl>
          </a:graphicData>
        </a:graphic>
      </p:graphicFrame>
      <p:sp>
        <p:nvSpPr>
          <p:cNvPr id="5" name="Rectangle 4"/>
          <p:cNvSpPr/>
          <p:nvPr/>
        </p:nvSpPr>
        <p:spPr>
          <a:xfrm>
            <a:off x="1451020" y="5787808"/>
            <a:ext cx="7808890" cy="646331"/>
          </a:xfrm>
          <a:prstGeom prst="rect">
            <a:avLst/>
          </a:prstGeom>
        </p:spPr>
        <p:txBody>
          <a:bodyPr wrap="square">
            <a:spAutoFit/>
          </a:bodyPr>
          <a:lstStyle/>
          <a:p>
            <a:r>
              <a:rPr lang="en-US" dirty="0">
                <a:solidFill>
                  <a:srgbClr val="40424E"/>
                </a:solidFill>
                <a:latin typeface="urw-din"/>
              </a:rPr>
              <a:t>This schedule is </a:t>
            </a:r>
            <a:r>
              <a:rPr lang="en-US" dirty="0" err="1">
                <a:solidFill>
                  <a:srgbClr val="40424E"/>
                </a:solidFill>
                <a:latin typeface="urw-din"/>
              </a:rPr>
              <a:t>cascadeless</a:t>
            </a:r>
            <a:r>
              <a:rPr lang="en-US" dirty="0">
                <a:solidFill>
                  <a:srgbClr val="40424E"/>
                </a:solidFill>
                <a:latin typeface="urw-din"/>
              </a:rPr>
              <a:t>. Since the updated value of </a:t>
            </a:r>
            <a:r>
              <a:rPr lang="en-US" b="1" dirty="0">
                <a:solidFill>
                  <a:srgbClr val="40424E"/>
                </a:solidFill>
                <a:latin typeface="urw-din"/>
              </a:rPr>
              <a:t>A</a:t>
            </a:r>
            <a:r>
              <a:rPr lang="en-US" dirty="0">
                <a:solidFill>
                  <a:srgbClr val="40424E"/>
                </a:solidFill>
                <a:latin typeface="urw-din"/>
              </a:rPr>
              <a:t> is read by </a:t>
            </a:r>
            <a:r>
              <a:rPr lang="en-US" dirty="0" err="1">
                <a:solidFill>
                  <a:srgbClr val="40424E"/>
                </a:solidFill>
                <a:latin typeface="urw-din"/>
              </a:rPr>
              <a:t>T</a:t>
            </a:r>
            <a:r>
              <a:rPr lang="en-US" baseline="-25000" dirty="0" err="1">
                <a:solidFill>
                  <a:srgbClr val="40424E"/>
                </a:solidFill>
                <a:latin typeface="urw-din"/>
              </a:rPr>
              <a:t>2</a:t>
            </a:r>
            <a:r>
              <a:rPr lang="en-US" dirty="0">
                <a:solidFill>
                  <a:srgbClr val="40424E"/>
                </a:solidFill>
                <a:latin typeface="urw-din"/>
              </a:rPr>
              <a:t> only after the updating transaction i.e. </a:t>
            </a:r>
            <a:r>
              <a:rPr lang="en-US" dirty="0" err="1">
                <a:solidFill>
                  <a:srgbClr val="40424E"/>
                </a:solidFill>
                <a:latin typeface="urw-din"/>
              </a:rPr>
              <a:t>T</a:t>
            </a:r>
            <a:r>
              <a:rPr lang="en-US" baseline="-25000" dirty="0" err="1">
                <a:solidFill>
                  <a:srgbClr val="40424E"/>
                </a:solidFill>
                <a:latin typeface="urw-din"/>
              </a:rPr>
              <a:t>1</a:t>
            </a:r>
            <a:r>
              <a:rPr lang="en-US" dirty="0">
                <a:solidFill>
                  <a:srgbClr val="40424E"/>
                </a:solidFill>
                <a:latin typeface="urw-din"/>
              </a:rPr>
              <a:t> commits.</a:t>
            </a:r>
            <a:endParaRPr lang="en-US" dirty="0"/>
          </a:p>
        </p:txBody>
      </p:sp>
    </p:spTree>
    <p:extLst>
      <p:ext uri="{BB962C8B-B14F-4D97-AF65-F5344CB8AC3E}">
        <p14:creationId xmlns:p14="http://schemas.microsoft.com/office/powerpoint/2010/main" val="193545965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10.3.1 Type of Schedule</a:t>
            </a: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r>
              <a:rPr lang="en-US" sz="2800" b="1" dirty="0" smtClean="0">
                <a:solidFill>
                  <a:srgbClr val="222222"/>
                </a:solidFill>
                <a:latin typeface="arial" panose="020B0604020202020204" pitchFamily="34" charset="0"/>
              </a:rPr>
              <a:t>Other schedules are :</a:t>
            </a:r>
          </a:p>
          <a:p>
            <a:pPr algn="just">
              <a:buClr>
                <a:schemeClr val="tx1"/>
              </a:buClr>
              <a:buSzPct val="71000"/>
            </a:pPr>
            <a:r>
              <a:rPr lang="en-US" sz="2800" b="1" dirty="0">
                <a:solidFill>
                  <a:srgbClr val="222222"/>
                </a:solidFill>
                <a:latin typeface="arial" panose="020B0604020202020204" pitchFamily="34" charset="0"/>
              </a:rPr>
              <a:t>d</a:t>
            </a:r>
            <a:r>
              <a:rPr lang="en-US" sz="2800" b="1" dirty="0" smtClean="0">
                <a:solidFill>
                  <a:srgbClr val="222222"/>
                </a:solidFill>
                <a:latin typeface="arial" panose="020B0604020202020204" pitchFamily="34" charset="0"/>
              </a:rPr>
              <a:t>. Strict Schedule</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A schedule is strict if for any two transactions </a:t>
            </a:r>
            <a:r>
              <a:rPr lang="en-US" sz="2800" dirty="0" err="1">
                <a:solidFill>
                  <a:srgbClr val="222222"/>
                </a:solidFill>
                <a:latin typeface="arial" panose="020B0604020202020204" pitchFamily="34" charset="0"/>
              </a:rPr>
              <a:t>Ti</a:t>
            </a:r>
            <a:r>
              <a:rPr lang="en-US" sz="2800" dirty="0">
                <a:solidFill>
                  <a:srgbClr val="222222"/>
                </a:solidFill>
                <a:latin typeface="arial" panose="020B0604020202020204" pitchFamily="34" charset="0"/>
              </a:rPr>
              <a:t>, </a:t>
            </a:r>
            <a:r>
              <a:rPr lang="en-US" sz="2800" dirty="0" err="1">
                <a:solidFill>
                  <a:srgbClr val="222222"/>
                </a:solidFill>
                <a:latin typeface="arial" panose="020B0604020202020204" pitchFamily="34" charset="0"/>
              </a:rPr>
              <a:t>Tj</a:t>
            </a:r>
            <a:r>
              <a:rPr lang="en-US" sz="2800" dirty="0">
                <a:solidFill>
                  <a:srgbClr val="222222"/>
                </a:solidFill>
                <a:latin typeface="arial" panose="020B0604020202020204" pitchFamily="34" charset="0"/>
              </a:rPr>
              <a:t>, if a write operation of </a:t>
            </a:r>
            <a:r>
              <a:rPr lang="en-US" sz="2800" dirty="0" err="1">
                <a:solidFill>
                  <a:srgbClr val="222222"/>
                </a:solidFill>
                <a:latin typeface="arial" panose="020B0604020202020204" pitchFamily="34" charset="0"/>
              </a:rPr>
              <a:t>Ti</a:t>
            </a:r>
            <a:r>
              <a:rPr lang="en-US" sz="2800" dirty="0">
                <a:solidFill>
                  <a:srgbClr val="222222"/>
                </a:solidFill>
                <a:latin typeface="arial" panose="020B0604020202020204" pitchFamily="34" charset="0"/>
              </a:rPr>
              <a:t> precedes a conflicting operation of </a:t>
            </a:r>
            <a:r>
              <a:rPr lang="en-US" sz="2800" dirty="0" err="1">
                <a:solidFill>
                  <a:srgbClr val="222222"/>
                </a:solidFill>
                <a:latin typeface="arial" panose="020B0604020202020204" pitchFamily="34" charset="0"/>
              </a:rPr>
              <a:t>Tj</a:t>
            </a:r>
            <a:r>
              <a:rPr lang="en-US" sz="2800" dirty="0">
                <a:solidFill>
                  <a:srgbClr val="222222"/>
                </a:solidFill>
                <a:latin typeface="arial" panose="020B0604020202020204" pitchFamily="34" charset="0"/>
              </a:rPr>
              <a:t> (either read or write), then the commit or abort event of </a:t>
            </a:r>
            <a:r>
              <a:rPr lang="en-US" sz="2800" dirty="0" err="1">
                <a:solidFill>
                  <a:srgbClr val="222222"/>
                </a:solidFill>
                <a:latin typeface="arial" panose="020B0604020202020204" pitchFamily="34" charset="0"/>
              </a:rPr>
              <a:t>Ti</a:t>
            </a:r>
            <a:r>
              <a:rPr lang="en-US" sz="2800" dirty="0">
                <a:solidFill>
                  <a:srgbClr val="222222"/>
                </a:solidFill>
                <a:latin typeface="arial" panose="020B0604020202020204" pitchFamily="34" charset="0"/>
              </a:rPr>
              <a:t> also precedes that conflicting operation of </a:t>
            </a:r>
            <a:r>
              <a:rPr lang="en-US" sz="2800" dirty="0" err="1">
                <a:solidFill>
                  <a:srgbClr val="222222"/>
                </a:solidFill>
                <a:latin typeface="arial" panose="020B0604020202020204" pitchFamily="34" charset="0"/>
              </a:rPr>
              <a:t>Tj</a:t>
            </a:r>
            <a:r>
              <a:rPr lang="en-US" sz="2800" dirty="0">
                <a:solidFill>
                  <a:srgbClr val="222222"/>
                </a:solidFill>
                <a:latin typeface="arial" panose="020B0604020202020204" pitchFamily="34" charset="0"/>
              </a:rPr>
              <a:t>.</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In other words, </a:t>
            </a:r>
            <a:r>
              <a:rPr lang="en-US" sz="2800" dirty="0" err="1">
                <a:solidFill>
                  <a:srgbClr val="222222"/>
                </a:solidFill>
                <a:latin typeface="arial" panose="020B0604020202020204" pitchFamily="34" charset="0"/>
              </a:rPr>
              <a:t>Tj</a:t>
            </a:r>
            <a:r>
              <a:rPr lang="en-US" sz="2800" dirty="0">
                <a:solidFill>
                  <a:srgbClr val="222222"/>
                </a:solidFill>
                <a:latin typeface="arial" panose="020B0604020202020204" pitchFamily="34" charset="0"/>
              </a:rPr>
              <a:t> can read or write updated or written value of </a:t>
            </a:r>
            <a:r>
              <a:rPr lang="en-US" sz="2800" dirty="0" err="1">
                <a:solidFill>
                  <a:srgbClr val="222222"/>
                </a:solidFill>
                <a:latin typeface="arial" panose="020B0604020202020204" pitchFamily="34" charset="0"/>
              </a:rPr>
              <a:t>Ti</a:t>
            </a:r>
            <a:r>
              <a:rPr lang="en-US" sz="2800" dirty="0">
                <a:solidFill>
                  <a:srgbClr val="222222"/>
                </a:solidFill>
                <a:latin typeface="arial" panose="020B0604020202020204" pitchFamily="34" charset="0"/>
              </a:rPr>
              <a:t> only after </a:t>
            </a:r>
            <a:r>
              <a:rPr lang="en-US" sz="2800" dirty="0" err="1">
                <a:solidFill>
                  <a:srgbClr val="222222"/>
                </a:solidFill>
                <a:latin typeface="arial" panose="020B0604020202020204" pitchFamily="34" charset="0"/>
              </a:rPr>
              <a:t>Ti</a:t>
            </a:r>
            <a:r>
              <a:rPr lang="en-US" sz="2800" dirty="0">
                <a:solidFill>
                  <a:srgbClr val="222222"/>
                </a:solidFill>
                <a:latin typeface="arial" panose="020B0604020202020204" pitchFamily="34" charset="0"/>
              </a:rPr>
              <a:t> commits/aborts.</a:t>
            </a:r>
            <a:endParaRPr lang="en-US" sz="2800" dirty="0" smtClean="0">
              <a:solidFill>
                <a:srgbClr val="222222"/>
              </a:solidFill>
              <a:latin typeface="arial" panose="020B0604020202020204" pitchFamily="34" charset="0"/>
            </a:endParaRPr>
          </a:p>
        </p:txBody>
      </p:sp>
    </p:spTree>
    <p:extLst>
      <p:ext uri="{BB962C8B-B14F-4D97-AF65-F5344CB8AC3E}">
        <p14:creationId xmlns:p14="http://schemas.microsoft.com/office/powerpoint/2010/main" val="89089605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10.3.1 Type of Schedule</a:t>
            </a:r>
          </a:p>
        </p:txBody>
      </p:sp>
      <p:sp>
        <p:nvSpPr>
          <p:cNvPr id="3" name="Subtitle 2"/>
          <p:cNvSpPr>
            <a:spLocks noGrp="1"/>
          </p:cNvSpPr>
          <p:nvPr>
            <p:ph type="subTitle" idx="1"/>
          </p:nvPr>
        </p:nvSpPr>
        <p:spPr>
          <a:xfrm>
            <a:off x="1281567" y="1139688"/>
            <a:ext cx="8094254" cy="1007827"/>
          </a:xfrm>
        </p:spPr>
        <p:txBody>
          <a:bodyPr>
            <a:normAutofit lnSpcReduction="10000"/>
          </a:bodyPr>
          <a:lstStyle/>
          <a:p>
            <a:pPr algn="just">
              <a:buClr>
                <a:schemeClr val="tx1"/>
              </a:buClr>
              <a:buSzPct val="71000"/>
            </a:pPr>
            <a:r>
              <a:rPr lang="en-US" sz="2800" b="1" dirty="0" smtClean="0">
                <a:solidFill>
                  <a:srgbClr val="222222"/>
                </a:solidFill>
                <a:latin typeface="arial" panose="020B0604020202020204" pitchFamily="34" charset="0"/>
              </a:rPr>
              <a:t>Other schedules are :</a:t>
            </a:r>
          </a:p>
          <a:p>
            <a:pPr algn="just">
              <a:buClr>
                <a:schemeClr val="tx1"/>
              </a:buClr>
              <a:buSzPct val="71000"/>
            </a:pPr>
            <a:r>
              <a:rPr lang="en-US" sz="2800" b="1" dirty="0">
                <a:solidFill>
                  <a:srgbClr val="222222"/>
                </a:solidFill>
                <a:latin typeface="arial" panose="020B0604020202020204" pitchFamily="34" charset="0"/>
              </a:rPr>
              <a:t>d. Strict Schedule</a:t>
            </a:r>
          </a:p>
        </p:txBody>
      </p:sp>
      <p:graphicFrame>
        <p:nvGraphicFramePr>
          <p:cNvPr id="6" name="Table 5"/>
          <p:cNvGraphicFramePr>
            <a:graphicFrameLocks noGrp="1"/>
          </p:cNvGraphicFramePr>
          <p:nvPr>
            <p:extLst>
              <p:ext uri="{D42A27DB-BD31-4B8C-83A1-F6EECF244321}">
                <p14:modId xmlns:p14="http://schemas.microsoft.com/office/powerpoint/2010/main" val="2804043192"/>
              </p:ext>
            </p:extLst>
          </p:nvPr>
        </p:nvGraphicFramePr>
        <p:xfrm>
          <a:off x="3604790" y="2147515"/>
          <a:ext cx="2422524" cy="3604260"/>
        </p:xfrm>
        <a:graphic>
          <a:graphicData uri="http://schemas.openxmlformats.org/drawingml/2006/table">
            <a:tbl>
              <a:tblPr firstRow="1" bandRow="1">
                <a:tableStyleId>{9D7B26C5-4107-4FEC-AEDC-1716B250A1EF}</a:tableStyleId>
              </a:tblPr>
              <a:tblGrid>
                <a:gridCol w="1211262"/>
                <a:gridCol w="1211262"/>
              </a:tblGrid>
              <a:tr h="332598">
                <a:tc>
                  <a:txBody>
                    <a:bodyPr/>
                    <a:lstStyle/>
                    <a:p>
                      <a:pPr algn="l" fontAlgn="base"/>
                      <a:r>
                        <a:rPr lang="en-US" sz="1400" dirty="0" err="1">
                          <a:effectLst/>
                        </a:rPr>
                        <a:t>T</a:t>
                      </a:r>
                      <a:r>
                        <a:rPr lang="en-US" sz="1400" baseline="-25000" dirty="0" err="1">
                          <a:effectLst/>
                        </a:rPr>
                        <a:t>1</a:t>
                      </a:r>
                      <a:endParaRPr lang="en-US" sz="1400" b="0" dirty="0">
                        <a:effectLst/>
                      </a:endParaRPr>
                    </a:p>
                  </a:txBody>
                  <a:tcPr marL="95250" marR="95250" marT="95250" marB="95250" anchor="ctr">
                    <a:lnR w="12700" cap="flat" cmpd="sng" algn="ctr">
                      <a:solidFill>
                        <a:schemeClr val="tx1"/>
                      </a:solidFill>
                      <a:prstDash val="solid"/>
                      <a:round/>
                      <a:headEnd type="none" w="med" len="med"/>
                      <a:tailEnd type="none" w="med" len="med"/>
                    </a:lnR>
                  </a:tcPr>
                </a:tc>
                <a:tc>
                  <a:txBody>
                    <a:bodyPr/>
                    <a:lstStyle/>
                    <a:p>
                      <a:pPr algn="l" fontAlgn="base"/>
                      <a:r>
                        <a:rPr lang="en-US" sz="1400" dirty="0" err="1">
                          <a:effectLst/>
                        </a:rPr>
                        <a:t>T</a:t>
                      </a:r>
                      <a:r>
                        <a:rPr lang="en-US" sz="1400" baseline="-25000" dirty="0" err="1">
                          <a:effectLst/>
                        </a:rPr>
                        <a:t>2</a:t>
                      </a:r>
                      <a:endParaRPr lang="en-US" sz="1400" b="0" dirty="0">
                        <a:effectLst/>
                      </a:endParaRPr>
                    </a:p>
                  </a:txBody>
                  <a:tcPr marL="95250" marR="95250" marT="95250" marB="95250" anchor="ctr">
                    <a:lnL w="12700" cap="flat" cmpd="sng" algn="ctr">
                      <a:solidFill>
                        <a:schemeClr val="tx1"/>
                      </a:solidFill>
                      <a:prstDash val="solid"/>
                      <a:round/>
                      <a:headEnd type="none" w="med" len="med"/>
                      <a:tailEnd type="none" w="med" len="med"/>
                    </a:lnL>
                  </a:tcPr>
                </a:tc>
              </a:tr>
              <a:tr h="376526">
                <a:tc>
                  <a:txBody>
                    <a:bodyPr/>
                    <a:lstStyle/>
                    <a:p>
                      <a:pPr algn="l" fontAlgn="base"/>
                      <a:r>
                        <a:rPr lang="en-US" sz="1250" dirty="0">
                          <a:effectLst/>
                        </a:rPr>
                        <a:t>R(A)</a:t>
                      </a:r>
                      <a:endParaRPr lang="en-US" sz="1250" b="0" dirty="0">
                        <a:effectLst/>
                      </a:endParaRPr>
                    </a:p>
                  </a:txBody>
                  <a:tcPr marL="95250" marR="95250" marT="133350" marB="133350" anchor="ctr">
                    <a:lnR w="12700" cap="flat" cmpd="sng" algn="ctr">
                      <a:solidFill>
                        <a:schemeClr val="tx1"/>
                      </a:solidFill>
                      <a:prstDash val="solid"/>
                      <a:round/>
                      <a:headEnd type="none" w="med" len="med"/>
                      <a:tailEnd type="none" w="med" len="med"/>
                    </a:lnR>
                  </a:tcPr>
                </a:tc>
                <a:tc>
                  <a:txBody>
                    <a:bodyPr/>
                    <a:lstStyle/>
                    <a:p>
                      <a:pPr algn="l" fontAlgn="base"/>
                      <a:endParaRPr lang="en-US" sz="1250" b="0" dirty="0">
                        <a:effectLst/>
                      </a:endParaRPr>
                    </a:p>
                  </a:txBody>
                  <a:tcPr marL="95250" marR="95250" marT="133350" marB="133350" anchor="ctr">
                    <a:lnL w="12700" cap="flat" cmpd="sng" algn="ctr">
                      <a:solidFill>
                        <a:schemeClr val="tx1"/>
                      </a:solidFill>
                      <a:prstDash val="solid"/>
                      <a:round/>
                      <a:headEnd type="none" w="med" len="med"/>
                      <a:tailEnd type="none" w="med" len="med"/>
                    </a:lnL>
                  </a:tcPr>
                </a:tc>
              </a:tr>
              <a:tr h="376526">
                <a:tc>
                  <a:txBody>
                    <a:bodyPr/>
                    <a:lstStyle/>
                    <a:p>
                      <a:pPr algn="l" fontAlgn="base"/>
                      <a:endParaRPr lang="en-US" sz="1250" b="0" dirty="0">
                        <a:effectLst/>
                      </a:endParaRPr>
                    </a:p>
                  </a:txBody>
                  <a:tcPr marL="95250" marR="95250" marT="133350" marB="133350" anchor="ctr">
                    <a:lnR w="12700" cap="flat" cmpd="sng" algn="ctr">
                      <a:solidFill>
                        <a:schemeClr val="tx1"/>
                      </a:solidFill>
                      <a:prstDash val="solid"/>
                      <a:round/>
                      <a:headEnd type="none" w="med" len="med"/>
                      <a:tailEnd type="none" w="med" len="med"/>
                    </a:lnR>
                  </a:tcPr>
                </a:tc>
                <a:tc>
                  <a:txBody>
                    <a:bodyPr/>
                    <a:lstStyle/>
                    <a:p>
                      <a:pPr algn="l" fontAlgn="base"/>
                      <a:r>
                        <a:rPr lang="en-US" sz="1250" dirty="0">
                          <a:effectLst/>
                        </a:rPr>
                        <a:t>R(A)</a:t>
                      </a:r>
                      <a:endParaRPr lang="en-US" sz="1250" b="0" dirty="0">
                        <a:effectLst/>
                      </a:endParaRPr>
                    </a:p>
                  </a:txBody>
                  <a:tcPr marL="95250" marR="95250" marT="133350" marB="133350" anchor="ctr">
                    <a:lnL w="12700" cap="flat" cmpd="sng" algn="ctr">
                      <a:solidFill>
                        <a:schemeClr val="tx1"/>
                      </a:solidFill>
                      <a:prstDash val="solid"/>
                      <a:round/>
                      <a:headEnd type="none" w="med" len="med"/>
                      <a:tailEnd type="none" w="med" len="med"/>
                    </a:lnL>
                  </a:tcPr>
                </a:tc>
              </a:tr>
              <a:tr h="0">
                <a:tc>
                  <a:txBody>
                    <a:bodyPr/>
                    <a:lstStyle/>
                    <a:p>
                      <a:pPr algn="l" fontAlgn="base"/>
                      <a:r>
                        <a:rPr lang="en-US" sz="1250" dirty="0">
                          <a:effectLst/>
                        </a:rPr>
                        <a:t>W(A)</a:t>
                      </a:r>
                      <a:endParaRPr lang="en-US" sz="1250" b="0" dirty="0">
                        <a:effectLst/>
                      </a:endParaRPr>
                    </a:p>
                  </a:txBody>
                  <a:tcPr marL="95250" marR="95250" marT="133350" marB="133350" anchor="ctr">
                    <a:lnR w="12700" cap="flat" cmpd="sng" algn="ctr">
                      <a:solidFill>
                        <a:schemeClr val="tx1"/>
                      </a:solidFill>
                      <a:prstDash val="solid"/>
                      <a:round/>
                      <a:headEnd type="none" w="med" len="med"/>
                      <a:tailEnd type="none" w="med" len="med"/>
                    </a:lnR>
                  </a:tcPr>
                </a:tc>
                <a:tc>
                  <a:txBody>
                    <a:bodyPr/>
                    <a:lstStyle/>
                    <a:p>
                      <a:pPr algn="l" fontAlgn="base"/>
                      <a:endParaRPr lang="en-US" sz="1250" b="0">
                        <a:effectLst/>
                      </a:endParaRPr>
                    </a:p>
                  </a:txBody>
                  <a:tcPr marL="95250" marR="95250" marT="133350" marB="133350" anchor="ctr">
                    <a:lnL w="12700" cap="flat" cmpd="sng" algn="ctr">
                      <a:solidFill>
                        <a:schemeClr val="tx1"/>
                      </a:solidFill>
                      <a:prstDash val="solid"/>
                      <a:round/>
                      <a:headEnd type="none" w="med" len="med"/>
                      <a:tailEnd type="none" w="med" len="med"/>
                    </a:lnL>
                  </a:tcPr>
                </a:tc>
              </a:tr>
              <a:tr h="376526">
                <a:tc>
                  <a:txBody>
                    <a:bodyPr/>
                    <a:lstStyle/>
                    <a:p>
                      <a:pPr algn="l" fontAlgn="base"/>
                      <a:r>
                        <a:rPr lang="en-US" sz="1250" dirty="0">
                          <a:effectLst/>
                        </a:rPr>
                        <a:t>commit</a:t>
                      </a:r>
                      <a:endParaRPr lang="en-US" sz="1250" b="0" dirty="0">
                        <a:effectLst/>
                      </a:endParaRPr>
                    </a:p>
                  </a:txBody>
                  <a:tcPr marL="95250" marR="95250" marT="133350" marB="133350" anchor="ctr">
                    <a:lnR w="12700" cap="flat" cmpd="sng" algn="ctr">
                      <a:solidFill>
                        <a:schemeClr val="tx1"/>
                      </a:solidFill>
                      <a:prstDash val="solid"/>
                      <a:round/>
                      <a:headEnd type="none" w="med" len="med"/>
                      <a:tailEnd type="none" w="med" len="med"/>
                    </a:lnR>
                  </a:tcPr>
                </a:tc>
                <a:tc>
                  <a:txBody>
                    <a:bodyPr/>
                    <a:lstStyle/>
                    <a:p>
                      <a:pPr algn="l" fontAlgn="base"/>
                      <a:endParaRPr lang="en-US" sz="1250" b="0" dirty="0">
                        <a:effectLst/>
                      </a:endParaRPr>
                    </a:p>
                  </a:txBody>
                  <a:tcPr marL="95250" marR="95250" marT="133350" marB="133350" anchor="ctr">
                    <a:lnL w="12700" cap="flat" cmpd="sng" algn="ctr">
                      <a:solidFill>
                        <a:schemeClr val="tx1"/>
                      </a:solidFill>
                      <a:prstDash val="solid"/>
                      <a:round/>
                      <a:headEnd type="none" w="med" len="med"/>
                      <a:tailEnd type="none" w="med" len="med"/>
                    </a:lnL>
                  </a:tcPr>
                </a:tc>
              </a:tr>
              <a:tr h="376526">
                <a:tc>
                  <a:txBody>
                    <a:bodyPr/>
                    <a:lstStyle/>
                    <a:p>
                      <a:pPr algn="l" fontAlgn="base"/>
                      <a:endParaRPr lang="en-US" sz="1250" b="0" dirty="0">
                        <a:effectLst/>
                      </a:endParaRPr>
                    </a:p>
                  </a:txBody>
                  <a:tcPr marL="95250" marR="95250" marT="133350" marB="133350" anchor="ctr">
                    <a:lnR w="12700" cap="flat" cmpd="sng" algn="ctr">
                      <a:solidFill>
                        <a:schemeClr val="tx1"/>
                      </a:solidFill>
                      <a:prstDash val="solid"/>
                      <a:round/>
                      <a:headEnd type="none" w="med" len="med"/>
                      <a:tailEnd type="none" w="med" len="med"/>
                    </a:lnR>
                  </a:tcPr>
                </a:tc>
                <a:tc>
                  <a:txBody>
                    <a:bodyPr/>
                    <a:lstStyle/>
                    <a:p>
                      <a:pPr algn="l" fontAlgn="base"/>
                      <a:r>
                        <a:rPr lang="en-US" sz="1250">
                          <a:effectLst/>
                        </a:rPr>
                        <a:t>W(A)</a:t>
                      </a:r>
                      <a:endParaRPr lang="en-US" sz="1250" b="0">
                        <a:effectLst/>
                      </a:endParaRPr>
                    </a:p>
                  </a:txBody>
                  <a:tcPr marL="95250" marR="95250" marT="133350" marB="133350" anchor="ctr">
                    <a:lnL w="12700" cap="flat" cmpd="sng" algn="ctr">
                      <a:solidFill>
                        <a:schemeClr val="tx1"/>
                      </a:solidFill>
                      <a:prstDash val="solid"/>
                      <a:round/>
                      <a:headEnd type="none" w="med" len="med"/>
                      <a:tailEnd type="none" w="med" len="med"/>
                    </a:lnL>
                  </a:tcPr>
                </a:tc>
              </a:tr>
              <a:tr h="376526">
                <a:tc>
                  <a:txBody>
                    <a:bodyPr/>
                    <a:lstStyle/>
                    <a:p>
                      <a:pPr algn="l" fontAlgn="base"/>
                      <a:endParaRPr lang="en-US" sz="1250" b="0" dirty="0">
                        <a:effectLst/>
                      </a:endParaRPr>
                    </a:p>
                  </a:txBody>
                  <a:tcPr marL="95250" marR="95250" marT="133350" marB="133350" anchor="ctr">
                    <a:lnR w="12700" cap="flat" cmpd="sng" algn="ctr">
                      <a:solidFill>
                        <a:schemeClr val="tx1"/>
                      </a:solidFill>
                      <a:prstDash val="solid"/>
                      <a:round/>
                      <a:headEnd type="none" w="med" len="med"/>
                      <a:tailEnd type="none" w="med" len="med"/>
                    </a:lnR>
                  </a:tcPr>
                </a:tc>
                <a:tc>
                  <a:txBody>
                    <a:bodyPr/>
                    <a:lstStyle/>
                    <a:p>
                      <a:pPr algn="l" fontAlgn="base"/>
                      <a:r>
                        <a:rPr lang="en-US" sz="1250">
                          <a:effectLst/>
                        </a:rPr>
                        <a:t>R(A)</a:t>
                      </a:r>
                      <a:endParaRPr lang="en-US" sz="1250" b="0">
                        <a:effectLst/>
                      </a:endParaRPr>
                    </a:p>
                  </a:txBody>
                  <a:tcPr marL="95250" marR="95250" marT="133350" marB="133350" anchor="ctr">
                    <a:lnL w="12700" cap="flat" cmpd="sng" algn="ctr">
                      <a:solidFill>
                        <a:schemeClr val="tx1"/>
                      </a:solidFill>
                      <a:prstDash val="solid"/>
                      <a:round/>
                      <a:headEnd type="none" w="med" len="med"/>
                      <a:tailEnd type="none" w="med" len="med"/>
                    </a:lnL>
                  </a:tcPr>
                </a:tc>
              </a:tr>
              <a:tr h="376526">
                <a:tc>
                  <a:txBody>
                    <a:bodyPr/>
                    <a:lstStyle/>
                    <a:p>
                      <a:pPr algn="l" fontAlgn="base"/>
                      <a:endParaRPr lang="en-US" sz="1250" b="0" dirty="0">
                        <a:effectLst/>
                      </a:endParaRPr>
                    </a:p>
                  </a:txBody>
                  <a:tcPr marL="95250" marR="95250" marT="133350" marB="133350" anchor="ctr">
                    <a:lnR w="12700" cap="flat" cmpd="sng" algn="ctr">
                      <a:solidFill>
                        <a:schemeClr val="tx1"/>
                      </a:solidFill>
                      <a:prstDash val="solid"/>
                      <a:round/>
                      <a:headEnd type="none" w="med" len="med"/>
                      <a:tailEnd type="none" w="med" len="med"/>
                    </a:lnR>
                  </a:tcPr>
                </a:tc>
                <a:tc>
                  <a:txBody>
                    <a:bodyPr/>
                    <a:lstStyle/>
                    <a:p>
                      <a:pPr algn="l" fontAlgn="base"/>
                      <a:r>
                        <a:rPr lang="en-US" sz="1250" dirty="0">
                          <a:effectLst/>
                        </a:rPr>
                        <a:t>commit</a:t>
                      </a:r>
                      <a:endParaRPr lang="en-US" sz="1250" b="0" dirty="0">
                        <a:effectLst/>
                      </a:endParaRPr>
                    </a:p>
                  </a:txBody>
                  <a:tcPr marL="95250" marR="95250" marT="133350" marB="133350" anchor="ctr">
                    <a:lnL w="12700" cap="flat" cmpd="sng" algn="ctr">
                      <a:solidFill>
                        <a:schemeClr val="tx1"/>
                      </a:solidFill>
                      <a:prstDash val="solid"/>
                      <a:round/>
                      <a:headEnd type="none" w="med" len="med"/>
                      <a:tailEnd type="none" w="med" len="med"/>
                    </a:lnL>
                  </a:tcPr>
                </a:tc>
              </a:tr>
            </a:tbl>
          </a:graphicData>
        </a:graphic>
      </p:graphicFrame>
      <p:sp>
        <p:nvSpPr>
          <p:cNvPr id="7" name="Rectangle 6"/>
          <p:cNvSpPr/>
          <p:nvPr/>
        </p:nvSpPr>
        <p:spPr>
          <a:xfrm>
            <a:off x="1469325" y="5926308"/>
            <a:ext cx="7718738" cy="646331"/>
          </a:xfrm>
          <a:prstGeom prst="rect">
            <a:avLst/>
          </a:prstGeom>
        </p:spPr>
        <p:txBody>
          <a:bodyPr wrap="square">
            <a:spAutoFit/>
          </a:bodyPr>
          <a:lstStyle/>
          <a:p>
            <a:r>
              <a:rPr lang="en-US" dirty="0">
                <a:solidFill>
                  <a:srgbClr val="40424E"/>
                </a:solidFill>
                <a:latin typeface="urw-din"/>
              </a:rPr>
              <a:t>This is a strict schedule since </a:t>
            </a:r>
            <a:r>
              <a:rPr lang="en-US" dirty="0" err="1">
                <a:solidFill>
                  <a:srgbClr val="40424E"/>
                </a:solidFill>
                <a:latin typeface="urw-din"/>
              </a:rPr>
              <a:t>T</a:t>
            </a:r>
            <a:r>
              <a:rPr lang="en-US" baseline="-25000" dirty="0" err="1">
                <a:solidFill>
                  <a:srgbClr val="40424E"/>
                </a:solidFill>
                <a:latin typeface="urw-din"/>
              </a:rPr>
              <a:t>2</a:t>
            </a:r>
            <a:r>
              <a:rPr lang="en-US" dirty="0">
                <a:solidFill>
                  <a:srgbClr val="40424E"/>
                </a:solidFill>
                <a:latin typeface="urw-din"/>
              </a:rPr>
              <a:t> reads and writes A which is written by </a:t>
            </a:r>
            <a:r>
              <a:rPr lang="en-US" dirty="0" err="1">
                <a:solidFill>
                  <a:srgbClr val="40424E"/>
                </a:solidFill>
                <a:latin typeface="urw-din"/>
              </a:rPr>
              <a:t>T</a:t>
            </a:r>
            <a:r>
              <a:rPr lang="en-US" baseline="-25000" dirty="0" err="1">
                <a:solidFill>
                  <a:srgbClr val="40424E"/>
                </a:solidFill>
                <a:latin typeface="urw-din"/>
              </a:rPr>
              <a:t>1</a:t>
            </a:r>
            <a:r>
              <a:rPr lang="en-US" dirty="0">
                <a:solidFill>
                  <a:srgbClr val="40424E"/>
                </a:solidFill>
                <a:latin typeface="urw-din"/>
              </a:rPr>
              <a:t> only after the commit of </a:t>
            </a:r>
            <a:r>
              <a:rPr lang="en-US" dirty="0" err="1">
                <a:solidFill>
                  <a:srgbClr val="40424E"/>
                </a:solidFill>
                <a:latin typeface="urw-din"/>
              </a:rPr>
              <a:t>T</a:t>
            </a:r>
            <a:r>
              <a:rPr lang="en-US" baseline="-25000" dirty="0" err="1">
                <a:solidFill>
                  <a:srgbClr val="40424E"/>
                </a:solidFill>
                <a:latin typeface="urw-din"/>
              </a:rPr>
              <a:t>1</a:t>
            </a:r>
            <a:r>
              <a:rPr lang="en-US" dirty="0">
                <a:solidFill>
                  <a:srgbClr val="40424E"/>
                </a:solidFill>
                <a:latin typeface="urw-din"/>
              </a:rPr>
              <a:t>.</a:t>
            </a:r>
            <a:endParaRPr lang="en-US" dirty="0"/>
          </a:p>
        </p:txBody>
      </p:sp>
    </p:spTree>
    <p:extLst>
      <p:ext uri="{BB962C8B-B14F-4D97-AF65-F5344CB8AC3E}">
        <p14:creationId xmlns:p14="http://schemas.microsoft.com/office/powerpoint/2010/main" val="376825094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10.3.1 Type of Schedule</a:t>
            </a:r>
          </a:p>
        </p:txBody>
      </p:sp>
      <p:sp>
        <p:nvSpPr>
          <p:cNvPr id="3" name="Subtitle 2"/>
          <p:cNvSpPr>
            <a:spLocks noGrp="1"/>
          </p:cNvSpPr>
          <p:nvPr>
            <p:ph type="subTitle" idx="1"/>
          </p:nvPr>
        </p:nvSpPr>
        <p:spPr>
          <a:xfrm>
            <a:off x="1281567" y="1139688"/>
            <a:ext cx="8094254" cy="1114116"/>
          </a:xfrm>
        </p:spPr>
        <p:txBody>
          <a:bodyPr>
            <a:normAutofit/>
          </a:bodyPr>
          <a:lstStyle/>
          <a:p>
            <a:pPr algn="just">
              <a:buClr>
                <a:schemeClr val="tx1"/>
              </a:buClr>
              <a:buSzPct val="71000"/>
            </a:pPr>
            <a:r>
              <a:rPr lang="en-US" sz="2800" b="1" dirty="0" smtClean="0">
                <a:solidFill>
                  <a:srgbClr val="222222"/>
                </a:solidFill>
                <a:latin typeface="arial" panose="020B0604020202020204" pitchFamily="34" charset="0"/>
              </a:rPr>
              <a:t>Other schedules are :</a:t>
            </a:r>
          </a:p>
          <a:p>
            <a:pPr algn="just">
              <a:buClr>
                <a:schemeClr val="tx1"/>
              </a:buClr>
              <a:buSzPct val="71000"/>
            </a:pPr>
            <a:r>
              <a:rPr lang="en-US" sz="2800" b="1" dirty="0" smtClean="0">
                <a:solidFill>
                  <a:srgbClr val="222222"/>
                </a:solidFill>
                <a:latin typeface="arial" panose="020B0604020202020204" pitchFamily="34" charset="0"/>
              </a:rPr>
              <a:t>e. Non - Recoverable Schedule</a:t>
            </a:r>
          </a:p>
        </p:txBody>
      </p:sp>
      <p:sp>
        <p:nvSpPr>
          <p:cNvPr id="13" name="Rectangle 12"/>
          <p:cNvSpPr/>
          <p:nvPr/>
        </p:nvSpPr>
        <p:spPr>
          <a:xfrm>
            <a:off x="2678807" y="2413338"/>
            <a:ext cx="4417452" cy="2862322"/>
          </a:xfrm>
          <a:prstGeom prst="rect">
            <a:avLst/>
          </a:prstGeom>
        </p:spPr>
        <p:txBody>
          <a:bodyPr wrap="square">
            <a:spAutoFit/>
          </a:bodyPr>
          <a:lstStyle/>
          <a:p>
            <a:r>
              <a:rPr lang="en-US" dirty="0" err="1" smtClean="0"/>
              <a:t>T1</a:t>
            </a:r>
            <a:r>
              <a:rPr lang="en-US" dirty="0"/>
              <a:t>	</a:t>
            </a:r>
            <a:r>
              <a:rPr lang="en-US" dirty="0" err="1"/>
              <a:t>T2</a:t>
            </a:r>
            <a:endParaRPr lang="en-US" dirty="0"/>
          </a:p>
          <a:p>
            <a:r>
              <a:rPr lang="en-US" dirty="0"/>
              <a:t>R(A</a:t>
            </a:r>
            <a:r>
              <a:rPr lang="en-US" dirty="0" smtClean="0"/>
              <a:t>)</a:t>
            </a:r>
          </a:p>
          <a:p>
            <a:r>
              <a:rPr lang="en-US" dirty="0"/>
              <a:t>	</a:t>
            </a:r>
          </a:p>
          <a:p>
            <a:r>
              <a:rPr lang="en-US" dirty="0"/>
              <a:t>W(A)	</a:t>
            </a:r>
          </a:p>
          <a:p>
            <a:r>
              <a:rPr lang="en-US" dirty="0"/>
              <a:t>	W(A</a:t>
            </a:r>
            <a:r>
              <a:rPr lang="en-US" dirty="0" smtClean="0"/>
              <a:t>)</a:t>
            </a:r>
          </a:p>
          <a:p>
            <a:endParaRPr lang="en-US" dirty="0"/>
          </a:p>
          <a:p>
            <a:r>
              <a:rPr lang="en-US" dirty="0"/>
              <a:t>	R(A</a:t>
            </a:r>
            <a:r>
              <a:rPr lang="en-US" dirty="0" smtClean="0"/>
              <a:t>)</a:t>
            </a:r>
          </a:p>
          <a:p>
            <a:endParaRPr lang="en-US" dirty="0"/>
          </a:p>
          <a:p>
            <a:r>
              <a:rPr lang="en-US" dirty="0"/>
              <a:t>	commit</a:t>
            </a:r>
          </a:p>
          <a:p>
            <a:r>
              <a:rPr lang="en-US" dirty="0"/>
              <a:t>abort	</a:t>
            </a:r>
          </a:p>
        </p:txBody>
      </p:sp>
      <p:sp>
        <p:nvSpPr>
          <p:cNvPr id="15" name="Rectangle 14"/>
          <p:cNvSpPr/>
          <p:nvPr/>
        </p:nvSpPr>
        <p:spPr>
          <a:xfrm>
            <a:off x="1281567" y="5435194"/>
            <a:ext cx="8094254" cy="923330"/>
          </a:xfrm>
          <a:prstGeom prst="rect">
            <a:avLst/>
          </a:prstGeom>
        </p:spPr>
        <p:txBody>
          <a:bodyPr wrap="square">
            <a:spAutoFit/>
          </a:bodyPr>
          <a:lstStyle/>
          <a:p>
            <a:r>
              <a:rPr lang="en-US" dirty="0" err="1">
                <a:solidFill>
                  <a:srgbClr val="40424E"/>
                </a:solidFill>
                <a:latin typeface="urw-din"/>
              </a:rPr>
              <a:t>T</a:t>
            </a:r>
            <a:r>
              <a:rPr lang="en-US" baseline="-25000" dirty="0" err="1">
                <a:solidFill>
                  <a:srgbClr val="40424E"/>
                </a:solidFill>
                <a:latin typeface="urw-din"/>
              </a:rPr>
              <a:t>2</a:t>
            </a:r>
            <a:r>
              <a:rPr lang="en-US" dirty="0">
                <a:solidFill>
                  <a:srgbClr val="40424E"/>
                </a:solidFill>
                <a:latin typeface="urw-din"/>
              </a:rPr>
              <a:t> read the value of A written by </a:t>
            </a:r>
            <a:r>
              <a:rPr lang="en-US" dirty="0" err="1">
                <a:solidFill>
                  <a:srgbClr val="40424E"/>
                </a:solidFill>
                <a:latin typeface="urw-din"/>
              </a:rPr>
              <a:t>T</a:t>
            </a:r>
            <a:r>
              <a:rPr lang="en-US" baseline="-25000" dirty="0" err="1">
                <a:solidFill>
                  <a:srgbClr val="40424E"/>
                </a:solidFill>
                <a:latin typeface="urw-din"/>
              </a:rPr>
              <a:t>1</a:t>
            </a:r>
            <a:r>
              <a:rPr lang="en-US" dirty="0">
                <a:solidFill>
                  <a:srgbClr val="40424E"/>
                </a:solidFill>
                <a:latin typeface="urw-din"/>
              </a:rPr>
              <a:t>, and committed. </a:t>
            </a:r>
            <a:r>
              <a:rPr lang="en-US" dirty="0" err="1">
                <a:solidFill>
                  <a:srgbClr val="40424E"/>
                </a:solidFill>
                <a:latin typeface="urw-din"/>
              </a:rPr>
              <a:t>T</a:t>
            </a:r>
            <a:r>
              <a:rPr lang="en-US" baseline="-25000" dirty="0" err="1">
                <a:solidFill>
                  <a:srgbClr val="40424E"/>
                </a:solidFill>
                <a:latin typeface="urw-din"/>
              </a:rPr>
              <a:t>1</a:t>
            </a:r>
            <a:r>
              <a:rPr lang="en-US" dirty="0">
                <a:solidFill>
                  <a:srgbClr val="40424E"/>
                </a:solidFill>
                <a:latin typeface="urw-din"/>
              </a:rPr>
              <a:t> later aborted, therefore the value read by </a:t>
            </a:r>
            <a:r>
              <a:rPr lang="en-US" dirty="0" err="1">
                <a:solidFill>
                  <a:srgbClr val="40424E"/>
                </a:solidFill>
                <a:latin typeface="urw-din"/>
              </a:rPr>
              <a:t>T</a:t>
            </a:r>
            <a:r>
              <a:rPr lang="en-US" baseline="-25000" dirty="0" err="1">
                <a:solidFill>
                  <a:srgbClr val="40424E"/>
                </a:solidFill>
                <a:latin typeface="urw-din"/>
              </a:rPr>
              <a:t>2</a:t>
            </a:r>
            <a:r>
              <a:rPr lang="en-US" dirty="0">
                <a:solidFill>
                  <a:srgbClr val="40424E"/>
                </a:solidFill>
                <a:latin typeface="urw-din"/>
              </a:rPr>
              <a:t> is wrong, but since </a:t>
            </a:r>
            <a:r>
              <a:rPr lang="en-US" dirty="0" err="1">
                <a:solidFill>
                  <a:srgbClr val="40424E"/>
                </a:solidFill>
                <a:latin typeface="urw-din"/>
              </a:rPr>
              <a:t>T</a:t>
            </a:r>
            <a:r>
              <a:rPr lang="en-US" baseline="-25000" dirty="0" err="1">
                <a:solidFill>
                  <a:srgbClr val="40424E"/>
                </a:solidFill>
                <a:latin typeface="urw-din"/>
              </a:rPr>
              <a:t>2</a:t>
            </a:r>
            <a:r>
              <a:rPr lang="en-US" dirty="0">
                <a:solidFill>
                  <a:srgbClr val="40424E"/>
                </a:solidFill>
                <a:latin typeface="urw-din"/>
              </a:rPr>
              <a:t> committed, this schedule is </a:t>
            </a:r>
            <a:r>
              <a:rPr lang="en-US" b="1" dirty="0">
                <a:solidFill>
                  <a:srgbClr val="40424E"/>
                </a:solidFill>
                <a:latin typeface="urw-din"/>
              </a:rPr>
              <a:t>non-recoverable</a:t>
            </a:r>
            <a:r>
              <a:rPr lang="en-US" dirty="0">
                <a:solidFill>
                  <a:srgbClr val="40424E"/>
                </a:solidFill>
                <a:latin typeface="urw-din"/>
              </a:rPr>
              <a:t>.</a:t>
            </a:r>
            <a:endParaRPr lang="en-US" dirty="0"/>
          </a:p>
        </p:txBody>
      </p:sp>
    </p:spTree>
    <p:extLst>
      <p:ext uri="{BB962C8B-B14F-4D97-AF65-F5344CB8AC3E}">
        <p14:creationId xmlns:p14="http://schemas.microsoft.com/office/powerpoint/2010/main" val="274806638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10.4 </a:t>
            </a:r>
            <a:r>
              <a:rPr lang="en-US" sz="2800" dirty="0" err="1" smtClean="0">
                <a:solidFill>
                  <a:schemeClr val="bg1"/>
                </a:solidFill>
              </a:rPr>
              <a:t>Serializability</a:t>
            </a:r>
            <a:r>
              <a:rPr lang="en-US" sz="2800" dirty="0" smtClean="0">
                <a:solidFill>
                  <a:schemeClr val="bg1"/>
                </a:solidFill>
              </a:rPr>
              <a:t> </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a:bodyPr>
          <a:lstStyle/>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A schedule is serial if for every transaction participating in the schedule , all operations of a transaction executed consecutively in the schedule</a:t>
            </a: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A </a:t>
            </a:r>
            <a:r>
              <a:rPr lang="en-US" sz="2800" dirty="0">
                <a:solidFill>
                  <a:srgbClr val="222222"/>
                </a:solidFill>
                <a:latin typeface="arial" panose="020B0604020202020204" pitchFamily="34" charset="0"/>
              </a:rPr>
              <a:t>schedule is serializable if it is not serial but is equivalent to some serial schedule of same transactions</a:t>
            </a: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Two </a:t>
            </a:r>
            <a:r>
              <a:rPr lang="en-US" sz="2800" dirty="0">
                <a:solidFill>
                  <a:srgbClr val="222222"/>
                </a:solidFill>
                <a:latin typeface="arial" panose="020B0604020202020204" pitchFamily="34" charset="0"/>
              </a:rPr>
              <a:t>schedules are result equivalent if they produce the same final state of the database</a:t>
            </a:r>
            <a:endParaRPr lang="en-US" sz="2800" dirty="0" smtClean="0">
              <a:solidFill>
                <a:srgbClr val="222222"/>
              </a:solidFill>
              <a:latin typeface="arial" panose="020B0604020202020204" pitchFamily="34" charset="0"/>
            </a:endParaRPr>
          </a:p>
        </p:txBody>
      </p:sp>
    </p:spTree>
    <p:extLst>
      <p:ext uri="{BB962C8B-B14F-4D97-AF65-F5344CB8AC3E}">
        <p14:creationId xmlns:p14="http://schemas.microsoft.com/office/powerpoint/2010/main" val="193537607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10.4.1 Types of </a:t>
            </a:r>
            <a:r>
              <a:rPr lang="en-US" sz="2800" dirty="0" err="1" smtClean="0">
                <a:solidFill>
                  <a:schemeClr val="bg1"/>
                </a:solidFill>
              </a:rPr>
              <a:t>Serializability</a:t>
            </a:r>
            <a:r>
              <a:rPr lang="en-US" sz="2800" dirty="0" smtClean="0">
                <a:solidFill>
                  <a:schemeClr val="bg1"/>
                </a:solidFill>
              </a:rPr>
              <a:t> </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a:bodyPr>
          <a:lstStyle/>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Conflict </a:t>
            </a:r>
            <a:r>
              <a:rPr lang="en-US" sz="2800" dirty="0" err="1">
                <a:solidFill>
                  <a:srgbClr val="222222"/>
                </a:solidFill>
                <a:latin typeface="arial" panose="020B0604020202020204" pitchFamily="34" charset="0"/>
              </a:rPr>
              <a:t>Serializability</a:t>
            </a:r>
            <a:r>
              <a:rPr lang="en-US" sz="2800" dirty="0">
                <a:solidFill>
                  <a:srgbClr val="222222"/>
                </a:solidFill>
                <a:latin typeface="arial" panose="020B0604020202020204" pitchFamily="34" charset="0"/>
              </a:rPr>
              <a:t> </a:t>
            </a:r>
            <a:endParaRPr lang="en-US" sz="2800" dirty="0" smtClean="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View </a:t>
            </a:r>
            <a:r>
              <a:rPr lang="en-US" sz="2800" dirty="0" err="1">
                <a:solidFill>
                  <a:srgbClr val="222222"/>
                </a:solidFill>
                <a:latin typeface="arial" panose="020B0604020202020204" pitchFamily="34" charset="0"/>
              </a:rPr>
              <a:t>Serializability</a:t>
            </a:r>
            <a:r>
              <a:rPr lang="en-US" sz="2800" dirty="0">
                <a:solidFill>
                  <a:srgbClr val="222222"/>
                </a:solidFill>
                <a:latin typeface="arial" panose="020B0604020202020204" pitchFamily="34" charset="0"/>
              </a:rPr>
              <a:t> </a:t>
            </a:r>
            <a:endParaRPr lang="en-US" sz="2800" dirty="0" smtClean="0">
              <a:solidFill>
                <a:srgbClr val="222222"/>
              </a:solidFill>
              <a:latin typeface="arial" panose="020B0604020202020204" pitchFamily="34" charset="0"/>
            </a:endParaRPr>
          </a:p>
        </p:txBody>
      </p:sp>
    </p:spTree>
    <p:extLst>
      <p:ext uri="{BB962C8B-B14F-4D97-AF65-F5344CB8AC3E}">
        <p14:creationId xmlns:p14="http://schemas.microsoft.com/office/powerpoint/2010/main" val="116124987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10.4.1.1 </a:t>
            </a:r>
            <a:r>
              <a:rPr lang="en-US" sz="2800" dirty="0">
                <a:solidFill>
                  <a:schemeClr val="bg1"/>
                </a:solidFill>
              </a:rPr>
              <a:t>Conflict </a:t>
            </a:r>
            <a:r>
              <a:rPr lang="en-US" sz="2800" dirty="0" err="1">
                <a:solidFill>
                  <a:schemeClr val="bg1"/>
                </a:solidFill>
              </a:rPr>
              <a:t>Serializability</a:t>
            </a:r>
            <a:r>
              <a:rPr lang="en-US" sz="2800" dirty="0">
                <a:solidFill>
                  <a:schemeClr val="bg1"/>
                </a:solidFill>
              </a:rPr>
              <a:t> </a:t>
            </a:r>
          </a:p>
        </p:txBody>
      </p:sp>
      <p:sp>
        <p:nvSpPr>
          <p:cNvPr id="3" name="Subtitle 2"/>
          <p:cNvSpPr>
            <a:spLocks noGrp="1"/>
          </p:cNvSpPr>
          <p:nvPr>
            <p:ph type="subTitle" idx="1"/>
          </p:nvPr>
        </p:nvSpPr>
        <p:spPr>
          <a:xfrm>
            <a:off x="1281567" y="1139687"/>
            <a:ext cx="8094254" cy="4990657"/>
          </a:xfrm>
        </p:spPr>
        <p:txBody>
          <a:bodyPr>
            <a:normAutofit/>
          </a:bodyPr>
          <a:lstStyle/>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A </a:t>
            </a:r>
            <a:r>
              <a:rPr lang="en-US" sz="2800" dirty="0">
                <a:solidFill>
                  <a:srgbClr val="222222"/>
                </a:solidFill>
                <a:latin typeface="arial" panose="020B0604020202020204" pitchFamily="34" charset="0"/>
              </a:rPr>
              <a:t>schedule is called conflict </a:t>
            </a:r>
            <a:r>
              <a:rPr lang="en-US" sz="2800" dirty="0" err="1">
                <a:solidFill>
                  <a:srgbClr val="222222"/>
                </a:solidFill>
                <a:latin typeface="arial" panose="020B0604020202020204" pitchFamily="34" charset="0"/>
              </a:rPr>
              <a:t>serializability</a:t>
            </a:r>
            <a:r>
              <a:rPr lang="en-US" sz="2800" dirty="0">
                <a:solidFill>
                  <a:srgbClr val="222222"/>
                </a:solidFill>
                <a:latin typeface="arial" panose="020B0604020202020204" pitchFamily="34" charset="0"/>
              </a:rPr>
              <a:t> if after swapping of non-conflicting operations, it can transform into a serial schedule.</a:t>
            </a: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The schedule will be a conflict serializable if it is conflict equivalent to a serial schedule.</a:t>
            </a:r>
          </a:p>
        </p:txBody>
      </p:sp>
    </p:spTree>
    <p:extLst>
      <p:ext uri="{BB962C8B-B14F-4D97-AF65-F5344CB8AC3E}">
        <p14:creationId xmlns:p14="http://schemas.microsoft.com/office/powerpoint/2010/main" val="320128128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10.4.1.1 Conflict </a:t>
            </a:r>
            <a:r>
              <a:rPr lang="en-US" sz="2800" dirty="0" err="1">
                <a:solidFill>
                  <a:schemeClr val="bg1"/>
                </a:solidFill>
              </a:rPr>
              <a:t>Serializability</a:t>
            </a:r>
            <a:r>
              <a:rPr lang="en-US" sz="2800" dirty="0">
                <a:solidFill>
                  <a:schemeClr val="bg1"/>
                </a:solidFill>
              </a:rPr>
              <a:t> </a:t>
            </a:r>
          </a:p>
        </p:txBody>
      </p:sp>
      <p:sp>
        <p:nvSpPr>
          <p:cNvPr id="3" name="Subtitle 2"/>
          <p:cNvSpPr>
            <a:spLocks noGrp="1"/>
          </p:cNvSpPr>
          <p:nvPr>
            <p:ph type="subTitle" idx="1"/>
          </p:nvPr>
        </p:nvSpPr>
        <p:spPr>
          <a:xfrm>
            <a:off x="1281567" y="1139687"/>
            <a:ext cx="8094254" cy="4990657"/>
          </a:xfrm>
        </p:spPr>
        <p:txBody>
          <a:bodyPr>
            <a:normAutofit fontScale="92500"/>
          </a:bodyPr>
          <a:lstStyle/>
          <a:p>
            <a:pPr algn="just">
              <a:buClr>
                <a:schemeClr val="tx1"/>
              </a:buClr>
              <a:buSzPct val="71000"/>
            </a:pPr>
            <a:r>
              <a:rPr lang="en-US" sz="2800" b="1" dirty="0">
                <a:solidFill>
                  <a:srgbClr val="222222"/>
                </a:solidFill>
                <a:latin typeface="arial" panose="020B0604020202020204" pitchFamily="34" charset="0"/>
              </a:rPr>
              <a:t>Conflicting </a:t>
            </a:r>
            <a:r>
              <a:rPr lang="en-US" sz="2800" b="1" dirty="0" smtClean="0">
                <a:solidFill>
                  <a:srgbClr val="222222"/>
                </a:solidFill>
                <a:latin typeface="arial" panose="020B0604020202020204" pitchFamily="34" charset="0"/>
              </a:rPr>
              <a:t>Operations</a:t>
            </a:r>
          </a:p>
          <a:p>
            <a:pPr algn="just">
              <a:buClr>
                <a:schemeClr val="tx1"/>
              </a:buClr>
              <a:buSzPct val="71000"/>
            </a:pPr>
            <a:r>
              <a:rPr lang="en-US" sz="2800" dirty="0">
                <a:solidFill>
                  <a:srgbClr val="222222"/>
                </a:solidFill>
                <a:latin typeface="arial" panose="020B0604020202020204" pitchFamily="34" charset="0"/>
              </a:rPr>
              <a:t>The two operations become conflicting if all conditions satisfy</a:t>
            </a:r>
            <a:r>
              <a:rPr lang="en-US" sz="2800" dirty="0" smtClean="0">
                <a:solidFill>
                  <a:srgbClr val="222222"/>
                </a:solidFill>
                <a:latin typeface="arial" panose="020B0604020202020204" pitchFamily="34" charset="0"/>
              </a:rPr>
              <a:t>:</a:t>
            </a:r>
            <a:endParaRPr lang="en-US" sz="2800" dirty="0">
              <a:solidFill>
                <a:srgbClr val="222222"/>
              </a:solidFill>
              <a:latin typeface="arial" panose="020B0604020202020204" pitchFamily="34" charset="0"/>
            </a:endParaRPr>
          </a:p>
          <a:p>
            <a:pPr marL="914389" lvl="1" indent="-457200" algn="just">
              <a:buClr>
                <a:schemeClr val="tx1"/>
              </a:buClr>
              <a:buSzPct val="71000"/>
              <a:buFont typeface="Wingdings" panose="05000000000000000000" pitchFamily="2" charset="2"/>
              <a:buChar char="Ø"/>
            </a:pPr>
            <a:r>
              <a:rPr lang="en-US" sz="2600" dirty="0">
                <a:solidFill>
                  <a:srgbClr val="222222"/>
                </a:solidFill>
                <a:latin typeface="arial" panose="020B0604020202020204" pitchFamily="34" charset="0"/>
              </a:rPr>
              <a:t>Both belong to separate transactions.</a:t>
            </a:r>
          </a:p>
          <a:p>
            <a:pPr marL="914389" lvl="1" indent="-457200" algn="just">
              <a:buClr>
                <a:schemeClr val="tx1"/>
              </a:buClr>
              <a:buSzPct val="71000"/>
              <a:buFont typeface="Wingdings" panose="05000000000000000000" pitchFamily="2" charset="2"/>
              <a:buChar char="Ø"/>
            </a:pPr>
            <a:r>
              <a:rPr lang="en-US" sz="2600" dirty="0">
                <a:solidFill>
                  <a:srgbClr val="222222"/>
                </a:solidFill>
                <a:latin typeface="arial" panose="020B0604020202020204" pitchFamily="34" charset="0"/>
              </a:rPr>
              <a:t>They have the same data item.</a:t>
            </a:r>
          </a:p>
          <a:p>
            <a:pPr marL="914389" lvl="1" indent="-457200" algn="just">
              <a:buClr>
                <a:schemeClr val="tx1"/>
              </a:buClr>
              <a:buSzPct val="71000"/>
              <a:buFont typeface="Wingdings" panose="05000000000000000000" pitchFamily="2" charset="2"/>
              <a:buChar char="Ø"/>
            </a:pPr>
            <a:r>
              <a:rPr lang="en-US" sz="2600" dirty="0" smtClean="0">
                <a:solidFill>
                  <a:srgbClr val="222222"/>
                </a:solidFill>
                <a:latin typeface="arial" panose="020B0604020202020204" pitchFamily="34" charset="0"/>
              </a:rPr>
              <a:t>They </a:t>
            </a:r>
            <a:r>
              <a:rPr lang="en-US" sz="2600" dirty="0">
                <a:solidFill>
                  <a:srgbClr val="222222"/>
                </a:solidFill>
                <a:latin typeface="arial" panose="020B0604020202020204" pitchFamily="34" charset="0"/>
              </a:rPr>
              <a:t>contain at least one write </a:t>
            </a:r>
            <a:r>
              <a:rPr lang="en-US" sz="2600" dirty="0" smtClean="0">
                <a:solidFill>
                  <a:srgbClr val="222222"/>
                </a:solidFill>
                <a:latin typeface="arial" panose="020B0604020202020204" pitchFamily="34" charset="0"/>
              </a:rPr>
              <a:t>operation.</a:t>
            </a:r>
          </a:p>
          <a:p>
            <a:pPr algn="just">
              <a:buClr>
                <a:schemeClr val="tx1"/>
              </a:buClr>
              <a:buSzPct val="71000"/>
            </a:pPr>
            <a:r>
              <a:rPr lang="en-US" sz="2800" b="1" dirty="0" smtClean="0">
                <a:solidFill>
                  <a:srgbClr val="222222"/>
                </a:solidFill>
                <a:latin typeface="arial" panose="020B0604020202020204" pitchFamily="34" charset="0"/>
              </a:rPr>
              <a:t>Note</a:t>
            </a:r>
            <a:r>
              <a:rPr lang="en-US" sz="2800" b="1" dirty="0">
                <a:solidFill>
                  <a:srgbClr val="222222"/>
                </a:solidFill>
                <a:latin typeface="arial" panose="020B0604020202020204" pitchFamily="34" charset="0"/>
              </a:rPr>
              <a:t>: Conflict pairs for the same data item are:</a:t>
            </a:r>
          </a:p>
          <a:p>
            <a:pPr marL="914389" lvl="1" indent="-457200" algn="just">
              <a:buClr>
                <a:schemeClr val="tx1"/>
              </a:buClr>
              <a:buSzPct val="71000"/>
              <a:buFont typeface="Wingdings" panose="05000000000000000000" pitchFamily="2" charset="2"/>
              <a:buChar char="Ø"/>
            </a:pPr>
            <a:r>
              <a:rPr lang="en-US" sz="2600" dirty="0">
                <a:solidFill>
                  <a:srgbClr val="222222"/>
                </a:solidFill>
                <a:latin typeface="arial" panose="020B0604020202020204" pitchFamily="34" charset="0"/>
              </a:rPr>
              <a:t>Read-Write</a:t>
            </a:r>
          </a:p>
          <a:p>
            <a:pPr marL="914389" lvl="1" indent="-457200" algn="just">
              <a:buClr>
                <a:schemeClr val="tx1"/>
              </a:buClr>
              <a:buSzPct val="71000"/>
              <a:buFont typeface="Wingdings" panose="05000000000000000000" pitchFamily="2" charset="2"/>
              <a:buChar char="Ø"/>
            </a:pPr>
            <a:r>
              <a:rPr lang="en-US" sz="2600" dirty="0">
                <a:solidFill>
                  <a:srgbClr val="222222"/>
                </a:solidFill>
                <a:latin typeface="arial" panose="020B0604020202020204" pitchFamily="34" charset="0"/>
              </a:rPr>
              <a:t>Write-Write</a:t>
            </a:r>
          </a:p>
          <a:p>
            <a:pPr marL="914389" lvl="1" indent="-457200" algn="just">
              <a:buClr>
                <a:schemeClr val="tx1"/>
              </a:buClr>
              <a:buSzPct val="71000"/>
              <a:buFont typeface="Wingdings" panose="05000000000000000000" pitchFamily="2" charset="2"/>
              <a:buChar char="Ø"/>
            </a:pPr>
            <a:r>
              <a:rPr lang="en-US" sz="2600" dirty="0">
                <a:solidFill>
                  <a:srgbClr val="222222"/>
                </a:solidFill>
                <a:latin typeface="arial" panose="020B0604020202020204" pitchFamily="34" charset="0"/>
              </a:rPr>
              <a:t>Write-Read</a:t>
            </a:r>
            <a:endParaRPr lang="en-US" sz="2600" dirty="0" smtClean="0">
              <a:solidFill>
                <a:srgbClr val="222222"/>
              </a:solidFill>
              <a:latin typeface="arial" panose="020B0604020202020204" pitchFamily="34" charset="0"/>
            </a:endParaRPr>
          </a:p>
        </p:txBody>
      </p:sp>
    </p:spTree>
    <p:extLst>
      <p:ext uri="{BB962C8B-B14F-4D97-AF65-F5344CB8AC3E}">
        <p14:creationId xmlns:p14="http://schemas.microsoft.com/office/powerpoint/2010/main" val="408456356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10.4.1.1 Conflict </a:t>
            </a:r>
            <a:r>
              <a:rPr lang="en-US" sz="2800" dirty="0" err="1">
                <a:solidFill>
                  <a:schemeClr val="bg1"/>
                </a:solidFill>
              </a:rPr>
              <a:t>Serializability</a:t>
            </a:r>
            <a:r>
              <a:rPr lang="en-US" sz="2800" dirty="0">
                <a:solidFill>
                  <a:schemeClr val="bg1"/>
                </a:solidFill>
              </a:rPr>
              <a:t> </a:t>
            </a: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r>
              <a:rPr lang="en-US" sz="2800" b="1" dirty="0" smtClean="0">
                <a:solidFill>
                  <a:srgbClr val="222222"/>
                </a:solidFill>
                <a:latin typeface="arial" panose="020B0604020202020204" pitchFamily="34" charset="0"/>
              </a:rPr>
              <a:t>Test for conflict </a:t>
            </a:r>
            <a:r>
              <a:rPr lang="en-US" sz="2800" b="1" dirty="0" err="1" smtClean="0">
                <a:solidFill>
                  <a:srgbClr val="222222"/>
                </a:solidFill>
                <a:latin typeface="arial" panose="020B0604020202020204" pitchFamily="34" charset="0"/>
              </a:rPr>
              <a:t>serializability</a:t>
            </a:r>
            <a:endParaRPr lang="en-US" sz="2800" b="1" dirty="0">
              <a:solidFill>
                <a:srgbClr val="222222"/>
              </a:solidFill>
              <a:latin typeface="arial" panose="020B0604020202020204" pitchFamily="34" charset="0"/>
            </a:endParaRPr>
          </a:p>
          <a:p>
            <a:pPr marL="914389" lvl="1" indent="-457200" algn="just">
              <a:buClr>
                <a:schemeClr val="tx1"/>
              </a:buClr>
              <a:buSzPct val="71000"/>
              <a:buFont typeface="Wingdings" panose="05000000000000000000" pitchFamily="2" charset="2"/>
              <a:buChar char="Ø"/>
            </a:pPr>
            <a:r>
              <a:rPr lang="en-US" sz="2600" dirty="0" smtClean="0">
                <a:solidFill>
                  <a:srgbClr val="222222"/>
                </a:solidFill>
                <a:latin typeface="arial" panose="020B0604020202020204" pitchFamily="34" charset="0"/>
              </a:rPr>
              <a:t>Swapping Method</a:t>
            </a:r>
          </a:p>
          <a:p>
            <a:pPr marL="914389" lvl="1" indent="-457200" algn="just">
              <a:buClr>
                <a:schemeClr val="tx1"/>
              </a:buClr>
              <a:buSzPct val="71000"/>
              <a:buFont typeface="Wingdings" panose="05000000000000000000" pitchFamily="2" charset="2"/>
              <a:buChar char="Ø"/>
            </a:pPr>
            <a:r>
              <a:rPr lang="en-US" sz="2600" dirty="0" smtClean="0">
                <a:solidFill>
                  <a:srgbClr val="222222"/>
                </a:solidFill>
                <a:latin typeface="arial" panose="020B0604020202020204" pitchFamily="34" charset="0"/>
              </a:rPr>
              <a:t>Precedence graph method</a:t>
            </a:r>
          </a:p>
        </p:txBody>
      </p:sp>
    </p:spTree>
    <p:extLst>
      <p:ext uri="{BB962C8B-B14F-4D97-AF65-F5344CB8AC3E}">
        <p14:creationId xmlns:p14="http://schemas.microsoft.com/office/powerpoint/2010/main" val="304181517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10.4.1.1 Conflict </a:t>
            </a:r>
            <a:r>
              <a:rPr lang="en-US" sz="2800" dirty="0" err="1">
                <a:solidFill>
                  <a:schemeClr val="bg1"/>
                </a:solidFill>
              </a:rPr>
              <a:t>Serializability</a:t>
            </a:r>
            <a:r>
              <a:rPr lang="en-US" sz="2800" dirty="0">
                <a:solidFill>
                  <a:schemeClr val="bg1"/>
                </a:solidFill>
              </a:rPr>
              <a:t> </a:t>
            </a: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r>
              <a:rPr lang="en-US" sz="2800" b="1" dirty="0" smtClean="0">
                <a:solidFill>
                  <a:srgbClr val="222222"/>
                </a:solidFill>
                <a:latin typeface="arial" panose="020B0604020202020204" pitchFamily="34" charset="0"/>
              </a:rPr>
              <a:t>Test for conflict </a:t>
            </a:r>
            <a:r>
              <a:rPr lang="en-US" sz="2800" b="1" dirty="0" err="1" smtClean="0">
                <a:solidFill>
                  <a:srgbClr val="222222"/>
                </a:solidFill>
                <a:latin typeface="arial" panose="020B0604020202020204" pitchFamily="34" charset="0"/>
              </a:rPr>
              <a:t>serializability</a:t>
            </a:r>
            <a:r>
              <a:rPr lang="en-US" sz="2800" b="1" dirty="0" smtClean="0">
                <a:solidFill>
                  <a:srgbClr val="222222"/>
                </a:solidFill>
                <a:latin typeface="arial" panose="020B0604020202020204" pitchFamily="34" charset="0"/>
              </a:rPr>
              <a:t> : </a:t>
            </a:r>
            <a:r>
              <a:rPr lang="en-US" sz="2600" dirty="0" smtClean="0">
                <a:solidFill>
                  <a:srgbClr val="FF0000"/>
                </a:solidFill>
                <a:latin typeface="arial" panose="020B0604020202020204" pitchFamily="34" charset="0"/>
              </a:rPr>
              <a:t>Swapping Method</a:t>
            </a:r>
          </a:p>
          <a:p>
            <a:pPr marL="457200" indent="-457200" algn="just">
              <a:buClr>
                <a:schemeClr val="tx1"/>
              </a:buClr>
              <a:buSzPct val="71000"/>
              <a:buFont typeface="Wingdings" panose="05000000000000000000" pitchFamily="2" charset="2"/>
              <a:buChar char="Ø"/>
            </a:pPr>
            <a:r>
              <a:rPr lang="en-US" sz="2600" dirty="0">
                <a:solidFill>
                  <a:schemeClr val="tx1"/>
                </a:solidFill>
                <a:latin typeface="arial" panose="020B0604020202020204" pitchFamily="34" charset="0"/>
              </a:rPr>
              <a:t>Two schedules are called as a conflict equivalent schedule if one schedule can be transformed into another schedule by swapping non-conflicting operations.</a:t>
            </a:r>
            <a:endParaRPr lang="en-US" sz="2600" dirty="0" smtClean="0">
              <a:solidFill>
                <a:schemeClr val="tx1"/>
              </a:solidFill>
              <a:latin typeface="arial" panose="020B0604020202020204" pitchFamily="34" charset="0"/>
            </a:endParaRPr>
          </a:p>
        </p:txBody>
      </p:sp>
    </p:spTree>
    <p:extLst>
      <p:ext uri="{BB962C8B-B14F-4D97-AF65-F5344CB8AC3E}">
        <p14:creationId xmlns:p14="http://schemas.microsoft.com/office/powerpoint/2010/main" val="29323526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10.4.1.1 Conflict </a:t>
            </a:r>
            <a:r>
              <a:rPr lang="en-US" sz="2800" dirty="0" err="1">
                <a:solidFill>
                  <a:schemeClr val="bg1"/>
                </a:solidFill>
              </a:rPr>
              <a:t>Serializability</a:t>
            </a:r>
            <a:r>
              <a:rPr lang="en-US" sz="2800" dirty="0">
                <a:solidFill>
                  <a:schemeClr val="bg1"/>
                </a:solidFill>
              </a:rPr>
              <a:t> </a:t>
            </a:r>
          </a:p>
        </p:txBody>
      </p:sp>
      <p:sp>
        <p:nvSpPr>
          <p:cNvPr id="3" name="Subtitle 2"/>
          <p:cNvSpPr>
            <a:spLocks noGrp="1"/>
          </p:cNvSpPr>
          <p:nvPr>
            <p:ph type="subTitle" idx="1"/>
          </p:nvPr>
        </p:nvSpPr>
        <p:spPr>
          <a:xfrm>
            <a:off x="1281567" y="1139688"/>
            <a:ext cx="8094254" cy="495929"/>
          </a:xfrm>
        </p:spPr>
        <p:txBody>
          <a:bodyPr>
            <a:normAutofit fontScale="92500"/>
          </a:bodyPr>
          <a:lstStyle/>
          <a:p>
            <a:pPr algn="just">
              <a:buClr>
                <a:schemeClr val="tx1"/>
              </a:buClr>
              <a:buSzPct val="71000"/>
            </a:pPr>
            <a:r>
              <a:rPr lang="en-US" sz="2800" b="1" dirty="0" smtClean="0">
                <a:solidFill>
                  <a:srgbClr val="222222"/>
                </a:solidFill>
                <a:latin typeface="arial" panose="020B0604020202020204" pitchFamily="34" charset="0"/>
              </a:rPr>
              <a:t>Test for conflict </a:t>
            </a:r>
            <a:r>
              <a:rPr lang="en-US" sz="2800" b="1" dirty="0" err="1" smtClean="0">
                <a:solidFill>
                  <a:srgbClr val="222222"/>
                </a:solidFill>
                <a:latin typeface="arial" panose="020B0604020202020204" pitchFamily="34" charset="0"/>
              </a:rPr>
              <a:t>serializability</a:t>
            </a:r>
            <a:r>
              <a:rPr lang="en-US" sz="2800" b="1" dirty="0" smtClean="0">
                <a:solidFill>
                  <a:srgbClr val="222222"/>
                </a:solidFill>
                <a:latin typeface="arial" panose="020B0604020202020204" pitchFamily="34" charset="0"/>
              </a:rPr>
              <a:t> : </a:t>
            </a:r>
            <a:r>
              <a:rPr lang="en-US" sz="2600" dirty="0" smtClean="0">
                <a:solidFill>
                  <a:srgbClr val="FF0000"/>
                </a:solidFill>
                <a:latin typeface="arial" panose="020B0604020202020204" pitchFamily="34" charset="0"/>
              </a:rPr>
              <a:t>Swapping Method</a:t>
            </a: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81567" y="1635617"/>
            <a:ext cx="8094254" cy="5087620"/>
          </a:xfrm>
          <a:prstGeom prst="rect">
            <a:avLst/>
          </a:prstGeom>
        </p:spPr>
      </p:pic>
    </p:spTree>
    <p:extLst>
      <p:ext uri="{BB962C8B-B14F-4D97-AF65-F5344CB8AC3E}">
        <p14:creationId xmlns:p14="http://schemas.microsoft.com/office/powerpoint/2010/main" val="168834336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10.4.1.1 Conflict </a:t>
            </a:r>
            <a:r>
              <a:rPr lang="en-US" sz="2800" dirty="0" err="1">
                <a:solidFill>
                  <a:schemeClr val="bg1"/>
                </a:solidFill>
              </a:rPr>
              <a:t>Serializability</a:t>
            </a:r>
            <a:r>
              <a:rPr lang="en-US" sz="2800" dirty="0">
                <a:solidFill>
                  <a:schemeClr val="bg1"/>
                </a:solidFill>
              </a:rPr>
              <a:t> </a:t>
            </a:r>
          </a:p>
        </p:txBody>
      </p:sp>
      <p:sp>
        <p:nvSpPr>
          <p:cNvPr id="3" name="Subtitle 2"/>
          <p:cNvSpPr>
            <a:spLocks noGrp="1"/>
          </p:cNvSpPr>
          <p:nvPr>
            <p:ph type="subTitle" idx="1"/>
          </p:nvPr>
        </p:nvSpPr>
        <p:spPr>
          <a:xfrm>
            <a:off x="1281567" y="1139688"/>
            <a:ext cx="8094254" cy="315625"/>
          </a:xfrm>
        </p:spPr>
        <p:txBody>
          <a:bodyPr>
            <a:normAutofit fontScale="62500" lnSpcReduction="20000"/>
          </a:bodyPr>
          <a:lstStyle/>
          <a:p>
            <a:pPr algn="just">
              <a:buClr>
                <a:schemeClr val="tx1"/>
              </a:buClr>
              <a:buSzPct val="71000"/>
            </a:pPr>
            <a:r>
              <a:rPr lang="en-US" sz="2800" b="1" dirty="0" smtClean="0">
                <a:solidFill>
                  <a:srgbClr val="222222"/>
                </a:solidFill>
                <a:latin typeface="arial" panose="020B0604020202020204" pitchFamily="34" charset="0"/>
              </a:rPr>
              <a:t>Test for conflict </a:t>
            </a:r>
            <a:r>
              <a:rPr lang="en-US" sz="2800" b="1" dirty="0" err="1" smtClean="0">
                <a:solidFill>
                  <a:srgbClr val="222222"/>
                </a:solidFill>
                <a:latin typeface="arial" panose="020B0604020202020204" pitchFamily="34" charset="0"/>
              </a:rPr>
              <a:t>serializability</a:t>
            </a:r>
            <a:r>
              <a:rPr lang="en-US" sz="2800" b="1" dirty="0" smtClean="0">
                <a:solidFill>
                  <a:srgbClr val="222222"/>
                </a:solidFill>
                <a:latin typeface="arial" panose="020B0604020202020204" pitchFamily="34" charset="0"/>
              </a:rPr>
              <a:t> : </a:t>
            </a:r>
            <a:r>
              <a:rPr lang="en-US" sz="2600" dirty="0" smtClean="0">
                <a:solidFill>
                  <a:srgbClr val="FF0000"/>
                </a:solidFill>
                <a:latin typeface="arial" panose="020B0604020202020204" pitchFamily="34" charset="0"/>
              </a:rPr>
              <a:t>Swapping Method</a:t>
            </a: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78407" y="1455312"/>
            <a:ext cx="8094253" cy="5215943"/>
          </a:xfrm>
          <a:prstGeom prst="rect">
            <a:avLst/>
          </a:prstGeom>
        </p:spPr>
      </p:pic>
    </p:spTree>
    <p:extLst>
      <p:ext uri="{BB962C8B-B14F-4D97-AF65-F5344CB8AC3E}">
        <p14:creationId xmlns:p14="http://schemas.microsoft.com/office/powerpoint/2010/main" val="312068039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10.4.1.1 Conflict </a:t>
            </a:r>
            <a:r>
              <a:rPr lang="en-US" sz="2800" dirty="0" err="1">
                <a:solidFill>
                  <a:schemeClr val="bg1"/>
                </a:solidFill>
              </a:rPr>
              <a:t>Serializability</a:t>
            </a:r>
            <a:r>
              <a:rPr lang="en-US" sz="2800" dirty="0">
                <a:solidFill>
                  <a:schemeClr val="bg1"/>
                </a:solidFill>
              </a:rPr>
              <a:t> </a:t>
            </a:r>
          </a:p>
        </p:txBody>
      </p:sp>
      <p:sp>
        <p:nvSpPr>
          <p:cNvPr id="3" name="Subtitle 2"/>
          <p:cNvSpPr>
            <a:spLocks noGrp="1"/>
          </p:cNvSpPr>
          <p:nvPr>
            <p:ph type="subTitle" idx="1"/>
          </p:nvPr>
        </p:nvSpPr>
        <p:spPr>
          <a:xfrm>
            <a:off x="1281567" y="1139688"/>
            <a:ext cx="8094254" cy="495929"/>
          </a:xfrm>
        </p:spPr>
        <p:txBody>
          <a:bodyPr>
            <a:normAutofit fontScale="92500"/>
          </a:bodyPr>
          <a:lstStyle/>
          <a:p>
            <a:pPr algn="just">
              <a:buClr>
                <a:schemeClr val="tx1"/>
              </a:buClr>
              <a:buSzPct val="71000"/>
            </a:pPr>
            <a:r>
              <a:rPr lang="en-US" sz="2800" b="1" dirty="0" smtClean="0">
                <a:solidFill>
                  <a:srgbClr val="222222"/>
                </a:solidFill>
                <a:latin typeface="arial" panose="020B0604020202020204" pitchFamily="34" charset="0"/>
              </a:rPr>
              <a:t>Test for conflict </a:t>
            </a:r>
            <a:r>
              <a:rPr lang="en-US" sz="2800" b="1" dirty="0" err="1" smtClean="0">
                <a:solidFill>
                  <a:srgbClr val="222222"/>
                </a:solidFill>
                <a:latin typeface="arial" panose="020B0604020202020204" pitchFamily="34" charset="0"/>
              </a:rPr>
              <a:t>serializability</a:t>
            </a:r>
            <a:r>
              <a:rPr lang="en-US" sz="2800" b="1" dirty="0" smtClean="0">
                <a:solidFill>
                  <a:srgbClr val="222222"/>
                </a:solidFill>
                <a:latin typeface="arial" panose="020B0604020202020204" pitchFamily="34" charset="0"/>
              </a:rPr>
              <a:t> : </a:t>
            </a:r>
            <a:r>
              <a:rPr lang="en-US" sz="2600" dirty="0" smtClean="0">
                <a:solidFill>
                  <a:srgbClr val="FF0000"/>
                </a:solidFill>
                <a:latin typeface="arial" panose="020B0604020202020204" pitchFamily="34" charset="0"/>
              </a:rPr>
              <a:t>Swapping Method</a:t>
            </a: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81568" y="1635616"/>
            <a:ext cx="8094254" cy="4932609"/>
          </a:xfrm>
          <a:prstGeom prst="rect">
            <a:avLst/>
          </a:prstGeom>
        </p:spPr>
      </p:pic>
    </p:spTree>
    <p:extLst>
      <p:ext uri="{BB962C8B-B14F-4D97-AF65-F5344CB8AC3E}">
        <p14:creationId xmlns:p14="http://schemas.microsoft.com/office/powerpoint/2010/main" val="178435543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10.4.1.1 Conflict </a:t>
            </a:r>
            <a:r>
              <a:rPr lang="en-US" sz="2800" dirty="0" err="1">
                <a:solidFill>
                  <a:schemeClr val="bg1"/>
                </a:solidFill>
              </a:rPr>
              <a:t>Serializability</a:t>
            </a:r>
            <a:r>
              <a:rPr lang="en-US" sz="2800" dirty="0">
                <a:solidFill>
                  <a:schemeClr val="bg1"/>
                </a:solidFill>
              </a:rPr>
              <a:t> </a:t>
            </a:r>
          </a:p>
        </p:txBody>
      </p:sp>
      <p:sp>
        <p:nvSpPr>
          <p:cNvPr id="3" name="Subtitle 2"/>
          <p:cNvSpPr>
            <a:spLocks noGrp="1"/>
          </p:cNvSpPr>
          <p:nvPr>
            <p:ph type="subTitle" idx="1"/>
          </p:nvPr>
        </p:nvSpPr>
        <p:spPr>
          <a:xfrm>
            <a:off x="1281567" y="1139688"/>
            <a:ext cx="8094254" cy="495929"/>
          </a:xfrm>
        </p:spPr>
        <p:txBody>
          <a:bodyPr>
            <a:normAutofit fontScale="92500"/>
          </a:bodyPr>
          <a:lstStyle/>
          <a:p>
            <a:pPr algn="just">
              <a:buClr>
                <a:schemeClr val="tx1"/>
              </a:buClr>
              <a:buSzPct val="71000"/>
            </a:pPr>
            <a:r>
              <a:rPr lang="en-US" sz="2800" b="1" dirty="0" smtClean="0">
                <a:solidFill>
                  <a:srgbClr val="222222"/>
                </a:solidFill>
                <a:latin typeface="arial" panose="020B0604020202020204" pitchFamily="34" charset="0"/>
              </a:rPr>
              <a:t>Test for conflict </a:t>
            </a:r>
            <a:r>
              <a:rPr lang="en-US" sz="2800" b="1" dirty="0" err="1" smtClean="0">
                <a:solidFill>
                  <a:srgbClr val="222222"/>
                </a:solidFill>
                <a:latin typeface="arial" panose="020B0604020202020204" pitchFamily="34" charset="0"/>
              </a:rPr>
              <a:t>serializability</a:t>
            </a:r>
            <a:r>
              <a:rPr lang="en-US" sz="2800" b="1" dirty="0" smtClean="0">
                <a:solidFill>
                  <a:srgbClr val="222222"/>
                </a:solidFill>
                <a:latin typeface="arial" panose="020B0604020202020204" pitchFamily="34" charset="0"/>
              </a:rPr>
              <a:t> : </a:t>
            </a:r>
            <a:r>
              <a:rPr lang="en-US" sz="2600" dirty="0" smtClean="0">
                <a:solidFill>
                  <a:srgbClr val="FF0000"/>
                </a:solidFill>
                <a:latin typeface="arial" panose="020B0604020202020204" pitchFamily="34" charset="0"/>
              </a:rPr>
              <a:t>Swapping Method</a:t>
            </a: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81567" y="1635617"/>
            <a:ext cx="8094254" cy="4881094"/>
          </a:xfrm>
          <a:prstGeom prst="rect">
            <a:avLst/>
          </a:prstGeom>
        </p:spPr>
      </p:pic>
    </p:spTree>
    <p:extLst>
      <p:ext uri="{BB962C8B-B14F-4D97-AF65-F5344CB8AC3E}">
        <p14:creationId xmlns:p14="http://schemas.microsoft.com/office/powerpoint/2010/main" val="207717123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10.4.1.1 Conflict </a:t>
            </a:r>
            <a:r>
              <a:rPr lang="en-US" sz="2800" dirty="0" err="1">
                <a:solidFill>
                  <a:schemeClr val="bg1"/>
                </a:solidFill>
              </a:rPr>
              <a:t>Serializability</a:t>
            </a:r>
            <a:r>
              <a:rPr lang="en-US" sz="2800" dirty="0">
                <a:solidFill>
                  <a:schemeClr val="bg1"/>
                </a:solidFill>
              </a:rPr>
              <a:t> </a:t>
            </a:r>
          </a:p>
        </p:txBody>
      </p:sp>
      <p:sp>
        <p:nvSpPr>
          <p:cNvPr id="3" name="Subtitle 2"/>
          <p:cNvSpPr>
            <a:spLocks noGrp="1"/>
          </p:cNvSpPr>
          <p:nvPr>
            <p:ph type="subTitle" idx="1"/>
          </p:nvPr>
        </p:nvSpPr>
        <p:spPr>
          <a:xfrm>
            <a:off x="1281567" y="1139688"/>
            <a:ext cx="8094254" cy="495929"/>
          </a:xfrm>
        </p:spPr>
        <p:txBody>
          <a:bodyPr>
            <a:normAutofit fontScale="92500"/>
          </a:bodyPr>
          <a:lstStyle/>
          <a:p>
            <a:pPr algn="just">
              <a:buClr>
                <a:schemeClr val="tx1"/>
              </a:buClr>
              <a:buSzPct val="71000"/>
            </a:pPr>
            <a:r>
              <a:rPr lang="en-US" sz="2800" b="1" dirty="0" smtClean="0">
                <a:solidFill>
                  <a:srgbClr val="222222"/>
                </a:solidFill>
                <a:latin typeface="arial" panose="020B0604020202020204" pitchFamily="34" charset="0"/>
              </a:rPr>
              <a:t>Test for conflict </a:t>
            </a:r>
            <a:r>
              <a:rPr lang="en-US" sz="2800" b="1" dirty="0" err="1" smtClean="0">
                <a:solidFill>
                  <a:srgbClr val="222222"/>
                </a:solidFill>
                <a:latin typeface="arial" panose="020B0604020202020204" pitchFamily="34" charset="0"/>
              </a:rPr>
              <a:t>serializability</a:t>
            </a:r>
            <a:r>
              <a:rPr lang="en-US" sz="2800" b="1" dirty="0" smtClean="0">
                <a:solidFill>
                  <a:srgbClr val="222222"/>
                </a:solidFill>
                <a:latin typeface="arial" panose="020B0604020202020204" pitchFamily="34" charset="0"/>
              </a:rPr>
              <a:t> : </a:t>
            </a:r>
            <a:r>
              <a:rPr lang="en-US" sz="2600" dirty="0" smtClean="0">
                <a:solidFill>
                  <a:srgbClr val="FF0000"/>
                </a:solidFill>
                <a:latin typeface="arial" panose="020B0604020202020204" pitchFamily="34" charset="0"/>
              </a:rPr>
              <a:t>Swapping Method</a:t>
            </a: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81567" y="1635616"/>
            <a:ext cx="8094254" cy="4713669"/>
          </a:xfrm>
          <a:prstGeom prst="rect">
            <a:avLst/>
          </a:prstGeom>
        </p:spPr>
      </p:pic>
    </p:spTree>
    <p:extLst>
      <p:ext uri="{BB962C8B-B14F-4D97-AF65-F5344CB8AC3E}">
        <p14:creationId xmlns:p14="http://schemas.microsoft.com/office/powerpoint/2010/main" val="224486796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10.4.1.1 Conflict </a:t>
            </a:r>
            <a:r>
              <a:rPr lang="en-US" sz="2800" dirty="0" err="1">
                <a:solidFill>
                  <a:schemeClr val="bg1"/>
                </a:solidFill>
              </a:rPr>
              <a:t>Serializability</a:t>
            </a:r>
            <a:r>
              <a:rPr lang="en-US" sz="2800" dirty="0">
                <a:solidFill>
                  <a:schemeClr val="bg1"/>
                </a:solidFill>
              </a:rPr>
              <a:t> </a:t>
            </a:r>
          </a:p>
        </p:txBody>
      </p:sp>
      <p:sp>
        <p:nvSpPr>
          <p:cNvPr id="3" name="Subtitle 2"/>
          <p:cNvSpPr>
            <a:spLocks noGrp="1"/>
          </p:cNvSpPr>
          <p:nvPr>
            <p:ph type="subTitle" idx="1"/>
          </p:nvPr>
        </p:nvSpPr>
        <p:spPr>
          <a:xfrm>
            <a:off x="1281567" y="1139688"/>
            <a:ext cx="8094254" cy="495929"/>
          </a:xfrm>
        </p:spPr>
        <p:txBody>
          <a:bodyPr>
            <a:normAutofit fontScale="92500"/>
          </a:bodyPr>
          <a:lstStyle/>
          <a:p>
            <a:pPr algn="just">
              <a:buClr>
                <a:schemeClr val="tx1"/>
              </a:buClr>
              <a:buSzPct val="71000"/>
            </a:pPr>
            <a:r>
              <a:rPr lang="en-US" sz="2800" b="1" dirty="0" smtClean="0">
                <a:solidFill>
                  <a:srgbClr val="222222"/>
                </a:solidFill>
                <a:latin typeface="arial" panose="020B0604020202020204" pitchFamily="34" charset="0"/>
              </a:rPr>
              <a:t>Test for conflict </a:t>
            </a:r>
            <a:r>
              <a:rPr lang="en-US" sz="2800" b="1" dirty="0" err="1" smtClean="0">
                <a:solidFill>
                  <a:srgbClr val="222222"/>
                </a:solidFill>
                <a:latin typeface="arial" panose="020B0604020202020204" pitchFamily="34" charset="0"/>
              </a:rPr>
              <a:t>serializability</a:t>
            </a:r>
            <a:r>
              <a:rPr lang="en-US" sz="2800" b="1" dirty="0" smtClean="0">
                <a:solidFill>
                  <a:srgbClr val="222222"/>
                </a:solidFill>
                <a:latin typeface="arial" panose="020B0604020202020204" pitchFamily="34" charset="0"/>
              </a:rPr>
              <a:t> : </a:t>
            </a:r>
            <a:r>
              <a:rPr lang="en-US" sz="2600" dirty="0" smtClean="0">
                <a:solidFill>
                  <a:srgbClr val="FF0000"/>
                </a:solidFill>
                <a:latin typeface="arial" panose="020B0604020202020204" pitchFamily="34" charset="0"/>
              </a:rPr>
              <a:t>Swapping Method</a:t>
            </a: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81567" y="1635616"/>
            <a:ext cx="8094254" cy="4842457"/>
          </a:xfrm>
          <a:prstGeom prst="rect">
            <a:avLst/>
          </a:prstGeom>
        </p:spPr>
      </p:pic>
    </p:spTree>
    <p:extLst>
      <p:ext uri="{BB962C8B-B14F-4D97-AF65-F5344CB8AC3E}">
        <p14:creationId xmlns:p14="http://schemas.microsoft.com/office/powerpoint/2010/main" val="268065467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10.4.1.1 Conflict </a:t>
            </a:r>
            <a:r>
              <a:rPr lang="en-US" sz="2800" dirty="0" err="1">
                <a:solidFill>
                  <a:schemeClr val="bg1"/>
                </a:solidFill>
              </a:rPr>
              <a:t>Serializability</a:t>
            </a:r>
            <a:r>
              <a:rPr lang="en-US" sz="2800" dirty="0">
                <a:solidFill>
                  <a:schemeClr val="bg1"/>
                </a:solidFill>
              </a:rPr>
              <a:t> </a:t>
            </a: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r>
              <a:rPr lang="en-US" sz="2800" b="1" dirty="0" smtClean="0">
                <a:solidFill>
                  <a:srgbClr val="222222"/>
                </a:solidFill>
                <a:latin typeface="arial" panose="020B0604020202020204" pitchFamily="34" charset="0"/>
              </a:rPr>
              <a:t>Test for conflict </a:t>
            </a:r>
            <a:r>
              <a:rPr lang="en-US" sz="2800" b="1" dirty="0" err="1" smtClean="0">
                <a:solidFill>
                  <a:srgbClr val="222222"/>
                </a:solidFill>
                <a:latin typeface="arial" panose="020B0604020202020204" pitchFamily="34" charset="0"/>
              </a:rPr>
              <a:t>serializability</a:t>
            </a:r>
            <a:r>
              <a:rPr lang="en-US" sz="2800" b="1" dirty="0" smtClean="0">
                <a:solidFill>
                  <a:srgbClr val="222222"/>
                </a:solidFill>
                <a:latin typeface="arial" panose="020B0604020202020204" pitchFamily="34" charset="0"/>
              </a:rPr>
              <a:t> : </a:t>
            </a:r>
            <a:r>
              <a:rPr lang="en-US" sz="2600" dirty="0">
                <a:solidFill>
                  <a:srgbClr val="FF0000"/>
                </a:solidFill>
                <a:latin typeface="arial" panose="020B0604020202020204" pitchFamily="34" charset="0"/>
              </a:rPr>
              <a:t>Precedence graph method</a:t>
            </a:r>
          </a:p>
          <a:p>
            <a:pPr marL="457200" indent="-457200" algn="just">
              <a:buClr>
                <a:schemeClr val="tx1"/>
              </a:buClr>
              <a:buSzPct val="71000"/>
              <a:buFont typeface="Wingdings" panose="05000000000000000000" pitchFamily="2" charset="2"/>
              <a:buChar char="Ø"/>
            </a:pPr>
            <a:r>
              <a:rPr lang="en-US" sz="2600" dirty="0">
                <a:solidFill>
                  <a:schemeClr val="tx1"/>
                </a:solidFill>
                <a:latin typeface="arial" panose="020B0604020202020204" pitchFamily="34" charset="0"/>
              </a:rPr>
              <a:t>Precedence Graph or Serialization Graph is used commonly to test Conflict </a:t>
            </a:r>
            <a:r>
              <a:rPr lang="en-US" sz="2600" dirty="0" err="1">
                <a:solidFill>
                  <a:schemeClr val="tx1"/>
                </a:solidFill>
                <a:latin typeface="arial" panose="020B0604020202020204" pitchFamily="34" charset="0"/>
              </a:rPr>
              <a:t>Serializability</a:t>
            </a:r>
            <a:r>
              <a:rPr lang="en-US" sz="2600" dirty="0">
                <a:solidFill>
                  <a:schemeClr val="tx1"/>
                </a:solidFill>
                <a:latin typeface="arial" panose="020B0604020202020204" pitchFamily="34" charset="0"/>
              </a:rPr>
              <a:t> of a schedule.</a:t>
            </a:r>
          </a:p>
          <a:p>
            <a:pPr marL="457200" indent="-457200" algn="just">
              <a:buClr>
                <a:schemeClr val="tx1"/>
              </a:buClr>
              <a:buSzPct val="71000"/>
              <a:buFont typeface="Wingdings" panose="05000000000000000000" pitchFamily="2" charset="2"/>
              <a:buChar char="Ø"/>
            </a:pPr>
            <a:r>
              <a:rPr lang="en-US" sz="2600" dirty="0">
                <a:solidFill>
                  <a:schemeClr val="tx1"/>
                </a:solidFill>
                <a:latin typeface="arial" panose="020B0604020202020204" pitchFamily="34" charset="0"/>
              </a:rPr>
              <a:t>It is a directed Graph (V, E) consisting of a set of nodes V = {</a:t>
            </a:r>
            <a:r>
              <a:rPr lang="en-US" sz="2600" dirty="0" err="1">
                <a:solidFill>
                  <a:schemeClr val="tx1"/>
                </a:solidFill>
                <a:latin typeface="arial" panose="020B0604020202020204" pitchFamily="34" charset="0"/>
              </a:rPr>
              <a:t>T1</a:t>
            </a:r>
            <a:r>
              <a:rPr lang="en-US" sz="2600" dirty="0">
                <a:solidFill>
                  <a:schemeClr val="tx1"/>
                </a:solidFill>
                <a:latin typeface="arial" panose="020B0604020202020204" pitchFamily="34" charset="0"/>
              </a:rPr>
              <a:t>, </a:t>
            </a:r>
            <a:r>
              <a:rPr lang="en-US" sz="2600" dirty="0" err="1">
                <a:solidFill>
                  <a:schemeClr val="tx1"/>
                </a:solidFill>
                <a:latin typeface="arial" panose="020B0604020202020204" pitchFamily="34" charset="0"/>
              </a:rPr>
              <a:t>T2</a:t>
            </a:r>
            <a:r>
              <a:rPr lang="en-US" sz="2600" dirty="0">
                <a:solidFill>
                  <a:schemeClr val="tx1"/>
                </a:solidFill>
                <a:latin typeface="arial" panose="020B0604020202020204" pitchFamily="34" charset="0"/>
              </a:rPr>
              <a:t>, </a:t>
            </a:r>
            <a:r>
              <a:rPr lang="en-US" sz="2600" dirty="0" err="1">
                <a:solidFill>
                  <a:schemeClr val="tx1"/>
                </a:solidFill>
                <a:latin typeface="arial" panose="020B0604020202020204" pitchFamily="34" charset="0"/>
              </a:rPr>
              <a:t>T3</a:t>
            </a:r>
            <a:r>
              <a:rPr lang="en-US" sz="2600" dirty="0">
                <a:solidFill>
                  <a:schemeClr val="tx1"/>
                </a:solidFill>
                <a:latin typeface="arial" panose="020B0604020202020204" pitchFamily="34" charset="0"/>
              </a:rPr>
              <a:t>……….</a:t>
            </a:r>
            <a:r>
              <a:rPr lang="en-US" sz="2600" dirty="0" err="1">
                <a:solidFill>
                  <a:schemeClr val="tx1"/>
                </a:solidFill>
                <a:latin typeface="arial" panose="020B0604020202020204" pitchFamily="34" charset="0"/>
              </a:rPr>
              <a:t>Tn</a:t>
            </a:r>
            <a:r>
              <a:rPr lang="en-US" sz="2600" dirty="0">
                <a:solidFill>
                  <a:schemeClr val="tx1"/>
                </a:solidFill>
                <a:latin typeface="arial" panose="020B0604020202020204" pitchFamily="34" charset="0"/>
              </a:rPr>
              <a:t>} and a set of directed edges E = {</a:t>
            </a:r>
            <a:r>
              <a:rPr lang="en-US" sz="2600" dirty="0" err="1">
                <a:solidFill>
                  <a:schemeClr val="tx1"/>
                </a:solidFill>
                <a:latin typeface="arial" panose="020B0604020202020204" pitchFamily="34" charset="0"/>
              </a:rPr>
              <a:t>e1</a:t>
            </a:r>
            <a:r>
              <a:rPr lang="en-US" sz="2600" dirty="0">
                <a:solidFill>
                  <a:schemeClr val="tx1"/>
                </a:solidFill>
                <a:latin typeface="arial" panose="020B0604020202020204" pitchFamily="34" charset="0"/>
              </a:rPr>
              <a:t>, </a:t>
            </a:r>
            <a:r>
              <a:rPr lang="en-US" sz="2600" dirty="0" err="1">
                <a:solidFill>
                  <a:schemeClr val="tx1"/>
                </a:solidFill>
                <a:latin typeface="arial" panose="020B0604020202020204" pitchFamily="34" charset="0"/>
              </a:rPr>
              <a:t>e2</a:t>
            </a:r>
            <a:r>
              <a:rPr lang="en-US" sz="2600" dirty="0">
                <a:solidFill>
                  <a:schemeClr val="tx1"/>
                </a:solidFill>
                <a:latin typeface="arial" panose="020B0604020202020204" pitchFamily="34" charset="0"/>
              </a:rPr>
              <a:t>, </a:t>
            </a:r>
            <a:r>
              <a:rPr lang="en-US" sz="2600" dirty="0" err="1">
                <a:solidFill>
                  <a:schemeClr val="tx1"/>
                </a:solidFill>
                <a:latin typeface="arial" panose="020B0604020202020204" pitchFamily="34" charset="0"/>
              </a:rPr>
              <a:t>e3</a:t>
            </a:r>
            <a:r>
              <a:rPr lang="en-US" sz="2600" dirty="0">
                <a:solidFill>
                  <a:schemeClr val="tx1"/>
                </a:solidFill>
                <a:latin typeface="arial" panose="020B0604020202020204" pitchFamily="34" charset="0"/>
              </a:rPr>
              <a:t>………………</a:t>
            </a:r>
            <a:r>
              <a:rPr lang="en-US" sz="2600" dirty="0" err="1">
                <a:solidFill>
                  <a:schemeClr val="tx1"/>
                </a:solidFill>
                <a:latin typeface="arial" panose="020B0604020202020204" pitchFamily="34" charset="0"/>
              </a:rPr>
              <a:t>em</a:t>
            </a:r>
            <a:r>
              <a:rPr lang="en-US" sz="2600" dirty="0" smtClean="0">
                <a:solidFill>
                  <a:schemeClr val="tx1"/>
                </a:solidFill>
                <a:latin typeface="arial" panose="020B0604020202020204" pitchFamily="34" charset="0"/>
              </a:rPr>
              <a:t>}.</a:t>
            </a:r>
            <a:endParaRPr lang="en-US" sz="2600" dirty="0">
              <a:solidFill>
                <a:schemeClr val="tx1"/>
              </a:solidFill>
              <a:latin typeface="arial" panose="020B0604020202020204" pitchFamily="34" charset="0"/>
            </a:endParaRPr>
          </a:p>
        </p:txBody>
      </p:sp>
    </p:spTree>
    <p:extLst>
      <p:ext uri="{BB962C8B-B14F-4D97-AF65-F5344CB8AC3E}">
        <p14:creationId xmlns:p14="http://schemas.microsoft.com/office/powerpoint/2010/main" val="2819530964"/>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10.4.1.1 Conflict </a:t>
            </a:r>
            <a:r>
              <a:rPr lang="en-US" sz="2800" dirty="0" err="1">
                <a:solidFill>
                  <a:schemeClr val="bg1"/>
                </a:solidFill>
              </a:rPr>
              <a:t>Serializability</a:t>
            </a:r>
            <a:r>
              <a:rPr lang="en-US" sz="2800" dirty="0">
                <a:solidFill>
                  <a:schemeClr val="bg1"/>
                </a:solidFill>
              </a:rPr>
              <a:t> </a:t>
            </a:r>
          </a:p>
        </p:txBody>
      </p:sp>
      <p:sp>
        <p:nvSpPr>
          <p:cNvPr id="3" name="Subtitle 2"/>
          <p:cNvSpPr>
            <a:spLocks noGrp="1"/>
          </p:cNvSpPr>
          <p:nvPr>
            <p:ph type="subTitle" idx="1"/>
          </p:nvPr>
        </p:nvSpPr>
        <p:spPr>
          <a:xfrm>
            <a:off x="1281567" y="1139687"/>
            <a:ext cx="8094254" cy="5377023"/>
          </a:xfrm>
        </p:spPr>
        <p:txBody>
          <a:bodyPr>
            <a:normAutofit fontScale="70000" lnSpcReduction="20000"/>
          </a:bodyPr>
          <a:lstStyle/>
          <a:p>
            <a:pPr algn="just">
              <a:buClr>
                <a:schemeClr val="tx1"/>
              </a:buClr>
              <a:buSzPct val="71000"/>
            </a:pPr>
            <a:r>
              <a:rPr lang="en-US" sz="2800" b="1" dirty="0" smtClean="0">
                <a:solidFill>
                  <a:srgbClr val="222222"/>
                </a:solidFill>
                <a:latin typeface="arial" panose="020B0604020202020204" pitchFamily="34" charset="0"/>
              </a:rPr>
              <a:t>Test for conflict </a:t>
            </a:r>
            <a:r>
              <a:rPr lang="en-US" sz="2800" b="1" dirty="0" err="1" smtClean="0">
                <a:solidFill>
                  <a:srgbClr val="222222"/>
                </a:solidFill>
                <a:latin typeface="arial" panose="020B0604020202020204" pitchFamily="34" charset="0"/>
              </a:rPr>
              <a:t>serializability</a:t>
            </a:r>
            <a:r>
              <a:rPr lang="en-US" sz="2800" b="1" dirty="0" smtClean="0">
                <a:solidFill>
                  <a:srgbClr val="222222"/>
                </a:solidFill>
                <a:latin typeface="arial" panose="020B0604020202020204" pitchFamily="34" charset="0"/>
              </a:rPr>
              <a:t> : </a:t>
            </a:r>
            <a:r>
              <a:rPr lang="en-US" sz="2600" dirty="0">
                <a:solidFill>
                  <a:srgbClr val="FF0000"/>
                </a:solidFill>
                <a:latin typeface="arial" panose="020B0604020202020204" pitchFamily="34" charset="0"/>
              </a:rPr>
              <a:t>Precedence graph method</a:t>
            </a:r>
          </a:p>
          <a:p>
            <a:pPr algn="just">
              <a:buClr>
                <a:schemeClr val="tx1"/>
              </a:buClr>
              <a:buSzPct val="71000"/>
            </a:pPr>
            <a:r>
              <a:rPr lang="en-US" sz="2600" dirty="0">
                <a:solidFill>
                  <a:schemeClr val="accent1"/>
                </a:solidFill>
                <a:latin typeface="arial" panose="020B0604020202020204" pitchFamily="34" charset="0"/>
              </a:rPr>
              <a:t>The Algorithm </a:t>
            </a:r>
            <a:r>
              <a:rPr lang="en-US" sz="2600" dirty="0">
                <a:solidFill>
                  <a:schemeClr val="tx1"/>
                </a:solidFill>
                <a:latin typeface="arial" panose="020B0604020202020204" pitchFamily="34" charset="0"/>
              </a:rPr>
              <a:t>can be written as</a:t>
            </a:r>
            <a:r>
              <a:rPr lang="en-US" sz="2600" dirty="0" smtClean="0">
                <a:solidFill>
                  <a:schemeClr val="tx1"/>
                </a:solidFill>
                <a:latin typeface="arial" panose="020B0604020202020204" pitchFamily="34" charset="0"/>
              </a:rPr>
              <a:t>:</a:t>
            </a:r>
            <a:endParaRPr lang="en-US" sz="2600" dirty="0">
              <a:solidFill>
                <a:schemeClr val="tx1"/>
              </a:solidFill>
              <a:latin typeface="arial" panose="020B0604020202020204" pitchFamily="34" charset="0"/>
            </a:endParaRPr>
          </a:p>
          <a:p>
            <a:pPr marL="457200" indent="-457200" algn="just">
              <a:buClr>
                <a:schemeClr val="tx1"/>
              </a:buClr>
              <a:buSzPct val="71000"/>
              <a:buFont typeface="Wingdings" panose="05000000000000000000" pitchFamily="2" charset="2"/>
              <a:buChar char="Ø"/>
            </a:pPr>
            <a:r>
              <a:rPr lang="en-US" sz="2900" dirty="0">
                <a:solidFill>
                  <a:schemeClr val="tx1"/>
                </a:solidFill>
                <a:latin typeface="arial" panose="020B0604020202020204" pitchFamily="34" charset="0"/>
              </a:rPr>
              <a:t>Create a node T in the graph for each participating transaction in the schedule.</a:t>
            </a:r>
          </a:p>
          <a:p>
            <a:pPr marL="457200" indent="-457200" algn="just">
              <a:buClr>
                <a:schemeClr val="tx1"/>
              </a:buClr>
              <a:buSzPct val="71000"/>
              <a:buFont typeface="Wingdings" panose="05000000000000000000" pitchFamily="2" charset="2"/>
              <a:buChar char="Ø"/>
            </a:pPr>
            <a:r>
              <a:rPr lang="en-US" sz="2900" dirty="0">
                <a:solidFill>
                  <a:schemeClr val="tx1"/>
                </a:solidFill>
                <a:latin typeface="arial" panose="020B0604020202020204" pitchFamily="34" charset="0"/>
              </a:rPr>
              <a:t>For the conflicting operation </a:t>
            </a:r>
            <a:r>
              <a:rPr lang="en-US" sz="2900" b="1" dirty="0" err="1">
                <a:solidFill>
                  <a:schemeClr val="tx1"/>
                </a:solidFill>
                <a:latin typeface="arial" panose="020B0604020202020204" pitchFamily="34" charset="0"/>
              </a:rPr>
              <a:t>read_item</a:t>
            </a:r>
            <a:r>
              <a:rPr lang="en-US" sz="2900" b="1" dirty="0">
                <a:solidFill>
                  <a:schemeClr val="tx1"/>
                </a:solidFill>
                <a:latin typeface="arial" panose="020B0604020202020204" pitchFamily="34" charset="0"/>
              </a:rPr>
              <a:t>(X) and </a:t>
            </a:r>
            <a:r>
              <a:rPr lang="en-US" sz="2900" b="1" dirty="0" err="1">
                <a:solidFill>
                  <a:schemeClr val="tx1"/>
                </a:solidFill>
                <a:latin typeface="arial" panose="020B0604020202020204" pitchFamily="34" charset="0"/>
              </a:rPr>
              <a:t>write_item</a:t>
            </a:r>
            <a:r>
              <a:rPr lang="en-US" sz="2900" b="1" dirty="0">
                <a:solidFill>
                  <a:schemeClr val="tx1"/>
                </a:solidFill>
                <a:latin typeface="arial" panose="020B0604020202020204" pitchFamily="34" charset="0"/>
              </a:rPr>
              <a:t>(X) </a:t>
            </a:r>
            <a:r>
              <a:rPr lang="en-US" sz="2900" dirty="0">
                <a:solidFill>
                  <a:schemeClr val="tx1"/>
                </a:solidFill>
                <a:latin typeface="arial" panose="020B0604020202020204" pitchFamily="34" charset="0"/>
              </a:rPr>
              <a:t>– If a Transaction </a:t>
            </a:r>
            <a:r>
              <a:rPr lang="en-US" sz="2900" dirty="0" err="1">
                <a:solidFill>
                  <a:schemeClr val="tx1"/>
                </a:solidFill>
                <a:latin typeface="arial" panose="020B0604020202020204" pitchFamily="34" charset="0"/>
              </a:rPr>
              <a:t>Tj</a:t>
            </a:r>
            <a:r>
              <a:rPr lang="en-US" sz="2900" dirty="0">
                <a:solidFill>
                  <a:schemeClr val="tx1"/>
                </a:solidFill>
                <a:latin typeface="arial" panose="020B0604020202020204" pitchFamily="34" charset="0"/>
              </a:rPr>
              <a:t> executes a </a:t>
            </a:r>
            <a:r>
              <a:rPr lang="en-US" sz="2900" dirty="0" err="1">
                <a:solidFill>
                  <a:schemeClr val="tx1"/>
                </a:solidFill>
                <a:latin typeface="arial" panose="020B0604020202020204" pitchFamily="34" charset="0"/>
              </a:rPr>
              <a:t>read_item</a:t>
            </a:r>
            <a:r>
              <a:rPr lang="en-US" sz="2900" dirty="0">
                <a:solidFill>
                  <a:schemeClr val="tx1"/>
                </a:solidFill>
                <a:latin typeface="arial" panose="020B0604020202020204" pitchFamily="34" charset="0"/>
              </a:rPr>
              <a:t> (X) after </a:t>
            </a:r>
            <a:r>
              <a:rPr lang="en-US" sz="2900" dirty="0" err="1">
                <a:solidFill>
                  <a:schemeClr val="tx1"/>
                </a:solidFill>
                <a:latin typeface="arial" panose="020B0604020202020204" pitchFamily="34" charset="0"/>
              </a:rPr>
              <a:t>Ti</a:t>
            </a:r>
            <a:r>
              <a:rPr lang="en-US" sz="2900" dirty="0">
                <a:solidFill>
                  <a:schemeClr val="tx1"/>
                </a:solidFill>
                <a:latin typeface="arial" panose="020B0604020202020204" pitchFamily="34" charset="0"/>
              </a:rPr>
              <a:t> executes a </a:t>
            </a:r>
            <a:r>
              <a:rPr lang="en-US" sz="2900" dirty="0" err="1">
                <a:solidFill>
                  <a:schemeClr val="tx1"/>
                </a:solidFill>
                <a:latin typeface="arial" panose="020B0604020202020204" pitchFamily="34" charset="0"/>
              </a:rPr>
              <a:t>write_item</a:t>
            </a:r>
            <a:r>
              <a:rPr lang="en-US" sz="2900" dirty="0">
                <a:solidFill>
                  <a:schemeClr val="tx1"/>
                </a:solidFill>
                <a:latin typeface="arial" panose="020B0604020202020204" pitchFamily="34" charset="0"/>
              </a:rPr>
              <a:t> (X), draw an edge from </a:t>
            </a:r>
            <a:r>
              <a:rPr lang="en-US" sz="2900" dirty="0" err="1">
                <a:solidFill>
                  <a:schemeClr val="tx1"/>
                </a:solidFill>
                <a:latin typeface="arial" panose="020B0604020202020204" pitchFamily="34" charset="0"/>
              </a:rPr>
              <a:t>Ti</a:t>
            </a:r>
            <a:r>
              <a:rPr lang="en-US" sz="2900" dirty="0">
                <a:solidFill>
                  <a:schemeClr val="tx1"/>
                </a:solidFill>
                <a:latin typeface="arial" panose="020B0604020202020204" pitchFamily="34" charset="0"/>
              </a:rPr>
              <a:t> to </a:t>
            </a:r>
            <a:r>
              <a:rPr lang="en-US" sz="2900" dirty="0" err="1">
                <a:solidFill>
                  <a:schemeClr val="tx1"/>
                </a:solidFill>
                <a:latin typeface="arial" panose="020B0604020202020204" pitchFamily="34" charset="0"/>
              </a:rPr>
              <a:t>Tj</a:t>
            </a:r>
            <a:r>
              <a:rPr lang="en-US" sz="2900" dirty="0">
                <a:solidFill>
                  <a:schemeClr val="tx1"/>
                </a:solidFill>
                <a:latin typeface="arial" panose="020B0604020202020204" pitchFamily="34" charset="0"/>
              </a:rPr>
              <a:t> in the graph.</a:t>
            </a:r>
          </a:p>
          <a:p>
            <a:pPr marL="457200" indent="-457200" algn="just">
              <a:buClr>
                <a:schemeClr val="tx1"/>
              </a:buClr>
              <a:buSzPct val="71000"/>
              <a:buFont typeface="Wingdings" panose="05000000000000000000" pitchFamily="2" charset="2"/>
              <a:buChar char="Ø"/>
            </a:pPr>
            <a:r>
              <a:rPr lang="en-US" sz="2900" dirty="0">
                <a:solidFill>
                  <a:schemeClr val="tx1"/>
                </a:solidFill>
                <a:latin typeface="arial" panose="020B0604020202020204" pitchFamily="34" charset="0"/>
              </a:rPr>
              <a:t>For the conflicting operation </a:t>
            </a:r>
            <a:r>
              <a:rPr lang="en-US" sz="2900" dirty="0" err="1">
                <a:solidFill>
                  <a:schemeClr val="tx1"/>
                </a:solidFill>
                <a:latin typeface="arial" panose="020B0604020202020204" pitchFamily="34" charset="0"/>
              </a:rPr>
              <a:t>write_item</a:t>
            </a:r>
            <a:r>
              <a:rPr lang="en-US" sz="2900" dirty="0">
                <a:solidFill>
                  <a:schemeClr val="tx1"/>
                </a:solidFill>
                <a:latin typeface="arial" panose="020B0604020202020204" pitchFamily="34" charset="0"/>
              </a:rPr>
              <a:t>(X) and </a:t>
            </a:r>
            <a:r>
              <a:rPr lang="en-US" sz="2900" dirty="0" err="1">
                <a:solidFill>
                  <a:schemeClr val="tx1"/>
                </a:solidFill>
                <a:latin typeface="arial" panose="020B0604020202020204" pitchFamily="34" charset="0"/>
              </a:rPr>
              <a:t>read_item</a:t>
            </a:r>
            <a:r>
              <a:rPr lang="en-US" sz="2900" dirty="0">
                <a:solidFill>
                  <a:schemeClr val="tx1"/>
                </a:solidFill>
                <a:latin typeface="arial" panose="020B0604020202020204" pitchFamily="34" charset="0"/>
              </a:rPr>
              <a:t>(X) – If a Transaction </a:t>
            </a:r>
            <a:r>
              <a:rPr lang="en-US" sz="2900" dirty="0" err="1">
                <a:solidFill>
                  <a:schemeClr val="tx1"/>
                </a:solidFill>
                <a:latin typeface="arial" panose="020B0604020202020204" pitchFamily="34" charset="0"/>
              </a:rPr>
              <a:t>Tj</a:t>
            </a:r>
            <a:r>
              <a:rPr lang="en-US" sz="2900" dirty="0">
                <a:solidFill>
                  <a:schemeClr val="tx1"/>
                </a:solidFill>
                <a:latin typeface="arial" panose="020B0604020202020204" pitchFamily="34" charset="0"/>
              </a:rPr>
              <a:t> executes a </a:t>
            </a:r>
            <a:r>
              <a:rPr lang="en-US" sz="2900" dirty="0" err="1">
                <a:solidFill>
                  <a:schemeClr val="tx1"/>
                </a:solidFill>
                <a:latin typeface="arial" panose="020B0604020202020204" pitchFamily="34" charset="0"/>
              </a:rPr>
              <a:t>write_item</a:t>
            </a:r>
            <a:r>
              <a:rPr lang="en-US" sz="2900" dirty="0">
                <a:solidFill>
                  <a:schemeClr val="tx1"/>
                </a:solidFill>
                <a:latin typeface="arial" panose="020B0604020202020204" pitchFamily="34" charset="0"/>
              </a:rPr>
              <a:t> (X) after </a:t>
            </a:r>
            <a:r>
              <a:rPr lang="en-US" sz="2900" dirty="0" err="1">
                <a:solidFill>
                  <a:schemeClr val="tx1"/>
                </a:solidFill>
                <a:latin typeface="arial" panose="020B0604020202020204" pitchFamily="34" charset="0"/>
              </a:rPr>
              <a:t>Ti</a:t>
            </a:r>
            <a:r>
              <a:rPr lang="en-US" sz="2900" dirty="0">
                <a:solidFill>
                  <a:schemeClr val="tx1"/>
                </a:solidFill>
                <a:latin typeface="arial" panose="020B0604020202020204" pitchFamily="34" charset="0"/>
              </a:rPr>
              <a:t> executes a </a:t>
            </a:r>
            <a:r>
              <a:rPr lang="en-US" sz="2900" dirty="0" err="1">
                <a:solidFill>
                  <a:schemeClr val="tx1"/>
                </a:solidFill>
                <a:latin typeface="arial" panose="020B0604020202020204" pitchFamily="34" charset="0"/>
              </a:rPr>
              <a:t>read_item</a:t>
            </a:r>
            <a:r>
              <a:rPr lang="en-US" sz="2900" dirty="0">
                <a:solidFill>
                  <a:schemeClr val="tx1"/>
                </a:solidFill>
                <a:latin typeface="arial" panose="020B0604020202020204" pitchFamily="34" charset="0"/>
              </a:rPr>
              <a:t> (X), draw an edge from </a:t>
            </a:r>
            <a:r>
              <a:rPr lang="en-US" sz="2900" dirty="0" err="1">
                <a:solidFill>
                  <a:schemeClr val="tx1"/>
                </a:solidFill>
                <a:latin typeface="arial" panose="020B0604020202020204" pitchFamily="34" charset="0"/>
              </a:rPr>
              <a:t>Ti</a:t>
            </a:r>
            <a:r>
              <a:rPr lang="en-US" sz="2900" dirty="0">
                <a:solidFill>
                  <a:schemeClr val="tx1"/>
                </a:solidFill>
                <a:latin typeface="arial" panose="020B0604020202020204" pitchFamily="34" charset="0"/>
              </a:rPr>
              <a:t> to </a:t>
            </a:r>
            <a:r>
              <a:rPr lang="en-US" sz="2900" dirty="0" err="1">
                <a:solidFill>
                  <a:schemeClr val="tx1"/>
                </a:solidFill>
                <a:latin typeface="arial" panose="020B0604020202020204" pitchFamily="34" charset="0"/>
              </a:rPr>
              <a:t>Tj</a:t>
            </a:r>
            <a:r>
              <a:rPr lang="en-US" sz="2900" dirty="0">
                <a:solidFill>
                  <a:schemeClr val="tx1"/>
                </a:solidFill>
                <a:latin typeface="arial" panose="020B0604020202020204" pitchFamily="34" charset="0"/>
              </a:rPr>
              <a:t> in the graph.</a:t>
            </a:r>
          </a:p>
          <a:p>
            <a:pPr marL="457200" indent="-457200" algn="just">
              <a:buClr>
                <a:schemeClr val="tx1"/>
              </a:buClr>
              <a:buSzPct val="71000"/>
              <a:buFont typeface="Wingdings" panose="05000000000000000000" pitchFamily="2" charset="2"/>
              <a:buChar char="Ø"/>
            </a:pPr>
            <a:r>
              <a:rPr lang="en-US" sz="2900" dirty="0">
                <a:solidFill>
                  <a:schemeClr val="tx1"/>
                </a:solidFill>
                <a:latin typeface="arial" panose="020B0604020202020204" pitchFamily="34" charset="0"/>
              </a:rPr>
              <a:t>For the conflicting operation </a:t>
            </a:r>
            <a:r>
              <a:rPr lang="en-US" sz="2900" dirty="0" err="1">
                <a:solidFill>
                  <a:schemeClr val="tx1"/>
                </a:solidFill>
                <a:latin typeface="arial" panose="020B0604020202020204" pitchFamily="34" charset="0"/>
              </a:rPr>
              <a:t>write_item</a:t>
            </a:r>
            <a:r>
              <a:rPr lang="en-US" sz="2900" dirty="0">
                <a:solidFill>
                  <a:schemeClr val="tx1"/>
                </a:solidFill>
                <a:latin typeface="arial" panose="020B0604020202020204" pitchFamily="34" charset="0"/>
              </a:rPr>
              <a:t>(X) and </a:t>
            </a:r>
            <a:r>
              <a:rPr lang="en-US" sz="2900" dirty="0" err="1">
                <a:solidFill>
                  <a:schemeClr val="tx1"/>
                </a:solidFill>
                <a:latin typeface="arial" panose="020B0604020202020204" pitchFamily="34" charset="0"/>
              </a:rPr>
              <a:t>write_item</a:t>
            </a:r>
            <a:r>
              <a:rPr lang="en-US" sz="2900" dirty="0">
                <a:solidFill>
                  <a:schemeClr val="tx1"/>
                </a:solidFill>
                <a:latin typeface="arial" panose="020B0604020202020204" pitchFamily="34" charset="0"/>
              </a:rPr>
              <a:t>(X) – If a Transaction </a:t>
            </a:r>
            <a:r>
              <a:rPr lang="en-US" sz="2900" dirty="0" err="1">
                <a:solidFill>
                  <a:schemeClr val="tx1"/>
                </a:solidFill>
                <a:latin typeface="arial" panose="020B0604020202020204" pitchFamily="34" charset="0"/>
              </a:rPr>
              <a:t>Tj</a:t>
            </a:r>
            <a:r>
              <a:rPr lang="en-US" sz="2900" dirty="0">
                <a:solidFill>
                  <a:schemeClr val="tx1"/>
                </a:solidFill>
                <a:latin typeface="arial" panose="020B0604020202020204" pitchFamily="34" charset="0"/>
              </a:rPr>
              <a:t> executes a </a:t>
            </a:r>
            <a:r>
              <a:rPr lang="en-US" sz="2900" dirty="0" err="1">
                <a:solidFill>
                  <a:schemeClr val="tx1"/>
                </a:solidFill>
                <a:latin typeface="arial" panose="020B0604020202020204" pitchFamily="34" charset="0"/>
              </a:rPr>
              <a:t>write_item</a:t>
            </a:r>
            <a:r>
              <a:rPr lang="en-US" sz="2900" dirty="0">
                <a:solidFill>
                  <a:schemeClr val="tx1"/>
                </a:solidFill>
                <a:latin typeface="arial" panose="020B0604020202020204" pitchFamily="34" charset="0"/>
              </a:rPr>
              <a:t> (X) after </a:t>
            </a:r>
            <a:r>
              <a:rPr lang="en-US" sz="2900" dirty="0" err="1">
                <a:solidFill>
                  <a:schemeClr val="tx1"/>
                </a:solidFill>
                <a:latin typeface="arial" panose="020B0604020202020204" pitchFamily="34" charset="0"/>
              </a:rPr>
              <a:t>Ti</a:t>
            </a:r>
            <a:r>
              <a:rPr lang="en-US" sz="2900" dirty="0">
                <a:solidFill>
                  <a:schemeClr val="tx1"/>
                </a:solidFill>
                <a:latin typeface="arial" panose="020B0604020202020204" pitchFamily="34" charset="0"/>
              </a:rPr>
              <a:t> executes a </a:t>
            </a:r>
            <a:r>
              <a:rPr lang="en-US" sz="2900" dirty="0" err="1">
                <a:solidFill>
                  <a:schemeClr val="tx1"/>
                </a:solidFill>
                <a:latin typeface="arial" panose="020B0604020202020204" pitchFamily="34" charset="0"/>
              </a:rPr>
              <a:t>write_item</a:t>
            </a:r>
            <a:r>
              <a:rPr lang="en-US" sz="2900" dirty="0">
                <a:solidFill>
                  <a:schemeClr val="tx1"/>
                </a:solidFill>
                <a:latin typeface="arial" panose="020B0604020202020204" pitchFamily="34" charset="0"/>
              </a:rPr>
              <a:t> (X), draw an edge from </a:t>
            </a:r>
            <a:r>
              <a:rPr lang="en-US" sz="2900" dirty="0" err="1">
                <a:solidFill>
                  <a:schemeClr val="tx1"/>
                </a:solidFill>
                <a:latin typeface="arial" panose="020B0604020202020204" pitchFamily="34" charset="0"/>
              </a:rPr>
              <a:t>Ti</a:t>
            </a:r>
            <a:r>
              <a:rPr lang="en-US" sz="2900" dirty="0">
                <a:solidFill>
                  <a:schemeClr val="tx1"/>
                </a:solidFill>
                <a:latin typeface="arial" panose="020B0604020202020204" pitchFamily="34" charset="0"/>
              </a:rPr>
              <a:t> to </a:t>
            </a:r>
            <a:r>
              <a:rPr lang="en-US" sz="2900" dirty="0" err="1">
                <a:solidFill>
                  <a:schemeClr val="tx1"/>
                </a:solidFill>
                <a:latin typeface="arial" panose="020B0604020202020204" pitchFamily="34" charset="0"/>
              </a:rPr>
              <a:t>Tj</a:t>
            </a:r>
            <a:r>
              <a:rPr lang="en-US" sz="2900" dirty="0">
                <a:solidFill>
                  <a:schemeClr val="tx1"/>
                </a:solidFill>
                <a:latin typeface="arial" panose="020B0604020202020204" pitchFamily="34" charset="0"/>
              </a:rPr>
              <a:t> in the graph.</a:t>
            </a:r>
          </a:p>
          <a:p>
            <a:pPr marL="457200" indent="-457200" algn="just">
              <a:buClr>
                <a:schemeClr val="tx1"/>
              </a:buClr>
              <a:buSzPct val="71000"/>
              <a:buFont typeface="Wingdings" panose="05000000000000000000" pitchFamily="2" charset="2"/>
              <a:buChar char="Ø"/>
            </a:pPr>
            <a:r>
              <a:rPr lang="en-US" sz="2900" dirty="0">
                <a:solidFill>
                  <a:schemeClr val="tx1"/>
                </a:solidFill>
                <a:latin typeface="arial" panose="020B0604020202020204" pitchFamily="34" charset="0"/>
              </a:rPr>
              <a:t>The Schedule S is serializable if there is </a:t>
            </a:r>
            <a:r>
              <a:rPr lang="en-US" sz="2900" b="1" dirty="0">
                <a:solidFill>
                  <a:schemeClr val="tx1"/>
                </a:solidFill>
                <a:latin typeface="arial" panose="020B0604020202020204" pitchFamily="34" charset="0"/>
              </a:rPr>
              <a:t>no cycle </a:t>
            </a:r>
            <a:r>
              <a:rPr lang="en-US" sz="2900" dirty="0">
                <a:solidFill>
                  <a:schemeClr val="tx1"/>
                </a:solidFill>
                <a:latin typeface="arial" panose="020B0604020202020204" pitchFamily="34" charset="0"/>
              </a:rPr>
              <a:t>in the precedence graph</a:t>
            </a:r>
            <a:r>
              <a:rPr lang="en-US" sz="2600" dirty="0" smtClean="0">
                <a:solidFill>
                  <a:schemeClr val="tx1"/>
                </a:solidFill>
                <a:latin typeface="arial" panose="020B0604020202020204" pitchFamily="34" charset="0"/>
              </a:rPr>
              <a:t>.</a:t>
            </a:r>
          </a:p>
          <a:p>
            <a:pPr algn="just">
              <a:buClr>
                <a:schemeClr val="tx1"/>
              </a:buClr>
              <a:buSzPct val="71000"/>
            </a:pPr>
            <a:r>
              <a:rPr lang="en-US" sz="2600" b="1" dirty="0" smtClean="0">
                <a:solidFill>
                  <a:schemeClr val="tx1"/>
                </a:solidFill>
                <a:latin typeface="arial" panose="020B0604020202020204" pitchFamily="34" charset="0"/>
              </a:rPr>
              <a:t>Note </a:t>
            </a:r>
            <a:r>
              <a:rPr lang="en-US" sz="2600" b="1" dirty="0">
                <a:solidFill>
                  <a:schemeClr val="tx1"/>
                </a:solidFill>
                <a:latin typeface="arial" panose="020B0604020202020204" pitchFamily="34" charset="0"/>
              </a:rPr>
              <a:t>: </a:t>
            </a:r>
            <a:r>
              <a:rPr lang="en-US" sz="2600" dirty="0">
                <a:solidFill>
                  <a:schemeClr val="tx1"/>
                </a:solidFill>
                <a:latin typeface="arial" panose="020B0604020202020204" pitchFamily="34" charset="0"/>
              </a:rPr>
              <a:t>If there is no cycle in the precedence graph, it means we can construct a serial schedule S’ which is conflict equivalent to the schedule S.</a:t>
            </a:r>
          </a:p>
        </p:txBody>
      </p:sp>
    </p:spTree>
    <p:extLst>
      <p:ext uri="{BB962C8B-B14F-4D97-AF65-F5344CB8AC3E}">
        <p14:creationId xmlns:p14="http://schemas.microsoft.com/office/powerpoint/2010/main" val="2313464458"/>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10.4.1.1 Conflict </a:t>
            </a:r>
            <a:r>
              <a:rPr lang="en-US" sz="2800" dirty="0" err="1">
                <a:solidFill>
                  <a:schemeClr val="bg1"/>
                </a:solidFill>
              </a:rPr>
              <a:t>Serializability</a:t>
            </a:r>
            <a:r>
              <a:rPr lang="en-US" sz="2800" dirty="0">
                <a:solidFill>
                  <a:schemeClr val="bg1"/>
                </a:solidFill>
              </a:rPr>
              <a:t> </a:t>
            </a:r>
          </a:p>
        </p:txBody>
      </p:sp>
      <p:sp>
        <p:nvSpPr>
          <p:cNvPr id="3" name="Subtitle 2"/>
          <p:cNvSpPr>
            <a:spLocks noGrp="1"/>
          </p:cNvSpPr>
          <p:nvPr>
            <p:ph type="subTitle" idx="1"/>
          </p:nvPr>
        </p:nvSpPr>
        <p:spPr>
          <a:xfrm>
            <a:off x="1281567" y="1139688"/>
            <a:ext cx="8094254" cy="805022"/>
          </a:xfrm>
        </p:spPr>
        <p:txBody>
          <a:bodyPr>
            <a:normAutofit fontScale="85000" lnSpcReduction="20000"/>
          </a:bodyPr>
          <a:lstStyle/>
          <a:p>
            <a:pPr algn="just">
              <a:buClr>
                <a:schemeClr val="tx1"/>
              </a:buClr>
              <a:buSzPct val="71000"/>
            </a:pPr>
            <a:r>
              <a:rPr lang="en-US" sz="2800" b="1" dirty="0" smtClean="0">
                <a:solidFill>
                  <a:srgbClr val="222222"/>
                </a:solidFill>
                <a:latin typeface="arial" panose="020B0604020202020204" pitchFamily="34" charset="0"/>
              </a:rPr>
              <a:t>Test for conflict </a:t>
            </a:r>
            <a:r>
              <a:rPr lang="en-US" sz="2800" b="1" dirty="0" err="1" smtClean="0">
                <a:solidFill>
                  <a:srgbClr val="222222"/>
                </a:solidFill>
                <a:latin typeface="arial" panose="020B0604020202020204" pitchFamily="34" charset="0"/>
              </a:rPr>
              <a:t>serializability</a:t>
            </a:r>
            <a:r>
              <a:rPr lang="en-US" sz="2800" b="1" dirty="0" smtClean="0">
                <a:solidFill>
                  <a:srgbClr val="222222"/>
                </a:solidFill>
                <a:latin typeface="arial" panose="020B0604020202020204" pitchFamily="34" charset="0"/>
              </a:rPr>
              <a:t> : </a:t>
            </a:r>
            <a:r>
              <a:rPr lang="en-US" sz="2600" dirty="0">
                <a:solidFill>
                  <a:srgbClr val="FF0000"/>
                </a:solidFill>
                <a:latin typeface="arial" panose="020B0604020202020204" pitchFamily="34" charset="0"/>
              </a:rPr>
              <a:t>Precedence graph method</a:t>
            </a:r>
          </a:p>
          <a:p>
            <a:pPr marL="457200" indent="-457200" algn="just">
              <a:buClr>
                <a:schemeClr val="tx1"/>
              </a:buClr>
              <a:buSzPct val="71000"/>
              <a:buFont typeface="Wingdings" panose="05000000000000000000" pitchFamily="2" charset="2"/>
              <a:buChar char="Ø"/>
            </a:pPr>
            <a:r>
              <a:rPr lang="en-US" sz="2600" dirty="0" smtClean="0">
                <a:solidFill>
                  <a:schemeClr val="tx1"/>
                </a:solidFill>
                <a:latin typeface="arial" panose="020B0604020202020204" pitchFamily="34" charset="0"/>
              </a:rPr>
              <a:t>Example :Schedule </a:t>
            </a:r>
            <a:r>
              <a:rPr lang="en-US" sz="2600" dirty="0" err="1">
                <a:solidFill>
                  <a:schemeClr val="tx1"/>
                </a:solidFill>
                <a:latin typeface="arial" panose="020B0604020202020204" pitchFamily="34" charset="0"/>
              </a:rPr>
              <a:t>S2</a:t>
            </a:r>
            <a:r>
              <a:rPr lang="en-US" sz="2600" dirty="0">
                <a:solidFill>
                  <a:schemeClr val="tx1"/>
                </a:solidFill>
                <a:latin typeface="arial" panose="020B0604020202020204" pitchFamily="34" charset="0"/>
              </a:rPr>
              <a:t> (Non-Serial Schedule):</a:t>
            </a:r>
          </a:p>
        </p:txBody>
      </p:sp>
      <p:graphicFrame>
        <p:nvGraphicFramePr>
          <p:cNvPr id="4" name="Table 3"/>
          <p:cNvGraphicFramePr>
            <a:graphicFrameLocks noGrp="1"/>
          </p:cNvGraphicFramePr>
          <p:nvPr>
            <p:extLst>
              <p:ext uri="{D42A27DB-BD31-4B8C-83A1-F6EECF244321}">
                <p14:modId xmlns:p14="http://schemas.microsoft.com/office/powerpoint/2010/main" val="2152334030"/>
              </p:ext>
            </p:extLst>
          </p:nvPr>
        </p:nvGraphicFramePr>
        <p:xfrm>
          <a:off x="1378040" y="2079473"/>
          <a:ext cx="7997780" cy="4282685"/>
        </p:xfrm>
        <a:graphic>
          <a:graphicData uri="http://schemas.openxmlformats.org/drawingml/2006/table">
            <a:tbl>
              <a:tblPr/>
              <a:tblGrid>
                <a:gridCol w="1999445"/>
                <a:gridCol w="1999445"/>
                <a:gridCol w="1999445"/>
                <a:gridCol w="1999445"/>
              </a:tblGrid>
              <a:tr h="389335">
                <a:tc>
                  <a:txBody>
                    <a:bodyPr/>
                    <a:lstStyle/>
                    <a:p>
                      <a:r>
                        <a:rPr lang="en-US" sz="1700" b="1">
                          <a:effectLst/>
                        </a:rPr>
                        <a:t>Time</a:t>
                      </a:r>
                      <a:endParaRPr lang="en-US" sz="1700">
                        <a:effectLst/>
                      </a:endParaRP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EEEBEB"/>
                    </a:solidFill>
                  </a:tcPr>
                </a:tc>
                <a:tc>
                  <a:txBody>
                    <a:bodyPr/>
                    <a:lstStyle/>
                    <a:p>
                      <a:r>
                        <a:rPr lang="en-US" sz="1700" b="1">
                          <a:effectLst/>
                        </a:rPr>
                        <a:t>Transaction T1</a:t>
                      </a:r>
                      <a:endParaRPr lang="en-US" sz="1700">
                        <a:effectLst/>
                      </a:endParaRP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EEEBEB"/>
                    </a:solidFill>
                  </a:tcPr>
                </a:tc>
                <a:tc>
                  <a:txBody>
                    <a:bodyPr/>
                    <a:lstStyle/>
                    <a:p>
                      <a:r>
                        <a:rPr lang="en-US" sz="1700" b="1">
                          <a:effectLst/>
                        </a:rPr>
                        <a:t>Transaction T2</a:t>
                      </a:r>
                      <a:endParaRPr lang="en-US" sz="1700">
                        <a:effectLst/>
                      </a:endParaRP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EEEBEB"/>
                    </a:solidFill>
                  </a:tcPr>
                </a:tc>
                <a:tc>
                  <a:txBody>
                    <a:bodyPr/>
                    <a:lstStyle/>
                    <a:p>
                      <a:r>
                        <a:rPr lang="en-US" sz="1700" b="1">
                          <a:effectLst/>
                        </a:rPr>
                        <a:t>Transaction T3</a:t>
                      </a:r>
                      <a:endParaRPr lang="en-US" sz="1700">
                        <a:effectLst/>
                      </a:endParaRP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EEEBEB"/>
                    </a:solidFill>
                  </a:tcPr>
                </a:tc>
              </a:tr>
              <a:tr h="389335">
                <a:tc>
                  <a:txBody>
                    <a:bodyPr/>
                    <a:lstStyle/>
                    <a:p>
                      <a:r>
                        <a:rPr lang="en-US" sz="1700">
                          <a:effectLst/>
                        </a:rPr>
                        <a:t>t1</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700">
                          <a:effectLst/>
                        </a:rPr>
                        <a:t>Read(X)</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700">
                          <a:effectLst/>
                        </a:rPr>
                        <a:t> </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700">
                          <a:effectLst/>
                        </a:rPr>
                        <a:t> </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r>
              <a:tr h="389335">
                <a:tc>
                  <a:txBody>
                    <a:bodyPr/>
                    <a:lstStyle/>
                    <a:p>
                      <a:r>
                        <a:rPr lang="en-US" sz="1700">
                          <a:effectLst/>
                        </a:rPr>
                        <a:t>t2</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EEEBEB"/>
                    </a:solidFill>
                  </a:tcPr>
                </a:tc>
                <a:tc>
                  <a:txBody>
                    <a:bodyPr/>
                    <a:lstStyle/>
                    <a:p>
                      <a:r>
                        <a:rPr lang="en-US" sz="1700">
                          <a:effectLst/>
                        </a:rPr>
                        <a:t> </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EEEBEB"/>
                    </a:solidFill>
                  </a:tcPr>
                </a:tc>
                <a:tc>
                  <a:txBody>
                    <a:bodyPr/>
                    <a:lstStyle/>
                    <a:p>
                      <a:r>
                        <a:rPr lang="en-US" sz="1700">
                          <a:effectLst/>
                        </a:rPr>
                        <a:t> </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EEEBEB"/>
                    </a:solidFill>
                  </a:tcPr>
                </a:tc>
                <a:tc>
                  <a:txBody>
                    <a:bodyPr/>
                    <a:lstStyle/>
                    <a:p>
                      <a:r>
                        <a:rPr lang="en-US" sz="1700">
                          <a:effectLst/>
                        </a:rPr>
                        <a:t>Read(Y)</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EEEBEB"/>
                    </a:solidFill>
                  </a:tcPr>
                </a:tc>
              </a:tr>
              <a:tr h="389335">
                <a:tc>
                  <a:txBody>
                    <a:bodyPr/>
                    <a:lstStyle/>
                    <a:p>
                      <a:r>
                        <a:rPr lang="en-US" sz="1700">
                          <a:effectLst/>
                        </a:rPr>
                        <a:t>t3</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700">
                          <a:effectLst/>
                        </a:rPr>
                        <a:t> </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700">
                          <a:effectLst/>
                        </a:rPr>
                        <a:t> </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700">
                          <a:effectLst/>
                        </a:rPr>
                        <a:t>Read(X)</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r>
              <a:tr h="389335">
                <a:tc>
                  <a:txBody>
                    <a:bodyPr/>
                    <a:lstStyle/>
                    <a:p>
                      <a:r>
                        <a:rPr lang="en-US" sz="1700">
                          <a:effectLst/>
                        </a:rPr>
                        <a:t>t4</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EEEBEB"/>
                    </a:solidFill>
                  </a:tcPr>
                </a:tc>
                <a:tc>
                  <a:txBody>
                    <a:bodyPr/>
                    <a:lstStyle/>
                    <a:p>
                      <a:r>
                        <a:rPr lang="en-US" sz="1700">
                          <a:effectLst/>
                        </a:rPr>
                        <a:t> </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EEEBEB"/>
                    </a:solidFill>
                  </a:tcPr>
                </a:tc>
                <a:tc>
                  <a:txBody>
                    <a:bodyPr/>
                    <a:lstStyle/>
                    <a:p>
                      <a:r>
                        <a:rPr lang="en-US" sz="1700">
                          <a:effectLst/>
                        </a:rPr>
                        <a:t>Read(Y)</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EEEBEB"/>
                    </a:solidFill>
                  </a:tcPr>
                </a:tc>
                <a:tc>
                  <a:txBody>
                    <a:bodyPr/>
                    <a:lstStyle/>
                    <a:p>
                      <a:r>
                        <a:rPr lang="en-US" sz="1700">
                          <a:effectLst/>
                        </a:rPr>
                        <a:t> </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EEEBEB"/>
                    </a:solidFill>
                  </a:tcPr>
                </a:tc>
              </a:tr>
              <a:tr h="389335">
                <a:tc>
                  <a:txBody>
                    <a:bodyPr/>
                    <a:lstStyle/>
                    <a:p>
                      <a:r>
                        <a:rPr lang="en-US" sz="1700">
                          <a:effectLst/>
                        </a:rPr>
                        <a:t>t5</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700">
                          <a:effectLst/>
                        </a:rPr>
                        <a:t> </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700">
                          <a:effectLst/>
                        </a:rPr>
                        <a:t>Read(Z)</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700" dirty="0">
                          <a:effectLst/>
                        </a:rPr>
                        <a:t> </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r>
              <a:tr h="389335">
                <a:tc>
                  <a:txBody>
                    <a:bodyPr/>
                    <a:lstStyle/>
                    <a:p>
                      <a:r>
                        <a:rPr lang="en-US" sz="1700">
                          <a:effectLst/>
                        </a:rPr>
                        <a:t>t6</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EEEBEB"/>
                    </a:solidFill>
                  </a:tcPr>
                </a:tc>
                <a:tc>
                  <a:txBody>
                    <a:bodyPr/>
                    <a:lstStyle/>
                    <a:p>
                      <a:r>
                        <a:rPr lang="en-US" sz="1700">
                          <a:effectLst/>
                        </a:rPr>
                        <a:t> </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EEEBEB"/>
                    </a:solidFill>
                  </a:tcPr>
                </a:tc>
                <a:tc>
                  <a:txBody>
                    <a:bodyPr/>
                    <a:lstStyle/>
                    <a:p>
                      <a:r>
                        <a:rPr lang="en-US" sz="1700">
                          <a:effectLst/>
                        </a:rPr>
                        <a:t> </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EEEBEB"/>
                    </a:solidFill>
                  </a:tcPr>
                </a:tc>
                <a:tc>
                  <a:txBody>
                    <a:bodyPr/>
                    <a:lstStyle/>
                    <a:p>
                      <a:r>
                        <a:rPr lang="en-US" sz="1700">
                          <a:effectLst/>
                        </a:rPr>
                        <a:t>Write(Y)</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EEEBEB"/>
                    </a:solidFill>
                  </a:tcPr>
                </a:tc>
              </a:tr>
              <a:tr h="389335">
                <a:tc>
                  <a:txBody>
                    <a:bodyPr/>
                    <a:lstStyle/>
                    <a:p>
                      <a:r>
                        <a:rPr lang="en-US" sz="1700">
                          <a:effectLst/>
                        </a:rPr>
                        <a:t>t7</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700">
                          <a:effectLst/>
                        </a:rPr>
                        <a:t> </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700">
                          <a:effectLst/>
                        </a:rPr>
                        <a:t>Write(Z)</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700">
                          <a:effectLst/>
                        </a:rPr>
                        <a:t> </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r>
              <a:tr h="389335">
                <a:tc>
                  <a:txBody>
                    <a:bodyPr/>
                    <a:lstStyle/>
                    <a:p>
                      <a:r>
                        <a:rPr lang="en-US" sz="1700">
                          <a:effectLst/>
                        </a:rPr>
                        <a:t>t8</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EEEBEB"/>
                    </a:solidFill>
                  </a:tcPr>
                </a:tc>
                <a:tc>
                  <a:txBody>
                    <a:bodyPr/>
                    <a:lstStyle/>
                    <a:p>
                      <a:r>
                        <a:rPr lang="en-US" sz="1700">
                          <a:effectLst/>
                        </a:rPr>
                        <a:t>Read(Z)</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EEEBEB"/>
                    </a:solidFill>
                  </a:tcPr>
                </a:tc>
                <a:tc>
                  <a:txBody>
                    <a:bodyPr/>
                    <a:lstStyle/>
                    <a:p>
                      <a:r>
                        <a:rPr lang="en-US" sz="1700">
                          <a:effectLst/>
                        </a:rPr>
                        <a:t> </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EEEBEB"/>
                    </a:solidFill>
                  </a:tcPr>
                </a:tc>
                <a:tc>
                  <a:txBody>
                    <a:bodyPr/>
                    <a:lstStyle/>
                    <a:p>
                      <a:r>
                        <a:rPr lang="en-US" sz="1700">
                          <a:effectLst/>
                        </a:rPr>
                        <a:t> </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EEEBEB"/>
                    </a:solidFill>
                  </a:tcPr>
                </a:tc>
              </a:tr>
              <a:tr h="389335">
                <a:tc>
                  <a:txBody>
                    <a:bodyPr/>
                    <a:lstStyle/>
                    <a:p>
                      <a:r>
                        <a:rPr lang="en-US" sz="1700">
                          <a:effectLst/>
                        </a:rPr>
                        <a:t>t9</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700">
                          <a:effectLst/>
                        </a:rPr>
                        <a:t>Write(X)</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700">
                          <a:effectLst/>
                        </a:rPr>
                        <a:t> </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700">
                          <a:effectLst/>
                        </a:rPr>
                        <a:t> </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r>
              <a:tr h="389335">
                <a:tc>
                  <a:txBody>
                    <a:bodyPr/>
                    <a:lstStyle/>
                    <a:p>
                      <a:r>
                        <a:rPr lang="en-US" sz="1700">
                          <a:effectLst/>
                        </a:rPr>
                        <a:t>t10</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EEBEB"/>
                    </a:solidFill>
                  </a:tcPr>
                </a:tc>
                <a:tc>
                  <a:txBody>
                    <a:bodyPr/>
                    <a:lstStyle/>
                    <a:p>
                      <a:r>
                        <a:rPr lang="en-US" sz="1700">
                          <a:effectLst/>
                        </a:rPr>
                        <a:t>Write(Z)</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EEBEB"/>
                    </a:solidFill>
                  </a:tcPr>
                </a:tc>
                <a:tc>
                  <a:txBody>
                    <a:bodyPr/>
                    <a:lstStyle/>
                    <a:p>
                      <a:r>
                        <a:rPr lang="en-US" sz="1700">
                          <a:effectLst/>
                        </a:rPr>
                        <a:t> </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EEBEB"/>
                    </a:solidFill>
                  </a:tcPr>
                </a:tc>
                <a:tc>
                  <a:txBody>
                    <a:bodyPr/>
                    <a:lstStyle/>
                    <a:p>
                      <a:r>
                        <a:rPr lang="en-US" sz="1700" dirty="0">
                          <a:effectLst/>
                        </a:rPr>
                        <a:t> </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EEBEB"/>
                    </a:solidFill>
                  </a:tcPr>
                </a:tc>
              </a:tr>
            </a:tbl>
          </a:graphicData>
        </a:graphic>
      </p:graphicFrame>
    </p:spTree>
    <p:extLst>
      <p:ext uri="{BB962C8B-B14F-4D97-AF65-F5344CB8AC3E}">
        <p14:creationId xmlns:p14="http://schemas.microsoft.com/office/powerpoint/2010/main" val="2202752879"/>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10.4.1.1 Conflict </a:t>
            </a:r>
            <a:r>
              <a:rPr lang="en-US" sz="2800" dirty="0" err="1">
                <a:solidFill>
                  <a:schemeClr val="bg1"/>
                </a:solidFill>
              </a:rPr>
              <a:t>Serializability</a:t>
            </a:r>
            <a:r>
              <a:rPr lang="en-US" sz="2800" dirty="0">
                <a:solidFill>
                  <a:schemeClr val="bg1"/>
                </a:solidFill>
              </a:rPr>
              <a:t> </a:t>
            </a:r>
          </a:p>
        </p:txBody>
      </p:sp>
      <p:sp>
        <p:nvSpPr>
          <p:cNvPr id="3" name="Subtitle 2"/>
          <p:cNvSpPr>
            <a:spLocks noGrp="1"/>
          </p:cNvSpPr>
          <p:nvPr>
            <p:ph type="subTitle" idx="1"/>
          </p:nvPr>
        </p:nvSpPr>
        <p:spPr>
          <a:xfrm>
            <a:off x="1281567" y="1139688"/>
            <a:ext cx="8094254" cy="1770937"/>
          </a:xfrm>
        </p:spPr>
        <p:txBody>
          <a:bodyPr>
            <a:normAutofit fontScale="85000" lnSpcReduction="10000"/>
          </a:bodyPr>
          <a:lstStyle/>
          <a:p>
            <a:pPr algn="just">
              <a:buClr>
                <a:schemeClr val="tx1"/>
              </a:buClr>
              <a:buSzPct val="71000"/>
            </a:pPr>
            <a:r>
              <a:rPr lang="en-US" sz="2800" b="1" dirty="0" smtClean="0">
                <a:solidFill>
                  <a:srgbClr val="222222"/>
                </a:solidFill>
                <a:latin typeface="arial" panose="020B0604020202020204" pitchFamily="34" charset="0"/>
              </a:rPr>
              <a:t>Test for conflict </a:t>
            </a:r>
            <a:r>
              <a:rPr lang="en-US" sz="2800" b="1" dirty="0" err="1" smtClean="0">
                <a:solidFill>
                  <a:srgbClr val="222222"/>
                </a:solidFill>
                <a:latin typeface="arial" panose="020B0604020202020204" pitchFamily="34" charset="0"/>
              </a:rPr>
              <a:t>serializability</a:t>
            </a:r>
            <a:r>
              <a:rPr lang="en-US" sz="2800" b="1" dirty="0" smtClean="0">
                <a:solidFill>
                  <a:srgbClr val="222222"/>
                </a:solidFill>
                <a:latin typeface="arial" panose="020B0604020202020204" pitchFamily="34" charset="0"/>
              </a:rPr>
              <a:t> : </a:t>
            </a:r>
            <a:r>
              <a:rPr lang="en-US" sz="2600" dirty="0">
                <a:solidFill>
                  <a:srgbClr val="FF0000"/>
                </a:solidFill>
                <a:latin typeface="arial" panose="020B0604020202020204" pitchFamily="34" charset="0"/>
              </a:rPr>
              <a:t>Precedence graph method</a:t>
            </a:r>
          </a:p>
          <a:p>
            <a:pPr algn="just">
              <a:buClr>
                <a:schemeClr val="tx1"/>
              </a:buClr>
              <a:buSzPct val="71000"/>
            </a:pPr>
            <a:r>
              <a:rPr lang="en-US" sz="2600" b="1" dirty="0">
                <a:solidFill>
                  <a:schemeClr val="tx1"/>
                </a:solidFill>
                <a:latin typeface="arial" panose="020B0604020202020204" pitchFamily="34" charset="0"/>
              </a:rPr>
              <a:t>Precedence graph for schedule </a:t>
            </a:r>
            <a:r>
              <a:rPr lang="en-US" sz="2600" b="1" dirty="0" err="1">
                <a:solidFill>
                  <a:schemeClr val="tx1"/>
                </a:solidFill>
                <a:latin typeface="arial" panose="020B0604020202020204" pitchFamily="34" charset="0"/>
              </a:rPr>
              <a:t>S2</a:t>
            </a:r>
            <a:r>
              <a:rPr lang="en-US" sz="2600" b="1" dirty="0" smtClean="0">
                <a:solidFill>
                  <a:schemeClr val="tx1"/>
                </a:solidFill>
                <a:latin typeface="arial" panose="020B0604020202020204" pitchFamily="34" charset="0"/>
              </a:rPr>
              <a:t>:</a:t>
            </a:r>
            <a:endParaRPr lang="en-US" sz="2600" b="1" dirty="0">
              <a:solidFill>
                <a:schemeClr val="tx1"/>
              </a:solidFill>
              <a:latin typeface="arial" panose="020B0604020202020204" pitchFamily="34" charset="0"/>
            </a:endParaRPr>
          </a:p>
          <a:p>
            <a:pPr marL="457200" indent="-457200" algn="just">
              <a:buClr>
                <a:schemeClr val="tx1"/>
              </a:buClr>
              <a:buSzPct val="71000"/>
              <a:buFont typeface="Wingdings" panose="05000000000000000000" pitchFamily="2" charset="2"/>
              <a:buChar char="Ø"/>
            </a:pPr>
            <a:r>
              <a:rPr lang="en-US" sz="2600" dirty="0">
                <a:solidFill>
                  <a:schemeClr val="tx1"/>
                </a:solidFill>
                <a:latin typeface="arial" panose="020B0604020202020204" pitchFamily="34" charset="0"/>
              </a:rPr>
              <a:t>In the above schedule, there are three transactions: </a:t>
            </a:r>
            <a:r>
              <a:rPr lang="en-US" sz="2600" dirty="0" err="1">
                <a:solidFill>
                  <a:schemeClr val="tx1"/>
                </a:solidFill>
                <a:latin typeface="arial" panose="020B0604020202020204" pitchFamily="34" charset="0"/>
              </a:rPr>
              <a:t>T1</a:t>
            </a:r>
            <a:r>
              <a:rPr lang="en-US" sz="2600" dirty="0">
                <a:solidFill>
                  <a:schemeClr val="tx1"/>
                </a:solidFill>
                <a:latin typeface="arial" panose="020B0604020202020204" pitchFamily="34" charset="0"/>
              </a:rPr>
              <a:t>, </a:t>
            </a:r>
            <a:r>
              <a:rPr lang="en-US" sz="2600" dirty="0" err="1">
                <a:solidFill>
                  <a:schemeClr val="tx1"/>
                </a:solidFill>
                <a:latin typeface="arial" panose="020B0604020202020204" pitchFamily="34" charset="0"/>
              </a:rPr>
              <a:t>T2</a:t>
            </a:r>
            <a:r>
              <a:rPr lang="en-US" sz="2600" dirty="0">
                <a:solidFill>
                  <a:schemeClr val="tx1"/>
                </a:solidFill>
                <a:latin typeface="arial" panose="020B0604020202020204" pitchFamily="34" charset="0"/>
              </a:rPr>
              <a:t>, and </a:t>
            </a:r>
            <a:r>
              <a:rPr lang="en-US" sz="2600" dirty="0" err="1">
                <a:solidFill>
                  <a:schemeClr val="tx1"/>
                </a:solidFill>
                <a:latin typeface="arial" panose="020B0604020202020204" pitchFamily="34" charset="0"/>
              </a:rPr>
              <a:t>T3</a:t>
            </a:r>
            <a:r>
              <a:rPr lang="en-US" sz="2600" dirty="0">
                <a:solidFill>
                  <a:schemeClr val="tx1"/>
                </a:solidFill>
                <a:latin typeface="arial" panose="020B0604020202020204" pitchFamily="34" charset="0"/>
              </a:rPr>
              <a:t>. So, the precedence graph contains three vertices.</a:t>
            </a:r>
          </a:p>
        </p:txBody>
      </p:sp>
      <p:pic>
        <p:nvPicPr>
          <p:cNvPr id="10242" name="Picture 2" descr="Precedence graph for schedule S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13656" y="3045388"/>
            <a:ext cx="4507606" cy="31751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5959026"/>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10.4.1.1 Conflict </a:t>
            </a:r>
            <a:r>
              <a:rPr lang="en-US" sz="2800" dirty="0" err="1">
                <a:solidFill>
                  <a:schemeClr val="bg1"/>
                </a:solidFill>
              </a:rPr>
              <a:t>Serializability</a:t>
            </a:r>
            <a:r>
              <a:rPr lang="en-US" sz="2800" dirty="0">
                <a:solidFill>
                  <a:schemeClr val="bg1"/>
                </a:solidFill>
              </a:rPr>
              <a:t> </a:t>
            </a:r>
          </a:p>
        </p:txBody>
      </p:sp>
      <p:sp>
        <p:nvSpPr>
          <p:cNvPr id="3" name="Subtitle 2"/>
          <p:cNvSpPr>
            <a:spLocks noGrp="1"/>
          </p:cNvSpPr>
          <p:nvPr>
            <p:ph type="subTitle" idx="1"/>
          </p:nvPr>
        </p:nvSpPr>
        <p:spPr>
          <a:xfrm>
            <a:off x="1281567" y="1139688"/>
            <a:ext cx="8094254" cy="2788368"/>
          </a:xfrm>
        </p:spPr>
        <p:txBody>
          <a:bodyPr>
            <a:normAutofit fontScale="70000" lnSpcReduction="20000"/>
          </a:bodyPr>
          <a:lstStyle/>
          <a:p>
            <a:pPr algn="just">
              <a:buClr>
                <a:schemeClr val="tx1"/>
              </a:buClr>
              <a:buSzPct val="71000"/>
            </a:pPr>
            <a:r>
              <a:rPr lang="en-US" sz="2800" b="1" dirty="0" smtClean="0">
                <a:solidFill>
                  <a:srgbClr val="222222"/>
                </a:solidFill>
                <a:latin typeface="arial" panose="020B0604020202020204" pitchFamily="34" charset="0"/>
              </a:rPr>
              <a:t>Test for conflict </a:t>
            </a:r>
            <a:r>
              <a:rPr lang="en-US" sz="2800" b="1" dirty="0" err="1" smtClean="0">
                <a:solidFill>
                  <a:srgbClr val="222222"/>
                </a:solidFill>
                <a:latin typeface="arial" panose="020B0604020202020204" pitchFamily="34" charset="0"/>
              </a:rPr>
              <a:t>serializability</a:t>
            </a:r>
            <a:r>
              <a:rPr lang="en-US" sz="2800" b="1" dirty="0" smtClean="0">
                <a:solidFill>
                  <a:srgbClr val="222222"/>
                </a:solidFill>
                <a:latin typeface="arial" panose="020B0604020202020204" pitchFamily="34" charset="0"/>
              </a:rPr>
              <a:t> : </a:t>
            </a:r>
            <a:r>
              <a:rPr lang="en-US" sz="2600" dirty="0">
                <a:solidFill>
                  <a:srgbClr val="FF0000"/>
                </a:solidFill>
                <a:latin typeface="arial" panose="020B0604020202020204" pitchFamily="34" charset="0"/>
              </a:rPr>
              <a:t>Precedence graph method</a:t>
            </a:r>
          </a:p>
          <a:p>
            <a:pPr algn="just">
              <a:buClr>
                <a:schemeClr val="tx1"/>
              </a:buClr>
              <a:buSzPct val="71000"/>
            </a:pPr>
            <a:r>
              <a:rPr lang="en-US" sz="2600" b="1" dirty="0">
                <a:solidFill>
                  <a:schemeClr val="tx1"/>
                </a:solidFill>
                <a:latin typeface="arial" panose="020B0604020202020204" pitchFamily="34" charset="0"/>
              </a:rPr>
              <a:t>To draw the edges between these nodes or vertices, follow the below steps</a:t>
            </a:r>
            <a:r>
              <a:rPr lang="en-US" sz="2600" b="1" dirty="0" smtClean="0">
                <a:solidFill>
                  <a:schemeClr val="tx1"/>
                </a:solidFill>
                <a:latin typeface="arial" panose="020B0604020202020204" pitchFamily="34" charset="0"/>
              </a:rPr>
              <a:t>:</a:t>
            </a:r>
            <a:endParaRPr lang="en-US" sz="2600" b="1" dirty="0">
              <a:solidFill>
                <a:schemeClr val="tx1"/>
              </a:solidFill>
              <a:latin typeface="arial" panose="020B0604020202020204" pitchFamily="34" charset="0"/>
            </a:endParaRPr>
          </a:p>
          <a:p>
            <a:pPr algn="just">
              <a:buClr>
                <a:schemeClr val="tx1"/>
              </a:buClr>
              <a:buSzPct val="71000"/>
            </a:pPr>
            <a:r>
              <a:rPr lang="en-US" sz="2600" dirty="0" err="1">
                <a:solidFill>
                  <a:schemeClr val="tx1"/>
                </a:solidFill>
                <a:latin typeface="arial" panose="020B0604020202020204" pitchFamily="34" charset="0"/>
              </a:rPr>
              <a:t>Step1</a:t>
            </a:r>
            <a:r>
              <a:rPr lang="en-US" sz="2600" dirty="0">
                <a:solidFill>
                  <a:schemeClr val="tx1"/>
                </a:solidFill>
                <a:latin typeface="arial" panose="020B0604020202020204" pitchFamily="34" charset="0"/>
              </a:rPr>
              <a:t>: At time </a:t>
            </a:r>
            <a:r>
              <a:rPr lang="en-US" sz="2600" dirty="0" err="1">
                <a:solidFill>
                  <a:schemeClr val="tx1"/>
                </a:solidFill>
                <a:latin typeface="arial" panose="020B0604020202020204" pitchFamily="34" charset="0"/>
              </a:rPr>
              <a:t>t1</a:t>
            </a:r>
            <a:r>
              <a:rPr lang="en-US" sz="2600" dirty="0">
                <a:solidFill>
                  <a:schemeClr val="tx1"/>
                </a:solidFill>
                <a:latin typeface="arial" panose="020B0604020202020204" pitchFamily="34" charset="0"/>
              </a:rPr>
              <a:t>, there is no conflicting operation for read(X) of Transaction </a:t>
            </a:r>
            <a:r>
              <a:rPr lang="en-US" sz="2600" dirty="0" smtClean="0">
                <a:solidFill>
                  <a:schemeClr val="tx1"/>
                </a:solidFill>
                <a:latin typeface="arial" panose="020B0604020202020204" pitchFamily="34" charset="0"/>
              </a:rPr>
              <a:t>			</a:t>
            </a:r>
            <a:r>
              <a:rPr lang="en-US" sz="2600" dirty="0" err="1" smtClean="0">
                <a:solidFill>
                  <a:schemeClr val="tx1"/>
                </a:solidFill>
                <a:latin typeface="arial" panose="020B0604020202020204" pitchFamily="34" charset="0"/>
              </a:rPr>
              <a:t>T1</a:t>
            </a:r>
            <a:r>
              <a:rPr lang="en-US" sz="2600" dirty="0">
                <a:solidFill>
                  <a:schemeClr val="tx1"/>
                </a:solidFill>
                <a:latin typeface="arial" panose="020B0604020202020204" pitchFamily="34" charset="0"/>
              </a:rPr>
              <a:t>.</a:t>
            </a:r>
          </a:p>
          <a:p>
            <a:pPr algn="just">
              <a:buClr>
                <a:schemeClr val="tx1"/>
              </a:buClr>
              <a:buSzPct val="71000"/>
            </a:pPr>
            <a:r>
              <a:rPr lang="en-US" sz="2600" dirty="0" err="1">
                <a:solidFill>
                  <a:schemeClr val="tx1"/>
                </a:solidFill>
                <a:latin typeface="arial" panose="020B0604020202020204" pitchFamily="34" charset="0"/>
              </a:rPr>
              <a:t>Step2</a:t>
            </a:r>
            <a:r>
              <a:rPr lang="en-US" sz="2600" dirty="0">
                <a:solidFill>
                  <a:schemeClr val="tx1"/>
                </a:solidFill>
                <a:latin typeface="arial" panose="020B0604020202020204" pitchFamily="34" charset="0"/>
              </a:rPr>
              <a:t>: At time </a:t>
            </a:r>
            <a:r>
              <a:rPr lang="en-US" sz="2600" dirty="0" err="1">
                <a:solidFill>
                  <a:schemeClr val="tx1"/>
                </a:solidFill>
                <a:latin typeface="arial" panose="020B0604020202020204" pitchFamily="34" charset="0"/>
              </a:rPr>
              <a:t>t2</a:t>
            </a:r>
            <a:r>
              <a:rPr lang="en-US" sz="2600" dirty="0">
                <a:solidFill>
                  <a:schemeClr val="tx1"/>
                </a:solidFill>
                <a:latin typeface="arial" panose="020B0604020202020204" pitchFamily="34" charset="0"/>
              </a:rPr>
              <a:t>, there is no conflicting operation for read(Y) of Transaction </a:t>
            </a:r>
            <a:r>
              <a:rPr lang="en-US" sz="2600" dirty="0" smtClean="0">
                <a:solidFill>
                  <a:schemeClr val="tx1"/>
                </a:solidFill>
                <a:latin typeface="arial" panose="020B0604020202020204" pitchFamily="34" charset="0"/>
              </a:rPr>
              <a:t>			</a:t>
            </a:r>
            <a:r>
              <a:rPr lang="en-US" sz="2600" dirty="0" err="1" smtClean="0">
                <a:solidFill>
                  <a:schemeClr val="tx1"/>
                </a:solidFill>
                <a:latin typeface="arial" panose="020B0604020202020204" pitchFamily="34" charset="0"/>
              </a:rPr>
              <a:t>T3</a:t>
            </a:r>
            <a:r>
              <a:rPr lang="en-US" sz="2600" dirty="0">
                <a:solidFill>
                  <a:schemeClr val="tx1"/>
                </a:solidFill>
                <a:latin typeface="arial" panose="020B0604020202020204" pitchFamily="34" charset="0"/>
              </a:rPr>
              <a:t>.</a:t>
            </a:r>
          </a:p>
          <a:p>
            <a:pPr algn="just">
              <a:buClr>
                <a:schemeClr val="tx1"/>
              </a:buClr>
              <a:buSzPct val="71000"/>
            </a:pPr>
            <a:r>
              <a:rPr lang="en-US" sz="2600" dirty="0" err="1">
                <a:solidFill>
                  <a:schemeClr val="tx1"/>
                </a:solidFill>
                <a:latin typeface="arial" panose="020B0604020202020204" pitchFamily="34" charset="0"/>
              </a:rPr>
              <a:t>Step3</a:t>
            </a:r>
            <a:r>
              <a:rPr lang="en-US" sz="2600" dirty="0">
                <a:solidFill>
                  <a:schemeClr val="tx1"/>
                </a:solidFill>
                <a:latin typeface="arial" panose="020B0604020202020204" pitchFamily="34" charset="0"/>
              </a:rPr>
              <a:t>: At time </a:t>
            </a:r>
            <a:r>
              <a:rPr lang="en-US" sz="2600" dirty="0" err="1">
                <a:solidFill>
                  <a:schemeClr val="tx1"/>
                </a:solidFill>
                <a:latin typeface="arial" panose="020B0604020202020204" pitchFamily="34" charset="0"/>
              </a:rPr>
              <a:t>t3</a:t>
            </a:r>
            <a:r>
              <a:rPr lang="en-US" sz="2600" dirty="0">
                <a:solidFill>
                  <a:schemeClr val="tx1"/>
                </a:solidFill>
                <a:latin typeface="arial" panose="020B0604020202020204" pitchFamily="34" charset="0"/>
              </a:rPr>
              <a:t>, there exists a conflicting operation Write(X) in transaction </a:t>
            </a:r>
            <a:r>
              <a:rPr lang="en-US" sz="2600" dirty="0" err="1">
                <a:solidFill>
                  <a:schemeClr val="tx1"/>
                </a:solidFill>
                <a:latin typeface="arial" panose="020B0604020202020204" pitchFamily="34" charset="0"/>
              </a:rPr>
              <a:t>T1</a:t>
            </a:r>
            <a:r>
              <a:rPr lang="en-US" sz="2600" dirty="0">
                <a:solidFill>
                  <a:schemeClr val="tx1"/>
                </a:solidFill>
                <a:latin typeface="arial" panose="020B0604020202020204" pitchFamily="34" charset="0"/>
              </a:rPr>
              <a:t> </a:t>
            </a:r>
            <a:r>
              <a:rPr lang="en-US" sz="2600" dirty="0" smtClean="0">
                <a:solidFill>
                  <a:schemeClr val="tx1"/>
                </a:solidFill>
                <a:latin typeface="arial" panose="020B0604020202020204" pitchFamily="34" charset="0"/>
              </a:rPr>
              <a:t>		for </a:t>
            </a:r>
            <a:r>
              <a:rPr lang="en-US" sz="2600" dirty="0">
                <a:solidFill>
                  <a:schemeClr val="tx1"/>
                </a:solidFill>
                <a:latin typeface="arial" panose="020B0604020202020204" pitchFamily="34" charset="0"/>
              </a:rPr>
              <a:t>read(X) of Transaction </a:t>
            </a:r>
            <a:r>
              <a:rPr lang="en-US" sz="2600" dirty="0" err="1">
                <a:solidFill>
                  <a:schemeClr val="tx1"/>
                </a:solidFill>
                <a:latin typeface="arial" panose="020B0604020202020204" pitchFamily="34" charset="0"/>
              </a:rPr>
              <a:t>T3</a:t>
            </a:r>
            <a:r>
              <a:rPr lang="en-US" sz="2600" dirty="0">
                <a:solidFill>
                  <a:schemeClr val="tx1"/>
                </a:solidFill>
                <a:latin typeface="arial" panose="020B0604020202020204" pitchFamily="34" charset="0"/>
              </a:rPr>
              <a:t>. So, draw an edge from </a:t>
            </a:r>
            <a:r>
              <a:rPr lang="en-US" sz="2600" dirty="0" err="1" smtClean="0">
                <a:solidFill>
                  <a:schemeClr val="tx1"/>
                </a:solidFill>
                <a:latin typeface="arial" panose="020B0604020202020204" pitchFamily="34" charset="0"/>
              </a:rPr>
              <a:t>T3</a:t>
            </a:r>
            <a:r>
              <a:rPr lang="en-US" sz="2600" dirty="0" smtClean="0">
                <a:solidFill>
                  <a:schemeClr val="tx1"/>
                </a:solidFill>
                <a:latin typeface="arial" panose="020B0604020202020204" pitchFamily="34" charset="0"/>
              </a:rPr>
              <a:t> →</a:t>
            </a:r>
            <a:r>
              <a:rPr lang="en-US" sz="2600" dirty="0" err="1" smtClean="0">
                <a:solidFill>
                  <a:schemeClr val="tx1"/>
                </a:solidFill>
                <a:latin typeface="arial" panose="020B0604020202020204" pitchFamily="34" charset="0"/>
              </a:rPr>
              <a:t>T1</a:t>
            </a:r>
            <a:r>
              <a:rPr lang="en-US" sz="2600" dirty="0">
                <a:solidFill>
                  <a:schemeClr val="tx1"/>
                </a:solidFill>
                <a:latin typeface="arial" panose="020B0604020202020204" pitchFamily="34" charset="0"/>
              </a:rPr>
              <a:t>.</a:t>
            </a:r>
          </a:p>
        </p:txBody>
      </p:sp>
      <p:pic>
        <p:nvPicPr>
          <p:cNvPr id="11266" name="Picture 2" descr="edges between these nodes or vertic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6809" y="4062819"/>
            <a:ext cx="3105150" cy="2152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3850614"/>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10.4.1.1 Conflict </a:t>
            </a:r>
            <a:r>
              <a:rPr lang="en-US" sz="2800" dirty="0" err="1">
                <a:solidFill>
                  <a:schemeClr val="bg1"/>
                </a:solidFill>
              </a:rPr>
              <a:t>Serializability</a:t>
            </a:r>
            <a:r>
              <a:rPr lang="en-US" sz="2800" dirty="0">
                <a:solidFill>
                  <a:schemeClr val="bg1"/>
                </a:solidFill>
              </a:rPr>
              <a:t> </a:t>
            </a:r>
          </a:p>
        </p:txBody>
      </p:sp>
      <p:sp>
        <p:nvSpPr>
          <p:cNvPr id="3" name="Subtitle 2"/>
          <p:cNvSpPr>
            <a:spLocks noGrp="1"/>
          </p:cNvSpPr>
          <p:nvPr>
            <p:ph type="subTitle" idx="1"/>
          </p:nvPr>
        </p:nvSpPr>
        <p:spPr>
          <a:xfrm>
            <a:off x="1281567" y="1139688"/>
            <a:ext cx="8094254" cy="2788368"/>
          </a:xfrm>
        </p:spPr>
        <p:txBody>
          <a:bodyPr>
            <a:normAutofit fontScale="77500" lnSpcReduction="20000"/>
          </a:bodyPr>
          <a:lstStyle/>
          <a:p>
            <a:pPr algn="just">
              <a:buClr>
                <a:schemeClr val="tx1"/>
              </a:buClr>
              <a:buSzPct val="71000"/>
            </a:pPr>
            <a:r>
              <a:rPr lang="en-US" sz="2800" b="1" dirty="0" smtClean="0">
                <a:solidFill>
                  <a:srgbClr val="222222"/>
                </a:solidFill>
                <a:latin typeface="arial" panose="020B0604020202020204" pitchFamily="34" charset="0"/>
              </a:rPr>
              <a:t>Test for conflict </a:t>
            </a:r>
            <a:r>
              <a:rPr lang="en-US" sz="2800" b="1" dirty="0" err="1" smtClean="0">
                <a:solidFill>
                  <a:srgbClr val="222222"/>
                </a:solidFill>
                <a:latin typeface="arial" panose="020B0604020202020204" pitchFamily="34" charset="0"/>
              </a:rPr>
              <a:t>serializability</a:t>
            </a:r>
            <a:r>
              <a:rPr lang="en-US" sz="2800" b="1" dirty="0" smtClean="0">
                <a:solidFill>
                  <a:srgbClr val="222222"/>
                </a:solidFill>
                <a:latin typeface="arial" panose="020B0604020202020204" pitchFamily="34" charset="0"/>
              </a:rPr>
              <a:t> : </a:t>
            </a:r>
            <a:r>
              <a:rPr lang="en-US" sz="2600" dirty="0">
                <a:solidFill>
                  <a:srgbClr val="FF0000"/>
                </a:solidFill>
                <a:latin typeface="arial" panose="020B0604020202020204" pitchFamily="34" charset="0"/>
              </a:rPr>
              <a:t>Precedence graph method</a:t>
            </a:r>
          </a:p>
          <a:p>
            <a:pPr algn="just">
              <a:buClr>
                <a:schemeClr val="tx1"/>
              </a:buClr>
              <a:buSzPct val="71000"/>
            </a:pPr>
            <a:r>
              <a:rPr lang="en-US" sz="2600" b="1" dirty="0">
                <a:solidFill>
                  <a:schemeClr val="tx1"/>
                </a:solidFill>
                <a:latin typeface="arial" panose="020B0604020202020204" pitchFamily="34" charset="0"/>
              </a:rPr>
              <a:t>To draw the edges between these nodes or vertices, follow the below steps</a:t>
            </a:r>
            <a:r>
              <a:rPr lang="en-US" sz="2600" b="1" dirty="0" smtClean="0">
                <a:solidFill>
                  <a:schemeClr val="tx1"/>
                </a:solidFill>
                <a:latin typeface="arial" panose="020B0604020202020204" pitchFamily="34" charset="0"/>
              </a:rPr>
              <a:t>:</a:t>
            </a:r>
            <a:endParaRPr lang="en-US" sz="2600" b="1" dirty="0">
              <a:solidFill>
                <a:schemeClr val="tx1"/>
              </a:solidFill>
              <a:latin typeface="arial" panose="020B0604020202020204" pitchFamily="34" charset="0"/>
            </a:endParaRPr>
          </a:p>
          <a:p>
            <a:pPr algn="just">
              <a:buClr>
                <a:schemeClr val="tx1"/>
              </a:buClr>
              <a:buSzPct val="71000"/>
            </a:pPr>
            <a:r>
              <a:rPr lang="en-US" sz="2600" dirty="0" err="1">
                <a:solidFill>
                  <a:schemeClr val="tx1"/>
                </a:solidFill>
                <a:latin typeface="arial" panose="020B0604020202020204" pitchFamily="34" charset="0"/>
              </a:rPr>
              <a:t>Step4</a:t>
            </a:r>
            <a:r>
              <a:rPr lang="en-US" sz="2600" dirty="0">
                <a:solidFill>
                  <a:schemeClr val="tx1"/>
                </a:solidFill>
                <a:latin typeface="arial" panose="020B0604020202020204" pitchFamily="34" charset="0"/>
              </a:rPr>
              <a:t>: At time </a:t>
            </a:r>
            <a:r>
              <a:rPr lang="en-US" sz="2600" dirty="0" err="1">
                <a:solidFill>
                  <a:schemeClr val="tx1"/>
                </a:solidFill>
                <a:latin typeface="arial" panose="020B0604020202020204" pitchFamily="34" charset="0"/>
              </a:rPr>
              <a:t>t4</a:t>
            </a:r>
            <a:r>
              <a:rPr lang="en-US" sz="2600" dirty="0">
                <a:solidFill>
                  <a:schemeClr val="tx1"/>
                </a:solidFill>
                <a:latin typeface="arial" panose="020B0604020202020204" pitchFamily="34" charset="0"/>
              </a:rPr>
              <a:t>, there exists a conflicting operation Write(Y) in </a:t>
            </a:r>
            <a:r>
              <a:rPr lang="en-US" sz="2600" dirty="0" smtClean="0">
                <a:solidFill>
                  <a:schemeClr val="tx1"/>
                </a:solidFill>
                <a:latin typeface="arial" panose="020B0604020202020204" pitchFamily="34" charset="0"/>
              </a:rPr>
              <a:t>				transaction </a:t>
            </a:r>
            <a:r>
              <a:rPr lang="en-US" sz="2600" dirty="0" err="1">
                <a:solidFill>
                  <a:schemeClr val="tx1"/>
                </a:solidFill>
                <a:latin typeface="arial" panose="020B0604020202020204" pitchFamily="34" charset="0"/>
              </a:rPr>
              <a:t>T3</a:t>
            </a:r>
            <a:r>
              <a:rPr lang="en-US" sz="2600" dirty="0">
                <a:solidFill>
                  <a:schemeClr val="tx1"/>
                </a:solidFill>
                <a:latin typeface="arial" panose="020B0604020202020204" pitchFamily="34" charset="0"/>
              </a:rPr>
              <a:t> for read(Y) of Transaction </a:t>
            </a:r>
            <a:r>
              <a:rPr lang="en-US" sz="2600" dirty="0" err="1">
                <a:solidFill>
                  <a:schemeClr val="tx1"/>
                </a:solidFill>
                <a:latin typeface="arial" panose="020B0604020202020204" pitchFamily="34" charset="0"/>
              </a:rPr>
              <a:t>T2</a:t>
            </a:r>
            <a:r>
              <a:rPr lang="en-US" sz="2600" dirty="0">
                <a:solidFill>
                  <a:schemeClr val="tx1"/>
                </a:solidFill>
                <a:latin typeface="arial" panose="020B0604020202020204" pitchFamily="34" charset="0"/>
              </a:rPr>
              <a:t>. So, draw an </a:t>
            </a:r>
            <a:r>
              <a:rPr lang="en-US" sz="2600" dirty="0" smtClean="0">
                <a:solidFill>
                  <a:schemeClr val="tx1"/>
                </a:solidFill>
                <a:latin typeface="arial" panose="020B0604020202020204" pitchFamily="34" charset="0"/>
              </a:rPr>
              <a:t>			edge </a:t>
            </a:r>
            <a:r>
              <a:rPr lang="en-US" sz="2600" dirty="0">
                <a:solidFill>
                  <a:schemeClr val="tx1"/>
                </a:solidFill>
                <a:latin typeface="arial" panose="020B0604020202020204" pitchFamily="34" charset="0"/>
              </a:rPr>
              <a:t>from </a:t>
            </a:r>
            <a:r>
              <a:rPr lang="en-US" sz="2600" dirty="0" err="1" smtClean="0">
                <a:solidFill>
                  <a:schemeClr val="tx1"/>
                </a:solidFill>
                <a:latin typeface="arial" panose="020B0604020202020204" pitchFamily="34" charset="0"/>
              </a:rPr>
              <a:t>T2→T3</a:t>
            </a:r>
            <a:r>
              <a:rPr lang="en-US" sz="2600" dirty="0" smtClean="0">
                <a:solidFill>
                  <a:schemeClr val="tx1"/>
                </a:solidFill>
                <a:latin typeface="arial" panose="020B0604020202020204" pitchFamily="34" charset="0"/>
              </a:rPr>
              <a:t>.</a:t>
            </a:r>
            <a:endParaRPr lang="en-US" sz="2600" dirty="0">
              <a:solidFill>
                <a:schemeClr val="tx1"/>
              </a:solidFill>
              <a:latin typeface="arial" panose="020B0604020202020204" pitchFamily="34" charset="0"/>
            </a:endParaRPr>
          </a:p>
          <a:p>
            <a:pPr algn="just">
              <a:buClr>
                <a:schemeClr val="tx1"/>
              </a:buClr>
              <a:buSzPct val="71000"/>
            </a:pPr>
            <a:r>
              <a:rPr lang="en-US" sz="2600" dirty="0" err="1">
                <a:solidFill>
                  <a:schemeClr val="tx1"/>
                </a:solidFill>
                <a:latin typeface="arial" panose="020B0604020202020204" pitchFamily="34" charset="0"/>
              </a:rPr>
              <a:t>Step5</a:t>
            </a:r>
            <a:r>
              <a:rPr lang="en-US" sz="2600" dirty="0">
                <a:solidFill>
                  <a:schemeClr val="tx1"/>
                </a:solidFill>
                <a:latin typeface="arial" panose="020B0604020202020204" pitchFamily="34" charset="0"/>
              </a:rPr>
              <a:t>: At time </a:t>
            </a:r>
            <a:r>
              <a:rPr lang="en-US" sz="2600" dirty="0" err="1">
                <a:solidFill>
                  <a:schemeClr val="tx1"/>
                </a:solidFill>
                <a:latin typeface="arial" panose="020B0604020202020204" pitchFamily="34" charset="0"/>
              </a:rPr>
              <a:t>t5</a:t>
            </a:r>
            <a:r>
              <a:rPr lang="en-US" sz="2600" dirty="0">
                <a:solidFill>
                  <a:schemeClr val="tx1"/>
                </a:solidFill>
                <a:latin typeface="arial" panose="020B0604020202020204" pitchFamily="34" charset="0"/>
              </a:rPr>
              <a:t>, there exists a conflicting operation Write (Z) in </a:t>
            </a:r>
            <a:r>
              <a:rPr lang="en-US" sz="2600" dirty="0" smtClean="0">
                <a:solidFill>
                  <a:schemeClr val="tx1"/>
                </a:solidFill>
                <a:latin typeface="arial" panose="020B0604020202020204" pitchFamily="34" charset="0"/>
              </a:rPr>
              <a:t>				transaction </a:t>
            </a:r>
            <a:r>
              <a:rPr lang="en-US" sz="2600" dirty="0" err="1">
                <a:solidFill>
                  <a:schemeClr val="tx1"/>
                </a:solidFill>
                <a:latin typeface="arial" panose="020B0604020202020204" pitchFamily="34" charset="0"/>
              </a:rPr>
              <a:t>T1</a:t>
            </a:r>
            <a:r>
              <a:rPr lang="en-US" sz="2600" dirty="0">
                <a:solidFill>
                  <a:schemeClr val="tx1"/>
                </a:solidFill>
                <a:latin typeface="arial" panose="020B0604020202020204" pitchFamily="34" charset="0"/>
              </a:rPr>
              <a:t> for read (Z) of Transaction </a:t>
            </a:r>
            <a:r>
              <a:rPr lang="en-US" sz="2600" dirty="0" err="1">
                <a:solidFill>
                  <a:schemeClr val="tx1"/>
                </a:solidFill>
                <a:latin typeface="arial" panose="020B0604020202020204" pitchFamily="34" charset="0"/>
              </a:rPr>
              <a:t>T2</a:t>
            </a:r>
            <a:r>
              <a:rPr lang="en-US" sz="2600" dirty="0">
                <a:solidFill>
                  <a:schemeClr val="tx1"/>
                </a:solidFill>
                <a:latin typeface="arial" panose="020B0604020202020204" pitchFamily="34" charset="0"/>
              </a:rPr>
              <a:t>. So, draw an </a:t>
            </a:r>
            <a:r>
              <a:rPr lang="en-US" sz="2600" dirty="0" smtClean="0">
                <a:solidFill>
                  <a:schemeClr val="tx1"/>
                </a:solidFill>
                <a:latin typeface="arial" panose="020B0604020202020204" pitchFamily="34" charset="0"/>
              </a:rPr>
              <a:t>			edge </a:t>
            </a:r>
            <a:r>
              <a:rPr lang="en-US" sz="2600" dirty="0">
                <a:solidFill>
                  <a:schemeClr val="tx1"/>
                </a:solidFill>
                <a:latin typeface="arial" panose="020B0604020202020204" pitchFamily="34" charset="0"/>
              </a:rPr>
              <a:t>from </a:t>
            </a:r>
            <a:r>
              <a:rPr lang="en-US" sz="2600" dirty="0" err="1" smtClean="0">
                <a:solidFill>
                  <a:schemeClr val="tx1"/>
                </a:solidFill>
                <a:latin typeface="arial" panose="020B0604020202020204" pitchFamily="34" charset="0"/>
              </a:rPr>
              <a:t>T2→T1</a:t>
            </a:r>
            <a:r>
              <a:rPr lang="en-US" sz="2600" dirty="0">
                <a:solidFill>
                  <a:schemeClr val="tx1"/>
                </a:solidFill>
                <a:latin typeface="arial" panose="020B0604020202020204" pitchFamily="34" charset="0"/>
              </a:rPr>
              <a:t>.</a:t>
            </a:r>
          </a:p>
        </p:txBody>
      </p:sp>
      <p:pic>
        <p:nvPicPr>
          <p:cNvPr id="12290" name="Picture 2" descr="exists a conflicting opera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10144" y="4062819"/>
            <a:ext cx="2857500" cy="190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0856814"/>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10.4.1.1 Conflict </a:t>
            </a:r>
            <a:r>
              <a:rPr lang="en-US" sz="2800" dirty="0" err="1">
                <a:solidFill>
                  <a:schemeClr val="bg1"/>
                </a:solidFill>
              </a:rPr>
              <a:t>Serializability</a:t>
            </a:r>
            <a:r>
              <a:rPr lang="en-US" sz="2800" dirty="0">
                <a:solidFill>
                  <a:schemeClr val="bg1"/>
                </a:solidFill>
              </a:rPr>
              <a:t> </a:t>
            </a:r>
          </a:p>
        </p:txBody>
      </p:sp>
      <p:sp>
        <p:nvSpPr>
          <p:cNvPr id="3" name="Subtitle 2"/>
          <p:cNvSpPr>
            <a:spLocks noGrp="1"/>
          </p:cNvSpPr>
          <p:nvPr>
            <p:ph type="subTitle" idx="1"/>
          </p:nvPr>
        </p:nvSpPr>
        <p:spPr>
          <a:xfrm>
            <a:off x="1281567" y="1139688"/>
            <a:ext cx="8094254" cy="2788368"/>
          </a:xfrm>
        </p:spPr>
        <p:txBody>
          <a:bodyPr>
            <a:normAutofit fontScale="85000" lnSpcReduction="20000"/>
          </a:bodyPr>
          <a:lstStyle/>
          <a:p>
            <a:pPr algn="just">
              <a:buClr>
                <a:schemeClr val="tx1"/>
              </a:buClr>
              <a:buSzPct val="71000"/>
            </a:pPr>
            <a:r>
              <a:rPr lang="en-US" sz="2800" b="1" dirty="0" smtClean="0">
                <a:solidFill>
                  <a:srgbClr val="222222"/>
                </a:solidFill>
                <a:latin typeface="arial" panose="020B0604020202020204" pitchFamily="34" charset="0"/>
              </a:rPr>
              <a:t>Test for conflict </a:t>
            </a:r>
            <a:r>
              <a:rPr lang="en-US" sz="2800" b="1" dirty="0" err="1" smtClean="0">
                <a:solidFill>
                  <a:srgbClr val="222222"/>
                </a:solidFill>
                <a:latin typeface="arial" panose="020B0604020202020204" pitchFamily="34" charset="0"/>
              </a:rPr>
              <a:t>serializability</a:t>
            </a:r>
            <a:r>
              <a:rPr lang="en-US" sz="2800" b="1" dirty="0" smtClean="0">
                <a:solidFill>
                  <a:srgbClr val="222222"/>
                </a:solidFill>
                <a:latin typeface="arial" panose="020B0604020202020204" pitchFamily="34" charset="0"/>
              </a:rPr>
              <a:t> : </a:t>
            </a:r>
            <a:r>
              <a:rPr lang="en-US" sz="2600" dirty="0">
                <a:solidFill>
                  <a:srgbClr val="FF0000"/>
                </a:solidFill>
                <a:latin typeface="arial" panose="020B0604020202020204" pitchFamily="34" charset="0"/>
              </a:rPr>
              <a:t>Precedence graph method</a:t>
            </a:r>
          </a:p>
          <a:p>
            <a:pPr algn="just">
              <a:buClr>
                <a:schemeClr val="tx1"/>
              </a:buClr>
              <a:buSzPct val="71000"/>
            </a:pPr>
            <a:r>
              <a:rPr lang="en-US" sz="2600" b="1" dirty="0">
                <a:solidFill>
                  <a:schemeClr val="tx1"/>
                </a:solidFill>
                <a:latin typeface="arial" panose="020B0604020202020204" pitchFamily="34" charset="0"/>
              </a:rPr>
              <a:t>To draw the edges between these nodes or vertices, follow the below steps</a:t>
            </a:r>
            <a:r>
              <a:rPr lang="en-US" sz="2600" b="1" dirty="0" smtClean="0">
                <a:solidFill>
                  <a:schemeClr val="tx1"/>
                </a:solidFill>
                <a:latin typeface="arial" panose="020B0604020202020204" pitchFamily="34" charset="0"/>
              </a:rPr>
              <a:t>:</a:t>
            </a:r>
            <a:endParaRPr lang="en-US" sz="2600" b="1" dirty="0">
              <a:solidFill>
                <a:schemeClr val="tx1"/>
              </a:solidFill>
              <a:latin typeface="arial" panose="020B0604020202020204" pitchFamily="34" charset="0"/>
            </a:endParaRPr>
          </a:p>
          <a:p>
            <a:pPr algn="just">
              <a:buClr>
                <a:schemeClr val="tx1"/>
              </a:buClr>
              <a:buSzPct val="71000"/>
            </a:pPr>
            <a:r>
              <a:rPr lang="en-US" sz="2600" dirty="0" err="1">
                <a:solidFill>
                  <a:schemeClr val="tx1"/>
                </a:solidFill>
                <a:latin typeface="arial" panose="020B0604020202020204" pitchFamily="34" charset="0"/>
              </a:rPr>
              <a:t>Step6</a:t>
            </a:r>
            <a:r>
              <a:rPr lang="en-US" sz="2600" dirty="0">
                <a:solidFill>
                  <a:schemeClr val="tx1"/>
                </a:solidFill>
                <a:latin typeface="arial" panose="020B0604020202020204" pitchFamily="34" charset="0"/>
              </a:rPr>
              <a:t>: At time </a:t>
            </a:r>
            <a:r>
              <a:rPr lang="en-US" sz="2600" dirty="0" err="1">
                <a:solidFill>
                  <a:schemeClr val="tx1"/>
                </a:solidFill>
                <a:latin typeface="arial" panose="020B0604020202020204" pitchFamily="34" charset="0"/>
              </a:rPr>
              <a:t>t6</a:t>
            </a:r>
            <a:r>
              <a:rPr lang="en-US" sz="2600" dirty="0">
                <a:solidFill>
                  <a:schemeClr val="tx1"/>
                </a:solidFill>
                <a:latin typeface="arial" panose="020B0604020202020204" pitchFamily="34" charset="0"/>
              </a:rPr>
              <a:t>, there is no conflicting operation for Write(Y) of </a:t>
            </a:r>
            <a:r>
              <a:rPr lang="en-US" sz="2600" dirty="0" smtClean="0">
                <a:solidFill>
                  <a:schemeClr val="tx1"/>
                </a:solidFill>
                <a:latin typeface="arial" panose="020B0604020202020204" pitchFamily="34" charset="0"/>
              </a:rPr>
              <a:t>		Transaction </a:t>
            </a:r>
            <a:r>
              <a:rPr lang="en-US" sz="2600" dirty="0" err="1">
                <a:solidFill>
                  <a:schemeClr val="tx1"/>
                </a:solidFill>
                <a:latin typeface="arial" panose="020B0604020202020204" pitchFamily="34" charset="0"/>
              </a:rPr>
              <a:t>T3</a:t>
            </a:r>
            <a:r>
              <a:rPr lang="en-US" sz="2600" dirty="0">
                <a:solidFill>
                  <a:schemeClr val="tx1"/>
                </a:solidFill>
                <a:latin typeface="arial" panose="020B0604020202020204" pitchFamily="34" charset="0"/>
              </a:rPr>
              <a:t>.</a:t>
            </a:r>
          </a:p>
          <a:p>
            <a:pPr algn="just">
              <a:buClr>
                <a:schemeClr val="tx1"/>
              </a:buClr>
              <a:buSzPct val="71000"/>
            </a:pPr>
            <a:r>
              <a:rPr lang="en-US" sz="2600" dirty="0" err="1">
                <a:solidFill>
                  <a:schemeClr val="tx1"/>
                </a:solidFill>
                <a:latin typeface="arial" panose="020B0604020202020204" pitchFamily="34" charset="0"/>
              </a:rPr>
              <a:t>Step7</a:t>
            </a:r>
            <a:r>
              <a:rPr lang="en-US" sz="2600" dirty="0">
                <a:solidFill>
                  <a:schemeClr val="tx1"/>
                </a:solidFill>
                <a:latin typeface="arial" panose="020B0604020202020204" pitchFamily="34" charset="0"/>
              </a:rPr>
              <a:t>: At time </a:t>
            </a:r>
            <a:r>
              <a:rPr lang="en-US" sz="2600" dirty="0" err="1">
                <a:solidFill>
                  <a:schemeClr val="tx1"/>
                </a:solidFill>
                <a:latin typeface="arial" panose="020B0604020202020204" pitchFamily="34" charset="0"/>
              </a:rPr>
              <a:t>t7</a:t>
            </a:r>
            <a:r>
              <a:rPr lang="en-US" sz="2600" dirty="0">
                <a:solidFill>
                  <a:schemeClr val="tx1"/>
                </a:solidFill>
                <a:latin typeface="arial" panose="020B0604020202020204" pitchFamily="34" charset="0"/>
              </a:rPr>
              <a:t>, there exists a conflicting operation Write (Z) in </a:t>
            </a:r>
            <a:r>
              <a:rPr lang="en-US" sz="2600" dirty="0" smtClean="0">
                <a:solidFill>
                  <a:schemeClr val="tx1"/>
                </a:solidFill>
                <a:latin typeface="arial" panose="020B0604020202020204" pitchFamily="34" charset="0"/>
              </a:rPr>
              <a:t>		transaction </a:t>
            </a:r>
            <a:r>
              <a:rPr lang="en-US" sz="2600" dirty="0" err="1">
                <a:solidFill>
                  <a:schemeClr val="tx1"/>
                </a:solidFill>
                <a:latin typeface="arial" panose="020B0604020202020204" pitchFamily="34" charset="0"/>
              </a:rPr>
              <a:t>T1</a:t>
            </a:r>
            <a:r>
              <a:rPr lang="en-US" sz="2600" dirty="0">
                <a:solidFill>
                  <a:schemeClr val="tx1"/>
                </a:solidFill>
                <a:latin typeface="arial" panose="020B0604020202020204" pitchFamily="34" charset="0"/>
              </a:rPr>
              <a:t> for Write (Z) of Transaction </a:t>
            </a:r>
            <a:r>
              <a:rPr lang="en-US" sz="2600" dirty="0" err="1">
                <a:solidFill>
                  <a:schemeClr val="tx1"/>
                </a:solidFill>
                <a:latin typeface="arial" panose="020B0604020202020204" pitchFamily="34" charset="0"/>
              </a:rPr>
              <a:t>T2</a:t>
            </a:r>
            <a:r>
              <a:rPr lang="en-US" sz="2600" dirty="0">
                <a:solidFill>
                  <a:schemeClr val="tx1"/>
                </a:solidFill>
                <a:latin typeface="arial" panose="020B0604020202020204" pitchFamily="34" charset="0"/>
              </a:rPr>
              <a:t>. So, draw </a:t>
            </a:r>
            <a:r>
              <a:rPr lang="en-US" sz="2600" dirty="0" smtClean="0">
                <a:solidFill>
                  <a:schemeClr val="tx1"/>
                </a:solidFill>
                <a:latin typeface="arial" panose="020B0604020202020204" pitchFamily="34" charset="0"/>
              </a:rPr>
              <a:t>		an </a:t>
            </a:r>
            <a:r>
              <a:rPr lang="en-US" sz="2600" dirty="0">
                <a:solidFill>
                  <a:schemeClr val="tx1"/>
                </a:solidFill>
                <a:latin typeface="arial" panose="020B0604020202020204" pitchFamily="34" charset="0"/>
              </a:rPr>
              <a:t>edge from </a:t>
            </a:r>
            <a:r>
              <a:rPr lang="en-US" sz="2600" dirty="0" err="1" smtClean="0">
                <a:solidFill>
                  <a:schemeClr val="tx1"/>
                </a:solidFill>
                <a:latin typeface="arial" panose="020B0604020202020204" pitchFamily="34" charset="0"/>
              </a:rPr>
              <a:t>T2→T1</a:t>
            </a:r>
            <a:r>
              <a:rPr lang="en-US" sz="2600" dirty="0">
                <a:solidFill>
                  <a:schemeClr val="tx1"/>
                </a:solidFill>
                <a:latin typeface="arial" panose="020B0604020202020204" pitchFamily="34" charset="0"/>
              </a:rPr>
              <a:t>, but it is already drawn.</a:t>
            </a:r>
          </a:p>
        </p:txBody>
      </p:sp>
      <p:pic>
        <p:nvPicPr>
          <p:cNvPr id="12290" name="Picture 2" descr="exists a conflicting opera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10144" y="4062819"/>
            <a:ext cx="2857500" cy="190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9803920"/>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10.4.1.1 Conflict </a:t>
            </a:r>
            <a:r>
              <a:rPr lang="en-US" sz="2800" dirty="0" err="1">
                <a:solidFill>
                  <a:schemeClr val="bg1"/>
                </a:solidFill>
              </a:rPr>
              <a:t>Serializability</a:t>
            </a:r>
            <a:r>
              <a:rPr lang="en-US" sz="2800" dirty="0">
                <a:solidFill>
                  <a:schemeClr val="bg1"/>
                </a:solidFill>
              </a:rPr>
              <a:t> </a:t>
            </a:r>
          </a:p>
        </p:txBody>
      </p:sp>
      <p:sp>
        <p:nvSpPr>
          <p:cNvPr id="3" name="Subtitle 2"/>
          <p:cNvSpPr>
            <a:spLocks noGrp="1"/>
          </p:cNvSpPr>
          <p:nvPr>
            <p:ph type="subTitle" idx="1"/>
          </p:nvPr>
        </p:nvSpPr>
        <p:spPr>
          <a:xfrm>
            <a:off x="1281567" y="1139688"/>
            <a:ext cx="8094254" cy="2968674"/>
          </a:xfrm>
        </p:spPr>
        <p:txBody>
          <a:bodyPr>
            <a:normAutofit/>
          </a:bodyPr>
          <a:lstStyle/>
          <a:p>
            <a:pPr algn="just">
              <a:buClr>
                <a:schemeClr val="tx1"/>
              </a:buClr>
              <a:buSzPct val="71000"/>
            </a:pPr>
            <a:r>
              <a:rPr lang="en-US" sz="2800" b="1" dirty="0" smtClean="0">
                <a:solidFill>
                  <a:srgbClr val="222222"/>
                </a:solidFill>
                <a:latin typeface="arial" panose="020B0604020202020204" pitchFamily="34" charset="0"/>
              </a:rPr>
              <a:t>Test for conflict </a:t>
            </a:r>
            <a:r>
              <a:rPr lang="en-US" sz="2800" b="1" dirty="0" err="1" smtClean="0">
                <a:solidFill>
                  <a:srgbClr val="222222"/>
                </a:solidFill>
                <a:latin typeface="arial" panose="020B0604020202020204" pitchFamily="34" charset="0"/>
              </a:rPr>
              <a:t>serializability</a:t>
            </a:r>
            <a:r>
              <a:rPr lang="en-US" sz="2800" b="1" dirty="0" smtClean="0">
                <a:solidFill>
                  <a:srgbClr val="222222"/>
                </a:solidFill>
                <a:latin typeface="arial" panose="020B0604020202020204" pitchFamily="34" charset="0"/>
              </a:rPr>
              <a:t> : </a:t>
            </a:r>
            <a:r>
              <a:rPr lang="en-US" sz="2600" dirty="0">
                <a:solidFill>
                  <a:srgbClr val="FF0000"/>
                </a:solidFill>
                <a:latin typeface="arial" panose="020B0604020202020204" pitchFamily="34" charset="0"/>
              </a:rPr>
              <a:t>Precedence graph method</a:t>
            </a:r>
          </a:p>
          <a:p>
            <a:pPr marL="457200" indent="-457200" algn="just">
              <a:buClr>
                <a:schemeClr val="tx1"/>
              </a:buClr>
              <a:buSzPct val="71000"/>
              <a:buFont typeface="Wingdings" panose="05000000000000000000" pitchFamily="2" charset="2"/>
              <a:buChar char="Ø"/>
            </a:pPr>
            <a:r>
              <a:rPr lang="en-US" sz="2600" dirty="0" smtClean="0">
                <a:solidFill>
                  <a:schemeClr val="tx1"/>
                </a:solidFill>
                <a:latin typeface="arial" panose="020B0604020202020204" pitchFamily="34" charset="0"/>
              </a:rPr>
              <a:t>After all the steps, the precedence graph will be ready, and it does not contain any cycle or loop, so the above schedule </a:t>
            </a:r>
            <a:r>
              <a:rPr lang="en-US" sz="2600" dirty="0" err="1" smtClean="0">
                <a:solidFill>
                  <a:schemeClr val="tx1"/>
                </a:solidFill>
                <a:latin typeface="arial" panose="020B0604020202020204" pitchFamily="34" charset="0"/>
              </a:rPr>
              <a:t>S2</a:t>
            </a:r>
            <a:r>
              <a:rPr lang="en-US" sz="2600" dirty="0" smtClean="0">
                <a:solidFill>
                  <a:schemeClr val="tx1"/>
                </a:solidFill>
                <a:latin typeface="arial" panose="020B0604020202020204" pitchFamily="34" charset="0"/>
              </a:rPr>
              <a:t> is conflict serializable. </a:t>
            </a:r>
          </a:p>
          <a:p>
            <a:pPr marL="457200" indent="-457200" algn="just">
              <a:buClr>
                <a:schemeClr val="tx1"/>
              </a:buClr>
              <a:buSzPct val="71000"/>
              <a:buFont typeface="Wingdings" panose="05000000000000000000" pitchFamily="2" charset="2"/>
              <a:buChar char="Ø"/>
            </a:pPr>
            <a:r>
              <a:rPr lang="en-US" sz="2600" dirty="0" smtClean="0">
                <a:solidFill>
                  <a:schemeClr val="tx1"/>
                </a:solidFill>
                <a:latin typeface="arial" panose="020B0604020202020204" pitchFamily="34" charset="0"/>
              </a:rPr>
              <a:t>And it is equivalent to a serial schedule. </a:t>
            </a:r>
          </a:p>
        </p:txBody>
      </p:sp>
    </p:spTree>
    <p:extLst>
      <p:ext uri="{BB962C8B-B14F-4D97-AF65-F5344CB8AC3E}">
        <p14:creationId xmlns:p14="http://schemas.microsoft.com/office/powerpoint/2010/main" val="1346438971"/>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10.4.1.1 Conflict </a:t>
            </a:r>
            <a:r>
              <a:rPr lang="en-US" sz="2800" dirty="0" err="1">
                <a:solidFill>
                  <a:schemeClr val="bg1"/>
                </a:solidFill>
              </a:rPr>
              <a:t>Serializability</a:t>
            </a:r>
            <a:r>
              <a:rPr lang="en-US" sz="2800" dirty="0">
                <a:solidFill>
                  <a:schemeClr val="bg1"/>
                </a:solidFill>
              </a:rPr>
              <a:t> </a:t>
            </a:r>
          </a:p>
        </p:txBody>
      </p:sp>
      <p:sp>
        <p:nvSpPr>
          <p:cNvPr id="3" name="Subtitle 2"/>
          <p:cNvSpPr>
            <a:spLocks noGrp="1"/>
          </p:cNvSpPr>
          <p:nvPr>
            <p:ph type="subTitle" idx="1"/>
          </p:nvPr>
        </p:nvSpPr>
        <p:spPr>
          <a:xfrm>
            <a:off x="1281567" y="1139688"/>
            <a:ext cx="8094254" cy="624718"/>
          </a:xfrm>
        </p:spPr>
        <p:txBody>
          <a:bodyPr>
            <a:normAutofit fontScale="85000" lnSpcReduction="10000"/>
          </a:bodyPr>
          <a:lstStyle/>
          <a:p>
            <a:pPr algn="just">
              <a:buClr>
                <a:schemeClr val="tx1"/>
              </a:buClr>
              <a:buSzPct val="71000"/>
            </a:pPr>
            <a:r>
              <a:rPr lang="en-US" sz="2800" b="1" dirty="0" smtClean="0">
                <a:solidFill>
                  <a:srgbClr val="222222"/>
                </a:solidFill>
                <a:latin typeface="arial" panose="020B0604020202020204" pitchFamily="34" charset="0"/>
              </a:rPr>
              <a:t>Test for conflict </a:t>
            </a:r>
            <a:r>
              <a:rPr lang="en-US" sz="2800" b="1" dirty="0" err="1" smtClean="0">
                <a:solidFill>
                  <a:srgbClr val="222222"/>
                </a:solidFill>
                <a:latin typeface="arial" panose="020B0604020202020204" pitchFamily="34" charset="0"/>
              </a:rPr>
              <a:t>serializability</a:t>
            </a:r>
            <a:r>
              <a:rPr lang="en-US" sz="2800" b="1" dirty="0" smtClean="0">
                <a:solidFill>
                  <a:srgbClr val="222222"/>
                </a:solidFill>
                <a:latin typeface="arial" panose="020B0604020202020204" pitchFamily="34" charset="0"/>
              </a:rPr>
              <a:t> : </a:t>
            </a:r>
            <a:r>
              <a:rPr lang="en-US" sz="2600" dirty="0">
                <a:solidFill>
                  <a:srgbClr val="FF0000"/>
                </a:solidFill>
                <a:latin typeface="arial" panose="020B0604020202020204" pitchFamily="34" charset="0"/>
              </a:rPr>
              <a:t>Precedence graph </a:t>
            </a:r>
            <a:r>
              <a:rPr lang="en-US" sz="2600" dirty="0" smtClean="0">
                <a:solidFill>
                  <a:srgbClr val="FF0000"/>
                </a:solidFill>
                <a:latin typeface="arial" panose="020B0604020202020204" pitchFamily="34" charset="0"/>
              </a:rPr>
              <a:t>method</a:t>
            </a:r>
          </a:p>
        </p:txBody>
      </p:sp>
      <p:sp>
        <p:nvSpPr>
          <p:cNvPr id="6" name="Rectangle 5"/>
          <p:cNvSpPr/>
          <p:nvPr/>
        </p:nvSpPr>
        <p:spPr>
          <a:xfrm>
            <a:off x="1281568" y="3669406"/>
            <a:ext cx="8094253" cy="1200329"/>
          </a:xfrm>
          <a:prstGeom prst="rect">
            <a:avLst/>
          </a:prstGeom>
        </p:spPr>
        <p:txBody>
          <a:bodyPr wrap="square">
            <a:spAutoFit/>
          </a:bodyPr>
          <a:lstStyle/>
          <a:p>
            <a:pPr algn="just">
              <a:buClr>
                <a:schemeClr val="tx1"/>
              </a:buClr>
              <a:buSzPct val="71000"/>
            </a:pPr>
            <a:r>
              <a:rPr lang="en-US" dirty="0">
                <a:latin typeface="arial" panose="020B0604020202020204" pitchFamily="34" charset="0"/>
              </a:rPr>
              <a:t>Above given schedule </a:t>
            </a:r>
            <a:r>
              <a:rPr lang="en-US" dirty="0" err="1">
                <a:latin typeface="arial" panose="020B0604020202020204" pitchFamily="34" charset="0"/>
              </a:rPr>
              <a:t>S2</a:t>
            </a:r>
            <a:r>
              <a:rPr lang="en-US" dirty="0">
                <a:latin typeface="arial" panose="020B0604020202020204" pitchFamily="34" charset="0"/>
              </a:rPr>
              <a:t> is transformed into the serial schedule by using the following steps</a:t>
            </a:r>
            <a:r>
              <a:rPr lang="en-US" dirty="0" smtClean="0">
                <a:latin typeface="arial" panose="020B0604020202020204" pitchFamily="34" charset="0"/>
              </a:rPr>
              <a:t>:</a:t>
            </a:r>
          </a:p>
          <a:p>
            <a:pPr marL="457200" indent="-457200" algn="just">
              <a:buClr>
                <a:schemeClr val="tx1"/>
              </a:buClr>
              <a:buSzPct val="71000"/>
              <a:buFont typeface="Wingdings" panose="05000000000000000000" pitchFamily="2" charset="2"/>
              <a:buChar char="Ø"/>
            </a:pPr>
            <a:r>
              <a:rPr lang="en-US" dirty="0" err="1">
                <a:latin typeface="arial" panose="020B0604020202020204" pitchFamily="34" charset="0"/>
              </a:rPr>
              <a:t>Step1</a:t>
            </a:r>
            <a:r>
              <a:rPr lang="en-US" dirty="0">
                <a:latin typeface="arial" panose="020B0604020202020204" pitchFamily="34" charset="0"/>
              </a:rPr>
              <a:t>: Check the vertex in the precedence graph where </a:t>
            </a:r>
            <a:r>
              <a:rPr lang="en-US" dirty="0" err="1">
                <a:latin typeface="arial" panose="020B0604020202020204" pitchFamily="34" charset="0"/>
              </a:rPr>
              <a:t>indegree</a:t>
            </a:r>
            <a:r>
              <a:rPr lang="en-US" dirty="0">
                <a:latin typeface="arial" panose="020B0604020202020204" pitchFamily="34" charset="0"/>
              </a:rPr>
              <a:t>=0. So, </a:t>
            </a:r>
            <a:r>
              <a:rPr lang="en-US" dirty="0" smtClean="0">
                <a:latin typeface="arial" panose="020B0604020202020204" pitchFamily="34" charset="0"/>
              </a:rPr>
              <a:t>	     take </a:t>
            </a:r>
            <a:r>
              <a:rPr lang="en-US" dirty="0">
                <a:latin typeface="arial" panose="020B0604020202020204" pitchFamily="34" charset="0"/>
              </a:rPr>
              <a:t>the vertex </a:t>
            </a:r>
            <a:r>
              <a:rPr lang="en-US" dirty="0" err="1">
                <a:latin typeface="arial" panose="020B0604020202020204" pitchFamily="34" charset="0"/>
              </a:rPr>
              <a:t>T2</a:t>
            </a:r>
            <a:r>
              <a:rPr lang="en-US" dirty="0">
                <a:latin typeface="arial" panose="020B0604020202020204" pitchFamily="34" charset="0"/>
              </a:rPr>
              <a:t> from the graph and remove it from the graph.</a:t>
            </a:r>
          </a:p>
        </p:txBody>
      </p:sp>
      <p:pic>
        <p:nvPicPr>
          <p:cNvPr id="7" name="Picture 2" descr="exists a conflicting opera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99943" y="1764406"/>
            <a:ext cx="2857500" cy="1905000"/>
          </a:xfrm>
          <a:prstGeom prst="rect">
            <a:avLst/>
          </a:prstGeom>
          <a:noFill/>
          <a:extLst>
            <a:ext uri="{909E8E84-426E-40DD-AFC4-6F175D3DCCD1}">
              <a14:hiddenFill xmlns:a14="http://schemas.microsoft.com/office/drawing/2010/main">
                <a:solidFill>
                  <a:srgbClr val="FFFFFF"/>
                </a:solidFill>
              </a14:hiddenFill>
            </a:ext>
          </a:extLst>
        </p:spPr>
      </p:pic>
      <p:pic>
        <p:nvPicPr>
          <p:cNvPr id="13314" name="Picture 2" descr="Check the vertex in the precedence graph"/>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24271" y="5026400"/>
            <a:ext cx="1833921" cy="12713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9278548"/>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10.4.1.1 Conflict </a:t>
            </a:r>
            <a:r>
              <a:rPr lang="en-US" sz="2800" dirty="0" err="1">
                <a:solidFill>
                  <a:schemeClr val="bg1"/>
                </a:solidFill>
              </a:rPr>
              <a:t>Serializability</a:t>
            </a:r>
            <a:r>
              <a:rPr lang="en-US" sz="2800" dirty="0">
                <a:solidFill>
                  <a:schemeClr val="bg1"/>
                </a:solidFill>
              </a:rPr>
              <a:t> </a:t>
            </a:r>
          </a:p>
        </p:txBody>
      </p:sp>
      <p:sp>
        <p:nvSpPr>
          <p:cNvPr id="3" name="Subtitle 2"/>
          <p:cNvSpPr>
            <a:spLocks noGrp="1"/>
          </p:cNvSpPr>
          <p:nvPr>
            <p:ph type="subTitle" idx="1"/>
          </p:nvPr>
        </p:nvSpPr>
        <p:spPr>
          <a:xfrm>
            <a:off x="1281567" y="1139688"/>
            <a:ext cx="8094254" cy="624718"/>
          </a:xfrm>
        </p:spPr>
        <p:txBody>
          <a:bodyPr>
            <a:normAutofit fontScale="85000" lnSpcReduction="10000"/>
          </a:bodyPr>
          <a:lstStyle/>
          <a:p>
            <a:pPr algn="just">
              <a:buClr>
                <a:schemeClr val="tx1"/>
              </a:buClr>
              <a:buSzPct val="71000"/>
            </a:pPr>
            <a:r>
              <a:rPr lang="en-US" sz="2800" b="1" dirty="0" smtClean="0">
                <a:solidFill>
                  <a:srgbClr val="222222"/>
                </a:solidFill>
                <a:latin typeface="arial" panose="020B0604020202020204" pitchFamily="34" charset="0"/>
              </a:rPr>
              <a:t>Test for conflict </a:t>
            </a:r>
            <a:r>
              <a:rPr lang="en-US" sz="2800" b="1" dirty="0" err="1" smtClean="0">
                <a:solidFill>
                  <a:srgbClr val="222222"/>
                </a:solidFill>
                <a:latin typeface="arial" panose="020B0604020202020204" pitchFamily="34" charset="0"/>
              </a:rPr>
              <a:t>serializability</a:t>
            </a:r>
            <a:r>
              <a:rPr lang="en-US" sz="2800" b="1" dirty="0" smtClean="0">
                <a:solidFill>
                  <a:srgbClr val="222222"/>
                </a:solidFill>
                <a:latin typeface="arial" panose="020B0604020202020204" pitchFamily="34" charset="0"/>
              </a:rPr>
              <a:t> : </a:t>
            </a:r>
            <a:r>
              <a:rPr lang="en-US" sz="2600" dirty="0">
                <a:solidFill>
                  <a:srgbClr val="FF0000"/>
                </a:solidFill>
                <a:latin typeface="arial" panose="020B0604020202020204" pitchFamily="34" charset="0"/>
              </a:rPr>
              <a:t>Precedence graph </a:t>
            </a:r>
            <a:r>
              <a:rPr lang="en-US" sz="2600" dirty="0" smtClean="0">
                <a:solidFill>
                  <a:srgbClr val="FF0000"/>
                </a:solidFill>
                <a:latin typeface="arial" panose="020B0604020202020204" pitchFamily="34" charset="0"/>
              </a:rPr>
              <a:t>method</a:t>
            </a:r>
          </a:p>
        </p:txBody>
      </p:sp>
      <p:sp>
        <p:nvSpPr>
          <p:cNvPr id="6" name="Rectangle 5"/>
          <p:cNvSpPr/>
          <p:nvPr/>
        </p:nvSpPr>
        <p:spPr>
          <a:xfrm>
            <a:off x="1281567" y="1899169"/>
            <a:ext cx="8094253" cy="1477328"/>
          </a:xfrm>
          <a:prstGeom prst="rect">
            <a:avLst/>
          </a:prstGeom>
        </p:spPr>
        <p:txBody>
          <a:bodyPr wrap="square">
            <a:spAutoFit/>
          </a:bodyPr>
          <a:lstStyle/>
          <a:p>
            <a:pPr algn="just">
              <a:buClr>
                <a:schemeClr val="tx1"/>
              </a:buClr>
              <a:buSzPct val="71000"/>
            </a:pPr>
            <a:r>
              <a:rPr lang="en-US" dirty="0">
                <a:latin typeface="arial" panose="020B0604020202020204" pitchFamily="34" charset="0"/>
              </a:rPr>
              <a:t>Above given schedule </a:t>
            </a:r>
            <a:r>
              <a:rPr lang="en-US" dirty="0" err="1">
                <a:latin typeface="arial" panose="020B0604020202020204" pitchFamily="34" charset="0"/>
              </a:rPr>
              <a:t>S2</a:t>
            </a:r>
            <a:r>
              <a:rPr lang="en-US" dirty="0">
                <a:latin typeface="arial" panose="020B0604020202020204" pitchFamily="34" charset="0"/>
              </a:rPr>
              <a:t> is transformed into the serial schedule by using the following steps</a:t>
            </a:r>
            <a:r>
              <a:rPr lang="en-US" dirty="0" smtClean="0">
                <a:latin typeface="arial" panose="020B0604020202020204" pitchFamily="34" charset="0"/>
              </a:rPr>
              <a:t>:</a:t>
            </a:r>
          </a:p>
          <a:p>
            <a:pPr marL="457200" indent="-457200" algn="just">
              <a:buClr>
                <a:schemeClr val="tx1"/>
              </a:buClr>
              <a:buSzPct val="71000"/>
              <a:buFont typeface="Wingdings" panose="05000000000000000000" pitchFamily="2" charset="2"/>
              <a:buChar char="Ø"/>
            </a:pPr>
            <a:r>
              <a:rPr lang="en-US" dirty="0">
                <a:latin typeface="arial" panose="020B0604020202020204" pitchFamily="34" charset="0"/>
              </a:rPr>
              <a:t>Step 2: Again check the vertex in the left precedence graph where </a:t>
            </a:r>
            <a:r>
              <a:rPr lang="en-US" dirty="0" smtClean="0">
                <a:latin typeface="arial" panose="020B0604020202020204" pitchFamily="34" charset="0"/>
              </a:rPr>
              <a:t>	  	     </a:t>
            </a:r>
            <a:r>
              <a:rPr lang="en-US" dirty="0" err="1" smtClean="0">
                <a:latin typeface="arial" panose="020B0604020202020204" pitchFamily="34" charset="0"/>
              </a:rPr>
              <a:t>indegree</a:t>
            </a:r>
            <a:r>
              <a:rPr lang="en-US" dirty="0" smtClean="0">
                <a:latin typeface="arial" panose="020B0604020202020204" pitchFamily="34" charset="0"/>
              </a:rPr>
              <a:t>=0</a:t>
            </a:r>
            <a:r>
              <a:rPr lang="en-US" dirty="0">
                <a:latin typeface="arial" panose="020B0604020202020204" pitchFamily="34" charset="0"/>
              </a:rPr>
              <a:t>. So, take the vertex </a:t>
            </a:r>
            <a:r>
              <a:rPr lang="en-US" dirty="0" err="1">
                <a:latin typeface="arial" panose="020B0604020202020204" pitchFamily="34" charset="0"/>
              </a:rPr>
              <a:t>T3</a:t>
            </a:r>
            <a:r>
              <a:rPr lang="en-US" dirty="0">
                <a:latin typeface="arial" panose="020B0604020202020204" pitchFamily="34" charset="0"/>
              </a:rPr>
              <a:t> from the graph and </a:t>
            </a:r>
            <a:r>
              <a:rPr lang="en-US" dirty="0" smtClean="0">
                <a:latin typeface="arial" panose="020B0604020202020204" pitchFamily="34" charset="0"/>
              </a:rPr>
              <a:t>		     remove </a:t>
            </a:r>
            <a:r>
              <a:rPr lang="en-US" dirty="0">
                <a:latin typeface="arial" panose="020B0604020202020204" pitchFamily="34" charset="0"/>
              </a:rPr>
              <a:t>it from the graph. And draw the edge from </a:t>
            </a:r>
            <a:r>
              <a:rPr lang="en-US" dirty="0" err="1" smtClean="0">
                <a:latin typeface="arial" panose="020B0604020202020204" pitchFamily="34" charset="0"/>
              </a:rPr>
              <a:t>T2→T3</a:t>
            </a:r>
            <a:r>
              <a:rPr lang="en-US" dirty="0">
                <a:latin typeface="arial" panose="020B0604020202020204" pitchFamily="34" charset="0"/>
              </a:rPr>
              <a:t>.</a:t>
            </a:r>
          </a:p>
        </p:txBody>
      </p:sp>
      <p:pic>
        <p:nvPicPr>
          <p:cNvPr id="16386" name="Picture 2" descr="graph and remove it from the grap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76118" y="3511260"/>
            <a:ext cx="3105150" cy="2152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5467328"/>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10.4.1.1 Conflict </a:t>
            </a:r>
            <a:r>
              <a:rPr lang="en-US" sz="2800" dirty="0" err="1">
                <a:solidFill>
                  <a:schemeClr val="bg1"/>
                </a:solidFill>
              </a:rPr>
              <a:t>Serializability</a:t>
            </a:r>
            <a:r>
              <a:rPr lang="en-US" sz="2800" dirty="0">
                <a:solidFill>
                  <a:schemeClr val="bg1"/>
                </a:solidFill>
              </a:rPr>
              <a:t> </a:t>
            </a:r>
          </a:p>
        </p:txBody>
      </p:sp>
      <p:sp>
        <p:nvSpPr>
          <p:cNvPr id="3" name="Subtitle 2"/>
          <p:cNvSpPr>
            <a:spLocks noGrp="1"/>
          </p:cNvSpPr>
          <p:nvPr>
            <p:ph type="subTitle" idx="1"/>
          </p:nvPr>
        </p:nvSpPr>
        <p:spPr>
          <a:xfrm>
            <a:off x="1281567" y="1139688"/>
            <a:ext cx="8094254" cy="624718"/>
          </a:xfrm>
        </p:spPr>
        <p:txBody>
          <a:bodyPr>
            <a:normAutofit fontScale="85000" lnSpcReduction="10000"/>
          </a:bodyPr>
          <a:lstStyle/>
          <a:p>
            <a:pPr algn="just">
              <a:buClr>
                <a:schemeClr val="tx1"/>
              </a:buClr>
              <a:buSzPct val="71000"/>
            </a:pPr>
            <a:r>
              <a:rPr lang="en-US" sz="2800" b="1" dirty="0" smtClean="0">
                <a:solidFill>
                  <a:srgbClr val="222222"/>
                </a:solidFill>
                <a:latin typeface="arial" panose="020B0604020202020204" pitchFamily="34" charset="0"/>
              </a:rPr>
              <a:t>Test for conflict </a:t>
            </a:r>
            <a:r>
              <a:rPr lang="en-US" sz="2800" b="1" dirty="0" err="1" smtClean="0">
                <a:solidFill>
                  <a:srgbClr val="222222"/>
                </a:solidFill>
                <a:latin typeface="arial" panose="020B0604020202020204" pitchFamily="34" charset="0"/>
              </a:rPr>
              <a:t>serializability</a:t>
            </a:r>
            <a:r>
              <a:rPr lang="en-US" sz="2800" b="1" dirty="0" smtClean="0">
                <a:solidFill>
                  <a:srgbClr val="222222"/>
                </a:solidFill>
                <a:latin typeface="arial" panose="020B0604020202020204" pitchFamily="34" charset="0"/>
              </a:rPr>
              <a:t> : </a:t>
            </a:r>
            <a:r>
              <a:rPr lang="en-US" sz="2600" dirty="0">
                <a:solidFill>
                  <a:srgbClr val="FF0000"/>
                </a:solidFill>
                <a:latin typeface="arial" panose="020B0604020202020204" pitchFamily="34" charset="0"/>
              </a:rPr>
              <a:t>Precedence graph </a:t>
            </a:r>
            <a:r>
              <a:rPr lang="en-US" sz="2600" dirty="0" smtClean="0">
                <a:solidFill>
                  <a:srgbClr val="FF0000"/>
                </a:solidFill>
                <a:latin typeface="arial" panose="020B0604020202020204" pitchFamily="34" charset="0"/>
              </a:rPr>
              <a:t>method</a:t>
            </a:r>
          </a:p>
        </p:txBody>
      </p:sp>
      <p:sp>
        <p:nvSpPr>
          <p:cNvPr id="6" name="Rectangle 5"/>
          <p:cNvSpPr/>
          <p:nvPr/>
        </p:nvSpPr>
        <p:spPr>
          <a:xfrm>
            <a:off x="1281567" y="1899169"/>
            <a:ext cx="8094253" cy="923330"/>
          </a:xfrm>
          <a:prstGeom prst="rect">
            <a:avLst/>
          </a:prstGeom>
        </p:spPr>
        <p:txBody>
          <a:bodyPr wrap="square">
            <a:spAutoFit/>
          </a:bodyPr>
          <a:lstStyle/>
          <a:p>
            <a:pPr algn="just">
              <a:buClr>
                <a:schemeClr val="tx1"/>
              </a:buClr>
              <a:buSzPct val="71000"/>
            </a:pPr>
            <a:r>
              <a:rPr lang="en-US" dirty="0">
                <a:latin typeface="arial" panose="020B0604020202020204" pitchFamily="34" charset="0"/>
              </a:rPr>
              <a:t>Above given schedule </a:t>
            </a:r>
            <a:r>
              <a:rPr lang="en-US" dirty="0" err="1">
                <a:latin typeface="arial" panose="020B0604020202020204" pitchFamily="34" charset="0"/>
              </a:rPr>
              <a:t>S2</a:t>
            </a:r>
            <a:r>
              <a:rPr lang="en-US" dirty="0">
                <a:latin typeface="arial" panose="020B0604020202020204" pitchFamily="34" charset="0"/>
              </a:rPr>
              <a:t> is transformed into the serial schedule by using the following steps</a:t>
            </a:r>
            <a:r>
              <a:rPr lang="en-US" dirty="0" smtClean="0">
                <a:latin typeface="arial" panose="020B0604020202020204" pitchFamily="34" charset="0"/>
              </a:rPr>
              <a:t>:</a:t>
            </a:r>
          </a:p>
          <a:p>
            <a:pPr marL="457200" indent="-457200" algn="just">
              <a:buClr>
                <a:schemeClr val="tx1"/>
              </a:buClr>
              <a:buSzPct val="71000"/>
              <a:buFont typeface="Wingdings" panose="05000000000000000000" pitchFamily="2" charset="2"/>
              <a:buChar char="Ø"/>
            </a:pPr>
            <a:r>
              <a:rPr lang="en-US" dirty="0" err="1">
                <a:latin typeface="arial" panose="020B0604020202020204" pitchFamily="34" charset="0"/>
              </a:rPr>
              <a:t>Step3</a:t>
            </a:r>
            <a:r>
              <a:rPr lang="en-US" dirty="0">
                <a:latin typeface="arial" panose="020B0604020202020204" pitchFamily="34" charset="0"/>
              </a:rPr>
              <a:t>: And at last, take the vertex </a:t>
            </a:r>
            <a:r>
              <a:rPr lang="en-US" dirty="0" err="1">
                <a:latin typeface="arial" panose="020B0604020202020204" pitchFamily="34" charset="0"/>
              </a:rPr>
              <a:t>T1</a:t>
            </a:r>
            <a:r>
              <a:rPr lang="en-US" dirty="0">
                <a:latin typeface="arial" panose="020B0604020202020204" pitchFamily="34" charset="0"/>
              </a:rPr>
              <a:t> and connect with </a:t>
            </a:r>
            <a:r>
              <a:rPr lang="en-US" dirty="0" err="1">
                <a:latin typeface="arial" panose="020B0604020202020204" pitchFamily="34" charset="0"/>
              </a:rPr>
              <a:t>T3</a:t>
            </a:r>
            <a:r>
              <a:rPr lang="en-US" dirty="0">
                <a:latin typeface="arial" panose="020B0604020202020204" pitchFamily="34" charset="0"/>
              </a:rPr>
              <a:t>.</a:t>
            </a:r>
          </a:p>
        </p:txBody>
      </p:sp>
      <p:pic>
        <p:nvPicPr>
          <p:cNvPr id="17410" name="Picture 2" descr="vertex T1 and connect with T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78324" y="3069353"/>
            <a:ext cx="3105150" cy="1343026"/>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1403506" y="4659233"/>
            <a:ext cx="6417141" cy="369332"/>
          </a:xfrm>
          <a:prstGeom prst="rect">
            <a:avLst/>
          </a:prstGeom>
        </p:spPr>
        <p:txBody>
          <a:bodyPr wrap="none">
            <a:spAutoFit/>
          </a:bodyPr>
          <a:lstStyle/>
          <a:p>
            <a:r>
              <a:rPr lang="en-US" b="1" dirty="0" smtClean="0">
                <a:solidFill>
                  <a:srgbClr val="666666"/>
                </a:solidFill>
                <a:latin typeface="Open Sans"/>
              </a:rPr>
              <a:t>This is the Precedence </a:t>
            </a:r>
            <a:r>
              <a:rPr lang="en-US" b="1" dirty="0">
                <a:solidFill>
                  <a:srgbClr val="666666"/>
                </a:solidFill>
                <a:latin typeface="Open Sans"/>
              </a:rPr>
              <a:t>graph equivalent to schedule </a:t>
            </a:r>
            <a:r>
              <a:rPr lang="en-US" b="1" dirty="0" err="1" smtClean="0">
                <a:solidFill>
                  <a:srgbClr val="666666"/>
                </a:solidFill>
                <a:latin typeface="Open Sans"/>
              </a:rPr>
              <a:t>S2</a:t>
            </a:r>
            <a:r>
              <a:rPr lang="en-US" b="1" dirty="0" smtClean="0">
                <a:solidFill>
                  <a:srgbClr val="666666"/>
                </a:solidFill>
                <a:latin typeface="Open Sans"/>
              </a:rPr>
              <a:t>  </a:t>
            </a:r>
            <a:endParaRPr lang="en-US" dirty="0"/>
          </a:p>
        </p:txBody>
      </p:sp>
    </p:spTree>
    <p:extLst>
      <p:ext uri="{BB962C8B-B14F-4D97-AF65-F5344CB8AC3E}">
        <p14:creationId xmlns:p14="http://schemas.microsoft.com/office/powerpoint/2010/main" val="1943177069"/>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10.4.1.1 Conflict </a:t>
            </a:r>
            <a:r>
              <a:rPr lang="en-US" sz="2800" dirty="0" err="1">
                <a:solidFill>
                  <a:schemeClr val="bg1"/>
                </a:solidFill>
              </a:rPr>
              <a:t>Serializability</a:t>
            </a:r>
            <a:r>
              <a:rPr lang="en-US" sz="2800" dirty="0">
                <a:solidFill>
                  <a:schemeClr val="bg1"/>
                </a:solidFill>
              </a:rPr>
              <a:t> </a:t>
            </a:r>
          </a:p>
        </p:txBody>
      </p:sp>
      <p:sp>
        <p:nvSpPr>
          <p:cNvPr id="3" name="Subtitle 2"/>
          <p:cNvSpPr>
            <a:spLocks noGrp="1"/>
          </p:cNvSpPr>
          <p:nvPr>
            <p:ph type="subTitle" idx="1"/>
          </p:nvPr>
        </p:nvSpPr>
        <p:spPr>
          <a:xfrm>
            <a:off x="1281567" y="1139688"/>
            <a:ext cx="8094254" cy="939784"/>
          </a:xfrm>
        </p:spPr>
        <p:txBody>
          <a:bodyPr>
            <a:normAutofit fontScale="70000" lnSpcReduction="20000"/>
          </a:bodyPr>
          <a:lstStyle/>
          <a:p>
            <a:pPr algn="just">
              <a:buClr>
                <a:schemeClr val="tx1"/>
              </a:buClr>
              <a:buSzPct val="71000"/>
            </a:pPr>
            <a:r>
              <a:rPr lang="en-US" sz="2800" b="1" dirty="0" smtClean="0">
                <a:solidFill>
                  <a:srgbClr val="222222"/>
                </a:solidFill>
                <a:latin typeface="arial" panose="020B0604020202020204" pitchFamily="34" charset="0"/>
              </a:rPr>
              <a:t>Test for conflict </a:t>
            </a:r>
            <a:r>
              <a:rPr lang="en-US" sz="2800" b="1" dirty="0" err="1" smtClean="0">
                <a:solidFill>
                  <a:srgbClr val="222222"/>
                </a:solidFill>
                <a:latin typeface="arial" panose="020B0604020202020204" pitchFamily="34" charset="0"/>
              </a:rPr>
              <a:t>serializability</a:t>
            </a:r>
            <a:r>
              <a:rPr lang="en-US" sz="2800" b="1" dirty="0" smtClean="0">
                <a:solidFill>
                  <a:srgbClr val="222222"/>
                </a:solidFill>
                <a:latin typeface="arial" panose="020B0604020202020204" pitchFamily="34" charset="0"/>
              </a:rPr>
              <a:t> : </a:t>
            </a:r>
            <a:r>
              <a:rPr lang="en-US" sz="2600" dirty="0">
                <a:solidFill>
                  <a:srgbClr val="FF0000"/>
                </a:solidFill>
                <a:latin typeface="arial" panose="020B0604020202020204" pitchFamily="34" charset="0"/>
              </a:rPr>
              <a:t>Precedence graph method</a:t>
            </a:r>
          </a:p>
          <a:p>
            <a:pPr marL="457200" indent="-457200" algn="just">
              <a:buClr>
                <a:schemeClr val="tx1"/>
              </a:buClr>
              <a:buSzPct val="71000"/>
              <a:buFont typeface="Wingdings" panose="05000000000000000000" pitchFamily="2" charset="2"/>
              <a:buChar char="Ø"/>
            </a:pPr>
            <a:r>
              <a:rPr lang="en-US" sz="2600" dirty="0" smtClean="0">
                <a:solidFill>
                  <a:schemeClr val="tx1"/>
                </a:solidFill>
                <a:latin typeface="arial" panose="020B0604020202020204" pitchFamily="34" charset="0"/>
              </a:rPr>
              <a:t>So , final serial Schedule equivalent to non – serial schedule </a:t>
            </a:r>
            <a:r>
              <a:rPr lang="en-US" sz="2600" dirty="0" err="1" smtClean="0">
                <a:solidFill>
                  <a:schemeClr val="tx1"/>
                </a:solidFill>
                <a:latin typeface="arial" panose="020B0604020202020204" pitchFamily="34" charset="0"/>
              </a:rPr>
              <a:t>S2</a:t>
            </a:r>
            <a:r>
              <a:rPr lang="en-US" sz="2600" dirty="0" smtClean="0">
                <a:solidFill>
                  <a:schemeClr val="tx1"/>
                </a:solidFill>
                <a:latin typeface="arial" panose="020B0604020202020204" pitchFamily="34" charset="0"/>
              </a:rPr>
              <a:t> is given below:</a:t>
            </a:r>
            <a:endParaRPr lang="en-US" sz="2600" dirty="0">
              <a:solidFill>
                <a:schemeClr val="tx1"/>
              </a:solidFill>
              <a:latin typeface="arial" panose="020B0604020202020204"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val="2574874907"/>
              </p:ext>
            </p:extLst>
          </p:nvPr>
        </p:nvGraphicFramePr>
        <p:xfrm>
          <a:off x="1390920" y="2079472"/>
          <a:ext cx="7984900" cy="4359960"/>
        </p:xfrm>
        <a:graphic>
          <a:graphicData uri="http://schemas.openxmlformats.org/drawingml/2006/table">
            <a:tbl>
              <a:tblPr/>
              <a:tblGrid>
                <a:gridCol w="1996225"/>
                <a:gridCol w="1996225"/>
                <a:gridCol w="1996225"/>
                <a:gridCol w="1996225"/>
              </a:tblGrid>
              <a:tr h="396360">
                <a:tc>
                  <a:txBody>
                    <a:bodyPr/>
                    <a:lstStyle/>
                    <a:p>
                      <a:r>
                        <a:rPr lang="en-US" sz="1700" b="1" dirty="0">
                          <a:effectLst/>
                        </a:rPr>
                        <a:t>Time</a:t>
                      </a:r>
                      <a:endParaRPr lang="en-US" sz="1700" dirty="0">
                        <a:effectLst/>
                      </a:endParaRP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EEEBEB"/>
                    </a:solidFill>
                  </a:tcPr>
                </a:tc>
                <a:tc>
                  <a:txBody>
                    <a:bodyPr/>
                    <a:lstStyle/>
                    <a:p>
                      <a:r>
                        <a:rPr lang="en-US" sz="1700" b="1" dirty="0">
                          <a:effectLst/>
                        </a:rPr>
                        <a:t>Transaction </a:t>
                      </a:r>
                      <a:r>
                        <a:rPr lang="en-US" sz="1700" b="1" dirty="0" err="1">
                          <a:effectLst/>
                        </a:rPr>
                        <a:t>T1</a:t>
                      </a:r>
                      <a:endParaRPr lang="en-US" sz="1700" dirty="0">
                        <a:effectLst/>
                      </a:endParaRP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EEEBEB"/>
                    </a:solidFill>
                  </a:tcPr>
                </a:tc>
                <a:tc>
                  <a:txBody>
                    <a:bodyPr/>
                    <a:lstStyle/>
                    <a:p>
                      <a:r>
                        <a:rPr lang="en-US" sz="1700" b="1">
                          <a:effectLst/>
                        </a:rPr>
                        <a:t>Transaction T2</a:t>
                      </a:r>
                      <a:endParaRPr lang="en-US" sz="1700">
                        <a:effectLst/>
                      </a:endParaRP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EEEBEB"/>
                    </a:solidFill>
                  </a:tcPr>
                </a:tc>
                <a:tc>
                  <a:txBody>
                    <a:bodyPr/>
                    <a:lstStyle/>
                    <a:p>
                      <a:r>
                        <a:rPr lang="en-US" sz="1700" b="1">
                          <a:effectLst/>
                        </a:rPr>
                        <a:t>Transaction T3</a:t>
                      </a:r>
                      <a:endParaRPr lang="en-US" sz="1700">
                        <a:effectLst/>
                      </a:endParaRP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EEEBEB"/>
                    </a:solidFill>
                  </a:tcPr>
                </a:tc>
              </a:tr>
              <a:tr h="396360">
                <a:tc>
                  <a:txBody>
                    <a:bodyPr/>
                    <a:lstStyle/>
                    <a:p>
                      <a:r>
                        <a:rPr lang="en-US" sz="1700">
                          <a:effectLst/>
                        </a:rPr>
                        <a:t>t1</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700">
                          <a:effectLst/>
                        </a:rPr>
                        <a:t> </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700">
                          <a:effectLst/>
                        </a:rPr>
                        <a:t>Read(Y)</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700">
                          <a:effectLst/>
                        </a:rPr>
                        <a:t> </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r>
              <a:tr h="396360">
                <a:tc>
                  <a:txBody>
                    <a:bodyPr/>
                    <a:lstStyle/>
                    <a:p>
                      <a:r>
                        <a:rPr lang="en-US" sz="1700">
                          <a:effectLst/>
                        </a:rPr>
                        <a:t>t2</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EEEBEB"/>
                    </a:solidFill>
                  </a:tcPr>
                </a:tc>
                <a:tc>
                  <a:txBody>
                    <a:bodyPr/>
                    <a:lstStyle/>
                    <a:p>
                      <a:r>
                        <a:rPr lang="en-US" sz="1700">
                          <a:effectLst/>
                        </a:rPr>
                        <a:t> </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EEEBEB"/>
                    </a:solidFill>
                  </a:tcPr>
                </a:tc>
                <a:tc>
                  <a:txBody>
                    <a:bodyPr/>
                    <a:lstStyle/>
                    <a:p>
                      <a:r>
                        <a:rPr lang="en-US" sz="1700">
                          <a:effectLst/>
                        </a:rPr>
                        <a:t>Read(Z)</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EEEBEB"/>
                    </a:solidFill>
                  </a:tcPr>
                </a:tc>
                <a:tc>
                  <a:txBody>
                    <a:bodyPr/>
                    <a:lstStyle/>
                    <a:p>
                      <a:r>
                        <a:rPr lang="en-US" sz="1700">
                          <a:effectLst/>
                        </a:rPr>
                        <a:t> </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EEEBEB"/>
                    </a:solidFill>
                  </a:tcPr>
                </a:tc>
              </a:tr>
              <a:tr h="396360">
                <a:tc>
                  <a:txBody>
                    <a:bodyPr/>
                    <a:lstStyle/>
                    <a:p>
                      <a:r>
                        <a:rPr lang="en-US" sz="1700">
                          <a:effectLst/>
                        </a:rPr>
                        <a:t>t3</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700">
                          <a:effectLst/>
                        </a:rPr>
                        <a:t> </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700">
                          <a:effectLst/>
                        </a:rPr>
                        <a:t>Write(Z)</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700">
                          <a:effectLst/>
                        </a:rPr>
                        <a:t> </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r>
              <a:tr h="396360">
                <a:tc>
                  <a:txBody>
                    <a:bodyPr/>
                    <a:lstStyle/>
                    <a:p>
                      <a:r>
                        <a:rPr lang="en-US" sz="1700">
                          <a:effectLst/>
                        </a:rPr>
                        <a:t>t4</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EEEBEB"/>
                    </a:solidFill>
                  </a:tcPr>
                </a:tc>
                <a:tc>
                  <a:txBody>
                    <a:bodyPr/>
                    <a:lstStyle/>
                    <a:p>
                      <a:r>
                        <a:rPr lang="en-US" sz="1700">
                          <a:effectLst/>
                        </a:rPr>
                        <a:t> </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EEEBEB"/>
                    </a:solidFill>
                  </a:tcPr>
                </a:tc>
                <a:tc>
                  <a:txBody>
                    <a:bodyPr/>
                    <a:lstStyle/>
                    <a:p>
                      <a:r>
                        <a:rPr lang="en-US" sz="1700">
                          <a:effectLst/>
                        </a:rPr>
                        <a:t> </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EEEBEB"/>
                    </a:solidFill>
                  </a:tcPr>
                </a:tc>
                <a:tc>
                  <a:txBody>
                    <a:bodyPr/>
                    <a:lstStyle/>
                    <a:p>
                      <a:r>
                        <a:rPr lang="en-US" sz="1700">
                          <a:effectLst/>
                        </a:rPr>
                        <a:t>Read(Y)</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EEEBEB"/>
                    </a:solidFill>
                  </a:tcPr>
                </a:tc>
              </a:tr>
              <a:tr h="396360">
                <a:tc>
                  <a:txBody>
                    <a:bodyPr/>
                    <a:lstStyle/>
                    <a:p>
                      <a:r>
                        <a:rPr lang="en-US" sz="1700">
                          <a:effectLst/>
                        </a:rPr>
                        <a:t>t5</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700">
                          <a:effectLst/>
                        </a:rPr>
                        <a:t> </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700">
                          <a:effectLst/>
                        </a:rPr>
                        <a:t> </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700">
                          <a:effectLst/>
                        </a:rPr>
                        <a:t>Read(X)</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r>
              <a:tr h="396360">
                <a:tc>
                  <a:txBody>
                    <a:bodyPr/>
                    <a:lstStyle/>
                    <a:p>
                      <a:r>
                        <a:rPr lang="en-US" sz="1700">
                          <a:effectLst/>
                        </a:rPr>
                        <a:t>t6</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EEEBEB"/>
                    </a:solidFill>
                  </a:tcPr>
                </a:tc>
                <a:tc>
                  <a:txBody>
                    <a:bodyPr/>
                    <a:lstStyle/>
                    <a:p>
                      <a:r>
                        <a:rPr lang="en-US" sz="1700">
                          <a:effectLst/>
                        </a:rPr>
                        <a:t> </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EEEBEB"/>
                    </a:solidFill>
                  </a:tcPr>
                </a:tc>
                <a:tc>
                  <a:txBody>
                    <a:bodyPr/>
                    <a:lstStyle/>
                    <a:p>
                      <a:r>
                        <a:rPr lang="en-US" sz="1700">
                          <a:effectLst/>
                        </a:rPr>
                        <a:t> </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EEEBEB"/>
                    </a:solidFill>
                  </a:tcPr>
                </a:tc>
                <a:tc>
                  <a:txBody>
                    <a:bodyPr/>
                    <a:lstStyle/>
                    <a:p>
                      <a:r>
                        <a:rPr lang="en-US" sz="1700">
                          <a:effectLst/>
                        </a:rPr>
                        <a:t>Write(Y)</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EEEBEB"/>
                    </a:solidFill>
                  </a:tcPr>
                </a:tc>
              </a:tr>
              <a:tr h="396360">
                <a:tc>
                  <a:txBody>
                    <a:bodyPr/>
                    <a:lstStyle/>
                    <a:p>
                      <a:r>
                        <a:rPr lang="en-US" sz="1700">
                          <a:effectLst/>
                        </a:rPr>
                        <a:t>t7</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700">
                          <a:effectLst/>
                        </a:rPr>
                        <a:t>Read(X)</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700">
                          <a:effectLst/>
                        </a:rPr>
                        <a:t> </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700">
                          <a:effectLst/>
                        </a:rPr>
                        <a:t> </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r>
              <a:tr h="396360">
                <a:tc>
                  <a:txBody>
                    <a:bodyPr/>
                    <a:lstStyle/>
                    <a:p>
                      <a:r>
                        <a:rPr lang="en-US" sz="1700">
                          <a:effectLst/>
                        </a:rPr>
                        <a:t>t8</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EEEBEB"/>
                    </a:solidFill>
                  </a:tcPr>
                </a:tc>
                <a:tc>
                  <a:txBody>
                    <a:bodyPr/>
                    <a:lstStyle/>
                    <a:p>
                      <a:r>
                        <a:rPr lang="en-US" sz="1700">
                          <a:effectLst/>
                        </a:rPr>
                        <a:t>Read(Z)</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EEEBEB"/>
                    </a:solidFill>
                  </a:tcPr>
                </a:tc>
                <a:tc>
                  <a:txBody>
                    <a:bodyPr/>
                    <a:lstStyle/>
                    <a:p>
                      <a:r>
                        <a:rPr lang="en-US" sz="1700">
                          <a:effectLst/>
                        </a:rPr>
                        <a:t> </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EEEBEB"/>
                    </a:solidFill>
                  </a:tcPr>
                </a:tc>
                <a:tc>
                  <a:txBody>
                    <a:bodyPr/>
                    <a:lstStyle/>
                    <a:p>
                      <a:r>
                        <a:rPr lang="en-US" sz="1700">
                          <a:effectLst/>
                        </a:rPr>
                        <a:t> </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EEEBEB"/>
                    </a:solidFill>
                  </a:tcPr>
                </a:tc>
              </a:tr>
              <a:tr h="396360">
                <a:tc>
                  <a:txBody>
                    <a:bodyPr/>
                    <a:lstStyle/>
                    <a:p>
                      <a:r>
                        <a:rPr lang="en-US" sz="1700">
                          <a:effectLst/>
                        </a:rPr>
                        <a:t>t9</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700">
                          <a:effectLst/>
                        </a:rPr>
                        <a:t>Write(X)</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700">
                          <a:effectLst/>
                        </a:rPr>
                        <a:t> </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700">
                          <a:effectLst/>
                        </a:rPr>
                        <a:t> </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r>
              <a:tr h="396360">
                <a:tc>
                  <a:txBody>
                    <a:bodyPr/>
                    <a:lstStyle/>
                    <a:p>
                      <a:r>
                        <a:rPr lang="en-US" sz="1700">
                          <a:effectLst/>
                        </a:rPr>
                        <a:t>t10</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EEBEB"/>
                    </a:solidFill>
                  </a:tcPr>
                </a:tc>
                <a:tc>
                  <a:txBody>
                    <a:bodyPr/>
                    <a:lstStyle/>
                    <a:p>
                      <a:r>
                        <a:rPr lang="en-US" sz="1700">
                          <a:effectLst/>
                        </a:rPr>
                        <a:t>Write(Z)</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EEBEB"/>
                    </a:solidFill>
                  </a:tcPr>
                </a:tc>
                <a:tc>
                  <a:txBody>
                    <a:bodyPr/>
                    <a:lstStyle/>
                    <a:p>
                      <a:r>
                        <a:rPr lang="en-US" sz="1700">
                          <a:effectLst/>
                        </a:rPr>
                        <a:t> </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EEBEB"/>
                    </a:solidFill>
                  </a:tcPr>
                </a:tc>
                <a:tc>
                  <a:txBody>
                    <a:bodyPr/>
                    <a:lstStyle/>
                    <a:p>
                      <a:r>
                        <a:rPr lang="en-US" sz="1700" dirty="0">
                          <a:effectLst/>
                        </a:rPr>
                        <a:t> </a:t>
                      </a:r>
                    </a:p>
                  </a:txBody>
                  <a:tcPr marL="88214" marR="88214" marT="44107" marB="44107"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EEEEE"/>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EEBEB"/>
                    </a:solidFill>
                  </a:tcPr>
                </a:tc>
              </a:tr>
            </a:tbl>
          </a:graphicData>
        </a:graphic>
      </p:graphicFrame>
    </p:spTree>
    <p:extLst>
      <p:ext uri="{BB962C8B-B14F-4D97-AF65-F5344CB8AC3E}">
        <p14:creationId xmlns:p14="http://schemas.microsoft.com/office/powerpoint/2010/main" val="111853457"/>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10.4.1.2 View </a:t>
            </a:r>
            <a:r>
              <a:rPr lang="en-US" sz="2800" dirty="0" err="1">
                <a:solidFill>
                  <a:schemeClr val="bg1"/>
                </a:solidFill>
              </a:rPr>
              <a:t>Serializability</a:t>
            </a:r>
            <a:r>
              <a:rPr lang="en-US" sz="2800" dirty="0">
                <a:solidFill>
                  <a:schemeClr val="bg1"/>
                </a:solidFill>
              </a:rPr>
              <a:t> </a:t>
            </a:r>
          </a:p>
        </p:txBody>
      </p:sp>
      <p:sp>
        <p:nvSpPr>
          <p:cNvPr id="3" name="Subtitle 2"/>
          <p:cNvSpPr>
            <a:spLocks noGrp="1"/>
          </p:cNvSpPr>
          <p:nvPr>
            <p:ph type="subTitle" idx="1"/>
          </p:nvPr>
        </p:nvSpPr>
        <p:spPr>
          <a:xfrm>
            <a:off x="1281567" y="1139687"/>
            <a:ext cx="8094254" cy="4990657"/>
          </a:xfrm>
        </p:spPr>
        <p:txBody>
          <a:bodyPr>
            <a:normAutofit/>
          </a:bodyPr>
          <a:lstStyle/>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A schedule will view serializable if it is view equivalent to a serial schedule.</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If a schedule is conflict serializable, then it will be view serializable.</a:t>
            </a:r>
            <a:endParaRPr lang="en-US" sz="2800" dirty="0" smtClean="0">
              <a:solidFill>
                <a:srgbClr val="222222"/>
              </a:solidFill>
              <a:latin typeface="arial" panose="020B0604020202020204" pitchFamily="34" charset="0"/>
            </a:endParaRPr>
          </a:p>
        </p:txBody>
      </p:sp>
    </p:spTree>
    <p:extLst>
      <p:ext uri="{BB962C8B-B14F-4D97-AF65-F5344CB8AC3E}">
        <p14:creationId xmlns:p14="http://schemas.microsoft.com/office/powerpoint/2010/main" val="3542773545"/>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10.4.1.2 View </a:t>
            </a:r>
            <a:r>
              <a:rPr lang="en-US" sz="2800" dirty="0" err="1">
                <a:solidFill>
                  <a:schemeClr val="bg1"/>
                </a:solidFill>
              </a:rPr>
              <a:t>Serializability</a:t>
            </a:r>
            <a:r>
              <a:rPr lang="en-US" sz="2800" dirty="0">
                <a:solidFill>
                  <a:schemeClr val="bg1"/>
                </a:solidFill>
              </a:rPr>
              <a:t> </a:t>
            </a: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r>
              <a:rPr lang="en-US" sz="2800" b="1" dirty="0" smtClean="0">
                <a:solidFill>
                  <a:srgbClr val="222222"/>
                </a:solidFill>
                <a:latin typeface="arial" panose="020B0604020202020204" pitchFamily="34" charset="0"/>
              </a:rPr>
              <a:t>View Equivalent</a:t>
            </a:r>
          </a:p>
          <a:p>
            <a:pPr algn="just">
              <a:buClr>
                <a:schemeClr val="tx1"/>
              </a:buClr>
              <a:buSzPct val="71000"/>
            </a:pPr>
            <a:r>
              <a:rPr lang="en-US" sz="2800" dirty="0">
                <a:solidFill>
                  <a:srgbClr val="222222"/>
                </a:solidFill>
                <a:latin typeface="arial" panose="020B0604020202020204" pitchFamily="34" charset="0"/>
              </a:rPr>
              <a:t>Two schedules </a:t>
            </a:r>
            <a:r>
              <a:rPr lang="en-US" sz="2800" dirty="0" err="1">
                <a:solidFill>
                  <a:srgbClr val="222222"/>
                </a:solidFill>
                <a:latin typeface="arial" panose="020B0604020202020204" pitchFamily="34" charset="0"/>
              </a:rPr>
              <a:t>S1</a:t>
            </a:r>
            <a:r>
              <a:rPr lang="en-US" sz="2800" dirty="0">
                <a:solidFill>
                  <a:srgbClr val="222222"/>
                </a:solidFill>
                <a:latin typeface="arial" panose="020B0604020202020204" pitchFamily="34" charset="0"/>
              </a:rPr>
              <a:t> and </a:t>
            </a:r>
            <a:r>
              <a:rPr lang="en-US" sz="2800" dirty="0" err="1">
                <a:solidFill>
                  <a:srgbClr val="222222"/>
                </a:solidFill>
                <a:latin typeface="arial" panose="020B0604020202020204" pitchFamily="34" charset="0"/>
              </a:rPr>
              <a:t>S2</a:t>
            </a:r>
            <a:r>
              <a:rPr lang="en-US" sz="2800" dirty="0">
                <a:solidFill>
                  <a:srgbClr val="222222"/>
                </a:solidFill>
                <a:latin typeface="arial" panose="020B0604020202020204" pitchFamily="34" charset="0"/>
              </a:rPr>
              <a:t> are said to be view equivalent if they satisfy the following conditions</a:t>
            </a:r>
            <a:r>
              <a:rPr lang="en-US" sz="2800" dirty="0" smtClean="0">
                <a:solidFill>
                  <a:srgbClr val="222222"/>
                </a:solidFill>
                <a:latin typeface="arial" panose="020B0604020202020204" pitchFamily="34" charset="0"/>
              </a:rPr>
              <a:t>:</a:t>
            </a:r>
          </a:p>
          <a:p>
            <a:pPr lvl="1" algn="just">
              <a:buClr>
                <a:schemeClr val="tx1"/>
              </a:buClr>
              <a:buSzPct val="71000"/>
            </a:pPr>
            <a:r>
              <a:rPr lang="en-US" sz="2600" dirty="0" smtClean="0">
                <a:solidFill>
                  <a:srgbClr val="222222"/>
                </a:solidFill>
                <a:latin typeface="arial" panose="020B0604020202020204" pitchFamily="34" charset="0"/>
              </a:rPr>
              <a:t>1. Initial Read</a:t>
            </a:r>
          </a:p>
          <a:p>
            <a:pPr lvl="1" algn="just">
              <a:buClr>
                <a:schemeClr val="tx1"/>
              </a:buClr>
              <a:buSzPct val="71000"/>
            </a:pPr>
            <a:r>
              <a:rPr lang="en-US" sz="2600" dirty="0" smtClean="0">
                <a:solidFill>
                  <a:srgbClr val="222222"/>
                </a:solidFill>
                <a:latin typeface="arial" panose="020B0604020202020204" pitchFamily="34" charset="0"/>
              </a:rPr>
              <a:t>2. Update Read</a:t>
            </a:r>
          </a:p>
          <a:p>
            <a:pPr lvl="1" algn="just">
              <a:buClr>
                <a:schemeClr val="tx1"/>
              </a:buClr>
              <a:buSzPct val="71000"/>
            </a:pPr>
            <a:r>
              <a:rPr lang="en-US" sz="2600" dirty="0" smtClean="0">
                <a:solidFill>
                  <a:srgbClr val="222222"/>
                </a:solidFill>
                <a:latin typeface="arial" panose="020B0604020202020204" pitchFamily="34" charset="0"/>
              </a:rPr>
              <a:t>3. Final Write</a:t>
            </a:r>
          </a:p>
        </p:txBody>
      </p:sp>
    </p:spTree>
    <p:extLst>
      <p:ext uri="{BB962C8B-B14F-4D97-AF65-F5344CB8AC3E}">
        <p14:creationId xmlns:p14="http://schemas.microsoft.com/office/powerpoint/2010/main" val="3554631719"/>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10.4.1.2 View </a:t>
            </a:r>
            <a:r>
              <a:rPr lang="en-US" sz="2800" dirty="0" err="1">
                <a:solidFill>
                  <a:schemeClr val="bg1"/>
                </a:solidFill>
              </a:rPr>
              <a:t>Serializability</a:t>
            </a:r>
            <a:r>
              <a:rPr lang="en-US" sz="2800" dirty="0">
                <a:solidFill>
                  <a:schemeClr val="bg1"/>
                </a:solidFill>
              </a:rPr>
              <a:t> </a:t>
            </a:r>
          </a:p>
        </p:txBody>
      </p:sp>
      <p:sp>
        <p:nvSpPr>
          <p:cNvPr id="3" name="Subtitle 2"/>
          <p:cNvSpPr>
            <a:spLocks noGrp="1"/>
          </p:cNvSpPr>
          <p:nvPr>
            <p:ph type="subTitle" idx="1"/>
          </p:nvPr>
        </p:nvSpPr>
        <p:spPr>
          <a:xfrm>
            <a:off x="1281567" y="1139688"/>
            <a:ext cx="8094254" cy="2190306"/>
          </a:xfrm>
        </p:spPr>
        <p:txBody>
          <a:bodyPr>
            <a:normAutofit fontScale="85000" lnSpcReduction="20000"/>
          </a:bodyPr>
          <a:lstStyle/>
          <a:p>
            <a:pPr algn="just">
              <a:buClr>
                <a:schemeClr val="tx1"/>
              </a:buClr>
              <a:buSzPct val="71000"/>
            </a:pPr>
            <a:r>
              <a:rPr lang="en-US" sz="2800" b="1" dirty="0" smtClean="0">
                <a:solidFill>
                  <a:srgbClr val="222222"/>
                </a:solidFill>
                <a:latin typeface="arial" panose="020B0604020202020204" pitchFamily="34" charset="0"/>
              </a:rPr>
              <a:t>View Equivalent</a:t>
            </a:r>
          </a:p>
          <a:p>
            <a:pPr algn="just">
              <a:buClr>
                <a:schemeClr val="tx1"/>
              </a:buClr>
              <a:buSzPct val="71000"/>
            </a:pPr>
            <a:r>
              <a:rPr lang="en-US" sz="2800" b="1" dirty="0" smtClean="0">
                <a:solidFill>
                  <a:srgbClr val="222222"/>
                </a:solidFill>
                <a:latin typeface="arial" panose="020B0604020202020204" pitchFamily="34" charset="0"/>
              </a:rPr>
              <a:t>1. Initial </a:t>
            </a:r>
            <a:r>
              <a:rPr lang="en-US" sz="2800" b="1" dirty="0">
                <a:solidFill>
                  <a:srgbClr val="222222"/>
                </a:solidFill>
                <a:latin typeface="arial" panose="020B0604020202020204" pitchFamily="34" charset="0"/>
              </a:rPr>
              <a:t>Read </a:t>
            </a:r>
            <a:r>
              <a:rPr lang="en-US" sz="2800" b="1" dirty="0" smtClean="0">
                <a:solidFill>
                  <a:srgbClr val="222222"/>
                </a:solidFill>
                <a:latin typeface="arial" panose="020B0604020202020204" pitchFamily="34" charset="0"/>
              </a:rPr>
              <a:t>:</a:t>
            </a:r>
          </a:p>
          <a:p>
            <a:pPr algn="just">
              <a:buClr>
                <a:schemeClr val="tx1"/>
              </a:buClr>
              <a:buSzPct val="71000"/>
            </a:pPr>
            <a:r>
              <a:rPr lang="en-US" sz="2800" dirty="0">
                <a:solidFill>
                  <a:srgbClr val="222222"/>
                </a:solidFill>
                <a:latin typeface="arial" panose="020B0604020202020204" pitchFamily="34" charset="0"/>
              </a:rPr>
              <a:t>An initial read of both schedules must be the same. Suppose two schedule </a:t>
            </a:r>
            <a:r>
              <a:rPr lang="en-US" sz="2800" dirty="0" err="1">
                <a:solidFill>
                  <a:srgbClr val="222222"/>
                </a:solidFill>
                <a:latin typeface="arial" panose="020B0604020202020204" pitchFamily="34" charset="0"/>
              </a:rPr>
              <a:t>S1</a:t>
            </a:r>
            <a:r>
              <a:rPr lang="en-US" sz="2800" dirty="0">
                <a:solidFill>
                  <a:srgbClr val="222222"/>
                </a:solidFill>
                <a:latin typeface="arial" panose="020B0604020202020204" pitchFamily="34" charset="0"/>
              </a:rPr>
              <a:t> and </a:t>
            </a:r>
            <a:r>
              <a:rPr lang="en-US" sz="2800" dirty="0" err="1">
                <a:solidFill>
                  <a:srgbClr val="222222"/>
                </a:solidFill>
                <a:latin typeface="arial" panose="020B0604020202020204" pitchFamily="34" charset="0"/>
              </a:rPr>
              <a:t>S2</a:t>
            </a:r>
            <a:r>
              <a:rPr lang="en-US" sz="2800" dirty="0">
                <a:solidFill>
                  <a:srgbClr val="222222"/>
                </a:solidFill>
                <a:latin typeface="arial" panose="020B0604020202020204" pitchFamily="34" charset="0"/>
              </a:rPr>
              <a:t>. In schedule </a:t>
            </a:r>
            <a:r>
              <a:rPr lang="en-US" sz="2800" dirty="0" err="1">
                <a:solidFill>
                  <a:srgbClr val="222222"/>
                </a:solidFill>
                <a:latin typeface="arial" panose="020B0604020202020204" pitchFamily="34" charset="0"/>
              </a:rPr>
              <a:t>S1</a:t>
            </a:r>
            <a:r>
              <a:rPr lang="en-US" sz="2800" dirty="0">
                <a:solidFill>
                  <a:srgbClr val="222222"/>
                </a:solidFill>
                <a:latin typeface="arial" panose="020B0604020202020204" pitchFamily="34" charset="0"/>
              </a:rPr>
              <a:t>, if a transaction </a:t>
            </a:r>
            <a:r>
              <a:rPr lang="en-US" sz="2800" dirty="0" err="1">
                <a:solidFill>
                  <a:srgbClr val="222222"/>
                </a:solidFill>
                <a:latin typeface="arial" panose="020B0604020202020204" pitchFamily="34" charset="0"/>
              </a:rPr>
              <a:t>T1</a:t>
            </a:r>
            <a:r>
              <a:rPr lang="en-US" sz="2800" dirty="0">
                <a:solidFill>
                  <a:srgbClr val="222222"/>
                </a:solidFill>
                <a:latin typeface="arial" panose="020B0604020202020204" pitchFamily="34" charset="0"/>
              </a:rPr>
              <a:t> is reading the data item A, then in </a:t>
            </a:r>
            <a:r>
              <a:rPr lang="en-US" sz="2800" dirty="0" err="1">
                <a:solidFill>
                  <a:srgbClr val="222222"/>
                </a:solidFill>
                <a:latin typeface="arial" panose="020B0604020202020204" pitchFamily="34" charset="0"/>
              </a:rPr>
              <a:t>S2</a:t>
            </a:r>
            <a:r>
              <a:rPr lang="en-US" sz="2800" dirty="0">
                <a:solidFill>
                  <a:srgbClr val="222222"/>
                </a:solidFill>
                <a:latin typeface="arial" panose="020B0604020202020204" pitchFamily="34" charset="0"/>
              </a:rPr>
              <a:t>, transaction </a:t>
            </a:r>
            <a:r>
              <a:rPr lang="en-US" sz="2800" dirty="0" err="1">
                <a:solidFill>
                  <a:srgbClr val="222222"/>
                </a:solidFill>
                <a:latin typeface="arial" panose="020B0604020202020204" pitchFamily="34" charset="0"/>
              </a:rPr>
              <a:t>T1</a:t>
            </a:r>
            <a:r>
              <a:rPr lang="en-US" sz="2800" dirty="0">
                <a:solidFill>
                  <a:srgbClr val="222222"/>
                </a:solidFill>
                <a:latin typeface="arial" panose="020B0604020202020204" pitchFamily="34" charset="0"/>
              </a:rPr>
              <a:t> should also read A</a:t>
            </a:r>
            <a:r>
              <a:rPr lang="en-US" sz="2800" dirty="0" smtClean="0">
                <a:solidFill>
                  <a:srgbClr val="222222"/>
                </a:solidFill>
                <a:latin typeface="arial" panose="020B0604020202020204" pitchFamily="34" charset="0"/>
              </a:rPr>
              <a:t>.</a:t>
            </a:r>
            <a:endParaRPr lang="en-US" sz="2600" dirty="0" smtClean="0">
              <a:solidFill>
                <a:srgbClr val="222222"/>
              </a:solidFill>
              <a:latin typeface="arial" panose="020B0604020202020204" pitchFamily="34" charset="0"/>
            </a:endParaRPr>
          </a:p>
        </p:txBody>
      </p:sp>
      <p:pic>
        <p:nvPicPr>
          <p:cNvPr id="19458" name="Picture 2" descr="DBMS View Serializabilit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1045" y="3329994"/>
            <a:ext cx="5143500" cy="214312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1384598" y="5725062"/>
            <a:ext cx="8094253" cy="646331"/>
          </a:xfrm>
          <a:prstGeom prst="rect">
            <a:avLst/>
          </a:prstGeom>
        </p:spPr>
        <p:txBody>
          <a:bodyPr wrap="square">
            <a:spAutoFit/>
          </a:bodyPr>
          <a:lstStyle/>
          <a:p>
            <a:r>
              <a:rPr lang="en-US" dirty="0">
                <a:solidFill>
                  <a:srgbClr val="000000"/>
                </a:solidFill>
                <a:latin typeface="verdana" panose="020B0604030504040204" pitchFamily="34" charset="0"/>
              </a:rPr>
              <a:t>Above two schedules are view equivalent because Initial read operation in </a:t>
            </a:r>
            <a:r>
              <a:rPr lang="en-US" dirty="0" err="1">
                <a:solidFill>
                  <a:srgbClr val="000000"/>
                </a:solidFill>
                <a:latin typeface="verdana" panose="020B0604030504040204" pitchFamily="34" charset="0"/>
              </a:rPr>
              <a:t>S1</a:t>
            </a:r>
            <a:r>
              <a:rPr lang="en-US" dirty="0">
                <a:solidFill>
                  <a:srgbClr val="000000"/>
                </a:solidFill>
                <a:latin typeface="verdana" panose="020B0604030504040204" pitchFamily="34" charset="0"/>
              </a:rPr>
              <a:t> is done by </a:t>
            </a:r>
            <a:r>
              <a:rPr lang="en-US" dirty="0" err="1">
                <a:solidFill>
                  <a:srgbClr val="000000"/>
                </a:solidFill>
                <a:latin typeface="verdana" panose="020B0604030504040204" pitchFamily="34" charset="0"/>
              </a:rPr>
              <a:t>T1</a:t>
            </a:r>
            <a:r>
              <a:rPr lang="en-US" dirty="0">
                <a:solidFill>
                  <a:srgbClr val="000000"/>
                </a:solidFill>
                <a:latin typeface="verdana" panose="020B0604030504040204" pitchFamily="34" charset="0"/>
              </a:rPr>
              <a:t> and in </a:t>
            </a:r>
            <a:r>
              <a:rPr lang="en-US" dirty="0" err="1">
                <a:solidFill>
                  <a:srgbClr val="000000"/>
                </a:solidFill>
                <a:latin typeface="verdana" panose="020B0604030504040204" pitchFamily="34" charset="0"/>
              </a:rPr>
              <a:t>S2</a:t>
            </a:r>
            <a:r>
              <a:rPr lang="en-US" dirty="0">
                <a:solidFill>
                  <a:srgbClr val="000000"/>
                </a:solidFill>
                <a:latin typeface="verdana" panose="020B0604030504040204" pitchFamily="34" charset="0"/>
              </a:rPr>
              <a:t> it is also done by </a:t>
            </a:r>
            <a:r>
              <a:rPr lang="en-US" dirty="0" err="1">
                <a:solidFill>
                  <a:srgbClr val="000000"/>
                </a:solidFill>
                <a:latin typeface="verdana" panose="020B0604030504040204" pitchFamily="34" charset="0"/>
              </a:rPr>
              <a:t>T1</a:t>
            </a:r>
            <a:r>
              <a:rPr lang="en-US" dirty="0">
                <a:solidFill>
                  <a:srgbClr val="000000"/>
                </a:solidFill>
                <a:latin typeface="verdana" panose="020B0604030504040204" pitchFamily="34" charset="0"/>
              </a:rPr>
              <a:t>.</a:t>
            </a:r>
            <a:endParaRPr lang="en-US" dirty="0"/>
          </a:p>
        </p:txBody>
      </p:sp>
    </p:spTree>
    <p:extLst>
      <p:ext uri="{BB962C8B-B14F-4D97-AF65-F5344CB8AC3E}">
        <p14:creationId xmlns:p14="http://schemas.microsoft.com/office/powerpoint/2010/main" val="3151392455"/>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10.4.1.2 View </a:t>
            </a:r>
            <a:r>
              <a:rPr lang="en-US" sz="2800" dirty="0" err="1">
                <a:solidFill>
                  <a:schemeClr val="bg1"/>
                </a:solidFill>
              </a:rPr>
              <a:t>Serializability</a:t>
            </a:r>
            <a:r>
              <a:rPr lang="en-US" sz="2800" dirty="0">
                <a:solidFill>
                  <a:schemeClr val="bg1"/>
                </a:solidFill>
              </a:rPr>
              <a:t> </a:t>
            </a:r>
          </a:p>
        </p:txBody>
      </p:sp>
      <p:sp>
        <p:nvSpPr>
          <p:cNvPr id="3" name="Subtitle 2"/>
          <p:cNvSpPr>
            <a:spLocks noGrp="1"/>
          </p:cNvSpPr>
          <p:nvPr>
            <p:ph type="subTitle" idx="1"/>
          </p:nvPr>
        </p:nvSpPr>
        <p:spPr>
          <a:xfrm>
            <a:off x="1281567" y="1139688"/>
            <a:ext cx="8094254" cy="2190306"/>
          </a:xfrm>
        </p:spPr>
        <p:txBody>
          <a:bodyPr>
            <a:normAutofit fontScale="92500" lnSpcReduction="10000"/>
          </a:bodyPr>
          <a:lstStyle/>
          <a:p>
            <a:pPr algn="just">
              <a:buClr>
                <a:schemeClr val="tx1"/>
              </a:buClr>
              <a:buSzPct val="71000"/>
            </a:pPr>
            <a:r>
              <a:rPr lang="en-US" sz="2800" b="1" dirty="0" smtClean="0">
                <a:solidFill>
                  <a:srgbClr val="222222"/>
                </a:solidFill>
                <a:latin typeface="arial" panose="020B0604020202020204" pitchFamily="34" charset="0"/>
              </a:rPr>
              <a:t>View Equivalent</a:t>
            </a:r>
          </a:p>
          <a:p>
            <a:pPr algn="just">
              <a:buClr>
                <a:schemeClr val="tx1"/>
              </a:buClr>
              <a:buSzPct val="71000"/>
            </a:pPr>
            <a:r>
              <a:rPr lang="en-US" sz="2800" b="1" dirty="0" smtClean="0">
                <a:solidFill>
                  <a:srgbClr val="222222"/>
                </a:solidFill>
                <a:latin typeface="arial" panose="020B0604020202020204" pitchFamily="34" charset="0"/>
              </a:rPr>
              <a:t>2. Update </a:t>
            </a:r>
            <a:r>
              <a:rPr lang="en-US" sz="2800" b="1" dirty="0">
                <a:solidFill>
                  <a:srgbClr val="222222"/>
                </a:solidFill>
                <a:latin typeface="arial" panose="020B0604020202020204" pitchFamily="34" charset="0"/>
              </a:rPr>
              <a:t>Read </a:t>
            </a:r>
            <a:r>
              <a:rPr lang="en-US" sz="2800" b="1" dirty="0" smtClean="0">
                <a:solidFill>
                  <a:srgbClr val="222222"/>
                </a:solidFill>
                <a:latin typeface="arial" panose="020B0604020202020204" pitchFamily="34" charset="0"/>
              </a:rPr>
              <a:t>:</a:t>
            </a:r>
          </a:p>
          <a:p>
            <a:pPr algn="just">
              <a:buClr>
                <a:schemeClr val="tx1"/>
              </a:buClr>
              <a:buSzPct val="71000"/>
            </a:pPr>
            <a:r>
              <a:rPr lang="en-US" sz="2800" dirty="0">
                <a:solidFill>
                  <a:srgbClr val="222222"/>
                </a:solidFill>
                <a:latin typeface="arial" panose="020B0604020202020204" pitchFamily="34" charset="0"/>
              </a:rPr>
              <a:t>In schedule </a:t>
            </a:r>
            <a:r>
              <a:rPr lang="en-US" sz="2800" dirty="0" err="1">
                <a:solidFill>
                  <a:srgbClr val="222222"/>
                </a:solidFill>
                <a:latin typeface="arial" panose="020B0604020202020204" pitchFamily="34" charset="0"/>
              </a:rPr>
              <a:t>S1</a:t>
            </a:r>
            <a:r>
              <a:rPr lang="en-US" sz="2800" dirty="0">
                <a:solidFill>
                  <a:srgbClr val="222222"/>
                </a:solidFill>
                <a:latin typeface="arial" panose="020B0604020202020204" pitchFamily="34" charset="0"/>
              </a:rPr>
              <a:t>, if </a:t>
            </a:r>
            <a:r>
              <a:rPr lang="en-US" sz="2800" dirty="0" err="1">
                <a:solidFill>
                  <a:srgbClr val="222222"/>
                </a:solidFill>
                <a:latin typeface="arial" panose="020B0604020202020204" pitchFamily="34" charset="0"/>
              </a:rPr>
              <a:t>Ti</a:t>
            </a:r>
            <a:r>
              <a:rPr lang="en-US" sz="2800" dirty="0">
                <a:solidFill>
                  <a:srgbClr val="222222"/>
                </a:solidFill>
                <a:latin typeface="arial" panose="020B0604020202020204" pitchFamily="34" charset="0"/>
              </a:rPr>
              <a:t> is reading A which is updated by </a:t>
            </a:r>
            <a:r>
              <a:rPr lang="en-US" sz="2800" dirty="0" err="1">
                <a:solidFill>
                  <a:srgbClr val="222222"/>
                </a:solidFill>
                <a:latin typeface="arial" panose="020B0604020202020204" pitchFamily="34" charset="0"/>
              </a:rPr>
              <a:t>Tj</a:t>
            </a:r>
            <a:r>
              <a:rPr lang="en-US" sz="2800" dirty="0">
                <a:solidFill>
                  <a:srgbClr val="222222"/>
                </a:solidFill>
                <a:latin typeface="arial" panose="020B0604020202020204" pitchFamily="34" charset="0"/>
              </a:rPr>
              <a:t> then in </a:t>
            </a:r>
            <a:r>
              <a:rPr lang="en-US" sz="2800" dirty="0" err="1">
                <a:solidFill>
                  <a:srgbClr val="222222"/>
                </a:solidFill>
                <a:latin typeface="arial" panose="020B0604020202020204" pitchFamily="34" charset="0"/>
              </a:rPr>
              <a:t>S2</a:t>
            </a:r>
            <a:r>
              <a:rPr lang="en-US" sz="2800" dirty="0">
                <a:solidFill>
                  <a:srgbClr val="222222"/>
                </a:solidFill>
                <a:latin typeface="arial" panose="020B0604020202020204" pitchFamily="34" charset="0"/>
              </a:rPr>
              <a:t> also, </a:t>
            </a:r>
            <a:r>
              <a:rPr lang="en-US" sz="2800" dirty="0" err="1">
                <a:solidFill>
                  <a:srgbClr val="222222"/>
                </a:solidFill>
                <a:latin typeface="arial" panose="020B0604020202020204" pitchFamily="34" charset="0"/>
              </a:rPr>
              <a:t>Ti</a:t>
            </a:r>
            <a:r>
              <a:rPr lang="en-US" sz="2800" dirty="0">
                <a:solidFill>
                  <a:srgbClr val="222222"/>
                </a:solidFill>
                <a:latin typeface="arial" panose="020B0604020202020204" pitchFamily="34" charset="0"/>
              </a:rPr>
              <a:t> should read A which is updated by </a:t>
            </a:r>
            <a:r>
              <a:rPr lang="en-US" sz="2800" dirty="0" err="1">
                <a:solidFill>
                  <a:srgbClr val="222222"/>
                </a:solidFill>
                <a:latin typeface="arial" panose="020B0604020202020204" pitchFamily="34" charset="0"/>
              </a:rPr>
              <a:t>Tj</a:t>
            </a:r>
            <a:r>
              <a:rPr lang="en-US" sz="2800" dirty="0">
                <a:solidFill>
                  <a:srgbClr val="222222"/>
                </a:solidFill>
                <a:latin typeface="arial" panose="020B0604020202020204" pitchFamily="34" charset="0"/>
              </a:rPr>
              <a:t>.</a:t>
            </a:r>
            <a:endParaRPr lang="en-US" sz="2600" dirty="0" smtClean="0">
              <a:solidFill>
                <a:srgbClr val="222222"/>
              </a:solidFill>
              <a:latin typeface="arial" panose="020B0604020202020204" pitchFamily="34" charset="0"/>
            </a:endParaRPr>
          </a:p>
        </p:txBody>
      </p:sp>
      <p:sp>
        <p:nvSpPr>
          <p:cNvPr id="4" name="Rectangle 3"/>
          <p:cNvSpPr/>
          <p:nvPr/>
        </p:nvSpPr>
        <p:spPr>
          <a:xfrm>
            <a:off x="1384598" y="5725062"/>
            <a:ext cx="8094253" cy="646331"/>
          </a:xfrm>
          <a:prstGeom prst="rect">
            <a:avLst/>
          </a:prstGeom>
        </p:spPr>
        <p:txBody>
          <a:bodyPr wrap="square">
            <a:spAutoFit/>
          </a:bodyPr>
          <a:lstStyle/>
          <a:p>
            <a:r>
              <a:rPr lang="en-US" dirty="0">
                <a:solidFill>
                  <a:srgbClr val="000000"/>
                </a:solidFill>
                <a:latin typeface="verdana" panose="020B0604030504040204" pitchFamily="34" charset="0"/>
              </a:rPr>
              <a:t>Above two schedules are not view equal because, in </a:t>
            </a:r>
            <a:r>
              <a:rPr lang="en-US" dirty="0" err="1">
                <a:solidFill>
                  <a:srgbClr val="000000"/>
                </a:solidFill>
                <a:latin typeface="verdana" panose="020B0604030504040204" pitchFamily="34" charset="0"/>
              </a:rPr>
              <a:t>S1</a:t>
            </a:r>
            <a:r>
              <a:rPr lang="en-US" dirty="0">
                <a:solidFill>
                  <a:srgbClr val="000000"/>
                </a:solidFill>
                <a:latin typeface="verdana" panose="020B0604030504040204" pitchFamily="34" charset="0"/>
              </a:rPr>
              <a:t>, </a:t>
            </a:r>
            <a:r>
              <a:rPr lang="en-US" dirty="0" err="1">
                <a:solidFill>
                  <a:srgbClr val="000000"/>
                </a:solidFill>
                <a:latin typeface="verdana" panose="020B0604030504040204" pitchFamily="34" charset="0"/>
              </a:rPr>
              <a:t>T3</a:t>
            </a:r>
            <a:r>
              <a:rPr lang="en-US" dirty="0">
                <a:solidFill>
                  <a:srgbClr val="000000"/>
                </a:solidFill>
                <a:latin typeface="verdana" panose="020B0604030504040204" pitchFamily="34" charset="0"/>
              </a:rPr>
              <a:t> is reading A updated by </a:t>
            </a:r>
            <a:r>
              <a:rPr lang="en-US" dirty="0" err="1">
                <a:solidFill>
                  <a:srgbClr val="000000"/>
                </a:solidFill>
                <a:latin typeface="verdana" panose="020B0604030504040204" pitchFamily="34" charset="0"/>
              </a:rPr>
              <a:t>T2</a:t>
            </a:r>
            <a:r>
              <a:rPr lang="en-US" dirty="0">
                <a:solidFill>
                  <a:srgbClr val="000000"/>
                </a:solidFill>
                <a:latin typeface="verdana" panose="020B0604030504040204" pitchFamily="34" charset="0"/>
              </a:rPr>
              <a:t> and in </a:t>
            </a:r>
            <a:r>
              <a:rPr lang="en-US" dirty="0" err="1">
                <a:solidFill>
                  <a:srgbClr val="000000"/>
                </a:solidFill>
                <a:latin typeface="verdana" panose="020B0604030504040204" pitchFamily="34" charset="0"/>
              </a:rPr>
              <a:t>S2</a:t>
            </a:r>
            <a:r>
              <a:rPr lang="en-US" dirty="0">
                <a:solidFill>
                  <a:srgbClr val="000000"/>
                </a:solidFill>
                <a:latin typeface="verdana" panose="020B0604030504040204" pitchFamily="34" charset="0"/>
              </a:rPr>
              <a:t>, </a:t>
            </a:r>
            <a:r>
              <a:rPr lang="en-US" dirty="0" err="1">
                <a:solidFill>
                  <a:srgbClr val="000000"/>
                </a:solidFill>
                <a:latin typeface="verdana" panose="020B0604030504040204" pitchFamily="34" charset="0"/>
              </a:rPr>
              <a:t>T3</a:t>
            </a:r>
            <a:r>
              <a:rPr lang="en-US" dirty="0">
                <a:solidFill>
                  <a:srgbClr val="000000"/>
                </a:solidFill>
                <a:latin typeface="verdana" panose="020B0604030504040204" pitchFamily="34" charset="0"/>
              </a:rPr>
              <a:t> is reading A updated by </a:t>
            </a:r>
            <a:r>
              <a:rPr lang="en-US" dirty="0" err="1">
                <a:solidFill>
                  <a:srgbClr val="000000"/>
                </a:solidFill>
                <a:latin typeface="verdana" panose="020B0604030504040204" pitchFamily="34" charset="0"/>
              </a:rPr>
              <a:t>T1</a:t>
            </a:r>
            <a:r>
              <a:rPr lang="en-US" dirty="0">
                <a:solidFill>
                  <a:srgbClr val="000000"/>
                </a:solidFill>
                <a:latin typeface="verdana" panose="020B0604030504040204" pitchFamily="34" charset="0"/>
              </a:rPr>
              <a:t>.</a:t>
            </a:r>
            <a:endParaRPr lang="en-US" dirty="0"/>
          </a:p>
        </p:txBody>
      </p:sp>
      <p:pic>
        <p:nvPicPr>
          <p:cNvPr id="20482" name="Picture 2" descr="DBMS View Serializabilit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7844" y="3632177"/>
            <a:ext cx="5981700" cy="17907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7122278"/>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10.4.1.2 View </a:t>
            </a:r>
            <a:r>
              <a:rPr lang="en-US" sz="2800" dirty="0" err="1">
                <a:solidFill>
                  <a:schemeClr val="bg1"/>
                </a:solidFill>
              </a:rPr>
              <a:t>Serializability</a:t>
            </a:r>
            <a:r>
              <a:rPr lang="en-US" sz="2800" dirty="0">
                <a:solidFill>
                  <a:schemeClr val="bg1"/>
                </a:solidFill>
              </a:rPr>
              <a:t> </a:t>
            </a:r>
          </a:p>
        </p:txBody>
      </p:sp>
      <p:sp>
        <p:nvSpPr>
          <p:cNvPr id="3" name="Subtitle 2"/>
          <p:cNvSpPr>
            <a:spLocks noGrp="1"/>
          </p:cNvSpPr>
          <p:nvPr>
            <p:ph type="subTitle" idx="1"/>
          </p:nvPr>
        </p:nvSpPr>
        <p:spPr>
          <a:xfrm>
            <a:off x="1281567" y="1139688"/>
            <a:ext cx="8094254" cy="2190306"/>
          </a:xfrm>
        </p:spPr>
        <p:txBody>
          <a:bodyPr>
            <a:normAutofit fontScale="85000" lnSpcReduction="20000"/>
          </a:bodyPr>
          <a:lstStyle/>
          <a:p>
            <a:pPr algn="just">
              <a:buClr>
                <a:schemeClr val="tx1"/>
              </a:buClr>
              <a:buSzPct val="71000"/>
            </a:pPr>
            <a:r>
              <a:rPr lang="en-US" sz="2800" b="1" dirty="0" smtClean="0">
                <a:solidFill>
                  <a:srgbClr val="222222"/>
                </a:solidFill>
                <a:latin typeface="arial" panose="020B0604020202020204" pitchFamily="34" charset="0"/>
              </a:rPr>
              <a:t>View Equivalent</a:t>
            </a:r>
          </a:p>
          <a:p>
            <a:pPr algn="just">
              <a:buClr>
                <a:schemeClr val="tx1"/>
              </a:buClr>
              <a:buSzPct val="71000"/>
            </a:pPr>
            <a:r>
              <a:rPr lang="en-US" sz="2800" b="1" dirty="0">
                <a:solidFill>
                  <a:srgbClr val="222222"/>
                </a:solidFill>
                <a:latin typeface="arial" panose="020B0604020202020204" pitchFamily="34" charset="0"/>
              </a:rPr>
              <a:t>3</a:t>
            </a:r>
            <a:r>
              <a:rPr lang="en-US" sz="2800" b="1" dirty="0" smtClean="0">
                <a:solidFill>
                  <a:srgbClr val="222222"/>
                </a:solidFill>
                <a:latin typeface="arial" panose="020B0604020202020204" pitchFamily="34" charset="0"/>
              </a:rPr>
              <a:t>. Final Write:</a:t>
            </a:r>
          </a:p>
          <a:p>
            <a:pPr algn="just">
              <a:buClr>
                <a:schemeClr val="tx1"/>
              </a:buClr>
              <a:buSzPct val="71000"/>
            </a:pPr>
            <a:r>
              <a:rPr lang="en-US" sz="2800" dirty="0">
                <a:solidFill>
                  <a:srgbClr val="222222"/>
                </a:solidFill>
                <a:latin typeface="arial" panose="020B0604020202020204" pitchFamily="34" charset="0"/>
              </a:rPr>
              <a:t>A final write must be the same between both the schedules. In schedule </a:t>
            </a:r>
            <a:r>
              <a:rPr lang="en-US" sz="2800" dirty="0" err="1">
                <a:solidFill>
                  <a:srgbClr val="222222"/>
                </a:solidFill>
                <a:latin typeface="arial" panose="020B0604020202020204" pitchFamily="34" charset="0"/>
              </a:rPr>
              <a:t>S1</a:t>
            </a:r>
            <a:r>
              <a:rPr lang="en-US" sz="2800" dirty="0">
                <a:solidFill>
                  <a:srgbClr val="222222"/>
                </a:solidFill>
                <a:latin typeface="arial" panose="020B0604020202020204" pitchFamily="34" charset="0"/>
              </a:rPr>
              <a:t>, if a transaction </a:t>
            </a:r>
            <a:r>
              <a:rPr lang="en-US" sz="2800" dirty="0" err="1">
                <a:solidFill>
                  <a:srgbClr val="222222"/>
                </a:solidFill>
                <a:latin typeface="arial" panose="020B0604020202020204" pitchFamily="34" charset="0"/>
              </a:rPr>
              <a:t>T1</a:t>
            </a:r>
            <a:r>
              <a:rPr lang="en-US" sz="2800" dirty="0">
                <a:solidFill>
                  <a:srgbClr val="222222"/>
                </a:solidFill>
                <a:latin typeface="arial" panose="020B0604020202020204" pitchFamily="34" charset="0"/>
              </a:rPr>
              <a:t> updates A at last then in </a:t>
            </a:r>
            <a:r>
              <a:rPr lang="en-US" sz="2800" dirty="0" err="1">
                <a:solidFill>
                  <a:srgbClr val="222222"/>
                </a:solidFill>
                <a:latin typeface="arial" panose="020B0604020202020204" pitchFamily="34" charset="0"/>
              </a:rPr>
              <a:t>S2</a:t>
            </a:r>
            <a:r>
              <a:rPr lang="en-US" sz="2800" dirty="0">
                <a:solidFill>
                  <a:srgbClr val="222222"/>
                </a:solidFill>
                <a:latin typeface="arial" panose="020B0604020202020204" pitchFamily="34" charset="0"/>
              </a:rPr>
              <a:t>, final writes operations should also be done by </a:t>
            </a:r>
            <a:r>
              <a:rPr lang="en-US" sz="2800" dirty="0" err="1">
                <a:solidFill>
                  <a:srgbClr val="222222"/>
                </a:solidFill>
                <a:latin typeface="arial" panose="020B0604020202020204" pitchFamily="34" charset="0"/>
              </a:rPr>
              <a:t>T1</a:t>
            </a:r>
            <a:r>
              <a:rPr lang="en-US" sz="2800" dirty="0">
                <a:solidFill>
                  <a:srgbClr val="222222"/>
                </a:solidFill>
                <a:latin typeface="arial" panose="020B0604020202020204" pitchFamily="34" charset="0"/>
              </a:rPr>
              <a:t>.</a:t>
            </a:r>
            <a:endParaRPr lang="en-US" sz="2600" dirty="0" smtClean="0">
              <a:solidFill>
                <a:srgbClr val="222222"/>
              </a:solidFill>
              <a:latin typeface="arial" panose="020B0604020202020204" pitchFamily="34" charset="0"/>
            </a:endParaRPr>
          </a:p>
        </p:txBody>
      </p:sp>
      <p:sp>
        <p:nvSpPr>
          <p:cNvPr id="4" name="Rectangle 3"/>
          <p:cNvSpPr/>
          <p:nvPr/>
        </p:nvSpPr>
        <p:spPr>
          <a:xfrm>
            <a:off x="1317045" y="5531879"/>
            <a:ext cx="8094253" cy="923330"/>
          </a:xfrm>
          <a:prstGeom prst="rect">
            <a:avLst/>
          </a:prstGeom>
        </p:spPr>
        <p:txBody>
          <a:bodyPr wrap="square">
            <a:spAutoFit/>
          </a:bodyPr>
          <a:lstStyle/>
          <a:p>
            <a:r>
              <a:rPr lang="en-US" dirty="0">
                <a:solidFill>
                  <a:srgbClr val="000000"/>
                </a:solidFill>
                <a:latin typeface="verdana" panose="020B0604030504040204" pitchFamily="34" charset="0"/>
              </a:rPr>
              <a:t>Above two schedules is view equal because Final write operation in </a:t>
            </a:r>
            <a:r>
              <a:rPr lang="en-US" dirty="0" err="1">
                <a:solidFill>
                  <a:srgbClr val="000000"/>
                </a:solidFill>
                <a:latin typeface="verdana" panose="020B0604030504040204" pitchFamily="34" charset="0"/>
              </a:rPr>
              <a:t>S1</a:t>
            </a:r>
            <a:r>
              <a:rPr lang="en-US" dirty="0">
                <a:solidFill>
                  <a:srgbClr val="000000"/>
                </a:solidFill>
                <a:latin typeface="verdana" panose="020B0604030504040204" pitchFamily="34" charset="0"/>
              </a:rPr>
              <a:t> is done by </a:t>
            </a:r>
            <a:r>
              <a:rPr lang="en-US" dirty="0" err="1">
                <a:solidFill>
                  <a:srgbClr val="000000"/>
                </a:solidFill>
                <a:latin typeface="verdana" panose="020B0604030504040204" pitchFamily="34" charset="0"/>
              </a:rPr>
              <a:t>T3</a:t>
            </a:r>
            <a:r>
              <a:rPr lang="en-US" dirty="0">
                <a:solidFill>
                  <a:srgbClr val="000000"/>
                </a:solidFill>
                <a:latin typeface="verdana" panose="020B0604030504040204" pitchFamily="34" charset="0"/>
              </a:rPr>
              <a:t> and in </a:t>
            </a:r>
            <a:r>
              <a:rPr lang="en-US" dirty="0" err="1">
                <a:solidFill>
                  <a:srgbClr val="000000"/>
                </a:solidFill>
                <a:latin typeface="verdana" panose="020B0604030504040204" pitchFamily="34" charset="0"/>
              </a:rPr>
              <a:t>S2</a:t>
            </a:r>
            <a:r>
              <a:rPr lang="en-US" dirty="0">
                <a:solidFill>
                  <a:srgbClr val="000000"/>
                </a:solidFill>
                <a:latin typeface="verdana" panose="020B0604030504040204" pitchFamily="34" charset="0"/>
              </a:rPr>
              <a:t>, the final write operation is also done by </a:t>
            </a:r>
            <a:r>
              <a:rPr lang="en-US" dirty="0" err="1">
                <a:solidFill>
                  <a:srgbClr val="000000"/>
                </a:solidFill>
                <a:latin typeface="verdana" panose="020B0604030504040204" pitchFamily="34" charset="0"/>
              </a:rPr>
              <a:t>T3</a:t>
            </a:r>
            <a:r>
              <a:rPr lang="en-US" dirty="0">
                <a:solidFill>
                  <a:srgbClr val="000000"/>
                </a:solidFill>
                <a:latin typeface="verdana" panose="020B0604030504040204" pitchFamily="34" charset="0"/>
              </a:rPr>
              <a:t>.</a:t>
            </a:r>
            <a:endParaRPr lang="en-US" dirty="0"/>
          </a:p>
        </p:txBody>
      </p:sp>
      <p:pic>
        <p:nvPicPr>
          <p:cNvPr id="21506" name="Picture 2" descr="DBMS View Serializabilit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77558" y="3399993"/>
            <a:ext cx="5981700" cy="1838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3629572"/>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10.4.1.2 View </a:t>
            </a:r>
            <a:r>
              <a:rPr lang="en-US" sz="2800" dirty="0" err="1">
                <a:solidFill>
                  <a:schemeClr val="bg1"/>
                </a:solidFill>
              </a:rPr>
              <a:t>Serializability</a:t>
            </a:r>
            <a:r>
              <a:rPr lang="en-US" sz="2800" dirty="0">
                <a:solidFill>
                  <a:schemeClr val="bg1"/>
                </a:solidFill>
              </a:rPr>
              <a:t> </a:t>
            </a:r>
          </a:p>
        </p:txBody>
      </p:sp>
      <p:sp>
        <p:nvSpPr>
          <p:cNvPr id="3" name="Subtitle 2"/>
          <p:cNvSpPr>
            <a:spLocks noGrp="1"/>
          </p:cNvSpPr>
          <p:nvPr>
            <p:ph type="subTitle" idx="1"/>
          </p:nvPr>
        </p:nvSpPr>
        <p:spPr>
          <a:xfrm>
            <a:off x="1281567" y="1139687"/>
            <a:ext cx="8094254" cy="598961"/>
          </a:xfrm>
        </p:spPr>
        <p:txBody>
          <a:bodyPr>
            <a:normAutofit/>
          </a:bodyPr>
          <a:lstStyle/>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Example</a:t>
            </a:r>
          </a:p>
        </p:txBody>
      </p:sp>
      <p:pic>
        <p:nvPicPr>
          <p:cNvPr id="1026" name="Picture 2" descr="DBMS View Serializabilit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0437" y="2064264"/>
            <a:ext cx="5705923" cy="1760762"/>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3851102" y="4150642"/>
            <a:ext cx="1604927" cy="369332"/>
          </a:xfrm>
          <a:prstGeom prst="rect">
            <a:avLst/>
          </a:prstGeom>
        </p:spPr>
        <p:txBody>
          <a:bodyPr wrap="none">
            <a:spAutoFit/>
          </a:bodyPr>
          <a:lstStyle/>
          <a:p>
            <a:r>
              <a:rPr lang="en-US" b="1" dirty="0">
                <a:latin typeface="verdana" panose="020B0604030504040204" pitchFamily="34" charset="0"/>
              </a:rPr>
              <a:t>Schedule S</a:t>
            </a:r>
            <a:endParaRPr lang="en-US" dirty="0"/>
          </a:p>
        </p:txBody>
      </p:sp>
    </p:spTree>
    <p:extLst>
      <p:ext uri="{BB962C8B-B14F-4D97-AF65-F5344CB8AC3E}">
        <p14:creationId xmlns:p14="http://schemas.microsoft.com/office/powerpoint/2010/main" val="2062082847"/>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10.4.1.2 View </a:t>
            </a:r>
            <a:r>
              <a:rPr lang="en-US" sz="2800" dirty="0" err="1">
                <a:solidFill>
                  <a:schemeClr val="bg1"/>
                </a:solidFill>
              </a:rPr>
              <a:t>Serializability</a:t>
            </a:r>
            <a:r>
              <a:rPr lang="en-US" sz="2800" dirty="0">
                <a:solidFill>
                  <a:schemeClr val="bg1"/>
                </a:solidFill>
              </a:rPr>
              <a:t> </a:t>
            </a:r>
          </a:p>
        </p:txBody>
      </p:sp>
      <p:sp>
        <p:nvSpPr>
          <p:cNvPr id="3" name="Subtitle 2"/>
          <p:cNvSpPr>
            <a:spLocks noGrp="1"/>
          </p:cNvSpPr>
          <p:nvPr>
            <p:ph type="subTitle" idx="1"/>
          </p:nvPr>
        </p:nvSpPr>
        <p:spPr>
          <a:xfrm>
            <a:off x="1281567" y="1139687"/>
            <a:ext cx="8094254" cy="4320955"/>
          </a:xfrm>
        </p:spPr>
        <p:txBody>
          <a:bodyPr>
            <a:normAutofit/>
          </a:bodyPr>
          <a:lstStyle/>
          <a:p>
            <a:pPr algn="just">
              <a:buClr>
                <a:schemeClr val="tx1"/>
              </a:buClr>
              <a:buSzPct val="71000"/>
            </a:pPr>
            <a:r>
              <a:rPr lang="fr-FR" sz="2800" dirty="0" err="1">
                <a:solidFill>
                  <a:srgbClr val="222222"/>
                </a:solidFill>
                <a:latin typeface="arial" panose="020B0604020202020204" pitchFamily="34" charset="0"/>
              </a:rPr>
              <a:t>With</a:t>
            </a:r>
            <a:r>
              <a:rPr lang="fr-FR" sz="2800" dirty="0">
                <a:solidFill>
                  <a:srgbClr val="222222"/>
                </a:solidFill>
                <a:latin typeface="arial" panose="020B0604020202020204" pitchFamily="34" charset="0"/>
              </a:rPr>
              <a:t> 3 transactions, the total </a:t>
            </a:r>
            <a:r>
              <a:rPr lang="fr-FR" sz="2800" dirty="0" err="1">
                <a:solidFill>
                  <a:srgbClr val="222222"/>
                </a:solidFill>
                <a:latin typeface="arial" panose="020B0604020202020204" pitchFamily="34" charset="0"/>
              </a:rPr>
              <a:t>number</a:t>
            </a:r>
            <a:r>
              <a:rPr lang="fr-FR" sz="2800" dirty="0">
                <a:solidFill>
                  <a:srgbClr val="222222"/>
                </a:solidFill>
                <a:latin typeface="arial" panose="020B0604020202020204" pitchFamily="34" charset="0"/>
              </a:rPr>
              <a:t> of possible </a:t>
            </a:r>
            <a:r>
              <a:rPr lang="fr-FR" sz="2800" dirty="0" err="1" smtClean="0">
                <a:solidFill>
                  <a:srgbClr val="222222"/>
                </a:solidFill>
                <a:latin typeface="arial" panose="020B0604020202020204" pitchFamily="34" charset="0"/>
              </a:rPr>
              <a:t>schedule</a:t>
            </a:r>
            <a:r>
              <a:rPr lang="fr-FR" sz="2800" dirty="0" smtClean="0">
                <a:solidFill>
                  <a:srgbClr val="222222"/>
                </a:solidFill>
                <a:latin typeface="arial" panose="020B0604020202020204" pitchFamily="34" charset="0"/>
              </a:rPr>
              <a:t> = </a:t>
            </a:r>
            <a:r>
              <a:rPr lang="fr-FR" sz="2800" dirty="0">
                <a:solidFill>
                  <a:srgbClr val="222222"/>
                </a:solidFill>
                <a:latin typeface="arial" panose="020B0604020202020204" pitchFamily="34" charset="0"/>
              </a:rPr>
              <a:t>3! = 6  </a:t>
            </a:r>
          </a:p>
          <a:p>
            <a:pPr marL="914389" lvl="1" indent="-457200" algn="just">
              <a:buClr>
                <a:schemeClr val="tx1"/>
              </a:buClr>
              <a:buSzPct val="71000"/>
              <a:buFont typeface="Wingdings" panose="05000000000000000000" pitchFamily="2" charset="2"/>
              <a:buChar char="Ø"/>
            </a:pPr>
            <a:r>
              <a:rPr lang="fr-FR" sz="2600" dirty="0" err="1">
                <a:solidFill>
                  <a:srgbClr val="222222"/>
                </a:solidFill>
                <a:latin typeface="arial" panose="020B0604020202020204" pitchFamily="34" charset="0"/>
              </a:rPr>
              <a:t>S1</a:t>
            </a:r>
            <a:r>
              <a:rPr lang="fr-FR" sz="2600" dirty="0">
                <a:solidFill>
                  <a:srgbClr val="222222"/>
                </a:solidFill>
                <a:latin typeface="arial" panose="020B0604020202020204" pitchFamily="34" charset="0"/>
              </a:rPr>
              <a:t> = &lt;</a:t>
            </a:r>
            <a:r>
              <a:rPr lang="fr-FR" sz="2600" dirty="0" err="1">
                <a:solidFill>
                  <a:srgbClr val="222222"/>
                </a:solidFill>
                <a:latin typeface="arial" panose="020B0604020202020204" pitchFamily="34" charset="0"/>
              </a:rPr>
              <a:t>T1</a:t>
            </a:r>
            <a:r>
              <a:rPr lang="fr-FR" sz="2600" dirty="0">
                <a:solidFill>
                  <a:srgbClr val="222222"/>
                </a:solidFill>
                <a:latin typeface="arial" panose="020B0604020202020204" pitchFamily="34" charset="0"/>
              </a:rPr>
              <a:t> </a:t>
            </a:r>
            <a:r>
              <a:rPr lang="fr-FR" sz="2600" dirty="0" err="1">
                <a:solidFill>
                  <a:srgbClr val="222222"/>
                </a:solidFill>
                <a:latin typeface="arial" panose="020B0604020202020204" pitchFamily="34" charset="0"/>
              </a:rPr>
              <a:t>T2</a:t>
            </a:r>
            <a:r>
              <a:rPr lang="fr-FR" sz="2600" dirty="0">
                <a:solidFill>
                  <a:srgbClr val="222222"/>
                </a:solidFill>
                <a:latin typeface="arial" panose="020B0604020202020204" pitchFamily="34" charset="0"/>
              </a:rPr>
              <a:t> </a:t>
            </a:r>
            <a:r>
              <a:rPr lang="fr-FR" sz="2600" dirty="0" err="1">
                <a:solidFill>
                  <a:srgbClr val="222222"/>
                </a:solidFill>
                <a:latin typeface="arial" panose="020B0604020202020204" pitchFamily="34" charset="0"/>
              </a:rPr>
              <a:t>T3</a:t>
            </a:r>
            <a:r>
              <a:rPr lang="fr-FR" sz="2600" dirty="0">
                <a:solidFill>
                  <a:srgbClr val="222222"/>
                </a:solidFill>
                <a:latin typeface="arial" panose="020B0604020202020204" pitchFamily="34" charset="0"/>
              </a:rPr>
              <a:t>&gt;  </a:t>
            </a:r>
          </a:p>
          <a:p>
            <a:pPr marL="914389" lvl="1" indent="-457200" algn="just">
              <a:buClr>
                <a:schemeClr val="tx1"/>
              </a:buClr>
              <a:buSzPct val="71000"/>
              <a:buFont typeface="Wingdings" panose="05000000000000000000" pitchFamily="2" charset="2"/>
              <a:buChar char="Ø"/>
            </a:pPr>
            <a:r>
              <a:rPr lang="fr-FR" sz="2600" dirty="0" err="1">
                <a:solidFill>
                  <a:srgbClr val="222222"/>
                </a:solidFill>
                <a:latin typeface="arial" panose="020B0604020202020204" pitchFamily="34" charset="0"/>
              </a:rPr>
              <a:t>S2</a:t>
            </a:r>
            <a:r>
              <a:rPr lang="fr-FR" sz="2600" dirty="0">
                <a:solidFill>
                  <a:srgbClr val="222222"/>
                </a:solidFill>
                <a:latin typeface="arial" panose="020B0604020202020204" pitchFamily="34" charset="0"/>
              </a:rPr>
              <a:t> = &lt;</a:t>
            </a:r>
            <a:r>
              <a:rPr lang="fr-FR" sz="2600" dirty="0" err="1">
                <a:solidFill>
                  <a:srgbClr val="222222"/>
                </a:solidFill>
                <a:latin typeface="arial" panose="020B0604020202020204" pitchFamily="34" charset="0"/>
              </a:rPr>
              <a:t>T1</a:t>
            </a:r>
            <a:r>
              <a:rPr lang="fr-FR" sz="2600" dirty="0">
                <a:solidFill>
                  <a:srgbClr val="222222"/>
                </a:solidFill>
                <a:latin typeface="arial" panose="020B0604020202020204" pitchFamily="34" charset="0"/>
              </a:rPr>
              <a:t> </a:t>
            </a:r>
            <a:r>
              <a:rPr lang="fr-FR" sz="2600" dirty="0" err="1">
                <a:solidFill>
                  <a:srgbClr val="222222"/>
                </a:solidFill>
                <a:latin typeface="arial" panose="020B0604020202020204" pitchFamily="34" charset="0"/>
              </a:rPr>
              <a:t>T3</a:t>
            </a:r>
            <a:r>
              <a:rPr lang="fr-FR" sz="2600" dirty="0">
                <a:solidFill>
                  <a:srgbClr val="222222"/>
                </a:solidFill>
                <a:latin typeface="arial" panose="020B0604020202020204" pitchFamily="34" charset="0"/>
              </a:rPr>
              <a:t> </a:t>
            </a:r>
            <a:r>
              <a:rPr lang="fr-FR" sz="2600" dirty="0" err="1">
                <a:solidFill>
                  <a:srgbClr val="222222"/>
                </a:solidFill>
                <a:latin typeface="arial" panose="020B0604020202020204" pitchFamily="34" charset="0"/>
              </a:rPr>
              <a:t>T2</a:t>
            </a:r>
            <a:r>
              <a:rPr lang="fr-FR" sz="2600" dirty="0">
                <a:solidFill>
                  <a:srgbClr val="222222"/>
                </a:solidFill>
                <a:latin typeface="arial" panose="020B0604020202020204" pitchFamily="34" charset="0"/>
              </a:rPr>
              <a:t>&gt;  </a:t>
            </a:r>
          </a:p>
          <a:p>
            <a:pPr marL="914389" lvl="1" indent="-457200" algn="just">
              <a:buClr>
                <a:schemeClr val="tx1"/>
              </a:buClr>
              <a:buSzPct val="71000"/>
              <a:buFont typeface="Wingdings" panose="05000000000000000000" pitchFamily="2" charset="2"/>
              <a:buChar char="Ø"/>
            </a:pPr>
            <a:r>
              <a:rPr lang="fr-FR" sz="2600" dirty="0" err="1">
                <a:solidFill>
                  <a:srgbClr val="222222"/>
                </a:solidFill>
                <a:latin typeface="arial" panose="020B0604020202020204" pitchFamily="34" charset="0"/>
              </a:rPr>
              <a:t>S3</a:t>
            </a:r>
            <a:r>
              <a:rPr lang="fr-FR" sz="2600" dirty="0">
                <a:solidFill>
                  <a:srgbClr val="222222"/>
                </a:solidFill>
                <a:latin typeface="arial" panose="020B0604020202020204" pitchFamily="34" charset="0"/>
              </a:rPr>
              <a:t> = &lt;</a:t>
            </a:r>
            <a:r>
              <a:rPr lang="fr-FR" sz="2600" dirty="0" err="1">
                <a:solidFill>
                  <a:srgbClr val="222222"/>
                </a:solidFill>
                <a:latin typeface="arial" panose="020B0604020202020204" pitchFamily="34" charset="0"/>
              </a:rPr>
              <a:t>T2</a:t>
            </a:r>
            <a:r>
              <a:rPr lang="fr-FR" sz="2600" dirty="0">
                <a:solidFill>
                  <a:srgbClr val="222222"/>
                </a:solidFill>
                <a:latin typeface="arial" panose="020B0604020202020204" pitchFamily="34" charset="0"/>
              </a:rPr>
              <a:t> </a:t>
            </a:r>
            <a:r>
              <a:rPr lang="fr-FR" sz="2600" dirty="0" err="1">
                <a:solidFill>
                  <a:srgbClr val="222222"/>
                </a:solidFill>
                <a:latin typeface="arial" panose="020B0604020202020204" pitchFamily="34" charset="0"/>
              </a:rPr>
              <a:t>T3</a:t>
            </a:r>
            <a:r>
              <a:rPr lang="fr-FR" sz="2600" dirty="0">
                <a:solidFill>
                  <a:srgbClr val="222222"/>
                </a:solidFill>
                <a:latin typeface="arial" panose="020B0604020202020204" pitchFamily="34" charset="0"/>
              </a:rPr>
              <a:t> </a:t>
            </a:r>
            <a:r>
              <a:rPr lang="fr-FR" sz="2600" dirty="0" err="1">
                <a:solidFill>
                  <a:srgbClr val="222222"/>
                </a:solidFill>
                <a:latin typeface="arial" panose="020B0604020202020204" pitchFamily="34" charset="0"/>
              </a:rPr>
              <a:t>T1</a:t>
            </a:r>
            <a:r>
              <a:rPr lang="fr-FR" sz="2600" dirty="0">
                <a:solidFill>
                  <a:srgbClr val="222222"/>
                </a:solidFill>
                <a:latin typeface="arial" panose="020B0604020202020204" pitchFamily="34" charset="0"/>
              </a:rPr>
              <a:t>&gt;  </a:t>
            </a:r>
          </a:p>
          <a:p>
            <a:pPr marL="914389" lvl="1" indent="-457200" algn="just">
              <a:buClr>
                <a:schemeClr val="tx1"/>
              </a:buClr>
              <a:buSzPct val="71000"/>
              <a:buFont typeface="Wingdings" panose="05000000000000000000" pitchFamily="2" charset="2"/>
              <a:buChar char="Ø"/>
            </a:pPr>
            <a:r>
              <a:rPr lang="fr-FR" sz="2600" dirty="0" err="1">
                <a:solidFill>
                  <a:srgbClr val="222222"/>
                </a:solidFill>
                <a:latin typeface="arial" panose="020B0604020202020204" pitchFamily="34" charset="0"/>
              </a:rPr>
              <a:t>S4</a:t>
            </a:r>
            <a:r>
              <a:rPr lang="fr-FR" sz="2600" dirty="0">
                <a:solidFill>
                  <a:srgbClr val="222222"/>
                </a:solidFill>
                <a:latin typeface="arial" panose="020B0604020202020204" pitchFamily="34" charset="0"/>
              </a:rPr>
              <a:t> = &lt;</a:t>
            </a:r>
            <a:r>
              <a:rPr lang="fr-FR" sz="2600" dirty="0" err="1">
                <a:solidFill>
                  <a:srgbClr val="222222"/>
                </a:solidFill>
                <a:latin typeface="arial" panose="020B0604020202020204" pitchFamily="34" charset="0"/>
              </a:rPr>
              <a:t>T2</a:t>
            </a:r>
            <a:r>
              <a:rPr lang="fr-FR" sz="2600" dirty="0">
                <a:solidFill>
                  <a:srgbClr val="222222"/>
                </a:solidFill>
                <a:latin typeface="arial" panose="020B0604020202020204" pitchFamily="34" charset="0"/>
              </a:rPr>
              <a:t> </a:t>
            </a:r>
            <a:r>
              <a:rPr lang="fr-FR" sz="2600" dirty="0" err="1">
                <a:solidFill>
                  <a:srgbClr val="222222"/>
                </a:solidFill>
                <a:latin typeface="arial" panose="020B0604020202020204" pitchFamily="34" charset="0"/>
              </a:rPr>
              <a:t>T1</a:t>
            </a:r>
            <a:r>
              <a:rPr lang="fr-FR" sz="2600" dirty="0">
                <a:solidFill>
                  <a:srgbClr val="222222"/>
                </a:solidFill>
                <a:latin typeface="arial" panose="020B0604020202020204" pitchFamily="34" charset="0"/>
              </a:rPr>
              <a:t> </a:t>
            </a:r>
            <a:r>
              <a:rPr lang="fr-FR" sz="2600" dirty="0" err="1">
                <a:solidFill>
                  <a:srgbClr val="222222"/>
                </a:solidFill>
                <a:latin typeface="arial" panose="020B0604020202020204" pitchFamily="34" charset="0"/>
              </a:rPr>
              <a:t>T3</a:t>
            </a:r>
            <a:r>
              <a:rPr lang="fr-FR" sz="2600" dirty="0">
                <a:solidFill>
                  <a:srgbClr val="222222"/>
                </a:solidFill>
                <a:latin typeface="arial" panose="020B0604020202020204" pitchFamily="34" charset="0"/>
              </a:rPr>
              <a:t>&gt;  </a:t>
            </a:r>
          </a:p>
          <a:p>
            <a:pPr marL="914389" lvl="1" indent="-457200" algn="just">
              <a:buClr>
                <a:schemeClr val="tx1"/>
              </a:buClr>
              <a:buSzPct val="71000"/>
              <a:buFont typeface="Wingdings" panose="05000000000000000000" pitchFamily="2" charset="2"/>
              <a:buChar char="Ø"/>
            </a:pPr>
            <a:r>
              <a:rPr lang="fr-FR" sz="2600" dirty="0" err="1">
                <a:solidFill>
                  <a:srgbClr val="222222"/>
                </a:solidFill>
                <a:latin typeface="arial" panose="020B0604020202020204" pitchFamily="34" charset="0"/>
              </a:rPr>
              <a:t>S5</a:t>
            </a:r>
            <a:r>
              <a:rPr lang="fr-FR" sz="2600" dirty="0">
                <a:solidFill>
                  <a:srgbClr val="222222"/>
                </a:solidFill>
                <a:latin typeface="arial" panose="020B0604020202020204" pitchFamily="34" charset="0"/>
              </a:rPr>
              <a:t> = &lt;</a:t>
            </a:r>
            <a:r>
              <a:rPr lang="fr-FR" sz="2600" dirty="0" err="1">
                <a:solidFill>
                  <a:srgbClr val="222222"/>
                </a:solidFill>
                <a:latin typeface="arial" panose="020B0604020202020204" pitchFamily="34" charset="0"/>
              </a:rPr>
              <a:t>T3</a:t>
            </a:r>
            <a:r>
              <a:rPr lang="fr-FR" sz="2600" dirty="0">
                <a:solidFill>
                  <a:srgbClr val="222222"/>
                </a:solidFill>
                <a:latin typeface="arial" panose="020B0604020202020204" pitchFamily="34" charset="0"/>
              </a:rPr>
              <a:t> </a:t>
            </a:r>
            <a:r>
              <a:rPr lang="fr-FR" sz="2600" dirty="0" err="1">
                <a:solidFill>
                  <a:srgbClr val="222222"/>
                </a:solidFill>
                <a:latin typeface="arial" panose="020B0604020202020204" pitchFamily="34" charset="0"/>
              </a:rPr>
              <a:t>T1</a:t>
            </a:r>
            <a:r>
              <a:rPr lang="fr-FR" sz="2600" dirty="0">
                <a:solidFill>
                  <a:srgbClr val="222222"/>
                </a:solidFill>
                <a:latin typeface="arial" panose="020B0604020202020204" pitchFamily="34" charset="0"/>
              </a:rPr>
              <a:t> </a:t>
            </a:r>
            <a:r>
              <a:rPr lang="fr-FR" sz="2600" dirty="0" err="1">
                <a:solidFill>
                  <a:srgbClr val="222222"/>
                </a:solidFill>
                <a:latin typeface="arial" panose="020B0604020202020204" pitchFamily="34" charset="0"/>
              </a:rPr>
              <a:t>T2</a:t>
            </a:r>
            <a:r>
              <a:rPr lang="fr-FR" sz="2600" dirty="0">
                <a:solidFill>
                  <a:srgbClr val="222222"/>
                </a:solidFill>
                <a:latin typeface="arial" panose="020B0604020202020204" pitchFamily="34" charset="0"/>
              </a:rPr>
              <a:t>&gt;  </a:t>
            </a:r>
          </a:p>
          <a:p>
            <a:pPr marL="914389" lvl="1" indent="-457200" algn="just">
              <a:buClr>
                <a:schemeClr val="tx1"/>
              </a:buClr>
              <a:buSzPct val="71000"/>
              <a:buFont typeface="Wingdings" panose="05000000000000000000" pitchFamily="2" charset="2"/>
              <a:buChar char="Ø"/>
            </a:pPr>
            <a:r>
              <a:rPr lang="fr-FR" sz="2600" dirty="0" err="1">
                <a:solidFill>
                  <a:srgbClr val="222222"/>
                </a:solidFill>
                <a:latin typeface="arial" panose="020B0604020202020204" pitchFamily="34" charset="0"/>
              </a:rPr>
              <a:t>S6</a:t>
            </a:r>
            <a:r>
              <a:rPr lang="fr-FR" sz="2600" dirty="0">
                <a:solidFill>
                  <a:srgbClr val="222222"/>
                </a:solidFill>
                <a:latin typeface="arial" panose="020B0604020202020204" pitchFamily="34" charset="0"/>
              </a:rPr>
              <a:t> = &lt;</a:t>
            </a:r>
            <a:r>
              <a:rPr lang="fr-FR" sz="2600" dirty="0" err="1">
                <a:solidFill>
                  <a:srgbClr val="222222"/>
                </a:solidFill>
                <a:latin typeface="arial" panose="020B0604020202020204" pitchFamily="34" charset="0"/>
              </a:rPr>
              <a:t>T3</a:t>
            </a:r>
            <a:r>
              <a:rPr lang="fr-FR" sz="2600" dirty="0">
                <a:solidFill>
                  <a:srgbClr val="222222"/>
                </a:solidFill>
                <a:latin typeface="arial" panose="020B0604020202020204" pitchFamily="34" charset="0"/>
              </a:rPr>
              <a:t> </a:t>
            </a:r>
            <a:r>
              <a:rPr lang="fr-FR" sz="2600" dirty="0" err="1">
                <a:solidFill>
                  <a:srgbClr val="222222"/>
                </a:solidFill>
                <a:latin typeface="arial" panose="020B0604020202020204" pitchFamily="34" charset="0"/>
              </a:rPr>
              <a:t>T2</a:t>
            </a:r>
            <a:r>
              <a:rPr lang="fr-FR" sz="2600" dirty="0">
                <a:solidFill>
                  <a:srgbClr val="222222"/>
                </a:solidFill>
                <a:latin typeface="arial" panose="020B0604020202020204" pitchFamily="34" charset="0"/>
              </a:rPr>
              <a:t> </a:t>
            </a:r>
            <a:r>
              <a:rPr lang="fr-FR" sz="2600" dirty="0" err="1">
                <a:solidFill>
                  <a:srgbClr val="222222"/>
                </a:solidFill>
                <a:latin typeface="arial" panose="020B0604020202020204" pitchFamily="34" charset="0"/>
              </a:rPr>
              <a:t>T1</a:t>
            </a:r>
            <a:r>
              <a:rPr lang="fr-FR" sz="2600" dirty="0">
                <a:solidFill>
                  <a:srgbClr val="222222"/>
                </a:solidFill>
                <a:latin typeface="arial" panose="020B0604020202020204" pitchFamily="34" charset="0"/>
              </a:rPr>
              <a:t>&gt; </a:t>
            </a:r>
            <a:endParaRPr lang="en-US" sz="2600" dirty="0" smtClean="0">
              <a:solidFill>
                <a:srgbClr val="222222"/>
              </a:solidFill>
              <a:latin typeface="arial" panose="020B0604020202020204" pitchFamily="34" charset="0"/>
            </a:endParaRPr>
          </a:p>
        </p:txBody>
      </p:sp>
    </p:spTree>
    <p:extLst>
      <p:ext uri="{BB962C8B-B14F-4D97-AF65-F5344CB8AC3E}">
        <p14:creationId xmlns:p14="http://schemas.microsoft.com/office/powerpoint/2010/main" val="627003153"/>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10.4.1.2 View </a:t>
            </a:r>
            <a:r>
              <a:rPr lang="en-US" sz="2800" dirty="0" err="1">
                <a:solidFill>
                  <a:schemeClr val="bg1"/>
                </a:solidFill>
              </a:rPr>
              <a:t>Serializability</a:t>
            </a:r>
            <a:r>
              <a:rPr lang="en-US" sz="2800" dirty="0">
                <a:solidFill>
                  <a:schemeClr val="bg1"/>
                </a:solidFill>
              </a:rPr>
              <a:t> </a:t>
            </a:r>
          </a:p>
        </p:txBody>
      </p:sp>
      <p:sp>
        <p:nvSpPr>
          <p:cNvPr id="3" name="Subtitle 2"/>
          <p:cNvSpPr>
            <a:spLocks noGrp="1"/>
          </p:cNvSpPr>
          <p:nvPr>
            <p:ph type="subTitle" idx="1"/>
          </p:nvPr>
        </p:nvSpPr>
        <p:spPr>
          <a:xfrm>
            <a:off x="1281567" y="1139688"/>
            <a:ext cx="8094254" cy="495930"/>
          </a:xfrm>
        </p:spPr>
        <p:txBody>
          <a:bodyPr>
            <a:normAutofit lnSpcReduction="10000"/>
          </a:bodyPr>
          <a:lstStyle/>
          <a:p>
            <a:pPr algn="just">
              <a:buClr>
                <a:schemeClr val="tx1"/>
              </a:buClr>
              <a:buSzPct val="71000"/>
            </a:pPr>
            <a:r>
              <a:rPr lang="fr-FR" sz="2800" dirty="0" err="1">
                <a:solidFill>
                  <a:srgbClr val="222222"/>
                </a:solidFill>
                <a:latin typeface="arial" panose="020B0604020202020204" pitchFamily="34" charset="0"/>
              </a:rPr>
              <a:t>Taking</a:t>
            </a:r>
            <a:r>
              <a:rPr lang="fr-FR" sz="2800" dirty="0">
                <a:solidFill>
                  <a:srgbClr val="222222"/>
                </a:solidFill>
                <a:latin typeface="arial" panose="020B0604020202020204" pitchFamily="34" charset="0"/>
              </a:rPr>
              <a:t> first </a:t>
            </a:r>
            <a:r>
              <a:rPr lang="fr-FR" sz="2800" dirty="0" err="1">
                <a:solidFill>
                  <a:srgbClr val="222222"/>
                </a:solidFill>
                <a:latin typeface="arial" panose="020B0604020202020204" pitchFamily="34" charset="0"/>
              </a:rPr>
              <a:t>schedule</a:t>
            </a:r>
            <a:r>
              <a:rPr lang="fr-FR" sz="2800" dirty="0">
                <a:solidFill>
                  <a:srgbClr val="222222"/>
                </a:solidFill>
                <a:latin typeface="arial" panose="020B0604020202020204" pitchFamily="34" charset="0"/>
              </a:rPr>
              <a:t> </a:t>
            </a:r>
            <a:r>
              <a:rPr lang="fr-FR" sz="2800" dirty="0" err="1">
                <a:solidFill>
                  <a:srgbClr val="222222"/>
                </a:solidFill>
                <a:latin typeface="arial" panose="020B0604020202020204" pitchFamily="34" charset="0"/>
              </a:rPr>
              <a:t>S1</a:t>
            </a:r>
            <a:r>
              <a:rPr lang="fr-FR" sz="2800" dirty="0">
                <a:solidFill>
                  <a:srgbClr val="222222"/>
                </a:solidFill>
                <a:latin typeface="arial" panose="020B0604020202020204" pitchFamily="34" charset="0"/>
              </a:rPr>
              <a:t>:</a:t>
            </a:r>
            <a:endParaRPr lang="en-US" sz="2600" dirty="0" smtClean="0">
              <a:solidFill>
                <a:srgbClr val="222222"/>
              </a:solidFill>
              <a:latin typeface="arial" panose="020B0604020202020204" pitchFamily="34" charset="0"/>
            </a:endParaRPr>
          </a:p>
        </p:txBody>
      </p:sp>
      <p:pic>
        <p:nvPicPr>
          <p:cNvPr id="2050" name="Picture 2" descr="DBMS View Serializabilit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555" y="1983457"/>
            <a:ext cx="7269148" cy="218929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4039805" y="4520594"/>
            <a:ext cx="1768433" cy="369332"/>
          </a:xfrm>
          <a:prstGeom prst="rect">
            <a:avLst/>
          </a:prstGeom>
        </p:spPr>
        <p:txBody>
          <a:bodyPr wrap="none">
            <a:spAutoFit/>
          </a:bodyPr>
          <a:lstStyle/>
          <a:p>
            <a:r>
              <a:rPr lang="en-US" b="1" dirty="0">
                <a:latin typeface="verdana" panose="020B0604030504040204" pitchFamily="34" charset="0"/>
              </a:rPr>
              <a:t>Schedule </a:t>
            </a:r>
            <a:r>
              <a:rPr lang="en-US" b="1" dirty="0" err="1">
                <a:latin typeface="verdana" panose="020B0604030504040204" pitchFamily="34" charset="0"/>
              </a:rPr>
              <a:t>S1</a:t>
            </a:r>
            <a:endParaRPr lang="en-US" dirty="0"/>
          </a:p>
        </p:txBody>
      </p:sp>
    </p:spTree>
    <p:extLst>
      <p:ext uri="{BB962C8B-B14F-4D97-AF65-F5344CB8AC3E}">
        <p14:creationId xmlns:p14="http://schemas.microsoft.com/office/powerpoint/2010/main" val="1245075387"/>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10.4.1.2 View </a:t>
            </a:r>
            <a:r>
              <a:rPr lang="en-US" sz="2800" dirty="0" err="1">
                <a:solidFill>
                  <a:schemeClr val="bg1"/>
                </a:solidFill>
              </a:rPr>
              <a:t>Serializability</a:t>
            </a:r>
            <a:r>
              <a:rPr lang="en-US" sz="2800" dirty="0">
                <a:solidFill>
                  <a:schemeClr val="bg1"/>
                </a:solidFill>
              </a:rPr>
              <a:t> </a:t>
            </a:r>
          </a:p>
        </p:txBody>
      </p:sp>
      <p:sp>
        <p:nvSpPr>
          <p:cNvPr id="3" name="Subtitle 2"/>
          <p:cNvSpPr>
            <a:spLocks noGrp="1"/>
          </p:cNvSpPr>
          <p:nvPr>
            <p:ph type="subTitle" idx="1"/>
          </p:nvPr>
        </p:nvSpPr>
        <p:spPr>
          <a:xfrm>
            <a:off x="1281567" y="1178324"/>
            <a:ext cx="8094254" cy="5158082"/>
          </a:xfrm>
        </p:spPr>
        <p:txBody>
          <a:bodyPr>
            <a:normAutofit fontScale="70000" lnSpcReduction="20000"/>
          </a:bodyPr>
          <a:lstStyle/>
          <a:p>
            <a:pPr algn="just">
              <a:spcBef>
                <a:spcPts val="1200"/>
              </a:spcBef>
              <a:buClr>
                <a:schemeClr val="tx1"/>
              </a:buClr>
              <a:buSzPct val="71000"/>
            </a:pPr>
            <a:r>
              <a:rPr lang="en-US" sz="2800" b="1" dirty="0">
                <a:solidFill>
                  <a:srgbClr val="222222"/>
                </a:solidFill>
                <a:latin typeface="arial" panose="020B0604020202020204" pitchFamily="34" charset="0"/>
              </a:rPr>
              <a:t>Step 1: final </a:t>
            </a:r>
            <a:r>
              <a:rPr lang="en-US" sz="2800" b="1" dirty="0" err="1">
                <a:solidFill>
                  <a:srgbClr val="222222"/>
                </a:solidFill>
                <a:latin typeface="arial" panose="020B0604020202020204" pitchFamily="34" charset="0"/>
              </a:rPr>
              <a:t>updation</a:t>
            </a:r>
            <a:r>
              <a:rPr lang="en-US" sz="2800" b="1" dirty="0">
                <a:solidFill>
                  <a:srgbClr val="222222"/>
                </a:solidFill>
                <a:latin typeface="arial" panose="020B0604020202020204" pitchFamily="34" charset="0"/>
              </a:rPr>
              <a:t> on data </a:t>
            </a:r>
            <a:r>
              <a:rPr lang="en-US" sz="2800" b="1" dirty="0" smtClean="0">
                <a:solidFill>
                  <a:srgbClr val="222222"/>
                </a:solidFill>
                <a:latin typeface="arial" panose="020B0604020202020204" pitchFamily="34" charset="0"/>
              </a:rPr>
              <a:t>items</a:t>
            </a:r>
            <a:endParaRPr lang="en-US" sz="2800" b="1" dirty="0">
              <a:solidFill>
                <a:srgbClr val="222222"/>
              </a:solidFill>
              <a:latin typeface="arial" panose="020B0604020202020204" pitchFamily="34" charset="0"/>
            </a:endParaRPr>
          </a:p>
          <a:p>
            <a:pPr marL="457200" indent="-457200" algn="just">
              <a:spcBef>
                <a:spcPts val="1200"/>
              </a:spcBef>
              <a:buClr>
                <a:schemeClr val="tx1"/>
              </a:buClr>
              <a:buSzPct val="71000"/>
              <a:buFont typeface="Wingdings" panose="05000000000000000000" pitchFamily="2" charset="2"/>
              <a:buChar char="Ø"/>
            </a:pPr>
            <a:r>
              <a:rPr lang="en-US" sz="2800" dirty="0">
                <a:solidFill>
                  <a:srgbClr val="222222"/>
                </a:solidFill>
                <a:latin typeface="arial" panose="020B0604020202020204" pitchFamily="34" charset="0"/>
              </a:rPr>
              <a:t>In both schedules S and </a:t>
            </a:r>
            <a:r>
              <a:rPr lang="en-US" sz="2800" dirty="0" err="1">
                <a:solidFill>
                  <a:srgbClr val="222222"/>
                </a:solidFill>
                <a:latin typeface="arial" panose="020B0604020202020204" pitchFamily="34" charset="0"/>
              </a:rPr>
              <a:t>S1</a:t>
            </a:r>
            <a:r>
              <a:rPr lang="en-US" sz="2800" dirty="0">
                <a:solidFill>
                  <a:srgbClr val="222222"/>
                </a:solidFill>
                <a:latin typeface="arial" panose="020B0604020202020204" pitchFamily="34" charset="0"/>
              </a:rPr>
              <a:t>, there is no read except the initial read that's why we don't need to check that condition</a:t>
            </a:r>
            <a:r>
              <a:rPr lang="en-US" sz="2800" dirty="0" smtClean="0">
                <a:solidFill>
                  <a:srgbClr val="222222"/>
                </a:solidFill>
                <a:latin typeface="arial" panose="020B0604020202020204" pitchFamily="34" charset="0"/>
              </a:rPr>
              <a:t>.</a:t>
            </a:r>
            <a:endParaRPr lang="en-US" sz="2800" dirty="0">
              <a:solidFill>
                <a:srgbClr val="222222"/>
              </a:solidFill>
              <a:latin typeface="arial" panose="020B0604020202020204" pitchFamily="34" charset="0"/>
            </a:endParaRPr>
          </a:p>
          <a:p>
            <a:pPr algn="just">
              <a:spcBef>
                <a:spcPts val="1200"/>
              </a:spcBef>
              <a:buClr>
                <a:schemeClr val="tx1"/>
              </a:buClr>
              <a:buSzPct val="71000"/>
            </a:pPr>
            <a:r>
              <a:rPr lang="en-US" sz="2800" b="1" dirty="0">
                <a:solidFill>
                  <a:srgbClr val="222222"/>
                </a:solidFill>
                <a:latin typeface="arial" panose="020B0604020202020204" pitchFamily="34" charset="0"/>
              </a:rPr>
              <a:t>Step 2: Initial </a:t>
            </a:r>
            <a:r>
              <a:rPr lang="en-US" sz="2800" b="1" dirty="0" smtClean="0">
                <a:solidFill>
                  <a:srgbClr val="222222"/>
                </a:solidFill>
                <a:latin typeface="arial" panose="020B0604020202020204" pitchFamily="34" charset="0"/>
              </a:rPr>
              <a:t>Read</a:t>
            </a:r>
            <a:endParaRPr lang="en-US" sz="2800" b="1" dirty="0">
              <a:solidFill>
                <a:srgbClr val="222222"/>
              </a:solidFill>
              <a:latin typeface="arial" panose="020B0604020202020204" pitchFamily="34" charset="0"/>
            </a:endParaRPr>
          </a:p>
          <a:p>
            <a:pPr marL="457200" indent="-457200" algn="just">
              <a:spcBef>
                <a:spcPts val="1200"/>
              </a:spcBef>
              <a:buClr>
                <a:schemeClr val="tx1"/>
              </a:buClr>
              <a:buSzPct val="71000"/>
              <a:buFont typeface="Wingdings" panose="05000000000000000000" pitchFamily="2" charset="2"/>
              <a:buChar char="Ø"/>
            </a:pPr>
            <a:r>
              <a:rPr lang="en-US" sz="2800" dirty="0">
                <a:solidFill>
                  <a:srgbClr val="222222"/>
                </a:solidFill>
                <a:latin typeface="arial" panose="020B0604020202020204" pitchFamily="34" charset="0"/>
              </a:rPr>
              <a:t>The initial read operation in S is done by </a:t>
            </a:r>
            <a:r>
              <a:rPr lang="en-US" sz="2800" dirty="0" err="1">
                <a:solidFill>
                  <a:srgbClr val="222222"/>
                </a:solidFill>
                <a:latin typeface="arial" panose="020B0604020202020204" pitchFamily="34" charset="0"/>
              </a:rPr>
              <a:t>T1</a:t>
            </a:r>
            <a:r>
              <a:rPr lang="en-US" sz="2800" dirty="0">
                <a:solidFill>
                  <a:srgbClr val="222222"/>
                </a:solidFill>
                <a:latin typeface="arial" panose="020B0604020202020204" pitchFamily="34" charset="0"/>
              </a:rPr>
              <a:t> and in </a:t>
            </a:r>
            <a:r>
              <a:rPr lang="en-US" sz="2800" dirty="0" err="1">
                <a:solidFill>
                  <a:srgbClr val="222222"/>
                </a:solidFill>
                <a:latin typeface="arial" panose="020B0604020202020204" pitchFamily="34" charset="0"/>
              </a:rPr>
              <a:t>S1</a:t>
            </a:r>
            <a:r>
              <a:rPr lang="en-US" sz="2800" dirty="0">
                <a:solidFill>
                  <a:srgbClr val="222222"/>
                </a:solidFill>
                <a:latin typeface="arial" panose="020B0604020202020204" pitchFamily="34" charset="0"/>
              </a:rPr>
              <a:t>, it is also done by </a:t>
            </a:r>
            <a:r>
              <a:rPr lang="en-US" sz="2800" dirty="0" err="1">
                <a:solidFill>
                  <a:srgbClr val="222222"/>
                </a:solidFill>
                <a:latin typeface="arial" panose="020B0604020202020204" pitchFamily="34" charset="0"/>
              </a:rPr>
              <a:t>T1</a:t>
            </a:r>
            <a:r>
              <a:rPr lang="en-US" sz="2800" dirty="0" smtClean="0">
                <a:solidFill>
                  <a:srgbClr val="222222"/>
                </a:solidFill>
                <a:latin typeface="arial" panose="020B0604020202020204" pitchFamily="34" charset="0"/>
              </a:rPr>
              <a:t>.</a:t>
            </a:r>
            <a:endParaRPr lang="en-US" sz="2800" dirty="0">
              <a:solidFill>
                <a:srgbClr val="222222"/>
              </a:solidFill>
              <a:latin typeface="arial" panose="020B0604020202020204" pitchFamily="34" charset="0"/>
            </a:endParaRPr>
          </a:p>
          <a:p>
            <a:pPr algn="just">
              <a:spcBef>
                <a:spcPts val="1200"/>
              </a:spcBef>
              <a:buClr>
                <a:schemeClr val="tx1"/>
              </a:buClr>
              <a:buSzPct val="71000"/>
            </a:pPr>
            <a:r>
              <a:rPr lang="en-US" sz="2800" b="1" dirty="0">
                <a:solidFill>
                  <a:srgbClr val="222222"/>
                </a:solidFill>
                <a:latin typeface="arial" panose="020B0604020202020204" pitchFamily="34" charset="0"/>
              </a:rPr>
              <a:t>Step 3: Final </a:t>
            </a:r>
            <a:r>
              <a:rPr lang="en-US" sz="2800" b="1" dirty="0" smtClean="0">
                <a:solidFill>
                  <a:srgbClr val="222222"/>
                </a:solidFill>
                <a:latin typeface="arial" panose="020B0604020202020204" pitchFamily="34" charset="0"/>
              </a:rPr>
              <a:t>Write</a:t>
            </a:r>
            <a:endParaRPr lang="en-US" sz="2800" b="1" dirty="0">
              <a:solidFill>
                <a:srgbClr val="222222"/>
              </a:solidFill>
              <a:latin typeface="arial" panose="020B0604020202020204" pitchFamily="34" charset="0"/>
            </a:endParaRPr>
          </a:p>
          <a:p>
            <a:pPr marL="457200" indent="-457200" algn="just">
              <a:spcBef>
                <a:spcPts val="1200"/>
              </a:spcBef>
              <a:buClr>
                <a:schemeClr val="tx1"/>
              </a:buClr>
              <a:buSzPct val="71000"/>
              <a:buFont typeface="Wingdings" panose="05000000000000000000" pitchFamily="2" charset="2"/>
              <a:buChar char="Ø"/>
            </a:pPr>
            <a:r>
              <a:rPr lang="en-US" sz="2800" dirty="0">
                <a:solidFill>
                  <a:srgbClr val="222222"/>
                </a:solidFill>
                <a:latin typeface="arial" panose="020B0604020202020204" pitchFamily="34" charset="0"/>
              </a:rPr>
              <a:t>The final write operation in S is done by </a:t>
            </a:r>
            <a:r>
              <a:rPr lang="en-US" sz="2800" dirty="0" err="1">
                <a:solidFill>
                  <a:srgbClr val="222222"/>
                </a:solidFill>
                <a:latin typeface="arial" panose="020B0604020202020204" pitchFamily="34" charset="0"/>
              </a:rPr>
              <a:t>T3</a:t>
            </a:r>
            <a:r>
              <a:rPr lang="en-US" sz="2800" dirty="0">
                <a:solidFill>
                  <a:srgbClr val="222222"/>
                </a:solidFill>
                <a:latin typeface="arial" panose="020B0604020202020204" pitchFamily="34" charset="0"/>
              </a:rPr>
              <a:t> and in </a:t>
            </a:r>
            <a:r>
              <a:rPr lang="en-US" sz="2800" dirty="0" err="1">
                <a:solidFill>
                  <a:srgbClr val="222222"/>
                </a:solidFill>
                <a:latin typeface="arial" panose="020B0604020202020204" pitchFamily="34" charset="0"/>
              </a:rPr>
              <a:t>S1</a:t>
            </a:r>
            <a:r>
              <a:rPr lang="en-US" sz="2800" dirty="0">
                <a:solidFill>
                  <a:srgbClr val="222222"/>
                </a:solidFill>
                <a:latin typeface="arial" panose="020B0604020202020204" pitchFamily="34" charset="0"/>
              </a:rPr>
              <a:t>, it is also done by </a:t>
            </a:r>
            <a:r>
              <a:rPr lang="en-US" sz="2800" dirty="0" err="1">
                <a:solidFill>
                  <a:srgbClr val="222222"/>
                </a:solidFill>
                <a:latin typeface="arial" panose="020B0604020202020204" pitchFamily="34" charset="0"/>
              </a:rPr>
              <a:t>T3</a:t>
            </a:r>
            <a:r>
              <a:rPr lang="en-US" sz="2800" dirty="0">
                <a:solidFill>
                  <a:srgbClr val="222222"/>
                </a:solidFill>
                <a:latin typeface="arial" panose="020B0604020202020204" pitchFamily="34" charset="0"/>
              </a:rPr>
              <a:t>. So, S and </a:t>
            </a:r>
            <a:r>
              <a:rPr lang="en-US" sz="2800" dirty="0" err="1">
                <a:solidFill>
                  <a:srgbClr val="222222"/>
                </a:solidFill>
                <a:latin typeface="arial" panose="020B0604020202020204" pitchFamily="34" charset="0"/>
              </a:rPr>
              <a:t>S1</a:t>
            </a:r>
            <a:r>
              <a:rPr lang="en-US" sz="2800" dirty="0">
                <a:solidFill>
                  <a:srgbClr val="222222"/>
                </a:solidFill>
                <a:latin typeface="arial" panose="020B0604020202020204" pitchFamily="34" charset="0"/>
              </a:rPr>
              <a:t> are view Equivalent</a:t>
            </a:r>
            <a:r>
              <a:rPr lang="en-US" sz="2800" dirty="0" smtClean="0">
                <a:solidFill>
                  <a:srgbClr val="222222"/>
                </a:solidFill>
                <a:latin typeface="arial" panose="020B0604020202020204" pitchFamily="34" charset="0"/>
              </a:rPr>
              <a:t>.</a:t>
            </a:r>
          </a:p>
          <a:p>
            <a:pPr algn="just">
              <a:spcBef>
                <a:spcPts val="1200"/>
              </a:spcBef>
              <a:buClr>
                <a:schemeClr val="tx1"/>
              </a:buClr>
              <a:buSzPct val="71000"/>
            </a:pPr>
            <a:endParaRPr lang="en-US" sz="2800" dirty="0">
              <a:solidFill>
                <a:srgbClr val="222222"/>
              </a:solidFill>
              <a:latin typeface="arial" panose="020B0604020202020204" pitchFamily="34" charset="0"/>
            </a:endParaRPr>
          </a:p>
          <a:p>
            <a:pPr algn="just">
              <a:spcBef>
                <a:spcPts val="1200"/>
              </a:spcBef>
              <a:buClr>
                <a:schemeClr val="tx1"/>
              </a:buClr>
              <a:buSzPct val="71000"/>
            </a:pPr>
            <a:r>
              <a:rPr lang="en-US" sz="2800" dirty="0">
                <a:solidFill>
                  <a:srgbClr val="222222"/>
                </a:solidFill>
                <a:latin typeface="arial" panose="020B0604020202020204" pitchFamily="34" charset="0"/>
              </a:rPr>
              <a:t>The first schedule </a:t>
            </a:r>
            <a:r>
              <a:rPr lang="en-US" sz="2800" dirty="0" err="1">
                <a:solidFill>
                  <a:srgbClr val="222222"/>
                </a:solidFill>
                <a:latin typeface="arial" panose="020B0604020202020204" pitchFamily="34" charset="0"/>
              </a:rPr>
              <a:t>S1</a:t>
            </a:r>
            <a:r>
              <a:rPr lang="en-US" sz="2800" dirty="0">
                <a:solidFill>
                  <a:srgbClr val="222222"/>
                </a:solidFill>
                <a:latin typeface="arial" panose="020B0604020202020204" pitchFamily="34" charset="0"/>
              </a:rPr>
              <a:t> satisfies all three conditions, so we don't need to check another schedule</a:t>
            </a:r>
            <a:r>
              <a:rPr lang="en-US" sz="2800" dirty="0" smtClean="0">
                <a:solidFill>
                  <a:srgbClr val="222222"/>
                </a:solidFill>
                <a:latin typeface="arial" panose="020B0604020202020204" pitchFamily="34" charset="0"/>
              </a:rPr>
              <a:t>.</a:t>
            </a:r>
            <a:endParaRPr lang="en-US" sz="2800" dirty="0">
              <a:solidFill>
                <a:srgbClr val="222222"/>
              </a:solidFill>
              <a:latin typeface="arial" panose="020B0604020202020204" pitchFamily="34" charset="0"/>
            </a:endParaRPr>
          </a:p>
          <a:p>
            <a:pPr algn="just">
              <a:spcBef>
                <a:spcPts val="1200"/>
              </a:spcBef>
              <a:buClr>
                <a:schemeClr val="tx1"/>
              </a:buClr>
              <a:buSzPct val="71000"/>
            </a:pPr>
            <a:r>
              <a:rPr lang="en-US" sz="2800" dirty="0">
                <a:solidFill>
                  <a:srgbClr val="222222"/>
                </a:solidFill>
                <a:latin typeface="arial" panose="020B0604020202020204" pitchFamily="34" charset="0"/>
              </a:rPr>
              <a:t>Hence, view equivalent serial schedule is</a:t>
            </a:r>
            <a:r>
              <a:rPr lang="en-US" sz="2800" dirty="0" smtClean="0">
                <a:solidFill>
                  <a:srgbClr val="222222"/>
                </a:solidFill>
                <a:latin typeface="arial" panose="020B0604020202020204" pitchFamily="34" charset="0"/>
              </a:rPr>
              <a:t>:</a:t>
            </a:r>
            <a:endParaRPr lang="en-US" sz="2800" dirty="0">
              <a:solidFill>
                <a:srgbClr val="222222"/>
              </a:solidFill>
              <a:latin typeface="arial" panose="020B0604020202020204" pitchFamily="34" charset="0"/>
            </a:endParaRPr>
          </a:p>
          <a:p>
            <a:pPr algn="just">
              <a:spcBef>
                <a:spcPts val="1200"/>
              </a:spcBef>
              <a:buClr>
                <a:schemeClr val="tx1"/>
              </a:buClr>
              <a:buSzPct val="71000"/>
            </a:pPr>
            <a:r>
              <a:rPr lang="en-US" sz="2800" dirty="0" smtClean="0">
                <a:solidFill>
                  <a:srgbClr val="222222"/>
                </a:solidFill>
                <a:latin typeface="arial" panose="020B0604020202020204" pitchFamily="34" charset="0"/>
              </a:rPr>
              <a:t>		</a:t>
            </a:r>
            <a:r>
              <a:rPr lang="en-US" sz="2800" dirty="0" err="1" smtClean="0">
                <a:solidFill>
                  <a:srgbClr val="222222"/>
                </a:solidFill>
                <a:latin typeface="arial" panose="020B0604020202020204" pitchFamily="34" charset="0"/>
              </a:rPr>
              <a:t>T1</a:t>
            </a:r>
            <a:r>
              <a:rPr lang="en-US" sz="2800" dirty="0" smtClean="0">
                <a:solidFill>
                  <a:srgbClr val="222222"/>
                </a:solidFill>
                <a:latin typeface="arial" panose="020B0604020202020204" pitchFamily="34" charset="0"/>
              </a:rPr>
              <a:t>    </a:t>
            </a:r>
            <a:r>
              <a:rPr lang="en-US" sz="2800" dirty="0">
                <a:solidFill>
                  <a:srgbClr val="222222"/>
                </a:solidFill>
                <a:latin typeface="arial" panose="020B0604020202020204" pitchFamily="34" charset="0"/>
              </a:rPr>
              <a:t>→      </a:t>
            </a:r>
            <a:r>
              <a:rPr lang="en-US" sz="2800" dirty="0" err="1">
                <a:solidFill>
                  <a:srgbClr val="222222"/>
                </a:solidFill>
                <a:latin typeface="arial" panose="020B0604020202020204" pitchFamily="34" charset="0"/>
              </a:rPr>
              <a:t>T2</a:t>
            </a:r>
            <a:r>
              <a:rPr lang="en-US" sz="2800" dirty="0">
                <a:solidFill>
                  <a:srgbClr val="222222"/>
                </a:solidFill>
                <a:latin typeface="arial" panose="020B0604020202020204" pitchFamily="34" charset="0"/>
              </a:rPr>
              <a:t>    →    </a:t>
            </a:r>
            <a:r>
              <a:rPr lang="en-US" sz="2800" dirty="0" err="1">
                <a:solidFill>
                  <a:srgbClr val="222222"/>
                </a:solidFill>
                <a:latin typeface="arial" panose="020B0604020202020204" pitchFamily="34" charset="0"/>
              </a:rPr>
              <a:t>T3</a:t>
            </a:r>
            <a:r>
              <a:rPr lang="en-US" sz="2800" dirty="0">
                <a:solidFill>
                  <a:srgbClr val="222222"/>
                </a:solidFill>
                <a:latin typeface="arial" panose="020B0604020202020204" pitchFamily="34" charset="0"/>
              </a:rPr>
              <a:t> </a:t>
            </a:r>
            <a:endParaRPr lang="en-US" sz="2600" dirty="0" smtClean="0">
              <a:solidFill>
                <a:srgbClr val="222222"/>
              </a:solidFill>
              <a:latin typeface="arial" panose="020B0604020202020204" pitchFamily="34" charset="0"/>
            </a:endParaRPr>
          </a:p>
        </p:txBody>
      </p:sp>
    </p:spTree>
    <p:extLst>
      <p:ext uri="{BB962C8B-B14F-4D97-AF65-F5344CB8AC3E}">
        <p14:creationId xmlns:p14="http://schemas.microsoft.com/office/powerpoint/2010/main" val="4253156130"/>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10.5 Concurrency Control</a:t>
            </a:r>
          </a:p>
        </p:txBody>
      </p:sp>
      <p:sp>
        <p:nvSpPr>
          <p:cNvPr id="3" name="Subtitle 2"/>
          <p:cNvSpPr>
            <a:spLocks noGrp="1"/>
          </p:cNvSpPr>
          <p:nvPr>
            <p:ph type="subTitle" idx="1"/>
          </p:nvPr>
        </p:nvSpPr>
        <p:spPr>
          <a:xfrm>
            <a:off x="1281567" y="1139687"/>
            <a:ext cx="8094254" cy="4990657"/>
          </a:xfrm>
        </p:spPr>
        <p:txBody>
          <a:bodyPr>
            <a:normAutofit/>
          </a:bodyPr>
          <a:lstStyle/>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Concurrency Control is the management procedure that is required for controlling concurrent execution of the operations that take place on a database</a:t>
            </a:r>
            <a:r>
              <a:rPr lang="en-US" sz="2800" dirty="0" smtClean="0">
                <a:solidFill>
                  <a:srgbClr val="222222"/>
                </a:solidFill>
                <a:latin typeface="arial" panose="020B0604020202020204" pitchFamily="34" charset="0"/>
              </a:rPr>
              <a:t>.</a:t>
            </a:r>
            <a:endParaRPr lang="en-US" sz="2800" dirty="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But before knowing about concurrency control, we should know about concurrent execution.</a:t>
            </a:r>
            <a:endParaRPr lang="en-US" sz="2800" dirty="0" smtClean="0">
              <a:solidFill>
                <a:srgbClr val="222222"/>
              </a:solidFill>
              <a:latin typeface="arial" panose="020B0604020202020204" pitchFamily="34" charset="0"/>
            </a:endParaRPr>
          </a:p>
        </p:txBody>
      </p:sp>
    </p:spTree>
    <p:extLst>
      <p:ext uri="{BB962C8B-B14F-4D97-AF65-F5344CB8AC3E}">
        <p14:creationId xmlns:p14="http://schemas.microsoft.com/office/powerpoint/2010/main" val="1980617439"/>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10.5.1 Concurrent Execution </a:t>
            </a:r>
          </a:p>
        </p:txBody>
      </p:sp>
      <p:sp>
        <p:nvSpPr>
          <p:cNvPr id="3" name="Subtitle 2"/>
          <p:cNvSpPr>
            <a:spLocks noGrp="1"/>
          </p:cNvSpPr>
          <p:nvPr>
            <p:ph type="subTitle" idx="1"/>
          </p:nvPr>
        </p:nvSpPr>
        <p:spPr>
          <a:xfrm>
            <a:off x="1281567" y="1139687"/>
            <a:ext cx="8094254" cy="4990657"/>
          </a:xfrm>
        </p:spPr>
        <p:txBody>
          <a:bodyPr>
            <a:normAutofit fontScale="92500" lnSpcReduction="20000"/>
          </a:bodyPr>
          <a:lstStyle/>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In a multi-user system, multiple users can access and use the same database at one time, which is known as the concurrent execution of the database. </a:t>
            </a:r>
            <a:endParaRPr lang="en-US" sz="2800" dirty="0" smtClean="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The </a:t>
            </a:r>
            <a:r>
              <a:rPr lang="en-US" sz="2800" dirty="0">
                <a:solidFill>
                  <a:srgbClr val="222222"/>
                </a:solidFill>
                <a:latin typeface="arial" panose="020B0604020202020204" pitchFamily="34" charset="0"/>
              </a:rPr>
              <a:t>thing is that the simultaneous execution that is performed should be done in an interleaved </a:t>
            </a:r>
            <a:r>
              <a:rPr lang="en-US" sz="2800" dirty="0" smtClean="0">
                <a:solidFill>
                  <a:srgbClr val="222222"/>
                </a:solidFill>
                <a:latin typeface="arial" panose="020B0604020202020204" pitchFamily="34" charset="0"/>
              </a:rPr>
              <a:t>manner, </a:t>
            </a: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And </a:t>
            </a:r>
            <a:r>
              <a:rPr lang="en-US" sz="2800" dirty="0">
                <a:solidFill>
                  <a:srgbClr val="222222"/>
                </a:solidFill>
                <a:latin typeface="arial" panose="020B0604020202020204" pitchFamily="34" charset="0"/>
              </a:rPr>
              <a:t>no operation should affect the other executing operations, thus maintaining the consistency of the database. </a:t>
            </a:r>
            <a:endParaRPr lang="en-US" sz="2800" dirty="0" smtClean="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Thus</a:t>
            </a:r>
            <a:r>
              <a:rPr lang="en-US" sz="2800" dirty="0">
                <a:solidFill>
                  <a:srgbClr val="222222"/>
                </a:solidFill>
                <a:latin typeface="arial" panose="020B0604020202020204" pitchFamily="34" charset="0"/>
              </a:rPr>
              <a:t>, on making the concurrent execution of the transaction operations, there occur several challenging problems that need to be solved.</a:t>
            </a:r>
            <a:endParaRPr lang="en-US" sz="2800" dirty="0" smtClean="0">
              <a:solidFill>
                <a:srgbClr val="222222"/>
              </a:solidFill>
              <a:latin typeface="arial" panose="020B0604020202020204" pitchFamily="34" charset="0"/>
            </a:endParaRPr>
          </a:p>
        </p:txBody>
      </p:sp>
    </p:spTree>
    <p:extLst>
      <p:ext uri="{BB962C8B-B14F-4D97-AF65-F5344CB8AC3E}">
        <p14:creationId xmlns:p14="http://schemas.microsoft.com/office/powerpoint/2010/main" val="1914494341"/>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10.5.1 Concurrent Execution </a:t>
            </a:r>
          </a:p>
        </p:txBody>
      </p:sp>
      <p:sp>
        <p:nvSpPr>
          <p:cNvPr id="3" name="Subtitle 2"/>
          <p:cNvSpPr>
            <a:spLocks noGrp="1"/>
          </p:cNvSpPr>
          <p:nvPr>
            <p:ph type="subTitle" idx="1"/>
          </p:nvPr>
        </p:nvSpPr>
        <p:spPr>
          <a:xfrm>
            <a:off x="1281567" y="1139687"/>
            <a:ext cx="8094254" cy="5003536"/>
          </a:xfrm>
        </p:spPr>
        <p:txBody>
          <a:bodyPr>
            <a:normAutofit/>
          </a:bodyPr>
          <a:lstStyle/>
          <a:p>
            <a:pPr algn="just">
              <a:buClr>
                <a:schemeClr val="tx1"/>
              </a:buClr>
              <a:buSzPct val="71000"/>
            </a:pPr>
            <a:r>
              <a:rPr lang="en-US" sz="2800" b="1" dirty="0" smtClean="0">
                <a:solidFill>
                  <a:srgbClr val="222222"/>
                </a:solidFill>
                <a:latin typeface="arial" panose="020B0604020202020204" pitchFamily="34" charset="0"/>
              </a:rPr>
              <a:t>Problems </a:t>
            </a:r>
            <a:r>
              <a:rPr lang="en-US" sz="2800" b="1" dirty="0">
                <a:solidFill>
                  <a:srgbClr val="222222"/>
                </a:solidFill>
                <a:latin typeface="arial" panose="020B0604020202020204" pitchFamily="34" charset="0"/>
              </a:rPr>
              <a:t>with Concurrent </a:t>
            </a:r>
            <a:r>
              <a:rPr lang="en-US" sz="2800" b="1" dirty="0" smtClean="0">
                <a:solidFill>
                  <a:srgbClr val="222222"/>
                </a:solidFill>
                <a:latin typeface="arial" panose="020B0604020202020204" pitchFamily="34" charset="0"/>
              </a:rPr>
              <a:t>Execution</a:t>
            </a:r>
          </a:p>
          <a:p>
            <a:pPr marL="457200" indent="-457200" algn="just">
              <a:buClr>
                <a:schemeClr val="tx1"/>
              </a:buClr>
              <a:buSzPct val="71000"/>
              <a:buFont typeface="Wingdings" panose="05000000000000000000" pitchFamily="2" charset="2"/>
              <a:buChar char="Ø"/>
            </a:pPr>
            <a:r>
              <a:rPr lang="en-US" sz="2800" dirty="0" smtClean="0">
                <a:solidFill>
                  <a:srgbClr val="222222"/>
                </a:solidFill>
                <a:latin typeface="arial" panose="020B0604020202020204" pitchFamily="34" charset="0"/>
              </a:rPr>
              <a:t>Lost </a:t>
            </a:r>
            <a:r>
              <a:rPr lang="en-US" sz="2800" dirty="0">
                <a:solidFill>
                  <a:srgbClr val="222222"/>
                </a:solidFill>
                <a:latin typeface="arial" panose="020B0604020202020204" pitchFamily="34" charset="0"/>
              </a:rPr>
              <a:t>Update Problems (W - W Conflict</a:t>
            </a:r>
            <a:r>
              <a:rPr lang="en-US" sz="2800" dirty="0" smtClean="0">
                <a:solidFill>
                  <a:srgbClr val="222222"/>
                </a:solidFill>
                <a:latin typeface="arial" panose="020B0604020202020204" pitchFamily="34" charset="0"/>
              </a:rPr>
              <a:t>)</a:t>
            </a:r>
          </a:p>
          <a:p>
            <a:pPr marL="457200" indent="-457200" algn="just">
              <a:buClr>
                <a:schemeClr val="tx1"/>
              </a:buClr>
              <a:buSzPct val="71000"/>
              <a:buFont typeface="Wingdings" panose="05000000000000000000" pitchFamily="2" charset="2"/>
              <a:buChar char="Ø"/>
            </a:pPr>
            <a:r>
              <a:rPr lang="en-US" sz="2800" dirty="0">
                <a:solidFill>
                  <a:srgbClr val="222222"/>
                </a:solidFill>
                <a:latin typeface="arial" panose="020B0604020202020204" pitchFamily="34" charset="0"/>
              </a:rPr>
              <a:t>Dirty Read Problems (W-R Conflict</a:t>
            </a:r>
            <a:r>
              <a:rPr lang="en-US" sz="2800" dirty="0" smtClean="0">
                <a:solidFill>
                  <a:srgbClr val="222222"/>
                </a:solidFill>
                <a:latin typeface="arial" panose="020B0604020202020204" pitchFamily="34" charset="0"/>
              </a:rPr>
              <a:t>)</a:t>
            </a:r>
          </a:p>
          <a:p>
            <a:pPr marL="457200" indent="-457200" algn="just">
              <a:buClr>
                <a:schemeClr val="tx1"/>
              </a:buClr>
              <a:buSzPct val="71000"/>
              <a:buFont typeface="Wingdings" panose="05000000000000000000" pitchFamily="2" charset="2"/>
              <a:buChar char="Ø"/>
            </a:pPr>
            <a:r>
              <a:rPr lang="en-US" sz="2800" dirty="0">
                <a:solidFill>
                  <a:srgbClr val="222222"/>
                </a:solidFill>
                <a:latin typeface="arial" panose="020B0604020202020204" pitchFamily="34" charset="0"/>
              </a:rPr>
              <a:t>Unrepeatable Read Problem (W-R Conflict)</a:t>
            </a:r>
            <a:endParaRPr lang="en-US" sz="2800" dirty="0" smtClean="0">
              <a:solidFill>
                <a:srgbClr val="222222"/>
              </a:solidFill>
              <a:latin typeface="arial" panose="020B0604020202020204" pitchFamily="34" charset="0"/>
            </a:endParaRPr>
          </a:p>
        </p:txBody>
      </p:sp>
    </p:spTree>
    <p:extLst>
      <p:ext uri="{BB962C8B-B14F-4D97-AF65-F5344CB8AC3E}">
        <p14:creationId xmlns:p14="http://schemas.microsoft.com/office/powerpoint/2010/main" val="1117980214"/>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10.5.1 Concurrent Execution </a:t>
            </a:r>
          </a:p>
        </p:txBody>
      </p:sp>
      <p:sp>
        <p:nvSpPr>
          <p:cNvPr id="3" name="Subtitle 2"/>
          <p:cNvSpPr>
            <a:spLocks noGrp="1"/>
          </p:cNvSpPr>
          <p:nvPr>
            <p:ph type="subTitle" idx="1"/>
          </p:nvPr>
        </p:nvSpPr>
        <p:spPr>
          <a:xfrm>
            <a:off x="1281567" y="1139687"/>
            <a:ext cx="8094254" cy="5003536"/>
          </a:xfrm>
        </p:spPr>
        <p:txBody>
          <a:bodyPr>
            <a:normAutofit/>
          </a:bodyPr>
          <a:lstStyle/>
          <a:p>
            <a:pPr algn="just">
              <a:buClr>
                <a:schemeClr val="tx1"/>
              </a:buClr>
              <a:buSzPct val="71000"/>
            </a:pPr>
            <a:r>
              <a:rPr lang="en-US" sz="2800" b="1" dirty="0" smtClean="0">
                <a:solidFill>
                  <a:srgbClr val="222222"/>
                </a:solidFill>
                <a:latin typeface="arial" panose="020B0604020202020204" pitchFamily="34" charset="0"/>
              </a:rPr>
              <a:t>Problems </a:t>
            </a:r>
            <a:r>
              <a:rPr lang="en-US" sz="2800" b="1" dirty="0">
                <a:solidFill>
                  <a:srgbClr val="222222"/>
                </a:solidFill>
                <a:latin typeface="arial" panose="020B0604020202020204" pitchFamily="34" charset="0"/>
              </a:rPr>
              <a:t>with Concurrent </a:t>
            </a:r>
            <a:r>
              <a:rPr lang="en-US" sz="2800" b="1" dirty="0" smtClean="0">
                <a:solidFill>
                  <a:srgbClr val="222222"/>
                </a:solidFill>
                <a:latin typeface="arial" panose="020B0604020202020204" pitchFamily="34" charset="0"/>
              </a:rPr>
              <a:t>Execution</a:t>
            </a:r>
          </a:p>
          <a:p>
            <a:pPr algn="just">
              <a:buClr>
                <a:schemeClr val="tx1"/>
              </a:buClr>
              <a:buSzPct val="71000"/>
            </a:pPr>
            <a:r>
              <a:rPr lang="en-US" sz="2800" dirty="0" smtClean="0">
                <a:solidFill>
                  <a:srgbClr val="222222"/>
                </a:solidFill>
                <a:latin typeface="arial" panose="020B0604020202020204" pitchFamily="34" charset="0"/>
              </a:rPr>
              <a:t>1. </a:t>
            </a:r>
            <a:r>
              <a:rPr lang="en-US" sz="2800" dirty="0" smtClean="0">
                <a:solidFill>
                  <a:srgbClr val="FF0000"/>
                </a:solidFill>
                <a:latin typeface="arial" panose="020B0604020202020204" pitchFamily="34" charset="0"/>
              </a:rPr>
              <a:t>Lost </a:t>
            </a:r>
            <a:r>
              <a:rPr lang="en-US" sz="2800" dirty="0">
                <a:solidFill>
                  <a:srgbClr val="FF0000"/>
                </a:solidFill>
                <a:latin typeface="arial" panose="020B0604020202020204" pitchFamily="34" charset="0"/>
              </a:rPr>
              <a:t>Update Problems (W - W Conflict</a:t>
            </a:r>
            <a:r>
              <a:rPr lang="en-US" sz="2800" dirty="0" smtClean="0">
                <a:solidFill>
                  <a:srgbClr val="FF0000"/>
                </a:solidFill>
                <a:latin typeface="arial" panose="020B0604020202020204" pitchFamily="34" charset="0"/>
              </a:rPr>
              <a:t>)</a:t>
            </a:r>
          </a:p>
          <a:p>
            <a:pPr marL="457200" indent="-457200" algn="just">
              <a:buClr>
                <a:schemeClr val="tx1"/>
              </a:buClr>
              <a:buSzPct val="71000"/>
              <a:buFont typeface="Wingdings" panose="05000000000000000000" pitchFamily="2" charset="2"/>
              <a:buChar char="Ø"/>
            </a:pPr>
            <a:r>
              <a:rPr lang="en-US" sz="2800" dirty="0">
                <a:solidFill>
                  <a:srgbClr val="222222"/>
                </a:solidFill>
                <a:latin typeface="arial" panose="020B0604020202020204" pitchFamily="34" charset="0"/>
              </a:rPr>
              <a:t>The problem occurs when two different database transactions perform the read/write operations on the same database items in an interleaved manner (i.e., concurrent execution) that makes the values of the items incorrect hence making the database inconsistent.</a:t>
            </a:r>
            <a:endParaRPr lang="en-US" sz="2800" dirty="0" smtClean="0">
              <a:solidFill>
                <a:srgbClr val="222222"/>
              </a:solidFill>
              <a:latin typeface="arial" panose="020B0604020202020204" pitchFamily="34" charset="0"/>
            </a:endParaRPr>
          </a:p>
        </p:txBody>
      </p:sp>
    </p:spTree>
    <p:extLst>
      <p:ext uri="{BB962C8B-B14F-4D97-AF65-F5344CB8AC3E}">
        <p14:creationId xmlns:p14="http://schemas.microsoft.com/office/powerpoint/2010/main" val="18552800"/>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10.5.1 Concurrent Execution </a:t>
            </a:r>
          </a:p>
        </p:txBody>
      </p:sp>
      <p:sp>
        <p:nvSpPr>
          <p:cNvPr id="3" name="Subtitle 2"/>
          <p:cNvSpPr>
            <a:spLocks noGrp="1"/>
          </p:cNvSpPr>
          <p:nvPr>
            <p:ph type="subTitle" idx="1"/>
          </p:nvPr>
        </p:nvSpPr>
        <p:spPr>
          <a:xfrm>
            <a:off x="1281567" y="1139687"/>
            <a:ext cx="8094254" cy="1835333"/>
          </a:xfrm>
        </p:spPr>
        <p:txBody>
          <a:bodyPr>
            <a:normAutofit fontScale="62500" lnSpcReduction="20000"/>
          </a:bodyPr>
          <a:lstStyle/>
          <a:p>
            <a:pPr algn="just">
              <a:buClr>
                <a:schemeClr val="tx1"/>
              </a:buClr>
              <a:buSzPct val="71000"/>
            </a:pPr>
            <a:r>
              <a:rPr lang="en-US" sz="2800" b="1" dirty="0" smtClean="0">
                <a:solidFill>
                  <a:srgbClr val="222222"/>
                </a:solidFill>
                <a:latin typeface="arial" panose="020B0604020202020204" pitchFamily="34" charset="0"/>
              </a:rPr>
              <a:t>Problems </a:t>
            </a:r>
            <a:r>
              <a:rPr lang="en-US" sz="2800" b="1" dirty="0">
                <a:solidFill>
                  <a:srgbClr val="222222"/>
                </a:solidFill>
                <a:latin typeface="arial" panose="020B0604020202020204" pitchFamily="34" charset="0"/>
              </a:rPr>
              <a:t>with Concurrent </a:t>
            </a:r>
            <a:r>
              <a:rPr lang="en-US" sz="2800" b="1" dirty="0" smtClean="0">
                <a:solidFill>
                  <a:srgbClr val="222222"/>
                </a:solidFill>
                <a:latin typeface="arial" panose="020B0604020202020204" pitchFamily="34" charset="0"/>
              </a:rPr>
              <a:t>Execution</a:t>
            </a:r>
          </a:p>
          <a:p>
            <a:pPr algn="just">
              <a:buClr>
                <a:schemeClr val="tx1"/>
              </a:buClr>
              <a:buSzPct val="71000"/>
            </a:pPr>
            <a:r>
              <a:rPr lang="en-US" sz="2800" dirty="0" smtClean="0">
                <a:solidFill>
                  <a:srgbClr val="222222"/>
                </a:solidFill>
                <a:latin typeface="arial" panose="020B0604020202020204" pitchFamily="34" charset="0"/>
              </a:rPr>
              <a:t>1. </a:t>
            </a:r>
            <a:r>
              <a:rPr lang="en-US" sz="2800" dirty="0" smtClean="0">
                <a:solidFill>
                  <a:srgbClr val="FF0000"/>
                </a:solidFill>
                <a:latin typeface="arial" panose="020B0604020202020204" pitchFamily="34" charset="0"/>
              </a:rPr>
              <a:t>Lost </a:t>
            </a:r>
            <a:r>
              <a:rPr lang="en-US" sz="2800" dirty="0">
                <a:solidFill>
                  <a:srgbClr val="FF0000"/>
                </a:solidFill>
                <a:latin typeface="arial" panose="020B0604020202020204" pitchFamily="34" charset="0"/>
              </a:rPr>
              <a:t>Update Problems (W - W Conflict</a:t>
            </a:r>
            <a:r>
              <a:rPr lang="en-US" sz="2800" dirty="0" smtClean="0">
                <a:solidFill>
                  <a:srgbClr val="FF0000"/>
                </a:solidFill>
                <a:latin typeface="arial" panose="020B0604020202020204" pitchFamily="34" charset="0"/>
              </a:rPr>
              <a:t>)</a:t>
            </a:r>
          </a:p>
          <a:p>
            <a:pPr algn="just">
              <a:buClr>
                <a:schemeClr val="tx1"/>
              </a:buClr>
              <a:buSzPct val="71000"/>
            </a:pPr>
            <a:r>
              <a:rPr lang="en-US" sz="2800" dirty="0">
                <a:solidFill>
                  <a:srgbClr val="222222"/>
                </a:solidFill>
                <a:latin typeface="arial" panose="020B0604020202020204" pitchFamily="34" charset="0"/>
              </a:rPr>
              <a:t>For example</a:t>
            </a:r>
            <a:r>
              <a:rPr lang="en-US" sz="2800" dirty="0" smtClean="0">
                <a:solidFill>
                  <a:srgbClr val="222222"/>
                </a:solidFill>
                <a:latin typeface="arial" panose="020B0604020202020204" pitchFamily="34" charset="0"/>
              </a:rPr>
              <a:t>:</a:t>
            </a:r>
            <a:endParaRPr lang="en-US" sz="2800" dirty="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Ø"/>
            </a:pPr>
            <a:r>
              <a:rPr lang="en-US" sz="2800" dirty="0">
                <a:solidFill>
                  <a:srgbClr val="222222"/>
                </a:solidFill>
                <a:latin typeface="arial" panose="020B0604020202020204" pitchFamily="34" charset="0"/>
              </a:rPr>
              <a:t>Consider the below diagram where two transactions TX and TY, are performed on the same account A where the balance of account A is $300.</a:t>
            </a:r>
            <a:endParaRPr lang="en-US" sz="2800" dirty="0" smtClean="0">
              <a:solidFill>
                <a:srgbClr val="222222"/>
              </a:solidFill>
              <a:latin typeface="arial" panose="020B0604020202020204" pitchFamily="34" charset="0"/>
            </a:endParaRPr>
          </a:p>
        </p:txBody>
      </p:sp>
      <p:pic>
        <p:nvPicPr>
          <p:cNvPr id="6146" name="Picture 2" descr="DBMS Concurrency Contro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88927" y="2803189"/>
            <a:ext cx="5143500" cy="38862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3529525"/>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10.5.1 Concurrent Execution </a:t>
            </a:r>
          </a:p>
        </p:txBody>
      </p:sp>
      <p:sp>
        <p:nvSpPr>
          <p:cNvPr id="3" name="Subtitle 2"/>
          <p:cNvSpPr>
            <a:spLocks noGrp="1"/>
          </p:cNvSpPr>
          <p:nvPr>
            <p:ph type="subTitle" idx="1"/>
          </p:nvPr>
        </p:nvSpPr>
        <p:spPr>
          <a:xfrm>
            <a:off x="1281567" y="1139687"/>
            <a:ext cx="8094254" cy="5003536"/>
          </a:xfrm>
        </p:spPr>
        <p:txBody>
          <a:bodyPr>
            <a:normAutofit fontScale="62500" lnSpcReduction="20000"/>
          </a:bodyPr>
          <a:lstStyle/>
          <a:p>
            <a:pPr algn="just">
              <a:buClr>
                <a:schemeClr val="tx1"/>
              </a:buClr>
              <a:buSzPct val="71000"/>
            </a:pPr>
            <a:r>
              <a:rPr lang="en-US" sz="2800" b="1" dirty="0" smtClean="0">
                <a:solidFill>
                  <a:srgbClr val="222222"/>
                </a:solidFill>
                <a:latin typeface="arial" panose="020B0604020202020204" pitchFamily="34" charset="0"/>
              </a:rPr>
              <a:t>Problems </a:t>
            </a:r>
            <a:r>
              <a:rPr lang="en-US" sz="2800" b="1" dirty="0">
                <a:solidFill>
                  <a:srgbClr val="222222"/>
                </a:solidFill>
                <a:latin typeface="arial" panose="020B0604020202020204" pitchFamily="34" charset="0"/>
              </a:rPr>
              <a:t>with Concurrent </a:t>
            </a:r>
            <a:r>
              <a:rPr lang="en-US" sz="2800" b="1" dirty="0" smtClean="0">
                <a:solidFill>
                  <a:srgbClr val="222222"/>
                </a:solidFill>
                <a:latin typeface="arial" panose="020B0604020202020204" pitchFamily="34" charset="0"/>
              </a:rPr>
              <a:t>Execution</a:t>
            </a:r>
          </a:p>
          <a:p>
            <a:pPr algn="just">
              <a:buClr>
                <a:schemeClr val="tx1"/>
              </a:buClr>
              <a:buSzPct val="71000"/>
            </a:pPr>
            <a:r>
              <a:rPr lang="en-US" sz="2800" dirty="0" smtClean="0">
                <a:solidFill>
                  <a:srgbClr val="222222"/>
                </a:solidFill>
                <a:latin typeface="arial" panose="020B0604020202020204" pitchFamily="34" charset="0"/>
              </a:rPr>
              <a:t>1. </a:t>
            </a:r>
            <a:r>
              <a:rPr lang="en-US" sz="2800" dirty="0" smtClean="0">
                <a:solidFill>
                  <a:srgbClr val="FF0000"/>
                </a:solidFill>
                <a:latin typeface="arial" panose="020B0604020202020204" pitchFamily="34" charset="0"/>
              </a:rPr>
              <a:t>Lost </a:t>
            </a:r>
            <a:r>
              <a:rPr lang="en-US" sz="2800" dirty="0">
                <a:solidFill>
                  <a:srgbClr val="FF0000"/>
                </a:solidFill>
                <a:latin typeface="arial" panose="020B0604020202020204" pitchFamily="34" charset="0"/>
              </a:rPr>
              <a:t>Update Problems (W - W Conflict</a:t>
            </a:r>
            <a:r>
              <a:rPr lang="en-US" sz="2800" dirty="0" smtClean="0">
                <a:solidFill>
                  <a:srgbClr val="FF0000"/>
                </a:solidFill>
                <a:latin typeface="arial" panose="020B0604020202020204" pitchFamily="34" charset="0"/>
              </a:rPr>
              <a:t>)</a:t>
            </a:r>
          </a:p>
          <a:p>
            <a:pPr marL="457200" indent="-457200" algn="just">
              <a:buClr>
                <a:schemeClr val="tx1"/>
              </a:buClr>
              <a:buSzPct val="71000"/>
              <a:buFont typeface="Wingdings" panose="05000000000000000000" pitchFamily="2" charset="2"/>
              <a:buChar char="Ø"/>
            </a:pPr>
            <a:r>
              <a:rPr lang="en-US" sz="2800" dirty="0">
                <a:solidFill>
                  <a:srgbClr val="222222"/>
                </a:solidFill>
                <a:latin typeface="arial" panose="020B0604020202020204" pitchFamily="34" charset="0"/>
              </a:rPr>
              <a:t>At time </a:t>
            </a:r>
            <a:r>
              <a:rPr lang="en-US" sz="2800" dirty="0" err="1">
                <a:solidFill>
                  <a:srgbClr val="222222"/>
                </a:solidFill>
                <a:latin typeface="arial" panose="020B0604020202020204" pitchFamily="34" charset="0"/>
              </a:rPr>
              <a:t>t1</a:t>
            </a:r>
            <a:r>
              <a:rPr lang="en-US" sz="2800" dirty="0">
                <a:solidFill>
                  <a:srgbClr val="222222"/>
                </a:solidFill>
                <a:latin typeface="arial" panose="020B0604020202020204" pitchFamily="34" charset="0"/>
              </a:rPr>
              <a:t>, transaction TX reads the value of account A, i.e., $300 (only read).</a:t>
            </a:r>
          </a:p>
          <a:p>
            <a:pPr marL="457200" indent="-457200" algn="just">
              <a:buClr>
                <a:schemeClr val="tx1"/>
              </a:buClr>
              <a:buSzPct val="71000"/>
              <a:buFont typeface="Wingdings" panose="05000000000000000000" pitchFamily="2" charset="2"/>
              <a:buChar char="Ø"/>
            </a:pPr>
            <a:r>
              <a:rPr lang="en-US" sz="2800" dirty="0">
                <a:solidFill>
                  <a:srgbClr val="222222"/>
                </a:solidFill>
                <a:latin typeface="arial" panose="020B0604020202020204" pitchFamily="34" charset="0"/>
              </a:rPr>
              <a:t>At time </a:t>
            </a:r>
            <a:r>
              <a:rPr lang="en-US" sz="2800" dirty="0" err="1">
                <a:solidFill>
                  <a:srgbClr val="222222"/>
                </a:solidFill>
                <a:latin typeface="arial" panose="020B0604020202020204" pitchFamily="34" charset="0"/>
              </a:rPr>
              <a:t>t2</a:t>
            </a:r>
            <a:r>
              <a:rPr lang="en-US" sz="2800" dirty="0">
                <a:solidFill>
                  <a:srgbClr val="222222"/>
                </a:solidFill>
                <a:latin typeface="arial" panose="020B0604020202020204" pitchFamily="34" charset="0"/>
              </a:rPr>
              <a:t>, transaction TX deducts $50 from account A that becomes $250 (only deducted and not updated/write).</a:t>
            </a:r>
          </a:p>
          <a:p>
            <a:pPr marL="457200" indent="-457200" algn="just">
              <a:buClr>
                <a:schemeClr val="tx1"/>
              </a:buClr>
              <a:buSzPct val="71000"/>
              <a:buFont typeface="Wingdings" panose="05000000000000000000" pitchFamily="2" charset="2"/>
              <a:buChar char="Ø"/>
            </a:pPr>
            <a:r>
              <a:rPr lang="en-US" sz="2800" dirty="0">
                <a:solidFill>
                  <a:srgbClr val="222222"/>
                </a:solidFill>
                <a:latin typeface="arial" panose="020B0604020202020204" pitchFamily="34" charset="0"/>
              </a:rPr>
              <a:t>Alternately, at time </a:t>
            </a:r>
            <a:r>
              <a:rPr lang="en-US" sz="2800" dirty="0" err="1">
                <a:solidFill>
                  <a:srgbClr val="222222"/>
                </a:solidFill>
                <a:latin typeface="arial" panose="020B0604020202020204" pitchFamily="34" charset="0"/>
              </a:rPr>
              <a:t>t3</a:t>
            </a:r>
            <a:r>
              <a:rPr lang="en-US" sz="2800" dirty="0">
                <a:solidFill>
                  <a:srgbClr val="222222"/>
                </a:solidFill>
                <a:latin typeface="arial" panose="020B0604020202020204" pitchFamily="34" charset="0"/>
              </a:rPr>
              <a:t>, transaction TY reads the value of account A that will be $300 only because TX didn't update the value yet.</a:t>
            </a:r>
          </a:p>
          <a:p>
            <a:pPr marL="457200" indent="-457200" algn="just">
              <a:buClr>
                <a:schemeClr val="tx1"/>
              </a:buClr>
              <a:buSzPct val="71000"/>
              <a:buFont typeface="Wingdings" panose="05000000000000000000" pitchFamily="2" charset="2"/>
              <a:buChar char="Ø"/>
            </a:pPr>
            <a:r>
              <a:rPr lang="en-US" sz="2800" dirty="0">
                <a:solidFill>
                  <a:srgbClr val="222222"/>
                </a:solidFill>
                <a:latin typeface="arial" panose="020B0604020202020204" pitchFamily="34" charset="0"/>
              </a:rPr>
              <a:t>At time </a:t>
            </a:r>
            <a:r>
              <a:rPr lang="en-US" sz="2800" dirty="0" err="1">
                <a:solidFill>
                  <a:srgbClr val="222222"/>
                </a:solidFill>
                <a:latin typeface="arial" panose="020B0604020202020204" pitchFamily="34" charset="0"/>
              </a:rPr>
              <a:t>t4</a:t>
            </a:r>
            <a:r>
              <a:rPr lang="en-US" sz="2800" dirty="0">
                <a:solidFill>
                  <a:srgbClr val="222222"/>
                </a:solidFill>
                <a:latin typeface="arial" panose="020B0604020202020204" pitchFamily="34" charset="0"/>
              </a:rPr>
              <a:t>, transaction TY adds $100 to account A that becomes $400 (only added but not updated/write).</a:t>
            </a:r>
          </a:p>
          <a:p>
            <a:pPr marL="457200" indent="-457200" algn="just">
              <a:buClr>
                <a:schemeClr val="tx1"/>
              </a:buClr>
              <a:buSzPct val="71000"/>
              <a:buFont typeface="Wingdings" panose="05000000000000000000" pitchFamily="2" charset="2"/>
              <a:buChar char="Ø"/>
            </a:pPr>
            <a:r>
              <a:rPr lang="en-US" sz="2800" dirty="0">
                <a:solidFill>
                  <a:srgbClr val="222222"/>
                </a:solidFill>
                <a:latin typeface="arial" panose="020B0604020202020204" pitchFamily="34" charset="0"/>
              </a:rPr>
              <a:t>At time </a:t>
            </a:r>
            <a:r>
              <a:rPr lang="en-US" sz="2800" dirty="0" err="1">
                <a:solidFill>
                  <a:srgbClr val="222222"/>
                </a:solidFill>
                <a:latin typeface="arial" panose="020B0604020202020204" pitchFamily="34" charset="0"/>
              </a:rPr>
              <a:t>t6</a:t>
            </a:r>
            <a:r>
              <a:rPr lang="en-US" sz="2800" dirty="0">
                <a:solidFill>
                  <a:srgbClr val="222222"/>
                </a:solidFill>
                <a:latin typeface="arial" panose="020B0604020202020204" pitchFamily="34" charset="0"/>
              </a:rPr>
              <a:t>, transaction TX writes the value of account A that will be updated as $250 only, as TY didn't update the value yet.</a:t>
            </a:r>
          </a:p>
          <a:p>
            <a:pPr marL="457200" indent="-457200" algn="just">
              <a:buClr>
                <a:schemeClr val="tx1"/>
              </a:buClr>
              <a:buSzPct val="71000"/>
              <a:buFont typeface="Wingdings" panose="05000000000000000000" pitchFamily="2" charset="2"/>
              <a:buChar char="Ø"/>
            </a:pPr>
            <a:r>
              <a:rPr lang="en-US" sz="2800" dirty="0">
                <a:solidFill>
                  <a:srgbClr val="222222"/>
                </a:solidFill>
                <a:latin typeface="arial" panose="020B0604020202020204" pitchFamily="34" charset="0"/>
              </a:rPr>
              <a:t>Similarly, at time </a:t>
            </a:r>
            <a:r>
              <a:rPr lang="en-US" sz="2800" dirty="0" err="1">
                <a:solidFill>
                  <a:srgbClr val="222222"/>
                </a:solidFill>
                <a:latin typeface="arial" panose="020B0604020202020204" pitchFamily="34" charset="0"/>
              </a:rPr>
              <a:t>t7</a:t>
            </a:r>
            <a:r>
              <a:rPr lang="en-US" sz="2800" dirty="0">
                <a:solidFill>
                  <a:srgbClr val="222222"/>
                </a:solidFill>
                <a:latin typeface="arial" panose="020B0604020202020204" pitchFamily="34" charset="0"/>
              </a:rPr>
              <a:t>, transaction TY writes the values of account A, so it will write as done at time </a:t>
            </a:r>
            <a:r>
              <a:rPr lang="en-US" sz="2800" dirty="0" err="1">
                <a:solidFill>
                  <a:srgbClr val="222222"/>
                </a:solidFill>
                <a:latin typeface="arial" panose="020B0604020202020204" pitchFamily="34" charset="0"/>
              </a:rPr>
              <a:t>t4</a:t>
            </a:r>
            <a:r>
              <a:rPr lang="en-US" sz="2800" dirty="0">
                <a:solidFill>
                  <a:srgbClr val="222222"/>
                </a:solidFill>
                <a:latin typeface="arial" panose="020B0604020202020204" pitchFamily="34" charset="0"/>
              </a:rPr>
              <a:t> that will be $400. It means the value written by TX is lost, i.e., $250 is lost</a:t>
            </a:r>
            <a:r>
              <a:rPr lang="en-US" sz="2800" dirty="0" smtClean="0">
                <a:solidFill>
                  <a:srgbClr val="222222"/>
                </a:solidFill>
                <a:latin typeface="arial" panose="020B0604020202020204" pitchFamily="34" charset="0"/>
              </a:rPr>
              <a:t>.</a:t>
            </a:r>
          </a:p>
          <a:p>
            <a:pPr algn="just">
              <a:buClr>
                <a:schemeClr val="tx1"/>
              </a:buClr>
              <a:buSzPct val="71000"/>
            </a:pPr>
            <a:endParaRPr lang="en-US" sz="2800" dirty="0">
              <a:solidFill>
                <a:srgbClr val="222222"/>
              </a:solidFill>
              <a:latin typeface="arial" panose="020B0604020202020204" pitchFamily="34" charset="0"/>
            </a:endParaRPr>
          </a:p>
          <a:p>
            <a:pPr algn="just">
              <a:buClr>
                <a:schemeClr val="tx1"/>
              </a:buClr>
              <a:buSzPct val="71000"/>
            </a:pPr>
            <a:r>
              <a:rPr lang="en-US" sz="2800" dirty="0">
                <a:solidFill>
                  <a:srgbClr val="222222"/>
                </a:solidFill>
                <a:latin typeface="arial" panose="020B0604020202020204" pitchFamily="34" charset="0"/>
              </a:rPr>
              <a:t>Hence data becomes incorrect, and database sets to inconsistent.</a:t>
            </a:r>
            <a:endParaRPr lang="en-US" sz="2800" dirty="0" smtClean="0">
              <a:solidFill>
                <a:srgbClr val="222222"/>
              </a:solidFill>
              <a:latin typeface="arial" panose="020B0604020202020204" pitchFamily="34" charset="0"/>
            </a:endParaRPr>
          </a:p>
        </p:txBody>
      </p:sp>
    </p:spTree>
    <p:extLst>
      <p:ext uri="{BB962C8B-B14F-4D97-AF65-F5344CB8AC3E}">
        <p14:creationId xmlns:p14="http://schemas.microsoft.com/office/powerpoint/2010/main" val="4089539002"/>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10.5.1 Concurrent Execution </a:t>
            </a:r>
          </a:p>
        </p:txBody>
      </p:sp>
      <p:sp>
        <p:nvSpPr>
          <p:cNvPr id="3" name="Subtitle 2"/>
          <p:cNvSpPr>
            <a:spLocks noGrp="1"/>
          </p:cNvSpPr>
          <p:nvPr>
            <p:ph type="subTitle" idx="1"/>
          </p:nvPr>
        </p:nvSpPr>
        <p:spPr>
          <a:xfrm>
            <a:off x="1281567" y="1139687"/>
            <a:ext cx="8094254" cy="5003536"/>
          </a:xfrm>
        </p:spPr>
        <p:txBody>
          <a:bodyPr>
            <a:normAutofit/>
          </a:bodyPr>
          <a:lstStyle/>
          <a:p>
            <a:pPr algn="just">
              <a:buClr>
                <a:schemeClr val="tx1"/>
              </a:buClr>
              <a:buSzPct val="71000"/>
            </a:pPr>
            <a:r>
              <a:rPr lang="en-US" sz="2800" b="1" dirty="0" smtClean="0">
                <a:solidFill>
                  <a:srgbClr val="222222"/>
                </a:solidFill>
                <a:latin typeface="arial" panose="020B0604020202020204" pitchFamily="34" charset="0"/>
              </a:rPr>
              <a:t>Problems </a:t>
            </a:r>
            <a:r>
              <a:rPr lang="en-US" sz="2800" b="1" dirty="0">
                <a:solidFill>
                  <a:srgbClr val="222222"/>
                </a:solidFill>
                <a:latin typeface="arial" panose="020B0604020202020204" pitchFamily="34" charset="0"/>
              </a:rPr>
              <a:t>with Concurrent </a:t>
            </a:r>
            <a:r>
              <a:rPr lang="en-US" sz="2800" b="1" dirty="0" smtClean="0">
                <a:solidFill>
                  <a:srgbClr val="222222"/>
                </a:solidFill>
                <a:latin typeface="arial" panose="020B0604020202020204" pitchFamily="34" charset="0"/>
              </a:rPr>
              <a:t>Execution</a:t>
            </a:r>
          </a:p>
          <a:p>
            <a:pPr algn="just">
              <a:buClr>
                <a:schemeClr val="tx1"/>
              </a:buClr>
              <a:buSzPct val="71000"/>
            </a:pPr>
            <a:r>
              <a:rPr lang="en-US" sz="2800" dirty="0">
                <a:solidFill>
                  <a:srgbClr val="222222"/>
                </a:solidFill>
                <a:latin typeface="arial" panose="020B0604020202020204" pitchFamily="34" charset="0"/>
              </a:rPr>
              <a:t>2</a:t>
            </a:r>
            <a:r>
              <a:rPr lang="en-US" sz="2800" dirty="0" smtClean="0">
                <a:solidFill>
                  <a:srgbClr val="222222"/>
                </a:solidFill>
                <a:latin typeface="arial" panose="020B0604020202020204" pitchFamily="34" charset="0"/>
              </a:rPr>
              <a:t>. </a:t>
            </a:r>
            <a:r>
              <a:rPr lang="en-US" sz="2800" dirty="0">
                <a:solidFill>
                  <a:srgbClr val="FF0000"/>
                </a:solidFill>
                <a:latin typeface="arial" panose="020B0604020202020204" pitchFamily="34" charset="0"/>
              </a:rPr>
              <a:t>Dirty Read Problems (W-R Conflict)</a:t>
            </a:r>
          </a:p>
          <a:p>
            <a:pPr marL="457200" indent="-457200" algn="just">
              <a:buClr>
                <a:schemeClr val="tx1"/>
              </a:buClr>
              <a:buSzPct val="71000"/>
              <a:buFont typeface="Wingdings" panose="05000000000000000000" pitchFamily="2" charset="2"/>
              <a:buChar char="Ø"/>
            </a:pPr>
            <a:r>
              <a:rPr lang="en-US" sz="2800" dirty="0">
                <a:solidFill>
                  <a:srgbClr val="222222"/>
                </a:solidFill>
                <a:latin typeface="arial" panose="020B0604020202020204" pitchFamily="34" charset="0"/>
              </a:rPr>
              <a:t>The dirty read problem occurs when one transaction updates an item of the database, and somehow the transaction fails, and before the data gets rollback, the updated database item is accessed by another transaction. There comes the Read-Write Conflict between both transactions.</a:t>
            </a:r>
            <a:endParaRPr lang="en-US" sz="2800" dirty="0" smtClean="0">
              <a:solidFill>
                <a:srgbClr val="222222"/>
              </a:solidFill>
              <a:latin typeface="arial" panose="020B0604020202020204" pitchFamily="34" charset="0"/>
            </a:endParaRPr>
          </a:p>
        </p:txBody>
      </p:sp>
    </p:spTree>
    <p:extLst>
      <p:ext uri="{BB962C8B-B14F-4D97-AF65-F5344CB8AC3E}">
        <p14:creationId xmlns:p14="http://schemas.microsoft.com/office/powerpoint/2010/main" val="3775132581"/>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10.5.1 Concurrent Execution </a:t>
            </a:r>
          </a:p>
        </p:txBody>
      </p:sp>
      <p:sp>
        <p:nvSpPr>
          <p:cNvPr id="3" name="Subtitle 2"/>
          <p:cNvSpPr>
            <a:spLocks noGrp="1"/>
          </p:cNvSpPr>
          <p:nvPr>
            <p:ph type="subTitle" idx="1"/>
          </p:nvPr>
        </p:nvSpPr>
        <p:spPr>
          <a:xfrm>
            <a:off x="1281567" y="1139687"/>
            <a:ext cx="8094254" cy="1835333"/>
          </a:xfrm>
        </p:spPr>
        <p:txBody>
          <a:bodyPr>
            <a:normAutofit fontScale="62500" lnSpcReduction="20000"/>
          </a:bodyPr>
          <a:lstStyle/>
          <a:p>
            <a:pPr algn="just">
              <a:buClr>
                <a:schemeClr val="tx1"/>
              </a:buClr>
              <a:buSzPct val="71000"/>
            </a:pPr>
            <a:r>
              <a:rPr lang="en-US" sz="2800" b="1" dirty="0" smtClean="0">
                <a:solidFill>
                  <a:srgbClr val="222222"/>
                </a:solidFill>
                <a:latin typeface="arial" panose="020B0604020202020204" pitchFamily="34" charset="0"/>
              </a:rPr>
              <a:t>Problems </a:t>
            </a:r>
            <a:r>
              <a:rPr lang="en-US" sz="2800" b="1" dirty="0">
                <a:solidFill>
                  <a:srgbClr val="222222"/>
                </a:solidFill>
                <a:latin typeface="arial" panose="020B0604020202020204" pitchFamily="34" charset="0"/>
              </a:rPr>
              <a:t>with Concurrent </a:t>
            </a:r>
            <a:r>
              <a:rPr lang="en-US" sz="2800" b="1" dirty="0" smtClean="0">
                <a:solidFill>
                  <a:srgbClr val="222222"/>
                </a:solidFill>
                <a:latin typeface="arial" panose="020B0604020202020204" pitchFamily="34" charset="0"/>
              </a:rPr>
              <a:t>Execution</a:t>
            </a:r>
          </a:p>
          <a:p>
            <a:pPr algn="just">
              <a:buClr>
                <a:schemeClr val="tx1"/>
              </a:buClr>
              <a:buSzPct val="71000"/>
            </a:pPr>
            <a:r>
              <a:rPr lang="en-US" sz="2800" dirty="0">
                <a:solidFill>
                  <a:srgbClr val="222222"/>
                </a:solidFill>
                <a:latin typeface="arial" panose="020B0604020202020204" pitchFamily="34" charset="0"/>
              </a:rPr>
              <a:t>2</a:t>
            </a:r>
            <a:r>
              <a:rPr lang="en-US" sz="2800" dirty="0" smtClean="0">
                <a:solidFill>
                  <a:srgbClr val="222222"/>
                </a:solidFill>
                <a:latin typeface="arial" panose="020B0604020202020204" pitchFamily="34" charset="0"/>
              </a:rPr>
              <a:t>. </a:t>
            </a:r>
            <a:r>
              <a:rPr lang="en-US" sz="2800" dirty="0">
                <a:solidFill>
                  <a:srgbClr val="FF0000"/>
                </a:solidFill>
                <a:latin typeface="arial" panose="020B0604020202020204" pitchFamily="34" charset="0"/>
              </a:rPr>
              <a:t>Dirty Read Problems (W-R Conflict)</a:t>
            </a:r>
          </a:p>
          <a:p>
            <a:pPr algn="just">
              <a:buClr>
                <a:schemeClr val="tx1"/>
              </a:buClr>
              <a:buSzPct val="71000"/>
            </a:pPr>
            <a:r>
              <a:rPr lang="en-US" sz="2800" dirty="0" smtClean="0">
                <a:solidFill>
                  <a:srgbClr val="222222"/>
                </a:solidFill>
                <a:latin typeface="arial" panose="020B0604020202020204" pitchFamily="34" charset="0"/>
              </a:rPr>
              <a:t>For </a:t>
            </a:r>
            <a:r>
              <a:rPr lang="en-US" sz="2800" dirty="0">
                <a:solidFill>
                  <a:srgbClr val="222222"/>
                </a:solidFill>
                <a:latin typeface="arial" panose="020B0604020202020204" pitchFamily="34" charset="0"/>
              </a:rPr>
              <a:t>example</a:t>
            </a:r>
            <a:r>
              <a:rPr lang="en-US" sz="2800" dirty="0" smtClean="0">
                <a:solidFill>
                  <a:srgbClr val="222222"/>
                </a:solidFill>
                <a:latin typeface="arial" panose="020B0604020202020204" pitchFamily="34" charset="0"/>
              </a:rPr>
              <a:t>:</a:t>
            </a:r>
            <a:endParaRPr lang="en-US" sz="2800" dirty="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Ø"/>
            </a:pPr>
            <a:r>
              <a:rPr lang="en-US" sz="2800" dirty="0">
                <a:solidFill>
                  <a:srgbClr val="222222"/>
                </a:solidFill>
                <a:latin typeface="arial" panose="020B0604020202020204" pitchFamily="34" charset="0"/>
              </a:rPr>
              <a:t>Consider the below diagram where two transactions TX and TY, are performed on the same account A where the balance of account A is $300.</a:t>
            </a:r>
            <a:endParaRPr lang="en-US" sz="2800" dirty="0" smtClean="0">
              <a:solidFill>
                <a:srgbClr val="222222"/>
              </a:solidFill>
              <a:latin typeface="arial" panose="020B0604020202020204" pitchFamily="34" charset="0"/>
            </a:endParaRPr>
          </a:p>
        </p:txBody>
      </p:sp>
      <p:pic>
        <p:nvPicPr>
          <p:cNvPr id="7170" name="Picture 2" descr="DBMS Concurrency Contro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59383" y="2975020"/>
            <a:ext cx="5143500" cy="34004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8611664"/>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10.5.1 Concurrent Execution </a:t>
            </a:r>
          </a:p>
        </p:txBody>
      </p:sp>
      <p:sp>
        <p:nvSpPr>
          <p:cNvPr id="3" name="Subtitle 2"/>
          <p:cNvSpPr>
            <a:spLocks noGrp="1"/>
          </p:cNvSpPr>
          <p:nvPr>
            <p:ph type="subTitle" idx="1"/>
          </p:nvPr>
        </p:nvSpPr>
        <p:spPr>
          <a:xfrm>
            <a:off x="1281567" y="1139687"/>
            <a:ext cx="8094254" cy="5003536"/>
          </a:xfrm>
        </p:spPr>
        <p:txBody>
          <a:bodyPr>
            <a:normAutofit fontScale="70000" lnSpcReduction="20000"/>
          </a:bodyPr>
          <a:lstStyle/>
          <a:p>
            <a:pPr algn="just">
              <a:buClr>
                <a:schemeClr val="tx1"/>
              </a:buClr>
              <a:buSzPct val="71000"/>
            </a:pPr>
            <a:r>
              <a:rPr lang="en-US" sz="2800" b="1" dirty="0" smtClean="0">
                <a:solidFill>
                  <a:srgbClr val="222222"/>
                </a:solidFill>
                <a:latin typeface="arial" panose="020B0604020202020204" pitchFamily="34" charset="0"/>
              </a:rPr>
              <a:t>Problems </a:t>
            </a:r>
            <a:r>
              <a:rPr lang="en-US" sz="2800" b="1" dirty="0">
                <a:solidFill>
                  <a:srgbClr val="222222"/>
                </a:solidFill>
                <a:latin typeface="arial" panose="020B0604020202020204" pitchFamily="34" charset="0"/>
              </a:rPr>
              <a:t>with Concurrent </a:t>
            </a:r>
            <a:r>
              <a:rPr lang="en-US" sz="2800" b="1" dirty="0" smtClean="0">
                <a:solidFill>
                  <a:srgbClr val="222222"/>
                </a:solidFill>
                <a:latin typeface="arial" panose="020B0604020202020204" pitchFamily="34" charset="0"/>
              </a:rPr>
              <a:t>Execution</a:t>
            </a:r>
          </a:p>
          <a:p>
            <a:pPr algn="just">
              <a:buClr>
                <a:schemeClr val="tx1"/>
              </a:buClr>
              <a:buSzPct val="71000"/>
            </a:pPr>
            <a:r>
              <a:rPr lang="en-US" sz="2800" dirty="0">
                <a:solidFill>
                  <a:srgbClr val="222222"/>
                </a:solidFill>
                <a:latin typeface="arial" panose="020B0604020202020204" pitchFamily="34" charset="0"/>
              </a:rPr>
              <a:t>2</a:t>
            </a:r>
            <a:r>
              <a:rPr lang="en-US" sz="2800" dirty="0" smtClean="0">
                <a:solidFill>
                  <a:srgbClr val="222222"/>
                </a:solidFill>
                <a:latin typeface="arial" panose="020B0604020202020204" pitchFamily="34" charset="0"/>
              </a:rPr>
              <a:t>. </a:t>
            </a:r>
            <a:r>
              <a:rPr lang="en-US" sz="2800" dirty="0">
                <a:solidFill>
                  <a:srgbClr val="FF0000"/>
                </a:solidFill>
                <a:latin typeface="arial" panose="020B0604020202020204" pitchFamily="34" charset="0"/>
              </a:rPr>
              <a:t>Dirty Read Problems (W-R Conflict)</a:t>
            </a:r>
          </a:p>
          <a:p>
            <a:pPr marL="457200" indent="-457200" algn="just">
              <a:buClr>
                <a:schemeClr val="tx1"/>
              </a:buClr>
              <a:buSzPct val="71000"/>
              <a:buFont typeface="Wingdings" panose="05000000000000000000" pitchFamily="2" charset="2"/>
              <a:buChar char="Ø"/>
            </a:pPr>
            <a:r>
              <a:rPr lang="en-US" sz="2800" dirty="0">
                <a:solidFill>
                  <a:srgbClr val="222222"/>
                </a:solidFill>
                <a:latin typeface="arial" panose="020B0604020202020204" pitchFamily="34" charset="0"/>
              </a:rPr>
              <a:t>At time </a:t>
            </a:r>
            <a:r>
              <a:rPr lang="en-US" sz="2800" dirty="0" err="1">
                <a:solidFill>
                  <a:srgbClr val="222222"/>
                </a:solidFill>
                <a:latin typeface="arial" panose="020B0604020202020204" pitchFamily="34" charset="0"/>
              </a:rPr>
              <a:t>t1</a:t>
            </a:r>
            <a:r>
              <a:rPr lang="en-US" sz="2800" dirty="0">
                <a:solidFill>
                  <a:srgbClr val="222222"/>
                </a:solidFill>
                <a:latin typeface="arial" panose="020B0604020202020204" pitchFamily="34" charset="0"/>
              </a:rPr>
              <a:t>, transaction TX reads the value of account A, i.e., $300.</a:t>
            </a:r>
          </a:p>
          <a:p>
            <a:pPr marL="457200" indent="-457200" algn="just">
              <a:buClr>
                <a:schemeClr val="tx1"/>
              </a:buClr>
              <a:buSzPct val="71000"/>
              <a:buFont typeface="Wingdings" panose="05000000000000000000" pitchFamily="2" charset="2"/>
              <a:buChar char="Ø"/>
            </a:pPr>
            <a:r>
              <a:rPr lang="en-US" sz="2800" dirty="0">
                <a:solidFill>
                  <a:srgbClr val="222222"/>
                </a:solidFill>
                <a:latin typeface="arial" panose="020B0604020202020204" pitchFamily="34" charset="0"/>
              </a:rPr>
              <a:t>At time </a:t>
            </a:r>
            <a:r>
              <a:rPr lang="en-US" sz="2800" dirty="0" err="1">
                <a:solidFill>
                  <a:srgbClr val="222222"/>
                </a:solidFill>
                <a:latin typeface="arial" panose="020B0604020202020204" pitchFamily="34" charset="0"/>
              </a:rPr>
              <a:t>t2</a:t>
            </a:r>
            <a:r>
              <a:rPr lang="en-US" sz="2800" dirty="0">
                <a:solidFill>
                  <a:srgbClr val="222222"/>
                </a:solidFill>
                <a:latin typeface="arial" panose="020B0604020202020204" pitchFamily="34" charset="0"/>
              </a:rPr>
              <a:t>, transaction TX adds $50 to account A that becomes $350.</a:t>
            </a:r>
          </a:p>
          <a:p>
            <a:pPr marL="457200" indent="-457200" algn="just">
              <a:buClr>
                <a:schemeClr val="tx1"/>
              </a:buClr>
              <a:buSzPct val="71000"/>
              <a:buFont typeface="Wingdings" panose="05000000000000000000" pitchFamily="2" charset="2"/>
              <a:buChar char="Ø"/>
            </a:pPr>
            <a:r>
              <a:rPr lang="en-US" sz="2800" dirty="0">
                <a:solidFill>
                  <a:srgbClr val="222222"/>
                </a:solidFill>
                <a:latin typeface="arial" panose="020B0604020202020204" pitchFamily="34" charset="0"/>
              </a:rPr>
              <a:t>At time </a:t>
            </a:r>
            <a:r>
              <a:rPr lang="en-US" sz="2800" dirty="0" err="1">
                <a:solidFill>
                  <a:srgbClr val="222222"/>
                </a:solidFill>
                <a:latin typeface="arial" panose="020B0604020202020204" pitchFamily="34" charset="0"/>
              </a:rPr>
              <a:t>t3</a:t>
            </a:r>
            <a:r>
              <a:rPr lang="en-US" sz="2800" dirty="0">
                <a:solidFill>
                  <a:srgbClr val="222222"/>
                </a:solidFill>
                <a:latin typeface="arial" panose="020B0604020202020204" pitchFamily="34" charset="0"/>
              </a:rPr>
              <a:t>, transaction TX writes the updated value in account A, i.e., $350.</a:t>
            </a:r>
          </a:p>
          <a:p>
            <a:pPr marL="457200" indent="-457200" algn="just">
              <a:buClr>
                <a:schemeClr val="tx1"/>
              </a:buClr>
              <a:buSzPct val="71000"/>
              <a:buFont typeface="Wingdings" panose="05000000000000000000" pitchFamily="2" charset="2"/>
              <a:buChar char="Ø"/>
            </a:pPr>
            <a:r>
              <a:rPr lang="en-US" sz="2800" dirty="0">
                <a:solidFill>
                  <a:srgbClr val="222222"/>
                </a:solidFill>
                <a:latin typeface="arial" panose="020B0604020202020204" pitchFamily="34" charset="0"/>
              </a:rPr>
              <a:t>Then at time </a:t>
            </a:r>
            <a:r>
              <a:rPr lang="en-US" sz="2800" dirty="0" err="1">
                <a:solidFill>
                  <a:srgbClr val="222222"/>
                </a:solidFill>
                <a:latin typeface="arial" panose="020B0604020202020204" pitchFamily="34" charset="0"/>
              </a:rPr>
              <a:t>t4</a:t>
            </a:r>
            <a:r>
              <a:rPr lang="en-US" sz="2800" dirty="0">
                <a:solidFill>
                  <a:srgbClr val="222222"/>
                </a:solidFill>
                <a:latin typeface="arial" panose="020B0604020202020204" pitchFamily="34" charset="0"/>
              </a:rPr>
              <a:t>, transaction TY reads account A that will be read as $350.</a:t>
            </a:r>
          </a:p>
          <a:p>
            <a:pPr marL="457200" indent="-457200" algn="just">
              <a:buClr>
                <a:schemeClr val="tx1"/>
              </a:buClr>
              <a:buSzPct val="71000"/>
              <a:buFont typeface="Wingdings" panose="05000000000000000000" pitchFamily="2" charset="2"/>
              <a:buChar char="Ø"/>
            </a:pPr>
            <a:r>
              <a:rPr lang="en-US" sz="2800" dirty="0">
                <a:solidFill>
                  <a:srgbClr val="222222"/>
                </a:solidFill>
                <a:latin typeface="arial" panose="020B0604020202020204" pitchFamily="34" charset="0"/>
              </a:rPr>
              <a:t>Then at time </a:t>
            </a:r>
            <a:r>
              <a:rPr lang="en-US" sz="2800" dirty="0" err="1">
                <a:solidFill>
                  <a:srgbClr val="222222"/>
                </a:solidFill>
                <a:latin typeface="arial" panose="020B0604020202020204" pitchFamily="34" charset="0"/>
              </a:rPr>
              <a:t>t5</a:t>
            </a:r>
            <a:r>
              <a:rPr lang="en-US" sz="2800" dirty="0">
                <a:solidFill>
                  <a:srgbClr val="222222"/>
                </a:solidFill>
                <a:latin typeface="arial" panose="020B0604020202020204" pitchFamily="34" charset="0"/>
              </a:rPr>
              <a:t>, transaction TX rollbacks due to server problem, and the value changes back to $300 (as initially).</a:t>
            </a:r>
          </a:p>
          <a:p>
            <a:pPr marL="457200" indent="-457200" algn="just">
              <a:buClr>
                <a:schemeClr val="tx1"/>
              </a:buClr>
              <a:buSzPct val="71000"/>
              <a:buFont typeface="Wingdings" panose="05000000000000000000" pitchFamily="2" charset="2"/>
              <a:buChar char="Ø"/>
            </a:pPr>
            <a:r>
              <a:rPr lang="en-US" sz="2800" dirty="0">
                <a:solidFill>
                  <a:srgbClr val="222222"/>
                </a:solidFill>
                <a:latin typeface="arial" panose="020B0604020202020204" pitchFamily="34" charset="0"/>
              </a:rPr>
              <a:t>But the value for account A remains $350 for transaction TY as committed, which is the dirty read and therefore known as the Dirty Read Problem</a:t>
            </a:r>
            <a:r>
              <a:rPr lang="en-US" sz="2800" dirty="0" smtClean="0">
                <a:solidFill>
                  <a:srgbClr val="222222"/>
                </a:solidFill>
                <a:latin typeface="arial" panose="020B0604020202020204" pitchFamily="34" charset="0"/>
              </a:rPr>
              <a:t>.</a:t>
            </a:r>
          </a:p>
        </p:txBody>
      </p:sp>
    </p:spTree>
    <p:extLst>
      <p:ext uri="{BB962C8B-B14F-4D97-AF65-F5344CB8AC3E}">
        <p14:creationId xmlns:p14="http://schemas.microsoft.com/office/powerpoint/2010/main" val="870059566"/>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10.5.1 Concurrent Execution </a:t>
            </a:r>
          </a:p>
        </p:txBody>
      </p:sp>
      <p:sp>
        <p:nvSpPr>
          <p:cNvPr id="3" name="Subtitle 2"/>
          <p:cNvSpPr>
            <a:spLocks noGrp="1"/>
          </p:cNvSpPr>
          <p:nvPr>
            <p:ph type="subTitle" idx="1"/>
          </p:nvPr>
        </p:nvSpPr>
        <p:spPr>
          <a:xfrm>
            <a:off x="1281567" y="1139687"/>
            <a:ext cx="8094254" cy="5003536"/>
          </a:xfrm>
        </p:spPr>
        <p:txBody>
          <a:bodyPr>
            <a:normAutofit/>
          </a:bodyPr>
          <a:lstStyle/>
          <a:p>
            <a:pPr algn="just">
              <a:buClr>
                <a:schemeClr val="tx1"/>
              </a:buClr>
              <a:buSzPct val="71000"/>
            </a:pPr>
            <a:r>
              <a:rPr lang="en-US" sz="2800" b="1" dirty="0" smtClean="0">
                <a:solidFill>
                  <a:srgbClr val="222222"/>
                </a:solidFill>
                <a:latin typeface="arial" panose="020B0604020202020204" pitchFamily="34" charset="0"/>
              </a:rPr>
              <a:t>Problems </a:t>
            </a:r>
            <a:r>
              <a:rPr lang="en-US" sz="2800" b="1" dirty="0">
                <a:solidFill>
                  <a:srgbClr val="222222"/>
                </a:solidFill>
                <a:latin typeface="arial" panose="020B0604020202020204" pitchFamily="34" charset="0"/>
              </a:rPr>
              <a:t>with Concurrent </a:t>
            </a:r>
            <a:r>
              <a:rPr lang="en-US" sz="2800" b="1" dirty="0" smtClean="0">
                <a:solidFill>
                  <a:srgbClr val="222222"/>
                </a:solidFill>
                <a:latin typeface="arial" panose="020B0604020202020204" pitchFamily="34" charset="0"/>
              </a:rPr>
              <a:t>Execution</a:t>
            </a:r>
          </a:p>
          <a:p>
            <a:pPr algn="just">
              <a:buClr>
                <a:schemeClr val="tx1"/>
              </a:buClr>
              <a:buSzPct val="71000"/>
            </a:pPr>
            <a:r>
              <a:rPr lang="en-US" sz="2800" dirty="0">
                <a:solidFill>
                  <a:srgbClr val="222222"/>
                </a:solidFill>
                <a:latin typeface="arial" panose="020B0604020202020204" pitchFamily="34" charset="0"/>
              </a:rPr>
              <a:t>3</a:t>
            </a:r>
            <a:r>
              <a:rPr lang="en-US" sz="2800" dirty="0" smtClean="0">
                <a:solidFill>
                  <a:srgbClr val="222222"/>
                </a:solidFill>
                <a:latin typeface="arial" panose="020B0604020202020204" pitchFamily="34" charset="0"/>
              </a:rPr>
              <a:t>. </a:t>
            </a:r>
            <a:r>
              <a:rPr lang="en-US" sz="2800" dirty="0">
                <a:solidFill>
                  <a:srgbClr val="FF0000"/>
                </a:solidFill>
                <a:latin typeface="arial" panose="020B0604020202020204" pitchFamily="34" charset="0"/>
              </a:rPr>
              <a:t>Unrepeatable Read Problem (W-R Conflict)</a:t>
            </a:r>
          </a:p>
          <a:p>
            <a:pPr marL="457200" indent="-457200" algn="just">
              <a:buClr>
                <a:schemeClr val="tx1"/>
              </a:buClr>
              <a:buSzPct val="71000"/>
              <a:buFont typeface="Wingdings" panose="05000000000000000000" pitchFamily="2" charset="2"/>
              <a:buChar char="Ø"/>
            </a:pPr>
            <a:r>
              <a:rPr lang="en-US" sz="2800" dirty="0">
                <a:solidFill>
                  <a:srgbClr val="222222"/>
                </a:solidFill>
                <a:latin typeface="arial" panose="020B0604020202020204" pitchFamily="34" charset="0"/>
              </a:rPr>
              <a:t>Also known as Inconsistent Retrievals Problem that occurs when in a transaction, two different values are read for the same database item.</a:t>
            </a:r>
            <a:endParaRPr lang="en-US" sz="2800" dirty="0" smtClean="0">
              <a:solidFill>
                <a:srgbClr val="222222"/>
              </a:solidFill>
              <a:latin typeface="arial" panose="020B0604020202020204" pitchFamily="34" charset="0"/>
            </a:endParaRPr>
          </a:p>
        </p:txBody>
      </p:sp>
    </p:spTree>
    <p:extLst>
      <p:ext uri="{BB962C8B-B14F-4D97-AF65-F5344CB8AC3E}">
        <p14:creationId xmlns:p14="http://schemas.microsoft.com/office/powerpoint/2010/main" val="3304882443"/>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10.5.1 Concurrent Execution </a:t>
            </a:r>
          </a:p>
        </p:txBody>
      </p:sp>
      <p:sp>
        <p:nvSpPr>
          <p:cNvPr id="3" name="Subtitle 2"/>
          <p:cNvSpPr>
            <a:spLocks noGrp="1"/>
          </p:cNvSpPr>
          <p:nvPr>
            <p:ph type="subTitle" idx="1"/>
          </p:nvPr>
        </p:nvSpPr>
        <p:spPr>
          <a:xfrm>
            <a:off x="1281567" y="1139687"/>
            <a:ext cx="8094254" cy="1835333"/>
          </a:xfrm>
        </p:spPr>
        <p:txBody>
          <a:bodyPr>
            <a:normAutofit fontScale="62500" lnSpcReduction="20000"/>
          </a:bodyPr>
          <a:lstStyle/>
          <a:p>
            <a:pPr algn="just">
              <a:buClr>
                <a:schemeClr val="tx1"/>
              </a:buClr>
              <a:buSzPct val="71000"/>
            </a:pPr>
            <a:r>
              <a:rPr lang="en-US" sz="2800" b="1" dirty="0" smtClean="0">
                <a:solidFill>
                  <a:srgbClr val="222222"/>
                </a:solidFill>
                <a:latin typeface="arial" panose="020B0604020202020204" pitchFamily="34" charset="0"/>
              </a:rPr>
              <a:t>Problems </a:t>
            </a:r>
            <a:r>
              <a:rPr lang="en-US" sz="2800" b="1" dirty="0">
                <a:solidFill>
                  <a:srgbClr val="222222"/>
                </a:solidFill>
                <a:latin typeface="arial" panose="020B0604020202020204" pitchFamily="34" charset="0"/>
              </a:rPr>
              <a:t>with Concurrent </a:t>
            </a:r>
            <a:r>
              <a:rPr lang="en-US" sz="2800" b="1" dirty="0" smtClean="0">
                <a:solidFill>
                  <a:srgbClr val="222222"/>
                </a:solidFill>
                <a:latin typeface="arial" panose="020B0604020202020204" pitchFamily="34" charset="0"/>
              </a:rPr>
              <a:t>Execution</a:t>
            </a:r>
          </a:p>
          <a:p>
            <a:pPr algn="just">
              <a:buClr>
                <a:schemeClr val="tx1"/>
              </a:buClr>
              <a:buSzPct val="71000"/>
            </a:pPr>
            <a:r>
              <a:rPr lang="en-US" sz="2800" dirty="0">
                <a:solidFill>
                  <a:srgbClr val="222222"/>
                </a:solidFill>
                <a:latin typeface="arial" panose="020B0604020202020204" pitchFamily="34" charset="0"/>
              </a:rPr>
              <a:t>3</a:t>
            </a:r>
            <a:r>
              <a:rPr lang="en-US" sz="2800" dirty="0" smtClean="0">
                <a:solidFill>
                  <a:srgbClr val="222222"/>
                </a:solidFill>
                <a:latin typeface="arial" panose="020B0604020202020204" pitchFamily="34" charset="0"/>
              </a:rPr>
              <a:t>. </a:t>
            </a:r>
            <a:r>
              <a:rPr lang="en-US" sz="2800" dirty="0">
                <a:solidFill>
                  <a:srgbClr val="FF0000"/>
                </a:solidFill>
                <a:latin typeface="arial" panose="020B0604020202020204" pitchFamily="34" charset="0"/>
              </a:rPr>
              <a:t>Unrepeatable Read Problem (W-R Conflict)</a:t>
            </a:r>
          </a:p>
          <a:p>
            <a:pPr algn="just">
              <a:buClr>
                <a:schemeClr val="tx1"/>
              </a:buClr>
              <a:buSzPct val="71000"/>
            </a:pPr>
            <a:r>
              <a:rPr lang="en-US" sz="2800" dirty="0" smtClean="0">
                <a:solidFill>
                  <a:srgbClr val="222222"/>
                </a:solidFill>
                <a:latin typeface="arial" panose="020B0604020202020204" pitchFamily="34" charset="0"/>
              </a:rPr>
              <a:t>For </a:t>
            </a:r>
            <a:r>
              <a:rPr lang="en-US" sz="2800" dirty="0">
                <a:solidFill>
                  <a:srgbClr val="222222"/>
                </a:solidFill>
                <a:latin typeface="arial" panose="020B0604020202020204" pitchFamily="34" charset="0"/>
              </a:rPr>
              <a:t>example</a:t>
            </a:r>
            <a:r>
              <a:rPr lang="en-US" sz="2800" dirty="0" smtClean="0">
                <a:solidFill>
                  <a:srgbClr val="222222"/>
                </a:solidFill>
                <a:latin typeface="arial" panose="020B0604020202020204" pitchFamily="34" charset="0"/>
              </a:rPr>
              <a:t>:</a:t>
            </a:r>
            <a:endParaRPr lang="en-US" sz="2800" dirty="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Ø"/>
            </a:pPr>
            <a:r>
              <a:rPr lang="en-US" sz="2800" dirty="0">
                <a:solidFill>
                  <a:srgbClr val="222222"/>
                </a:solidFill>
                <a:latin typeface="arial" panose="020B0604020202020204" pitchFamily="34" charset="0"/>
              </a:rPr>
              <a:t>Consider the below diagram where two transactions TX and TY, are performed on the same account A where the balance of account A is $300.</a:t>
            </a:r>
            <a:endParaRPr lang="en-US" sz="2800" dirty="0" smtClean="0">
              <a:solidFill>
                <a:srgbClr val="222222"/>
              </a:solidFill>
              <a:latin typeface="arial" panose="020B0604020202020204" pitchFamily="34" charset="0"/>
            </a:endParaRPr>
          </a:p>
        </p:txBody>
      </p:sp>
      <p:pic>
        <p:nvPicPr>
          <p:cNvPr id="8194" name="Picture 2" descr="DBMS Concurrency Contro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01806" y="2975020"/>
            <a:ext cx="5143500" cy="32956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0253427"/>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10.5.1 Concurrent Execution </a:t>
            </a:r>
          </a:p>
        </p:txBody>
      </p:sp>
      <p:sp>
        <p:nvSpPr>
          <p:cNvPr id="3" name="Subtitle 2"/>
          <p:cNvSpPr>
            <a:spLocks noGrp="1"/>
          </p:cNvSpPr>
          <p:nvPr>
            <p:ph type="subTitle" idx="1"/>
          </p:nvPr>
        </p:nvSpPr>
        <p:spPr>
          <a:xfrm>
            <a:off x="1281567" y="1139687"/>
            <a:ext cx="8094254" cy="5003536"/>
          </a:xfrm>
        </p:spPr>
        <p:txBody>
          <a:bodyPr>
            <a:normAutofit fontScale="70000" lnSpcReduction="20000"/>
          </a:bodyPr>
          <a:lstStyle/>
          <a:p>
            <a:pPr algn="just">
              <a:buClr>
                <a:schemeClr val="tx1"/>
              </a:buClr>
              <a:buSzPct val="71000"/>
            </a:pPr>
            <a:r>
              <a:rPr lang="en-US" sz="2800" b="1" dirty="0" smtClean="0">
                <a:solidFill>
                  <a:srgbClr val="222222"/>
                </a:solidFill>
                <a:latin typeface="arial" panose="020B0604020202020204" pitchFamily="34" charset="0"/>
              </a:rPr>
              <a:t>Problems </a:t>
            </a:r>
            <a:r>
              <a:rPr lang="en-US" sz="2800" b="1" dirty="0">
                <a:solidFill>
                  <a:srgbClr val="222222"/>
                </a:solidFill>
                <a:latin typeface="arial" panose="020B0604020202020204" pitchFamily="34" charset="0"/>
              </a:rPr>
              <a:t>with Concurrent </a:t>
            </a:r>
            <a:r>
              <a:rPr lang="en-US" sz="2800" b="1" dirty="0" smtClean="0">
                <a:solidFill>
                  <a:srgbClr val="222222"/>
                </a:solidFill>
                <a:latin typeface="arial" panose="020B0604020202020204" pitchFamily="34" charset="0"/>
              </a:rPr>
              <a:t>Execution</a:t>
            </a:r>
          </a:p>
          <a:p>
            <a:pPr algn="just">
              <a:buClr>
                <a:schemeClr val="tx1"/>
              </a:buClr>
              <a:buSzPct val="71000"/>
            </a:pPr>
            <a:r>
              <a:rPr lang="en-US" sz="2800" dirty="0">
                <a:solidFill>
                  <a:srgbClr val="222222"/>
                </a:solidFill>
                <a:latin typeface="arial" panose="020B0604020202020204" pitchFamily="34" charset="0"/>
              </a:rPr>
              <a:t>3</a:t>
            </a:r>
            <a:r>
              <a:rPr lang="en-US" sz="2800" dirty="0" smtClean="0">
                <a:solidFill>
                  <a:srgbClr val="222222"/>
                </a:solidFill>
                <a:latin typeface="arial" panose="020B0604020202020204" pitchFamily="34" charset="0"/>
              </a:rPr>
              <a:t>. </a:t>
            </a:r>
            <a:r>
              <a:rPr lang="en-US" sz="2800" dirty="0">
                <a:solidFill>
                  <a:srgbClr val="FF0000"/>
                </a:solidFill>
                <a:latin typeface="arial" panose="020B0604020202020204" pitchFamily="34" charset="0"/>
              </a:rPr>
              <a:t>Unrepeatable Read Problem (W-R Conflict)</a:t>
            </a:r>
          </a:p>
          <a:p>
            <a:pPr marL="457200" indent="-457200" algn="just">
              <a:buClr>
                <a:schemeClr val="tx1"/>
              </a:buClr>
              <a:buSzPct val="71000"/>
              <a:buFont typeface="Wingdings" panose="05000000000000000000" pitchFamily="2" charset="2"/>
              <a:buChar char="Ø"/>
            </a:pPr>
            <a:r>
              <a:rPr lang="en-US" sz="2800" dirty="0">
                <a:solidFill>
                  <a:srgbClr val="222222"/>
                </a:solidFill>
                <a:latin typeface="arial" panose="020B0604020202020204" pitchFamily="34" charset="0"/>
              </a:rPr>
              <a:t>At time </a:t>
            </a:r>
            <a:r>
              <a:rPr lang="en-US" sz="2800" dirty="0" err="1">
                <a:solidFill>
                  <a:srgbClr val="222222"/>
                </a:solidFill>
                <a:latin typeface="arial" panose="020B0604020202020204" pitchFamily="34" charset="0"/>
              </a:rPr>
              <a:t>t1</a:t>
            </a:r>
            <a:r>
              <a:rPr lang="en-US" sz="2800" dirty="0">
                <a:solidFill>
                  <a:srgbClr val="222222"/>
                </a:solidFill>
                <a:latin typeface="arial" panose="020B0604020202020204" pitchFamily="34" charset="0"/>
              </a:rPr>
              <a:t>, transaction TX reads the value from account A, i.e., $300.</a:t>
            </a:r>
          </a:p>
          <a:p>
            <a:pPr marL="457200" indent="-457200" algn="just">
              <a:buClr>
                <a:schemeClr val="tx1"/>
              </a:buClr>
              <a:buSzPct val="71000"/>
              <a:buFont typeface="Wingdings" panose="05000000000000000000" pitchFamily="2" charset="2"/>
              <a:buChar char="Ø"/>
            </a:pPr>
            <a:r>
              <a:rPr lang="en-US" sz="2800" dirty="0">
                <a:solidFill>
                  <a:srgbClr val="222222"/>
                </a:solidFill>
                <a:latin typeface="arial" panose="020B0604020202020204" pitchFamily="34" charset="0"/>
              </a:rPr>
              <a:t>At time </a:t>
            </a:r>
            <a:r>
              <a:rPr lang="en-US" sz="2800" dirty="0" err="1">
                <a:solidFill>
                  <a:srgbClr val="222222"/>
                </a:solidFill>
                <a:latin typeface="arial" panose="020B0604020202020204" pitchFamily="34" charset="0"/>
              </a:rPr>
              <a:t>t2</a:t>
            </a:r>
            <a:r>
              <a:rPr lang="en-US" sz="2800" dirty="0">
                <a:solidFill>
                  <a:srgbClr val="222222"/>
                </a:solidFill>
                <a:latin typeface="arial" panose="020B0604020202020204" pitchFamily="34" charset="0"/>
              </a:rPr>
              <a:t>, transaction TY reads the value from account A, i.e., $300.</a:t>
            </a:r>
          </a:p>
          <a:p>
            <a:pPr marL="457200" indent="-457200" algn="just">
              <a:buClr>
                <a:schemeClr val="tx1"/>
              </a:buClr>
              <a:buSzPct val="71000"/>
              <a:buFont typeface="Wingdings" panose="05000000000000000000" pitchFamily="2" charset="2"/>
              <a:buChar char="Ø"/>
            </a:pPr>
            <a:r>
              <a:rPr lang="en-US" sz="2800" dirty="0">
                <a:solidFill>
                  <a:srgbClr val="222222"/>
                </a:solidFill>
                <a:latin typeface="arial" panose="020B0604020202020204" pitchFamily="34" charset="0"/>
              </a:rPr>
              <a:t>At time </a:t>
            </a:r>
            <a:r>
              <a:rPr lang="en-US" sz="2800" dirty="0" err="1">
                <a:solidFill>
                  <a:srgbClr val="222222"/>
                </a:solidFill>
                <a:latin typeface="arial" panose="020B0604020202020204" pitchFamily="34" charset="0"/>
              </a:rPr>
              <a:t>t3</a:t>
            </a:r>
            <a:r>
              <a:rPr lang="en-US" sz="2800" dirty="0">
                <a:solidFill>
                  <a:srgbClr val="222222"/>
                </a:solidFill>
                <a:latin typeface="arial" panose="020B0604020202020204" pitchFamily="34" charset="0"/>
              </a:rPr>
              <a:t>, transaction TY updates the value of account A by adding $100 to the available balance, and then it becomes $400.</a:t>
            </a:r>
          </a:p>
          <a:p>
            <a:pPr marL="457200" indent="-457200" algn="just">
              <a:buClr>
                <a:schemeClr val="tx1"/>
              </a:buClr>
              <a:buSzPct val="71000"/>
              <a:buFont typeface="Wingdings" panose="05000000000000000000" pitchFamily="2" charset="2"/>
              <a:buChar char="Ø"/>
            </a:pPr>
            <a:r>
              <a:rPr lang="en-US" sz="2800" dirty="0">
                <a:solidFill>
                  <a:srgbClr val="222222"/>
                </a:solidFill>
                <a:latin typeface="arial" panose="020B0604020202020204" pitchFamily="34" charset="0"/>
              </a:rPr>
              <a:t>At time </a:t>
            </a:r>
            <a:r>
              <a:rPr lang="en-US" sz="2800" dirty="0" err="1">
                <a:solidFill>
                  <a:srgbClr val="222222"/>
                </a:solidFill>
                <a:latin typeface="arial" panose="020B0604020202020204" pitchFamily="34" charset="0"/>
              </a:rPr>
              <a:t>t4</a:t>
            </a:r>
            <a:r>
              <a:rPr lang="en-US" sz="2800" dirty="0">
                <a:solidFill>
                  <a:srgbClr val="222222"/>
                </a:solidFill>
                <a:latin typeface="arial" panose="020B0604020202020204" pitchFamily="34" charset="0"/>
              </a:rPr>
              <a:t>, transaction TY writes the updated value, i.e., $400.</a:t>
            </a:r>
          </a:p>
          <a:p>
            <a:pPr marL="457200" indent="-457200" algn="just">
              <a:buClr>
                <a:schemeClr val="tx1"/>
              </a:buClr>
              <a:buSzPct val="71000"/>
              <a:buFont typeface="Wingdings" panose="05000000000000000000" pitchFamily="2" charset="2"/>
              <a:buChar char="Ø"/>
            </a:pPr>
            <a:r>
              <a:rPr lang="en-US" sz="2800" dirty="0">
                <a:solidFill>
                  <a:srgbClr val="222222"/>
                </a:solidFill>
                <a:latin typeface="arial" panose="020B0604020202020204" pitchFamily="34" charset="0"/>
              </a:rPr>
              <a:t>After that, at time </a:t>
            </a:r>
            <a:r>
              <a:rPr lang="en-US" sz="2800" dirty="0" err="1">
                <a:solidFill>
                  <a:srgbClr val="222222"/>
                </a:solidFill>
                <a:latin typeface="arial" panose="020B0604020202020204" pitchFamily="34" charset="0"/>
              </a:rPr>
              <a:t>t5</a:t>
            </a:r>
            <a:r>
              <a:rPr lang="en-US" sz="2800" dirty="0">
                <a:solidFill>
                  <a:srgbClr val="222222"/>
                </a:solidFill>
                <a:latin typeface="arial" panose="020B0604020202020204" pitchFamily="34" charset="0"/>
              </a:rPr>
              <a:t>, transaction TX reads the available value of account A, and that will be read as $400.</a:t>
            </a:r>
          </a:p>
          <a:p>
            <a:pPr marL="457200" indent="-457200" algn="just">
              <a:buClr>
                <a:schemeClr val="tx1"/>
              </a:buClr>
              <a:buSzPct val="71000"/>
              <a:buFont typeface="Wingdings" panose="05000000000000000000" pitchFamily="2" charset="2"/>
              <a:buChar char="Ø"/>
            </a:pPr>
            <a:r>
              <a:rPr lang="en-US" sz="2800" dirty="0">
                <a:solidFill>
                  <a:srgbClr val="222222"/>
                </a:solidFill>
                <a:latin typeface="arial" panose="020B0604020202020204" pitchFamily="34" charset="0"/>
              </a:rPr>
              <a:t>It means that within the same transaction TX, it reads two different values of account A, i.e., $ 300 initially, and after </a:t>
            </a:r>
            <a:r>
              <a:rPr lang="en-US" sz="2800" dirty="0" err="1">
                <a:solidFill>
                  <a:srgbClr val="222222"/>
                </a:solidFill>
                <a:latin typeface="arial" panose="020B0604020202020204" pitchFamily="34" charset="0"/>
              </a:rPr>
              <a:t>updation</a:t>
            </a:r>
            <a:r>
              <a:rPr lang="en-US" sz="2800" dirty="0">
                <a:solidFill>
                  <a:srgbClr val="222222"/>
                </a:solidFill>
                <a:latin typeface="arial" panose="020B0604020202020204" pitchFamily="34" charset="0"/>
              </a:rPr>
              <a:t> made by transaction TY, it reads $400. It is an unrepeatable read and is therefore known as the Unrepeatable read problem.</a:t>
            </a:r>
            <a:endParaRPr lang="en-US" sz="2800" dirty="0" smtClean="0">
              <a:solidFill>
                <a:srgbClr val="222222"/>
              </a:solidFill>
              <a:latin typeface="arial" panose="020B0604020202020204" pitchFamily="34" charset="0"/>
            </a:endParaRPr>
          </a:p>
        </p:txBody>
      </p:sp>
    </p:spTree>
    <p:extLst>
      <p:ext uri="{BB962C8B-B14F-4D97-AF65-F5344CB8AC3E}">
        <p14:creationId xmlns:p14="http://schemas.microsoft.com/office/powerpoint/2010/main" val="963584663"/>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10.5.1 </a:t>
            </a:r>
            <a:r>
              <a:rPr lang="en-US" sz="2800" dirty="0">
                <a:solidFill>
                  <a:schemeClr val="bg1"/>
                </a:solidFill>
              </a:rPr>
              <a:t>Concurrency </a:t>
            </a:r>
            <a:r>
              <a:rPr lang="en-US" sz="2800" dirty="0" smtClean="0">
                <a:solidFill>
                  <a:schemeClr val="bg1"/>
                </a:solidFill>
              </a:rPr>
              <a:t>Control Protocol</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a:bodyPr>
          <a:lstStyle/>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The concurrency control protocols ensure the atomicity, consistency, isolation, durability and </a:t>
            </a:r>
            <a:r>
              <a:rPr lang="en-US" sz="2800" dirty="0" err="1">
                <a:solidFill>
                  <a:srgbClr val="222222"/>
                </a:solidFill>
                <a:latin typeface="arial" panose="020B0604020202020204" pitchFamily="34" charset="0"/>
              </a:rPr>
              <a:t>serializability</a:t>
            </a:r>
            <a:r>
              <a:rPr lang="en-US" sz="2800" dirty="0">
                <a:solidFill>
                  <a:srgbClr val="222222"/>
                </a:solidFill>
                <a:latin typeface="arial" panose="020B0604020202020204" pitchFamily="34" charset="0"/>
              </a:rPr>
              <a:t> of the concurrent execution of the database transactions. </a:t>
            </a:r>
            <a:endParaRPr lang="en-US" sz="2800" dirty="0" smtClean="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Therefore</a:t>
            </a:r>
            <a:r>
              <a:rPr lang="en-US" sz="2800" dirty="0">
                <a:solidFill>
                  <a:srgbClr val="222222"/>
                </a:solidFill>
                <a:latin typeface="arial" panose="020B0604020202020204" pitchFamily="34" charset="0"/>
              </a:rPr>
              <a:t>, these protocols are categorized as</a:t>
            </a:r>
            <a:r>
              <a:rPr lang="en-US" sz="2800" dirty="0" smtClean="0">
                <a:solidFill>
                  <a:srgbClr val="222222"/>
                </a:solidFill>
                <a:latin typeface="arial" panose="020B0604020202020204" pitchFamily="34" charset="0"/>
              </a:rPr>
              <a:t>:</a:t>
            </a:r>
            <a:endParaRPr lang="en-US" sz="2800" dirty="0">
              <a:solidFill>
                <a:srgbClr val="222222"/>
              </a:solidFill>
              <a:latin typeface="arial" panose="020B0604020202020204" pitchFamily="34" charset="0"/>
            </a:endParaRPr>
          </a:p>
          <a:p>
            <a:pPr marL="914389" lvl="1" indent="-457200" algn="just">
              <a:buClr>
                <a:schemeClr val="tx1"/>
              </a:buClr>
              <a:buSzPct val="71000"/>
              <a:buFont typeface="Wingdings" panose="05000000000000000000" pitchFamily="2" charset="2"/>
              <a:buChar char="Ø"/>
            </a:pPr>
            <a:r>
              <a:rPr lang="en-US" sz="2600" dirty="0">
                <a:solidFill>
                  <a:srgbClr val="222222"/>
                </a:solidFill>
                <a:latin typeface="arial" panose="020B0604020202020204" pitchFamily="34" charset="0"/>
              </a:rPr>
              <a:t>Lock Based Concurrency Control Protocol</a:t>
            </a:r>
          </a:p>
          <a:p>
            <a:pPr marL="914389" lvl="1" indent="-457200" algn="just">
              <a:buClr>
                <a:schemeClr val="tx1"/>
              </a:buClr>
              <a:buSzPct val="71000"/>
              <a:buFont typeface="Wingdings" panose="05000000000000000000" pitchFamily="2" charset="2"/>
              <a:buChar char="Ø"/>
            </a:pPr>
            <a:r>
              <a:rPr lang="en-US" sz="2600" dirty="0">
                <a:solidFill>
                  <a:srgbClr val="222222"/>
                </a:solidFill>
                <a:latin typeface="arial" panose="020B0604020202020204" pitchFamily="34" charset="0"/>
              </a:rPr>
              <a:t>Time Stamp </a:t>
            </a:r>
            <a:r>
              <a:rPr lang="en-US" sz="2600" dirty="0" smtClean="0">
                <a:solidFill>
                  <a:srgbClr val="222222"/>
                </a:solidFill>
                <a:latin typeface="arial" panose="020B0604020202020204" pitchFamily="34" charset="0"/>
              </a:rPr>
              <a:t>based Protocol</a:t>
            </a:r>
            <a:endParaRPr lang="en-US" sz="2600" dirty="0">
              <a:solidFill>
                <a:srgbClr val="222222"/>
              </a:solidFill>
              <a:latin typeface="arial" panose="020B0604020202020204" pitchFamily="34" charset="0"/>
            </a:endParaRPr>
          </a:p>
          <a:p>
            <a:pPr marL="914389" lvl="1" indent="-457200" algn="just">
              <a:buClr>
                <a:schemeClr val="tx1"/>
              </a:buClr>
              <a:buSzPct val="71000"/>
              <a:buFont typeface="Wingdings" panose="05000000000000000000" pitchFamily="2" charset="2"/>
              <a:buChar char="Ø"/>
            </a:pPr>
            <a:r>
              <a:rPr lang="en-US" sz="2600" dirty="0">
                <a:solidFill>
                  <a:srgbClr val="222222"/>
                </a:solidFill>
                <a:latin typeface="arial" panose="020B0604020202020204" pitchFamily="34" charset="0"/>
              </a:rPr>
              <a:t>Multiple </a:t>
            </a:r>
            <a:r>
              <a:rPr lang="en-US" sz="2600" dirty="0" smtClean="0">
                <a:solidFill>
                  <a:srgbClr val="222222"/>
                </a:solidFill>
                <a:latin typeface="arial" panose="020B0604020202020204" pitchFamily="34" charset="0"/>
              </a:rPr>
              <a:t>Granularity Control </a:t>
            </a:r>
            <a:r>
              <a:rPr lang="en-US" sz="2600" dirty="0">
                <a:solidFill>
                  <a:srgbClr val="222222"/>
                </a:solidFill>
                <a:latin typeface="arial" panose="020B0604020202020204" pitchFamily="34" charset="0"/>
              </a:rPr>
              <a:t>Protocol</a:t>
            </a:r>
            <a:endParaRPr lang="en-US" sz="2600" dirty="0" smtClean="0">
              <a:solidFill>
                <a:srgbClr val="222222"/>
              </a:solidFill>
              <a:latin typeface="arial" panose="020B0604020202020204" pitchFamily="34" charset="0"/>
            </a:endParaRPr>
          </a:p>
        </p:txBody>
      </p:sp>
    </p:spTree>
    <p:extLst>
      <p:ext uri="{BB962C8B-B14F-4D97-AF65-F5344CB8AC3E}">
        <p14:creationId xmlns:p14="http://schemas.microsoft.com/office/powerpoint/2010/main" val="1202695578"/>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10.5.1 </a:t>
            </a:r>
            <a:r>
              <a:rPr lang="en-US" sz="2800" dirty="0">
                <a:solidFill>
                  <a:schemeClr val="bg1"/>
                </a:solidFill>
              </a:rPr>
              <a:t>Concurrency </a:t>
            </a:r>
            <a:r>
              <a:rPr lang="en-US" sz="2800" dirty="0" smtClean="0">
                <a:solidFill>
                  <a:schemeClr val="bg1"/>
                </a:solidFill>
              </a:rPr>
              <a:t>Control Protocol</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r>
              <a:rPr lang="en-US" sz="2800" b="1" dirty="0" smtClean="0">
                <a:solidFill>
                  <a:srgbClr val="222222"/>
                </a:solidFill>
                <a:latin typeface="arial" panose="020B0604020202020204" pitchFamily="34" charset="0"/>
              </a:rPr>
              <a:t>1. Lock </a:t>
            </a:r>
            <a:r>
              <a:rPr lang="en-US" sz="2800" b="1" dirty="0">
                <a:solidFill>
                  <a:srgbClr val="222222"/>
                </a:solidFill>
                <a:latin typeface="arial" panose="020B0604020202020204" pitchFamily="34" charset="0"/>
              </a:rPr>
              <a:t>Based Concurrency Control </a:t>
            </a:r>
            <a:r>
              <a:rPr lang="en-US" sz="2800" b="1" dirty="0" smtClean="0">
                <a:solidFill>
                  <a:srgbClr val="222222"/>
                </a:solidFill>
                <a:latin typeface="arial" panose="020B0604020202020204" pitchFamily="34" charset="0"/>
              </a:rPr>
              <a:t>Protocol</a:t>
            </a:r>
          </a:p>
          <a:p>
            <a:pPr algn="just">
              <a:buClr>
                <a:schemeClr val="tx1"/>
              </a:buClr>
              <a:buSzPct val="71000"/>
            </a:pPr>
            <a:r>
              <a:rPr lang="en-US" sz="2600" dirty="0" smtClean="0">
                <a:solidFill>
                  <a:srgbClr val="222222"/>
                </a:solidFill>
                <a:latin typeface="arial" panose="020B0604020202020204" pitchFamily="34" charset="0"/>
              </a:rPr>
              <a:t>In </a:t>
            </a:r>
            <a:r>
              <a:rPr lang="en-US" sz="2600" dirty="0">
                <a:solidFill>
                  <a:srgbClr val="222222"/>
                </a:solidFill>
                <a:latin typeface="arial" panose="020B0604020202020204" pitchFamily="34" charset="0"/>
              </a:rPr>
              <a:t>this type of protocol, any transaction cannot read or write data until it acquires an appropriate lock on it. There are two types of </a:t>
            </a:r>
            <a:r>
              <a:rPr lang="en-US" sz="2600" dirty="0" smtClean="0">
                <a:solidFill>
                  <a:srgbClr val="222222"/>
                </a:solidFill>
                <a:latin typeface="arial" panose="020B0604020202020204" pitchFamily="34" charset="0"/>
              </a:rPr>
              <a:t>lock:</a:t>
            </a:r>
          </a:p>
          <a:p>
            <a:pPr algn="just">
              <a:buClr>
                <a:schemeClr val="tx1"/>
              </a:buClr>
              <a:buSzPct val="71000"/>
            </a:pPr>
            <a:r>
              <a:rPr lang="en-US" sz="2600" dirty="0" smtClean="0">
                <a:solidFill>
                  <a:srgbClr val="222222"/>
                </a:solidFill>
                <a:latin typeface="arial" panose="020B0604020202020204" pitchFamily="34" charset="0"/>
              </a:rPr>
              <a:t>	a. Shared lock:</a:t>
            </a:r>
          </a:p>
          <a:p>
            <a:pPr algn="just">
              <a:buClr>
                <a:schemeClr val="tx1"/>
              </a:buClr>
              <a:buSzPct val="71000"/>
            </a:pPr>
            <a:r>
              <a:rPr lang="en-US" sz="2600" dirty="0" smtClean="0">
                <a:solidFill>
                  <a:srgbClr val="222222"/>
                </a:solidFill>
                <a:latin typeface="arial" panose="020B0604020202020204" pitchFamily="34" charset="0"/>
              </a:rPr>
              <a:t>	b. </a:t>
            </a:r>
            <a:r>
              <a:rPr lang="en-US" sz="2600" dirty="0">
                <a:solidFill>
                  <a:srgbClr val="222222"/>
                </a:solidFill>
                <a:latin typeface="arial" panose="020B0604020202020204" pitchFamily="34" charset="0"/>
              </a:rPr>
              <a:t>Exclusive lock:</a:t>
            </a:r>
            <a:endParaRPr lang="en-US" sz="2600" dirty="0" smtClean="0">
              <a:solidFill>
                <a:srgbClr val="222222"/>
              </a:solidFill>
              <a:latin typeface="arial" panose="020B0604020202020204" pitchFamily="34" charset="0"/>
            </a:endParaRPr>
          </a:p>
        </p:txBody>
      </p:sp>
    </p:spTree>
    <p:extLst>
      <p:ext uri="{BB962C8B-B14F-4D97-AF65-F5344CB8AC3E}">
        <p14:creationId xmlns:p14="http://schemas.microsoft.com/office/powerpoint/2010/main" val="2810902496"/>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10.5.1 </a:t>
            </a:r>
            <a:r>
              <a:rPr lang="en-US" sz="2800" dirty="0">
                <a:solidFill>
                  <a:schemeClr val="bg1"/>
                </a:solidFill>
              </a:rPr>
              <a:t>Concurrency </a:t>
            </a:r>
            <a:r>
              <a:rPr lang="en-US" sz="2800" dirty="0" smtClean="0">
                <a:solidFill>
                  <a:schemeClr val="bg1"/>
                </a:solidFill>
              </a:rPr>
              <a:t>Control Protocol</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r>
              <a:rPr lang="en-US" sz="2800" b="1" dirty="0" smtClean="0">
                <a:solidFill>
                  <a:srgbClr val="222222"/>
                </a:solidFill>
                <a:latin typeface="arial" panose="020B0604020202020204" pitchFamily="34" charset="0"/>
              </a:rPr>
              <a:t>1. Lock </a:t>
            </a:r>
            <a:r>
              <a:rPr lang="en-US" sz="2800" b="1" dirty="0">
                <a:solidFill>
                  <a:srgbClr val="222222"/>
                </a:solidFill>
                <a:latin typeface="arial" panose="020B0604020202020204" pitchFamily="34" charset="0"/>
              </a:rPr>
              <a:t>Based Concurrency Control </a:t>
            </a:r>
            <a:r>
              <a:rPr lang="en-US" sz="2800" b="1" dirty="0" smtClean="0">
                <a:solidFill>
                  <a:srgbClr val="222222"/>
                </a:solidFill>
                <a:latin typeface="arial" panose="020B0604020202020204" pitchFamily="34" charset="0"/>
              </a:rPr>
              <a:t>Protocol</a:t>
            </a:r>
          </a:p>
          <a:p>
            <a:pPr algn="just">
              <a:buClr>
                <a:schemeClr val="tx1"/>
              </a:buClr>
              <a:buSzPct val="71000"/>
            </a:pPr>
            <a:r>
              <a:rPr lang="en-US" sz="2600" dirty="0" smtClean="0">
                <a:solidFill>
                  <a:srgbClr val="FF0000"/>
                </a:solidFill>
                <a:latin typeface="arial" panose="020B0604020202020204" pitchFamily="34" charset="0"/>
              </a:rPr>
              <a:t>a. </a:t>
            </a:r>
            <a:r>
              <a:rPr lang="en-US" sz="2600" dirty="0">
                <a:solidFill>
                  <a:srgbClr val="FF0000"/>
                </a:solidFill>
                <a:latin typeface="arial" panose="020B0604020202020204" pitchFamily="34" charset="0"/>
              </a:rPr>
              <a:t>Shared lock</a:t>
            </a:r>
            <a:r>
              <a:rPr lang="en-US" sz="2600" dirty="0" smtClean="0">
                <a:solidFill>
                  <a:srgbClr val="FF0000"/>
                </a:solidFill>
                <a:latin typeface="arial" panose="020B0604020202020204" pitchFamily="34" charset="0"/>
              </a:rPr>
              <a:t>:</a:t>
            </a:r>
            <a:endParaRPr lang="en-US" sz="2600" dirty="0">
              <a:solidFill>
                <a:srgbClr val="FF0000"/>
              </a:solidFill>
              <a:latin typeface="arial" panose="020B0604020202020204" pitchFamily="34" charset="0"/>
            </a:endParaRPr>
          </a:p>
          <a:p>
            <a:pPr marL="914389" lvl="1" indent="-457200" algn="just">
              <a:buClr>
                <a:schemeClr val="tx1"/>
              </a:buClr>
              <a:buSzPct val="71000"/>
              <a:buFont typeface="Wingdings" panose="05000000000000000000" pitchFamily="2" charset="2"/>
              <a:buChar char="Ø"/>
            </a:pPr>
            <a:r>
              <a:rPr lang="en-US" sz="2600" dirty="0">
                <a:solidFill>
                  <a:srgbClr val="222222"/>
                </a:solidFill>
                <a:latin typeface="arial" panose="020B0604020202020204" pitchFamily="34" charset="0"/>
              </a:rPr>
              <a:t>It is also known as a Read-only lock. In a shared lock, the data item can only read by the transaction.</a:t>
            </a:r>
          </a:p>
          <a:p>
            <a:pPr marL="914389" lvl="1" indent="-457200" algn="just">
              <a:buClr>
                <a:schemeClr val="tx1"/>
              </a:buClr>
              <a:buSzPct val="71000"/>
              <a:buFont typeface="Wingdings" panose="05000000000000000000" pitchFamily="2" charset="2"/>
              <a:buChar char="Ø"/>
            </a:pPr>
            <a:r>
              <a:rPr lang="en-US" sz="2600" dirty="0">
                <a:solidFill>
                  <a:srgbClr val="222222"/>
                </a:solidFill>
                <a:latin typeface="arial" panose="020B0604020202020204" pitchFamily="34" charset="0"/>
              </a:rPr>
              <a:t>It can be shared between the transactions because when the transaction holds a lock, then it can't update the data on the data item</a:t>
            </a:r>
            <a:r>
              <a:rPr lang="en-US" sz="2600" dirty="0" smtClean="0">
                <a:solidFill>
                  <a:srgbClr val="222222"/>
                </a:solidFill>
                <a:latin typeface="arial" panose="020B0604020202020204" pitchFamily="34" charset="0"/>
              </a:rPr>
              <a:t>.</a:t>
            </a:r>
            <a:endParaRPr lang="en-US" sz="2600" dirty="0">
              <a:solidFill>
                <a:srgbClr val="222222"/>
              </a:solidFill>
              <a:latin typeface="arial" panose="020B0604020202020204" pitchFamily="34" charset="0"/>
            </a:endParaRPr>
          </a:p>
        </p:txBody>
      </p:sp>
    </p:spTree>
    <p:extLst>
      <p:ext uri="{BB962C8B-B14F-4D97-AF65-F5344CB8AC3E}">
        <p14:creationId xmlns:p14="http://schemas.microsoft.com/office/powerpoint/2010/main" val="1423339687"/>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10.5.1 </a:t>
            </a:r>
            <a:r>
              <a:rPr lang="en-US" sz="2800" dirty="0">
                <a:solidFill>
                  <a:schemeClr val="bg1"/>
                </a:solidFill>
              </a:rPr>
              <a:t>Concurrency </a:t>
            </a:r>
            <a:r>
              <a:rPr lang="en-US" sz="2800" dirty="0" smtClean="0">
                <a:solidFill>
                  <a:schemeClr val="bg1"/>
                </a:solidFill>
              </a:rPr>
              <a:t>Control Protocol</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r>
              <a:rPr lang="en-US" sz="2800" b="1" dirty="0" smtClean="0">
                <a:solidFill>
                  <a:srgbClr val="222222"/>
                </a:solidFill>
                <a:latin typeface="arial" panose="020B0604020202020204" pitchFamily="34" charset="0"/>
              </a:rPr>
              <a:t>1. Lock </a:t>
            </a:r>
            <a:r>
              <a:rPr lang="en-US" sz="2800" b="1" dirty="0">
                <a:solidFill>
                  <a:srgbClr val="222222"/>
                </a:solidFill>
                <a:latin typeface="arial" panose="020B0604020202020204" pitchFamily="34" charset="0"/>
              </a:rPr>
              <a:t>Based Concurrency Control </a:t>
            </a:r>
            <a:r>
              <a:rPr lang="en-US" sz="2800" b="1" dirty="0" smtClean="0">
                <a:solidFill>
                  <a:srgbClr val="222222"/>
                </a:solidFill>
                <a:latin typeface="arial" panose="020B0604020202020204" pitchFamily="34" charset="0"/>
              </a:rPr>
              <a:t>Protocol</a:t>
            </a:r>
          </a:p>
          <a:p>
            <a:pPr algn="just">
              <a:buClr>
                <a:schemeClr val="tx1"/>
              </a:buClr>
              <a:buSzPct val="71000"/>
            </a:pPr>
            <a:r>
              <a:rPr lang="en-US" sz="2600" dirty="0">
                <a:solidFill>
                  <a:srgbClr val="FF0000"/>
                </a:solidFill>
                <a:latin typeface="arial" panose="020B0604020202020204" pitchFamily="34" charset="0"/>
              </a:rPr>
              <a:t>b</a:t>
            </a:r>
            <a:r>
              <a:rPr lang="en-US" sz="2600" dirty="0" smtClean="0">
                <a:solidFill>
                  <a:srgbClr val="FF0000"/>
                </a:solidFill>
                <a:latin typeface="arial" panose="020B0604020202020204" pitchFamily="34" charset="0"/>
              </a:rPr>
              <a:t>. </a:t>
            </a:r>
            <a:r>
              <a:rPr lang="en-US" sz="2600" dirty="0">
                <a:solidFill>
                  <a:srgbClr val="FF0000"/>
                </a:solidFill>
                <a:latin typeface="arial" panose="020B0604020202020204" pitchFamily="34" charset="0"/>
              </a:rPr>
              <a:t>Exclusive lock</a:t>
            </a:r>
            <a:r>
              <a:rPr lang="en-US" sz="2600" dirty="0" smtClean="0">
                <a:solidFill>
                  <a:srgbClr val="FF0000"/>
                </a:solidFill>
                <a:latin typeface="arial" panose="020B0604020202020204" pitchFamily="34" charset="0"/>
              </a:rPr>
              <a:t>:</a:t>
            </a:r>
            <a:endParaRPr lang="en-US" sz="2600" dirty="0">
              <a:solidFill>
                <a:srgbClr val="FF0000"/>
              </a:solidFill>
              <a:latin typeface="arial" panose="020B0604020202020204" pitchFamily="34" charset="0"/>
            </a:endParaRPr>
          </a:p>
          <a:p>
            <a:pPr marL="914389" lvl="1" indent="-457200" algn="just">
              <a:buClr>
                <a:schemeClr val="tx1"/>
              </a:buClr>
              <a:buSzPct val="71000"/>
              <a:buFont typeface="Wingdings" panose="05000000000000000000" pitchFamily="2" charset="2"/>
              <a:buChar char="Ø"/>
            </a:pPr>
            <a:r>
              <a:rPr lang="en-US" sz="2600" dirty="0">
                <a:solidFill>
                  <a:srgbClr val="222222"/>
                </a:solidFill>
                <a:latin typeface="arial" panose="020B0604020202020204" pitchFamily="34" charset="0"/>
              </a:rPr>
              <a:t>In the exclusive lock, the data item can be both reads as well as written by the transaction.</a:t>
            </a:r>
          </a:p>
          <a:p>
            <a:pPr marL="914389" lvl="1" indent="-457200" algn="just">
              <a:buClr>
                <a:schemeClr val="tx1"/>
              </a:buClr>
              <a:buSzPct val="71000"/>
              <a:buFont typeface="Wingdings" panose="05000000000000000000" pitchFamily="2" charset="2"/>
              <a:buChar char="Ø"/>
            </a:pPr>
            <a:r>
              <a:rPr lang="en-US" sz="2600" dirty="0">
                <a:solidFill>
                  <a:srgbClr val="222222"/>
                </a:solidFill>
                <a:latin typeface="arial" panose="020B0604020202020204" pitchFamily="34" charset="0"/>
              </a:rPr>
              <a:t>This lock is exclusive, and in this lock, multiple transactions do not modify the same data </a:t>
            </a:r>
            <a:r>
              <a:rPr lang="en-US" sz="2600" dirty="0" smtClean="0">
                <a:solidFill>
                  <a:srgbClr val="222222"/>
                </a:solidFill>
                <a:latin typeface="arial" panose="020B0604020202020204" pitchFamily="34" charset="0"/>
              </a:rPr>
              <a:t>simultaneously.</a:t>
            </a:r>
            <a:endParaRPr lang="en-US" sz="2600" dirty="0">
              <a:solidFill>
                <a:srgbClr val="222222"/>
              </a:solidFill>
              <a:latin typeface="arial" panose="020B0604020202020204" pitchFamily="34" charset="0"/>
            </a:endParaRPr>
          </a:p>
        </p:txBody>
      </p:sp>
    </p:spTree>
    <p:extLst>
      <p:ext uri="{BB962C8B-B14F-4D97-AF65-F5344CB8AC3E}">
        <p14:creationId xmlns:p14="http://schemas.microsoft.com/office/powerpoint/2010/main" val="285318345"/>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10.5.1 </a:t>
            </a:r>
            <a:r>
              <a:rPr lang="en-US" sz="2800" dirty="0">
                <a:solidFill>
                  <a:schemeClr val="bg1"/>
                </a:solidFill>
              </a:rPr>
              <a:t>Concurrency </a:t>
            </a:r>
            <a:r>
              <a:rPr lang="en-US" sz="2800" dirty="0" smtClean="0">
                <a:solidFill>
                  <a:schemeClr val="bg1"/>
                </a:solidFill>
              </a:rPr>
              <a:t>Control Protocol</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r>
              <a:rPr lang="en-US" sz="2800" b="1" dirty="0" smtClean="0">
                <a:solidFill>
                  <a:srgbClr val="222222"/>
                </a:solidFill>
                <a:latin typeface="arial" panose="020B0604020202020204" pitchFamily="34" charset="0"/>
              </a:rPr>
              <a:t>1. Lock </a:t>
            </a:r>
            <a:r>
              <a:rPr lang="en-US" sz="2800" b="1" dirty="0">
                <a:solidFill>
                  <a:srgbClr val="222222"/>
                </a:solidFill>
                <a:latin typeface="arial" panose="020B0604020202020204" pitchFamily="34" charset="0"/>
              </a:rPr>
              <a:t>Based Concurrency Control </a:t>
            </a:r>
            <a:r>
              <a:rPr lang="en-US" sz="2800" b="1" dirty="0" smtClean="0">
                <a:solidFill>
                  <a:srgbClr val="222222"/>
                </a:solidFill>
                <a:latin typeface="arial" panose="020B0604020202020204" pitchFamily="34" charset="0"/>
              </a:rPr>
              <a:t>Protocol</a:t>
            </a:r>
          </a:p>
          <a:p>
            <a:pPr algn="just">
              <a:buClr>
                <a:schemeClr val="tx1"/>
              </a:buClr>
              <a:buSzPct val="71000"/>
            </a:pPr>
            <a:r>
              <a:rPr lang="en-US" sz="2600" dirty="0">
                <a:solidFill>
                  <a:srgbClr val="222222"/>
                </a:solidFill>
                <a:latin typeface="arial" panose="020B0604020202020204" pitchFamily="34" charset="0"/>
              </a:rPr>
              <a:t>There are four types of lock protocols available:</a:t>
            </a:r>
          </a:p>
          <a:p>
            <a:pPr algn="just">
              <a:buClr>
                <a:schemeClr val="tx1"/>
              </a:buClr>
              <a:buSzPct val="71000"/>
            </a:pPr>
            <a:r>
              <a:rPr lang="en-US" sz="2600" dirty="0">
                <a:solidFill>
                  <a:srgbClr val="222222"/>
                </a:solidFill>
                <a:latin typeface="arial" panose="020B0604020202020204" pitchFamily="34" charset="0"/>
              </a:rPr>
              <a:t>	a. Simplistic lock protocol:</a:t>
            </a:r>
          </a:p>
          <a:p>
            <a:pPr algn="just">
              <a:buClr>
                <a:schemeClr val="tx1"/>
              </a:buClr>
              <a:buSzPct val="71000"/>
            </a:pPr>
            <a:r>
              <a:rPr lang="en-US" sz="2600" dirty="0">
                <a:solidFill>
                  <a:srgbClr val="222222"/>
                </a:solidFill>
                <a:latin typeface="arial" panose="020B0604020202020204" pitchFamily="34" charset="0"/>
              </a:rPr>
              <a:t>	b. Pre-claiming Lock Protocol</a:t>
            </a:r>
            <a:r>
              <a:rPr lang="en-US" sz="2600" dirty="0" smtClean="0">
                <a:solidFill>
                  <a:srgbClr val="222222"/>
                </a:solidFill>
                <a:latin typeface="arial" panose="020B0604020202020204" pitchFamily="34" charset="0"/>
              </a:rPr>
              <a:t>:</a:t>
            </a:r>
          </a:p>
          <a:p>
            <a:pPr algn="just">
              <a:buClr>
                <a:schemeClr val="tx1"/>
              </a:buClr>
              <a:buSzPct val="71000"/>
            </a:pPr>
            <a:r>
              <a:rPr lang="en-US" sz="2600" dirty="0">
                <a:solidFill>
                  <a:srgbClr val="222222"/>
                </a:solidFill>
                <a:latin typeface="arial" panose="020B0604020202020204" pitchFamily="34" charset="0"/>
              </a:rPr>
              <a:t>	c. Two-phase locking (</a:t>
            </a:r>
            <a:r>
              <a:rPr lang="en-US" sz="2600" dirty="0" err="1">
                <a:solidFill>
                  <a:srgbClr val="222222"/>
                </a:solidFill>
                <a:latin typeface="arial" panose="020B0604020202020204" pitchFamily="34" charset="0"/>
              </a:rPr>
              <a:t>2PL</a:t>
            </a:r>
            <a:r>
              <a:rPr lang="en-US" sz="2600" dirty="0" smtClean="0">
                <a:solidFill>
                  <a:srgbClr val="222222"/>
                </a:solidFill>
                <a:latin typeface="arial" panose="020B0604020202020204" pitchFamily="34" charset="0"/>
              </a:rPr>
              <a:t>):</a:t>
            </a:r>
          </a:p>
          <a:p>
            <a:pPr algn="just">
              <a:buClr>
                <a:schemeClr val="tx1"/>
              </a:buClr>
              <a:buSzPct val="71000"/>
            </a:pPr>
            <a:r>
              <a:rPr lang="en-US" sz="2600" dirty="0">
                <a:solidFill>
                  <a:srgbClr val="222222"/>
                </a:solidFill>
                <a:latin typeface="arial" panose="020B0604020202020204" pitchFamily="34" charset="0"/>
              </a:rPr>
              <a:t>	d. Strict Two-phase locking (Strict-</a:t>
            </a:r>
            <a:r>
              <a:rPr lang="en-US" sz="2600" dirty="0" err="1">
                <a:solidFill>
                  <a:srgbClr val="222222"/>
                </a:solidFill>
                <a:latin typeface="arial" panose="020B0604020202020204" pitchFamily="34" charset="0"/>
              </a:rPr>
              <a:t>2PL</a:t>
            </a:r>
            <a:r>
              <a:rPr lang="en-US" sz="2600" dirty="0" smtClean="0">
                <a:solidFill>
                  <a:srgbClr val="222222"/>
                </a:solidFill>
                <a:latin typeface="arial" panose="020B0604020202020204" pitchFamily="34" charset="0"/>
              </a:rPr>
              <a:t>):</a:t>
            </a:r>
          </a:p>
        </p:txBody>
      </p:sp>
    </p:spTree>
    <p:extLst>
      <p:ext uri="{BB962C8B-B14F-4D97-AF65-F5344CB8AC3E}">
        <p14:creationId xmlns:p14="http://schemas.microsoft.com/office/powerpoint/2010/main" val="3793481097"/>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10.5.1 </a:t>
            </a:r>
            <a:r>
              <a:rPr lang="en-US" sz="2800" dirty="0">
                <a:solidFill>
                  <a:schemeClr val="bg1"/>
                </a:solidFill>
              </a:rPr>
              <a:t>Concurrency </a:t>
            </a:r>
            <a:r>
              <a:rPr lang="en-US" sz="2800" dirty="0" smtClean="0">
                <a:solidFill>
                  <a:schemeClr val="bg1"/>
                </a:solidFill>
              </a:rPr>
              <a:t>Control Protocol</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r>
              <a:rPr lang="en-US" sz="2800" b="1" dirty="0" smtClean="0">
                <a:solidFill>
                  <a:srgbClr val="222222"/>
                </a:solidFill>
                <a:latin typeface="arial" panose="020B0604020202020204" pitchFamily="34" charset="0"/>
              </a:rPr>
              <a:t>1. Lock </a:t>
            </a:r>
            <a:r>
              <a:rPr lang="en-US" sz="2800" b="1" dirty="0">
                <a:solidFill>
                  <a:srgbClr val="222222"/>
                </a:solidFill>
                <a:latin typeface="arial" panose="020B0604020202020204" pitchFamily="34" charset="0"/>
              </a:rPr>
              <a:t>Based Concurrency Control </a:t>
            </a:r>
            <a:r>
              <a:rPr lang="en-US" sz="2800" b="1" dirty="0" smtClean="0">
                <a:solidFill>
                  <a:srgbClr val="222222"/>
                </a:solidFill>
                <a:latin typeface="arial" panose="020B0604020202020204" pitchFamily="34" charset="0"/>
              </a:rPr>
              <a:t>Protocol</a:t>
            </a:r>
          </a:p>
          <a:p>
            <a:pPr algn="just">
              <a:buClr>
                <a:schemeClr val="tx1"/>
              </a:buClr>
              <a:buSzPct val="71000"/>
            </a:pPr>
            <a:r>
              <a:rPr lang="en-US" sz="2600" dirty="0" smtClean="0">
                <a:solidFill>
                  <a:srgbClr val="FF0000"/>
                </a:solidFill>
                <a:latin typeface="arial" panose="020B0604020202020204" pitchFamily="34" charset="0"/>
              </a:rPr>
              <a:t>a. </a:t>
            </a:r>
            <a:r>
              <a:rPr lang="en-US" sz="2600" dirty="0">
                <a:solidFill>
                  <a:srgbClr val="FF0000"/>
                </a:solidFill>
                <a:latin typeface="arial" panose="020B0604020202020204" pitchFamily="34" charset="0"/>
              </a:rPr>
              <a:t>Simplistic lock protocol</a:t>
            </a:r>
            <a:r>
              <a:rPr lang="en-US" sz="2600" dirty="0" smtClean="0">
                <a:solidFill>
                  <a:srgbClr val="FF0000"/>
                </a:solidFill>
                <a:latin typeface="arial" panose="020B0604020202020204" pitchFamily="34" charset="0"/>
              </a:rPr>
              <a:t>:</a:t>
            </a:r>
          </a:p>
          <a:p>
            <a:pPr marL="914389" lvl="1" indent="-457200" algn="just">
              <a:buClr>
                <a:schemeClr val="tx1"/>
              </a:buClr>
              <a:buSzPct val="71000"/>
              <a:buFont typeface="Wingdings" panose="05000000000000000000" pitchFamily="2" charset="2"/>
              <a:buChar char="Ø"/>
            </a:pPr>
            <a:r>
              <a:rPr lang="en-US" sz="2600" dirty="0">
                <a:solidFill>
                  <a:srgbClr val="222222"/>
                </a:solidFill>
                <a:latin typeface="arial" panose="020B0604020202020204" pitchFamily="34" charset="0"/>
              </a:rPr>
              <a:t>It is the simplest way of locking the data while transaction. </a:t>
            </a:r>
            <a:endParaRPr lang="en-US" sz="2600" dirty="0" smtClean="0">
              <a:solidFill>
                <a:srgbClr val="222222"/>
              </a:solidFill>
              <a:latin typeface="arial" panose="020B0604020202020204" pitchFamily="34" charset="0"/>
            </a:endParaRPr>
          </a:p>
          <a:p>
            <a:pPr marL="914389" lvl="1" indent="-457200" algn="just">
              <a:buClr>
                <a:schemeClr val="tx1"/>
              </a:buClr>
              <a:buSzPct val="71000"/>
              <a:buFont typeface="Wingdings" panose="05000000000000000000" pitchFamily="2" charset="2"/>
              <a:buChar char="Ø"/>
            </a:pPr>
            <a:r>
              <a:rPr lang="en-US" sz="2600" dirty="0" smtClean="0">
                <a:solidFill>
                  <a:srgbClr val="222222"/>
                </a:solidFill>
                <a:latin typeface="arial" panose="020B0604020202020204" pitchFamily="34" charset="0"/>
              </a:rPr>
              <a:t>Simplistic </a:t>
            </a:r>
            <a:r>
              <a:rPr lang="en-US" sz="2600" dirty="0">
                <a:solidFill>
                  <a:srgbClr val="222222"/>
                </a:solidFill>
                <a:latin typeface="arial" panose="020B0604020202020204" pitchFamily="34" charset="0"/>
              </a:rPr>
              <a:t>lock-based protocols allow all the transactions to get the lock on the data before insert or delete or update on it. </a:t>
            </a:r>
            <a:endParaRPr lang="en-US" sz="2600" dirty="0" smtClean="0">
              <a:solidFill>
                <a:srgbClr val="222222"/>
              </a:solidFill>
              <a:latin typeface="arial" panose="020B0604020202020204" pitchFamily="34" charset="0"/>
            </a:endParaRPr>
          </a:p>
          <a:p>
            <a:pPr marL="914389" lvl="1" indent="-457200" algn="just">
              <a:buClr>
                <a:schemeClr val="tx1"/>
              </a:buClr>
              <a:buSzPct val="71000"/>
              <a:buFont typeface="Wingdings" panose="05000000000000000000" pitchFamily="2" charset="2"/>
              <a:buChar char="Ø"/>
            </a:pPr>
            <a:r>
              <a:rPr lang="en-US" sz="2600" dirty="0" smtClean="0">
                <a:solidFill>
                  <a:srgbClr val="222222"/>
                </a:solidFill>
                <a:latin typeface="arial" panose="020B0604020202020204" pitchFamily="34" charset="0"/>
              </a:rPr>
              <a:t>It </a:t>
            </a:r>
            <a:r>
              <a:rPr lang="en-US" sz="2600" dirty="0">
                <a:solidFill>
                  <a:srgbClr val="222222"/>
                </a:solidFill>
                <a:latin typeface="arial" panose="020B0604020202020204" pitchFamily="34" charset="0"/>
              </a:rPr>
              <a:t>will unlock the data item after completing the transaction.</a:t>
            </a:r>
          </a:p>
        </p:txBody>
      </p:sp>
    </p:spTree>
    <p:extLst>
      <p:ext uri="{BB962C8B-B14F-4D97-AF65-F5344CB8AC3E}">
        <p14:creationId xmlns:p14="http://schemas.microsoft.com/office/powerpoint/2010/main" val="878407703"/>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10.5.1 </a:t>
            </a:r>
            <a:r>
              <a:rPr lang="en-US" sz="2800" dirty="0">
                <a:solidFill>
                  <a:schemeClr val="bg1"/>
                </a:solidFill>
              </a:rPr>
              <a:t>Concurrency </a:t>
            </a:r>
            <a:r>
              <a:rPr lang="en-US" sz="2800" dirty="0" smtClean="0">
                <a:solidFill>
                  <a:schemeClr val="bg1"/>
                </a:solidFill>
              </a:rPr>
              <a:t>Control Protocol</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lnSpcReduction="10000"/>
          </a:bodyPr>
          <a:lstStyle/>
          <a:p>
            <a:pPr algn="just">
              <a:buClr>
                <a:schemeClr val="tx1"/>
              </a:buClr>
              <a:buSzPct val="71000"/>
            </a:pPr>
            <a:r>
              <a:rPr lang="en-US" sz="2800" b="1" dirty="0" smtClean="0">
                <a:solidFill>
                  <a:srgbClr val="222222"/>
                </a:solidFill>
                <a:latin typeface="arial" panose="020B0604020202020204" pitchFamily="34" charset="0"/>
              </a:rPr>
              <a:t>1. Lock </a:t>
            </a:r>
            <a:r>
              <a:rPr lang="en-US" sz="2800" b="1" dirty="0">
                <a:solidFill>
                  <a:srgbClr val="222222"/>
                </a:solidFill>
                <a:latin typeface="arial" panose="020B0604020202020204" pitchFamily="34" charset="0"/>
              </a:rPr>
              <a:t>Based Concurrency Control </a:t>
            </a:r>
            <a:r>
              <a:rPr lang="en-US" sz="2800" b="1" dirty="0" smtClean="0">
                <a:solidFill>
                  <a:srgbClr val="222222"/>
                </a:solidFill>
                <a:latin typeface="arial" panose="020B0604020202020204" pitchFamily="34" charset="0"/>
              </a:rPr>
              <a:t>Protocol</a:t>
            </a:r>
          </a:p>
          <a:p>
            <a:pPr algn="just">
              <a:buClr>
                <a:schemeClr val="tx1"/>
              </a:buClr>
              <a:buSzPct val="71000"/>
            </a:pPr>
            <a:r>
              <a:rPr lang="en-US" sz="2600" dirty="0">
                <a:solidFill>
                  <a:srgbClr val="FF0000"/>
                </a:solidFill>
                <a:latin typeface="arial" panose="020B0604020202020204" pitchFamily="34" charset="0"/>
              </a:rPr>
              <a:t>b</a:t>
            </a:r>
            <a:r>
              <a:rPr lang="en-US" sz="2600" dirty="0" smtClean="0">
                <a:solidFill>
                  <a:srgbClr val="FF0000"/>
                </a:solidFill>
                <a:latin typeface="arial" panose="020B0604020202020204" pitchFamily="34" charset="0"/>
              </a:rPr>
              <a:t>. </a:t>
            </a:r>
            <a:r>
              <a:rPr lang="en-US" sz="2600" dirty="0">
                <a:solidFill>
                  <a:srgbClr val="FF0000"/>
                </a:solidFill>
                <a:latin typeface="arial" panose="020B0604020202020204" pitchFamily="34" charset="0"/>
              </a:rPr>
              <a:t>Pre-claiming Lock Protocol:</a:t>
            </a:r>
            <a:endParaRPr lang="en-US" sz="2600" dirty="0" smtClean="0">
              <a:solidFill>
                <a:srgbClr val="FF0000"/>
              </a:solidFill>
              <a:latin typeface="arial" panose="020B0604020202020204" pitchFamily="34" charset="0"/>
            </a:endParaRPr>
          </a:p>
          <a:p>
            <a:pPr marL="914389" lvl="1" indent="-457200" algn="just">
              <a:buClr>
                <a:schemeClr val="tx1"/>
              </a:buClr>
              <a:buSzPct val="71000"/>
              <a:buFont typeface="Wingdings" panose="05000000000000000000" pitchFamily="2" charset="2"/>
              <a:buChar char="Ø"/>
            </a:pPr>
            <a:r>
              <a:rPr lang="en-US" sz="2600" dirty="0">
                <a:solidFill>
                  <a:srgbClr val="222222"/>
                </a:solidFill>
                <a:latin typeface="arial" panose="020B0604020202020204" pitchFamily="34" charset="0"/>
              </a:rPr>
              <a:t>Pre-claiming Lock Protocols evaluate the transaction to list all the data items on which they need locks.</a:t>
            </a:r>
          </a:p>
          <a:p>
            <a:pPr marL="914389" lvl="1" indent="-457200" algn="just">
              <a:buClr>
                <a:schemeClr val="tx1"/>
              </a:buClr>
              <a:buSzPct val="71000"/>
              <a:buFont typeface="Wingdings" panose="05000000000000000000" pitchFamily="2" charset="2"/>
              <a:buChar char="Ø"/>
            </a:pPr>
            <a:r>
              <a:rPr lang="en-US" sz="2600" dirty="0">
                <a:solidFill>
                  <a:srgbClr val="222222"/>
                </a:solidFill>
                <a:latin typeface="arial" panose="020B0604020202020204" pitchFamily="34" charset="0"/>
              </a:rPr>
              <a:t>Before initiating an execution of the transaction, it requests DBMS for all the lock on all those data items.</a:t>
            </a:r>
          </a:p>
          <a:p>
            <a:pPr marL="914389" lvl="1" indent="-457200" algn="just">
              <a:buClr>
                <a:schemeClr val="tx1"/>
              </a:buClr>
              <a:buSzPct val="71000"/>
              <a:buFont typeface="Wingdings" panose="05000000000000000000" pitchFamily="2" charset="2"/>
              <a:buChar char="Ø"/>
            </a:pPr>
            <a:r>
              <a:rPr lang="en-US" sz="2600" dirty="0">
                <a:solidFill>
                  <a:srgbClr val="222222"/>
                </a:solidFill>
                <a:latin typeface="arial" panose="020B0604020202020204" pitchFamily="34" charset="0"/>
              </a:rPr>
              <a:t>If all the locks are granted then this protocol allows the transaction to begin. When the transaction is completed then it releases all the lock</a:t>
            </a:r>
            <a:r>
              <a:rPr lang="en-US" sz="2600" dirty="0" smtClean="0">
                <a:solidFill>
                  <a:srgbClr val="222222"/>
                </a:solidFill>
                <a:latin typeface="arial" panose="020B0604020202020204" pitchFamily="34" charset="0"/>
              </a:rPr>
              <a:t>.</a:t>
            </a:r>
            <a:endParaRPr lang="en-US" sz="2600" dirty="0">
              <a:solidFill>
                <a:srgbClr val="222222"/>
              </a:solidFill>
              <a:latin typeface="arial" panose="020B0604020202020204" pitchFamily="34" charset="0"/>
            </a:endParaRPr>
          </a:p>
        </p:txBody>
      </p:sp>
    </p:spTree>
    <p:extLst>
      <p:ext uri="{BB962C8B-B14F-4D97-AF65-F5344CB8AC3E}">
        <p14:creationId xmlns:p14="http://schemas.microsoft.com/office/powerpoint/2010/main" val="1149610717"/>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10.5.1 </a:t>
            </a:r>
            <a:r>
              <a:rPr lang="en-US" sz="2800" dirty="0">
                <a:solidFill>
                  <a:schemeClr val="bg1"/>
                </a:solidFill>
              </a:rPr>
              <a:t>Concurrency </a:t>
            </a:r>
            <a:r>
              <a:rPr lang="en-US" sz="2800" dirty="0" smtClean="0">
                <a:solidFill>
                  <a:schemeClr val="bg1"/>
                </a:solidFill>
              </a:rPr>
              <a:t>Control Protocol</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r>
              <a:rPr lang="en-US" sz="2800" b="1" dirty="0" smtClean="0">
                <a:solidFill>
                  <a:srgbClr val="222222"/>
                </a:solidFill>
                <a:latin typeface="arial" panose="020B0604020202020204" pitchFamily="34" charset="0"/>
              </a:rPr>
              <a:t>1. Lock </a:t>
            </a:r>
            <a:r>
              <a:rPr lang="en-US" sz="2800" b="1" dirty="0">
                <a:solidFill>
                  <a:srgbClr val="222222"/>
                </a:solidFill>
                <a:latin typeface="arial" panose="020B0604020202020204" pitchFamily="34" charset="0"/>
              </a:rPr>
              <a:t>Based Concurrency Control </a:t>
            </a:r>
            <a:r>
              <a:rPr lang="en-US" sz="2800" b="1" dirty="0" smtClean="0">
                <a:solidFill>
                  <a:srgbClr val="222222"/>
                </a:solidFill>
                <a:latin typeface="arial" panose="020B0604020202020204" pitchFamily="34" charset="0"/>
              </a:rPr>
              <a:t>Protocol</a:t>
            </a:r>
          </a:p>
          <a:p>
            <a:pPr algn="just">
              <a:buClr>
                <a:schemeClr val="tx1"/>
              </a:buClr>
              <a:buSzPct val="71000"/>
            </a:pPr>
            <a:r>
              <a:rPr lang="en-US" sz="2600" dirty="0">
                <a:solidFill>
                  <a:srgbClr val="FF0000"/>
                </a:solidFill>
                <a:latin typeface="arial" panose="020B0604020202020204" pitchFamily="34" charset="0"/>
              </a:rPr>
              <a:t>b</a:t>
            </a:r>
            <a:r>
              <a:rPr lang="en-US" sz="2600" dirty="0" smtClean="0">
                <a:solidFill>
                  <a:srgbClr val="FF0000"/>
                </a:solidFill>
                <a:latin typeface="arial" panose="020B0604020202020204" pitchFamily="34" charset="0"/>
              </a:rPr>
              <a:t>. </a:t>
            </a:r>
            <a:r>
              <a:rPr lang="en-US" sz="2600" dirty="0">
                <a:solidFill>
                  <a:srgbClr val="FF0000"/>
                </a:solidFill>
                <a:latin typeface="arial" panose="020B0604020202020204" pitchFamily="34" charset="0"/>
              </a:rPr>
              <a:t>Pre-claiming Lock Protocol:</a:t>
            </a:r>
            <a:endParaRPr lang="en-US" sz="2600" dirty="0" smtClean="0">
              <a:solidFill>
                <a:srgbClr val="FF0000"/>
              </a:solidFill>
              <a:latin typeface="arial" panose="020B0604020202020204" pitchFamily="34" charset="0"/>
            </a:endParaRPr>
          </a:p>
          <a:p>
            <a:pPr marL="914389" lvl="1" indent="-457200" algn="just">
              <a:buClr>
                <a:schemeClr val="tx1"/>
              </a:buClr>
              <a:buSzPct val="71000"/>
              <a:buFont typeface="Wingdings" panose="05000000000000000000" pitchFamily="2" charset="2"/>
              <a:buChar char="Ø"/>
            </a:pPr>
            <a:r>
              <a:rPr lang="en-US" sz="2600" dirty="0" smtClean="0">
                <a:solidFill>
                  <a:srgbClr val="222222"/>
                </a:solidFill>
                <a:latin typeface="arial" panose="020B0604020202020204" pitchFamily="34" charset="0"/>
              </a:rPr>
              <a:t>If </a:t>
            </a:r>
            <a:r>
              <a:rPr lang="en-US" sz="2600" dirty="0">
                <a:solidFill>
                  <a:srgbClr val="222222"/>
                </a:solidFill>
                <a:latin typeface="arial" panose="020B0604020202020204" pitchFamily="34" charset="0"/>
              </a:rPr>
              <a:t>all the locks are not granted then this protocol allows the transaction to rolls back and waits until all the locks are granted.</a:t>
            </a:r>
          </a:p>
        </p:txBody>
      </p:sp>
      <p:pic>
        <p:nvPicPr>
          <p:cNvPr id="2050" name="Picture 2" descr="DBMS Lock-Based Protoco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60893" y="3635015"/>
            <a:ext cx="5972175" cy="2286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3268953"/>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10.5.1 </a:t>
            </a:r>
            <a:r>
              <a:rPr lang="en-US" sz="2800" dirty="0">
                <a:solidFill>
                  <a:schemeClr val="bg1"/>
                </a:solidFill>
              </a:rPr>
              <a:t>Concurrency </a:t>
            </a:r>
            <a:r>
              <a:rPr lang="en-US" sz="2800" dirty="0" smtClean="0">
                <a:solidFill>
                  <a:schemeClr val="bg1"/>
                </a:solidFill>
              </a:rPr>
              <a:t>Control Protocol</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fontScale="92500" lnSpcReduction="10000"/>
          </a:bodyPr>
          <a:lstStyle/>
          <a:p>
            <a:pPr algn="just">
              <a:buClr>
                <a:schemeClr val="tx1"/>
              </a:buClr>
              <a:buSzPct val="71000"/>
            </a:pPr>
            <a:r>
              <a:rPr lang="en-US" sz="2800" b="1" dirty="0" smtClean="0">
                <a:solidFill>
                  <a:srgbClr val="222222"/>
                </a:solidFill>
                <a:latin typeface="arial" panose="020B0604020202020204" pitchFamily="34" charset="0"/>
              </a:rPr>
              <a:t>1. Lock </a:t>
            </a:r>
            <a:r>
              <a:rPr lang="en-US" sz="2800" b="1" dirty="0">
                <a:solidFill>
                  <a:srgbClr val="222222"/>
                </a:solidFill>
                <a:latin typeface="arial" panose="020B0604020202020204" pitchFamily="34" charset="0"/>
              </a:rPr>
              <a:t>Based Concurrency Control </a:t>
            </a:r>
            <a:r>
              <a:rPr lang="en-US" sz="2800" b="1" dirty="0" smtClean="0">
                <a:solidFill>
                  <a:srgbClr val="222222"/>
                </a:solidFill>
                <a:latin typeface="arial" panose="020B0604020202020204" pitchFamily="34" charset="0"/>
              </a:rPr>
              <a:t>Protocol</a:t>
            </a:r>
          </a:p>
          <a:p>
            <a:pPr algn="just">
              <a:buClr>
                <a:schemeClr val="tx1"/>
              </a:buClr>
              <a:buSzPct val="71000"/>
            </a:pPr>
            <a:r>
              <a:rPr lang="en-US" sz="2600" dirty="0" smtClean="0">
                <a:solidFill>
                  <a:srgbClr val="FF0000"/>
                </a:solidFill>
                <a:latin typeface="arial" panose="020B0604020202020204" pitchFamily="34" charset="0"/>
              </a:rPr>
              <a:t>c. </a:t>
            </a:r>
            <a:r>
              <a:rPr lang="en-US" sz="2600" dirty="0">
                <a:solidFill>
                  <a:srgbClr val="FF0000"/>
                </a:solidFill>
                <a:latin typeface="arial" panose="020B0604020202020204" pitchFamily="34" charset="0"/>
              </a:rPr>
              <a:t>Two-phase locking (</a:t>
            </a:r>
            <a:r>
              <a:rPr lang="en-US" sz="2600" dirty="0" err="1">
                <a:solidFill>
                  <a:srgbClr val="FF0000"/>
                </a:solidFill>
                <a:latin typeface="arial" panose="020B0604020202020204" pitchFamily="34" charset="0"/>
              </a:rPr>
              <a:t>2PL</a:t>
            </a:r>
            <a:r>
              <a:rPr lang="en-US" sz="2600" dirty="0">
                <a:solidFill>
                  <a:srgbClr val="FF0000"/>
                </a:solidFill>
                <a:latin typeface="arial" panose="020B0604020202020204" pitchFamily="34" charset="0"/>
              </a:rPr>
              <a:t>):</a:t>
            </a:r>
            <a:endParaRPr lang="en-US" sz="2600" dirty="0" smtClean="0">
              <a:solidFill>
                <a:srgbClr val="FF0000"/>
              </a:solidFill>
              <a:latin typeface="arial" panose="020B0604020202020204" pitchFamily="34" charset="0"/>
            </a:endParaRPr>
          </a:p>
          <a:p>
            <a:pPr marL="914389" lvl="1" indent="-457200" algn="just">
              <a:buClr>
                <a:schemeClr val="tx1"/>
              </a:buClr>
              <a:buSzPct val="71000"/>
              <a:buFont typeface="Wingdings" panose="05000000000000000000" pitchFamily="2" charset="2"/>
              <a:buChar char="Ø"/>
            </a:pPr>
            <a:r>
              <a:rPr lang="en-US" sz="2600" dirty="0">
                <a:solidFill>
                  <a:srgbClr val="222222"/>
                </a:solidFill>
                <a:latin typeface="arial" panose="020B0604020202020204" pitchFamily="34" charset="0"/>
              </a:rPr>
              <a:t>The two-phase locking protocol divides the execution phase of the transaction into three parts.</a:t>
            </a:r>
          </a:p>
          <a:p>
            <a:pPr marL="914389" lvl="1" indent="-457200" algn="just">
              <a:buClr>
                <a:schemeClr val="tx1"/>
              </a:buClr>
              <a:buSzPct val="71000"/>
              <a:buFont typeface="Wingdings" panose="05000000000000000000" pitchFamily="2" charset="2"/>
              <a:buChar char="Ø"/>
            </a:pPr>
            <a:r>
              <a:rPr lang="en-US" sz="2600" dirty="0">
                <a:solidFill>
                  <a:srgbClr val="222222"/>
                </a:solidFill>
                <a:latin typeface="arial" panose="020B0604020202020204" pitchFamily="34" charset="0"/>
              </a:rPr>
              <a:t>In the first part, when the execution of the transaction starts, it seeks permission for the lock it requires.</a:t>
            </a:r>
          </a:p>
          <a:p>
            <a:pPr marL="914389" lvl="1" indent="-457200" algn="just">
              <a:buClr>
                <a:schemeClr val="tx1"/>
              </a:buClr>
              <a:buSzPct val="71000"/>
              <a:buFont typeface="Wingdings" panose="05000000000000000000" pitchFamily="2" charset="2"/>
              <a:buChar char="Ø"/>
            </a:pPr>
            <a:r>
              <a:rPr lang="en-US" sz="2600" dirty="0">
                <a:solidFill>
                  <a:srgbClr val="222222"/>
                </a:solidFill>
                <a:latin typeface="arial" panose="020B0604020202020204" pitchFamily="34" charset="0"/>
              </a:rPr>
              <a:t>In the second part, the transaction acquires all the locks. The third phase is started as soon as the transaction releases its first lock.</a:t>
            </a:r>
          </a:p>
          <a:p>
            <a:pPr marL="914389" lvl="1" indent="-457200" algn="just">
              <a:buClr>
                <a:schemeClr val="tx1"/>
              </a:buClr>
              <a:buSzPct val="71000"/>
              <a:buFont typeface="Wingdings" panose="05000000000000000000" pitchFamily="2" charset="2"/>
              <a:buChar char="Ø"/>
            </a:pPr>
            <a:r>
              <a:rPr lang="en-US" sz="2600" dirty="0">
                <a:solidFill>
                  <a:srgbClr val="222222"/>
                </a:solidFill>
                <a:latin typeface="arial" panose="020B0604020202020204" pitchFamily="34" charset="0"/>
              </a:rPr>
              <a:t>In the third phase, the transaction cannot demand any new locks. It only releases the acquired locks.</a:t>
            </a:r>
          </a:p>
        </p:txBody>
      </p:sp>
    </p:spTree>
    <p:extLst>
      <p:ext uri="{BB962C8B-B14F-4D97-AF65-F5344CB8AC3E}">
        <p14:creationId xmlns:p14="http://schemas.microsoft.com/office/powerpoint/2010/main" val="1832609010"/>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10.5.1 </a:t>
            </a:r>
            <a:r>
              <a:rPr lang="en-US" sz="2800" dirty="0">
                <a:solidFill>
                  <a:schemeClr val="bg1"/>
                </a:solidFill>
              </a:rPr>
              <a:t>Concurrency </a:t>
            </a:r>
            <a:r>
              <a:rPr lang="en-US" sz="2800" dirty="0" smtClean="0">
                <a:solidFill>
                  <a:schemeClr val="bg1"/>
                </a:solidFill>
              </a:rPr>
              <a:t>Control Protocol</a:t>
            </a:r>
            <a:endParaRPr lang="en-US" sz="2800" dirty="0">
              <a:solidFill>
                <a:schemeClr val="bg1"/>
              </a:solidFill>
            </a:endParaRPr>
          </a:p>
        </p:txBody>
      </p:sp>
      <p:sp>
        <p:nvSpPr>
          <p:cNvPr id="3" name="Subtitle 2"/>
          <p:cNvSpPr>
            <a:spLocks noGrp="1"/>
          </p:cNvSpPr>
          <p:nvPr>
            <p:ph type="subTitle" idx="1"/>
          </p:nvPr>
        </p:nvSpPr>
        <p:spPr>
          <a:xfrm>
            <a:off x="1281567" y="1139687"/>
            <a:ext cx="8094254" cy="1281541"/>
          </a:xfrm>
        </p:spPr>
        <p:txBody>
          <a:bodyPr>
            <a:normAutofit/>
          </a:bodyPr>
          <a:lstStyle/>
          <a:p>
            <a:pPr algn="just">
              <a:buClr>
                <a:schemeClr val="tx1"/>
              </a:buClr>
              <a:buSzPct val="71000"/>
            </a:pPr>
            <a:r>
              <a:rPr lang="en-US" sz="2800" b="1" dirty="0" smtClean="0">
                <a:solidFill>
                  <a:srgbClr val="222222"/>
                </a:solidFill>
                <a:latin typeface="arial" panose="020B0604020202020204" pitchFamily="34" charset="0"/>
              </a:rPr>
              <a:t>1. Lock </a:t>
            </a:r>
            <a:r>
              <a:rPr lang="en-US" sz="2800" b="1" dirty="0">
                <a:solidFill>
                  <a:srgbClr val="222222"/>
                </a:solidFill>
                <a:latin typeface="arial" panose="020B0604020202020204" pitchFamily="34" charset="0"/>
              </a:rPr>
              <a:t>Based Concurrency Control </a:t>
            </a:r>
            <a:r>
              <a:rPr lang="en-US" sz="2800" b="1" dirty="0" smtClean="0">
                <a:solidFill>
                  <a:srgbClr val="222222"/>
                </a:solidFill>
                <a:latin typeface="arial" panose="020B0604020202020204" pitchFamily="34" charset="0"/>
              </a:rPr>
              <a:t>Protocol</a:t>
            </a:r>
          </a:p>
          <a:p>
            <a:pPr algn="just">
              <a:buClr>
                <a:schemeClr val="tx1"/>
              </a:buClr>
              <a:buSzPct val="71000"/>
            </a:pPr>
            <a:r>
              <a:rPr lang="en-US" sz="2600" dirty="0" smtClean="0">
                <a:solidFill>
                  <a:srgbClr val="FF0000"/>
                </a:solidFill>
                <a:latin typeface="arial" panose="020B0604020202020204" pitchFamily="34" charset="0"/>
              </a:rPr>
              <a:t>c. </a:t>
            </a:r>
            <a:r>
              <a:rPr lang="en-US" sz="2600" dirty="0">
                <a:solidFill>
                  <a:srgbClr val="FF0000"/>
                </a:solidFill>
                <a:latin typeface="arial" panose="020B0604020202020204" pitchFamily="34" charset="0"/>
              </a:rPr>
              <a:t>Two-phase locking (</a:t>
            </a:r>
            <a:r>
              <a:rPr lang="en-US" sz="2600" dirty="0" err="1">
                <a:solidFill>
                  <a:srgbClr val="FF0000"/>
                </a:solidFill>
                <a:latin typeface="arial" panose="020B0604020202020204" pitchFamily="34" charset="0"/>
              </a:rPr>
              <a:t>2PL</a:t>
            </a:r>
            <a:r>
              <a:rPr lang="en-US" sz="2600" dirty="0" smtClean="0">
                <a:solidFill>
                  <a:srgbClr val="FF0000"/>
                </a:solidFill>
                <a:latin typeface="arial" panose="020B0604020202020204" pitchFamily="34" charset="0"/>
              </a:rPr>
              <a:t>):</a:t>
            </a:r>
          </a:p>
        </p:txBody>
      </p:sp>
      <p:pic>
        <p:nvPicPr>
          <p:cNvPr id="3074" name="Picture 2" descr="DBMS Lock-Based Protoco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87406" y="2555990"/>
            <a:ext cx="5924550" cy="2628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4008416"/>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10.5.1 </a:t>
            </a:r>
            <a:r>
              <a:rPr lang="en-US" sz="2800" dirty="0">
                <a:solidFill>
                  <a:schemeClr val="bg1"/>
                </a:solidFill>
              </a:rPr>
              <a:t>Concurrency </a:t>
            </a:r>
            <a:r>
              <a:rPr lang="en-US" sz="2800" dirty="0" smtClean="0">
                <a:solidFill>
                  <a:schemeClr val="bg1"/>
                </a:solidFill>
              </a:rPr>
              <a:t>Control Protocol</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r>
              <a:rPr lang="en-US" sz="2800" b="1" dirty="0" smtClean="0">
                <a:solidFill>
                  <a:srgbClr val="222222"/>
                </a:solidFill>
                <a:latin typeface="arial" panose="020B0604020202020204" pitchFamily="34" charset="0"/>
              </a:rPr>
              <a:t>1. Lock </a:t>
            </a:r>
            <a:r>
              <a:rPr lang="en-US" sz="2800" b="1" dirty="0">
                <a:solidFill>
                  <a:srgbClr val="222222"/>
                </a:solidFill>
                <a:latin typeface="arial" panose="020B0604020202020204" pitchFamily="34" charset="0"/>
              </a:rPr>
              <a:t>Based Concurrency Control </a:t>
            </a:r>
            <a:r>
              <a:rPr lang="en-US" sz="2800" b="1" dirty="0" smtClean="0">
                <a:solidFill>
                  <a:srgbClr val="222222"/>
                </a:solidFill>
                <a:latin typeface="arial" panose="020B0604020202020204" pitchFamily="34" charset="0"/>
              </a:rPr>
              <a:t>Protocol</a:t>
            </a:r>
          </a:p>
          <a:p>
            <a:pPr algn="just">
              <a:buClr>
                <a:schemeClr val="tx1"/>
              </a:buClr>
              <a:buSzPct val="71000"/>
            </a:pPr>
            <a:r>
              <a:rPr lang="en-US" sz="2600" dirty="0" smtClean="0">
                <a:solidFill>
                  <a:srgbClr val="FF0000"/>
                </a:solidFill>
                <a:latin typeface="arial" panose="020B0604020202020204" pitchFamily="34" charset="0"/>
              </a:rPr>
              <a:t>c. </a:t>
            </a:r>
            <a:r>
              <a:rPr lang="en-US" sz="2600" dirty="0">
                <a:solidFill>
                  <a:srgbClr val="FF0000"/>
                </a:solidFill>
                <a:latin typeface="arial" panose="020B0604020202020204" pitchFamily="34" charset="0"/>
              </a:rPr>
              <a:t>Two-phase locking (</a:t>
            </a:r>
            <a:r>
              <a:rPr lang="en-US" sz="2600" dirty="0" err="1">
                <a:solidFill>
                  <a:srgbClr val="FF0000"/>
                </a:solidFill>
                <a:latin typeface="arial" panose="020B0604020202020204" pitchFamily="34" charset="0"/>
              </a:rPr>
              <a:t>2PL</a:t>
            </a:r>
            <a:r>
              <a:rPr lang="en-US" sz="2600" dirty="0" smtClean="0">
                <a:solidFill>
                  <a:srgbClr val="FF0000"/>
                </a:solidFill>
                <a:latin typeface="arial" panose="020B0604020202020204" pitchFamily="34" charset="0"/>
              </a:rPr>
              <a:t>):</a:t>
            </a:r>
            <a:endParaRPr lang="en-US" sz="2600" dirty="0">
              <a:solidFill>
                <a:srgbClr val="FF0000"/>
              </a:solidFill>
              <a:latin typeface="arial" panose="020B0604020202020204" pitchFamily="34" charset="0"/>
            </a:endParaRPr>
          </a:p>
          <a:p>
            <a:pPr algn="just">
              <a:buClr>
                <a:schemeClr val="tx1"/>
              </a:buClr>
              <a:buSzPct val="71000"/>
            </a:pPr>
            <a:r>
              <a:rPr lang="en-US" sz="2600" dirty="0" smtClean="0">
                <a:solidFill>
                  <a:srgbClr val="222222"/>
                </a:solidFill>
                <a:latin typeface="arial" panose="020B0604020202020204" pitchFamily="34" charset="0"/>
              </a:rPr>
              <a:t>There </a:t>
            </a:r>
            <a:r>
              <a:rPr lang="en-US" sz="2600" dirty="0">
                <a:solidFill>
                  <a:srgbClr val="222222"/>
                </a:solidFill>
                <a:latin typeface="arial" panose="020B0604020202020204" pitchFamily="34" charset="0"/>
              </a:rPr>
              <a:t>are two phases of </a:t>
            </a:r>
            <a:r>
              <a:rPr lang="en-US" sz="2600" dirty="0" err="1">
                <a:solidFill>
                  <a:srgbClr val="222222"/>
                </a:solidFill>
                <a:latin typeface="arial" panose="020B0604020202020204" pitchFamily="34" charset="0"/>
              </a:rPr>
              <a:t>2PL</a:t>
            </a:r>
            <a:r>
              <a:rPr lang="en-US" sz="2600" dirty="0" smtClean="0">
                <a:solidFill>
                  <a:srgbClr val="222222"/>
                </a:solidFill>
                <a:latin typeface="arial" panose="020B0604020202020204" pitchFamily="34" charset="0"/>
              </a:rPr>
              <a:t>:</a:t>
            </a:r>
            <a:endParaRPr lang="en-US" sz="2600" dirty="0">
              <a:solidFill>
                <a:srgbClr val="222222"/>
              </a:solidFill>
              <a:latin typeface="arial" panose="020B0604020202020204" pitchFamily="34" charset="0"/>
            </a:endParaRPr>
          </a:p>
          <a:p>
            <a:pPr marL="914389" lvl="1" indent="-457200" algn="just">
              <a:buClr>
                <a:schemeClr val="tx1"/>
              </a:buClr>
              <a:buSzPct val="71000"/>
              <a:buFont typeface="Wingdings" panose="05000000000000000000" pitchFamily="2" charset="2"/>
              <a:buChar char="Ø"/>
            </a:pPr>
            <a:r>
              <a:rPr lang="en-US" sz="2600" dirty="0">
                <a:solidFill>
                  <a:srgbClr val="222222"/>
                </a:solidFill>
                <a:latin typeface="arial" panose="020B0604020202020204" pitchFamily="34" charset="0"/>
              </a:rPr>
              <a:t>Growing phase: In the growing phase, a new lock on the data item may be acquired by the transaction, but none can be released</a:t>
            </a:r>
            <a:r>
              <a:rPr lang="en-US" sz="2600" dirty="0" smtClean="0">
                <a:solidFill>
                  <a:srgbClr val="222222"/>
                </a:solidFill>
                <a:latin typeface="arial" panose="020B0604020202020204" pitchFamily="34" charset="0"/>
              </a:rPr>
              <a:t>.</a:t>
            </a:r>
            <a:endParaRPr lang="en-US" sz="2600" dirty="0">
              <a:solidFill>
                <a:srgbClr val="222222"/>
              </a:solidFill>
              <a:latin typeface="arial" panose="020B0604020202020204" pitchFamily="34" charset="0"/>
            </a:endParaRPr>
          </a:p>
          <a:p>
            <a:pPr marL="914389" lvl="1" indent="-457200" algn="just">
              <a:buClr>
                <a:schemeClr val="tx1"/>
              </a:buClr>
              <a:buSzPct val="71000"/>
              <a:buFont typeface="Wingdings" panose="05000000000000000000" pitchFamily="2" charset="2"/>
              <a:buChar char="Ø"/>
            </a:pPr>
            <a:r>
              <a:rPr lang="en-US" sz="2600" dirty="0">
                <a:solidFill>
                  <a:srgbClr val="222222"/>
                </a:solidFill>
                <a:latin typeface="arial" panose="020B0604020202020204" pitchFamily="34" charset="0"/>
              </a:rPr>
              <a:t>Shrinking phase: In the shrinking phase, existing lock held by the transaction may be released, but no new locks can be acquired.</a:t>
            </a:r>
          </a:p>
        </p:txBody>
      </p:sp>
    </p:spTree>
    <p:extLst>
      <p:ext uri="{BB962C8B-B14F-4D97-AF65-F5344CB8AC3E}">
        <p14:creationId xmlns:p14="http://schemas.microsoft.com/office/powerpoint/2010/main" val="389457390"/>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10.5.1 </a:t>
            </a:r>
            <a:r>
              <a:rPr lang="en-US" sz="2800" dirty="0">
                <a:solidFill>
                  <a:schemeClr val="bg1"/>
                </a:solidFill>
              </a:rPr>
              <a:t>Concurrency </a:t>
            </a:r>
            <a:r>
              <a:rPr lang="en-US" sz="2800" dirty="0" smtClean="0">
                <a:solidFill>
                  <a:schemeClr val="bg1"/>
                </a:solidFill>
              </a:rPr>
              <a:t>Control Protocol</a:t>
            </a:r>
            <a:endParaRPr lang="en-US" sz="2800" dirty="0">
              <a:solidFill>
                <a:schemeClr val="bg1"/>
              </a:solidFill>
            </a:endParaRPr>
          </a:p>
        </p:txBody>
      </p:sp>
      <p:sp>
        <p:nvSpPr>
          <p:cNvPr id="3" name="Subtitle 2"/>
          <p:cNvSpPr>
            <a:spLocks noGrp="1"/>
          </p:cNvSpPr>
          <p:nvPr>
            <p:ph type="subTitle" idx="1"/>
          </p:nvPr>
        </p:nvSpPr>
        <p:spPr>
          <a:xfrm>
            <a:off x="1281567" y="1139687"/>
            <a:ext cx="8094254" cy="1281541"/>
          </a:xfrm>
        </p:spPr>
        <p:txBody>
          <a:bodyPr>
            <a:normAutofit/>
          </a:bodyPr>
          <a:lstStyle/>
          <a:p>
            <a:pPr algn="just">
              <a:buClr>
                <a:schemeClr val="tx1"/>
              </a:buClr>
              <a:buSzPct val="71000"/>
            </a:pPr>
            <a:r>
              <a:rPr lang="en-US" sz="2800" b="1" dirty="0" smtClean="0">
                <a:solidFill>
                  <a:srgbClr val="222222"/>
                </a:solidFill>
                <a:latin typeface="arial" panose="020B0604020202020204" pitchFamily="34" charset="0"/>
              </a:rPr>
              <a:t>1. Lock </a:t>
            </a:r>
            <a:r>
              <a:rPr lang="en-US" sz="2800" b="1" dirty="0">
                <a:solidFill>
                  <a:srgbClr val="222222"/>
                </a:solidFill>
                <a:latin typeface="arial" panose="020B0604020202020204" pitchFamily="34" charset="0"/>
              </a:rPr>
              <a:t>Based Concurrency Control </a:t>
            </a:r>
            <a:r>
              <a:rPr lang="en-US" sz="2800" b="1" dirty="0" smtClean="0">
                <a:solidFill>
                  <a:srgbClr val="222222"/>
                </a:solidFill>
                <a:latin typeface="arial" panose="020B0604020202020204" pitchFamily="34" charset="0"/>
              </a:rPr>
              <a:t>Protocol</a:t>
            </a:r>
          </a:p>
          <a:p>
            <a:pPr algn="just">
              <a:buClr>
                <a:schemeClr val="tx1"/>
              </a:buClr>
              <a:buSzPct val="71000"/>
            </a:pPr>
            <a:r>
              <a:rPr lang="en-US" sz="2600" dirty="0" smtClean="0">
                <a:solidFill>
                  <a:srgbClr val="FF0000"/>
                </a:solidFill>
                <a:latin typeface="arial" panose="020B0604020202020204" pitchFamily="34" charset="0"/>
              </a:rPr>
              <a:t>c. </a:t>
            </a:r>
            <a:r>
              <a:rPr lang="en-US" sz="2600" dirty="0">
                <a:solidFill>
                  <a:srgbClr val="FF0000"/>
                </a:solidFill>
                <a:latin typeface="arial" panose="020B0604020202020204" pitchFamily="34" charset="0"/>
              </a:rPr>
              <a:t>Two-phase locking (</a:t>
            </a:r>
            <a:r>
              <a:rPr lang="en-US" sz="2600" dirty="0" err="1">
                <a:solidFill>
                  <a:srgbClr val="FF0000"/>
                </a:solidFill>
                <a:latin typeface="arial" panose="020B0604020202020204" pitchFamily="34" charset="0"/>
              </a:rPr>
              <a:t>2PL</a:t>
            </a:r>
            <a:r>
              <a:rPr lang="en-US" sz="2600" dirty="0" smtClean="0">
                <a:solidFill>
                  <a:srgbClr val="FF0000"/>
                </a:solidFill>
                <a:latin typeface="arial" panose="020B0604020202020204" pitchFamily="34" charset="0"/>
              </a:rPr>
              <a:t>): </a:t>
            </a:r>
            <a:r>
              <a:rPr lang="en-US" sz="2600" dirty="0" smtClean="0">
                <a:solidFill>
                  <a:schemeClr val="tx1"/>
                </a:solidFill>
                <a:latin typeface="arial" panose="020B0604020202020204" pitchFamily="34" charset="0"/>
              </a:rPr>
              <a:t>Example</a:t>
            </a:r>
          </a:p>
        </p:txBody>
      </p:sp>
      <p:pic>
        <p:nvPicPr>
          <p:cNvPr id="5122" name="Picture 2" descr="DBMS Lock-Based Protoco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08623" y="2400300"/>
            <a:ext cx="4743450" cy="41164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6174103"/>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10.5.1 </a:t>
            </a:r>
            <a:r>
              <a:rPr lang="en-US" sz="2800" dirty="0">
                <a:solidFill>
                  <a:schemeClr val="bg1"/>
                </a:solidFill>
              </a:rPr>
              <a:t>Concurrency </a:t>
            </a:r>
            <a:r>
              <a:rPr lang="en-US" sz="2800" dirty="0" smtClean="0">
                <a:solidFill>
                  <a:schemeClr val="bg1"/>
                </a:solidFill>
              </a:rPr>
              <a:t>Control Protocol</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r>
              <a:rPr lang="en-US" sz="2800" b="1" dirty="0" smtClean="0">
                <a:solidFill>
                  <a:srgbClr val="222222"/>
                </a:solidFill>
                <a:latin typeface="arial" panose="020B0604020202020204" pitchFamily="34" charset="0"/>
              </a:rPr>
              <a:t>1. Lock </a:t>
            </a:r>
            <a:r>
              <a:rPr lang="en-US" sz="2800" b="1" dirty="0">
                <a:solidFill>
                  <a:srgbClr val="222222"/>
                </a:solidFill>
                <a:latin typeface="arial" panose="020B0604020202020204" pitchFamily="34" charset="0"/>
              </a:rPr>
              <a:t>Based Concurrency Control </a:t>
            </a:r>
            <a:r>
              <a:rPr lang="en-US" sz="2800" b="1" dirty="0" smtClean="0">
                <a:solidFill>
                  <a:srgbClr val="222222"/>
                </a:solidFill>
                <a:latin typeface="arial" panose="020B0604020202020204" pitchFamily="34" charset="0"/>
              </a:rPr>
              <a:t>Protocol</a:t>
            </a:r>
          </a:p>
          <a:p>
            <a:pPr algn="just">
              <a:buClr>
                <a:schemeClr val="tx1"/>
              </a:buClr>
              <a:buSzPct val="71000"/>
            </a:pPr>
            <a:r>
              <a:rPr lang="en-US" sz="2600" dirty="0" smtClean="0">
                <a:solidFill>
                  <a:srgbClr val="FF0000"/>
                </a:solidFill>
                <a:latin typeface="arial" panose="020B0604020202020204" pitchFamily="34" charset="0"/>
              </a:rPr>
              <a:t>c. </a:t>
            </a:r>
            <a:r>
              <a:rPr lang="en-US" sz="2600" dirty="0">
                <a:solidFill>
                  <a:srgbClr val="FF0000"/>
                </a:solidFill>
                <a:latin typeface="arial" panose="020B0604020202020204" pitchFamily="34" charset="0"/>
              </a:rPr>
              <a:t>Two-phase locking (</a:t>
            </a:r>
            <a:r>
              <a:rPr lang="en-US" sz="2600" dirty="0" err="1">
                <a:solidFill>
                  <a:srgbClr val="FF0000"/>
                </a:solidFill>
                <a:latin typeface="arial" panose="020B0604020202020204" pitchFamily="34" charset="0"/>
              </a:rPr>
              <a:t>2PL</a:t>
            </a:r>
            <a:r>
              <a:rPr lang="en-US" sz="2600" dirty="0" smtClean="0">
                <a:solidFill>
                  <a:srgbClr val="FF0000"/>
                </a:solidFill>
                <a:latin typeface="arial" panose="020B0604020202020204" pitchFamily="34" charset="0"/>
              </a:rPr>
              <a:t>): </a:t>
            </a:r>
            <a:r>
              <a:rPr lang="en-US" sz="2600" dirty="0" smtClean="0">
                <a:solidFill>
                  <a:schemeClr val="tx1"/>
                </a:solidFill>
                <a:latin typeface="arial" panose="020B0604020202020204" pitchFamily="34" charset="0"/>
              </a:rPr>
              <a:t>Example</a:t>
            </a:r>
            <a:endParaRPr lang="en-US" sz="2600" dirty="0">
              <a:solidFill>
                <a:schemeClr val="tx1"/>
              </a:solidFill>
              <a:latin typeface="arial" panose="020B0604020202020204" pitchFamily="34" charset="0"/>
            </a:endParaRPr>
          </a:p>
          <a:p>
            <a:pPr algn="just">
              <a:buClr>
                <a:schemeClr val="tx1"/>
              </a:buClr>
              <a:buSzPct val="71000"/>
            </a:pPr>
            <a:r>
              <a:rPr lang="en-US" sz="2600" dirty="0" smtClean="0">
                <a:solidFill>
                  <a:srgbClr val="222222"/>
                </a:solidFill>
                <a:latin typeface="arial" panose="020B0604020202020204" pitchFamily="34" charset="0"/>
              </a:rPr>
              <a:t>In </a:t>
            </a:r>
            <a:r>
              <a:rPr lang="en-US" sz="2600" dirty="0">
                <a:solidFill>
                  <a:srgbClr val="222222"/>
                </a:solidFill>
                <a:latin typeface="arial" panose="020B0604020202020204" pitchFamily="34" charset="0"/>
              </a:rPr>
              <a:t>the </a:t>
            </a:r>
            <a:r>
              <a:rPr lang="en-US" sz="2600" dirty="0" smtClean="0">
                <a:solidFill>
                  <a:srgbClr val="222222"/>
                </a:solidFill>
                <a:latin typeface="arial" panose="020B0604020202020204" pitchFamily="34" charset="0"/>
              </a:rPr>
              <a:t>given </a:t>
            </a:r>
            <a:r>
              <a:rPr lang="en-US" sz="2600" dirty="0">
                <a:solidFill>
                  <a:srgbClr val="222222"/>
                </a:solidFill>
                <a:latin typeface="arial" panose="020B0604020202020204" pitchFamily="34" charset="0"/>
              </a:rPr>
              <a:t>example, if lock conversion is allowed then the following phase can happen</a:t>
            </a:r>
            <a:r>
              <a:rPr lang="en-US" sz="2600" dirty="0" smtClean="0">
                <a:solidFill>
                  <a:srgbClr val="222222"/>
                </a:solidFill>
                <a:latin typeface="arial" panose="020B0604020202020204" pitchFamily="34" charset="0"/>
              </a:rPr>
              <a:t>:</a:t>
            </a:r>
            <a:endParaRPr lang="en-US" sz="2600" dirty="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Ø"/>
            </a:pPr>
            <a:r>
              <a:rPr lang="en-US" sz="2600" dirty="0">
                <a:solidFill>
                  <a:srgbClr val="222222"/>
                </a:solidFill>
                <a:latin typeface="arial" panose="020B0604020202020204" pitchFamily="34" charset="0"/>
              </a:rPr>
              <a:t>Upgrading of lock (from S(a) to X (a)) is allowed in growing phase.</a:t>
            </a:r>
          </a:p>
          <a:p>
            <a:pPr marL="457200" indent="-457200" algn="just">
              <a:buClr>
                <a:schemeClr val="tx1"/>
              </a:buClr>
              <a:buSzPct val="71000"/>
              <a:buFont typeface="Wingdings" panose="05000000000000000000" pitchFamily="2" charset="2"/>
              <a:buChar char="Ø"/>
            </a:pPr>
            <a:r>
              <a:rPr lang="en-US" sz="2600" dirty="0">
                <a:solidFill>
                  <a:srgbClr val="222222"/>
                </a:solidFill>
                <a:latin typeface="arial" panose="020B0604020202020204" pitchFamily="34" charset="0"/>
              </a:rPr>
              <a:t>Downgrading of lock (from X(a) to S(a)) must be done in shrinking phase.</a:t>
            </a:r>
          </a:p>
        </p:txBody>
      </p:sp>
    </p:spTree>
    <p:extLst>
      <p:ext uri="{BB962C8B-B14F-4D97-AF65-F5344CB8AC3E}">
        <p14:creationId xmlns:p14="http://schemas.microsoft.com/office/powerpoint/2010/main" val="3155996668"/>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10.5.1 </a:t>
            </a:r>
            <a:r>
              <a:rPr lang="en-US" sz="2800" dirty="0">
                <a:solidFill>
                  <a:schemeClr val="bg1"/>
                </a:solidFill>
              </a:rPr>
              <a:t>Concurrency </a:t>
            </a:r>
            <a:r>
              <a:rPr lang="en-US" sz="2800" dirty="0" smtClean="0">
                <a:solidFill>
                  <a:schemeClr val="bg1"/>
                </a:solidFill>
              </a:rPr>
              <a:t>Control Protocol</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fontScale="92500" lnSpcReduction="20000"/>
          </a:bodyPr>
          <a:lstStyle/>
          <a:p>
            <a:pPr algn="just">
              <a:buClr>
                <a:schemeClr val="tx1"/>
              </a:buClr>
              <a:buSzPct val="71000"/>
            </a:pPr>
            <a:r>
              <a:rPr lang="en-US" sz="2800" b="1" dirty="0" smtClean="0">
                <a:solidFill>
                  <a:srgbClr val="222222"/>
                </a:solidFill>
                <a:latin typeface="arial" panose="020B0604020202020204" pitchFamily="34" charset="0"/>
              </a:rPr>
              <a:t>1. Lock </a:t>
            </a:r>
            <a:r>
              <a:rPr lang="en-US" sz="2800" b="1" dirty="0">
                <a:solidFill>
                  <a:srgbClr val="222222"/>
                </a:solidFill>
                <a:latin typeface="arial" panose="020B0604020202020204" pitchFamily="34" charset="0"/>
              </a:rPr>
              <a:t>Based Concurrency Control </a:t>
            </a:r>
            <a:r>
              <a:rPr lang="en-US" sz="2800" b="1" dirty="0" smtClean="0">
                <a:solidFill>
                  <a:srgbClr val="222222"/>
                </a:solidFill>
                <a:latin typeface="arial" panose="020B0604020202020204" pitchFamily="34" charset="0"/>
              </a:rPr>
              <a:t>Protocol</a:t>
            </a:r>
          </a:p>
          <a:p>
            <a:pPr algn="just">
              <a:buClr>
                <a:schemeClr val="tx1"/>
              </a:buClr>
              <a:buSzPct val="71000"/>
            </a:pPr>
            <a:r>
              <a:rPr lang="en-US" sz="2600" dirty="0" smtClean="0">
                <a:solidFill>
                  <a:srgbClr val="FF0000"/>
                </a:solidFill>
                <a:latin typeface="arial" panose="020B0604020202020204" pitchFamily="34" charset="0"/>
              </a:rPr>
              <a:t>c. </a:t>
            </a:r>
            <a:r>
              <a:rPr lang="en-US" sz="2600" dirty="0">
                <a:solidFill>
                  <a:srgbClr val="FF0000"/>
                </a:solidFill>
                <a:latin typeface="arial" panose="020B0604020202020204" pitchFamily="34" charset="0"/>
              </a:rPr>
              <a:t>Two-phase locking (</a:t>
            </a:r>
            <a:r>
              <a:rPr lang="en-US" sz="2600" dirty="0" err="1">
                <a:solidFill>
                  <a:srgbClr val="FF0000"/>
                </a:solidFill>
                <a:latin typeface="arial" panose="020B0604020202020204" pitchFamily="34" charset="0"/>
              </a:rPr>
              <a:t>2PL</a:t>
            </a:r>
            <a:r>
              <a:rPr lang="en-US" sz="2600" dirty="0" smtClean="0">
                <a:solidFill>
                  <a:srgbClr val="FF0000"/>
                </a:solidFill>
                <a:latin typeface="arial" panose="020B0604020202020204" pitchFamily="34" charset="0"/>
              </a:rPr>
              <a:t>): </a:t>
            </a:r>
            <a:r>
              <a:rPr lang="en-US" sz="2600" dirty="0" smtClean="0">
                <a:solidFill>
                  <a:schemeClr val="tx1"/>
                </a:solidFill>
                <a:latin typeface="arial" panose="020B0604020202020204" pitchFamily="34" charset="0"/>
              </a:rPr>
              <a:t>Example</a:t>
            </a:r>
            <a:endParaRPr lang="en-US" sz="2600" dirty="0">
              <a:solidFill>
                <a:schemeClr val="tx1"/>
              </a:solidFill>
              <a:latin typeface="arial" panose="020B0604020202020204" pitchFamily="34" charset="0"/>
            </a:endParaRPr>
          </a:p>
          <a:p>
            <a:pPr algn="just">
              <a:buClr>
                <a:schemeClr val="tx1"/>
              </a:buClr>
              <a:buSzPct val="71000"/>
            </a:pPr>
            <a:r>
              <a:rPr lang="en-US" sz="2600" dirty="0">
                <a:solidFill>
                  <a:srgbClr val="222222"/>
                </a:solidFill>
                <a:latin typeface="arial" panose="020B0604020202020204" pitchFamily="34" charset="0"/>
              </a:rPr>
              <a:t>The following way shows how unlocking and locking work with 2-PL</a:t>
            </a:r>
            <a:r>
              <a:rPr lang="en-US" sz="2600" dirty="0" smtClean="0">
                <a:solidFill>
                  <a:srgbClr val="222222"/>
                </a:solidFill>
                <a:latin typeface="arial" panose="020B0604020202020204" pitchFamily="34" charset="0"/>
              </a:rPr>
              <a:t>.</a:t>
            </a:r>
            <a:endParaRPr lang="en-US" sz="2600" dirty="0">
              <a:solidFill>
                <a:srgbClr val="222222"/>
              </a:solidFill>
              <a:latin typeface="arial" panose="020B0604020202020204" pitchFamily="34" charset="0"/>
            </a:endParaRPr>
          </a:p>
          <a:p>
            <a:pPr algn="just">
              <a:buClr>
                <a:schemeClr val="tx1"/>
              </a:buClr>
              <a:buSzPct val="71000"/>
            </a:pPr>
            <a:r>
              <a:rPr lang="en-US" sz="2600" dirty="0" smtClean="0">
                <a:solidFill>
                  <a:srgbClr val="222222"/>
                </a:solidFill>
                <a:latin typeface="arial" panose="020B0604020202020204" pitchFamily="34" charset="0"/>
              </a:rPr>
              <a:t>a. Transaction </a:t>
            </a:r>
            <a:r>
              <a:rPr lang="en-US" sz="2600" dirty="0" err="1">
                <a:solidFill>
                  <a:srgbClr val="222222"/>
                </a:solidFill>
                <a:latin typeface="arial" panose="020B0604020202020204" pitchFamily="34" charset="0"/>
              </a:rPr>
              <a:t>T1</a:t>
            </a:r>
            <a:r>
              <a:rPr lang="en-US" sz="2600" dirty="0" smtClean="0">
                <a:solidFill>
                  <a:srgbClr val="222222"/>
                </a:solidFill>
                <a:latin typeface="arial" panose="020B0604020202020204" pitchFamily="34" charset="0"/>
              </a:rPr>
              <a:t>:</a:t>
            </a:r>
            <a:endParaRPr lang="en-US" sz="2600" dirty="0">
              <a:solidFill>
                <a:srgbClr val="222222"/>
              </a:solidFill>
              <a:latin typeface="arial" panose="020B0604020202020204" pitchFamily="34" charset="0"/>
            </a:endParaRPr>
          </a:p>
          <a:p>
            <a:pPr marL="914389" lvl="1" indent="-457200" algn="just">
              <a:buClr>
                <a:schemeClr val="tx1"/>
              </a:buClr>
              <a:buSzPct val="71000"/>
              <a:buFont typeface="Wingdings" panose="05000000000000000000" pitchFamily="2" charset="2"/>
              <a:buChar char="Ø"/>
            </a:pPr>
            <a:r>
              <a:rPr lang="en-US" sz="2400" dirty="0">
                <a:solidFill>
                  <a:srgbClr val="222222"/>
                </a:solidFill>
                <a:latin typeface="arial" panose="020B0604020202020204" pitchFamily="34" charset="0"/>
              </a:rPr>
              <a:t>Growing phase: from step 1-3</a:t>
            </a:r>
          </a:p>
          <a:p>
            <a:pPr marL="914389" lvl="1" indent="-457200" algn="just">
              <a:buClr>
                <a:schemeClr val="tx1"/>
              </a:buClr>
              <a:buSzPct val="71000"/>
              <a:buFont typeface="Wingdings" panose="05000000000000000000" pitchFamily="2" charset="2"/>
              <a:buChar char="Ø"/>
            </a:pPr>
            <a:r>
              <a:rPr lang="en-US" sz="2400" dirty="0">
                <a:solidFill>
                  <a:srgbClr val="222222"/>
                </a:solidFill>
                <a:latin typeface="arial" panose="020B0604020202020204" pitchFamily="34" charset="0"/>
              </a:rPr>
              <a:t>Shrinking phase: from step 5-7</a:t>
            </a:r>
          </a:p>
          <a:p>
            <a:pPr marL="914389" lvl="1" indent="-457200" algn="just">
              <a:buClr>
                <a:schemeClr val="tx1"/>
              </a:buClr>
              <a:buSzPct val="71000"/>
              <a:buFont typeface="Wingdings" panose="05000000000000000000" pitchFamily="2" charset="2"/>
              <a:buChar char="Ø"/>
            </a:pPr>
            <a:r>
              <a:rPr lang="en-US" sz="2400" dirty="0">
                <a:solidFill>
                  <a:srgbClr val="222222"/>
                </a:solidFill>
                <a:latin typeface="arial" panose="020B0604020202020204" pitchFamily="34" charset="0"/>
              </a:rPr>
              <a:t>Lock point: at 3</a:t>
            </a:r>
          </a:p>
          <a:p>
            <a:pPr algn="just">
              <a:buClr>
                <a:schemeClr val="tx1"/>
              </a:buClr>
              <a:buSzPct val="71000"/>
            </a:pPr>
            <a:r>
              <a:rPr lang="en-US" sz="2600" dirty="0" smtClean="0">
                <a:solidFill>
                  <a:srgbClr val="222222"/>
                </a:solidFill>
                <a:latin typeface="arial" panose="020B0604020202020204" pitchFamily="34" charset="0"/>
              </a:rPr>
              <a:t>b. Transaction </a:t>
            </a:r>
            <a:r>
              <a:rPr lang="en-US" sz="2600" dirty="0" err="1">
                <a:solidFill>
                  <a:srgbClr val="222222"/>
                </a:solidFill>
                <a:latin typeface="arial" panose="020B0604020202020204" pitchFamily="34" charset="0"/>
              </a:rPr>
              <a:t>T2</a:t>
            </a:r>
            <a:r>
              <a:rPr lang="en-US" sz="2600" dirty="0" smtClean="0">
                <a:solidFill>
                  <a:srgbClr val="222222"/>
                </a:solidFill>
                <a:latin typeface="arial" panose="020B0604020202020204" pitchFamily="34" charset="0"/>
              </a:rPr>
              <a:t>:</a:t>
            </a:r>
            <a:endParaRPr lang="en-US" sz="2600" dirty="0">
              <a:solidFill>
                <a:srgbClr val="222222"/>
              </a:solidFill>
              <a:latin typeface="arial" panose="020B0604020202020204" pitchFamily="34" charset="0"/>
            </a:endParaRPr>
          </a:p>
          <a:p>
            <a:pPr marL="914389" lvl="1" indent="-457200" algn="just">
              <a:buClr>
                <a:schemeClr val="tx1"/>
              </a:buClr>
              <a:buSzPct val="71000"/>
              <a:buFont typeface="Wingdings" panose="05000000000000000000" pitchFamily="2" charset="2"/>
              <a:buChar char="Ø"/>
            </a:pPr>
            <a:r>
              <a:rPr lang="en-US" sz="2400" dirty="0">
                <a:solidFill>
                  <a:srgbClr val="222222"/>
                </a:solidFill>
                <a:latin typeface="arial" panose="020B0604020202020204" pitchFamily="34" charset="0"/>
              </a:rPr>
              <a:t>Growing phase: from step 2-6</a:t>
            </a:r>
          </a:p>
          <a:p>
            <a:pPr marL="914389" lvl="1" indent="-457200" algn="just">
              <a:buClr>
                <a:schemeClr val="tx1"/>
              </a:buClr>
              <a:buSzPct val="71000"/>
              <a:buFont typeface="Wingdings" panose="05000000000000000000" pitchFamily="2" charset="2"/>
              <a:buChar char="Ø"/>
            </a:pPr>
            <a:r>
              <a:rPr lang="en-US" sz="2400" dirty="0">
                <a:solidFill>
                  <a:srgbClr val="222222"/>
                </a:solidFill>
                <a:latin typeface="arial" panose="020B0604020202020204" pitchFamily="34" charset="0"/>
              </a:rPr>
              <a:t>Shrinking phase: from step 8-9</a:t>
            </a:r>
          </a:p>
          <a:p>
            <a:pPr marL="914389" lvl="1" indent="-457200" algn="just">
              <a:buClr>
                <a:schemeClr val="tx1"/>
              </a:buClr>
              <a:buSzPct val="71000"/>
              <a:buFont typeface="Wingdings" panose="05000000000000000000" pitchFamily="2" charset="2"/>
              <a:buChar char="Ø"/>
            </a:pPr>
            <a:r>
              <a:rPr lang="en-US" sz="2400" dirty="0">
                <a:solidFill>
                  <a:srgbClr val="222222"/>
                </a:solidFill>
                <a:latin typeface="arial" panose="020B0604020202020204" pitchFamily="34" charset="0"/>
              </a:rPr>
              <a:t>Lock point: at 6</a:t>
            </a:r>
          </a:p>
        </p:txBody>
      </p:sp>
    </p:spTree>
    <p:extLst>
      <p:ext uri="{BB962C8B-B14F-4D97-AF65-F5344CB8AC3E}">
        <p14:creationId xmlns:p14="http://schemas.microsoft.com/office/powerpoint/2010/main" val="4191074042"/>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10.5.1 </a:t>
            </a:r>
            <a:r>
              <a:rPr lang="en-US" sz="2800" dirty="0">
                <a:solidFill>
                  <a:schemeClr val="bg1"/>
                </a:solidFill>
              </a:rPr>
              <a:t>Concurrency </a:t>
            </a:r>
            <a:r>
              <a:rPr lang="en-US" sz="2800" dirty="0" smtClean="0">
                <a:solidFill>
                  <a:schemeClr val="bg1"/>
                </a:solidFill>
              </a:rPr>
              <a:t>Control Protocol</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fontScale="92500"/>
          </a:bodyPr>
          <a:lstStyle/>
          <a:p>
            <a:pPr algn="just">
              <a:buClr>
                <a:schemeClr val="tx1"/>
              </a:buClr>
              <a:buSzPct val="71000"/>
            </a:pPr>
            <a:r>
              <a:rPr lang="en-US" sz="2800" b="1" dirty="0" smtClean="0">
                <a:solidFill>
                  <a:srgbClr val="222222"/>
                </a:solidFill>
                <a:latin typeface="arial" panose="020B0604020202020204" pitchFamily="34" charset="0"/>
              </a:rPr>
              <a:t>1. Lock </a:t>
            </a:r>
            <a:r>
              <a:rPr lang="en-US" sz="2800" b="1" dirty="0">
                <a:solidFill>
                  <a:srgbClr val="222222"/>
                </a:solidFill>
                <a:latin typeface="arial" panose="020B0604020202020204" pitchFamily="34" charset="0"/>
              </a:rPr>
              <a:t>Based Concurrency Control </a:t>
            </a:r>
            <a:r>
              <a:rPr lang="en-US" sz="2800" b="1" dirty="0" smtClean="0">
                <a:solidFill>
                  <a:srgbClr val="222222"/>
                </a:solidFill>
                <a:latin typeface="arial" panose="020B0604020202020204" pitchFamily="34" charset="0"/>
              </a:rPr>
              <a:t>Protocol</a:t>
            </a:r>
          </a:p>
          <a:p>
            <a:pPr algn="just">
              <a:buClr>
                <a:schemeClr val="tx1"/>
              </a:buClr>
              <a:buSzPct val="71000"/>
            </a:pPr>
            <a:r>
              <a:rPr lang="en-US" sz="2600" dirty="0">
                <a:solidFill>
                  <a:srgbClr val="FF0000"/>
                </a:solidFill>
                <a:latin typeface="arial" panose="020B0604020202020204" pitchFamily="34" charset="0"/>
              </a:rPr>
              <a:t>d</a:t>
            </a:r>
            <a:r>
              <a:rPr lang="en-US" sz="2600" dirty="0" smtClean="0">
                <a:solidFill>
                  <a:srgbClr val="FF0000"/>
                </a:solidFill>
                <a:latin typeface="arial" panose="020B0604020202020204" pitchFamily="34" charset="0"/>
              </a:rPr>
              <a:t>. Strict Two-phase </a:t>
            </a:r>
            <a:r>
              <a:rPr lang="en-US" sz="2600" dirty="0">
                <a:solidFill>
                  <a:srgbClr val="FF0000"/>
                </a:solidFill>
                <a:latin typeface="arial" panose="020B0604020202020204" pitchFamily="34" charset="0"/>
              </a:rPr>
              <a:t>locking </a:t>
            </a:r>
            <a:r>
              <a:rPr lang="en-US" sz="2600" dirty="0" smtClean="0">
                <a:solidFill>
                  <a:srgbClr val="FF0000"/>
                </a:solidFill>
                <a:latin typeface="arial" panose="020B0604020202020204" pitchFamily="34" charset="0"/>
              </a:rPr>
              <a:t>(strict - </a:t>
            </a:r>
            <a:r>
              <a:rPr lang="en-US" sz="2600" dirty="0" err="1" smtClean="0">
                <a:solidFill>
                  <a:srgbClr val="FF0000"/>
                </a:solidFill>
                <a:latin typeface="arial" panose="020B0604020202020204" pitchFamily="34" charset="0"/>
              </a:rPr>
              <a:t>2PL</a:t>
            </a:r>
            <a:r>
              <a:rPr lang="en-US" sz="2600" dirty="0">
                <a:solidFill>
                  <a:srgbClr val="FF0000"/>
                </a:solidFill>
                <a:latin typeface="arial" panose="020B0604020202020204" pitchFamily="34" charset="0"/>
              </a:rPr>
              <a:t>):</a:t>
            </a:r>
            <a:endParaRPr lang="en-US" sz="2600" dirty="0" smtClean="0">
              <a:solidFill>
                <a:srgbClr val="FF0000"/>
              </a:solidFill>
              <a:latin typeface="arial" panose="020B0604020202020204" pitchFamily="34" charset="0"/>
            </a:endParaRPr>
          </a:p>
          <a:p>
            <a:pPr marL="914389" lvl="1" indent="-457200" algn="just">
              <a:buClr>
                <a:schemeClr val="tx1"/>
              </a:buClr>
              <a:buSzPct val="71000"/>
              <a:buFont typeface="Wingdings" panose="05000000000000000000" pitchFamily="2" charset="2"/>
              <a:buChar char="Ø"/>
            </a:pPr>
            <a:r>
              <a:rPr lang="en-US" sz="2600" dirty="0">
                <a:solidFill>
                  <a:srgbClr val="222222"/>
                </a:solidFill>
                <a:latin typeface="arial" panose="020B0604020202020204" pitchFamily="34" charset="0"/>
              </a:rPr>
              <a:t>The first phase of Strict-</a:t>
            </a:r>
            <a:r>
              <a:rPr lang="en-US" sz="2600" dirty="0" err="1">
                <a:solidFill>
                  <a:srgbClr val="222222"/>
                </a:solidFill>
                <a:latin typeface="arial" panose="020B0604020202020204" pitchFamily="34" charset="0"/>
              </a:rPr>
              <a:t>2PL</a:t>
            </a:r>
            <a:r>
              <a:rPr lang="en-US" sz="2600" dirty="0">
                <a:solidFill>
                  <a:srgbClr val="222222"/>
                </a:solidFill>
                <a:latin typeface="arial" panose="020B0604020202020204" pitchFamily="34" charset="0"/>
              </a:rPr>
              <a:t> is similar to </a:t>
            </a:r>
            <a:r>
              <a:rPr lang="en-US" sz="2600" dirty="0" err="1">
                <a:solidFill>
                  <a:srgbClr val="222222"/>
                </a:solidFill>
                <a:latin typeface="arial" panose="020B0604020202020204" pitchFamily="34" charset="0"/>
              </a:rPr>
              <a:t>2PL</a:t>
            </a:r>
            <a:r>
              <a:rPr lang="en-US" sz="2600" dirty="0">
                <a:solidFill>
                  <a:srgbClr val="222222"/>
                </a:solidFill>
                <a:latin typeface="arial" panose="020B0604020202020204" pitchFamily="34" charset="0"/>
              </a:rPr>
              <a:t>. In the first phase, after acquiring all the locks, the transaction continues to execute normally.</a:t>
            </a:r>
          </a:p>
          <a:p>
            <a:pPr marL="914389" lvl="1" indent="-457200" algn="just">
              <a:buClr>
                <a:schemeClr val="tx1"/>
              </a:buClr>
              <a:buSzPct val="71000"/>
              <a:buFont typeface="Wingdings" panose="05000000000000000000" pitchFamily="2" charset="2"/>
              <a:buChar char="Ø"/>
            </a:pPr>
            <a:r>
              <a:rPr lang="en-US" sz="2600" dirty="0">
                <a:solidFill>
                  <a:srgbClr val="222222"/>
                </a:solidFill>
                <a:latin typeface="arial" panose="020B0604020202020204" pitchFamily="34" charset="0"/>
              </a:rPr>
              <a:t>The only difference between </a:t>
            </a:r>
            <a:r>
              <a:rPr lang="en-US" sz="2600" dirty="0" err="1">
                <a:solidFill>
                  <a:srgbClr val="222222"/>
                </a:solidFill>
                <a:latin typeface="arial" panose="020B0604020202020204" pitchFamily="34" charset="0"/>
              </a:rPr>
              <a:t>2PL</a:t>
            </a:r>
            <a:r>
              <a:rPr lang="en-US" sz="2600" dirty="0">
                <a:solidFill>
                  <a:srgbClr val="222222"/>
                </a:solidFill>
                <a:latin typeface="arial" panose="020B0604020202020204" pitchFamily="34" charset="0"/>
              </a:rPr>
              <a:t> and strict </a:t>
            </a:r>
            <a:r>
              <a:rPr lang="en-US" sz="2600" dirty="0" err="1">
                <a:solidFill>
                  <a:srgbClr val="222222"/>
                </a:solidFill>
                <a:latin typeface="arial" panose="020B0604020202020204" pitchFamily="34" charset="0"/>
              </a:rPr>
              <a:t>2PL</a:t>
            </a:r>
            <a:r>
              <a:rPr lang="en-US" sz="2600" dirty="0">
                <a:solidFill>
                  <a:srgbClr val="222222"/>
                </a:solidFill>
                <a:latin typeface="arial" panose="020B0604020202020204" pitchFamily="34" charset="0"/>
              </a:rPr>
              <a:t> is that Strict-</a:t>
            </a:r>
            <a:r>
              <a:rPr lang="en-US" sz="2600" dirty="0" err="1">
                <a:solidFill>
                  <a:srgbClr val="222222"/>
                </a:solidFill>
                <a:latin typeface="arial" panose="020B0604020202020204" pitchFamily="34" charset="0"/>
              </a:rPr>
              <a:t>2PL</a:t>
            </a:r>
            <a:r>
              <a:rPr lang="en-US" sz="2600" dirty="0">
                <a:solidFill>
                  <a:srgbClr val="222222"/>
                </a:solidFill>
                <a:latin typeface="arial" panose="020B0604020202020204" pitchFamily="34" charset="0"/>
              </a:rPr>
              <a:t> does not release a lock after using it.</a:t>
            </a:r>
          </a:p>
          <a:p>
            <a:pPr marL="914389" lvl="1" indent="-457200" algn="just">
              <a:buClr>
                <a:schemeClr val="tx1"/>
              </a:buClr>
              <a:buSzPct val="71000"/>
              <a:buFont typeface="Wingdings" panose="05000000000000000000" pitchFamily="2" charset="2"/>
              <a:buChar char="Ø"/>
            </a:pPr>
            <a:r>
              <a:rPr lang="en-US" sz="2600" dirty="0">
                <a:solidFill>
                  <a:srgbClr val="222222"/>
                </a:solidFill>
                <a:latin typeface="arial" panose="020B0604020202020204" pitchFamily="34" charset="0"/>
              </a:rPr>
              <a:t>Strict-</a:t>
            </a:r>
            <a:r>
              <a:rPr lang="en-US" sz="2600" dirty="0" err="1">
                <a:solidFill>
                  <a:srgbClr val="222222"/>
                </a:solidFill>
                <a:latin typeface="arial" panose="020B0604020202020204" pitchFamily="34" charset="0"/>
              </a:rPr>
              <a:t>2PL</a:t>
            </a:r>
            <a:r>
              <a:rPr lang="en-US" sz="2600" dirty="0">
                <a:solidFill>
                  <a:srgbClr val="222222"/>
                </a:solidFill>
                <a:latin typeface="arial" panose="020B0604020202020204" pitchFamily="34" charset="0"/>
              </a:rPr>
              <a:t> waits until the whole transaction to commit, and then it releases all the locks at a time.</a:t>
            </a:r>
          </a:p>
          <a:p>
            <a:pPr marL="914389" lvl="1" indent="-457200" algn="just">
              <a:buClr>
                <a:schemeClr val="tx1"/>
              </a:buClr>
              <a:buSzPct val="71000"/>
              <a:buFont typeface="Wingdings" panose="05000000000000000000" pitchFamily="2" charset="2"/>
              <a:buChar char="Ø"/>
            </a:pPr>
            <a:r>
              <a:rPr lang="en-US" sz="2600" dirty="0">
                <a:solidFill>
                  <a:srgbClr val="222222"/>
                </a:solidFill>
                <a:latin typeface="arial" panose="020B0604020202020204" pitchFamily="34" charset="0"/>
              </a:rPr>
              <a:t>Strict-</a:t>
            </a:r>
            <a:r>
              <a:rPr lang="en-US" sz="2600" dirty="0" err="1">
                <a:solidFill>
                  <a:srgbClr val="222222"/>
                </a:solidFill>
                <a:latin typeface="arial" panose="020B0604020202020204" pitchFamily="34" charset="0"/>
              </a:rPr>
              <a:t>2PL</a:t>
            </a:r>
            <a:r>
              <a:rPr lang="en-US" sz="2600" dirty="0">
                <a:solidFill>
                  <a:srgbClr val="222222"/>
                </a:solidFill>
                <a:latin typeface="arial" panose="020B0604020202020204" pitchFamily="34" charset="0"/>
              </a:rPr>
              <a:t> protocol does not have shrinking phase of lock release.</a:t>
            </a:r>
          </a:p>
        </p:txBody>
      </p:sp>
    </p:spTree>
    <p:extLst>
      <p:ext uri="{BB962C8B-B14F-4D97-AF65-F5344CB8AC3E}">
        <p14:creationId xmlns:p14="http://schemas.microsoft.com/office/powerpoint/2010/main" val="1921993534"/>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10.5.1 </a:t>
            </a:r>
            <a:r>
              <a:rPr lang="en-US" sz="2800" dirty="0">
                <a:solidFill>
                  <a:schemeClr val="bg1"/>
                </a:solidFill>
              </a:rPr>
              <a:t>Concurrency </a:t>
            </a:r>
            <a:r>
              <a:rPr lang="en-US" sz="2800" dirty="0" smtClean="0">
                <a:solidFill>
                  <a:schemeClr val="bg1"/>
                </a:solidFill>
              </a:rPr>
              <a:t>Control Protocol</a:t>
            </a:r>
            <a:endParaRPr lang="en-US" sz="2800" dirty="0">
              <a:solidFill>
                <a:schemeClr val="bg1"/>
              </a:solidFill>
            </a:endParaRPr>
          </a:p>
        </p:txBody>
      </p:sp>
      <p:sp>
        <p:nvSpPr>
          <p:cNvPr id="3" name="Subtitle 2"/>
          <p:cNvSpPr>
            <a:spLocks noGrp="1"/>
          </p:cNvSpPr>
          <p:nvPr>
            <p:ph type="subTitle" idx="1"/>
          </p:nvPr>
        </p:nvSpPr>
        <p:spPr>
          <a:xfrm>
            <a:off x="1281567" y="1139687"/>
            <a:ext cx="8094254" cy="1255783"/>
          </a:xfrm>
        </p:spPr>
        <p:txBody>
          <a:bodyPr>
            <a:normAutofit/>
          </a:bodyPr>
          <a:lstStyle/>
          <a:p>
            <a:pPr algn="just">
              <a:buClr>
                <a:schemeClr val="tx1"/>
              </a:buClr>
              <a:buSzPct val="71000"/>
            </a:pPr>
            <a:r>
              <a:rPr lang="en-US" sz="2800" b="1" dirty="0" smtClean="0">
                <a:solidFill>
                  <a:srgbClr val="222222"/>
                </a:solidFill>
                <a:latin typeface="arial" panose="020B0604020202020204" pitchFamily="34" charset="0"/>
              </a:rPr>
              <a:t>1. Lock </a:t>
            </a:r>
            <a:r>
              <a:rPr lang="en-US" sz="2800" b="1" dirty="0">
                <a:solidFill>
                  <a:srgbClr val="222222"/>
                </a:solidFill>
                <a:latin typeface="arial" panose="020B0604020202020204" pitchFamily="34" charset="0"/>
              </a:rPr>
              <a:t>Based Concurrency Control </a:t>
            </a:r>
            <a:r>
              <a:rPr lang="en-US" sz="2800" b="1" dirty="0" smtClean="0">
                <a:solidFill>
                  <a:srgbClr val="222222"/>
                </a:solidFill>
                <a:latin typeface="arial" panose="020B0604020202020204" pitchFamily="34" charset="0"/>
              </a:rPr>
              <a:t>Protocol</a:t>
            </a:r>
          </a:p>
          <a:p>
            <a:pPr algn="just">
              <a:buClr>
                <a:schemeClr val="tx1"/>
              </a:buClr>
              <a:buSzPct val="71000"/>
            </a:pPr>
            <a:r>
              <a:rPr lang="en-US" sz="2600" dirty="0">
                <a:solidFill>
                  <a:srgbClr val="FF0000"/>
                </a:solidFill>
                <a:latin typeface="arial" panose="020B0604020202020204" pitchFamily="34" charset="0"/>
              </a:rPr>
              <a:t>d</a:t>
            </a:r>
            <a:r>
              <a:rPr lang="en-US" sz="2600" dirty="0" smtClean="0">
                <a:solidFill>
                  <a:srgbClr val="FF0000"/>
                </a:solidFill>
                <a:latin typeface="arial" panose="020B0604020202020204" pitchFamily="34" charset="0"/>
              </a:rPr>
              <a:t>. Strict Two-phase </a:t>
            </a:r>
            <a:r>
              <a:rPr lang="en-US" sz="2600" dirty="0">
                <a:solidFill>
                  <a:srgbClr val="FF0000"/>
                </a:solidFill>
                <a:latin typeface="arial" panose="020B0604020202020204" pitchFamily="34" charset="0"/>
              </a:rPr>
              <a:t>locking </a:t>
            </a:r>
            <a:r>
              <a:rPr lang="en-US" sz="2600" dirty="0" smtClean="0">
                <a:solidFill>
                  <a:srgbClr val="FF0000"/>
                </a:solidFill>
                <a:latin typeface="arial" panose="020B0604020202020204" pitchFamily="34" charset="0"/>
              </a:rPr>
              <a:t>(strict - </a:t>
            </a:r>
            <a:r>
              <a:rPr lang="en-US" sz="2600" dirty="0" err="1" smtClean="0">
                <a:solidFill>
                  <a:srgbClr val="FF0000"/>
                </a:solidFill>
                <a:latin typeface="arial" panose="020B0604020202020204" pitchFamily="34" charset="0"/>
              </a:rPr>
              <a:t>2PL</a:t>
            </a:r>
            <a:r>
              <a:rPr lang="en-US" sz="2600" dirty="0" smtClean="0">
                <a:solidFill>
                  <a:srgbClr val="FF0000"/>
                </a:solidFill>
                <a:latin typeface="arial" panose="020B0604020202020204" pitchFamily="34" charset="0"/>
              </a:rPr>
              <a:t>):</a:t>
            </a:r>
          </a:p>
        </p:txBody>
      </p:sp>
      <p:pic>
        <p:nvPicPr>
          <p:cNvPr id="7170" name="Picture 2" descr="DBMS Lock-Based Protoco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6651" y="2720125"/>
            <a:ext cx="5981700" cy="231457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2216183" y="5359355"/>
            <a:ext cx="5544467" cy="369332"/>
          </a:xfrm>
          <a:prstGeom prst="rect">
            <a:avLst/>
          </a:prstGeom>
        </p:spPr>
        <p:txBody>
          <a:bodyPr wrap="none">
            <a:spAutoFit/>
          </a:bodyPr>
          <a:lstStyle/>
          <a:p>
            <a:r>
              <a:rPr lang="en-US" dirty="0">
                <a:solidFill>
                  <a:srgbClr val="000000"/>
                </a:solidFill>
                <a:latin typeface="verdana" panose="020B0604030504040204" pitchFamily="34" charset="0"/>
              </a:rPr>
              <a:t>It does not have cascading abort as </a:t>
            </a:r>
            <a:r>
              <a:rPr lang="en-US" dirty="0" err="1">
                <a:solidFill>
                  <a:srgbClr val="000000"/>
                </a:solidFill>
                <a:latin typeface="verdana" panose="020B0604030504040204" pitchFamily="34" charset="0"/>
              </a:rPr>
              <a:t>2PL</a:t>
            </a:r>
            <a:r>
              <a:rPr lang="en-US" dirty="0">
                <a:solidFill>
                  <a:srgbClr val="000000"/>
                </a:solidFill>
                <a:latin typeface="verdana" panose="020B0604030504040204" pitchFamily="34" charset="0"/>
              </a:rPr>
              <a:t> does.</a:t>
            </a:r>
            <a:endParaRPr lang="en-US" dirty="0"/>
          </a:p>
        </p:txBody>
      </p:sp>
    </p:spTree>
    <p:extLst>
      <p:ext uri="{BB962C8B-B14F-4D97-AF65-F5344CB8AC3E}">
        <p14:creationId xmlns:p14="http://schemas.microsoft.com/office/powerpoint/2010/main" val="436422118"/>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10.5.1 </a:t>
            </a:r>
            <a:r>
              <a:rPr lang="en-US" sz="2800" dirty="0">
                <a:solidFill>
                  <a:schemeClr val="bg1"/>
                </a:solidFill>
              </a:rPr>
              <a:t>Concurrency </a:t>
            </a:r>
            <a:r>
              <a:rPr lang="en-US" sz="2800" dirty="0" smtClean="0">
                <a:solidFill>
                  <a:schemeClr val="bg1"/>
                </a:solidFill>
              </a:rPr>
              <a:t>Control Protocol</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fontScale="92500" lnSpcReduction="20000"/>
          </a:bodyPr>
          <a:lstStyle/>
          <a:p>
            <a:pPr algn="just">
              <a:buClr>
                <a:schemeClr val="tx1"/>
              </a:buClr>
              <a:buSzPct val="71000"/>
            </a:pPr>
            <a:r>
              <a:rPr lang="en-US" sz="2800" b="1" dirty="0" smtClean="0">
                <a:solidFill>
                  <a:srgbClr val="222222"/>
                </a:solidFill>
                <a:latin typeface="arial" panose="020B0604020202020204" pitchFamily="34" charset="0"/>
              </a:rPr>
              <a:t>2. </a:t>
            </a:r>
            <a:r>
              <a:rPr lang="en-US" sz="2800" b="1" dirty="0">
                <a:solidFill>
                  <a:srgbClr val="222222"/>
                </a:solidFill>
                <a:latin typeface="arial" panose="020B0604020202020204" pitchFamily="34" charset="0"/>
              </a:rPr>
              <a:t>Time Stamp based </a:t>
            </a:r>
            <a:r>
              <a:rPr lang="en-US" sz="2800" b="1" dirty="0" smtClean="0">
                <a:solidFill>
                  <a:srgbClr val="222222"/>
                </a:solidFill>
                <a:latin typeface="arial" panose="020B0604020202020204" pitchFamily="34" charset="0"/>
              </a:rPr>
              <a:t>Protocol</a:t>
            </a:r>
          </a:p>
          <a:p>
            <a:pPr marL="457200" indent="-457200" algn="just">
              <a:buClr>
                <a:schemeClr val="tx1"/>
              </a:buClr>
              <a:buSzPct val="71000"/>
              <a:buFont typeface="Wingdings" panose="05000000000000000000" pitchFamily="2" charset="2"/>
              <a:buChar char="Ø"/>
            </a:pPr>
            <a:r>
              <a:rPr lang="en-US" sz="2600" dirty="0">
                <a:solidFill>
                  <a:srgbClr val="222222"/>
                </a:solidFill>
                <a:latin typeface="arial" panose="020B0604020202020204" pitchFamily="34" charset="0"/>
              </a:rPr>
              <a:t>The Timestamp Ordering Protocol is used to order the transactions based on their Timestamps. </a:t>
            </a:r>
            <a:endParaRPr lang="en-US" sz="2600" dirty="0" smtClean="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Ø"/>
            </a:pPr>
            <a:r>
              <a:rPr lang="en-US" sz="2600" dirty="0" smtClean="0">
                <a:solidFill>
                  <a:srgbClr val="222222"/>
                </a:solidFill>
                <a:latin typeface="arial" panose="020B0604020202020204" pitchFamily="34" charset="0"/>
              </a:rPr>
              <a:t>The </a:t>
            </a:r>
            <a:r>
              <a:rPr lang="en-US" sz="2600" dirty="0">
                <a:solidFill>
                  <a:srgbClr val="222222"/>
                </a:solidFill>
                <a:latin typeface="arial" panose="020B0604020202020204" pitchFamily="34" charset="0"/>
              </a:rPr>
              <a:t>order of transaction is nothing but the ascending order of the transaction creation.</a:t>
            </a:r>
          </a:p>
          <a:p>
            <a:pPr marL="457200" indent="-457200" algn="just">
              <a:buClr>
                <a:schemeClr val="tx1"/>
              </a:buClr>
              <a:buSzPct val="71000"/>
              <a:buFont typeface="Wingdings" panose="05000000000000000000" pitchFamily="2" charset="2"/>
              <a:buChar char="Ø"/>
            </a:pPr>
            <a:r>
              <a:rPr lang="en-US" sz="2600" dirty="0">
                <a:solidFill>
                  <a:srgbClr val="222222"/>
                </a:solidFill>
                <a:latin typeface="arial" panose="020B0604020202020204" pitchFamily="34" charset="0"/>
              </a:rPr>
              <a:t>The priority of the older transaction is higher that's why it executes first. </a:t>
            </a:r>
            <a:endParaRPr lang="en-US" sz="2600" dirty="0" smtClean="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Ø"/>
            </a:pPr>
            <a:r>
              <a:rPr lang="en-US" sz="2600" dirty="0" smtClean="0">
                <a:solidFill>
                  <a:srgbClr val="222222"/>
                </a:solidFill>
                <a:latin typeface="arial" panose="020B0604020202020204" pitchFamily="34" charset="0"/>
              </a:rPr>
              <a:t>To </a:t>
            </a:r>
            <a:r>
              <a:rPr lang="en-US" sz="2600" dirty="0">
                <a:solidFill>
                  <a:srgbClr val="222222"/>
                </a:solidFill>
                <a:latin typeface="arial" panose="020B0604020202020204" pitchFamily="34" charset="0"/>
              </a:rPr>
              <a:t>determine the timestamp of the transaction, this protocol uses system time or logical counter.</a:t>
            </a:r>
          </a:p>
          <a:p>
            <a:pPr marL="457200" indent="-457200" algn="just">
              <a:buClr>
                <a:schemeClr val="tx1"/>
              </a:buClr>
              <a:buSzPct val="71000"/>
              <a:buFont typeface="Wingdings" panose="05000000000000000000" pitchFamily="2" charset="2"/>
              <a:buChar char="Ø"/>
            </a:pPr>
            <a:r>
              <a:rPr lang="en-US" sz="2600" dirty="0">
                <a:solidFill>
                  <a:srgbClr val="222222"/>
                </a:solidFill>
                <a:latin typeface="arial" panose="020B0604020202020204" pitchFamily="34" charset="0"/>
              </a:rPr>
              <a:t>The lock-based protocol is used to manage the order between conflicting pairs among transactions at the execution time. </a:t>
            </a:r>
            <a:endParaRPr lang="en-US" sz="2600" dirty="0" smtClean="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Ø"/>
            </a:pPr>
            <a:r>
              <a:rPr lang="en-US" sz="2600" dirty="0" smtClean="0">
                <a:solidFill>
                  <a:srgbClr val="222222"/>
                </a:solidFill>
                <a:latin typeface="arial" panose="020B0604020202020204" pitchFamily="34" charset="0"/>
              </a:rPr>
              <a:t>But </a:t>
            </a:r>
            <a:r>
              <a:rPr lang="en-US" sz="2600" dirty="0">
                <a:solidFill>
                  <a:srgbClr val="222222"/>
                </a:solidFill>
                <a:latin typeface="arial" panose="020B0604020202020204" pitchFamily="34" charset="0"/>
              </a:rPr>
              <a:t>Timestamp based protocols start working as soon as a transaction is created.</a:t>
            </a:r>
            <a:endParaRPr lang="en-US" sz="2600" dirty="0" smtClean="0">
              <a:solidFill>
                <a:srgbClr val="222222"/>
              </a:solidFill>
              <a:latin typeface="arial" panose="020B0604020202020204" pitchFamily="34" charset="0"/>
            </a:endParaRPr>
          </a:p>
        </p:txBody>
      </p:sp>
    </p:spTree>
    <p:extLst>
      <p:ext uri="{BB962C8B-B14F-4D97-AF65-F5344CB8AC3E}">
        <p14:creationId xmlns:p14="http://schemas.microsoft.com/office/powerpoint/2010/main" val="1005261739"/>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10.5.1 </a:t>
            </a:r>
            <a:r>
              <a:rPr lang="en-US" sz="2800" dirty="0">
                <a:solidFill>
                  <a:schemeClr val="bg1"/>
                </a:solidFill>
              </a:rPr>
              <a:t>Concurrency </a:t>
            </a:r>
            <a:r>
              <a:rPr lang="en-US" sz="2800" dirty="0" smtClean="0">
                <a:solidFill>
                  <a:schemeClr val="bg1"/>
                </a:solidFill>
              </a:rPr>
              <a:t>Control Protocol</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r>
              <a:rPr lang="en-US" sz="2800" b="1" dirty="0" smtClean="0">
                <a:solidFill>
                  <a:srgbClr val="222222"/>
                </a:solidFill>
                <a:latin typeface="arial" panose="020B0604020202020204" pitchFamily="34" charset="0"/>
              </a:rPr>
              <a:t>2. </a:t>
            </a:r>
            <a:r>
              <a:rPr lang="en-US" sz="2800" b="1" dirty="0">
                <a:solidFill>
                  <a:srgbClr val="222222"/>
                </a:solidFill>
                <a:latin typeface="arial" panose="020B0604020202020204" pitchFamily="34" charset="0"/>
              </a:rPr>
              <a:t>Time Stamp based </a:t>
            </a:r>
            <a:r>
              <a:rPr lang="en-US" sz="2800" b="1" dirty="0" smtClean="0">
                <a:solidFill>
                  <a:srgbClr val="222222"/>
                </a:solidFill>
                <a:latin typeface="arial" panose="020B0604020202020204" pitchFamily="34" charset="0"/>
              </a:rPr>
              <a:t>Protocol</a:t>
            </a:r>
          </a:p>
          <a:p>
            <a:pPr algn="just">
              <a:buClr>
                <a:schemeClr val="tx1"/>
              </a:buClr>
              <a:buSzPct val="71000"/>
            </a:pPr>
            <a:r>
              <a:rPr lang="en-US" sz="2600" b="1" dirty="0">
                <a:solidFill>
                  <a:srgbClr val="222222"/>
                </a:solidFill>
                <a:latin typeface="arial" panose="020B0604020202020204" pitchFamily="34" charset="0"/>
              </a:rPr>
              <a:t>Example</a:t>
            </a:r>
            <a:r>
              <a:rPr lang="en-US" sz="2600" b="1" dirty="0" smtClean="0">
                <a:solidFill>
                  <a:srgbClr val="222222"/>
                </a:solidFill>
                <a:latin typeface="arial" panose="020B0604020202020204" pitchFamily="34" charset="0"/>
              </a:rPr>
              <a:t>:</a:t>
            </a:r>
            <a:endParaRPr lang="en-US" sz="2600" b="1" dirty="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Ø"/>
            </a:pPr>
            <a:r>
              <a:rPr lang="en-US" sz="2600" dirty="0">
                <a:solidFill>
                  <a:srgbClr val="222222"/>
                </a:solidFill>
                <a:latin typeface="arial" panose="020B0604020202020204" pitchFamily="34" charset="0"/>
              </a:rPr>
              <a:t>Suppose there are there transactions </a:t>
            </a:r>
            <a:r>
              <a:rPr lang="en-US" sz="2600" dirty="0" err="1">
                <a:solidFill>
                  <a:srgbClr val="222222"/>
                </a:solidFill>
                <a:latin typeface="arial" panose="020B0604020202020204" pitchFamily="34" charset="0"/>
              </a:rPr>
              <a:t>T1</a:t>
            </a:r>
            <a:r>
              <a:rPr lang="en-US" sz="2600" dirty="0">
                <a:solidFill>
                  <a:srgbClr val="222222"/>
                </a:solidFill>
                <a:latin typeface="arial" panose="020B0604020202020204" pitchFamily="34" charset="0"/>
              </a:rPr>
              <a:t>, </a:t>
            </a:r>
            <a:r>
              <a:rPr lang="en-US" sz="2600" dirty="0" err="1">
                <a:solidFill>
                  <a:srgbClr val="222222"/>
                </a:solidFill>
                <a:latin typeface="arial" panose="020B0604020202020204" pitchFamily="34" charset="0"/>
              </a:rPr>
              <a:t>T2</a:t>
            </a:r>
            <a:r>
              <a:rPr lang="en-US" sz="2600" dirty="0">
                <a:solidFill>
                  <a:srgbClr val="222222"/>
                </a:solidFill>
                <a:latin typeface="arial" panose="020B0604020202020204" pitchFamily="34" charset="0"/>
              </a:rPr>
              <a:t>, and </a:t>
            </a:r>
            <a:r>
              <a:rPr lang="en-US" sz="2600" dirty="0" err="1">
                <a:solidFill>
                  <a:srgbClr val="222222"/>
                </a:solidFill>
                <a:latin typeface="arial" panose="020B0604020202020204" pitchFamily="34" charset="0"/>
              </a:rPr>
              <a:t>T3</a:t>
            </a:r>
            <a:r>
              <a:rPr lang="en-US" sz="2600" dirty="0">
                <a:solidFill>
                  <a:srgbClr val="222222"/>
                </a:solidFill>
                <a:latin typeface="arial" panose="020B0604020202020204" pitchFamily="34" charset="0"/>
              </a:rPr>
              <a:t>. </a:t>
            </a:r>
          </a:p>
          <a:p>
            <a:pPr marL="457200" indent="-457200" algn="just">
              <a:buClr>
                <a:schemeClr val="tx1"/>
              </a:buClr>
              <a:buSzPct val="71000"/>
              <a:buFont typeface="Wingdings" panose="05000000000000000000" pitchFamily="2" charset="2"/>
              <a:buChar char="Ø"/>
            </a:pPr>
            <a:r>
              <a:rPr lang="en-US" sz="2600" dirty="0" err="1">
                <a:solidFill>
                  <a:srgbClr val="222222"/>
                </a:solidFill>
                <a:latin typeface="arial" panose="020B0604020202020204" pitchFamily="34" charset="0"/>
              </a:rPr>
              <a:t>T1</a:t>
            </a:r>
            <a:r>
              <a:rPr lang="en-US" sz="2600" dirty="0">
                <a:solidFill>
                  <a:srgbClr val="222222"/>
                </a:solidFill>
                <a:latin typeface="arial" panose="020B0604020202020204" pitchFamily="34" charset="0"/>
              </a:rPr>
              <a:t> has entered the system at time 0010 </a:t>
            </a:r>
          </a:p>
          <a:p>
            <a:pPr marL="457200" indent="-457200" algn="just">
              <a:buClr>
                <a:schemeClr val="tx1"/>
              </a:buClr>
              <a:buSzPct val="71000"/>
              <a:buFont typeface="Wingdings" panose="05000000000000000000" pitchFamily="2" charset="2"/>
              <a:buChar char="Ø"/>
            </a:pPr>
            <a:r>
              <a:rPr lang="en-US" sz="2600" dirty="0" err="1">
                <a:solidFill>
                  <a:srgbClr val="222222"/>
                </a:solidFill>
                <a:latin typeface="arial" panose="020B0604020202020204" pitchFamily="34" charset="0"/>
              </a:rPr>
              <a:t>T2</a:t>
            </a:r>
            <a:r>
              <a:rPr lang="en-US" sz="2600" dirty="0">
                <a:solidFill>
                  <a:srgbClr val="222222"/>
                </a:solidFill>
                <a:latin typeface="arial" panose="020B0604020202020204" pitchFamily="34" charset="0"/>
              </a:rPr>
              <a:t> has entered the system at 0020</a:t>
            </a:r>
          </a:p>
          <a:p>
            <a:pPr marL="457200" indent="-457200" algn="just">
              <a:buClr>
                <a:schemeClr val="tx1"/>
              </a:buClr>
              <a:buSzPct val="71000"/>
              <a:buFont typeface="Wingdings" panose="05000000000000000000" pitchFamily="2" charset="2"/>
              <a:buChar char="Ø"/>
            </a:pPr>
            <a:r>
              <a:rPr lang="en-US" sz="2600" dirty="0" err="1">
                <a:solidFill>
                  <a:srgbClr val="222222"/>
                </a:solidFill>
                <a:latin typeface="arial" panose="020B0604020202020204" pitchFamily="34" charset="0"/>
              </a:rPr>
              <a:t>T3</a:t>
            </a:r>
            <a:r>
              <a:rPr lang="en-US" sz="2600" dirty="0">
                <a:solidFill>
                  <a:srgbClr val="222222"/>
                </a:solidFill>
                <a:latin typeface="arial" panose="020B0604020202020204" pitchFamily="34" charset="0"/>
              </a:rPr>
              <a:t> has entered the system at 0030</a:t>
            </a:r>
          </a:p>
          <a:p>
            <a:pPr marL="457200" indent="-457200" algn="just">
              <a:buClr>
                <a:schemeClr val="tx1"/>
              </a:buClr>
              <a:buSzPct val="71000"/>
              <a:buFont typeface="Wingdings" panose="05000000000000000000" pitchFamily="2" charset="2"/>
              <a:buChar char="Ø"/>
            </a:pPr>
            <a:r>
              <a:rPr lang="en-US" sz="2600" dirty="0">
                <a:solidFill>
                  <a:srgbClr val="222222"/>
                </a:solidFill>
                <a:latin typeface="arial" panose="020B0604020202020204" pitchFamily="34" charset="0"/>
              </a:rPr>
              <a:t>Priority will be given to transaction </a:t>
            </a:r>
            <a:r>
              <a:rPr lang="en-US" sz="2600" dirty="0" err="1">
                <a:solidFill>
                  <a:srgbClr val="222222"/>
                </a:solidFill>
                <a:latin typeface="arial" panose="020B0604020202020204" pitchFamily="34" charset="0"/>
              </a:rPr>
              <a:t>T1</a:t>
            </a:r>
            <a:r>
              <a:rPr lang="en-US" sz="2600" dirty="0">
                <a:solidFill>
                  <a:srgbClr val="222222"/>
                </a:solidFill>
                <a:latin typeface="arial" panose="020B0604020202020204" pitchFamily="34" charset="0"/>
              </a:rPr>
              <a:t>, then transaction </a:t>
            </a:r>
            <a:r>
              <a:rPr lang="en-US" sz="2600" dirty="0" err="1">
                <a:solidFill>
                  <a:srgbClr val="222222"/>
                </a:solidFill>
                <a:latin typeface="arial" panose="020B0604020202020204" pitchFamily="34" charset="0"/>
              </a:rPr>
              <a:t>T2</a:t>
            </a:r>
            <a:r>
              <a:rPr lang="en-US" sz="2600" dirty="0">
                <a:solidFill>
                  <a:srgbClr val="222222"/>
                </a:solidFill>
                <a:latin typeface="arial" panose="020B0604020202020204" pitchFamily="34" charset="0"/>
              </a:rPr>
              <a:t> and lastly Transaction </a:t>
            </a:r>
            <a:r>
              <a:rPr lang="en-US" sz="2600" dirty="0" err="1">
                <a:solidFill>
                  <a:srgbClr val="222222"/>
                </a:solidFill>
                <a:latin typeface="arial" panose="020B0604020202020204" pitchFamily="34" charset="0"/>
              </a:rPr>
              <a:t>T3</a:t>
            </a:r>
            <a:r>
              <a:rPr lang="en-US" sz="2600" dirty="0">
                <a:solidFill>
                  <a:srgbClr val="222222"/>
                </a:solidFill>
                <a:latin typeface="arial" panose="020B0604020202020204" pitchFamily="34" charset="0"/>
              </a:rPr>
              <a:t>.</a:t>
            </a:r>
            <a:endParaRPr lang="en-US" sz="2600" dirty="0" smtClean="0">
              <a:solidFill>
                <a:srgbClr val="222222"/>
              </a:solidFill>
              <a:latin typeface="arial" panose="020B0604020202020204" pitchFamily="34" charset="0"/>
            </a:endParaRPr>
          </a:p>
        </p:txBody>
      </p:sp>
    </p:spTree>
    <p:extLst>
      <p:ext uri="{BB962C8B-B14F-4D97-AF65-F5344CB8AC3E}">
        <p14:creationId xmlns:p14="http://schemas.microsoft.com/office/powerpoint/2010/main" val="2673631586"/>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10.5.1 </a:t>
            </a:r>
            <a:r>
              <a:rPr lang="en-US" sz="2800" dirty="0">
                <a:solidFill>
                  <a:schemeClr val="bg1"/>
                </a:solidFill>
              </a:rPr>
              <a:t>Concurrency </a:t>
            </a:r>
            <a:r>
              <a:rPr lang="en-US" sz="2800" dirty="0" smtClean="0">
                <a:solidFill>
                  <a:schemeClr val="bg1"/>
                </a:solidFill>
              </a:rPr>
              <a:t>Control Protocol</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r>
              <a:rPr lang="en-US" sz="2800" b="1" dirty="0" smtClean="0">
                <a:solidFill>
                  <a:srgbClr val="222222"/>
                </a:solidFill>
                <a:latin typeface="arial" panose="020B0604020202020204" pitchFamily="34" charset="0"/>
              </a:rPr>
              <a:t>2. </a:t>
            </a:r>
            <a:r>
              <a:rPr lang="en-US" sz="2800" b="1" dirty="0">
                <a:solidFill>
                  <a:srgbClr val="222222"/>
                </a:solidFill>
                <a:latin typeface="arial" panose="020B0604020202020204" pitchFamily="34" charset="0"/>
              </a:rPr>
              <a:t>Time Stamp based </a:t>
            </a:r>
            <a:r>
              <a:rPr lang="en-US" sz="2800" b="1" dirty="0" smtClean="0">
                <a:solidFill>
                  <a:srgbClr val="222222"/>
                </a:solidFill>
                <a:latin typeface="arial" panose="020B0604020202020204" pitchFamily="34" charset="0"/>
              </a:rPr>
              <a:t>Protocol</a:t>
            </a:r>
          </a:p>
          <a:p>
            <a:pPr marL="457200" indent="-457200" algn="just">
              <a:buClr>
                <a:schemeClr val="tx1"/>
              </a:buClr>
              <a:buSzPct val="71000"/>
              <a:buFont typeface="Wingdings" panose="05000000000000000000" pitchFamily="2" charset="2"/>
              <a:buChar char="Ø"/>
            </a:pPr>
            <a:r>
              <a:rPr lang="en-US" sz="2600" dirty="0" smtClean="0">
                <a:solidFill>
                  <a:srgbClr val="222222"/>
                </a:solidFill>
                <a:latin typeface="arial" panose="020B0604020202020204" pitchFamily="34" charset="0"/>
              </a:rPr>
              <a:t>The </a:t>
            </a:r>
            <a:r>
              <a:rPr lang="en-US" sz="2600" dirty="0">
                <a:solidFill>
                  <a:srgbClr val="222222"/>
                </a:solidFill>
                <a:latin typeface="arial" panose="020B0604020202020204" pitchFamily="34" charset="0"/>
              </a:rPr>
              <a:t>timestamp of transaction </a:t>
            </a:r>
            <a:r>
              <a:rPr lang="en-US" sz="2600" dirty="0" err="1">
                <a:solidFill>
                  <a:srgbClr val="222222"/>
                </a:solidFill>
                <a:latin typeface="arial" panose="020B0604020202020204" pitchFamily="34" charset="0"/>
              </a:rPr>
              <a:t>Ti</a:t>
            </a:r>
            <a:r>
              <a:rPr lang="en-US" sz="2600" dirty="0">
                <a:solidFill>
                  <a:srgbClr val="222222"/>
                </a:solidFill>
                <a:latin typeface="arial" panose="020B0604020202020204" pitchFamily="34" charset="0"/>
              </a:rPr>
              <a:t> is denoted as </a:t>
            </a:r>
            <a:r>
              <a:rPr lang="en-US" sz="2600" dirty="0" err="1">
                <a:solidFill>
                  <a:srgbClr val="222222"/>
                </a:solidFill>
                <a:latin typeface="arial" panose="020B0604020202020204" pitchFamily="34" charset="0"/>
              </a:rPr>
              <a:t>TS</a:t>
            </a:r>
            <a:r>
              <a:rPr lang="en-US" sz="2600" dirty="0">
                <a:solidFill>
                  <a:srgbClr val="222222"/>
                </a:solidFill>
                <a:latin typeface="arial" panose="020B0604020202020204" pitchFamily="34" charset="0"/>
              </a:rPr>
              <a:t>(</a:t>
            </a:r>
            <a:r>
              <a:rPr lang="en-US" sz="2600" dirty="0" err="1">
                <a:solidFill>
                  <a:srgbClr val="222222"/>
                </a:solidFill>
                <a:latin typeface="arial" panose="020B0604020202020204" pitchFamily="34" charset="0"/>
              </a:rPr>
              <a:t>Ti</a:t>
            </a:r>
            <a:r>
              <a:rPr lang="en-US" sz="2600" dirty="0">
                <a:solidFill>
                  <a:srgbClr val="222222"/>
                </a:solidFill>
                <a:latin typeface="arial" panose="020B0604020202020204" pitchFamily="34" charset="0"/>
              </a:rPr>
              <a:t>).</a:t>
            </a:r>
          </a:p>
          <a:p>
            <a:pPr marL="457200" indent="-457200" algn="just">
              <a:buClr>
                <a:schemeClr val="tx1"/>
              </a:buClr>
              <a:buSzPct val="71000"/>
              <a:buFont typeface="Wingdings" panose="05000000000000000000" pitchFamily="2" charset="2"/>
              <a:buChar char="Ø"/>
            </a:pPr>
            <a:r>
              <a:rPr lang="en-US" sz="2600" dirty="0">
                <a:solidFill>
                  <a:srgbClr val="222222"/>
                </a:solidFill>
                <a:latin typeface="arial" panose="020B0604020202020204" pitchFamily="34" charset="0"/>
              </a:rPr>
              <a:t>Read time-stamp of data-item X is denoted by R-timestamp(X</a:t>
            </a:r>
            <a:r>
              <a:rPr lang="en-US" sz="2600" dirty="0" smtClean="0">
                <a:solidFill>
                  <a:srgbClr val="222222"/>
                </a:solidFill>
                <a:latin typeface="arial" panose="020B0604020202020204" pitchFamily="34" charset="0"/>
              </a:rPr>
              <a:t>). , is largest timestamp of any transaction that executed Read(X) successfully.</a:t>
            </a:r>
            <a:endParaRPr lang="en-US" sz="2600" dirty="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Ø"/>
            </a:pPr>
            <a:r>
              <a:rPr lang="en-US" sz="2600" dirty="0">
                <a:solidFill>
                  <a:srgbClr val="222222"/>
                </a:solidFill>
                <a:latin typeface="arial" panose="020B0604020202020204" pitchFamily="34" charset="0"/>
              </a:rPr>
              <a:t>Write time-stamp of data-item X is denoted by W-timestamp(X</a:t>
            </a:r>
            <a:r>
              <a:rPr lang="en-US" sz="2600" dirty="0" smtClean="0">
                <a:solidFill>
                  <a:srgbClr val="222222"/>
                </a:solidFill>
                <a:latin typeface="arial" panose="020B0604020202020204" pitchFamily="34" charset="0"/>
              </a:rPr>
              <a:t>). , </a:t>
            </a:r>
            <a:r>
              <a:rPr lang="en-US" sz="2600" dirty="0">
                <a:solidFill>
                  <a:srgbClr val="222222"/>
                </a:solidFill>
                <a:latin typeface="arial" panose="020B0604020202020204" pitchFamily="34" charset="0"/>
              </a:rPr>
              <a:t>is largest timestamp of any transaction that executed write(X) successfully.</a:t>
            </a:r>
          </a:p>
          <a:p>
            <a:pPr algn="just">
              <a:buClr>
                <a:schemeClr val="tx1"/>
              </a:buClr>
              <a:buSzPct val="71000"/>
            </a:pPr>
            <a:endParaRPr lang="en-US" sz="2600" dirty="0" smtClean="0">
              <a:solidFill>
                <a:srgbClr val="222222"/>
              </a:solidFill>
              <a:latin typeface="arial" panose="020B0604020202020204" pitchFamily="34" charset="0"/>
            </a:endParaRPr>
          </a:p>
        </p:txBody>
      </p:sp>
    </p:spTree>
    <p:extLst>
      <p:ext uri="{BB962C8B-B14F-4D97-AF65-F5344CB8AC3E}">
        <p14:creationId xmlns:p14="http://schemas.microsoft.com/office/powerpoint/2010/main" val="3948282381"/>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10.5.1 </a:t>
            </a:r>
            <a:r>
              <a:rPr lang="en-US" sz="2800" dirty="0">
                <a:solidFill>
                  <a:schemeClr val="bg1"/>
                </a:solidFill>
              </a:rPr>
              <a:t>Concurrency </a:t>
            </a:r>
            <a:r>
              <a:rPr lang="en-US" sz="2800" dirty="0" smtClean="0">
                <a:solidFill>
                  <a:schemeClr val="bg1"/>
                </a:solidFill>
              </a:rPr>
              <a:t>Control Protocol</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r>
              <a:rPr lang="en-US" sz="2800" b="1" dirty="0" smtClean="0">
                <a:solidFill>
                  <a:srgbClr val="222222"/>
                </a:solidFill>
                <a:latin typeface="arial" panose="020B0604020202020204" pitchFamily="34" charset="0"/>
              </a:rPr>
              <a:t>2. </a:t>
            </a:r>
            <a:r>
              <a:rPr lang="en-US" sz="2800" b="1" dirty="0">
                <a:solidFill>
                  <a:srgbClr val="222222"/>
                </a:solidFill>
                <a:latin typeface="arial" panose="020B0604020202020204" pitchFamily="34" charset="0"/>
              </a:rPr>
              <a:t>Time Stamp based </a:t>
            </a:r>
            <a:r>
              <a:rPr lang="en-US" sz="2800" b="1" dirty="0" smtClean="0">
                <a:solidFill>
                  <a:srgbClr val="222222"/>
                </a:solidFill>
                <a:latin typeface="arial" panose="020B0604020202020204" pitchFamily="34" charset="0"/>
              </a:rPr>
              <a:t>Protocol</a:t>
            </a:r>
          </a:p>
          <a:p>
            <a:pPr algn="just">
              <a:buClr>
                <a:schemeClr val="tx1"/>
              </a:buClr>
              <a:buSzPct val="71000"/>
            </a:pPr>
            <a:r>
              <a:rPr lang="en-US" sz="2600" dirty="0" smtClean="0">
                <a:solidFill>
                  <a:schemeClr val="accent1"/>
                </a:solidFill>
                <a:latin typeface="arial" panose="020B0604020202020204" pitchFamily="34" charset="0"/>
              </a:rPr>
              <a:t>Basic </a:t>
            </a:r>
            <a:r>
              <a:rPr lang="en-US" sz="2600" dirty="0">
                <a:solidFill>
                  <a:schemeClr val="accent1"/>
                </a:solidFill>
                <a:latin typeface="arial" panose="020B0604020202020204" pitchFamily="34" charset="0"/>
              </a:rPr>
              <a:t>Timestamp ordering protocol works as follows</a:t>
            </a:r>
            <a:r>
              <a:rPr lang="en-US" sz="2600" dirty="0" smtClean="0">
                <a:solidFill>
                  <a:schemeClr val="accent1"/>
                </a:solidFill>
                <a:latin typeface="arial" panose="020B0604020202020204" pitchFamily="34" charset="0"/>
              </a:rPr>
              <a:t>:</a:t>
            </a:r>
            <a:endParaRPr lang="en-US" sz="2600" dirty="0">
              <a:solidFill>
                <a:schemeClr val="accent1"/>
              </a:solidFill>
              <a:latin typeface="arial" panose="020B0604020202020204" pitchFamily="34" charset="0"/>
            </a:endParaRPr>
          </a:p>
          <a:p>
            <a:pPr algn="just">
              <a:buClr>
                <a:schemeClr val="tx1"/>
              </a:buClr>
              <a:buSzPct val="71000"/>
            </a:pPr>
            <a:r>
              <a:rPr lang="en-US" sz="2600" dirty="0" smtClean="0">
                <a:solidFill>
                  <a:srgbClr val="222222"/>
                </a:solidFill>
                <a:latin typeface="arial" panose="020B0604020202020204" pitchFamily="34" charset="0"/>
              </a:rPr>
              <a:t>1. </a:t>
            </a:r>
            <a:r>
              <a:rPr lang="en-US" sz="2600" b="1" dirty="0" smtClean="0">
                <a:solidFill>
                  <a:srgbClr val="222222"/>
                </a:solidFill>
                <a:latin typeface="arial" panose="020B0604020202020204" pitchFamily="34" charset="0"/>
              </a:rPr>
              <a:t>Check </a:t>
            </a:r>
            <a:r>
              <a:rPr lang="en-US" sz="2600" b="1" dirty="0">
                <a:solidFill>
                  <a:srgbClr val="222222"/>
                </a:solidFill>
                <a:latin typeface="arial" panose="020B0604020202020204" pitchFamily="34" charset="0"/>
              </a:rPr>
              <a:t>the following condition whenever a transaction </a:t>
            </a:r>
            <a:r>
              <a:rPr lang="en-US" sz="2600" b="1" dirty="0" err="1">
                <a:solidFill>
                  <a:srgbClr val="222222"/>
                </a:solidFill>
                <a:latin typeface="arial" panose="020B0604020202020204" pitchFamily="34" charset="0"/>
              </a:rPr>
              <a:t>Ti</a:t>
            </a:r>
            <a:r>
              <a:rPr lang="en-US" sz="2600" b="1" dirty="0">
                <a:solidFill>
                  <a:srgbClr val="222222"/>
                </a:solidFill>
                <a:latin typeface="arial" panose="020B0604020202020204" pitchFamily="34" charset="0"/>
              </a:rPr>
              <a:t> issues a Read (X) operation</a:t>
            </a:r>
            <a:r>
              <a:rPr lang="en-US" sz="2600" b="1" dirty="0" smtClean="0">
                <a:solidFill>
                  <a:srgbClr val="222222"/>
                </a:solidFill>
                <a:latin typeface="arial" panose="020B0604020202020204" pitchFamily="34" charset="0"/>
              </a:rPr>
              <a:t>:</a:t>
            </a:r>
            <a:endParaRPr lang="en-US" sz="2600" b="1" dirty="0">
              <a:solidFill>
                <a:srgbClr val="222222"/>
              </a:solidFill>
              <a:latin typeface="arial" panose="020B0604020202020204" pitchFamily="34" charset="0"/>
            </a:endParaRPr>
          </a:p>
          <a:p>
            <a:pPr marL="914389" lvl="1" indent="-457200" algn="just">
              <a:buClr>
                <a:schemeClr val="tx1"/>
              </a:buClr>
              <a:buSzPct val="71000"/>
              <a:buFont typeface="Wingdings" panose="05000000000000000000" pitchFamily="2" charset="2"/>
              <a:buChar char="Ø"/>
            </a:pPr>
            <a:r>
              <a:rPr lang="en-US" sz="2400" dirty="0">
                <a:solidFill>
                  <a:srgbClr val="222222"/>
                </a:solidFill>
                <a:latin typeface="arial" panose="020B0604020202020204" pitchFamily="34" charset="0"/>
              </a:rPr>
              <a:t>If </a:t>
            </a:r>
            <a:r>
              <a:rPr lang="en-US" sz="2400" dirty="0" err="1">
                <a:solidFill>
                  <a:srgbClr val="222222"/>
                </a:solidFill>
                <a:latin typeface="arial" panose="020B0604020202020204" pitchFamily="34" charset="0"/>
              </a:rPr>
              <a:t>W_TS</a:t>
            </a:r>
            <a:r>
              <a:rPr lang="en-US" sz="2400" dirty="0">
                <a:solidFill>
                  <a:srgbClr val="222222"/>
                </a:solidFill>
                <a:latin typeface="arial" panose="020B0604020202020204" pitchFamily="34" charset="0"/>
              </a:rPr>
              <a:t>(X) &gt;</a:t>
            </a:r>
            <a:r>
              <a:rPr lang="en-US" sz="2400" dirty="0" err="1">
                <a:solidFill>
                  <a:srgbClr val="222222"/>
                </a:solidFill>
                <a:latin typeface="arial" panose="020B0604020202020204" pitchFamily="34" charset="0"/>
              </a:rPr>
              <a:t>TS</a:t>
            </a:r>
            <a:r>
              <a:rPr lang="en-US" sz="2400" dirty="0">
                <a:solidFill>
                  <a:srgbClr val="222222"/>
                </a:solidFill>
                <a:latin typeface="arial" panose="020B0604020202020204" pitchFamily="34" charset="0"/>
              </a:rPr>
              <a:t>(</a:t>
            </a:r>
            <a:r>
              <a:rPr lang="en-US" sz="2400" dirty="0" err="1">
                <a:solidFill>
                  <a:srgbClr val="222222"/>
                </a:solidFill>
                <a:latin typeface="arial" panose="020B0604020202020204" pitchFamily="34" charset="0"/>
              </a:rPr>
              <a:t>Ti</a:t>
            </a:r>
            <a:r>
              <a:rPr lang="en-US" sz="2400" dirty="0">
                <a:solidFill>
                  <a:srgbClr val="222222"/>
                </a:solidFill>
                <a:latin typeface="arial" panose="020B0604020202020204" pitchFamily="34" charset="0"/>
              </a:rPr>
              <a:t>) then the operation is rejected.</a:t>
            </a:r>
          </a:p>
          <a:p>
            <a:pPr marL="914389" lvl="1" indent="-457200" algn="just">
              <a:buClr>
                <a:schemeClr val="tx1"/>
              </a:buClr>
              <a:buSzPct val="71000"/>
              <a:buFont typeface="Wingdings" panose="05000000000000000000" pitchFamily="2" charset="2"/>
              <a:buChar char="Ø"/>
            </a:pPr>
            <a:r>
              <a:rPr lang="en-US" sz="2400" dirty="0">
                <a:solidFill>
                  <a:srgbClr val="222222"/>
                </a:solidFill>
                <a:latin typeface="arial" panose="020B0604020202020204" pitchFamily="34" charset="0"/>
              </a:rPr>
              <a:t>If </a:t>
            </a:r>
            <a:r>
              <a:rPr lang="en-US" sz="2400" dirty="0" err="1">
                <a:solidFill>
                  <a:srgbClr val="222222"/>
                </a:solidFill>
                <a:latin typeface="arial" panose="020B0604020202020204" pitchFamily="34" charset="0"/>
              </a:rPr>
              <a:t>W_TS</a:t>
            </a:r>
            <a:r>
              <a:rPr lang="en-US" sz="2400" dirty="0">
                <a:solidFill>
                  <a:srgbClr val="222222"/>
                </a:solidFill>
                <a:latin typeface="arial" panose="020B0604020202020204" pitchFamily="34" charset="0"/>
              </a:rPr>
              <a:t>(X) &lt;= </a:t>
            </a:r>
            <a:r>
              <a:rPr lang="en-US" sz="2400" dirty="0" err="1">
                <a:solidFill>
                  <a:srgbClr val="222222"/>
                </a:solidFill>
                <a:latin typeface="arial" panose="020B0604020202020204" pitchFamily="34" charset="0"/>
              </a:rPr>
              <a:t>TS</a:t>
            </a:r>
            <a:r>
              <a:rPr lang="en-US" sz="2400" dirty="0">
                <a:solidFill>
                  <a:srgbClr val="222222"/>
                </a:solidFill>
                <a:latin typeface="arial" panose="020B0604020202020204" pitchFamily="34" charset="0"/>
              </a:rPr>
              <a:t>(</a:t>
            </a:r>
            <a:r>
              <a:rPr lang="en-US" sz="2400" dirty="0" err="1">
                <a:solidFill>
                  <a:srgbClr val="222222"/>
                </a:solidFill>
                <a:latin typeface="arial" panose="020B0604020202020204" pitchFamily="34" charset="0"/>
              </a:rPr>
              <a:t>Ti</a:t>
            </a:r>
            <a:r>
              <a:rPr lang="en-US" sz="2400" dirty="0">
                <a:solidFill>
                  <a:srgbClr val="222222"/>
                </a:solidFill>
                <a:latin typeface="arial" panose="020B0604020202020204" pitchFamily="34" charset="0"/>
              </a:rPr>
              <a:t>) then the operation is executed.</a:t>
            </a:r>
          </a:p>
          <a:p>
            <a:pPr marL="914389" lvl="1" indent="-457200" algn="just">
              <a:buClr>
                <a:schemeClr val="tx1"/>
              </a:buClr>
              <a:buSzPct val="71000"/>
              <a:buFont typeface="Wingdings" panose="05000000000000000000" pitchFamily="2" charset="2"/>
              <a:buChar char="Ø"/>
            </a:pPr>
            <a:r>
              <a:rPr lang="en-US" sz="2400" dirty="0">
                <a:solidFill>
                  <a:srgbClr val="222222"/>
                </a:solidFill>
                <a:latin typeface="arial" panose="020B0604020202020204" pitchFamily="34" charset="0"/>
              </a:rPr>
              <a:t>Timestamps of all the data items are updated.</a:t>
            </a:r>
            <a:endParaRPr lang="en-US" sz="2400" dirty="0" smtClean="0">
              <a:solidFill>
                <a:srgbClr val="222222"/>
              </a:solidFill>
              <a:latin typeface="arial" panose="020B0604020202020204" pitchFamily="34" charset="0"/>
            </a:endParaRPr>
          </a:p>
        </p:txBody>
      </p:sp>
    </p:spTree>
    <p:extLst>
      <p:ext uri="{BB962C8B-B14F-4D97-AF65-F5344CB8AC3E}">
        <p14:creationId xmlns:p14="http://schemas.microsoft.com/office/powerpoint/2010/main" val="819326717"/>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10.5.1 </a:t>
            </a:r>
            <a:r>
              <a:rPr lang="en-US" sz="2800" dirty="0">
                <a:solidFill>
                  <a:schemeClr val="bg1"/>
                </a:solidFill>
              </a:rPr>
              <a:t>Concurrency </a:t>
            </a:r>
            <a:r>
              <a:rPr lang="en-US" sz="2800" dirty="0" smtClean="0">
                <a:solidFill>
                  <a:schemeClr val="bg1"/>
                </a:solidFill>
              </a:rPr>
              <a:t>Control Protocol</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r>
              <a:rPr lang="en-US" sz="2800" b="1" dirty="0" smtClean="0">
                <a:solidFill>
                  <a:srgbClr val="222222"/>
                </a:solidFill>
                <a:latin typeface="arial" panose="020B0604020202020204" pitchFamily="34" charset="0"/>
              </a:rPr>
              <a:t>2. </a:t>
            </a:r>
            <a:r>
              <a:rPr lang="en-US" sz="2800" b="1" dirty="0">
                <a:solidFill>
                  <a:srgbClr val="222222"/>
                </a:solidFill>
                <a:latin typeface="arial" panose="020B0604020202020204" pitchFamily="34" charset="0"/>
              </a:rPr>
              <a:t>Time Stamp based </a:t>
            </a:r>
            <a:r>
              <a:rPr lang="en-US" sz="2800" b="1" dirty="0" smtClean="0">
                <a:solidFill>
                  <a:srgbClr val="222222"/>
                </a:solidFill>
                <a:latin typeface="arial" panose="020B0604020202020204" pitchFamily="34" charset="0"/>
              </a:rPr>
              <a:t>Protocol</a:t>
            </a:r>
          </a:p>
          <a:p>
            <a:pPr algn="just">
              <a:buClr>
                <a:schemeClr val="tx1"/>
              </a:buClr>
              <a:buSzPct val="71000"/>
            </a:pPr>
            <a:r>
              <a:rPr lang="en-US" sz="2600" dirty="0" smtClean="0">
                <a:solidFill>
                  <a:schemeClr val="accent1"/>
                </a:solidFill>
                <a:latin typeface="arial" panose="020B0604020202020204" pitchFamily="34" charset="0"/>
              </a:rPr>
              <a:t>Basic </a:t>
            </a:r>
            <a:r>
              <a:rPr lang="en-US" sz="2600" dirty="0">
                <a:solidFill>
                  <a:schemeClr val="accent1"/>
                </a:solidFill>
                <a:latin typeface="arial" panose="020B0604020202020204" pitchFamily="34" charset="0"/>
              </a:rPr>
              <a:t>Timestamp ordering protocol works as follows</a:t>
            </a:r>
            <a:r>
              <a:rPr lang="en-US" sz="2600" dirty="0" smtClean="0">
                <a:solidFill>
                  <a:schemeClr val="accent1"/>
                </a:solidFill>
                <a:latin typeface="arial" panose="020B0604020202020204" pitchFamily="34" charset="0"/>
              </a:rPr>
              <a:t>:</a:t>
            </a:r>
            <a:endParaRPr lang="en-US" sz="2600" dirty="0">
              <a:solidFill>
                <a:schemeClr val="accent1"/>
              </a:solidFill>
              <a:latin typeface="arial" panose="020B0604020202020204" pitchFamily="34" charset="0"/>
            </a:endParaRPr>
          </a:p>
          <a:p>
            <a:pPr algn="just">
              <a:buClr>
                <a:schemeClr val="tx1"/>
              </a:buClr>
              <a:buSzPct val="71000"/>
            </a:pPr>
            <a:r>
              <a:rPr lang="en-US" sz="2600" dirty="0">
                <a:solidFill>
                  <a:srgbClr val="222222"/>
                </a:solidFill>
                <a:latin typeface="arial" panose="020B0604020202020204" pitchFamily="34" charset="0"/>
              </a:rPr>
              <a:t>2. </a:t>
            </a:r>
            <a:r>
              <a:rPr lang="en-US" sz="2600" b="1" dirty="0" smtClean="0">
                <a:solidFill>
                  <a:srgbClr val="222222"/>
                </a:solidFill>
                <a:latin typeface="arial" panose="020B0604020202020204" pitchFamily="34" charset="0"/>
              </a:rPr>
              <a:t>Check the following condition whenever a transaction </a:t>
            </a:r>
            <a:r>
              <a:rPr lang="en-US" sz="2600" b="1" dirty="0" err="1" smtClean="0">
                <a:solidFill>
                  <a:srgbClr val="222222"/>
                </a:solidFill>
                <a:latin typeface="arial" panose="020B0604020202020204" pitchFamily="34" charset="0"/>
              </a:rPr>
              <a:t>Ti</a:t>
            </a:r>
            <a:r>
              <a:rPr lang="en-US" sz="2600" b="1" dirty="0" smtClean="0">
                <a:solidFill>
                  <a:srgbClr val="222222"/>
                </a:solidFill>
                <a:latin typeface="arial" panose="020B0604020202020204" pitchFamily="34" charset="0"/>
              </a:rPr>
              <a:t> issues a Write(X) operation:</a:t>
            </a:r>
          </a:p>
          <a:p>
            <a:pPr marL="800089" lvl="1" indent="-342900" algn="just">
              <a:buClr>
                <a:schemeClr val="tx1"/>
              </a:buClr>
              <a:buSzPct val="71000"/>
              <a:buFont typeface="Wingdings" panose="05000000000000000000" pitchFamily="2" charset="2"/>
              <a:buChar char="Ø"/>
            </a:pPr>
            <a:r>
              <a:rPr lang="en-US" sz="2200" dirty="0">
                <a:solidFill>
                  <a:srgbClr val="222222"/>
                </a:solidFill>
                <a:latin typeface="arial" panose="020B0604020202020204" pitchFamily="34" charset="0"/>
              </a:rPr>
              <a:t>If </a:t>
            </a:r>
            <a:r>
              <a:rPr lang="en-US" sz="2200" dirty="0" err="1">
                <a:solidFill>
                  <a:srgbClr val="222222"/>
                </a:solidFill>
                <a:latin typeface="arial" panose="020B0604020202020204" pitchFamily="34" charset="0"/>
              </a:rPr>
              <a:t>TS</a:t>
            </a:r>
            <a:r>
              <a:rPr lang="en-US" sz="2200" dirty="0">
                <a:solidFill>
                  <a:srgbClr val="222222"/>
                </a:solidFill>
                <a:latin typeface="arial" panose="020B0604020202020204" pitchFamily="34" charset="0"/>
              </a:rPr>
              <a:t>(</a:t>
            </a:r>
            <a:r>
              <a:rPr lang="en-US" sz="2200" dirty="0" err="1">
                <a:solidFill>
                  <a:srgbClr val="222222"/>
                </a:solidFill>
                <a:latin typeface="arial" panose="020B0604020202020204" pitchFamily="34" charset="0"/>
              </a:rPr>
              <a:t>Ti</a:t>
            </a:r>
            <a:r>
              <a:rPr lang="en-US" sz="2200" dirty="0">
                <a:solidFill>
                  <a:srgbClr val="222222"/>
                </a:solidFill>
                <a:latin typeface="arial" panose="020B0604020202020204" pitchFamily="34" charset="0"/>
              </a:rPr>
              <a:t>) &lt; </a:t>
            </a:r>
            <a:r>
              <a:rPr lang="en-US" sz="2200" dirty="0" err="1">
                <a:solidFill>
                  <a:srgbClr val="222222"/>
                </a:solidFill>
                <a:latin typeface="arial" panose="020B0604020202020204" pitchFamily="34" charset="0"/>
              </a:rPr>
              <a:t>R_TS</a:t>
            </a:r>
            <a:r>
              <a:rPr lang="en-US" sz="2200" dirty="0">
                <a:solidFill>
                  <a:srgbClr val="222222"/>
                </a:solidFill>
                <a:latin typeface="arial" panose="020B0604020202020204" pitchFamily="34" charset="0"/>
              </a:rPr>
              <a:t>(X) then the operation is rejected.</a:t>
            </a:r>
          </a:p>
          <a:p>
            <a:pPr marL="800089" lvl="1" indent="-342900" algn="just">
              <a:buClr>
                <a:schemeClr val="tx1"/>
              </a:buClr>
              <a:buSzPct val="71000"/>
              <a:buFont typeface="Wingdings" panose="05000000000000000000" pitchFamily="2" charset="2"/>
              <a:buChar char="Ø"/>
            </a:pPr>
            <a:r>
              <a:rPr lang="en-US" sz="2200" dirty="0">
                <a:solidFill>
                  <a:srgbClr val="222222"/>
                </a:solidFill>
                <a:latin typeface="arial" panose="020B0604020202020204" pitchFamily="34" charset="0"/>
              </a:rPr>
              <a:t>If </a:t>
            </a:r>
            <a:r>
              <a:rPr lang="en-US" sz="2200" dirty="0" err="1">
                <a:solidFill>
                  <a:srgbClr val="222222"/>
                </a:solidFill>
                <a:latin typeface="arial" panose="020B0604020202020204" pitchFamily="34" charset="0"/>
              </a:rPr>
              <a:t>TS</a:t>
            </a:r>
            <a:r>
              <a:rPr lang="en-US" sz="2200" dirty="0">
                <a:solidFill>
                  <a:srgbClr val="222222"/>
                </a:solidFill>
                <a:latin typeface="arial" panose="020B0604020202020204" pitchFamily="34" charset="0"/>
              </a:rPr>
              <a:t>(</a:t>
            </a:r>
            <a:r>
              <a:rPr lang="en-US" sz="2200" dirty="0" err="1">
                <a:solidFill>
                  <a:srgbClr val="222222"/>
                </a:solidFill>
                <a:latin typeface="arial" panose="020B0604020202020204" pitchFamily="34" charset="0"/>
              </a:rPr>
              <a:t>Ti</a:t>
            </a:r>
            <a:r>
              <a:rPr lang="en-US" sz="2200" dirty="0">
                <a:solidFill>
                  <a:srgbClr val="222222"/>
                </a:solidFill>
                <a:latin typeface="arial" panose="020B0604020202020204" pitchFamily="34" charset="0"/>
              </a:rPr>
              <a:t>) &lt; </a:t>
            </a:r>
            <a:r>
              <a:rPr lang="en-US" sz="2200" dirty="0" err="1">
                <a:solidFill>
                  <a:srgbClr val="222222"/>
                </a:solidFill>
                <a:latin typeface="arial" panose="020B0604020202020204" pitchFamily="34" charset="0"/>
              </a:rPr>
              <a:t>W_TS</a:t>
            </a:r>
            <a:r>
              <a:rPr lang="en-US" sz="2200" dirty="0">
                <a:solidFill>
                  <a:srgbClr val="222222"/>
                </a:solidFill>
                <a:latin typeface="arial" panose="020B0604020202020204" pitchFamily="34" charset="0"/>
              </a:rPr>
              <a:t>(X) then the operation is rejected and </a:t>
            </a:r>
            <a:r>
              <a:rPr lang="en-US" sz="2200" dirty="0" err="1">
                <a:solidFill>
                  <a:srgbClr val="222222"/>
                </a:solidFill>
                <a:latin typeface="arial" panose="020B0604020202020204" pitchFamily="34" charset="0"/>
              </a:rPr>
              <a:t>Ti</a:t>
            </a:r>
            <a:r>
              <a:rPr lang="en-US" sz="2200" dirty="0">
                <a:solidFill>
                  <a:srgbClr val="222222"/>
                </a:solidFill>
                <a:latin typeface="arial" panose="020B0604020202020204" pitchFamily="34" charset="0"/>
              </a:rPr>
              <a:t> is rolled back otherwise the operation is executed.</a:t>
            </a:r>
            <a:endParaRPr lang="en-US" sz="2200" dirty="0" smtClean="0">
              <a:solidFill>
                <a:srgbClr val="222222"/>
              </a:solidFill>
              <a:latin typeface="arial" panose="020B0604020202020204" pitchFamily="34" charset="0"/>
            </a:endParaRPr>
          </a:p>
        </p:txBody>
      </p:sp>
    </p:spTree>
    <p:extLst>
      <p:ext uri="{BB962C8B-B14F-4D97-AF65-F5344CB8AC3E}">
        <p14:creationId xmlns:p14="http://schemas.microsoft.com/office/powerpoint/2010/main" val="3520646292"/>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10.5.1 </a:t>
            </a:r>
            <a:r>
              <a:rPr lang="en-US" sz="2800" dirty="0">
                <a:solidFill>
                  <a:schemeClr val="bg1"/>
                </a:solidFill>
              </a:rPr>
              <a:t>Concurrency </a:t>
            </a:r>
            <a:r>
              <a:rPr lang="en-US" sz="2800" dirty="0" smtClean="0">
                <a:solidFill>
                  <a:schemeClr val="bg1"/>
                </a:solidFill>
              </a:rPr>
              <a:t>Control Protocol</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fontScale="92500" lnSpcReduction="10000"/>
          </a:bodyPr>
          <a:lstStyle/>
          <a:p>
            <a:pPr algn="just">
              <a:buClr>
                <a:schemeClr val="tx1"/>
              </a:buClr>
              <a:buSzPct val="71000"/>
            </a:pPr>
            <a:r>
              <a:rPr lang="en-US" sz="2800" b="1" dirty="0" smtClean="0">
                <a:solidFill>
                  <a:srgbClr val="222222"/>
                </a:solidFill>
                <a:latin typeface="arial" panose="020B0604020202020204" pitchFamily="34" charset="0"/>
              </a:rPr>
              <a:t>3. </a:t>
            </a:r>
            <a:r>
              <a:rPr lang="en-US" sz="2800" b="1" dirty="0">
                <a:solidFill>
                  <a:srgbClr val="222222"/>
                </a:solidFill>
                <a:latin typeface="arial" panose="020B0604020202020204" pitchFamily="34" charset="0"/>
              </a:rPr>
              <a:t>Multiple Granularity Control Protocol</a:t>
            </a:r>
          </a:p>
          <a:p>
            <a:pPr algn="just">
              <a:buClr>
                <a:schemeClr val="tx1"/>
              </a:buClr>
              <a:buSzPct val="71000"/>
            </a:pPr>
            <a:r>
              <a:rPr lang="en-US" sz="2600" dirty="0" smtClean="0">
                <a:solidFill>
                  <a:schemeClr val="accent1"/>
                </a:solidFill>
                <a:latin typeface="arial" panose="020B0604020202020204" pitchFamily="34" charset="0"/>
              </a:rPr>
              <a:t>Granularity: </a:t>
            </a:r>
            <a:r>
              <a:rPr lang="en-US" sz="2600" dirty="0">
                <a:solidFill>
                  <a:srgbClr val="222222"/>
                </a:solidFill>
                <a:latin typeface="arial" panose="020B0604020202020204" pitchFamily="34" charset="0"/>
              </a:rPr>
              <a:t>It is the size of data item allowed to lock. </a:t>
            </a:r>
            <a:endParaRPr lang="en-US" sz="2600" dirty="0" smtClean="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v"/>
            </a:pPr>
            <a:r>
              <a:rPr lang="en-US" sz="2600" b="1" dirty="0" smtClean="0">
                <a:solidFill>
                  <a:srgbClr val="222222"/>
                </a:solidFill>
                <a:latin typeface="arial" panose="020B0604020202020204" pitchFamily="34" charset="0"/>
              </a:rPr>
              <a:t>Multiple </a:t>
            </a:r>
            <a:r>
              <a:rPr lang="en-US" sz="2600" b="1" dirty="0">
                <a:solidFill>
                  <a:srgbClr val="222222"/>
                </a:solidFill>
                <a:latin typeface="arial" panose="020B0604020202020204" pitchFamily="34" charset="0"/>
              </a:rPr>
              <a:t>Granularity:</a:t>
            </a:r>
          </a:p>
          <a:p>
            <a:pPr marL="914389" lvl="1" indent="-457200" algn="just">
              <a:buClr>
                <a:schemeClr val="tx1"/>
              </a:buClr>
              <a:buSzPct val="71000"/>
              <a:buFont typeface="Wingdings" panose="05000000000000000000" pitchFamily="2" charset="2"/>
              <a:buChar char="Ø"/>
            </a:pPr>
            <a:r>
              <a:rPr lang="en-US" sz="2400" dirty="0">
                <a:solidFill>
                  <a:srgbClr val="222222"/>
                </a:solidFill>
                <a:latin typeface="arial" panose="020B0604020202020204" pitchFamily="34" charset="0"/>
              </a:rPr>
              <a:t>It can be defined as hierarchically breaking up the database into blocks which can be locked.</a:t>
            </a:r>
          </a:p>
          <a:p>
            <a:pPr marL="914389" lvl="1" indent="-457200" algn="just">
              <a:buClr>
                <a:schemeClr val="tx1"/>
              </a:buClr>
              <a:buSzPct val="71000"/>
              <a:buFont typeface="Wingdings" panose="05000000000000000000" pitchFamily="2" charset="2"/>
              <a:buChar char="Ø"/>
            </a:pPr>
            <a:r>
              <a:rPr lang="en-US" sz="2400" dirty="0">
                <a:solidFill>
                  <a:srgbClr val="222222"/>
                </a:solidFill>
                <a:latin typeface="arial" panose="020B0604020202020204" pitchFamily="34" charset="0"/>
              </a:rPr>
              <a:t>The Multiple Granularity protocol enhances concurrency and reduces lock overhead.</a:t>
            </a:r>
          </a:p>
          <a:p>
            <a:pPr marL="914389" lvl="1" indent="-457200" algn="just">
              <a:buClr>
                <a:schemeClr val="tx1"/>
              </a:buClr>
              <a:buSzPct val="71000"/>
              <a:buFont typeface="Wingdings" panose="05000000000000000000" pitchFamily="2" charset="2"/>
              <a:buChar char="Ø"/>
            </a:pPr>
            <a:r>
              <a:rPr lang="en-US" sz="2400" dirty="0">
                <a:solidFill>
                  <a:srgbClr val="222222"/>
                </a:solidFill>
                <a:latin typeface="arial" panose="020B0604020202020204" pitchFamily="34" charset="0"/>
              </a:rPr>
              <a:t>It maintains the track of what to lock and how to lock.</a:t>
            </a:r>
          </a:p>
          <a:p>
            <a:pPr marL="914389" lvl="1" indent="-457200" algn="just">
              <a:buClr>
                <a:schemeClr val="tx1"/>
              </a:buClr>
              <a:buSzPct val="71000"/>
              <a:buFont typeface="Wingdings" panose="05000000000000000000" pitchFamily="2" charset="2"/>
              <a:buChar char="Ø"/>
            </a:pPr>
            <a:r>
              <a:rPr lang="en-US" sz="2400" dirty="0">
                <a:solidFill>
                  <a:srgbClr val="222222"/>
                </a:solidFill>
                <a:latin typeface="arial" panose="020B0604020202020204" pitchFamily="34" charset="0"/>
              </a:rPr>
              <a:t>It makes easy to decide either to lock a data item or to unlock a data item. </a:t>
            </a:r>
            <a:endParaRPr lang="en-US" sz="2400" dirty="0" smtClean="0">
              <a:solidFill>
                <a:srgbClr val="222222"/>
              </a:solidFill>
              <a:latin typeface="arial" panose="020B0604020202020204" pitchFamily="34" charset="0"/>
            </a:endParaRPr>
          </a:p>
          <a:p>
            <a:pPr marL="914389" lvl="1" indent="-457200" algn="just">
              <a:buClr>
                <a:schemeClr val="tx1"/>
              </a:buClr>
              <a:buSzPct val="71000"/>
              <a:buFont typeface="Wingdings" panose="05000000000000000000" pitchFamily="2" charset="2"/>
              <a:buChar char="Ø"/>
            </a:pPr>
            <a:r>
              <a:rPr lang="en-US" sz="2400" dirty="0" smtClean="0">
                <a:solidFill>
                  <a:srgbClr val="222222"/>
                </a:solidFill>
                <a:latin typeface="arial" panose="020B0604020202020204" pitchFamily="34" charset="0"/>
              </a:rPr>
              <a:t>This </a:t>
            </a:r>
            <a:r>
              <a:rPr lang="en-US" sz="2400" dirty="0">
                <a:solidFill>
                  <a:srgbClr val="222222"/>
                </a:solidFill>
                <a:latin typeface="arial" panose="020B0604020202020204" pitchFamily="34" charset="0"/>
              </a:rPr>
              <a:t>type of hierarchy can be graphically represented as a tree.</a:t>
            </a:r>
            <a:endParaRPr lang="en-US" sz="2400" dirty="0" smtClean="0">
              <a:solidFill>
                <a:srgbClr val="222222"/>
              </a:solidFill>
              <a:latin typeface="arial" panose="020B0604020202020204" pitchFamily="34" charset="0"/>
            </a:endParaRPr>
          </a:p>
        </p:txBody>
      </p:sp>
    </p:spTree>
    <p:extLst>
      <p:ext uri="{BB962C8B-B14F-4D97-AF65-F5344CB8AC3E}">
        <p14:creationId xmlns:p14="http://schemas.microsoft.com/office/powerpoint/2010/main" val="3244775200"/>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10.5.1 </a:t>
            </a:r>
            <a:r>
              <a:rPr lang="en-US" sz="2800" dirty="0">
                <a:solidFill>
                  <a:schemeClr val="bg1"/>
                </a:solidFill>
              </a:rPr>
              <a:t>Concurrency </a:t>
            </a:r>
            <a:r>
              <a:rPr lang="en-US" sz="2800" dirty="0" smtClean="0">
                <a:solidFill>
                  <a:schemeClr val="bg1"/>
                </a:solidFill>
              </a:rPr>
              <a:t>Control Protocol</a:t>
            </a:r>
            <a:endParaRPr lang="en-US" sz="2800" dirty="0">
              <a:solidFill>
                <a:schemeClr val="bg1"/>
              </a:solidFill>
            </a:endParaRPr>
          </a:p>
        </p:txBody>
      </p:sp>
      <p:sp>
        <p:nvSpPr>
          <p:cNvPr id="3" name="Subtitle 2"/>
          <p:cNvSpPr>
            <a:spLocks noGrp="1"/>
          </p:cNvSpPr>
          <p:nvPr>
            <p:ph type="subTitle" idx="1"/>
          </p:nvPr>
        </p:nvSpPr>
        <p:spPr>
          <a:xfrm>
            <a:off x="1281567" y="1139687"/>
            <a:ext cx="8094254" cy="5338386"/>
          </a:xfrm>
        </p:spPr>
        <p:txBody>
          <a:bodyPr>
            <a:normAutofit fontScale="77500" lnSpcReduction="20000"/>
          </a:bodyPr>
          <a:lstStyle/>
          <a:p>
            <a:pPr algn="just">
              <a:buClr>
                <a:schemeClr val="tx1"/>
              </a:buClr>
              <a:buSzPct val="71000"/>
            </a:pPr>
            <a:r>
              <a:rPr lang="en-US" sz="2800" b="1" dirty="0" smtClean="0">
                <a:solidFill>
                  <a:srgbClr val="222222"/>
                </a:solidFill>
                <a:latin typeface="arial" panose="020B0604020202020204" pitchFamily="34" charset="0"/>
              </a:rPr>
              <a:t>3. </a:t>
            </a:r>
            <a:r>
              <a:rPr lang="en-US" sz="2800" b="1" dirty="0">
                <a:solidFill>
                  <a:srgbClr val="222222"/>
                </a:solidFill>
                <a:latin typeface="arial" panose="020B0604020202020204" pitchFamily="34" charset="0"/>
              </a:rPr>
              <a:t>Multiple Granularity Control Protocol</a:t>
            </a:r>
          </a:p>
          <a:p>
            <a:pPr algn="just">
              <a:buClr>
                <a:schemeClr val="tx1"/>
              </a:buClr>
              <a:buSzPct val="71000"/>
            </a:pPr>
            <a:r>
              <a:rPr lang="en-US" sz="2600" b="1" dirty="0" smtClean="0">
                <a:solidFill>
                  <a:schemeClr val="accent1"/>
                </a:solidFill>
                <a:latin typeface="arial" panose="020B0604020202020204" pitchFamily="34" charset="0"/>
              </a:rPr>
              <a:t>For </a:t>
            </a:r>
            <a:r>
              <a:rPr lang="en-US" sz="2600" b="1" dirty="0">
                <a:solidFill>
                  <a:schemeClr val="accent1"/>
                </a:solidFill>
                <a:latin typeface="arial" panose="020B0604020202020204" pitchFamily="34" charset="0"/>
              </a:rPr>
              <a:t>example: </a:t>
            </a:r>
            <a:r>
              <a:rPr lang="en-US" sz="2600" b="1" dirty="0">
                <a:solidFill>
                  <a:srgbClr val="222222"/>
                </a:solidFill>
                <a:latin typeface="arial" panose="020B0604020202020204" pitchFamily="34" charset="0"/>
              </a:rPr>
              <a:t>Consider a tree which has four levels of nodes</a:t>
            </a:r>
            <a:r>
              <a:rPr lang="en-US" sz="2600" b="1" dirty="0" smtClean="0">
                <a:solidFill>
                  <a:srgbClr val="222222"/>
                </a:solidFill>
                <a:latin typeface="arial" panose="020B0604020202020204" pitchFamily="34" charset="0"/>
              </a:rPr>
              <a:t>.</a:t>
            </a:r>
          </a:p>
          <a:p>
            <a:pPr marL="914389" lvl="1" indent="-457200" algn="just">
              <a:buClr>
                <a:schemeClr val="tx1"/>
              </a:buClr>
              <a:buSzPct val="71000"/>
              <a:buFont typeface="Wingdings" panose="05000000000000000000" pitchFamily="2" charset="2"/>
              <a:buChar char="Ø"/>
            </a:pPr>
            <a:r>
              <a:rPr lang="en-US" sz="2400" dirty="0" smtClean="0">
                <a:solidFill>
                  <a:srgbClr val="222222"/>
                </a:solidFill>
                <a:latin typeface="arial" panose="020B0604020202020204" pitchFamily="34" charset="0"/>
              </a:rPr>
              <a:t>The </a:t>
            </a:r>
            <a:r>
              <a:rPr lang="en-US" sz="2400" dirty="0">
                <a:solidFill>
                  <a:srgbClr val="222222"/>
                </a:solidFill>
                <a:latin typeface="arial" panose="020B0604020202020204" pitchFamily="34" charset="0"/>
              </a:rPr>
              <a:t>first level or higher level shows the entire database.</a:t>
            </a:r>
          </a:p>
          <a:p>
            <a:pPr marL="914389" lvl="1" indent="-457200" algn="just">
              <a:buClr>
                <a:schemeClr val="tx1"/>
              </a:buClr>
              <a:buSzPct val="71000"/>
              <a:buFont typeface="Wingdings" panose="05000000000000000000" pitchFamily="2" charset="2"/>
              <a:buChar char="Ø"/>
            </a:pPr>
            <a:r>
              <a:rPr lang="en-US" sz="2400" dirty="0">
                <a:solidFill>
                  <a:srgbClr val="222222"/>
                </a:solidFill>
                <a:latin typeface="arial" panose="020B0604020202020204" pitchFamily="34" charset="0"/>
              </a:rPr>
              <a:t>The second level represents a node of type area. The higher level database consists of exactly these areas.</a:t>
            </a:r>
          </a:p>
          <a:p>
            <a:pPr marL="914389" lvl="1" indent="-457200" algn="just">
              <a:buClr>
                <a:schemeClr val="tx1"/>
              </a:buClr>
              <a:buSzPct val="71000"/>
              <a:buFont typeface="Wingdings" panose="05000000000000000000" pitchFamily="2" charset="2"/>
              <a:buChar char="Ø"/>
            </a:pPr>
            <a:r>
              <a:rPr lang="en-US" sz="2400" dirty="0">
                <a:solidFill>
                  <a:srgbClr val="222222"/>
                </a:solidFill>
                <a:latin typeface="arial" panose="020B0604020202020204" pitchFamily="34" charset="0"/>
              </a:rPr>
              <a:t>The area consists of children nodes which are known as files. No file can be present in more than one area.</a:t>
            </a:r>
          </a:p>
          <a:p>
            <a:pPr marL="914389" lvl="1" indent="-457200" algn="just">
              <a:buClr>
                <a:schemeClr val="tx1"/>
              </a:buClr>
              <a:buSzPct val="71000"/>
              <a:buFont typeface="Wingdings" panose="05000000000000000000" pitchFamily="2" charset="2"/>
              <a:buChar char="Ø"/>
            </a:pPr>
            <a:r>
              <a:rPr lang="en-US" sz="2400" dirty="0">
                <a:solidFill>
                  <a:srgbClr val="222222"/>
                </a:solidFill>
                <a:latin typeface="arial" panose="020B0604020202020204" pitchFamily="34" charset="0"/>
              </a:rPr>
              <a:t>Finally, each file contains child nodes known as records. The file has exactly those records that are its child nodes. No records represent in more than one file.</a:t>
            </a:r>
          </a:p>
          <a:p>
            <a:pPr marL="914389" lvl="1" indent="-457200" algn="just">
              <a:buClr>
                <a:schemeClr val="tx1"/>
              </a:buClr>
              <a:buSzPct val="71000"/>
              <a:buFont typeface="Wingdings" panose="05000000000000000000" pitchFamily="2" charset="2"/>
              <a:buChar char="Ø"/>
            </a:pPr>
            <a:r>
              <a:rPr lang="en-US" sz="2400" dirty="0">
                <a:solidFill>
                  <a:srgbClr val="222222"/>
                </a:solidFill>
                <a:latin typeface="arial" panose="020B0604020202020204" pitchFamily="34" charset="0"/>
              </a:rPr>
              <a:t>Hence, the levels of the tree starting from the top level are as follows:</a:t>
            </a:r>
          </a:p>
          <a:p>
            <a:pPr marL="1371577" lvl="2" indent="-457200" algn="just">
              <a:buClr>
                <a:schemeClr val="tx1"/>
              </a:buClr>
              <a:buSzPct val="71000"/>
              <a:buFont typeface="Wingdings" panose="05000000000000000000" pitchFamily="2" charset="2"/>
              <a:buChar char="§"/>
            </a:pPr>
            <a:r>
              <a:rPr lang="en-US" sz="2200" dirty="0">
                <a:solidFill>
                  <a:srgbClr val="222222"/>
                </a:solidFill>
                <a:latin typeface="arial" panose="020B0604020202020204" pitchFamily="34" charset="0"/>
              </a:rPr>
              <a:t>Database</a:t>
            </a:r>
          </a:p>
          <a:p>
            <a:pPr marL="1371577" lvl="2" indent="-457200" algn="just">
              <a:buClr>
                <a:schemeClr val="tx1"/>
              </a:buClr>
              <a:buSzPct val="71000"/>
              <a:buFont typeface="Wingdings" panose="05000000000000000000" pitchFamily="2" charset="2"/>
              <a:buChar char="§"/>
            </a:pPr>
            <a:r>
              <a:rPr lang="en-US" sz="2200" dirty="0">
                <a:solidFill>
                  <a:srgbClr val="222222"/>
                </a:solidFill>
                <a:latin typeface="arial" panose="020B0604020202020204" pitchFamily="34" charset="0"/>
              </a:rPr>
              <a:t>Area</a:t>
            </a:r>
          </a:p>
          <a:p>
            <a:pPr marL="1371577" lvl="2" indent="-457200" algn="just">
              <a:buClr>
                <a:schemeClr val="tx1"/>
              </a:buClr>
              <a:buSzPct val="71000"/>
              <a:buFont typeface="Wingdings" panose="05000000000000000000" pitchFamily="2" charset="2"/>
              <a:buChar char="§"/>
            </a:pPr>
            <a:r>
              <a:rPr lang="en-US" sz="2200" dirty="0">
                <a:solidFill>
                  <a:srgbClr val="222222"/>
                </a:solidFill>
                <a:latin typeface="arial" panose="020B0604020202020204" pitchFamily="34" charset="0"/>
              </a:rPr>
              <a:t>File</a:t>
            </a:r>
          </a:p>
          <a:p>
            <a:pPr marL="1371577" lvl="2" indent="-457200" algn="just">
              <a:buClr>
                <a:schemeClr val="tx1"/>
              </a:buClr>
              <a:buSzPct val="71000"/>
              <a:buFont typeface="Wingdings" panose="05000000000000000000" pitchFamily="2" charset="2"/>
              <a:buChar char="§"/>
            </a:pPr>
            <a:r>
              <a:rPr lang="en-US" sz="2200" dirty="0">
                <a:solidFill>
                  <a:srgbClr val="222222"/>
                </a:solidFill>
                <a:latin typeface="arial" panose="020B0604020202020204" pitchFamily="34" charset="0"/>
              </a:rPr>
              <a:t>Record</a:t>
            </a:r>
            <a:endParaRPr lang="en-US" sz="2200" dirty="0" smtClean="0">
              <a:solidFill>
                <a:srgbClr val="222222"/>
              </a:solidFill>
              <a:latin typeface="arial" panose="020B0604020202020204" pitchFamily="34" charset="0"/>
            </a:endParaRPr>
          </a:p>
        </p:txBody>
      </p:sp>
    </p:spTree>
    <p:extLst>
      <p:ext uri="{BB962C8B-B14F-4D97-AF65-F5344CB8AC3E}">
        <p14:creationId xmlns:p14="http://schemas.microsoft.com/office/powerpoint/2010/main" val="2690017035"/>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10.5.1 </a:t>
            </a:r>
            <a:r>
              <a:rPr lang="en-US" sz="2800" dirty="0">
                <a:solidFill>
                  <a:schemeClr val="bg1"/>
                </a:solidFill>
              </a:rPr>
              <a:t>Concurrency </a:t>
            </a:r>
            <a:r>
              <a:rPr lang="en-US" sz="2800" dirty="0" smtClean="0">
                <a:solidFill>
                  <a:schemeClr val="bg1"/>
                </a:solidFill>
              </a:rPr>
              <a:t>Control Protocol</a:t>
            </a:r>
            <a:endParaRPr lang="en-US" sz="2800" dirty="0">
              <a:solidFill>
                <a:schemeClr val="bg1"/>
              </a:solidFill>
            </a:endParaRPr>
          </a:p>
        </p:txBody>
      </p:sp>
      <p:sp>
        <p:nvSpPr>
          <p:cNvPr id="3" name="Subtitle 2"/>
          <p:cNvSpPr>
            <a:spLocks noGrp="1"/>
          </p:cNvSpPr>
          <p:nvPr>
            <p:ph type="subTitle" idx="1"/>
          </p:nvPr>
        </p:nvSpPr>
        <p:spPr>
          <a:xfrm>
            <a:off x="1281567" y="1139687"/>
            <a:ext cx="8094254" cy="1230026"/>
          </a:xfrm>
        </p:spPr>
        <p:txBody>
          <a:bodyPr>
            <a:normAutofit fontScale="92500" lnSpcReduction="20000"/>
          </a:bodyPr>
          <a:lstStyle/>
          <a:p>
            <a:pPr algn="just">
              <a:buClr>
                <a:schemeClr val="tx1"/>
              </a:buClr>
              <a:buSzPct val="71000"/>
            </a:pPr>
            <a:r>
              <a:rPr lang="en-US" sz="2800" b="1" dirty="0" smtClean="0">
                <a:solidFill>
                  <a:srgbClr val="222222"/>
                </a:solidFill>
                <a:latin typeface="arial" panose="020B0604020202020204" pitchFamily="34" charset="0"/>
              </a:rPr>
              <a:t>3. </a:t>
            </a:r>
            <a:r>
              <a:rPr lang="en-US" sz="2800" b="1" dirty="0">
                <a:solidFill>
                  <a:srgbClr val="222222"/>
                </a:solidFill>
                <a:latin typeface="arial" panose="020B0604020202020204" pitchFamily="34" charset="0"/>
              </a:rPr>
              <a:t>Multiple Granularity Control Protocol</a:t>
            </a:r>
          </a:p>
          <a:p>
            <a:pPr algn="just">
              <a:buClr>
                <a:schemeClr val="tx1"/>
              </a:buClr>
              <a:buSzPct val="71000"/>
            </a:pPr>
            <a:r>
              <a:rPr lang="en-US" sz="2600" b="1" dirty="0" smtClean="0">
                <a:solidFill>
                  <a:schemeClr val="accent1"/>
                </a:solidFill>
                <a:latin typeface="arial" panose="020B0604020202020204" pitchFamily="34" charset="0"/>
              </a:rPr>
              <a:t>For </a:t>
            </a:r>
            <a:r>
              <a:rPr lang="en-US" sz="2600" b="1" dirty="0">
                <a:solidFill>
                  <a:schemeClr val="accent1"/>
                </a:solidFill>
                <a:latin typeface="arial" panose="020B0604020202020204" pitchFamily="34" charset="0"/>
              </a:rPr>
              <a:t>example: </a:t>
            </a:r>
            <a:r>
              <a:rPr lang="en-US" sz="2600" b="1" dirty="0">
                <a:solidFill>
                  <a:srgbClr val="222222"/>
                </a:solidFill>
                <a:latin typeface="arial" panose="020B0604020202020204" pitchFamily="34" charset="0"/>
              </a:rPr>
              <a:t>Consider a tree which has four levels of nodes</a:t>
            </a:r>
            <a:r>
              <a:rPr lang="en-US" sz="2600" b="1" dirty="0" smtClean="0">
                <a:solidFill>
                  <a:srgbClr val="222222"/>
                </a:solidFill>
                <a:latin typeface="arial" panose="020B0604020202020204" pitchFamily="34" charset="0"/>
              </a:rPr>
              <a:t>.</a:t>
            </a:r>
          </a:p>
        </p:txBody>
      </p:sp>
      <p:pic>
        <p:nvPicPr>
          <p:cNvPr id="13314" name="Picture 2" descr="DBMS Multiple Granularit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4533" y="1954145"/>
            <a:ext cx="5676900" cy="4733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321395"/>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Assignment</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a:bodyPr>
          <a:lstStyle/>
          <a:p>
            <a:pPr marL="457200" indent="-457200" algn="just">
              <a:buClr>
                <a:schemeClr val="tx1"/>
              </a:buClr>
              <a:buSzPct val="71000"/>
              <a:buFont typeface="Wingdings" panose="05000000000000000000" pitchFamily="2" charset="2"/>
              <a:buChar char="Ø"/>
            </a:pPr>
            <a:r>
              <a:rPr lang="en-US" sz="2800" dirty="0" smtClean="0">
                <a:solidFill>
                  <a:srgbClr val="222222"/>
                </a:solidFill>
                <a:latin typeface="arial" panose="020B0604020202020204" pitchFamily="34" charset="0"/>
              </a:rPr>
              <a:t>Visit the given link and study and write your view on the following topics:</a:t>
            </a: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Deadlock in </a:t>
            </a:r>
            <a:r>
              <a:rPr lang="en-US" sz="2800" dirty="0" err="1" smtClean="0">
                <a:solidFill>
                  <a:srgbClr val="222222"/>
                </a:solidFill>
                <a:latin typeface="arial" panose="020B0604020202020204" pitchFamily="34" charset="0"/>
              </a:rPr>
              <a:t>dbms</a:t>
            </a:r>
            <a:endParaRPr lang="en-US" sz="2800" dirty="0" smtClean="0">
              <a:solidFill>
                <a:srgbClr val="222222"/>
              </a:solidFill>
              <a:latin typeface="arial" panose="020B0604020202020204" pitchFamily="34" charset="0"/>
            </a:endParaRPr>
          </a:p>
          <a:p>
            <a:pPr marL="914389" lvl="1" indent="-457200" algn="just">
              <a:buClr>
                <a:schemeClr val="tx1"/>
              </a:buClr>
              <a:buSzPct val="71000"/>
              <a:buFont typeface="Wingdings" panose="05000000000000000000" pitchFamily="2" charset="2"/>
              <a:buChar char="Ø"/>
            </a:pPr>
            <a:r>
              <a:rPr lang="en-US" sz="2600" i="1" dirty="0">
                <a:solidFill>
                  <a:srgbClr val="00B0F0"/>
                </a:solidFill>
                <a:latin typeface="arial" panose="020B0604020202020204" pitchFamily="34" charset="0"/>
                <a:hlinkClick r:id="rId3"/>
              </a:rPr>
              <a:t>https://www.geeksforgeeks.org/deadlock-in-dbms/</a:t>
            </a:r>
            <a:endParaRPr lang="en-US" sz="2600" i="1" dirty="0" smtClean="0">
              <a:solidFill>
                <a:srgbClr val="00B0F0"/>
              </a:solidFill>
              <a:latin typeface="arial" panose="020B0604020202020204" pitchFamily="34" charset="0"/>
            </a:endParaRP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Starvation in </a:t>
            </a:r>
            <a:r>
              <a:rPr lang="en-US" sz="2800" dirty="0" err="1" smtClean="0">
                <a:solidFill>
                  <a:srgbClr val="222222"/>
                </a:solidFill>
                <a:latin typeface="arial" panose="020B0604020202020204" pitchFamily="34" charset="0"/>
              </a:rPr>
              <a:t>dbms</a:t>
            </a:r>
            <a:endParaRPr lang="en-US" sz="2800" dirty="0" smtClean="0">
              <a:solidFill>
                <a:srgbClr val="222222"/>
              </a:solidFill>
              <a:latin typeface="arial" panose="020B0604020202020204" pitchFamily="34" charset="0"/>
            </a:endParaRPr>
          </a:p>
          <a:p>
            <a:pPr marL="914389" lvl="1" indent="-457200" algn="just">
              <a:buClr>
                <a:schemeClr val="tx1"/>
              </a:buClr>
              <a:buSzPct val="71000"/>
              <a:buFont typeface="Wingdings" panose="05000000000000000000" pitchFamily="2" charset="2"/>
              <a:buChar char="Ø"/>
            </a:pPr>
            <a:r>
              <a:rPr lang="en-US" sz="2600" i="1" dirty="0">
                <a:solidFill>
                  <a:srgbClr val="00B0F0"/>
                </a:solidFill>
                <a:hlinkClick r:id="rId4"/>
              </a:rPr>
              <a:t>https://www.geeksforgeeks.org/starvation-in-dbms/</a:t>
            </a:r>
            <a:endParaRPr lang="en-US" sz="2600" i="1" dirty="0">
              <a:solidFill>
                <a:srgbClr val="00B0F0"/>
              </a:solidFill>
            </a:endParaRPr>
          </a:p>
        </p:txBody>
      </p:sp>
    </p:spTree>
    <p:extLst>
      <p:ext uri="{BB962C8B-B14F-4D97-AF65-F5344CB8AC3E}">
        <p14:creationId xmlns:p14="http://schemas.microsoft.com/office/powerpoint/2010/main" val="1130757778"/>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258956" y="2644170"/>
            <a:ext cx="8507895" cy="1569660"/>
          </a:xfrm>
          <a:prstGeom prst="rect">
            <a:avLst/>
          </a:prstGeom>
          <a:noFill/>
        </p:spPr>
        <p:txBody>
          <a:bodyPr wrap="square" lIns="91440" tIns="45720" rIns="91440" bIns="45720">
            <a:spAutoFit/>
          </a:bodyPr>
          <a:lstStyle/>
          <a:p>
            <a:pPr algn="ctr"/>
            <a:r>
              <a:rPr lang="en-US" sz="3200" dirty="0">
                <a:ln w="0"/>
                <a:effectLst>
                  <a:outerShdw blurRad="38100" dist="19050" dir="2700000" algn="tl" rotWithShape="0">
                    <a:schemeClr val="dk1">
                      <a:alpha val="40000"/>
                    </a:schemeClr>
                  </a:outerShdw>
                </a:effectLst>
                <a:latin typeface="Eras Medium ITC" panose="020B0602030504020804" pitchFamily="34" charset="0"/>
              </a:rPr>
              <a:t>This is the end of the lecture!</a:t>
            </a:r>
          </a:p>
          <a:p>
            <a:pPr algn="ctr"/>
            <a:r>
              <a:rPr lang="en-US" sz="3200" dirty="0">
                <a:ln w="0"/>
                <a:effectLst>
                  <a:outerShdw blurRad="38100" dist="19050" dir="2700000" algn="tl" rotWithShape="0">
                    <a:schemeClr val="dk1">
                      <a:alpha val="40000"/>
                    </a:schemeClr>
                  </a:outerShdw>
                </a:effectLst>
                <a:latin typeface="Eras Medium ITC" panose="020B0602030504020804" pitchFamily="34" charset="0"/>
              </a:rPr>
              <a:t>I hope you enjoyed it.</a:t>
            </a:r>
          </a:p>
          <a:p>
            <a:pPr algn="ctr"/>
            <a:r>
              <a:rPr lang="en-US" sz="3200" dirty="0">
                <a:ln w="0"/>
                <a:effectLst>
                  <a:outerShdw blurRad="38100" dist="19050" dir="2700000" algn="tl" rotWithShape="0">
                    <a:schemeClr val="dk1">
                      <a:alpha val="40000"/>
                    </a:schemeClr>
                  </a:outerShdw>
                </a:effectLst>
                <a:latin typeface="Eras Medium ITC" panose="020B0602030504020804" pitchFamily="34" charset="0"/>
              </a:rPr>
              <a:t>Thank You</a:t>
            </a:r>
            <a:endParaRPr lang="en-US" sz="3200" b="0" cap="none" spc="0" dirty="0">
              <a:ln w="0"/>
              <a:solidFill>
                <a:schemeClr val="tx1"/>
              </a:solidFill>
              <a:effectLst>
                <a:outerShdw blurRad="38100" dist="19050" dir="2700000" algn="tl" rotWithShape="0">
                  <a:schemeClr val="dk1">
                    <a:alpha val="40000"/>
                  </a:schemeClr>
                </a:outerShdw>
              </a:effectLst>
              <a:latin typeface="Eras Medium ITC" panose="020B0602030504020804" pitchFamily="34" charset="0"/>
            </a:endParaRPr>
          </a:p>
        </p:txBody>
      </p:sp>
    </p:spTree>
    <p:extLst>
      <p:ext uri="{BB962C8B-B14F-4D97-AF65-F5344CB8AC3E}">
        <p14:creationId xmlns:p14="http://schemas.microsoft.com/office/powerpoint/2010/main" val="3930731771"/>
      </p:ext>
    </p:extLst>
  </p:cSld>
  <p:clrMapOvr>
    <a:masterClrMapping/>
  </p:clrMapOvr>
  <p:timing>
    <p:tnLst>
      <p:par>
        <p:cTn id="1" dur="indefinite" restart="never" nodeType="tmRoot"/>
      </p:par>
    </p:tnLst>
  </p:timing>
</p:sld>
</file>

<file path=ppt/theme/theme1.xml><?xml version="1.0" encoding="utf-8"?>
<a:theme xmlns:a="http://schemas.openxmlformats.org/drawingml/2006/main" name="Facet">
  <a:themeElements>
    <a:clrScheme name="Red Orange">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65BD02F5E4BC024DA86DFA7D8823C79F" ma:contentTypeVersion="2" ma:contentTypeDescription="Create a new document." ma:contentTypeScope="" ma:versionID="6e895eb2d3355a5bd38350496b6864ca">
  <xsd:schema xmlns:xsd="http://www.w3.org/2001/XMLSchema" xmlns:xs="http://www.w3.org/2001/XMLSchema" xmlns:p="http://schemas.microsoft.com/office/2006/metadata/properties" xmlns:ns2="4f2457a7-20ce-4dfa-a6dc-1acba1606d34" targetNamespace="http://schemas.microsoft.com/office/2006/metadata/properties" ma:root="true" ma:fieldsID="eec91d1fba82f9c905ffb3aa848bfe8c" ns2:_="">
    <xsd:import namespace="4f2457a7-20ce-4dfa-a6dc-1acba1606d34"/>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f2457a7-20ce-4dfa-a6dc-1acba1606d3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6A5CB58-7963-4873-BCC7-C9199920F948}">
  <ds:schemaRefs>
    <ds:schemaRef ds:uri="http://schemas.microsoft.com/sharepoint/v3/contenttype/forms"/>
  </ds:schemaRefs>
</ds:datastoreItem>
</file>

<file path=customXml/itemProps2.xml><?xml version="1.0" encoding="utf-8"?>
<ds:datastoreItem xmlns:ds="http://schemas.openxmlformats.org/officeDocument/2006/customXml" ds:itemID="{EB854575-B785-45FD-8F15-75A3162CF2B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f2457a7-20ce-4dfa-a6dc-1acba1606d3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2AA085C-F54A-4454-A583-FAA093E58743}">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Facet</Template>
  <TotalTime>4882</TotalTime>
  <Words>5825</Words>
  <Application>Microsoft Office PowerPoint</Application>
  <PresentationFormat>Widescreen</PresentationFormat>
  <Paragraphs>771</Paragraphs>
  <Slides>104</Slides>
  <Notes>104</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104</vt:i4>
      </vt:variant>
    </vt:vector>
  </HeadingPairs>
  <TitlesOfParts>
    <vt:vector size="116" baseType="lpstr">
      <vt:lpstr>Arial</vt:lpstr>
      <vt:lpstr>Arial</vt:lpstr>
      <vt:lpstr>Calibri</vt:lpstr>
      <vt:lpstr>Eras Medium ITC</vt:lpstr>
      <vt:lpstr>Open Sans</vt:lpstr>
      <vt:lpstr>times new roman</vt:lpstr>
      <vt:lpstr>Trebuchet MS</vt:lpstr>
      <vt:lpstr>urw-din</vt:lpstr>
      <vt:lpstr>verdana</vt:lpstr>
      <vt:lpstr>Wingdings</vt:lpstr>
      <vt:lpstr>Wingdings 3</vt:lpstr>
      <vt:lpstr>Facet</vt:lpstr>
      <vt:lpstr>Chapter 10 Transaction Processing and Concurrency Control</vt:lpstr>
      <vt:lpstr>10.1 Transaction</vt:lpstr>
      <vt:lpstr>10.1 Transaction</vt:lpstr>
      <vt:lpstr>10.1.1 Operation of Transaction</vt:lpstr>
      <vt:lpstr>10.1.1 Operation of Transaction</vt:lpstr>
      <vt:lpstr>10.1.2 States of Transaction</vt:lpstr>
      <vt:lpstr>10.1.2 States of Transaction</vt:lpstr>
      <vt:lpstr>10.2 ACID Properties of Transaction</vt:lpstr>
      <vt:lpstr>10.2 ACID Properties of Transaction</vt:lpstr>
      <vt:lpstr>10.2 ACID Properties of Transaction</vt:lpstr>
      <vt:lpstr>10.2 ACID Properties of Transaction</vt:lpstr>
      <vt:lpstr>10.2 ACID Properties of Transaction</vt:lpstr>
      <vt:lpstr>10.2 ACID Properties of Transaction</vt:lpstr>
      <vt:lpstr>10.2 ACID Properties of Transaction</vt:lpstr>
      <vt:lpstr>10.3 Schedule</vt:lpstr>
      <vt:lpstr>10.3.1 Type of Schedule</vt:lpstr>
      <vt:lpstr>10.3.1 Type of Schedule</vt:lpstr>
      <vt:lpstr>10.3.1 Type of Schedule</vt:lpstr>
      <vt:lpstr>10.3.1 Type of Schedule</vt:lpstr>
      <vt:lpstr>10.3.1 Type of Schedule</vt:lpstr>
      <vt:lpstr>10.3.1 Type of Schedule</vt:lpstr>
      <vt:lpstr>10.3.1 Type of Schedule</vt:lpstr>
      <vt:lpstr>10.3.1 Type of Schedule</vt:lpstr>
      <vt:lpstr>10.3.1 Type of Schedule</vt:lpstr>
      <vt:lpstr>10.3.1 Type of Schedule</vt:lpstr>
      <vt:lpstr>10.3.1 Type of Schedule</vt:lpstr>
      <vt:lpstr>10.3.1 Type of Schedule</vt:lpstr>
      <vt:lpstr>10.3.1 Type of Schedule</vt:lpstr>
      <vt:lpstr>10.3.1 Type of Schedule</vt:lpstr>
      <vt:lpstr>10.3.1 Type of Schedule</vt:lpstr>
      <vt:lpstr>10.3.1 Type of Schedule</vt:lpstr>
      <vt:lpstr>10.3.1 Type of Schedule</vt:lpstr>
      <vt:lpstr>10.3.1 Type of Schedule</vt:lpstr>
      <vt:lpstr>10.4 Serializability </vt:lpstr>
      <vt:lpstr>10.4.1 Types of Serializability </vt:lpstr>
      <vt:lpstr>10.4.1.1 Conflict Serializability </vt:lpstr>
      <vt:lpstr>10.4.1.1 Conflict Serializability </vt:lpstr>
      <vt:lpstr>10.4.1.1 Conflict Serializability </vt:lpstr>
      <vt:lpstr>10.4.1.1 Conflict Serializability </vt:lpstr>
      <vt:lpstr>10.4.1.1 Conflict Serializability </vt:lpstr>
      <vt:lpstr>10.4.1.1 Conflict Serializability </vt:lpstr>
      <vt:lpstr>10.4.1.1 Conflict Serializability </vt:lpstr>
      <vt:lpstr>10.4.1.1 Conflict Serializability </vt:lpstr>
      <vt:lpstr>10.4.1.1 Conflict Serializability </vt:lpstr>
      <vt:lpstr>10.4.1.1 Conflict Serializability </vt:lpstr>
      <vt:lpstr>10.4.1.1 Conflict Serializability </vt:lpstr>
      <vt:lpstr>10.4.1.1 Conflict Serializability </vt:lpstr>
      <vt:lpstr>10.4.1.1 Conflict Serializability </vt:lpstr>
      <vt:lpstr>10.4.1.1 Conflict Serializability </vt:lpstr>
      <vt:lpstr>10.4.1.1 Conflict Serializability </vt:lpstr>
      <vt:lpstr>10.4.1.1 Conflict Serializability </vt:lpstr>
      <vt:lpstr>10.4.1.1 Conflict Serializability </vt:lpstr>
      <vt:lpstr>10.4.1.1 Conflict Serializability </vt:lpstr>
      <vt:lpstr>10.4.1.1 Conflict Serializability </vt:lpstr>
      <vt:lpstr>10.4.1.1 Conflict Serializability </vt:lpstr>
      <vt:lpstr>10.4.1.1 Conflict Serializability </vt:lpstr>
      <vt:lpstr>10.4.1.1 Conflict Serializability </vt:lpstr>
      <vt:lpstr>10.4.1.2 View Serializability </vt:lpstr>
      <vt:lpstr>10.4.1.2 View Serializability </vt:lpstr>
      <vt:lpstr>10.4.1.2 View Serializability </vt:lpstr>
      <vt:lpstr>10.4.1.2 View Serializability </vt:lpstr>
      <vt:lpstr>10.4.1.2 View Serializability </vt:lpstr>
      <vt:lpstr>10.4.1.2 View Serializability </vt:lpstr>
      <vt:lpstr>10.4.1.2 View Serializability </vt:lpstr>
      <vt:lpstr>10.4.1.2 View Serializability </vt:lpstr>
      <vt:lpstr>10.4.1.2 View Serializability </vt:lpstr>
      <vt:lpstr>10.5 Concurrency Control</vt:lpstr>
      <vt:lpstr>10.5.1 Concurrent Execution </vt:lpstr>
      <vt:lpstr>10.5.1 Concurrent Execution </vt:lpstr>
      <vt:lpstr>10.5.1 Concurrent Execution </vt:lpstr>
      <vt:lpstr>10.5.1 Concurrent Execution </vt:lpstr>
      <vt:lpstr>10.5.1 Concurrent Execution </vt:lpstr>
      <vt:lpstr>10.5.1 Concurrent Execution </vt:lpstr>
      <vt:lpstr>10.5.1 Concurrent Execution </vt:lpstr>
      <vt:lpstr>10.5.1 Concurrent Execution </vt:lpstr>
      <vt:lpstr>10.5.1 Concurrent Execution </vt:lpstr>
      <vt:lpstr>10.5.1 Concurrent Execution </vt:lpstr>
      <vt:lpstr>10.5.1 Concurrent Execution </vt:lpstr>
      <vt:lpstr>10.5.1 Concurrency Control Protocol</vt:lpstr>
      <vt:lpstr>10.5.1 Concurrency Control Protocol</vt:lpstr>
      <vt:lpstr>10.5.1 Concurrency Control Protocol</vt:lpstr>
      <vt:lpstr>10.5.1 Concurrency Control Protocol</vt:lpstr>
      <vt:lpstr>10.5.1 Concurrency Control Protocol</vt:lpstr>
      <vt:lpstr>10.5.1 Concurrency Control Protocol</vt:lpstr>
      <vt:lpstr>10.5.1 Concurrency Control Protocol</vt:lpstr>
      <vt:lpstr>10.5.1 Concurrency Control Protocol</vt:lpstr>
      <vt:lpstr>10.5.1 Concurrency Control Protocol</vt:lpstr>
      <vt:lpstr>10.5.1 Concurrency Control Protocol</vt:lpstr>
      <vt:lpstr>10.5.1 Concurrency Control Protocol</vt:lpstr>
      <vt:lpstr>10.5.1 Concurrency Control Protocol</vt:lpstr>
      <vt:lpstr>10.5.1 Concurrency Control Protocol</vt:lpstr>
      <vt:lpstr>10.5.1 Concurrency Control Protocol</vt:lpstr>
      <vt:lpstr>10.5.1 Concurrency Control Protocol</vt:lpstr>
      <vt:lpstr>10.5.1 Concurrency Control Protocol</vt:lpstr>
      <vt:lpstr>10.5.1 Concurrency Control Protocol</vt:lpstr>
      <vt:lpstr>10.5.1 Concurrency Control Protocol</vt:lpstr>
      <vt:lpstr>10.5.1 Concurrency Control Protocol</vt:lpstr>
      <vt:lpstr>10.5.1 Concurrency Control Protocol</vt:lpstr>
      <vt:lpstr>10.5.1 Concurrency Control Protocol</vt:lpstr>
      <vt:lpstr>10.5.1 Concurrency Control Protocol</vt:lpstr>
      <vt:lpstr>10.5.1 Concurrency Control Protocol</vt:lpstr>
      <vt:lpstr>10.5.1 Concurrency Control Protocol</vt:lpstr>
      <vt:lpstr>Assignment</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Technology Access Behavior and Impact Analysis on Education and Social Transformation in Dhangadhi Sub-Metropolitan City</dc:title>
  <dc:creator>Ravi Khadka</dc:creator>
  <cp:lastModifiedBy>city</cp:lastModifiedBy>
  <cp:revision>797</cp:revision>
  <dcterms:created xsi:type="dcterms:W3CDTF">2017-09-13T07:21:00Z</dcterms:created>
  <dcterms:modified xsi:type="dcterms:W3CDTF">2021-05-03T04:41:07Z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0x01010065BD02F5E4BC024DA86DFA7D8823C79F</vt:lpwstr>
  </property>
</Properties>
</file>