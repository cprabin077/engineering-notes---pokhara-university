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56" r:id="rId1"/>
  </p:sldMasterIdLst>
  <p:sldIdLst>
    <p:sldId id="256" r:id="rId2"/>
    <p:sldId id="257" r:id="rId3"/>
    <p:sldId id="258" r:id="rId4"/>
    <p:sldId id="264" r:id="rId5"/>
    <p:sldId id="259" r:id="rId6"/>
    <p:sldId id="263" r:id="rId7"/>
    <p:sldId id="260" r:id="rId8"/>
    <p:sldId id="266" r:id="rId9"/>
    <p:sldId id="268" r:id="rId10"/>
    <p:sldId id="267" r:id="rId11"/>
    <p:sldId id="271" r:id="rId12"/>
    <p:sldId id="272" r:id="rId13"/>
    <p:sldId id="269" r:id="rId14"/>
    <p:sldId id="273" r:id="rId15"/>
    <p:sldId id="270" r:id="rId16"/>
    <p:sldId id="274" r:id="rId17"/>
    <p:sldId id="275" r:id="rId18"/>
    <p:sldId id="276" r:id="rId19"/>
    <p:sldId id="281" r:id="rId20"/>
    <p:sldId id="282" r:id="rId21"/>
    <p:sldId id="283" r:id="rId22"/>
    <p:sldId id="285" r:id="rId23"/>
    <p:sldId id="284" r:id="rId24"/>
    <p:sldId id="286" r:id="rId25"/>
    <p:sldId id="288" r:id="rId26"/>
    <p:sldId id="287" r:id="rId27"/>
    <p:sldId id="277" r:id="rId28"/>
    <p:sldId id="290" r:id="rId29"/>
    <p:sldId id="291" r:id="rId30"/>
    <p:sldId id="293" r:id="rId31"/>
    <p:sldId id="294" r:id="rId32"/>
    <p:sldId id="295" r:id="rId33"/>
    <p:sldId id="292" r:id="rId34"/>
    <p:sldId id="278" r:id="rId35"/>
    <p:sldId id="298" r:id="rId36"/>
    <p:sldId id="301" r:id="rId37"/>
    <p:sldId id="299" r:id="rId38"/>
    <p:sldId id="302" r:id="rId39"/>
    <p:sldId id="303" r:id="rId40"/>
    <p:sldId id="304" r:id="rId41"/>
    <p:sldId id="305" r:id="rId42"/>
    <p:sldId id="311" r:id="rId43"/>
    <p:sldId id="312" r:id="rId44"/>
    <p:sldId id="308" r:id="rId45"/>
    <p:sldId id="310" r:id="rId46"/>
    <p:sldId id="314" r:id="rId47"/>
    <p:sldId id="313"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CA543BEC-1208-409E-84D3-63E89A259783}" type="datetimeFigureOut">
              <a:rPr lang="en-US" smtClean="0"/>
              <a:pPr/>
              <a:t>10/3/2020</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5BB8A5CC-DF69-46F3-A594-57416CD50917}"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CA543BEC-1208-409E-84D3-63E89A259783}" type="datetimeFigureOut">
              <a:rPr lang="en-US" smtClean="0"/>
              <a:pPr/>
              <a:t>10/3/2020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5BB8A5CC-DF69-46F3-A594-57416CD50917}"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CA543BEC-1208-409E-84D3-63E89A259783}" type="datetimeFigureOut">
              <a:rPr lang="en-US" smtClean="0"/>
              <a:pPr/>
              <a:t>10/3/2020</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5BB8A5CC-DF69-46F3-A594-57416CD50917}"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CA543BEC-1208-409E-84D3-63E89A259783}" type="datetimeFigureOut">
              <a:rPr lang="en-US" smtClean="0"/>
              <a:pPr/>
              <a:t>10/3/2020</a:t>
            </a:fld>
            <a:endParaRPr lang="en-US"/>
          </a:p>
        </p:txBody>
      </p:sp>
      <p:sp>
        <p:nvSpPr>
          <p:cNvPr id="10" name="Slide Number Placeholder 9"/>
          <p:cNvSpPr>
            <a:spLocks noGrp="1"/>
          </p:cNvSpPr>
          <p:nvPr>
            <p:ph type="sldNum" sz="quarter" idx="16"/>
          </p:nvPr>
        </p:nvSpPr>
        <p:spPr/>
        <p:txBody>
          <a:bodyPr rtlCol="0"/>
          <a:lstStyle/>
          <a:p>
            <a:fld id="{5BB8A5CC-DF69-46F3-A594-57416CD50917}"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CA543BEC-1208-409E-84D3-63E89A259783}" type="datetimeFigureOut">
              <a:rPr lang="en-US" smtClean="0"/>
              <a:pPr/>
              <a:t>10/3/2020</a:t>
            </a:fld>
            <a:endParaRPr lang="en-US"/>
          </a:p>
        </p:txBody>
      </p:sp>
      <p:sp>
        <p:nvSpPr>
          <p:cNvPr id="12" name="Slide Number Placeholder 11"/>
          <p:cNvSpPr>
            <a:spLocks noGrp="1"/>
          </p:cNvSpPr>
          <p:nvPr>
            <p:ph type="sldNum" sz="quarter" idx="16"/>
          </p:nvPr>
        </p:nvSpPr>
        <p:spPr/>
        <p:txBody>
          <a:bodyPr rtlCol="0"/>
          <a:lstStyle/>
          <a:p>
            <a:fld id="{5BB8A5CC-DF69-46F3-A594-57416CD50917}"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CA543BEC-1208-409E-84D3-63E89A259783}" type="datetimeFigureOut">
              <a:rPr lang="en-US" smtClean="0"/>
              <a:pPr/>
              <a:t>10/3/2020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5BB8A5CC-DF69-46F3-A594-57416CD5091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543BEC-1208-409E-84D3-63E89A259783}" type="datetimeFigureOut">
              <a:rPr lang="en-US" smtClean="0"/>
              <a:pPr/>
              <a:t>10/3/2020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5BB8A5CC-DF69-46F3-A594-57416CD5091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CA543BEC-1208-409E-84D3-63E89A259783}" type="datetimeFigureOut">
              <a:rPr lang="en-US" smtClean="0"/>
              <a:pPr/>
              <a:t>10/3/2020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5BB8A5CC-DF69-46F3-A594-57416CD50917}"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CA543BEC-1208-409E-84D3-63E89A259783}" type="datetimeFigureOut">
              <a:rPr lang="en-US" smtClean="0"/>
              <a:pPr/>
              <a:t>10/3/2020</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5BB8A5CC-DF69-46F3-A594-57416CD50917}"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A543BEC-1208-409E-84D3-63E89A259783}" type="datetimeFigureOut">
              <a:rPr lang="en-US" smtClean="0"/>
              <a:pPr/>
              <a:t>10/3/2020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B8A5CC-DF69-46F3-A594-57416CD5091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CA543BEC-1208-409E-84D3-63E89A259783}" type="datetimeFigureOut">
              <a:rPr lang="en-US" smtClean="0"/>
              <a:pPr/>
              <a:t>10/3/2020</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5BB8A5CC-DF69-46F3-A594-57416CD50917}"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CA543BEC-1208-409E-84D3-63E89A259783}" type="datetimeFigureOut">
              <a:rPr lang="en-US" smtClean="0"/>
              <a:pPr/>
              <a:t>10/3/2020</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5BB8A5CC-DF69-46F3-A594-57416CD5091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76401"/>
            <a:ext cx="7772400" cy="1924050"/>
          </a:xfrm>
        </p:spPr>
        <p:txBody>
          <a:bodyPr/>
          <a:lstStyle/>
          <a:p>
            <a:r>
              <a:rPr lang="en-US" dirty="0"/>
              <a:t>COP-5725</a:t>
            </a:r>
            <a:br>
              <a:rPr lang="en-US" dirty="0"/>
            </a:br>
            <a:r>
              <a:rPr lang="en-US" dirty="0"/>
              <a:t>Practice Exercises</a:t>
            </a:r>
          </a:p>
        </p:txBody>
      </p:sp>
      <p:sp>
        <p:nvSpPr>
          <p:cNvPr id="3" name="Subtitle 2"/>
          <p:cNvSpPr>
            <a:spLocks noGrp="1"/>
          </p:cNvSpPr>
          <p:nvPr>
            <p:ph type="subTitle" idx="1"/>
          </p:nvPr>
        </p:nvSpPr>
        <p:spPr>
          <a:xfrm>
            <a:off x="1371600" y="3886200"/>
            <a:ext cx="6400800" cy="1371600"/>
          </a:xfrm>
        </p:spPr>
        <p:txBody>
          <a:bodyPr/>
          <a:lstStyle/>
          <a:p>
            <a:r>
              <a:rPr lang="en-US" dirty="0"/>
              <a:t>Chapter 2: Database Design</a:t>
            </a:r>
          </a:p>
          <a:p>
            <a:r>
              <a:rPr lang="en-US" dirty="0"/>
              <a:t>Chapter 3: Relational Model</a:t>
            </a:r>
          </a:p>
        </p:txBody>
      </p:sp>
      <p:sp>
        <p:nvSpPr>
          <p:cNvPr id="4" name="Subtitle 2"/>
          <p:cNvSpPr txBox="1">
            <a:spLocks/>
          </p:cNvSpPr>
          <p:nvPr/>
        </p:nvSpPr>
        <p:spPr>
          <a:xfrm>
            <a:off x="3352800" y="6096000"/>
            <a:ext cx="2438400" cy="381000"/>
          </a:xfrm>
          <a:prstGeom prst="rect">
            <a:avLst/>
          </a:prstGeom>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chemeClr val="tx1">
                    <a:tint val="75000"/>
                  </a:schemeClr>
                </a:solidFill>
                <a:effectLst/>
                <a:uLnTx/>
                <a:uFillTx/>
                <a:latin typeface="+mn-lt"/>
                <a:ea typeface="+mn-ea"/>
                <a:cs typeface="+mn-cs"/>
              </a:rPr>
              <a:t>M. Amanda Crick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2.4</a:t>
            </a:r>
          </a:p>
        </p:txBody>
      </p:sp>
      <p:sp>
        <p:nvSpPr>
          <p:cNvPr id="3" name="Content Placeholder 2"/>
          <p:cNvSpPr>
            <a:spLocks noGrp="1"/>
          </p:cNvSpPr>
          <p:nvPr>
            <p:ph sz="quarter" idx="1"/>
          </p:nvPr>
        </p:nvSpPr>
        <p:spPr>
          <a:xfrm>
            <a:off x="457200" y="1371600"/>
            <a:ext cx="8229600" cy="4876800"/>
          </a:xfrm>
        </p:spPr>
        <p:txBody>
          <a:bodyPr>
            <a:normAutofit/>
          </a:bodyPr>
          <a:lstStyle/>
          <a:p>
            <a:pPr>
              <a:buNone/>
            </a:pPr>
            <a:r>
              <a:rPr lang="en-US" b="1" dirty="0"/>
              <a:t>Problem</a:t>
            </a:r>
          </a:p>
          <a:p>
            <a:r>
              <a:rPr lang="en-US" dirty="0"/>
              <a:t>A company database needs to store information about employees (identified by </a:t>
            </a:r>
            <a:r>
              <a:rPr lang="en-US" i="1" dirty="0" err="1"/>
              <a:t>ssn</a:t>
            </a:r>
            <a:r>
              <a:rPr lang="en-US" i="1" dirty="0"/>
              <a:t>, with salary and phone as attributes), departments (identified by </a:t>
            </a:r>
            <a:r>
              <a:rPr lang="en-US" i="1" dirty="0" err="1"/>
              <a:t>dno</a:t>
            </a:r>
            <a:r>
              <a:rPr lang="en-US" i="1" dirty="0"/>
              <a:t>, </a:t>
            </a:r>
            <a:r>
              <a:rPr lang="en-US" dirty="0"/>
              <a:t>with </a:t>
            </a:r>
            <a:r>
              <a:rPr lang="en-US" i="1" dirty="0" err="1"/>
              <a:t>dname</a:t>
            </a:r>
            <a:r>
              <a:rPr lang="en-US" i="1" dirty="0"/>
              <a:t> and budget as attributes), and children of employees (with name and age </a:t>
            </a:r>
            <a:r>
              <a:rPr lang="en-US" dirty="0"/>
              <a:t>as attributes). </a:t>
            </a:r>
            <a:endParaRPr lang="en-US"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2.4</a:t>
            </a:r>
          </a:p>
        </p:txBody>
      </p:sp>
      <p:sp>
        <p:nvSpPr>
          <p:cNvPr id="3" name="Content Placeholder 2"/>
          <p:cNvSpPr>
            <a:spLocks noGrp="1"/>
          </p:cNvSpPr>
          <p:nvPr>
            <p:ph sz="quarter" idx="1"/>
          </p:nvPr>
        </p:nvSpPr>
        <p:spPr>
          <a:xfrm>
            <a:off x="457200" y="1371600"/>
            <a:ext cx="8229600" cy="5105400"/>
          </a:xfrm>
        </p:spPr>
        <p:txBody>
          <a:bodyPr>
            <a:normAutofit/>
          </a:bodyPr>
          <a:lstStyle/>
          <a:p>
            <a:pPr>
              <a:buNone/>
            </a:pPr>
            <a:r>
              <a:rPr lang="en-US" b="1" dirty="0"/>
              <a:t>Problem</a:t>
            </a:r>
          </a:p>
          <a:p>
            <a:r>
              <a:rPr lang="en-US" dirty="0"/>
              <a:t>Employees </a:t>
            </a:r>
            <a:r>
              <a:rPr lang="en-US" i="1" dirty="0"/>
              <a:t>work in departments; each department is managed by an </a:t>
            </a:r>
            <a:r>
              <a:rPr lang="en-US" dirty="0"/>
              <a:t>employee; a child must be identified uniquely by </a:t>
            </a:r>
            <a:r>
              <a:rPr lang="en-US" i="1" dirty="0"/>
              <a:t>name when the parent (who is an </a:t>
            </a:r>
            <a:r>
              <a:rPr lang="en-US" dirty="0"/>
              <a:t>employee; assume that only one parent works for the company) is known. We are not interested in information about a child once the parent leaves the company.</a:t>
            </a:r>
          </a:p>
          <a:p>
            <a:r>
              <a:rPr lang="en-US" dirty="0"/>
              <a:t>Draw an ER diagram that captures this information.</a:t>
            </a:r>
            <a:endParaRPr lang="en-US"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2.4</a:t>
            </a:r>
          </a:p>
        </p:txBody>
      </p:sp>
      <p:sp>
        <p:nvSpPr>
          <p:cNvPr id="3" name="Content Placeholder 2"/>
          <p:cNvSpPr>
            <a:spLocks noGrp="1"/>
          </p:cNvSpPr>
          <p:nvPr>
            <p:ph sz="quarter" idx="1"/>
          </p:nvPr>
        </p:nvSpPr>
        <p:spPr>
          <a:xfrm>
            <a:off x="457200" y="1371600"/>
            <a:ext cx="8229600" cy="5105400"/>
          </a:xfrm>
        </p:spPr>
        <p:txBody>
          <a:bodyPr>
            <a:normAutofit/>
          </a:bodyPr>
          <a:lstStyle/>
          <a:p>
            <a:pPr>
              <a:buNone/>
            </a:pPr>
            <a:r>
              <a:rPr lang="en-US" b="1" dirty="0"/>
              <a:t>Solution</a:t>
            </a:r>
          </a:p>
          <a:p>
            <a:r>
              <a:rPr lang="en-US" dirty="0"/>
              <a:t>First, we shall design the entities and relationships.</a:t>
            </a:r>
          </a:p>
          <a:p>
            <a:pPr lvl="1"/>
            <a:r>
              <a:rPr lang="en-US" dirty="0"/>
              <a:t>“Employees </a:t>
            </a:r>
            <a:r>
              <a:rPr lang="en-US" i="1" dirty="0"/>
              <a:t>work in departments…”</a:t>
            </a:r>
          </a:p>
          <a:p>
            <a:pPr lvl="1"/>
            <a:r>
              <a:rPr lang="en-US" i="1" dirty="0"/>
              <a:t>“…each department is managed by an </a:t>
            </a:r>
            <a:r>
              <a:rPr lang="en-US" dirty="0"/>
              <a:t>employee…”</a:t>
            </a:r>
          </a:p>
          <a:p>
            <a:pPr lvl="1"/>
            <a:r>
              <a:rPr lang="en-US" dirty="0"/>
              <a:t>“…a child must be identified uniquely by </a:t>
            </a:r>
            <a:r>
              <a:rPr lang="en-US" i="1" dirty="0"/>
              <a:t>name when the parent (who is an </a:t>
            </a:r>
            <a:r>
              <a:rPr lang="en-US" dirty="0"/>
              <a:t>employee; assume that only one parent works for the company) is known.”</a:t>
            </a:r>
            <a:endParaRPr 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20356BE5-3A22-477C-905A-6778535A2BFF}"/>
              </a:ext>
            </a:extLst>
          </p:cNvPr>
          <p:cNvSpPr/>
          <p:nvPr/>
        </p:nvSpPr>
        <p:spPr>
          <a:xfrm>
            <a:off x="1828800" y="5105396"/>
            <a:ext cx="1422770" cy="59457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 name="Diamond 3">
            <a:extLst>
              <a:ext uri="{FF2B5EF4-FFF2-40B4-BE49-F238E27FC236}">
                <a16:creationId xmlns:a16="http://schemas.microsoft.com/office/drawing/2014/main" id="{D9668C49-3B8C-4473-B160-CC0FE9C9402E}"/>
              </a:ext>
            </a:extLst>
          </p:cNvPr>
          <p:cNvSpPr/>
          <p:nvPr/>
        </p:nvSpPr>
        <p:spPr>
          <a:xfrm>
            <a:off x="1701424" y="3657598"/>
            <a:ext cx="1626349" cy="1066800"/>
          </a:xfrm>
          <a:prstGeom prst="diamond">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Title 1"/>
          <p:cNvSpPr>
            <a:spLocks noGrp="1"/>
          </p:cNvSpPr>
          <p:nvPr>
            <p:ph type="title"/>
          </p:nvPr>
        </p:nvSpPr>
        <p:spPr/>
        <p:txBody>
          <a:bodyPr/>
          <a:lstStyle/>
          <a:p>
            <a:pPr algn="l"/>
            <a:r>
              <a:rPr lang="en-US" dirty="0"/>
              <a:t>Exercise 2.4</a:t>
            </a:r>
          </a:p>
        </p:txBody>
      </p:sp>
      <p:sp>
        <p:nvSpPr>
          <p:cNvPr id="3" name="Content Placeholder 2"/>
          <p:cNvSpPr>
            <a:spLocks noGrp="1"/>
          </p:cNvSpPr>
          <p:nvPr>
            <p:ph sz="quarter" idx="1"/>
          </p:nvPr>
        </p:nvSpPr>
        <p:spPr>
          <a:xfrm>
            <a:off x="457200" y="1371600"/>
            <a:ext cx="8229600" cy="5105400"/>
          </a:xfrm>
        </p:spPr>
        <p:txBody>
          <a:bodyPr>
            <a:normAutofit/>
          </a:bodyPr>
          <a:lstStyle/>
          <a:p>
            <a:pPr>
              <a:buNone/>
            </a:pPr>
            <a:r>
              <a:rPr lang="en-US" b="1" dirty="0"/>
              <a:t>Solution</a:t>
            </a:r>
          </a:p>
        </p:txBody>
      </p:sp>
      <p:sp>
        <p:nvSpPr>
          <p:cNvPr id="6" name="Rectangle 5"/>
          <p:cNvSpPr/>
          <p:nvPr/>
        </p:nvSpPr>
        <p:spPr>
          <a:xfrm>
            <a:off x="6096000" y="2819400"/>
            <a:ext cx="13716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Departments</a:t>
            </a:r>
          </a:p>
        </p:txBody>
      </p:sp>
      <p:sp>
        <p:nvSpPr>
          <p:cNvPr id="7" name="Rectangle 6"/>
          <p:cNvSpPr/>
          <p:nvPr/>
        </p:nvSpPr>
        <p:spPr>
          <a:xfrm>
            <a:off x="1905000" y="5181600"/>
            <a:ext cx="12954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Child</a:t>
            </a:r>
          </a:p>
        </p:txBody>
      </p:sp>
      <p:sp>
        <p:nvSpPr>
          <p:cNvPr id="8" name="Rectangle 7"/>
          <p:cNvSpPr/>
          <p:nvPr/>
        </p:nvSpPr>
        <p:spPr>
          <a:xfrm>
            <a:off x="1828800" y="2819400"/>
            <a:ext cx="12954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Employees</a:t>
            </a:r>
          </a:p>
        </p:txBody>
      </p:sp>
      <p:sp>
        <p:nvSpPr>
          <p:cNvPr id="9" name="Oval 8"/>
          <p:cNvSpPr/>
          <p:nvPr/>
        </p:nvSpPr>
        <p:spPr>
          <a:xfrm>
            <a:off x="914400" y="58674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a:solidFill>
                  <a:schemeClr val="tx1"/>
                </a:solidFill>
              </a:rPr>
              <a:t>name</a:t>
            </a:r>
          </a:p>
        </p:txBody>
      </p:sp>
      <p:sp>
        <p:nvSpPr>
          <p:cNvPr id="10" name="Oval 9"/>
          <p:cNvSpPr/>
          <p:nvPr/>
        </p:nvSpPr>
        <p:spPr>
          <a:xfrm>
            <a:off x="3048000" y="58674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age</a:t>
            </a:r>
          </a:p>
        </p:txBody>
      </p:sp>
      <p:sp>
        <p:nvSpPr>
          <p:cNvPr id="11" name="Oval 10"/>
          <p:cNvSpPr/>
          <p:nvPr/>
        </p:nvSpPr>
        <p:spPr>
          <a:xfrm>
            <a:off x="3200400" y="20574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phone</a:t>
            </a:r>
          </a:p>
        </p:txBody>
      </p:sp>
      <p:sp>
        <p:nvSpPr>
          <p:cNvPr id="12" name="Oval 11"/>
          <p:cNvSpPr/>
          <p:nvPr/>
        </p:nvSpPr>
        <p:spPr>
          <a:xfrm>
            <a:off x="457200" y="22098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err="1">
                <a:solidFill>
                  <a:schemeClr val="tx1"/>
                </a:solidFill>
              </a:rPr>
              <a:t>ssn</a:t>
            </a:r>
            <a:endParaRPr lang="en-US" sz="1600" u="sng" dirty="0">
              <a:solidFill>
                <a:schemeClr val="tx1"/>
              </a:solidFill>
            </a:endParaRPr>
          </a:p>
        </p:txBody>
      </p:sp>
      <p:sp>
        <p:nvSpPr>
          <p:cNvPr id="13" name="Oval 12"/>
          <p:cNvSpPr/>
          <p:nvPr/>
        </p:nvSpPr>
        <p:spPr>
          <a:xfrm>
            <a:off x="1828800" y="19050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salary</a:t>
            </a:r>
          </a:p>
        </p:txBody>
      </p:sp>
      <p:sp>
        <p:nvSpPr>
          <p:cNvPr id="14" name="Diamond 13"/>
          <p:cNvSpPr/>
          <p:nvPr/>
        </p:nvSpPr>
        <p:spPr>
          <a:xfrm>
            <a:off x="1828800" y="37338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a:solidFill>
                  <a:schemeClr val="tx1"/>
                </a:solidFill>
              </a:rPr>
              <a:t>Dependent</a:t>
            </a:r>
          </a:p>
        </p:txBody>
      </p:sp>
      <p:sp>
        <p:nvSpPr>
          <p:cNvPr id="15" name="Oval 14"/>
          <p:cNvSpPr/>
          <p:nvPr/>
        </p:nvSpPr>
        <p:spPr>
          <a:xfrm>
            <a:off x="7467600" y="22098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budget</a:t>
            </a:r>
          </a:p>
        </p:txBody>
      </p:sp>
      <p:sp>
        <p:nvSpPr>
          <p:cNvPr id="16" name="Oval 15"/>
          <p:cNvSpPr/>
          <p:nvPr/>
        </p:nvSpPr>
        <p:spPr>
          <a:xfrm>
            <a:off x="5105400" y="20574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err="1">
                <a:solidFill>
                  <a:schemeClr val="tx1"/>
                </a:solidFill>
              </a:rPr>
              <a:t>dno</a:t>
            </a:r>
            <a:endParaRPr lang="en-US" sz="1600" u="sng" dirty="0">
              <a:solidFill>
                <a:schemeClr val="tx1"/>
              </a:solidFill>
            </a:endParaRPr>
          </a:p>
        </p:txBody>
      </p:sp>
      <p:sp>
        <p:nvSpPr>
          <p:cNvPr id="17" name="Oval 16"/>
          <p:cNvSpPr/>
          <p:nvPr/>
        </p:nvSpPr>
        <p:spPr>
          <a:xfrm>
            <a:off x="6400800" y="16764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tx1"/>
                </a:solidFill>
              </a:rPr>
              <a:t>dname</a:t>
            </a:r>
            <a:endParaRPr lang="en-US" sz="1600" dirty="0">
              <a:solidFill>
                <a:schemeClr val="tx1"/>
              </a:solidFill>
            </a:endParaRPr>
          </a:p>
        </p:txBody>
      </p:sp>
      <p:sp>
        <p:nvSpPr>
          <p:cNvPr id="18" name="Diamond 17"/>
          <p:cNvSpPr/>
          <p:nvPr/>
        </p:nvSpPr>
        <p:spPr>
          <a:xfrm>
            <a:off x="4038600" y="27432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a:solidFill>
                  <a:schemeClr val="tx1"/>
                </a:solidFill>
              </a:rPr>
              <a:t>Manages</a:t>
            </a:r>
          </a:p>
        </p:txBody>
      </p:sp>
      <p:sp>
        <p:nvSpPr>
          <p:cNvPr id="19" name="Diamond 18"/>
          <p:cNvSpPr/>
          <p:nvPr/>
        </p:nvSpPr>
        <p:spPr>
          <a:xfrm>
            <a:off x="4114800" y="38862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err="1">
                <a:solidFill>
                  <a:schemeClr val="tx1"/>
                </a:solidFill>
              </a:rPr>
              <a:t>Works_In</a:t>
            </a:r>
            <a:endParaRPr lang="en-US" sz="1600" dirty="0">
              <a:solidFill>
                <a:schemeClr val="tx1"/>
              </a:solidFill>
            </a:endParaRPr>
          </a:p>
        </p:txBody>
      </p:sp>
      <p:cxnSp>
        <p:nvCxnSpPr>
          <p:cNvPr id="21" name="Straight Connector 20"/>
          <p:cNvCxnSpPr>
            <a:cxnSpLocks/>
            <a:stCxn id="29" idx="2"/>
            <a:endCxn id="10" idx="1"/>
          </p:cNvCxnSpPr>
          <p:nvPr/>
        </p:nvCxnSpPr>
        <p:spPr>
          <a:xfrm>
            <a:off x="2540185" y="5699974"/>
            <a:ext cx="675203" cy="2455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cxnSpLocks/>
            <a:endCxn id="9" idx="7"/>
          </p:cNvCxnSpPr>
          <p:nvPr/>
        </p:nvCxnSpPr>
        <p:spPr>
          <a:xfrm flipH="1">
            <a:off x="1890012" y="5715000"/>
            <a:ext cx="510288" cy="2305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a:cxnSpLocks/>
            <a:stCxn id="8" idx="2"/>
            <a:endCxn id="4" idx="0"/>
          </p:cNvCxnSpPr>
          <p:nvPr/>
        </p:nvCxnSpPr>
        <p:spPr>
          <a:xfrm>
            <a:off x="2476500" y="3276600"/>
            <a:ext cx="38099" cy="3809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cxnSpLocks/>
            <a:stCxn id="4" idx="2"/>
            <a:endCxn id="7" idx="0"/>
          </p:cNvCxnSpPr>
          <p:nvPr/>
        </p:nvCxnSpPr>
        <p:spPr>
          <a:xfrm>
            <a:off x="2514599" y="4724398"/>
            <a:ext cx="38101" cy="4572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8" idx="3"/>
            <a:endCxn id="19" idx="1"/>
          </p:cNvCxnSpPr>
          <p:nvPr/>
        </p:nvCxnSpPr>
        <p:spPr>
          <a:xfrm>
            <a:off x="3124200" y="3048000"/>
            <a:ext cx="990600" cy="1295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9" idx="3"/>
            <a:endCxn id="6" idx="1"/>
          </p:cNvCxnSpPr>
          <p:nvPr/>
        </p:nvCxnSpPr>
        <p:spPr>
          <a:xfrm flipV="1">
            <a:off x="5486400" y="3048000"/>
            <a:ext cx="609600" cy="1295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8" idx="3"/>
            <a:endCxn id="18" idx="1"/>
          </p:cNvCxnSpPr>
          <p:nvPr/>
        </p:nvCxnSpPr>
        <p:spPr>
          <a:xfrm>
            <a:off x="3124200" y="3048000"/>
            <a:ext cx="914400" cy="152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18" idx="3"/>
            <a:endCxn id="6" idx="1"/>
          </p:cNvCxnSpPr>
          <p:nvPr/>
        </p:nvCxnSpPr>
        <p:spPr>
          <a:xfrm flipV="1">
            <a:off x="5410200" y="3048000"/>
            <a:ext cx="685800" cy="152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12" idx="5"/>
            <a:endCxn id="8" idx="0"/>
          </p:cNvCxnSpPr>
          <p:nvPr/>
        </p:nvCxnSpPr>
        <p:spPr>
          <a:xfrm rot="16200000" flipH="1">
            <a:off x="1877498" y="2220397"/>
            <a:ext cx="154315" cy="1043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a:stCxn id="13" idx="4"/>
            <a:endCxn id="8" idx="0"/>
          </p:cNvCxnSpPr>
          <p:nvPr/>
        </p:nvCxnSpPr>
        <p:spPr>
          <a:xfrm rot="16200000" flipH="1">
            <a:off x="2247900" y="2590800"/>
            <a:ext cx="381000" cy="76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a:stCxn id="11" idx="3"/>
            <a:endCxn id="8" idx="0"/>
          </p:cNvCxnSpPr>
          <p:nvPr/>
        </p:nvCxnSpPr>
        <p:spPr>
          <a:xfrm rot="5400000">
            <a:off x="2774367" y="2214818"/>
            <a:ext cx="306715" cy="9024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a:stCxn id="16" idx="5"/>
            <a:endCxn id="6" idx="0"/>
          </p:cNvCxnSpPr>
          <p:nvPr/>
        </p:nvCxnSpPr>
        <p:spPr>
          <a:xfrm rot="16200000" flipH="1">
            <a:off x="6278048" y="2315647"/>
            <a:ext cx="306715" cy="7007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a:stCxn id="17" idx="4"/>
            <a:endCxn id="6" idx="0"/>
          </p:cNvCxnSpPr>
          <p:nvPr/>
        </p:nvCxnSpPr>
        <p:spPr>
          <a:xfrm rot="5400000">
            <a:off x="6572250" y="2419350"/>
            <a:ext cx="609600" cy="190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stCxn id="15" idx="3"/>
            <a:endCxn id="6" idx="0"/>
          </p:cNvCxnSpPr>
          <p:nvPr/>
        </p:nvCxnSpPr>
        <p:spPr>
          <a:xfrm rot="5400000">
            <a:off x="7136817" y="2310068"/>
            <a:ext cx="154315" cy="8643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690FB25-1BDF-4A27-B515-DBDFAACCFF9C}"/>
              </a:ext>
            </a:extLst>
          </p:cNvPr>
          <p:cNvCxnSpPr>
            <a:cxnSpLocks/>
          </p:cNvCxnSpPr>
          <p:nvPr/>
        </p:nvCxnSpPr>
        <p:spPr>
          <a:xfrm>
            <a:off x="2567688" y="4709372"/>
            <a:ext cx="38101" cy="4572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4"/>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2.4</a:t>
            </a:r>
          </a:p>
        </p:txBody>
      </p:sp>
      <p:sp>
        <p:nvSpPr>
          <p:cNvPr id="3" name="Content Placeholder 2"/>
          <p:cNvSpPr>
            <a:spLocks noGrp="1"/>
          </p:cNvSpPr>
          <p:nvPr>
            <p:ph sz="quarter" idx="1"/>
          </p:nvPr>
        </p:nvSpPr>
        <p:spPr>
          <a:xfrm>
            <a:off x="457200" y="1371600"/>
            <a:ext cx="8229600" cy="5105400"/>
          </a:xfrm>
        </p:spPr>
        <p:txBody>
          <a:bodyPr>
            <a:normAutofit/>
          </a:bodyPr>
          <a:lstStyle/>
          <a:p>
            <a:pPr>
              <a:buNone/>
            </a:pPr>
            <a:r>
              <a:rPr lang="en-US" b="1" dirty="0"/>
              <a:t>Solution</a:t>
            </a:r>
          </a:p>
          <a:p>
            <a:r>
              <a:rPr lang="en-US" dirty="0"/>
              <a:t>Now, we will design the constraints.</a:t>
            </a:r>
          </a:p>
          <a:p>
            <a:pPr lvl="1"/>
            <a:r>
              <a:rPr lang="en-US" dirty="0"/>
              <a:t>“…</a:t>
            </a:r>
            <a:r>
              <a:rPr lang="en-US" i="1" dirty="0"/>
              <a:t>each department is managed by </a:t>
            </a:r>
            <a:r>
              <a:rPr lang="en-US" b="1" i="1" dirty="0"/>
              <a:t>an</a:t>
            </a:r>
            <a:r>
              <a:rPr lang="en-US" i="1" dirty="0"/>
              <a:t> </a:t>
            </a:r>
            <a:r>
              <a:rPr lang="en-US" dirty="0"/>
              <a:t>employee…”</a:t>
            </a:r>
          </a:p>
          <a:p>
            <a:pPr lvl="1"/>
            <a:r>
              <a:rPr lang="en-US" dirty="0"/>
              <a:t>“…a child must be identified uniquely by </a:t>
            </a:r>
            <a:r>
              <a:rPr lang="en-US" i="1" dirty="0"/>
              <a:t>name when the parent (who is an </a:t>
            </a:r>
            <a:r>
              <a:rPr lang="en-US" dirty="0"/>
              <a:t>employee; assume that only one parent works for the company) is known. “</a:t>
            </a:r>
          </a:p>
          <a:p>
            <a:pPr lvl="1"/>
            <a:r>
              <a:rPr lang="en-US" dirty="0"/>
              <a:t>“We are not interested in information about a child once the parent leaves the company.”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2.4</a:t>
            </a:r>
          </a:p>
        </p:txBody>
      </p:sp>
      <p:sp>
        <p:nvSpPr>
          <p:cNvPr id="3" name="Content Placeholder 2"/>
          <p:cNvSpPr>
            <a:spLocks noGrp="1"/>
          </p:cNvSpPr>
          <p:nvPr>
            <p:ph sz="quarter" idx="1"/>
          </p:nvPr>
        </p:nvSpPr>
        <p:spPr>
          <a:xfrm>
            <a:off x="457200" y="1371600"/>
            <a:ext cx="8229600" cy="5105400"/>
          </a:xfrm>
        </p:spPr>
        <p:txBody>
          <a:bodyPr>
            <a:normAutofit/>
          </a:bodyPr>
          <a:lstStyle/>
          <a:p>
            <a:pPr>
              <a:buNone/>
            </a:pPr>
            <a:r>
              <a:rPr lang="en-US" b="1" dirty="0"/>
              <a:t>Solution</a:t>
            </a:r>
          </a:p>
        </p:txBody>
      </p:sp>
      <p:sp>
        <p:nvSpPr>
          <p:cNvPr id="6" name="Rectangle 5"/>
          <p:cNvSpPr/>
          <p:nvPr/>
        </p:nvSpPr>
        <p:spPr>
          <a:xfrm>
            <a:off x="6096000" y="2819400"/>
            <a:ext cx="13716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Departments</a:t>
            </a:r>
          </a:p>
        </p:txBody>
      </p:sp>
      <p:sp>
        <p:nvSpPr>
          <p:cNvPr id="7" name="Rectangle 6"/>
          <p:cNvSpPr/>
          <p:nvPr/>
        </p:nvSpPr>
        <p:spPr>
          <a:xfrm>
            <a:off x="1905000" y="5181600"/>
            <a:ext cx="12954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Child</a:t>
            </a:r>
          </a:p>
        </p:txBody>
      </p:sp>
      <p:sp>
        <p:nvSpPr>
          <p:cNvPr id="8" name="Rectangle 7"/>
          <p:cNvSpPr/>
          <p:nvPr/>
        </p:nvSpPr>
        <p:spPr>
          <a:xfrm>
            <a:off x="1828800" y="2819400"/>
            <a:ext cx="12954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Employees</a:t>
            </a:r>
          </a:p>
        </p:txBody>
      </p:sp>
      <p:sp>
        <p:nvSpPr>
          <p:cNvPr id="9" name="Oval 8"/>
          <p:cNvSpPr/>
          <p:nvPr/>
        </p:nvSpPr>
        <p:spPr>
          <a:xfrm>
            <a:off x="914400" y="58674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a:solidFill>
                  <a:schemeClr val="tx1"/>
                </a:solidFill>
              </a:rPr>
              <a:t>name</a:t>
            </a:r>
          </a:p>
        </p:txBody>
      </p:sp>
      <p:sp>
        <p:nvSpPr>
          <p:cNvPr id="10" name="Oval 9"/>
          <p:cNvSpPr/>
          <p:nvPr/>
        </p:nvSpPr>
        <p:spPr>
          <a:xfrm>
            <a:off x="3048000" y="58674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age</a:t>
            </a:r>
          </a:p>
        </p:txBody>
      </p:sp>
      <p:sp>
        <p:nvSpPr>
          <p:cNvPr id="11" name="Oval 10"/>
          <p:cNvSpPr/>
          <p:nvPr/>
        </p:nvSpPr>
        <p:spPr>
          <a:xfrm>
            <a:off x="3200400" y="20574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phone</a:t>
            </a:r>
          </a:p>
        </p:txBody>
      </p:sp>
      <p:sp>
        <p:nvSpPr>
          <p:cNvPr id="12" name="Oval 11"/>
          <p:cNvSpPr/>
          <p:nvPr/>
        </p:nvSpPr>
        <p:spPr>
          <a:xfrm>
            <a:off x="457200" y="22098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err="1">
                <a:solidFill>
                  <a:schemeClr val="tx1"/>
                </a:solidFill>
              </a:rPr>
              <a:t>ssn</a:t>
            </a:r>
            <a:endParaRPr lang="en-US" sz="1600" u="sng" dirty="0">
              <a:solidFill>
                <a:schemeClr val="tx1"/>
              </a:solidFill>
            </a:endParaRPr>
          </a:p>
        </p:txBody>
      </p:sp>
      <p:sp>
        <p:nvSpPr>
          <p:cNvPr id="13" name="Oval 12"/>
          <p:cNvSpPr/>
          <p:nvPr/>
        </p:nvSpPr>
        <p:spPr>
          <a:xfrm>
            <a:off x="1828800" y="19050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salary</a:t>
            </a:r>
          </a:p>
        </p:txBody>
      </p:sp>
      <p:sp>
        <p:nvSpPr>
          <p:cNvPr id="14" name="Diamond 13"/>
          <p:cNvSpPr/>
          <p:nvPr/>
        </p:nvSpPr>
        <p:spPr>
          <a:xfrm>
            <a:off x="1828800" y="37338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a:solidFill>
                  <a:schemeClr val="tx1"/>
                </a:solidFill>
              </a:rPr>
              <a:t>Dependent</a:t>
            </a:r>
          </a:p>
        </p:txBody>
      </p:sp>
      <p:sp>
        <p:nvSpPr>
          <p:cNvPr id="15" name="Oval 14"/>
          <p:cNvSpPr/>
          <p:nvPr/>
        </p:nvSpPr>
        <p:spPr>
          <a:xfrm>
            <a:off x="7467600" y="22098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budget</a:t>
            </a:r>
          </a:p>
        </p:txBody>
      </p:sp>
      <p:sp>
        <p:nvSpPr>
          <p:cNvPr id="16" name="Oval 15"/>
          <p:cNvSpPr/>
          <p:nvPr/>
        </p:nvSpPr>
        <p:spPr>
          <a:xfrm>
            <a:off x="5105400" y="20574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err="1">
                <a:solidFill>
                  <a:schemeClr val="tx1"/>
                </a:solidFill>
              </a:rPr>
              <a:t>dno</a:t>
            </a:r>
            <a:endParaRPr lang="en-US" sz="1600" u="sng" dirty="0">
              <a:solidFill>
                <a:schemeClr val="tx1"/>
              </a:solidFill>
            </a:endParaRPr>
          </a:p>
        </p:txBody>
      </p:sp>
      <p:sp>
        <p:nvSpPr>
          <p:cNvPr id="17" name="Oval 16"/>
          <p:cNvSpPr/>
          <p:nvPr/>
        </p:nvSpPr>
        <p:spPr>
          <a:xfrm>
            <a:off x="6400800" y="16764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tx1"/>
                </a:solidFill>
              </a:rPr>
              <a:t>dname</a:t>
            </a:r>
            <a:endParaRPr lang="en-US" sz="1600" dirty="0">
              <a:solidFill>
                <a:schemeClr val="tx1"/>
              </a:solidFill>
            </a:endParaRPr>
          </a:p>
        </p:txBody>
      </p:sp>
      <p:sp>
        <p:nvSpPr>
          <p:cNvPr id="18" name="Diamond 17"/>
          <p:cNvSpPr/>
          <p:nvPr/>
        </p:nvSpPr>
        <p:spPr>
          <a:xfrm>
            <a:off x="4038600" y="27432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a:solidFill>
                  <a:schemeClr val="tx1"/>
                </a:solidFill>
              </a:rPr>
              <a:t>Manages</a:t>
            </a:r>
          </a:p>
        </p:txBody>
      </p:sp>
      <p:sp>
        <p:nvSpPr>
          <p:cNvPr id="19" name="Diamond 18"/>
          <p:cNvSpPr/>
          <p:nvPr/>
        </p:nvSpPr>
        <p:spPr>
          <a:xfrm>
            <a:off x="4114800" y="38862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err="1">
                <a:solidFill>
                  <a:schemeClr val="tx1"/>
                </a:solidFill>
              </a:rPr>
              <a:t>Works_In</a:t>
            </a:r>
            <a:endParaRPr lang="en-US" sz="1600" dirty="0">
              <a:solidFill>
                <a:schemeClr val="tx1"/>
              </a:solidFill>
            </a:endParaRPr>
          </a:p>
        </p:txBody>
      </p:sp>
      <p:cxnSp>
        <p:nvCxnSpPr>
          <p:cNvPr id="21" name="Straight Connector 20"/>
          <p:cNvCxnSpPr>
            <a:stCxn id="7" idx="2"/>
            <a:endCxn id="10" idx="1"/>
          </p:cNvCxnSpPr>
          <p:nvPr/>
        </p:nvCxnSpPr>
        <p:spPr>
          <a:xfrm rot="16200000" flipH="1">
            <a:off x="2730687" y="5460812"/>
            <a:ext cx="306715" cy="662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7" idx="2"/>
            <a:endCxn id="9" idx="7"/>
          </p:cNvCxnSpPr>
          <p:nvPr/>
        </p:nvCxnSpPr>
        <p:spPr>
          <a:xfrm rot="5400000">
            <a:off x="2067999" y="5460813"/>
            <a:ext cx="306715" cy="662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8" idx="2"/>
            <a:endCxn id="14" idx="0"/>
          </p:cNvCxnSpPr>
          <p:nvPr/>
        </p:nvCxnSpPr>
        <p:spPr>
          <a:xfrm rot="16200000" flipH="1">
            <a:off x="2266950" y="3486150"/>
            <a:ext cx="457200" cy="381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14" idx="2"/>
            <a:endCxn id="7" idx="0"/>
          </p:cNvCxnSpPr>
          <p:nvPr/>
        </p:nvCxnSpPr>
        <p:spPr>
          <a:xfrm rot="16200000" flipH="1">
            <a:off x="2266950" y="4895850"/>
            <a:ext cx="533400" cy="381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8" idx="3"/>
            <a:endCxn id="19" idx="1"/>
          </p:cNvCxnSpPr>
          <p:nvPr/>
        </p:nvCxnSpPr>
        <p:spPr>
          <a:xfrm>
            <a:off x="3124200" y="3048000"/>
            <a:ext cx="990600" cy="1295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9" idx="3"/>
            <a:endCxn id="6" idx="1"/>
          </p:cNvCxnSpPr>
          <p:nvPr/>
        </p:nvCxnSpPr>
        <p:spPr>
          <a:xfrm flipV="1">
            <a:off x="5486400" y="3048000"/>
            <a:ext cx="609600" cy="1295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8" idx="3"/>
            <a:endCxn id="18" idx="1"/>
          </p:cNvCxnSpPr>
          <p:nvPr/>
        </p:nvCxnSpPr>
        <p:spPr>
          <a:xfrm>
            <a:off x="3124200" y="3048000"/>
            <a:ext cx="914400" cy="152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18" idx="3"/>
            <a:endCxn id="6" idx="1"/>
          </p:cNvCxnSpPr>
          <p:nvPr/>
        </p:nvCxnSpPr>
        <p:spPr>
          <a:xfrm flipV="1">
            <a:off x="5410200" y="3048000"/>
            <a:ext cx="685800" cy="152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12" idx="5"/>
            <a:endCxn id="8" idx="0"/>
          </p:cNvCxnSpPr>
          <p:nvPr/>
        </p:nvCxnSpPr>
        <p:spPr>
          <a:xfrm rot="16200000" flipH="1">
            <a:off x="1877498" y="2220397"/>
            <a:ext cx="154315" cy="1043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a:stCxn id="13" idx="4"/>
            <a:endCxn id="8" idx="0"/>
          </p:cNvCxnSpPr>
          <p:nvPr/>
        </p:nvCxnSpPr>
        <p:spPr>
          <a:xfrm rot="16200000" flipH="1">
            <a:off x="2247900" y="2590800"/>
            <a:ext cx="381000" cy="76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a:stCxn id="11" idx="3"/>
            <a:endCxn id="8" idx="0"/>
          </p:cNvCxnSpPr>
          <p:nvPr/>
        </p:nvCxnSpPr>
        <p:spPr>
          <a:xfrm rot="5400000">
            <a:off x="2774367" y="2214818"/>
            <a:ext cx="306715" cy="9024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a:stCxn id="16" idx="5"/>
            <a:endCxn id="6" idx="0"/>
          </p:cNvCxnSpPr>
          <p:nvPr/>
        </p:nvCxnSpPr>
        <p:spPr>
          <a:xfrm rot="16200000" flipH="1">
            <a:off x="6278048" y="2315647"/>
            <a:ext cx="306715" cy="7007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a:stCxn id="17" idx="4"/>
            <a:endCxn id="6" idx="0"/>
          </p:cNvCxnSpPr>
          <p:nvPr/>
        </p:nvCxnSpPr>
        <p:spPr>
          <a:xfrm rot="5400000">
            <a:off x="6572250" y="2419350"/>
            <a:ext cx="609600" cy="190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stCxn id="15" idx="3"/>
            <a:endCxn id="6" idx="0"/>
          </p:cNvCxnSpPr>
          <p:nvPr/>
        </p:nvCxnSpPr>
        <p:spPr>
          <a:xfrm rot="5400000">
            <a:off x="7136817" y="2310068"/>
            <a:ext cx="154315" cy="8643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6" idx="1"/>
            <a:endCxn id="18" idx="3"/>
          </p:cNvCxnSpPr>
          <p:nvPr/>
        </p:nvCxnSpPr>
        <p:spPr>
          <a:xfrm rot="10800000" flipV="1">
            <a:off x="5410200" y="3048000"/>
            <a:ext cx="685800" cy="1524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47" idx="0"/>
            <a:endCxn id="48" idx="2"/>
          </p:cNvCxnSpPr>
          <p:nvPr/>
        </p:nvCxnSpPr>
        <p:spPr>
          <a:xfrm rot="16200000" flipV="1">
            <a:off x="2266950" y="4895850"/>
            <a:ext cx="533400" cy="38100"/>
          </a:xfrm>
          <a:prstGeom prst="straightConnector1">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1905000" y="5181600"/>
            <a:ext cx="1295400" cy="457200"/>
          </a:xfrm>
          <a:prstGeom prst="rect">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Child</a:t>
            </a:r>
          </a:p>
        </p:txBody>
      </p:sp>
      <p:sp>
        <p:nvSpPr>
          <p:cNvPr id="48" name="Diamond 47"/>
          <p:cNvSpPr/>
          <p:nvPr/>
        </p:nvSpPr>
        <p:spPr>
          <a:xfrm>
            <a:off x="1828800" y="3733800"/>
            <a:ext cx="1371600" cy="914400"/>
          </a:xfrm>
          <a:prstGeom prst="diamond">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a:solidFill>
                  <a:schemeClr val="tx1"/>
                </a:solidFill>
              </a:rPr>
              <a:t>Dependent</a:t>
            </a:r>
          </a:p>
        </p:txBody>
      </p:sp>
      <p:sp>
        <p:nvSpPr>
          <p:cNvPr id="52" name="Oval 51"/>
          <p:cNvSpPr/>
          <p:nvPr/>
        </p:nvSpPr>
        <p:spPr>
          <a:xfrm>
            <a:off x="914400" y="58674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dash" dirty="0">
                <a:solidFill>
                  <a:schemeClr val="tx1"/>
                </a:solidFill>
              </a:rPr>
              <a:t>name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4"/>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40"/>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par>
                                <p:cTn id="23" presetID="1" presetClass="exit"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hidden"/>
                                      </p:to>
                                    </p:set>
                                  </p:childTnLst>
                                </p:cTn>
                              </p:par>
                              <p:par>
                                <p:cTn id="25" presetID="1" presetClass="entr" presetSubtype="0" fill="hold" grpId="0" nodeType="with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4" grpId="0" animBg="1"/>
      <p:bldP spid="47" grpId="0" animBg="1"/>
      <p:bldP spid="48" grpId="0" animBg="1"/>
      <p:bldP spid="5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2.8</a:t>
            </a:r>
          </a:p>
        </p:txBody>
      </p:sp>
      <p:sp>
        <p:nvSpPr>
          <p:cNvPr id="3" name="Content Placeholder 2"/>
          <p:cNvSpPr>
            <a:spLocks noGrp="1"/>
          </p:cNvSpPr>
          <p:nvPr>
            <p:ph sz="quarter" idx="1"/>
          </p:nvPr>
        </p:nvSpPr>
        <p:spPr>
          <a:xfrm>
            <a:off x="457200" y="1371600"/>
            <a:ext cx="8229600" cy="4876800"/>
          </a:xfrm>
        </p:spPr>
        <p:txBody>
          <a:bodyPr>
            <a:normAutofit/>
          </a:bodyPr>
          <a:lstStyle/>
          <a:p>
            <a:pPr>
              <a:buNone/>
            </a:pPr>
            <a:r>
              <a:rPr lang="en-US" b="1" dirty="0"/>
              <a:t>Problem</a:t>
            </a:r>
          </a:p>
          <a:p>
            <a:r>
              <a:rPr lang="en-US" dirty="0"/>
              <a:t>Although you always wanted to be an artist, you ended up being an expert on databases because you love to cook data and you somehow confused </a:t>
            </a:r>
            <a:r>
              <a:rPr lang="en-US" i="1" dirty="0"/>
              <a:t>database </a:t>
            </a:r>
            <a:r>
              <a:rPr lang="en-US" dirty="0"/>
              <a:t>with </a:t>
            </a:r>
            <a:r>
              <a:rPr lang="en-US" i="1" dirty="0"/>
              <a:t>data baste. Your old love is still there, however, so you set up a database company, </a:t>
            </a:r>
            <a:r>
              <a:rPr lang="en-US" dirty="0" err="1"/>
              <a:t>ArtBase</a:t>
            </a:r>
            <a:r>
              <a:rPr lang="en-US" dirty="0"/>
              <a:t>, that builds a product for art galleries. The core of this product is a database with a schema that captures all the information that galleries need to maintain. </a:t>
            </a:r>
            <a:endParaRPr lang="en-US"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2.8</a:t>
            </a:r>
          </a:p>
        </p:txBody>
      </p:sp>
      <p:sp>
        <p:nvSpPr>
          <p:cNvPr id="3" name="Content Placeholder 2"/>
          <p:cNvSpPr>
            <a:spLocks noGrp="1"/>
          </p:cNvSpPr>
          <p:nvPr>
            <p:ph sz="quarter" idx="1"/>
          </p:nvPr>
        </p:nvSpPr>
        <p:spPr>
          <a:xfrm>
            <a:off x="457200" y="1371600"/>
            <a:ext cx="8229600" cy="4876800"/>
          </a:xfrm>
        </p:spPr>
        <p:txBody>
          <a:bodyPr>
            <a:normAutofit/>
          </a:bodyPr>
          <a:lstStyle/>
          <a:p>
            <a:pPr>
              <a:buNone/>
            </a:pPr>
            <a:r>
              <a:rPr lang="en-US" b="1" dirty="0"/>
              <a:t>Problem</a:t>
            </a:r>
          </a:p>
          <a:p>
            <a:r>
              <a:rPr lang="en-US" dirty="0"/>
              <a:t>Galleries keep information about artists, their names (which are unique), birthplaces, </a:t>
            </a:r>
            <a:r>
              <a:rPr lang="en-US" dirty="0" err="1"/>
              <a:t>age,and</a:t>
            </a:r>
            <a:r>
              <a:rPr lang="en-US" dirty="0"/>
              <a:t> style of art. For each piece of artwork, the artist, the year it was made, its unique title, its type of art (e.g., painting, lithograph, sculpture, photograph), and its price must be stored. Pieces of artwork are also classified into groups of various kinds, for example, portraits, still </a:t>
            </a:r>
            <a:r>
              <a:rPr lang="en-US" dirty="0" err="1"/>
              <a:t>lifes</a:t>
            </a:r>
            <a:r>
              <a:rPr lang="en-US" dirty="0"/>
              <a:t>, works by Picasso, or works of the 19th century; a given piece may belong to more than one group. </a:t>
            </a:r>
            <a:endParaRPr lang="en-US"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2.8</a:t>
            </a:r>
          </a:p>
        </p:txBody>
      </p:sp>
      <p:sp>
        <p:nvSpPr>
          <p:cNvPr id="3" name="Content Placeholder 2"/>
          <p:cNvSpPr>
            <a:spLocks noGrp="1"/>
          </p:cNvSpPr>
          <p:nvPr>
            <p:ph sz="quarter" idx="1"/>
          </p:nvPr>
        </p:nvSpPr>
        <p:spPr>
          <a:xfrm>
            <a:off x="457200" y="1371600"/>
            <a:ext cx="8229600" cy="4876800"/>
          </a:xfrm>
        </p:spPr>
        <p:txBody>
          <a:bodyPr>
            <a:normAutofit/>
          </a:bodyPr>
          <a:lstStyle/>
          <a:p>
            <a:pPr>
              <a:buNone/>
            </a:pPr>
            <a:r>
              <a:rPr lang="en-US" b="1" dirty="0"/>
              <a:t>Problem</a:t>
            </a:r>
          </a:p>
          <a:p>
            <a:r>
              <a:rPr lang="en-US" dirty="0"/>
              <a:t>Each group is identified by a name (like those just given) that describes the group. Finally, galleries keep information about customers. For each customer, galleries keep that person’s unique name, address, total amount of dollars spent in the gallery (very important!), and the artists and groups of art that the customer tends to like.</a:t>
            </a:r>
          </a:p>
          <a:p>
            <a:r>
              <a:rPr lang="en-US" dirty="0"/>
              <a:t>Draw the ER diagram for the database.</a:t>
            </a:r>
            <a:endParaRPr lang="en-US"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2.8</a:t>
            </a:r>
          </a:p>
        </p:txBody>
      </p:sp>
      <p:sp>
        <p:nvSpPr>
          <p:cNvPr id="3" name="Content Placeholder 2"/>
          <p:cNvSpPr>
            <a:spLocks noGrp="1"/>
          </p:cNvSpPr>
          <p:nvPr>
            <p:ph sz="quarter" idx="1"/>
          </p:nvPr>
        </p:nvSpPr>
        <p:spPr>
          <a:xfrm>
            <a:off x="457200" y="1371600"/>
            <a:ext cx="8229600" cy="5029200"/>
          </a:xfrm>
        </p:spPr>
        <p:txBody>
          <a:bodyPr>
            <a:normAutofit/>
          </a:bodyPr>
          <a:lstStyle/>
          <a:p>
            <a:pPr>
              <a:buNone/>
            </a:pPr>
            <a:r>
              <a:rPr lang="en-US" b="1" dirty="0"/>
              <a:t>Solution</a:t>
            </a:r>
          </a:p>
          <a:p>
            <a:r>
              <a:rPr lang="en-US" dirty="0"/>
              <a:t>Like before, we begin with the entities and relationships.</a:t>
            </a:r>
          </a:p>
          <a:p>
            <a:r>
              <a:rPr lang="en-US" dirty="0"/>
              <a:t>“…artists, their names (which are unique), birthplaces, age, and style of art.”</a:t>
            </a:r>
          </a:p>
          <a:p>
            <a:r>
              <a:rPr lang="en-US" dirty="0"/>
              <a:t>“For each piece of artwork, the artist, the year it was made, its unique title, its type of art … and its price must be stored.”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2.8</a:t>
            </a:r>
          </a:p>
        </p:txBody>
      </p:sp>
      <p:sp>
        <p:nvSpPr>
          <p:cNvPr id="3" name="Content Placeholder 2"/>
          <p:cNvSpPr>
            <a:spLocks noGrp="1"/>
          </p:cNvSpPr>
          <p:nvPr>
            <p:ph sz="quarter" idx="1"/>
          </p:nvPr>
        </p:nvSpPr>
        <p:spPr>
          <a:xfrm>
            <a:off x="457200" y="1371600"/>
            <a:ext cx="8229600" cy="5029200"/>
          </a:xfrm>
        </p:spPr>
        <p:txBody>
          <a:bodyPr>
            <a:normAutofit/>
          </a:bodyPr>
          <a:lstStyle/>
          <a:p>
            <a:pPr>
              <a:buNone/>
            </a:pPr>
            <a:r>
              <a:rPr lang="en-US" b="1" dirty="0"/>
              <a:t>Solution</a:t>
            </a:r>
          </a:p>
          <a:p>
            <a:r>
              <a:rPr lang="en-US" dirty="0"/>
              <a:t>“Pieces of artwork are also classified into groups of various kinds, … Each group is identified by a name (like those just given) that describes the group. “</a:t>
            </a:r>
          </a:p>
          <a:p>
            <a:r>
              <a:rPr lang="en-US" dirty="0"/>
              <a:t>For each customer, galleries keep that person’s unique name, address, total amount of dollars spent in the gallery (very important!), and the artists and groups of art that the customer tends to like.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2.8</a:t>
            </a:r>
          </a:p>
        </p:txBody>
      </p:sp>
      <p:sp>
        <p:nvSpPr>
          <p:cNvPr id="3" name="Content Placeholder 2"/>
          <p:cNvSpPr>
            <a:spLocks noGrp="1"/>
          </p:cNvSpPr>
          <p:nvPr>
            <p:ph sz="quarter" idx="1"/>
          </p:nvPr>
        </p:nvSpPr>
        <p:spPr>
          <a:xfrm>
            <a:off x="457200" y="1371600"/>
            <a:ext cx="8229600" cy="5105400"/>
          </a:xfrm>
        </p:spPr>
        <p:txBody>
          <a:bodyPr>
            <a:normAutofit/>
          </a:bodyPr>
          <a:lstStyle/>
          <a:p>
            <a:pPr>
              <a:buNone/>
            </a:pPr>
            <a:r>
              <a:rPr lang="en-US" b="1" dirty="0"/>
              <a:t>Solution</a:t>
            </a:r>
          </a:p>
        </p:txBody>
      </p:sp>
      <p:sp>
        <p:nvSpPr>
          <p:cNvPr id="65" name="Rectangle 64"/>
          <p:cNvSpPr/>
          <p:nvPr/>
        </p:nvSpPr>
        <p:spPr>
          <a:xfrm>
            <a:off x="6705600" y="3048000"/>
            <a:ext cx="13716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Artwork</a:t>
            </a:r>
          </a:p>
        </p:txBody>
      </p:sp>
      <p:sp>
        <p:nvSpPr>
          <p:cNvPr id="66" name="Rectangle 65"/>
          <p:cNvSpPr/>
          <p:nvPr/>
        </p:nvSpPr>
        <p:spPr>
          <a:xfrm>
            <a:off x="2971800" y="3048000"/>
            <a:ext cx="13716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Group</a:t>
            </a:r>
          </a:p>
        </p:txBody>
      </p:sp>
      <p:sp>
        <p:nvSpPr>
          <p:cNvPr id="67" name="Rectangle 66"/>
          <p:cNvSpPr/>
          <p:nvPr/>
        </p:nvSpPr>
        <p:spPr>
          <a:xfrm>
            <a:off x="914400" y="4191000"/>
            <a:ext cx="13716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Customer</a:t>
            </a:r>
          </a:p>
        </p:txBody>
      </p:sp>
      <p:sp>
        <p:nvSpPr>
          <p:cNvPr id="68" name="Rectangle 67"/>
          <p:cNvSpPr/>
          <p:nvPr/>
        </p:nvSpPr>
        <p:spPr>
          <a:xfrm>
            <a:off x="4724400" y="4191000"/>
            <a:ext cx="13716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Artist</a:t>
            </a:r>
          </a:p>
        </p:txBody>
      </p:sp>
      <p:sp>
        <p:nvSpPr>
          <p:cNvPr id="69" name="Diamond 68"/>
          <p:cNvSpPr/>
          <p:nvPr/>
        </p:nvSpPr>
        <p:spPr>
          <a:xfrm>
            <a:off x="914400" y="28194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err="1">
                <a:solidFill>
                  <a:schemeClr val="tx1"/>
                </a:solidFill>
              </a:rPr>
              <a:t>Like_Group</a:t>
            </a:r>
            <a:endParaRPr lang="en-US" sz="1600" dirty="0">
              <a:solidFill>
                <a:schemeClr val="tx1"/>
              </a:solidFill>
            </a:endParaRPr>
          </a:p>
        </p:txBody>
      </p:sp>
      <p:sp>
        <p:nvSpPr>
          <p:cNvPr id="70" name="Diamond 69"/>
          <p:cNvSpPr/>
          <p:nvPr/>
        </p:nvSpPr>
        <p:spPr>
          <a:xfrm>
            <a:off x="4724400" y="28194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a:solidFill>
                  <a:schemeClr val="tx1"/>
                </a:solidFill>
              </a:rPr>
              <a:t>Classify</a:t>
            </a:r>
          </a:p>
        </p:txBody>
      </p:sp>
      <p:sp>
        <p:nvSpPr>
          <p:cNvPr id="72" name="Diamond 71"/>
          <p:cNvSpPr/>
          <p:nvPr/>
        </p:nvSpPr>
        <p:spPr>
          <a:xfrm>
            <a:off x="6705600" y="39624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a:solidFill>
                  <a:schemeClr val="tx1"/>
                </a:solidFill>
              </a:rPr>
              <a:t>Paints</a:t>
            </a:r>
          </a:p>
        </p:txBody>
      </p:sp>
      <p:sp>
        <p:nvSpPr>
          <p:cNvPr id="73" name="Diamond 72"/>
          <p:cNvSpPr/>
          <p:nvPr/>
        </p:nvSpPr>
        <p:spPr>
          <a:xfrm>
            <a:off x="2971800" y="39624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err="1">
                <a:solidFill>
                  <a:schemeClr val="tx1"/>
                </a:solidFill>
              </a:rPr>
              <a:t>Like_Artist</a:t>
            </a:r>
            <a:endParaRPr lang="en-US" sz="1600" dirty="0">
              <a:solidFill>
                <a:schemeClr val="tx1"/>
              </a:solidFill>
            </a:endParaRPr>
          </a:p>
        </p:txBody>
      </p:sp>
      <p:cxnSp>
        <p:nvCxnSpPr>
          <p:cNvPr id="75" name="Straight Connector 74"/>
          <p:cNvCxnSpPr>
            <a:stCxn id="67" idx="0"/>
            <a:endCxn id="69" idx="2"/>
          </p:cNvCxnSpPr>
          <p:nvPr/>
        </p:nvCxnSpPr>
        <p:spPr>
          <a:xfrm rot="5400000" flipH="1" flipV="1">
            <a:off x="1371600" y="3962400"/>
            <a:ext cx="457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66" idx="1"/>
            <a:endCxn id="69" idx="3"/>
          </p:cNvCxnSpPr>
          <p:nvPr/>
        </p:nvCxnSpPr>
        <p:spPr>
          <a:xfrm rot="10800000">
            <a:off x="2286000" y="3276600"/>
            <a:ext cx="685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a:stCxn id="70" idx="1"/>
            <a:endCxn id="66" idx="3"/>
          </p:cNvCxnSpPr>
          <p:nvPr/>
        </p:nvCxnSpPr>
        <p:spPr>
          <a:xfrm rot="10800000">
            <a:off x="4343400" y="3276600"/>
            <a:ext cx="381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65" idx="1"/>
            <a:endCxn id="70" idx="3"/>
          </p:cNvCxnSpPr>
          <p:nvPr/>
        </p:nvCxnSpPr>
        <p:spPr>
          <a:xfrm rot="10800000">
            <a:off x="6096000" y="3276600"/>
            <a:ext cx="60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72" idx="0"/>
            <a:endCxn id="65" idx="2"/>
          </p:cNvCxnSpPr>
          <p:nvPr/>
        </p:nvCxnSpPr>
        <p:spPr>
          <a:xfrm rot="5400000" flipH="1" flipV="1">
            <a:off x="7162800" y="3733800"/>
            <a:ext cx="457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68" idx="3"/>
            <a:endCxn id="72" idx="1"/>
          </p:cNvCxnSpPr>
          <p:nvPr/>
        </p:nvCxnSpPr>
        <p:spPr>
          <a:xfrm>
            <a:off x="6096000" y="4419600"/>
            <a:ext cx="60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68" idx="1"/>
            <a:endCxn id="73" idx="3"/>
          </p:cNvCxnSpPr>
          <p:nvPr/>
        </p:nvCxnSpPr>
        <p:spPr>
          <a:xfrm rot="10800000">
            <a:off x="4343400" y="4419600"/>
            <a:ext cx="381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a:stCxn id="67" idx="3"/>
            <a:endCxn id="73" idx="1"/>
          </p:cNvCxnSpPr>
          <p:nvPr/>
        </p:nvCxnSpPr>
        <p:spPr>
          <a:xfrm>
            <a:off x="2286000" y="4419600"/>
            <a:ext cx="685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Oval 110"/>
          <p:cNvSpPr/>
          <p:nvPr/>
        </p:nvSpPr>
        <p:spPr>
          <a:xfrm>
            <a:off x="3048000" y="20574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a:solidFill>
                  <a:schemeClr val="tx1"/>
                </a:solidFill>
              </a:rPr>
              <a:t>name</a:t>
            </a:r>
          </a:p>
        </p:txBody>
      </p:sp>
      <p:sp>
        <p:nvSpPr>
          <p:cNvPr id="112" name="Oval 111"/>
          <p:cNvSpPr/>
          <p:nvPr/>
        </p:nvSpPr>
        <p:spPr>
          <a:xfrm>
            <a:off x="6553200" y="2133600"/>
            <a:ext cx="9144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a:solidFill>
                  <a:schemeClr val="tx1"/>
                </a:solidFill>
              </a:rPr>
              <a:t>title</a:t>
            </a:r>
          </a:p>
        </p:txBody>
      </p:sp>
      <p:sp>
        <p:nvSpPr>
          <p:cNvPr id="113" name="Oval 112"/>
          <p:cNvSpPr/>
          <p:nvPr/>
        </p:nvSpPr>
        <p:spPr>
          <a:xfrm>
            <a:off x="7315200" y="1752600"/>
            <a:ext cx="10668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type</a:t>
            </a:r>
          </a:p>
        </p:txBody>
      </p:sp>
      <p:sp>
        <p:nvSpPr>
          <p:cNvPr id="114" name="Oval 113"/>
          <p:cNvSpPr/>
          <p:nvPr/>
        </p:nvSpPr>
        <p:spPr>
          <a:xfrm>
            <a:off x="7696200" y="2362200"/>
            <a:ext cx="9906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price</a:t>
            </a:r>
          </a:p>
        </p:txBody>
      </p:sp>
      <p:sp>
        <p:nvSpPr>
          <p:cNvPr id="115" name="Oval 114"/>
          <p:cNvSpPr/>
          <p:nvPr/>
        </p:nvSpPr>
        <p:spPr>
          <a:xfrm>
            <a:off x="5486400" y="1828800"/>
            <a:ext cx="10668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year</a:t>
            </a:r>
          </a:p>
        </p:txBody>
      </p:sp>
      <p:cxnSp>
        <p:nvCxnSpPr>
          <p:cNvPr id="116" name="Straight Connector 115"/>
          <p:cNvCxnSpPr>
            <a:stCxn id="114" idx="4"/>
            <a:endCxn id="65" idx="0"/>
          </p:cNvCxnSpPr>
          <p:nvPr/>
        </p:nvCxnSpPr>
        <p:spPr>
          <a:xfrm rot="5400000">
            <a:off x="7715250" y="2571750"/>
            <a:ext cx="152400" cy="8001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a:endCxn id="65" idx="0"/>
          </p:cNvCxnSpPr>
          <p:nvPr/>
        </p:nvCxnSpPr>
        <p:spPr>
          <a:xfrm rot="5400000">
            <a:off x="7162800" y="2514600"/>
            <a:ext cx="762000" cy="3048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a:stCxn id="112" idx="5"/>
            <a:endCxn id="65" idx="0"/>
          </p:cNvCxnSpPr>
          <p:nvPr/>
        </p:nvCxnSpPr>
        <p:spPr>
          <a:xfrm rot="16200000" flipH="1">
            <a:off x="7132987" y="2789586"/>
            <a:ext cx="459115" cy="577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a:stCxn id="65" idx="0"/>
            <a:endCxn id="115" idx="4"/>
          </p:cNvCxnSpPr>
          <p:nvPr/>
        </p:nvCxnSpPr>
        <p:spPr>
          <a:xfrm rot="16200000" flipV="1">
            <a:off x="6362700" y="2019300"/>
            <a:ext cx="685800" cy="1371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a:stCxn id="111" idx="4"/>
            <a:endCxn id="66" idx="0"/>
          </p:cNvCxnSpPr>
          <p:nvPr/>
        </p:nvCxnSpPr>
        <p:spPr>
          <a:xfrm rot="16200000" flipH="1">
            <a:off x="3409950" y="2800350"/>
            <a:ext cx="457200" cy="381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7" name="Oval 156"/>
          <p:cNvSpPr/>
          <p:nvPr/>
        </p:nvSpPr>
        <p:spPr>
          <a:xfrm>
            <a:off x="4876800" y="54102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600" dirty="0">
                <a:solidFill>
                  <a:schemeClr val="tx1"/>
                </a:solidFill>
              </a:rPr>
              <a:t>birthplace</a:t>
            </a:r>
          </a:p>
        </p:txBody>
      </p:sp>
      <p:sp>
        <p:nvSpPr>
          <p:cNvPr id="158" name="Oval 157"/>
          <p:cNvSpPr/>
          <p:nvPr/>
        </p:nvSpPr>
        <p:spPr>
          <a:xfrm>
            <a:off x="6019800" y="47244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style</a:t>
            </a:r>
          </a:p>
        </p:txBody>
      </p:sp>
      <p:sp>
        <p:nvSpPr>
          <p:cNvPr id="159" name="Oval 158"/>
          <p:cNvSpPr/>
          <p:nvPr/>
        </p:nvSpPr>
        <p:spPr>
          <a:xfrm>
            <a:off x="6172200" y="54102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age</a:t>
            </a:r>
          </a:p>
        </p:txBody>
      </p:sp>
      <p:sp>
        <p:nvSpPr>
          <p:cNvPr id="160" name="Oval 159"/>
          <p:cNvSpPr/>
          <p:nvPr/>
        </p:nvSpPr>
        <p:spPr>
          <a:xfrm>
            <a:off x="4114800" y="48768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a:solidFill>
                  <a:schemeClr val="tx1"/>
                </a:solidFill>
              </a:rPr>
              <a:t>name</a:t>
            </a:r>
          </a:p>
        </p:txBody>
      </p:sp>
      <p:sp>
        <p:nvSpPr>
          <p:cNvPr id="161" name="Oval 160"/>
          <p:cNvSpPr/>
          <p:nvPr/>
        </p:nvSpPr>
        <p:spPr>
          <a:xfrm>
            <a:off x="1447800" y="56388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name</a:t>
            </a:r>
          </a:p>
        </p:txBody>
      </p:sp>
      <p:sp>
        <p:nvSpPr>
          <p:cNvPr id="162" name="Oval 161"/>
          <p:cNvSpPr/>
          <p:nvPr/>
        </p:nvSpPr>
        <p:spPr>
          <a:xfrm>
            <a:off x="2286000" y="48006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address</a:t>
            </a:r>
          </a:p>
        </p:txBody>
      </p:sp>
      <p:sp>
        <p:nvSpPr>
          <p:cNvPr id="163" name="Oval 162"/>
          <p:cNvSpPr/>
          <p:nvPr/>
        </p:nvSpPr>
        <p:spPr>
          <a:xfrm>
            <a:off x="2819400" y="54864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amount</a:t>
            </a:r>
          </a:p>
        </p:txBody>
      </p:sp>
      <p:sp>
        <p:nvSpPr>
          <p:cNvPr id="164" name="Oval 163"/>
          <p:cNvSpPr/>
          <p:nvPr/>
        </p:nvSpPr>
        <p:spPr>
          <a:xfrm>
            <a:off x="457200" y="49530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err="1">
                <a:solidFill>
                  <a:schemeClr val="tx1"/>
                </a:solidFill>
              </a:rPr>
              <a:t>cust_id</a:t>
            </a:r>
            <a:endParaRPr lang="en-US" sz="1600" u="sng" dirty="0">
              <a:solidFill>
                <a:schemeClr val="tx1"/>
              </a:solidFill>
            </a:endParaRPr>
          </a:p>
        </p:txBody>
      </p:sp>
      <p:cxnSp>
        <p:nvCxnSpPr>
          <p:cNvPr id="178" name="Straight Connector 177"/>
          <p:cNvCxnSpPr>
            <a:stCxn id="67" idx="2"/>
            <a:endCxn id="164" idx="7"/>
          </p:cNvCxnSpPr>
          <p:nvPr/>
        </p:nvCxnSpPr>
        <p:spPr>
          <a:xfrm rot="5400000">
            <a:off x="1357569" y="4788483"/>
            <a:ext cx="382915" cy="1023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a:stCxn id="67" idx="2"/>
            <a:endCxn id="161" idx="0"/>
          </p:cNvCxnSpPr>
          <p:nvPr/>
        </p:nvCxnSpPr>
        <p:spPr>
          <a:xfrm rot="16200000" flipH="1">
            <a:off x="1333500" y="4914900"/>
            <a:ext cx="990600"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a:stCxn id="163" idx="2"/>
            <a:endCxn id="67" idx="2"/>
          </p:cNvCxnSpPr>
          <p:nvPr/>
        </p:nvCxnSpPr>
        <p:spPr>
          <a:xfrm rot="10800000">
            <a:off x="1600200" y="4648200"/>
            <a:ext cx="1219200" cy="11049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a:stCxn id="162" idx="1"/>
            <a:endCxn id="67" idx="2"/>
          </p:cNvCxnSpPr>
          <p:nvPr/>
        </p:nvCxnSpPr>
        <p:spPr>
          <a:xfrm rot="16200000" flipV="1">
            <a:off x="1917117" y="4331284"/>
            <a:ext cx="230515" cy="8643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a:stCxn id="68" idx="2"/>
            <a:endCxn id="158" idx="1"/>
          </p:cNvCxnSpPr>
          <p:nvPr/>
        </p:nvCxnSpPr>
        <p:spPr>
          <a:xfrm rot="16200000" flipH="1">
            <a:off x="5727117" y="4331283"/>
            <a:ext cx="154315" cy="7881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a:stCxn id="68" idx="2"/>
            <a:endCxn id="159" idx="1"/>
          </p:cNvCxnSpPr>
          <p:nvPr/>
        </p:nvCxnSpPr>
        <p:spPr>
          <a:xfrm rot="16200000" flipH="1">
            <a:off x="5460417" y="4597983"/>
            <a:ext cx="840115" cy="9405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a:stCxn id="68" idx="2"/>
            <a:endCxn id="157" idx="0"/>
          </p:cNvCxnSpPr>
          <p:nvPr/>
        </p:nvCxnSpPr>
        <p:spPr>
          <a:xfrm rot="16200000" flipH="1">
            <a:off x="5067300" y="4991100"/>
            <a:ext cx="762000" cy="76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p:cNvCxnSpPr>
            <a:stCxn id="68" idx="2"/>
            <a:endCxn id="160" idx="7"/>
          </p:cNvCxnSpPr>
          <p:nvPr/>
        </p:nvCxnSpPr>
        <p:spPr>
          <a:xfrm rot="5400000">
            <a:off x="5129469" y="4674183"/>
            <a:ext cx="306715" cy="254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5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8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8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81"/>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7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6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6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6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6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9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2"/>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9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8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70"/>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8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01"/>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73"/>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05"/>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75"/>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69"/>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67" grpId="0" animBg="1"/>
      <p:bldP spid="68" grpId="0" animBg="1"/>
      <p:bldP spid="69" grpId="0" animBg="1"/>
      <p:bldP spid="70" grpId="0" animBg="1"/>
      <p:bldP spid="72" grpId="0" animBg="1"/>
      <p:bldP spid="73" grpId="0" animBg="1"/>
      <p:bldP spid="111" grpId="0" animBg="1"/>
      <p:bldP spid="157" grpId="0" animBg="1"/>
      <p:bldP spid="158" grpId="0" animBg="1"/>
      <p:bldP spid="159" grpId="0" animBg="1"/>
      <p:bldP spid="160" grpId="0" animBg="1"/>
      <p:bldP spid="161" grpId="0" animBg="1"/>
      <p:bldP spid="162" grpId="0" animBg="1"/>
      <p:bldP spid="163" grpId="0" animBg="1"/>
      <p:bldP spid="16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2.8</a:t>
            </a:r>
          </a:p>
        </p:txBody>
      </p:sp>
      <p:sp>
        <p:nvSpPr>
          <p:cNvPr id="3" name="Content Placeholder 2"/>
          <p:cNvSpPr>
            <a:spLocks noGrp="1"/>
          </p:cNvSpPr>
          <p:nvPr>
            <p:ph sz="quarter" idx="1"/>
          </p:nvPr>
        </p:nvSpPr>
        <p:spPr>
          <a:xfrm>
            <a:off x="457200" y="1371600"/>
            <a:ext cx="8229600" cy="5029200"/>
          </a:xfrm>
        </p:spPr>
        <p:txBody>
          <a:bodyPr>
            <a:normAutofit/>
          </a:bodyPr>
          <a:lstStyle/>
          <a:p>
            <a:pPr>
              <a:buNone/>
            </a:pPr>
            <a:r>
              <a:rPr lang="en-US" b="1" dirty="0"/>
              <a:t>Solution</a:t>
            </a:r>
          </a:p>
          <a:p>
            <a:r>
              <a:rPr lang="en-US" dirty="0"/>
              <a:t>Now we look at constraints. </a:t>
            </a:r>
          </a:p>
          <a:p>
            <a:pPr lvl="1"/>
            <a:r>
              <a:rPr lang="en-US" dirty="0"/>
              <a:t>Although not explicitly mentioned in the problem, we assume that each piece of artwork had to be painted by an artist.</a:t>
            </a:r>
          </a:p>
          <a:p>
            <a:pPr lvl="1"/>
            <a:r>
              <a:rPr lang="en-US" dirty="0"/>
              <a:t>We also assume that each piece of artwork was created by exactly one artist.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2.8</a:t>
            </a:r>
          </a:p>
        </p:txBody>
      </p:sp>
      <p:sp>
        <p:nvSpPr>
          <p:cNvPr id="3" name="Content Placeholder 2"/>
          <p:cNvSpPr>
            <a:spLocks noGrp="1"/>
          </p:cNvSpPr>
          <p:nvPr>
            <p:ph sz="quarter" idx="1"/>
          </p:nvPr>
        </p:nvSpPr>
        <p:spPr>
          <a:xfrm>
            <a:off x="457200" y="1371600"/>
            <a:ext cx="8229600" cy="5105400"/>
          </a:xfrm>
        </p:spPr>
        <p:txBody>
          <a:bodyPr>
            <a:normAutofit/>
          </a:bodyPr>
          <a:lstStyle/>
          <a:p>
            <a:pPr>
              <a:buNone/>
            </a:pPr>
            <a:r>
              <a:rPr lang="en-US" b="1" dirty="0"/>
              <a:t>Solution</a:t>
            </a:r>
          </a:p>
        </p:txBody>
      </p:sp>
      <p:cxnSp>
        <p:nvCxnSpPr>
          <p:cNvPr id="35" name="Straight Arrow Connector 34"/>
          <p:cNvCxnSpPr>
            <a:stCxn id="65" idx="2"/>
            <a:endCxn id="72" idx="0"/>
          </p:cNvCxnSpPr>
          <p:nvPr/>
        </p:nvCxnSpPr>
        <p:spPr>
          <a:xfrm rot="5400000">
            <a:off x="7162800" y="3733800"/>
            <a:ext cx="457200" cy="1588"/>
          </a:xfrm>
          <a:prstGeom prst="straightConnector1">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5" name="Rectangle 64"/>
          <p:cNvSpPr/>
          <p:nvPr/>
        </p:nvSpPr>
        <p:spPr>
          <a:xfrm>
            <a:off x="6705600" y="3048000"/>
            <a:ext cx="13716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Artwork</a:t>
            </a:r>
          </a:p>
        </p:txBody>
      </p:sp>
      <p:sp>
        <p:nvSpPr>
          <p:cNvPr id="66" name="Rectangle 65"/>
          <p:cNvSpPr/>
          <p:nvPr/>
        </p:nvSpPr>
        <p:spPr>
          <a:xfrm>
            <a:off x="2971800" y="3048000"/>
            <a:ext cx="13716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Group</a:t>
            </a:r>
          </a:p>
        </p:txBody>
      </p:sp>
      <p:sp>
        <p:nvSpPr>
          <p:cNvPr id="67" name="Rectangle 66"/>
          <p:cNvSpPr/>
          <p:nvPr/>
        </p:nvSpPr>
        <p:spPr>
          <a:xfrm>
            <a:off x="914400" y="4191000"/>
            <a:ext cx="13716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Customer</a:t>
            </a:r>
          </a:p>
        </p:txBody>
      </p:sp>
      <p:sp>
        <p:nvSpPr>
          <p:cNvPr id="68" name="Rectangle 67"/>
          <p:cNvSpPr/>
          <p:nvPr/>
        </p:nvSpPr>
        <p:spPr>
          <a:xfrm>
            <a:off x="4724400" y="4191000"/>
            <a:ext cx="13716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Artist</a:t>
            </a:r>
          </a:p>
        </p:txBody>
      </p:sp>
      <p:sp>
        <p:nvSpPr>
          <p:cNvPr id="69" name="Diamond 68"/>
          <p:cNvSpPr/>
          <p:nvPr/>
        </p:nvSpPr>
        <p:spPr>
          <a:xfrm>
            <a:off x="914400" y="28194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err="1">
                <a:solidFill>
                  <a:schemeClr val="tx1"/>
                </a:solidFill>
              </a:rPr>
              <a:t>Like_Group</a:t>
            </a:r>
            <a:endParaRPr lang="en-US" sz="1600" dirty="0">
              <a:solidFill>
                <a:schemeClr val="tx1"/>
              </a:solidFill>
            </a:endParaRPr>
          </a:p>
        </p:txBody>
      </p:sp>
      <p:sp>
        <p:nvSpPr>
          <p:cNvPr id="70" name="Diamond 69"/>
          <p:cNvSpPr/>
          <p:nvPr/>
        </p:nvSpPr>
        <p:spPr>
          <a:xfrm>
            <a:off x="4724400" y="28194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a:solidFill>
                  <a:schemeClr val="tx1"/>
                </a:solidFill>
              </a:rPr>
              <a:t>Classify</a:t>
            </a:r>
          </a:p>
        </p:txBody>
      </p:sp>
      <p:sp>
        <p:nvSpPr>
          <p:cNvPr id="72" name="Diamond 71"/>
          <p:cNvSpPr/>
          <p:nvPr/>
        </p:nvSpPr>
        <p:spPr>
          <a:xfrm>
            <a:off x="6705600" y="39624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a:solidFill>
                  <a:schemeClr val="tx1"/>
                </a:solidFill>
              </a:rPr>
              <a:t>Paints</a:t>
            </a:r>
          </a:p>
        </p:txBody>
      </p:sp>
      <p:sp>
        <p:nvSpPr>
          <p:cNvPr id="73" name="Diamond 72"/>
          <p:cNvSpPr/>
          <p:nvPr/>
        </p:nvSpPr>
        <p:spPr>
          <a:xfrm>
            <a:off x="2971800" y="39624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err="1">
                <a:solidFill>
                  <a:schemeClr val="tx1"/>
                </a:solidFill>
              </a:rPr>
              <a:t>Like_Artist</a:t>
            </a:r>
            <a:endParaRPr lang="en-US" sz="1600" dirty="0">
              <a:solidFill>
                <a:schemeClr val="tx1"/>
              </a:solidFill>
            </a:endParaRPr>
          </a:p>
        </p:txBody>
      </p:sp>
      <p:cxnSp>
        <p:nvCxnSpPr>
          <p:cNvPr id="75" name="Straight Connector 74"/>
          <p:cNvCxnSpPr>
            <a:stCxn id="67" idx="0"/>
            <a:endCxn id="69" idx="2"/>
          </p:cNvCxnSpPr>
          <p:nvPr/>
        </p:nvCxnSpPr>
        <p:spPr>
          <a:xfrm rot="5400000" flipH="1" flipV="1">
            <a:off x="1371600" y="3962400"/>
            <a:ext cx="457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66" idx="1"/>
            <a:endCxn id="69" idx="3"/>
          </p:cNvCxnSpPr>
          <p:nvPr/>
        </p:nvCxnSpPr>
        <p:spPr>
          <a:xfrm rot="10800000">
            <a:off x="2286000" y="3276600"/>
            <a:ext cx="685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a:stCxn id="70" idx="1"/>
            <a:endCxn id="66" idx="3"/>
          </p:cNvCxnSpPr>
          <p:nvPr/>
        </p:nvCxnSpPr>
        <p:spPr>
          <a:xfrm rot="10800000">
            <a:off x="4343400" y="3276600"/>
            <a:ext cx="381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65" idx="1"/>
            <a:endCxn id="70" idx="3"/>
          </p:cNvCxnSpPr>
          <p:nvPr/>
        </p:nvCxnSpPr>
        <p:spPr>
          <a:xfrm rot="10800000">
            <a:off x="6096000" y="3276600"/>
            <a:ext cx="60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72" idx="0"/>
            <a:endCxn id="65" idx="2"/>
          </p:cNvCxnSpPr>
          <p:nvPr/>
        </p:nvCxnSpPr>
        <p:spPr>
          <a:xfrm rot="5400000" flipH="1" flipV="1">
            <a:off x="7162800" y="3733800"/>
            <a:ext cx="457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68" idx="3"/>
            <a:endCxn id="72" idx="1"/>
          </p:cNvCxnSpPr>
          <p:nvPr/>
        </p:nvCxnSpPr>
        <p:spPr>
          <a:xfrm>
            <a:off x="6096000" y="4419600"/>
            <a:ext cx="60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68" idx="1"/>
            <a:endCxn id="73" idx="3"/>
          </p:cNvCxnSpPr>
          <p:nvPr/>
        </p:nvCxnSpPr>
        <p:spPr>
          <a:xfrm rot="10800000">
            <a:off x="4343400" y="4419600"/>
            <a:ext cx="381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a:stCxn id="67" idx="3"/>
            <a:endCxn id="73" idx="1"/>
          </p:cNvCxnSpPr>
          <p:nvPr/>
        </p:nvCxnSpPr>
        <p:spPr>
          <a:xfrm>
            <a:off x="2286000" y="4419600"/>
            <a:ext cx="685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Oval 110"/>
          <p:cNvSpPr/>
          <p:nvPr/>
        </p:nvSpPr>
        <p:spPr>
          <a:xfrm>
            <a:off x="3048000" y="20574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a:solidFill>
                  <a:schemeClr val="tx1"/>
                </a:solidFill>
              </a:rPr>
              <a:t>name</a:t>
            </a:r>
          </a:p>
        </p:txBody>
      </p:sp>
      <p:sp>
        <p:nvSpPr>
          <p:cNvPr id="112" name="Oval 111"/>
          <p:cNvSpPr/>
          <p:nvPr/>
        </p:nvSpPr>
        <p:spPr>
          <a:xfrm>
            <a:off x="6553200" y="2133600"/>
            <a:ext cx="9144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a:solidFill>
                  <a:schemeClr val="tx1"/>
                </a:solidFill>
              </a:rPr>
              <a:t>title</a:t>
            </a:r>
          </a:p>
        </p:txBody>
      </p:sp>
      <p:sp>
        <p:nvSpPr>
          <p:cNvPr id="113" name="Oval 112"/>
          <p:cNvSpPr/>
          <p:nvPr/>
        </p:nvSpPr>
        <p:spPr>
          <a:xfrm>
            <a:off x="7315200" y="1752600"/>
            <a:ext cx="10668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type</a:t>
            </a:r>
          </a:p>
        </p:txBody>
      </p:sp>
      <p:sp>
        <p:nvSpPr>
          <p:cNvPr id="114" name="Oval 113"/>
          <p:cNvSpPr/>
          <p:nvPr/>
        </p:nvSpPr>
        <p:spPr>
          <a:xfrm>
            <a:off x="7696200" y="2362200"/>
            <a:ext cx="9906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price</a:t>
            </a:r>
          </a:p>
        </p:txBody>
      </p:sp>
      <p:sp>
        <p:nvSpPr>
          <p:cNvPr id="115" name="Oval 114"/>
          <p:cNvSpPr/>
          <p:nvPr/>
        </p:nvSpPr>
        <p:spPr>
          <a:xfrm>
            <a:off x="5486400" y="1828800"/>
            <a:ext cx="10668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year</a:t>
            </a:r>
          </a:p>
        </p:txBody>
      </p:sp>
      <p:cxnSp>
        <p:nvCxnSpPr>
          <p:cNvPr id="116" name="Straight Connector 115"/>
          <p:cNvCxnSpPr>
            <a:stCxn id="114" idx="4"/>
            <a:endCxn id="65" idx="0"/>
          </p:cNvCxnSpPr>
          <p:nvPr/>
        </p:nvCxnSpPr>
        <p:spPr>
          <a:xfrm rot="5400000">
            <a:off x="7715250" y="2571750"/>
            <a:ext cx="152400" cy="8001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a:endCxn id="65" idx="0"/>
          </p:cNvCxnSpPr>
          <p:nvPr/>
        </p:nvCxnSpPr>
        <p:spPr>
          <a:xfrm rot="5400000">
            <a:off x="7162800" y="2514600"/>
            <a:ext cx="762000" cy="3048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a:stCxn id="112" idx="5"/>
            <a:endCxn id="65" idx="0"/>
          </p:cNvCxnSpPr>
          <p:nvPr/>
        </p:nvCxnSpPr>
        <p:spPr>
          <a:xfrm rot="16200000" flipH="1">
            <a:off x="7132987" y="2789586"/>
            <a:ext cx="459115" cy="577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a:stCxn id="65" idx="0"/>
            <a:endCxn id="115" idx="4"/>
          </p:cNvCxnSpPr>
          <p:nvPr/>
        </p:nvCxnSpPr>
        <p:spPr>
          <a:xfrm rot="16200000" flipV="1">
            <a:off x="6362700" y="2019300"/>
            <a:ext cx="685800" cy="1371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a:stCxn id="111" idx="4"/>
            <a:endCxn id="66" idx="0"/>
          </p:cNvCxnSpPr>
          <p:nvPr/>
        </p:nvCxnSpPr>
        <p:spPr>
          <a:xfrm rot="16200000" flipH="1">
            <a:off x="3409950" y="2800350"/>
            <a:ext cx="457200" cy="381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7" name="Oval 156"/>
          <p:cNvSpPr/>
          <p:nvPr/>
        </p:nvSpPr>
        <p:spPr>
          <a:xfrm>
            <a:off x="4876800" y="54102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600" dirty="0">
                <a:solidFill>
                  <a:schemeClr val="tx1"/>
                </a:solidFill>
              </a:rPr>
              <a:t>birthplace</a:t>
            </a:r>
          </a:p>
        </p:txBody>
      </p:sp>
      <p:sp>
        <p:nvSpPr>
          <p:cNvPr id="158" name="Oval 157"/>
          <p:cNvSpPr/>
          <p:nvPr/>
        </p:nvSpPr>
        <p:spPr>
          <a:xfrm>
            <a:off x="6019800" y="47244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style</a:t>
            </a:r>
          </a:p>
        </p:txBody>
      </p:sp>
      <p:sp>
        <p:nvSpPr>
          <p:cNvPr id="159" name="Oval 158"/>
          <p:cNvSpPr/>
          <p:nvPr/>
        </p:nvSpPr>
        <p:spPr>
          <a:xfrm>
            <a:off x="6172200" y="54102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age</a:t>
            </a:r>
          </a:p>
        </p:txBody>
      </p:sp>
      <p:sp>
        <p:nvSpPr>
          <p:cNvPr id="160" name="Oval 159"/>
          <p:cNvSpPr/>
          <p:nvPr/>
        </p:nvSpPr>
        <p:spPr>
          <a:xfrm>
            <a:off x="4114800" y="48768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a:solidFill>
                  <a:schemeClr val="tx1"/>
                </a:solidFill>
              </a:rPr>
              <a:t>name</a:t>
            </a:r>
          </a:p>
        </p:txBody>
      </p:sp>
      <p:sp>
        <p:nvSpPr>
          <p:cNvPr id="161" name="Oval 160"/>
          <p:cNvSpPr/>
          <p:nvPr/>
        </p:nvSpPr>
        <p:spPr>
          <a:xfrm>
            <a:off x="1447800" y="56388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name</a:t>
            </a:r>
          </a:p>
        </p:txBody>
      </p:sp>
      <p:sp>
        <p:nvSpPr>
          <p:cNvPr id="162" name="Oval 161"/>
          <p:cNvSpPr/>
          <p:nvPr/>
        </p:nvSpPr>
        <p:spPr>
          <a:xfrm>
            <a:off x="2286000" y="48006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address</a:t>
            </a:r>
          </a:p>
        </p:txBody>
      </p:sp>
      <p:sp>
        <p:nvSpPr>
          <p:cNvPr id="163" name="Oval 162"/>
          <p:cNvSpPr/>
          <p:nvPr/>
        </p:nvSpPr>
        <p:spPr>
          <a:xfrm>
            <a:off x="2819400" y="54864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amount</a:t>
            </a:r>
          </a:p>
        </p:txBody>
      </p:sp>
      <p:sp>
        <p:nvSpPr>
          <p:cNvPr id="164" name="Oval 163"/>
          <p:cNvSpPr/>
          <p:nvPr/>
        </p:nvSpPr>
        <p:spPr>
          <a:xfrm>
            <a:off x="457200" y="49530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err="1">
                <a:solidFill>
                  <a:schemeClr val="tx1"/>
                </a:solidFill>
              </a:rPr>
              <a:t>cust_id</a:t>
            </a:r>
            <a:endParaRPr lang="en-US" sz="1600" u="sng" dirty="0">
              <a:solidFill>
                <a:schemeClr val="tx1"/>
              </a:solidFill>
            </a:endParaRPr>
          </a:p>
        </p:txBody>
      </p:sp>
      <p:cxnSp>
        <p:nvCxnSpPr>
          <p:cNvPr id="178" name="Straight Connector 177"/>
          <p:cNvCxnSpPr>
            <a:stCxn id="67" idx="2"/>
            <a:endCxn id="164" idx="7"/>
          </p:cNvCxnSpPr>
          <p:nvPr/>
        </p:nvCxnSpPr>
        <p:spPr>
          <a:xfrm rot="5400000">
            <a:off x="1357569" y="4788483"/>
            <a:ext cx="382915" cy="1023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a:stCxn id="67" idx="2"/>
            <a:endCxn id="161" idx="0"/>
          </p:cNvCxnSpPr>
          <p:nvPr/>
        </p:nvCxnSpPr>
        <p:spPr>
          <a:xfrm rot="16200000" flipH="1">
            <a:off x="1333500" y="4914900"/>
            <a:ext cx="990600"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a:stCxn id="163" idx="2"/>
            <a:endCxn id="67" idx="2"/>
          </p:cNvCxnSpPr>
          <p:nvPr/>
        </p:nvCxnSpPr>
        <p:spPr>
          <a:xfrm rot="10800000">
            <a:off x="1600200" y="4648200"/>
            <a:ext cx="1219200" cy="11049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a:stCxn id="162" idx="1"/>
            <a:endCxn id="67" idx="2"/>
          </p:cNvCxnSpPr>
          <p:nvPr/>
        </p:nvCxnSpPr>
        <p:spPr>
          <a:xfrm rot="16200000" flipV="1">
            <a:off x="1917117" y="4331284"/>
            <a:ext cx="230515" cy="8643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a:stCxn id="68" idx="2"/>
            <a:endCxn id="158" idx="1"/>
          </p:cNvCxnSpPr>
          <p:nvPr/>
        </p:nvCxnSpPr>
        <p:spPr>
          <a:xfrm rot="16200000" flipH="1">
            <a:off x="5727117" y="4331283"/>
            <a:ext cx="154315" cy="7881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a:stCxn id="68" idx="2"/>
            <a:endCxn id="159" idx="1"/>
          </p:cNvCxnSpPr>
          <p:nvPr/>
        </p:nvCxnSpPr>
        <p:spPr>
          <a:xfrm rot="16200000" flipH="1">
            <a:off x="5460417" y="4597983"/>
            <a:ext cx="840115" cy="9405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a:stCxn id="68" idx="2"/>
            <a:endCxn id="157" idx="0"/>
          </p:cNvCxnSpPr>
          <p:nvPr/>
        </p:nvCxnSpPr>
        <p:spPr>
          <a:xfrm rot="16200000" flipH="1">
            <a:off x="5067300" y="4991100"/>
            <a:ext cx="762000" cy="76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p:cNvCxnSpPr>
            <a:stCxn id="68" idx="2"/>
            <a:endCxn id="160" idx="7"/>
          </p:cNvCxnSpPr>
          <p:nvPr/>
        </p:nvCxnSpPr>
        <p:spPr>
          <a:xfrm rot="5400000">
            <a:off x="5129469" y="4674183"/>
            <a:ext cx="306715" cy="254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92"/>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2.8</a:t>
            </a:r>
          </a:p>
        </p:txBody>
      </p:sp>
      <p:sp>
        <p:nvSpPr>
          <p:cNvPr id="3" name="Content Placeholder 2"/>
          <p:cNvSpPr>
            <a:spLocks noGrp="1"/>
          </p:cNvSpPr>
          <p:nvPr>
            <p:ph sz="quarter" idx="1"/>
          </p:nvPr>
        </p:nvSpPr>
        <p:spPr>
          <a:xfrm>
            <a:off x="457200" y="1371600"/>
            <a:ext cx="8229600" cy="5029200"/>
          </a:xfrm>
        </p:spPr>
        <p:txBody>
          <a:bodyPr>
            <a:normAutofit/>
          </a:bodyPr>
          <a:lstStyle/>
          <a:p>
            <a:pPr>
              <a:buNone/>
            </a:pPr>
            <a:r>
              <a:rPr lang="en-US" b="1" dirty="0"/>
              <a:t>Solution</a:t>
            </a:r>
          </a:p>
          <a:p>
            <a:r>
              <a:rPr lang="en-US" dirty="0"/>
              <a:t>Suppose we had several piece of artwork with the same title, and we told them apart by artist?</a:t>
            </a:r>
          </a:p>
          <a:p>
            <a:r>
              <a:rPr lang="en-US" dirty="0"/>
              <a:t>Example:  “What is Love?” by Cheryl D, “What is Love?” by Joe Brown, etc.</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2.8</a:t>
            </a:r>
          </a:p>
        </p:txBody>
      </p:sp>
      <p:sp>
        <p:nvSpPr>
          <p:cNvPr id="3" name="Content Placeholder 2"/>
          <p:cNvSpPr>
            <a:spLocks noGrp="1"/>
          </p:cNvSpPr>
          <p:nvPr>
            <p:ph sz="quarter" idx="1"/>
          </p:nvPr>
        </p:nvSpPr>
        <p:spPr>
          <a:xfrm>
            <a:off x="457200" y="1371600"/>
            <a:ext cx="8229600" cy="5105400"/>
          </a:xfrm>
        </p:spPr>
        <p:txBody>
          <a:bodyPr>
            <a:normAutofit/>
          </a:bodyPr>
          <a:lstStyle/>
          <a:p>
            <a:pPr>
              <a:buNone/>
            </a:pPr>
            <a:r>
              <a:rPr lang="en-US" b="1" dirty="0"/>
              <a:t>Solution</a:t>
            </a:r>
          </a:p>
        </p:txBody>
      </p:sp>
      <p:cxnSp>
        <p:nvCxnSpPr>
          <p:cNvPr id="35" name="Straight Arrow Connector 34"/>
          <p:cNvCxnSpPr>
            <a:stCxn id="65" idx="2"/>
            <a:endCxn id="72" idx="0"/>
          </p:cNvCxnSpPr>
          <p:nvPr/>
        </p:nvCxnSpPr>
        <p:spPr>
          <a:xfrm rot="5400000">
            <a:off x="7162800" y="3733800"/>
            <a:ext cx="457200" cy="1588"/>
          </a:xfrm>
          <a:prstGeom prst="straightConnector1">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5" name="Rectangle 64"/>
          <p:cNvSpPr/>
          <p:nvPr/>
        </p:nvSpPr>
        <p:spPr>
          <a:xfrm>
            <a:off x="6705600" y="3048000"/>
            <a:ext cx="13716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Artwork</a:t>
            </a:r>
          </a:p>
        </p:txBody>
      </p:sp>
      <p:sp>
        <p:nvSpPr>
          <p:cNvPr id="66" name="Rectangle 65"/>
          <p:cNvSpPr/>
          <p:nvPr/>
        </p:nvSpPr>
        <p:spPr>
          <a:xfrm>
            <a:off x="2971800" y="3048000"/>
            <a:ext cx="13716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Group</a:t>
            </a:r>
          </a:p>
        </p:txBody>
      </p:sp>
      <p:sp>
        <p:nvSpPr>
          <p:cNvPr id="67" name="Rectangle 66"/>
          <p:cNvSpPr/>
          <p:nvPr/>
        </p:nvSpPr>
        <p:spPr>
          <a:xfrm>
            <a:off x="914400" y="4191000"/>
            <a:ext cx="13716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Customer</a:t>
            </a:r>
          </a:p>
        </p:txBody>
      </p:sp>
      <p:sp>
        <p:nvSpPr>
          <p:cNvPr id="68" name="Rectangle 67"/>
          <p:cNvSpPr/>
          <p:nvPr/>
        </p:nvSpPr>
        <p:spPr>
          <a:xfrm>
            <a:off x="4724400" y="4191000"/>
            <a:ext cx="13716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Artist</a:t>
            </a:r>
          </a:p>
        </p:txBody>
      </p:sp>
      <p:sp>
        <p:nvSpPr>
          <p:cNvPr id="69" name="Diamond 68"/>
          <p:cNvSpPr/>
          <p:nvPr/>
        </p:nvSpPr>
        <p:spPr>
          <a:xfrm>
            <a:off x="914400" y="28194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err="1">
                <a:solidFill>
                  <a:schemeClr val="tx1"/>
                </a:solidFill>
              </a:rPr>
              <a:t>Like_Group</a:t>
            </a:r>
            <a:endParaRPr lang="en-US" sz="1600" dirty="0">
              <a:solidFill>
                <a:schemeClr val="tx1"/>
              </a:solidFill>
            </a:endParaRPr>
          </a:p>
        </p:txBody>
      </p:sp>
      <p:sp>
        <p:nvSpPr>
          <p:cNvPr id="70" name="Diamond 69"/>
          <p:cNvSpPr/>
          <p:nvPr/>
        </p:nvSpPr>
        <p:spPr>
          <a:xfrm>
            <a:off x="4724400" y="28194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a:solidFill>
                  <a:schemeClr val="tx1"/>
                </a:solidFill>
              </a:rPr>
              <a:t>Classify</a:t>
            </a:r>
          </a:p>
        </p:txBody>
      </p:sp>
      <p:sp>
        <p:nvSpPr>
          <p:cNvPr id="72" name="Diamond 71"/>
          <p:cNvSpPr/>
          <p:nvPr/>
        </p:nvSpPr>
        <p:spPr>
          <a:xfrm>
            <a:off x="6705600" y="39624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a:solidFill>
                  <a:schemeClr val="tx1"/>
                </a:solidFill>
              </a:rPr>
              <a:t>Paints</a:t>
            </a:r>
          </a:p>
        </p:txBody>
      </p:sp>
      <p:sp>
        <p:nvSpPr>
          <p:cNvPr id="73" name="Diamond 72"/>
          <p:cNvSpPr/>
          <p:nvPr/>
        </p:nvSpPr>
        <p:spPr>
          <a:xfrm>
            <a:off x="2971800" y="39624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err="1">
                <a:solidFill>
                  <a:schemeClr val="tx1"/>
                </a:solidFill>
              </a:rPr>
              <a:t>Like_Artist</a:t>
            </a:r>
            <a:endParaRPr lang="en-US" sz="1600" dirty="0">
              <a:solidFill>
                <a:schemeClr val="tx1"/>
              </a:solidFill>
            </a:endParaRPr>
          </a:p>
        </p:txBody>
      </p:sp>
      <p:cxnSp>
        <p:nvCxnSpPr>
          <p:cNvPr id="75" name="Straight Connector 74"/>
          <p:cNvCxnSpPr>
            <a:stCxn id="67" idx="0"/>
            <a:endCxn id="69" idx="2"/>
          </p:cNvCxnSpPr>
          <p:nvPr/>
        </p:nvCxnSpPr>
        <p:spPr>
          <a:xfrm rot="5400000" flipH="1" flipV="1">
            <a:off x="1371600" y="3962400"/>
            <a:ext cx="457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66" idx="1"/>
            <a:endCxn id="69" idx="3"/>
          </p:cNvCxnSpPr>
          <p:nvPr/>
        </p:nvCxnSpPr>
        <p:spPr>
          <a:xfrm rot="10800000">
            <a:off x="2286000" y="3276600"/>
            <a:ext cx="685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a:stCxn id="70" idx="1"/>
            <a:endCxn id="66" idx="3"/>
          </p:cNvCxnSpPr>
          <p:nvPr/>
        </p:nvCxnSpPr>
        <p:spPr>
          <a:xfrm rot="10800000">
            <a:off x="4343400" y="3276600"/>
            <a:ext cx="381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65" idx="1"/>
            <a:endCxn id="70" idx="3"/>
          </p:cNvCxnSpPr>
          <p:nvPr/>
        </p:nvCxnSpPr>
        <p:spPr>
          <a:xfrm rot="10800000">
            <a:off x="6096000" y="3276600"/>
            <a:ext cx="60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72" idx="0"/>
            <a:endCxn id="65" idx="2"/>
          </p:cNvCxnSpPr>
          <p:nvPr/>
        </p:nvCxnSpPr>
        <p:spPr>
          <a:xfrm rot="5400000" flipH="1" flipV="1">
            <a:off x="7162800" y="3733800"/>
            <a:ext cx="4572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68" idx="3"/>
            <a:endCxn id="72" idx="1"/>
          </p:cNvCxnSpPr>
          <p:nvPr/>
        </p:nvCxnSpPr>
        <p:spPr>
          <a:xfrm>
            <a:off x="6096000" y="4419600"/>
            <a:ext cx="60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68" idx="1"/>
            <a:endCxn id="73" idx="3"/>
          </p:cNvCxnSpPr>
          <p:nvPr/>
        </p:nvCxnSpPr>
        <p:spPr>
          <a:xfrm rot="10800000">
            <a:off x="4343400" y="4419600"/>
            <a:ext cx="381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a:stCxn id="67" idx="3"/>
            <a:endCxn id="73" idx="1"/>
          </p:cNvCxnSpPr>
          <p:nvPr/>
        </p:nvCxnSpPr>
        <p:spPr>
          <a:xfrm>
            <a:off x="2286000" y="4419600"/>
            <a:ext cx="685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Oval 110"/>
          <p:cNvSpPr/>
          <p:nvPr/>
        </p:nvSpPr>
        <p:spPr>
          <a:xfrm>
            <a:off x="3048000" y="20574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a:solidFill>
                  <a:schemeClr val="tx1"/>
                </a:solidFill>
              </a:rPr>
              <a:t>name</a:t>
            </a:r>
          </a:p>
        </p:txBody>
      </p:sp>
      <p:sp>
        <p:nvSpPr>
          <p:cNvPr id="112" name="Oval 111"/>
          <p:cNvSpPr/>
          <p:nvPr/>
        </p:nvSpPr>
        <p:spPr>
          <a:xfrm>
            <a:off x="6553200" y="2133600"/>
            <a:ext cx="9144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a:solidFill>
                  <a:schemeClr val="tx1"/>
                </a:solidFill>
              </a:rPr>
              <a:t>title</a:t>
            </a:r>
          </a:p>
        </p:txBody>
      </p:sp>
      <p:sp>
        <p:nvSpPr>
          <p:cNvPr id="113" name="Oval 112"/>
          <p:cNvSpPr/>
          <p:nvPr/>
        </p:nvSpPr>
        <p:spPr>
          <a:xfrm>
            <a:off x="7315200" y="1752600"/>
            <a:ext cx="10668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type</a:t>
            </a:r>
          </a:p>
        </p:txBody>
      </p:sp>
      <p:sp>
        <p:nvSpPr>
          <p:cNvPr id="114" name="Oval 113"/>
          <p:cNvSpPr/>
          <p:nvPr/>
        </p:nvSpPr>
        <p:spPr>
          <a:xfrm>
            <a:off x="7696200" y="2362200"/>
            <a:ext cx="9906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price</a:t>
            </a:r>
          </a:p>
        </p:txBody>
      </p:sp>
      <p:sp>
        <p:nvSpPr>
          <p:cNvPr id="115" name="Oval 114"/>
          <p:cNvSpPr/>
          <p:nvPr/>
        </p:nvSpPr>
        <p:spPr>
          <a:xfrm>
            <a:off x="5486400" y="1828800"/>
            <a:ext cx="10668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year</a:t>
            </a:r>
          </a:p>
        </p:txBody>
      </p:sp>
      <p:cxnSp>
        <p:nvCxnSpPr>
          <p:cNvPr id="116" name="Straight Connector 115"/>
          <p:cNvCxnSpPr>
            <a:stCxn id="114" idx="4"/>
            <a:endCxn id="65" idx="0"/>
          </p:cNvCxnSpPr>
          <p:nvPr/>
        </p:nvCxnSpPr>
        <p:spPr>
          <a:xfrm rot="5400000">
            <a:off x="7715250" y="2571750"/>
            <a:ext cx="152400" cy="8001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a:endCxn id="65" idx="0"/>
          </p:cNvCxnSpPr>
          <p:nvPr/>
        </p:nvCxnSpPr>
        <p:spPr>
          <a:xfrm rot="5400000">
            <a:off x="7162800" y="2514600"/>
            <a:ext cx="762000" cy="3048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a:stCxn id="112" idx="5"/>
            <a:endCxn id="65" idx="0"/>
          </p:cNvCxnSpPr>
          <p:nvPr/>
        </p:nvCxnSpPr>
        <p:spPr>
          <a:xfrm rot="16200000" flipH="1">
            <a:off x="7132987" y="2789586"/>
            <a:ext cx="459115" cy="577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a:stCxn id="65" idx="0"/>
            <a:endCxn id="115" idx="4"/>
          </p:cNvCxnSpPr>
          <p:nvPr/>
        </p:nvCxnSpPr>
        <p:spPr>
          <a:xfrm rot="16200000" flipV="1">
            <a:off x="6362700" y="2019300"/>
            <a:ext cx="685800" cy="1371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a:stCxn id="111" idx="4"/>
            <a:endCxn id="66" idx="0"/>
          </p:cNvCxnSpPr>
          <p:nvPr/>
        </p:nvCxnSpPr>
        <p:spPr>
          <a:xfrm rot="16200000" flipH="1">
            <a:off x="3409950" y="2800350"/>
            <a:ext cx="457200" cy="381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7" name="Oval 156"/>
          <p:cNvSpPr/>
          <p:nvPr/>
        </p:nvSpPr>
        <p:spPr>
          <a:xfrm>
            <a:off x="4876800" y="54102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600" dirty="0">
                <a:solidFill>
                  <a:schemeClr val="tx1"/>
                </a:solidFill>
              </a:rPr>
              <a:t>birthplace</a:t>
            </a:r>
          </a:p>
        </p:txBody>
      </p:sp>
      <p:sp>
        <p:nvSpPr>
          <p:cNvPr id="158" name="Oval 157"/>
          <p:cNvSpPr/>
          <p:nvPr/>
        </p:nvSpPr>
        <p:spPr>
          <a:xfrm>
            <a:off x="6019800" y="47244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style</a:t>
            </a:r>
          </a:p>
        </p:txBody>
      </p:sp>
      <p:sp>
        <p:nvSpPr>
          <p:cNvPr id="159" name="Oval 158"/>
          <p:cNvSpPr/>
          <p:nvPr/>
        </p:nvSpPr>
        <p:spPr>
          <a:xfrm>
            <a:off x="6172200" y="54102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age</a:t>
            </a:r>
          </a:p>
        </p:txBody>
      </p:sp>
      <p:sp>
        <p:nvSpPr>
          <p:cNvPr id="160" name="Oval 159"/>
          <p:cNvSpPr/>
          <p:nvPr/>
        </p:nvSpPr>
        <p:spPr>
          <a:xfrm>
            <a:off x="4114800" y="48768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a:solidFill>
                  <a:schemeClr val="tx1"/>
                </a:solidFill>
              </a:rPr>
              <a:t>name</a:t>
            </a:r>
          </a:p>
        </p:txBody>
      </p:sp>
      <p:sp>
        <p:nvSpPr>
          <p:cNvPr id="161" name="Oval 160"/>
          <p:cNvSpPr/>
          <p:nvPr/>
        </p:nvSpPr>
        <p:spPr>
          <a:xfrm>
            <a:off x="1447800" y="56388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name</a:t>
            </a:r>
          </a:p>
        </p:txBody>
      </p:sp>
      <p:sp>
        <p:nvSpPr>
          <p:cNvPr id="162" name="Oval 161"/>
          <p:cNvSpPr/>
          <p:nvPr/>
        </p:nvSpPr>
        <p:spPr>
          <a:xfrm>
            <a:off x="2286000" y="48006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address</a:t>
            </a:r>
          </a:p>
        </p:txBody>
      </p:sp>
      <p:sp>
        <p:nvSpPr>
          <p:cNvPr id="163" name="Oval 162"/>
          <p:cNvSpPr/>
          <p:nvPr/>
        </p:nvSpPr>
        <p:spPr>
          <a:xfrm>
            <a:off x="2819400" y="54864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amount</a:t>
            </a:r>
          </a:p>
        </p:txBody>
      </p:sp>
      <p:sp>
        <p:nvSpPr>
          <p:cNvPr id="164" name="Oval 163"/>
          <p:cNvSpPr/>
          <p:nvPr/>
        </p:nvSpPr>
        <p:spPr>
          <a:xfrm>
            <a:off x="457200" y="49530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err="1">
                <a:solidFill>
                  <a:schemeClr val="tx1"/>
                </a:solidFill>
              </a:rPr>
              <a:t>cust_id</a:t>
            </a:r>
            <a:endParaRPr lang="en-US" sz="1600" u="sng" dirty="0">
              <a:solidFill>
                <a:schemeClr val="tx1"/>
              </a:solidFill>
            </a:endParaRPr>
          </a:p>
        </p:txBody>
      </p:sp>
      <p:cxnSp>
        <p:nvCxnSpPr>
          <p:cNvPr id="178" name="Straight Connector 177"/>
          <p:cNvCxnSpPr>
            <a:stCxn id="67" idx="2"/>
            <a:endCxn id="164" idx="7"/>
          </p:cNvCxnSpPr>
          <p:nvPr/>
        </p:nvCxnSpPr>
        <p:spPr>
          <a:xfrm rot="5400000">
            <a:off x="1357569" y="4788483"/>
            <a:ext cx="382915" cy="1023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a:stCxn id="67" idx="2"/>
            <a:endCxn id="161" idx="0"/>
          </p:cNvCxnSpPr>
          <p:nvPr/>
        </p:nvCxnSpPr>
        <p:spPr>
          <a:xfrm rot="16200000" flipH="1">
            <a:off x="1333500" y="4914900"/>
            <a:ext cx="990600"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a:stCxn id="163" idx="2"/>
            <a:endCxn id="67" idx="2"/>
          </p:cNvCxnSpPr>
          <p:nvPr/>
        </p:nvCxnSpPr>
        <p:spPr>
          <a:xfrm rot="10800000">
            <a:off x="1600200" y="4648200"/>
            <a:ext cx="1219200" cy="11049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a:stCxn id="162" idx="1"/>
            <a:endCxn id="67" idx="2"/>
          </p:cNvCxnSpPr>
          <p:nvPr/>
        </p:nvCxnSpPr>
        <p:spPr>
          <a:xfrm rot="16200000" flipV="1">
            <a:off x="1917117" y="4331284"/>
            <a:ext cx="230515" cy="8643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a:stCxn id="68" idx="2"/>
            <a:endCxn id="158" idx="1"/>
          </p:cNvCxnSpPr>
          <p:nvPr/>
        </p:nvCxnSpPr>
        <p:spPr>
          <a:xfrm rot="16200000" flipH="1">
            <a:off x="5727117" y="4331283"/>
            <a:ext cx="154315" cy="7881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a:stCxn id="68" idx="2"/>
            <a:endCxn id="159" idx="1"/>
          </p:cNvCxnSpPr>
          <p:nvPr/>
        </p:nvCxnSpPr>
        <p:spPr>
          <a:xfrm rot="16200000" flipH="1">
            <a:off x="5460417" y="4597983"/>
            <a:ext cx="840115" cy="9405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a:stCxn id="68" idx="2"/>
            <a:endCxn id="157" idx="0"/>
          </p:cNvCxnSpPr>
          <p:nvPr/>
        </p:nvCxnSpPr>
        <p:spPr>
          <a:xfrm rot="16200000" flipH="1">
            <a:off x="5067300" y="4991100"/>
            <a:ext cx="762000" cy="76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p:cNvCxnSpPr>
            <a:stCxn id="68" idx="2"/>
            <a:endCxn id="160" idx="7"/>
          </p:cNvCxnSpPr>
          <p:nvPr/>
        </p:nvCxnSpPr>
        <p:spPr>
          <a:xfrm rot="5400000">
            <a:off x="5129469" y="4674183"/>
            <a:ext cx="306715" cy="254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6705600" y="3048000"/>
            <a:ext cx="1371600" cy="457200"/>
          </a:xfrm>
          <a:prstGeom prst="rect">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Artwork</a:t>
            </a:r>
          </a:p>
        </p:txBody>
      </p:sp>
      <p:sp>
        <p:nvSpPr>
          <p:cNvPr id="48" name="Diamond 47"/>
          <p:cNvSpPr/>
          <p:nvPr/>
        </p:nvSpPr>
        <p:spPr>
          <a:xfrm>
            <a:off x="6705600" y="3962400"/>
            <a:ext cx="1371600" cy="914400"/>
          </a:xfrm>
          <a:prstGeom prst="diamond">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a:solidFill>
                  <a:schemeClr val="tx1"/>
                </a:solidFill>
              </a:rPr>
              <a:t>Paints</a:t>
            </a:r>
          </a:p>
        </p:txBody>
      </p:sp>
      <p:sp>
        <p:nvSpPr>
          <p:cNvPr id="49" name="Oval 48"/>
          <p:cNvSpPr/>
          <p:nvPr/>
        </p:nvSpPr>
        <p:spPr>
          <a:xfrm>
            <a:off x="6553200" y="2133600"/>
            <a:ext cx="9144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dash" dirty="0">
                <a:solidFill>
                  <a:schemeClr val="tx1"/>
                </a:solidFill>
              </a:rPr>
              <a:t>title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5"/>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72"/>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4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72" grpId="0" animBg="1"/>
      <p:bldP spid="112" grpId="0" animBg="1"/>
      <p:bldP spid="47" grpId="0" animBg="1"/>
      <p:bldP spid="48" grpId="0" animBg="1"/>
      <p:bldP spid="4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3.14</a:t>
            </a:r>
          </a:p>
        </p:txBody>
      </p:sp>
      <p:sp>
        <p:nvSpPr>
          <p:cNvPr id="3" name="Content Placeholder 2"/>
          <p:cNvSpPr>
            <a:spLocks noGrp="1"/>
          </p:cNvSpPr>
          <p:nvPr>
            <p:ph sz="quarter" idx="1"/>
          </p:nvPr>
        </p:nvSpPr>
        <p:spPr>
          <a:xfrm>
            <a:off x="457200" y="1371600"/>
            <a:ext cx="8229600" cy="4876800"/>
          </a:xfrm>
        </p:spPr>
        <p:txBody>
          <a:bodyPr>
            <a:normAutofit/>
          </a:bodyPr>
          <a:lstStyle/>
          <a:p>
            <a:pPr>
              <a:buNone/>
            </a:pPr>
            <a:r>
              <a:rPr lang="en-US" b="1" dirty="0"/>
              <a:t>Problem</a:t>
            </a:r>
          </a:p>
          <a:p>
            <a:r>
              <a:rPr lang="en-US" dirty="0"/>
              <a:t>Consider the scenario from Exercise 2.4, where you designed an ER diagram for a company database. Write SQL statements to create the corresponding relations and capture as many of the constraints as possible. If you cannot capture some constraints, explain why.</a:t>
            </a:r>
            <a:endParaRPr lang="en-US"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3.14</a:t>
            </a:r>
          </a:p>
        </p:txBody>
      </p:sp>
      <p:sp>
        <p:nvSpPr>
          <p:cNvPr id="3" name="Content Placeholder 2"/>
          <p:cNvSpPr>
            <a:spLocks noGrp="1"/>
          </p:cNvSpPr>
          <p:nvPr>
            <p:ph sz="quarter" idx="1"/>
          </p:nvPr>
        </p:nvSpPr>
        <p:spPr>
          <a:xfrm>
            <a:off x="457200" y="1371600"/>
            <a:ext cx="8229600" cy="5105400"/>
          </a:xfrm>
        </p:spPr>
        <p:txBody>
          <a:bodyPr>
            <a:normAutofit/>
          </a:bodyPr>
          <a:lstStyle/>
          <a:p>
            <a:pPr>
              <a:buNone/>
            </a:pPr>
            <a:r>
              <a:rPr lang="en-US" b="1" dirty="0"/>
              <a:t>ER Diagram from Exercise 2.4 </a:t>
            </a:r>
          </a:p>
        </p:txBody>
      </p:sp>
      <p:sp>
        <p:nvSpPr>
          <p:cNvPr id="6" name="Rectangle 5"/>
          <p:cNvSpPr/>
          <p:nvPr/>
        </p:nvSpPr>
        <p:spPr>
          <a:xfrm>
            <a:off x="6096000" y="2819400"/>
            <a:ext cx="13716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Departments</a:t>
            </a:r>
          </a:p>
        </p:txBody>
      </p:sp>
      <p:sp>
        <p:nvSpPr>
          <p:cNvPr id="7" name="Rectangle 6"/>
          <p:cNvSpPr/>
          <p:nvPr/>
        </p:nvSpPr>
        <p:spPr>
          <a:xfrm>
            <a:off x="1905000" y="5181600"/>
            <a:ext cx="12954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Child</a:t>
            </a:r>
          </a:p>
        </p:txBody>
      </p:sp>
      <p:sp>
        <p:nvSpPr>
          <p:cNvPr id="8" name="Rectangle 7"/>
          <p:cNvSpPr/>
          <p:nvPr/>
        </p:nvSpPr>
        <p:spPr>
          <a:xfrm>
            <a:off x="1828800" y="2819400"/>
            <a:ext cx="12954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Employees</a:t>
            </a:r>
          </a:p>
        </p:txBody>
      </p:sp>
      <p:sp>
        <p:nvSpPr>
          <p:cNvPr id="9" name="Oval 8"/>
          <p:cNvSpPr/>
          <p:nvPr/>
        </p:nvSpPr>
        <p:spPr>
          <a:xfrm>
            <a:off x="914400" y="58674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a:solidFill>
                  <a:schemeClr val="tx1"/>
                </a:solidFill>
              </a:rPr>
              <a:t>name</a:t>
            </a:r>
          </a:p>
        </p:txBody>
      </p:sp>
      <p:sp>
        <p:nvSpPr>
          <p:cNvPr id="10" name="Oval 9"/>
          <p:cNvSpPr/>
          <p:nvPr/>
        </p:nvSpPr>
        <p:spPr>
          <a:xfrm>
            <a:off x="3048000" y="58674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age</a:t>
            </a:r>
          </a:p>
        </p:txBody>
      </p:sp>
      <p:sp>
        <p:nvSpPr>
          <p:cNvPr id="11" name="Oval 10"/>
          <p:cNvSpPr/>
          <p:nvPr/>
        </p:nvSpPr>
        <p:spPr>
          <a:xfrm>
            <a:off x="3200400" y="20574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phone</a:t>
            </a:r>
          </a:p>
        </p:txBody>
      </p:sp>
      <p:sp>
        <p:nvSpPr>
          <p:cNvPr id="12" name="Oval 11"/>
          <p:cNvSpPr/>
          <p:nvPr/>
        </p:nvSpPr>
        <p:spPr>
          <a:xfrm>
            <a:off x="457200" y="22098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err="1">
                <a:solidFill>
                  <a:schemeClr val="tx1"/>
                </a:solidFill>
              </a:rPr>
              <a:t>ssn</a:t>
            </a:r>
            <a:endParaRPr lang="en-US" sz="1600" u="sng" dirty="0">
              <a:solidFill>
                <a:schemeClr val="tx1"/>
              </a:solidFill>
            </a:endParaRPr>
          </a:p>
        </p:txBody>
      </p:sp>
      <p:sp>
        <p:nvSpPr>
          <p:cNvPr id="13" name="Oval 12"/>
          <p:cNvSpPr/>
          <p:nvPr/>
        </p:nvSpPr>
        <p:spPr>
          <a:xfrm>
            <a:off x="1828800" y="19050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salary</a:t>
            </a:r>
          </a:p>
        </p:txBody>
      </p:sp>
      <p:sp>
        <p:nvSpPr>
          <p:cNvPr id="14" name="Diamond 13"/>
          <p:cNvSpPr/>
          <p:nvPr/>
        </p:nvSpPr>
        <p:spPr>
          <a:xfrm>
            <a:off x="1828800" y="37338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a:solidFill>
                  <a:schemeClr val="tx1"/>
                </a:solidFill>
              </a:rPr>
              <a:t>Dependent</a:t>
            </a:r>
          </a:p>
        </p:txBody>
      </p:sp>
      <p:sp>
        <p:nvSpPr>
          <p:cNvPr id="15" name="Oval 14"/>
          <p:cNvSpPr/>
          <p:nvPr/>
        </p:nvSpPr>
        <p:spPr>
          <a:xfrm>
            <a:off x="7467600" y="22098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budget</a:t>
            </a:r>
          </a:p>
        </p:txBody>
      </p:sp>
      <p:sp>
        <p:nvSpPr>
          <p:cNvPr id="16" name="Oval 15"/>
          <p:cNvSpPr/>
          <p:nvPr/>
        </p:nvSpPr>
        <p:spPr>
          <a:xfrm>
            <a:off x="5105400" y="20574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err="1">
                <a:solidFill>
                  <a:schemeClr val="tx1"/>
                </a:solidFill>
              </a:rPr>
              <a:t>dno</a:t>
            </a:r>
            <a:endParaRPr lang="en-US" sz="1600" u="sng" dirty="0">
              <a:solidFill>
                <a:schemeClr val="tx1"/>
              </a:solidFill>
            </a:endParaRPr>
          </a:p>
        </p:txBody>
      </p:sp>
      <p:sp>
        <p:nvSpPr>
          <p:cNvPr id="17" name="Oval 16"/>
          <p:cNvSpPr/>
          <p:nvPr/>
        </p:nvSpPr>
        <p:spPr>
          <a:xfrm>
            <a:off x="6400800" y="16764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tx1"/>
                </a:solidFill>
              </a:rPr>
              <a:t>dname</a:t>
            </a:r>
            <a:endParaRPr lang="en-US" sz="1600" dirty="0">
              <a:solidFill>
                <a:schemeClr val="tx1"/>
              </a:solidFill>
            </a:endParaRPr>
          </a:p>
        </p:txBody>
      </p:sp>
      <p:sp>
        <p:nvSpPr>
          <p:cNvPr id="18" name="Diamond 17"/>
          <p:cNvSpPr/>
          <p:nvPr/>
        </p:nvSpPr>
        <p:spPr>
          <a:xfrm>
            <a:off x="4038600" y="27432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a:solidFill>
                  <a:schemeClr val="tx1"/>
                </a:solidFill>
              </a:rPr>
              <a:t>Manages</a:t>
            </a:r>
          </a:p>
        </p:txBody>
      </p:sp>
      <p:sp>
        <p:nvSpPr>
          <p:cNvPr id="19" name="Diamond 18"/>
          <p:cNvSpPr/>
          <p:nvPr/>
        </p:nvSpPr>
        <p:spPr>
          <a:xfrm>
            <a:off x="4114800" y="38862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err="1">
                <a:solidFill>
                  <a:schemeClr val="tx1"/>
                </a:solidFill>
              </a:rPr>
              <a:t>Works_In</a:t>
            </a:r>
            <a:endParaRPr lang="en-US" sz="1600" dirty="0">
              <a:solidFill>
                <a:schemeClr val="tx1"/>
              </a:solidFill>
            </a:endParaRPr>
          </a:p>
        </p:txBody>
      </p:sp>
      <p:cxnSp>
        <p:nvCxnSpPr>
          <p:cNvPr id="21" name="Straight Connector 20"/>
          <p:cNvCxnSpPr>
            <a:stCxn id="7" idx="2"/>
            <a:endCxn id="10" idx="1"/>
          </p:cNvCxnSpPr>
          <p:nvPr/>
        </p:nvCxnSpPr>
        <p:spPr>
          <a:xfrm rot="16200000" flipH="1">
            <a:off x="2730687" y="5460812"/>
            <a:ext cx="306715" cy="662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7" idx="2"/>
            <a:endCxn id="9" idx="7"/>
          </p:cNvCxnSpPr>
          <p:nvPr/>
        </p:nvCxnSpPr>
        <p:spPr>
          <a:xfrm rot="5400000">
            <a:off x="2067999" y="5460813"/>
            <a:ext cx="306715" cy="662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8" idx="2"/>
            <a:endCxn id="14" idx="0"/>
          </p:cNvCxnSpPr>
          <p:nvPr/>
        </p:nvCxnSpPr>
        <p:spPr>
          <a:xfrm rot="16200000" flipH="1">
            <a:off x="2266950" y="3486150"/>
            <a:ext cx="457200" cy="381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14" idx="2"/>
            <a:endCxn id="7" idx="0"/>
          </p:cNvCxnSpPr>
          <p:nvPr/>
        </p:nvCxnSpPr>
        <p:spPr>
          <a:xfrm rot="16200000" flipH="1">
            <a:off x="2266950" y="4895850"/>
            <a:ext cx="533400" cy="381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8" idx="3"/>
            <a:endCxn id="19" idx="1"/>
          </p:cNvCxnSpPr>
          <p:nvPr/>
        </p:nvCxnSpPr>
        <p:spPr>
          <a:xfrm>
            <a:off x="3124200" y="3048000"/>
            <a:ext cx="990600" cy="1295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9" idx="3"/>
            <a:endCxn id="6" idx="1"/>
          </p:cNvCxnSpPr>
          <p:nvPr/>
        </p:nvCxnSpPr>
        <p:spPr>
          <a:xfrm flipV="1">
            <a:off x="5486400" y="3048000"/>
            <a:ext cx="609600" cy="1295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8" idx="3"/>
            <a:endCxn id="18" idx="1"/>
          </p:cNvCxnSpPr>
          <p:nvPr/>
        </p:nvCxnSpPr>
        <p:spPr>
          <a:xfrm>
            <a:off x="3124200" y="3048000"/>
            <a:ext cx="914400" cy="152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18" idx="3"/>
            <a:endCxn id="6" idx="1"/>
          </p:cNvCxnSpPr>
          <p:nvPr/>
        </p:nvCxnSpPr>
        <p:spPr>
          <a:xfrm flipV="1">
            <a:off x="5410200" y="3048000"/>
            <a:ext cx="685800" cy="152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12" idx="5"/>
            <a:endCxn id="8" idx="0"/>
          </p:cNvCxnSpPr>
          <p:nvPr/>
        </p:nvCxnSpPr>
        <p:spPr>
          <a:xfrm rot="16200000" flipH="1">
            <a:off x="1877498" y="2220397"/>
            <a:ext cx="154315" cy="1043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a:stCxn id="13" idx="4"/>
            <a:endCxn id="8" idx="0"/>
          </p:cNvCxnSpPr>
          <p:nvPr/>
        </p:nvCxnSpPr>
        <p:spPr>
          <a:xfrm rot="16200000" flipH="1">
            <a:off x="2247900" y="2590800"/>
            <a:ext cx="381000" cy="76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a:stCxn id="11" idx="3"/>
            <a:endCxn id="8" idx="0"/>
          </p:cNvCxnSpPr>
          <p:nvPr/>
        </p:nvCxnSpPr>
        <p:spPr>
          <a:xfrm rot="5400000">
            <a:off x="2774367" y="2214818"/>
            <a:ext cx="306715" cy="9024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a:stCxn id="16" idx="5"/>
            <a:endCxn id="6" idx="0"/>
          </p:cNvCxnSpPr>
          <p:nvPr/>
        </p:nvCxnSpPr>
        <p:spPr>
          <a:xfrm rot="16200000" flipH="1">
            <a:off x="6278048" y="2315647"/>
            <a:ext cx="306715" cy="7007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a:stCxn id="17" idx="4"/>
            <a:endCxn id="6" idx="0"/>
          </p:cNvCxnSpPr>
          <p:nvPr/>
        </p:nvCxnSpPr>
        <p:spPr>
          <a:xfrm rot="5400000">
            <a:off x="6572250" y="2419350"/>
            <a:ext cx="609600" cy="190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stCxn id="15" idx="3"/>
            <a:endCxn id="6" idx="0"/>
          </p:cNvCxnSpPr>
          <p:nvPr/>
        </p:nvCxnSpPr>
        <p:spPr>
          <a:xfrm rot="5400000">
            <a:off x="7136817" y="2310068"/>
            <a:ext cx="154315" cy="8643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6" idx="1"/>
            <a:endCxn id="18" idx="3"/>
          </p:cNvCxnSpPr>
          <p:nvPr/>
        </p:nvCxnSpPr>
        <p:spPr>
          <a:xfrm rot="10800000" flipV="1">
            <a:off x="5410200" y="3048000"/>
            <a:ext cx="685800" cy="1524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47" idx="0"/>
            <a:endCxn id="48" idx="2"/>
          </p:cNvCxnSpPr>
          <p:nvPr/>
        </p:nvCxnSpPr>
        <p:spPr>
          <a:xfrm rot="16200000" flipV="1">
            <a:off x="2266950" y="4895850"/>
            <a:ext cx="533400" cy="38100"/>
          </a:xfrm>
          <a:prstGeom prst="straightConnector1">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1905000" y="5181600"/>
            <a:ext cx="1295400" cy="457200"/>
          </a:xfrm>
          <a:prstGeom prst="rect">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Child</a:t>
            </a:r>
          </a:p>
        </p:txBody>
      </p:sp>
      <p:sp>
        <p:nvSpPr>
          <p:cNvPr id="48" name="Diamond 47"/>
          <p:cNvSpPr/>
          <p:nvPr/>
        </p:nvSpPr>
        <p:spPr>
          <a:xfrm>
            <a:off x="1828800" y="3733800"/>
            <a:ext cx="1371600" cy="914400"/>
          </a:xfrm>
          <a:prstGeom prst="diamond">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a:solidFill>
                  <a:schemeClr val="tx1"/>
                </a:solidFill>
              </a:rPr>
              <a:t>Dependent</a:t>
            </a:r>
          </a:p>
        </p:txBody>
      </p:sp>
      <p:sp>
        <p:nvSpPr>
          <p:cNvPr id="52" name="Oval 51"/>
          <p:cNvSpPr/>
          <p:nvPr/>
        </p:nvSpPr>
        <p:spPr>
          <a:xfrm>
            <a:off x="914400" y="58674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dash" dirty="0">
                <a:solidFill>
                  <a:schemeClr val="tx1"/>
                </a:solidFill>
              </a:rPr>
              <a:t>name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3.14</a:t>
            </a:r>
          </a:p>
        </p:txBody>
      </p:sp>
      <p:sp>
        <p:nvSpPr>
          <p:cNvPr id="3" name="Content Placeholder 2"/>
          <p:cNvSpPr>
            <a:spLocks noGrp="1"/>
          </p:cNvSpPr>
          <p:nvPr>
            <p:ph sz="quarter" idx="1"/>
          </p:nvPr>
        </p:nvSpPr>
        <p:spPr>
          <a:xfrm>
            <a:off x="457200" y="1371600"/>
            <a:ext cx="8229600" cy="4876800"/>
          </a:xfrm>
        </p:spPr>
        <p:txBody>
          <a:bodyPr>
            <a:normAutofit/>
          </a:bodyPr>
          <a:lstStyle/>
          <a:p>
            <a:pPr>
              <a:buNone/>
            </a:pPr>
            <a:r>
              <a:rPr lang="en-US" b="1" dirty="0"/>
              <a:t>Solution</a:t>
            </a:r>
          </a:p>
          <a:p>
            <a:r>
              <a:rPr lang="en-US" dirty="0"/>
              <a:t>First we begin with the entities “Employees” and “Departments.</a:t>
            </a:r>
          </a:p>
          <a:p>
            <a:r>
              <a:rPr lang="en-US" dirty="0"/>
              <a:t>Translating these to SQL is straightforward.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3.14</a:t>
            </a:r>
          </a:p>
        </p:txBody>
      </p:sp>
      <p:sp>
        <p:nvSpPr>
          <p:cNvPr id="3" name="Content Placeholder 2"/>
          <p:cNvSpPr>
            <a:spLocks noGrp="1"/>
          </p:cNvSpPr>
          <p:nvPr>
            <p:ph sz="quarter" idx="1"/>
          </p:nvPr>
        </p:nvSpPr>
        <p:spPr>
          <a:xfrm>
            <a:off x="472189" y="1373516"/>
            <a:ext cx="4114800" cy="5105400"/>
          </a:xfrm>
        </p:spPr>
        <p:txBody>
          <a:bodyPr>
            <a:normAutofit/>
          </a:bodyPr>
          <a:lstStyle/>
          <a:p>
            <a:pPr>
              <a:buNone/>
            </a:pPr>
            <a:r>
              <a:rPr lang="en-US" b="1" dirty="0"/>
              <a:t>Solution</a:t>
            </a:r>
          </a:p>
        </p:txBody>
      </p:sp>
      <p:sp>
        <p:nvSpPr>
          <p:cNvPr id="6" name="Rectangle 5"/>
          <p:cNvSpPr/>
          <p:nvPr/>
        </p:nvSpPr>
        <p:spPr>
          <a:xfrm>
            <a:off x="1524000" y="5562600"/>
            <a:ext cx="13716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Departments</a:t>
            </a:r>
          </a:p>
        </p:txBody>
      </p:sp>
      <p:sp>
        <p:nvSpPr>
          <p:cNvPr id="8" name="Rectangle 7"/>
          <p:cNvSpPr/>
          <p:nvPr/>
        </p:nvSpPr>
        <p:spPr>
          <a:xfrm>
            <a:off x="1828800" y="2819400"/>
            <a:ext cx="12954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Employees</a:t>
            </a:r>
          </a:p>
        </p:txBody>
      </p:sp>
      <p:sp>
        <p:nvSpPr>
          <p:cNvPr id="11" name="Oval 10"/>
          <p:cNvSpPr/>
          <p:nvPr/>
        </p:nvSpPr>
        <p:spPr>
          <a:xfrm>
            <a:off x="3200400" y="20574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phone</a:t>
            </a:r>
          </a:p>
        </p:txBody>
      </p:sp>
      <p:sp>
        <p:nvSpPr>
          <p:cNvPr id="12" name="Oval 11"/>
          <p:cNvSpPr/>
          <p:nvPr/>
        </p:nvSpPr>
        <p:spPr>
          <a:xfrm>
            <a:off x="457200" y="22098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err="1">
                <a:solidFill>
                  <a:schemeClr val="tx1"/>
                </a:solidFill>
              </a:rPr>
              <a:t>ssn</a:t>
            </a:r>
            <a:endParaRPr lang="en-US" sz="1600" u="sng" dirty="0">
              <a:solidFill>
                <a:schemeClr val="tx1"/>
              </a:solidFill>
            </a:endParaRPr>
          </a:p>
        </p:txBody>
      </p:sp>
      <p:sp>
        <p:nvSpPr>
          <p:cNvPr id="13" name="Oval 12"/>
          <p:cNvSpPr/>
          <p:nvPr/>
        </p:nvSpPr>
        <p:spPr>
          <a:xfrm>
            <a:off x="1828800" y="19050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salary</a:t>
            </a:r>
          </a:p>
        </p:txBody>
      </p:sp>
      <p:sp>
        <p:nvSpPr>
          <p:cNvPr id="15" name="Oval 14"/>
          <p:cNvSpPr/>
          <p:nvPr/>
        </p:nvSpPr>
        <p:spPr>
          <a:xfrm>
            <a:off x="2895600" y="49530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budget</a:t>
            </a:r>
          </a:p>
        </p:txBody>
      </p:sp>
      <p:sp>
        <p:nvSpPr>
          <p:cNvPr id="16" name="Oval 15"/>
          <p:cNvSpPr/>
          <p:nvPr/>
        </p:nvSpPr>
        <p:spPr>
          <a:xfrm>
            <a:off x="533400" y="48006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err="1">
                <a:solidFill>
                  <a:schemeClr val="tx1"/>
                </a:solidFill>
              </a:rPr>
              <a:t>dno</a:t>
            </a:r>
            <a:endParaRPr lang="en-US" sz="1600" u="sng" dirty="0">
              <a:solidFill>
                <a:schemeClr val="tx1"/>
              </a:solidFill>
            </a:endParaRPr>
          </a:p>
        </p:txBody>
      </p:sp>
      <p:sp>
        <p:nvSpPr>
          <p:cNvPr id="17" name="Oval 16"/>
          <p:cNvSpPr/>
          <p:nvPr/>
        </p:nvSpPr>
        <p:spPr>
          <a:xfrm>
            <a:off x="1828800" y="44196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tx1"/>
                </a:solidFill>
              </a:rPr>
              <a:t>dname</a:t>
            </a:r>
            <a:endParaRPr lang="en-US" sz="1600" dirty="0">
              <a:solidFill>
                <a:schemeClr val="tx1"/>
              </a:solidFill>
            </a:endParaRPr>
          </a:p>
        </p:txBody>
      </p:sp>
      <p:cxnSp>
        <p:nvCxnSpPr>
          <p:cNvPr id="57" name="Straight Connector 56"/>
          <p:cNvCxnSpPr>
            <a:stCxn id="12" idx="5"/>
            <a:endCxn id="8" idx="0"/>
          </p:cNvCxnSpPr>
          <p:nvPr/>
        </p:nvCxnSpPr>
        <p:spPr>
          <a:xfrm rot="16200000" flipH="1">
            <a:off x="1877498" y="2220397"/>
            <a:ext cx="154315" cy="1043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a:stCxn id="13" idx="4"/>
            <a:endCxn id="8" idx="0"/>
          </p:cNvCxnSpPr>
          <p:nvPr/>
        </p:nvCxnSpPr>
        <p:spPr>
          <a:xfrm rot="16200000" flipH="1">
            <a:off x="2247900" y="2590800"/>
            <a:ext cx="381000" cy="76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a:stCxn id="11" idx="3"/>
            <a:endCxn id="8" idx="0"/>
          </p:cNvCxnSpPr>
          <p:nvPr/>
        </p:nvCxnSpPr>
        <p:spPr>
          <a:xfrm rot="5400000">
            <a:off x="2774367" y="2214818"/>
            <a:ext cx="306715" cy="9024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a:stCxn id="16" idx="5"/>
            <a:endCxn id="6" idx="0"/>
          </p:cNvCxnSpPr>
          <p:nvPr/>
        </p:nvCxnSpPr>
        <p:spPr>
          <a:xfrm rot="16200000" flipH="1">
            <a:off x="1706048" y="5058847"/>
            <a:ext cx="306715" cy="7007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a:stCxn id="17" idx="4"/>
            <a:endCxn id="6" idx="0"/>
          </p:cNvCxnSpPr>
          <p:nvPr/>
        </p:nvCxnSpPr>
        <p:spPr>
          <a:xfrm rot="5400000">
            <a:off x="2000250" y="5162550"/>
            <a:ext cx="609600" cy="190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stCxn id="15" idx="3"/>
            <a:endCxn id="6" idx="0"/>
          </p:cNvCxnSpPr>
          <p:nvPr/>
        </p:nvCxnSpPr>
        <p:spPr>
          <a:xfrm rot="5400000">
            <a:off x="2564817" y="5053268"/>
            <a:ext cx="154315" cy="8643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5105400" y="1981200"/>
            <a:ext cx="3352800" cy="3970318"/>
          </a:xfrm>
          <a:prstGeom prst="rect">
            <a:avLst/>
          </a:prstGeom>
          <a:noFill/>
        </p:spPr>
        <p:txBody>
          <a:bodyPr wrap="square" rtlCol="0">
            <a:spAutoFit/>
          </a:bodyPr>
          <a:lstStyle/>
          <a:p>
            <a:r>
              <a:rPr lang="en-US" dirty="0"/>
              <a:t>CREATE TABLE Employees(</a:t>
            </a:r>
          </a:p>
          <a:p>
            <a:r>
              <a:rPr lang="en-US" dirty="0"/>
              <a:t>	</a:t>
            </a:r>
            <a:r>
              <a:rPr lang="en-US" dirty="0" err="1"/>
              <a:t>ssn</a:t>
            </a:r>
            <a:r>
              <a:rPr lang="en-US" dirty="0"/>
              <a:t> CHAR(10),</a:t>
            </a:r>
          </a:p>
          <a:p>
            <a:pPr lvl="2"/>
            <a:r>
              <a:rPr lang="en-US" dirty="0" err="1"/>
              <a:t>sal</a:t>
            </a:r>
            <a:r>
              <a:rPr lang="en-US" dirty="0"/>
              <a:t> INTEGER,</a:t>
            </a:r>
          </a:p>
          <a:p>
            <a:pPr lvl="2"/>
            <a:r>
              <a:rPr lang="en-US" dirty="0"/>
              <a:t>phone CHAR(13),</a:t>
            </a:r>
          </a:p>
          <a:p>
            <a:pPr lvl="2"/>
            <a:r>
              <a:rPr lang="en-US" dirty="0"/>
              <a:t>PRIMARY KEY (</a:t>
            </a:r>
            <a:r>
              <a:rPr lang="en-US" dirty="0" err="1"/>
              <a:t>ssn</a:t>
            </a:r>
            <a:r>
              <a:rPr lang="en-US" dirty="0"/>
              <a:t>) )</a:t>
            </a:r>
          </a:p>
          <a:p>
            <a:endParaRPr lang="en-US" dirty="0"/>
          </a:p>
          <a:p>
            <a:endParaRPr lang="en-US" dirty="0"/>
          </a:p>
          <a:p>
            <a:endParaRPr lang="en-US" dirty="0"/>
          </a:p>
          <a:p>
            <a:endParaRPr lang="en-US" dirty="0"/>
          </a:p>
          <a:p>
            <a:r>
              <a:rPr lang="en-US" dirty="0"/>
              <a:t>CREATE TABLE Departments (</a:t>
            </a:r>
          </a:p>
          <a:p>
            <a:r>
              <a:rPr lang="en-US" dirty="0"/>
              <a:t>	</a:t>
            </a:r>
            <a:r>
              <a:rPr lang="en-US" dirty="0" err="1"/>
              <a:t>dno</a:t>
            </a:r>
            <a:r>
              <a:rPr lang="en-US" dirty="0"/>
              <a:t> INTEGER,</a:t>
            </a:r>
          </a:p>
          <a:p>
            <a:pPr lvl="2"/>
            <a:r>
              <a:rPr lang="en-US" dirty="0"/>
              <a:t>budget INTEGER,</a:t>
            </a:r>
          </a:p>
          <a:p>
            <a:pPr lvl="2"/>
            <a:r>
              <a:rPr lang="en-US" dirty="0" err="1"/>
              <a:t>dname</a:t>
            </a:r>
            <a:r>
              <a:rPr lang="en-US" dirty="0"/>
              <a:t> CHAR(20),</a:t>
            </a:r>
          </a:p>
          <a:p>
            <a:pPr lvl="2"/>
            <a:r>
              <a:rPr lang="en-US" dirty="0"/>
              <a:t>PRIMARY KEY (</a:t>
            </a:r>
            <a:r>
              <a:rPr lang="en-US" dirty="0" err="1"/>
              <a:t>dno</a:t>
            </a:r>
            <a:r>
              <a:rPr lang="en-US"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3.14</a:t>
            </a:r>
          </a:p>
        </p:txBody>
      </p:sp>
      <p:sp>
        <p:nvSpPr>
          <p:cNvPr id="3" name="Content Placeholder 2"/>
          <p:cNvSpPr>
            <a:spLocks noGrp="1"/>
          </p:cNvSpPr>
          <p:nvPr>
            <p:ph sz="quarter" idx="1"/>
          </p:nvPr>
        </p:nvSpPr>
        <p:spPr>
          <a:xfrm>
            <a:off x="457200" y="1371600"/>
            <a:ext cx="8229600" cy="4876800"/>
          </a:xfrm>
        </p:spPr>
        <p:txBody>
          <a:bodyPr>
            <a:normAutofit/>
          </a:bodyPr>
          <a:lstStyle/>
          <a:p>
            <a:pPr>
              <a:buNone/>
            </a:pPr>
            <a:r>
              <a:rPr lang="en-US" b="1" dirty="0"/>
              <a:t>Solution</a:t>
            </a:r>
          </a:p>
          <a:p>
            <a:r>
              <a:rPr lang="en-US" dirty="0"/>
              <a:t>Next, we translate the relationships, Manages and Dependents.</a:t>
            </a:r>
          </a:p>
          <a:p>
            <a:r>
              <a:rPr lang="en-US" dirty="0"/>
              <a:t>We translate each these to a table mapping one entity to another.</a:t>
            </a:r>
          </a:p>
          <a:p>
            <a:r>
              <a:rPr lang="en-US" dirty="0"/>
              <a:t>We also use foreign constraints to make sure every row in the relationship tables refers only to rows that exist in the entity tables.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3.14</a:t>
            </a:r>
          </a:p>
        </p:txBody>
      </p:sp>
      <p:sp>
        <p:nvSpPr>
          <p:cNvPr id="3" name="Content Placeholder 2"/>
          <p:cNvSpPr>
            <a:spLocks noGrp="1"/>
          </p:cNvSpPr>
          <p:nvPr>
            <p:ph sz="quarter" idx="1"/>
          </p:nvPr>
        </p:nvSpPr>
        <p:spPr>
          <a:xfrm>
            <a:off x="457200" y="1371600"/>
            <a:ext cx="8229600" cy="2895600"/>
          </a:xfrm>
        </p:spPr>
        <p:txBody>
          <a:bodyPr>
            <a:normAutofit/>
          </a:bodyPr>
          <a:lstStyle/>
          <a:p>
            <a:pPr>
              <a:buNone/>
            </a:pPr>
            <a:r>
              <a:rPr lang="en-US" b="1" dirty="0"/>
              <a:t>Solution</a:t>
            </a:r>
          </a:p>
        </p:txBody>
      </p:sp>
      <p:sp>
        <p:nvSpPr>
          <p:cNvPr id="6" name="Rectangle 5"/>
          <p:cNvSpPr/>
          <p:nvPr/>
        </p:nvSpPr>
        <p:spPr>
          <a:xfrm>
            <a:off x="6096000" y="2590800"/>
            <a:ext cx="13716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Departments</a:t>
            </a:r>
          </a:p>
        </p:txBody>
      </p:sp>
      <p:sp>
        <p:nvSpPr>
          <p:cNvPr id="8" name="Rectangle 7"/>
          <p:cNvSpPr/>
          <p:nvPr/>
        </p:nvSpPr>
        <p:spPr>
          <a:xfrm>
            <a:off x="1828800" y="2590800"/>
            <a:ext cx="12954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Employees</a:t>
            </a:r>
          </a:p>
        </p:txBody>
      </p:sp>
      <p:sp>
        <p:nvSpPr>
          <p:cNvPr id="11" name="Oval 10"/>
          <p:cNvSpPr/>
          <p:nvPr/>
        </p:nvSpPr>
        <p:spPr>
          <a:xfrm>
            <a:off x="3200400" y="18288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phone</a:t>
            </a:r>
          </a:p>
        </p:txBody>
      </p:sp>
      <p:sp>
        <p:nvSpPr>
          <p:cNvPr id="12" name="Oval 11"/>
          <p:cNvSpPr/>
          <p:nvPr/>
        </p:nvSpPr>
        <p:spPr>
          <a:xfrm>
            <a:off x="457200" y="19812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err="1">
                <a:solidFill>
                  <a:schemeClr val="tx1"/>
                </a:solidFill>
              </a:rPr>
              <a:t>ssn</a:t>
            </a:r>
            <a:endParaRPr lang="en-US" sz="1600" u="sng" dirty="0">
              <a:solidFill>
                <a:schemeClr val="tx1"/>
              </a:solidFill>
            </a:endParaRPr>
          </a:p>
        </p:txBody>
      </p:sp>
      <p:sp>
        <p:nvSpPr>
          <p:cNvPr id="13" name="Oval 12"/>
          <p:cNvSpPr/>
          <p:nvPr/>
        </p:nvSpPr>
        <p:spPr>
          <a:xfrm>
            <a:off x="1828800" y="16764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salary</a:t>
            </a:r>
          </a:p>
        </p:txBody>
      </p:sp>
      <p:sp>
        <p:nvSpPr>
          <p:cNvPr id="15" name="Oval 14"/>
          <p:cNvSpPr/>
          <p:nvPr/>
        </p:nvSpPr>
        <p:spPr>
          <a:xfrm>
            <a:off x="7467600" y="19812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budget</a:t>
            </a:r>
          </a:p>
        </p:txBody>
      </p:sp>
      <p:sp>
        <p:nvSpPr>
          <p:cNvPr id="16" name="Oval 15"/>
          <p:cNvSpPr/>
          <p:nvPr/>
        </p:nvSpPr>
        <p:spPr>
          <a:xfrm>
            <a:off x="5105400" y="18288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err="1">
                <a:solidFill>
                  <a:schemeClr val="tx1"/>
                </a:solidFill>
              </a:rPr>
              <a:t>dno</a:t>
            </a:r>
            <a:endParaRPr lang="en-US" sz="1600" u="sng" dirty="0">
              <a:solidFill>
                <a:schemeClr val="tx1"/>
              </a:solidFill>
            </a:endParaRPr>
          </a:p>
        </p:txBody>
      </p:sp>
      <p:sp>
        <p:nvSpPr>
          <p:cNvPr id="17" name="Oval 16"/>
          <p:cNvSpPr/>
          <p:nvPr/>
        </p:nvSpPr>
        <p:spPr>
          <a:xfrm>
            <a:off x="6400800" y="14478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tx1"/>
                </a:solidFill>
              </a:rPr>
              <a:t>dname</a:t>
            </a:r>
            <a:endParaRPr lang="en-US" sz="1600" dirty="0">
              <a:solidFill>
                <a:schemeClr val="tx1"/>
              </a:solidFill>
            </a:endParaRPr>
          </a:p>
        </p:txBody>
      </p:sp>
      <p:sp>
        <p:nvSpPr>
          <p:cNvPr id="18" name="Diamond 17"/>
          <p:cNvSpPr/>
          <p:nvPr/>
        </p:nvSpPr>
        <p:spPr>
          <a:xfrm>
            <a:off x="4038600" y="22860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a:solidFill>
                  <a:schemeClr val="tx1"/>
                </a:solidFill>
              </a:rPr>
              <a:t>Manages</a:t>
            </a:r>
          </a:p>
        </p:txBody>
      </p:sp>
      <p:sp>
        <p:nvSpPr>
          <p:cNvPr id="19" name="Diamond 18"/>
          <p:cNvSpPr/>
          <p:nvPr/>
        </p:nvSpPr>
        <p:spPr>
          <a:xfrm>
            <a:off x="4114800" y="32766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err="1">
                <a:solidFill>
                  <a:schemeClr val="tx1"/>
                </a:solidFill>
              </a:rPr>
              <a:t>Works_In</a:t>
            </a:r>
            <a:endParaRPr lang="en-US" sz="1600" dirty="0">
              <a:solidFill>
                <a:schemeClr val="tx1"/>
              </a:solidFill>
            </a:endParaRPr>
          </a:p>
        </p:txBody>
      </p:sp>
      <p:cxnSp>
        <p:nvCxnSpPr>
          <p:cNvPr id="43" name="Straight Connector 42"/>
          <p:cNvCxnSpPr>
            <a:stCxn id="8" idx="3"/>
            <a:endCxn id="19" idx="1"/>
          </p:cNvCxnSpPr>
          <p:nvPr/>
        </p:nvCxnSpPr>
        <p:spPr>
          <a:xfrm>
            <a:off x="3124200" y="2819400"/>
            <a:ext cx="990600" cy="914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9" idx="3"/>
            <a:endCxn id="6" idx="1"/>
          </p:cNvCxnSpPr>
          <p:nvPr/>
        </p:nvCxnSpPr>
        <p:spPr>
          <a:xfrm flipV="1">
            <a:off x="5486400" y="2819400"/>
            <a:ext cx="609600" cy="914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8" idx="3"/>
            <a:endCxn id="18" idx="1"/>
          </p:cNvCxnSpPr>
          <p:nvPr/>
        </p:nvCxnSpPr>
        <p:spPr>
          <a:xfrm flipV="1">
            <a:off x="3124200" y="2743200"/>
            <a:ext cx="914400" cy="76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18" idx="3"/>
            <a:endCxn id="6" idx="1"/>
          </p:cNvCxnSpPr>
          <p:nvPr/>
        </p:nvCxnSpPr>
        <p:spPr>
          <a:xfrm>
            <a:off x="5410200" y="2743200"/>
            <a:ext cx="685800" cy="76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12" idx="5"/>
            <a:endCxn id="8" idx="0"/>
          </p:cNvCxnSpPr>
          <p:nvPr/>
        </p:nvCxnSpPr>
        <p:spPr>
          <a:xfrm rot="16200000" flipH="1">
            <a:off x="1877498" y="1991797"/>
            <a:ext cx="154315" cy="1043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a:stCxn id="13" idx="4"/>
            <a:endCxn id="8" idx="0"/>
          </p:cNvCxnSpPr>
          <p:nvPr/>
        </p:nvCxnSpPr>
        <p:spPr>
          <a:xfrm rot="16200000" flipH="1">
            <a:off x="2247900" y="2362200"/>
            <a:ext cx="381000" cy="76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a:stCxn id="11" idx="3"/>
            <a:endCxn id="8" idx="0"/>
          </p:cNvCxnSpPr>
          <p:nvPr/>
        </p:nvCxnSpPr>
        <p:spPr>
          <a:xfrm rot="5400000">
            <a:off x="2774367" y="1986218"/>
            <a:ext cx="306715" cy="9024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a:stCxn id="16" idx="5"/>
            <a:endCxn id="6" idx="0"/>
          </p:cNvCxnSpPr>
          <p:nvPr/>
        </p:nvCxnSpPr>
        <p:spPr>
          <a:xfrm rot="16200000" flipH="1">
            <a:off x="6278048" y="2087047"/>
            <a:ext cx="306715" cy="7007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a:stCxn id="17" idx="4"/>
            <a:endCxn id="6" idx="0"/>
          </p:cNvCxnSpPr>
          <p:nvPr/>
        </p:nvCxnSpPr>
        <p:spPr>
          <a:xfrm rot="5400000">
            <a:off x="6572250" y="2190750"/>
            <a:ext cx="609600" cy="190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stCxn id="15" idx="3"/>
            <a:endCxn id="6" idx="0"/>
          </p:cNvCxnSpPr>
          <p:nvPr/>
        </p:nvCxnSpPr>
        <p:spPr>
          <a:xfrm rot="5400000">
            <a:off x="7136817" y="2081468"/>
            <a:ext cx="154315" cy="8643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6" idx="1"/>
            <a:endCxn id="18" idx="3"/>
          </p:cNvCxnSpPr>
          <p:nvPr/>
        </p:nvCxnSpPr>
        <p:spPr>
          <a:xfrm rot="10800000">
            <a:off x="5410200" y="2743200"/>
            <a:ext cx="685800" cy="762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228600" y="4267200"/>
            <a:ext cx="4800600" cy="2308324"/>
          </a:xfrm>
          <a:prstGeom prst="rect">
            <a:avLst/>
          </a:prstGeom>
          <a:noFill/>
        </p:spPr>
        <p:txBody>
          <a:bodyPr wrap="square" rtlCol="0">
            <a:spAutoFit/>
          </a:bodyPr>
          <a:lstStyle/>
          <a:p>
            <a:r>
              <a:rPr lang="en-US" dirty="0"/>
              <a:t>CREATE TABLE </a:t>
            </a:r>
            <a:r>
              <a:rPr lang="en-US" dirty="0" err="1"/>
              <a:t>Works_in</a:t>
            </a:r>
            <a:r>
              <a:rPr lang="en-US" dirty="0"/>
              <a:t>(</a:t>
            </a:r>
          </a:p>
          <a:p>
            <a:r>
              <a:rPr lang="en-US" dirty="0"/>
              <a:t>	</a:t>
            </a:r>
            <a:r>
              <a:rPr lang="en-US" dirty="0" err="1"/>
              <a:t>ssn</a:t>
            </a:r>
            <a:r>
              <a:rPr lang="en-US" dirty="0"/>
              <a:t> CHAR(10),</a:t>
            </a:r>
          </a:p>
          <a:p>
            <a:r>
              <a:rPr lang="en-US" dirty="0"/>
              <a:t>	</a:t>
            </a:r>
            <a:r>
              <a:rPr lang="en-US" dirty="0" err="1"/>
              <a:t>dno</a:t>
            </a:r>
            <a:r>
              <a:rPr lang="en-US" dirty="0"/>
              <a:t> INTEGER,</a:t>
            </a:r>
          </a:p>
          <a:p>
            <a:r>
              <a:rPr lang="en-US" dirty="0"/>
              <a:t>	PRIMARY KEY (</a:t>
            </a:r>
            <a:r>
              <a:rPr lang="en-US" dirty="0" err="1"/>
              <a:t>ssn</a:t>
            </a:r>
            <a:r>
              <a:rPr lang="en-US" dirty="0"/>
              <a:t>, </a:t>
            </a:r>
            <a:r>
              <a:rPr lang="en-US" dirty="0" err="1"/>
              <a:t>dno</a:t>
            </a:r>
            <a:r>
              <a:rPr lang="en-US" dirty="0"/>
              <a:t>),</a:t>
            </a:r>
          </a:p>
          <a:p>
            <a:r>
              <a:rPr lang="en-US" dirty="0"/>
              <a:t>	FOREIGN KEY (</a:t>
            </a:r>
            <a:r>
              <a:rPr lang="en-US" dirty="0" err="1"/>
              <a:t>ssn</a:t>
            </a:r>
            <a:r>
              <a:rPr lang="en-US" dirty="0"/>
              <a:t>)</a:t>
            </a:r>
          </a:p>
          <a:p>
            <a:r>
              <a:rPr lang="en-US" dirty="0"/>
              <a:t>		REFERENCES  Employees,</a:t>
            </a:r>
          </a:p>
          <a:p>
            <a:r>
              <a:rPr lang="en-US" dirty="0"/>
              <a:t>	FOREIGN KEY (</a:t>
            </a:r>
            <a:r>
              <a:rPr lang="en-US" dirty="0" err="1"/>
              <a:t>dno</a:t>
            </a:r>
            <a:r>
              <a:rPr lang="en-US" dirty="0"/>
              <a:t>)</a:t>
            </a:r>
          </a:p>
          <a:p>
            <a:r>
              <a:rPr lang="en-US" dirty="0"/>
              <a:t>		REFERENCES  Departments)</a:t>
            </a:r>
          </a:p>
        </p:txBody>
      </p:sp>
      <p:sp>
        <p:nvSpPr>
          <p:cNvPr id="50" name="Rectangle 49"/>
          <p:cNvSpPr/>
          <p:nvPr/>
        </p:nvSpPr>
        <p:spPr>
          <a:xfrm>
            <a:off x="4419600" y="4267200"/>
            <a:ext cx="4724400" cy="2308324"/>
          </a:xfrm>
          <a:prstGeom prst="rect">
            <a:avLst/>
          </a:prstGeom>
        </p:spPr>
        <p:txBody>
          <a:bodyPr wrap="square">
            <a:spAutoFit/>
          </a:bodyPr>
          <a:lstStyle/>
          <a:p>
            <a:r>
              <a:rPr lang="en-US" dirty="0"/>
              <a:t>CREATE TABLE Manages (</a:t>
            </a:r>
          </a:p>
          <a:p>
            <a:r>
              <a:rPr lang="en-US" dirty="0"/>
              <a:t>	</a:t>
            </a:r>
            <a:r>
              <a:rPr lang="en-US" dirty="0" err="1"/>
              <a:t>ssn</a:t>
            </a:r>
            <a:r>
              <a:rPr lang="en-US" dirty="0"/>
              <a:t> CHAR(10),</a:t>
            </a:r>
          </a:p>
          <a:p>
            <a:r>
              <a:rPr lang="en-US" dirty="0"/>
              <a:t>	</a:t>
            </a:r>
            <a:r>
              <a:rPr lang="en-US" dirty="0" err="1"/>
              <a:t>dno</a:t>
            </a:r>
            <a:r>
              <a:rPr lang="en-US" dirty="0"/>
              <a:t> INTEGER,</a:t>
            </a:r>
          </a:p>
          <a:p>
            <a:r>
              <a:rPr lang="en-US" dirty="0"/>
              <a:t>	PRIMARY KEY (</a:t>
            </a:r>
            <a:r>
              <a:rPr lang="en-US" dirty="0" err="1"/>
              <a:t>dno</a:t>
            </a:r>
            <a:r>
              <a:rPr lang="en-US" dirty="0"/>
              <a:t>),</a:t>
            </a:r>
          </a:p>
          <a:p>
            <a:r>
              <a:rPr lang="en-US" dirty="0"/>
              <a:t>	FOREIGN KEY (</a:t>
            </a:r>
            <a:r>
              <a:rPr lang="en-US" dirty="0" err="1"/>
              <a:t>ssn</a:t>
            </a:r>
            <a:r>
              <a:rPr lang="en-US" dirty="0"/>
              <a:t>)</a:t>
            </a:r>
          </a:p>
          <a:p>
            <a:r>
              <a:rPr lang="en-US" dirty="0"/>
              <a:t>		REFERENCES  Employees,</a:t>
            </a:r>
          </a:p>
          <a:p>
            <a:r>
              <a:rPr lang="en-US" dirty="0"/>
              <a:t>	FOREIGN KEY (</a:t>
            </a:r>
            <a:r>
              <a:rPr lang="en-US" dirty="0" err="1"/>
              <a:t>dno</a:t>
            </a:r>
            <a:r>
              <a:rPr lang="en-US" dirty="0"/>
              <a:t>)</a:t>
            </a:r>
          </a:p>
          <a:p>
            <a:r>
              <a:rPr lang="en-US" dirty="0"/>
              <a:t>		REFERENCES Departments)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3.14</a:t>
            </a:r>
          </a:p>
        </p:txBody>
      </p:sp>
      <p:sp>
        <p:nvSpPr>
          <p:cNvPr id="3" name="Content Placeholder 2"/>
          <p:cNvSpPr>
            <a:spLocks noGrp="1"/>
          </p:cNvSpPr>
          <p:nvPr>
            <p:ph sz="quarter" idx="1"/>
          </p:nvPr>
        </p:nvSpPr>
        <p:spPr>
          <a:xfrm>
            <a:off x="457200" y="1371600"/>
            <a:ext cx="8229600" cy="4876800"/>
          </a:xfrm>
        </p:spPr>
        <p:txBody>
          <a:bodyPr>
            <a:normAutofit/>
          </a:bodyPr>
          <a:lstStyle/>
          <a:p>
            <a:pPr>
              <a:buNone/>
            </a:pPr>
            <a:r>
              <a:rPr lang="en-US" b="1" dirty="0"/>
              <a:t>Solution</a:t>
            </a:r>
          </a:p>
          <a:p>
            <a:r>
              <a:rPr lang="en-US" dirty="0"/>
              <a:t>Why did we make </a:t>
            </a:r>
            <a:r>
              <a:rPr lang="en-US" i="1" dirty="0" err="1"/>
              <a:t>dno</a:t>
            </a:r>
            <a:r>
              <a:rPr lang="en-US" dirty="0"/>
              <a:t> the primary key for Manages?</a:t>
            </a:r>
          </a:p>
          <a:p>
            <a:r>
              <a:rPr lang="en-US" dirty="0"/>
              <a:t>Since each department can have at most one manager, each </a:t>
            </a:r>
            <a:r>
              <a:rPr lang="en-US" dirty="0" err="1"/>
              <a:t>dno</a:t>
            </a:r>
            <a:r>
              <a:rPr lang="en-US" dirty="0"/>
              <a:t> can appear at most once in the Manages table, making it a key for Manages.</a:t>
            </a:r>
          </a:p>
          <a:p>
            <a:r>
              <a:rPr lang="en-US" dirty="0"/>
              <a:t>Note that if we had made (</a:t>
            </a:r>
            <a:r>
              <a:rPr lang="en-US" dirty="0" err="1"/>
              <a:t>ssn</a:t>
            </a:r>
            <a:r>
              <a:rPr lang="en-US" dirty="0"/>
              <a:t>, </a:t>
            </a:r>
            <a:r>
              <a:rPr lang="en-US" dirty="0" err="1"/>
              <a:t>dno</a:t>
            </a:r>
            <a:r>
              <a:rPr lang="en-US" dirty="0"/>
              <a:t>) the key for Manages, a department could have more than one Manager.</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3.14</a:t>
            </a:r>
          </a:p>
        </p:txBody>
      </p:sp>
      <p:sp>
        <p:nvSpPr>
          <p:cNvPr id="3" name="Content Placeholder 2"/>
          <p:cNvSpPr>
            <a:spLocks noGrp="1"/>
          </p:cNvSpPr>
          <p:nvPr>
            <p:ph sz="quarter" idx="1"/>
          </p:nvPr>
        </p:nvSpPr>
        <p:spPr>
          <a:xfrm>
            <a:off x="457200" y="1371600"/>
            <a:ext cx="8229600" cy="4876800"/>
          </a:xfrm>
        </p:spPr>
        <p:txBody>
          <a:bodyPr>
            <a:normAutofit/>
          </a:bodyPr>
          <a:lstStyle/>
          <a:p>
            <a:pPr>
              <a:buNone/>
            </a:pPr>
            <a:r>
              <a:rPr lang="en-US" b="1" dirty="0"/>
              <a:t>Solution</a:t>
            </a:r>
          </a:p>
          <a:p>
            <a:r>
              <a:rPr lang="en-US" dirty="0"/>
              <a:t>Finally, we translate the weak entity “Child” and its corresponding relationship “Dependent”</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3.14</a:t>
            </a:r>
          </a:p>
        </p:txBody>
      </p:sp>
      <p:sp>
        <p:nvSpPr>
          <p:cNvPr id="3" name="Content Placeholder 2"/>
          <p:cNvSpPr>
            <a:spLocks noGrp="1"/>
          </p:cNvSpPr>
          <p:nvPr>
            <p:ph sz="quarter" idx="1"/>
          </p:nvPr>
        </p:nvSpPr>
        <p:spPr>
          <a:xfrm>
            <a:off x="457200" y="1371600"/>
            <a:ext cx="8229600" cy="5105400"/>
          </a:xfrm>
        </p:spPr>
        <p:txBody>
          <a:bodyPr>
            <a:normAutofit/>
          </a:bodyPr>
          <a:lstStyle/>
          <a:p>
            <a:pPr>
              <a:buNone/>
            </a:pPr>
            <a:r>
              <a:rPr lang="en-US" b="1" dirty="0"/>
              <a:t>Solution</a:t>
            </a:r>
          </a:p>
        </p:txBody>
      </p:sp>
      <p:sp>
        <p:nvSpPr>
          <p:cNvPr id="7" name="Rectangle 6"/>
          <p:cNvSpPr/>
          <p:nvPr/>
        </p:nvSpPr>
        <p:spPr>
          <a:xfrm>
            <a:off x="1905000" y="5181600"/>
            <a:ext cx="12954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Child</a:t>
            </a:r>
          </a:p>
        </p:txBody>
      </p:sp>
      <p:sp>
        <p:nvSpPr>
          <p:cNvPr id="8" name="Rectangle 7"/>
          <p:cNvSpPr/>
          <p:nvPr/>
        </p:nvSpPr>
        <p:spPr>
          <a:xfrm>
            <a:off x="1828800" y="2819400"/>
            <a:ext cx="12954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Employees</a:t>
            </a:r>
          </a:p>
        </p:txBody>
      </p:sp>
      <p:sp>
        <p:nvSpPr>
          <p:cNvPr id="9" name="Oval 8"/>
          <p:cNvSpPr/>
          <p:nvPr/>
        </p:nvSpPr>
        <p:spPr>
          <a:xfrm>
            <a:off x="914400" y="58674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a:solidFill>
                  <a:schemeClr val="tx1"/>
                </a:solidFill>
              </a:rPr>
              <a:t>name</a:t>
            </a:r>
          </a:p>
        </p:txBody>
      </p:sp>
      <p:sp>
        <p:nvSpPr>
          <p:cNvPr id="10" name="Oval 9"/>
          <p:cNvSpPr/>
          <p:nvPr/>
        </p:nvSpPr>
        <p:spPr>
          <a:xfrm>
            <a:off x="3048000" y="58674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age</a:t>
            </a:r>
          </a:p>
        </p:txBody>
      </p:sp>
      <p:sp>
        <p:nvSpPr>
          <p:cNvPr id="11" name="Oval 10"/>
          <p:cNvSpPr/>
          <p:nvPr/>
        </p:nvSpPr>
        <p:spPr>
          <a:xfrm>
            <a:off x="3200400" y="20574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phone</a:t>
            </a:r>
          </a:p>
        </p:txBody>
      </p:sp>
      <p:sp>
        <p:nvSpPr>
          <p:cNvPr id="12" name="Oval 11"/>
          <p:cNvSpPr/>
          <p:nvPr/>
        </p:nvSpPr>
        <p:spPr>
          <a:xfrm>
            <a:off x="457200" y="22098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err="1">
                <a:solidFill>
                  <a:schemeClr val="tx1"/>
                </a:solidFill>
              </a:rPr>
              <a:t>ssn</a:t>
            </a:r>
            <a:endParaRPr lang="en-US" sz="1600" u="sng" dirty="0">
              <a:solidFill>
                <a:schemeClr val="tx1"/>
              </a:solidFill>
            </a:endParaRPr>
          </a:p>
        </p:txBody>
      </p:sp>
      <p:sp>
        <p:nvSpPr>
          <p:cNvPr id="13" name="Oval 12"/>
          <p:cNvSpPr/>
          <p:nvPr/>
        </p:nvSpPr>
        <p:spPr>
          <a:xfrm>
            <a:off x="1828800" y="19050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salary</a:t>
            </a:r>
          </a:p>
        </p:txBody>
      </p:sp>
      <p:sp>
        <p:nvSpPr>
          <p:cNvPr id="14" name="Diamond 13"/>
          <p:cNvSpPr/>
          <p:nvPr/>
        </p:nvSpPr>
        <p:spPr>
          <a:xfrm>
            <a:off x="1828800" y="37338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a:solidFill>
                  <a:schemeClr val="tx1"/>
                </a:solidFill>
              </a:rPr>
              <a:t>Dependent</a:t>
            </a:r>
          </a:p>
        </p:txBody>
      </p:sp>
      <p:cxnSp>
        <p:nvCxnSpPr>
          <p:cNvPr id="21" name="Straight Connector 20"/>
          <p:cNvCxnSpPr>
            <a:stCxn id="7" idx="2"/>
            <a:endCxn id="10" idx="1"/>
          </p:cNvCxnSpPr>
          <p:nvPr/>
        </p:nvCxnSpPr>
        <p:spPr>
          <a:xfrm rot="16200000" flipH="1">
            <a:off x="2730687" y="5460812"/>
            <a:ext cx="306715" cy="662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7" idx="2"/>
            <a:endCxn id="9" idx="7"/>
          </p:cNvCxnSpPr>
          <p:nvPr/>
        </p:nvCxnSpPr>
        <p:spPr>
          <a:xfrm rot="5400000">
            <a:off x="2067999" y="5460813"/>
            <a:ext cx="306715" cy="662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8" idx="2"/>
            <a:endCxn id="14" idx="0"/>
          </p:cNvCxnSpPr>
          <p:nvPr/>
        </p:nvCxnSpPr>
        <p:spPr>
          <a:xfrm rot="16200000" flipH="1">
            <a:off x="2266950" y="3486150"/>
            <a:ext cx="457200" cy="381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14" idx="2"/>
            <a:endCxn id="7" idx="0"/>
          </p:cNvCxnSpPr>
          <p:nvPr/>
        </p:nvCxnSpPr>
        <p:spPr>
          <a:xfrm rot="16200000" flipH="1">
            <a:off x="2266950" y="4895850"/>
            <a:ext cx="533400" cy="381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12" idx="5"/>
            <a:endCxn id="8" idx="0"/>
          </p:cNvCxnSpPr>
          <p:nvPr/>
        </p:nvCxnSpPr>
        <p:spPr>
          <a:xfrm rot="16200000" flipH="1">
            <a:off x="1877498" y="2220397"/>
            <a:ext cx="154315" cy="1043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a:stCxn id="13" idx="4"/>
            <a:endCxn id="8" idx="0"/>
          </p:cNvCxnSpPr>
          <p:nvPr/>
        </p:nvCxnSpPr>
        <p:spPr>
          <a:xfrm rot="16200000" flipH="1">
            <a:off x="2247900" y="2590800"/>
            <a:ext cx="381000" cy="76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a:stCxn id="11" idx="3"/>
            <a:endCxn id="8" idx="0"/>
          </p:cNvCxnSpPr>
          <p:nvPr/>
        </p:nvCxnSpPr>
        <p:spPr>
          <a:xfrm rot="5400000">
            <a:off x="2774367" y="2214818"/>
            <a:ext cx="306715" cy="9024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47" idx="0"/>
            <a:endCxn id="48" idx="2"/>
          </p:cNvCxnSpPr>
          <p:nvPr/>
        </p:nvCxnSpPr>
        <p:spPr>
          <a:xfrm rot="16200000" flipV="1">
            <a:off x="2266950" y="4895850"/>
            <a:ext cx="533400" cy="38100"/>
          </a:xfrm>
          <a:prstGeom prst="straightConnector1">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1905000" y="5181600"/>
            <a:ext cx="1295400" cy="457200"/>
          </a:xfrm>
          <a:prstGeom prst="rect">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Child</a:t>
            </a:r>
          </a:p>
        </p:txBody>
      </p:sp>
      <p:sp>
        <p:nvSpPr>
          <p:cNvPr id="48" name="Diamond 47"/>
          <p:cNvSpPr/>
          <p:nvPr/>
        </p:nvSpPr>
        <p:spPr>
          <a:xfrm>
            <a:off x="1828800" y="3733800"/>
            <a:ext cx="1371600" cy="914400"/>
          </a:xfrm>
          <a:prstGeom prst="diamond">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a:solidFill>
                  <a:schemeClr val="tx1"/>
                </a:solidFill>
              </a:rPr>
              <a:t>Dependent</a:t>
            </a:r>
          </a:p>
        </p:txBody>
      </p:sp>
      <p:sp>
        <p:nvSpPr>
          <p:cNvPr id="52" name="Oval 51"/>
          <p:cNvSpPr/>
          <p:nvPr/>
        </p:nvSpPr>
        <p:spPr>
          <a:xfrm>
            <a:off x="914400" y="58674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dash" dirty="0">
                <a:solidFill>
                  <a:schemeClr val="tx1"/>
                </a:solidFill>
              </a:rPr>
              <a:t>name</a:t>
            </a:r>
          </a:p>
        </p:txBody>
      </p:sp>
      <p:sp>
        <p:nvSpPr>
          <p:cNvPr id="67" name="TextBox 66"/>
          <p:cNvSpPr txBox="1"/>
          <p:nvPr/>
        </p:nvSpPr>
        <p:spPr>
          <a:xfrm>
            <a:off x="3962400" y="2971800"/>
            <a:ext cx="4495800" cy="2308324"/>
          </a:xfrm>
          <a:prstGeom prst="rect">
            <a:avLst/>
          </a:prstGeom>
          <a:noFill/>
        </p:spPr>
        <p:txBody>
          <a:bodyPr wrap="square" rtlCol="0">
            <a:spAutoFit/>
          </a:bodyPr>
          <a:lstStyle/>
          <a:p>
            <a:r>
              <a:rPr lang="en-US" dirty="0"/>
              <a:t>CREATE TABLE Dependents(</a:t>
            </a:r>
          </a:p>
          <a:p>
            <a:r>
              <a:rPr lang="en-US" dirty="0"/>
              <a:t>	</a:t>
            </a:r>
            <a:r>
              <a:rPr lang="en-US" dirty="0" err="1"/>
              <a:t>ssn</a:t>
            </a:r>
            <a:r>
              <a:rPr lang="en-US" dirty="0"/>
              <a:t> CHAR(10),</a:t>
            </a:r>
          </a:p>
          <a:p>
            <a:r>
              <a:rPr lang="en-US" dirty="0"/>
              <a:t>	name CHAR(10),</a:t>
            </a:r>
          </a:p>
          <a:p>
            <a:r>
              <a:rPr lang="en-US" dirty="0"/>
              <a:t>	age INTEGER,</a:t>
            </a:r>
          </a:p>
          <a:p>
            <a:pPr lvl="2"/>
            <a:r>
              <a:rPr lang="en-US" dirty="0"/>
              <a:t>PRIMARY KEY (</a:t>
            </a:r>
            <a:r>
              <a:rPr lang="en-US" dirty="0" err="1"/>
              <a:t>ssn</a:t>
            </a:r>
            <a:r>
              <a:rPr lang="en-US" dirty="0"/>
              <a:t>, name),</a:t>
            </a:r>
          </a:p>
          <a:p>
            <a:pPr lvl="2"/>
            <a:r>
              <a:rPr lang="en-US" dirty="0"/>
              <a:t>FOREIGN KEY (</a:t>
            </a:r>
            <a:r>
              <a:rPr lang="en-US" dirty="0" err="1"/>
              <a:t>ssn</a:t>
            </a:r>
            <a:r>
              <a:rPr lang="en-US" dirty="0"/>
              <a:t>)                                 	REFERENCES Employees,</a:t>
            </a:r>
          </a:p>
          <a:p>
            <a:pPr lvl="2"/>
            <a:r>
              <a:rPr lang="en-US" dirty="0"/>
              <a:t>	ON DELETE CASCADE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3.18</a:t>
            </a:r>
          </a:p>
        </p:txBody>
      </p:sp>
      <p:sp>
        <p:nvSpPr>
          <p:cNvPr id="3" name="Content Placeholder 2"/>
          <p:cNvSpPr>
            <a:spLocks noGrp="1"/>
          </p:cNvSpPr>
          <p:nvPr>
            <p:ph sz="quarter" idx="1"/>
          </p:nvPr>
        </p:nvSpPr>
        <p:spPr>
          <a:xfrm>
            <a:off x="457200" y="1371600"/>
            <a:ext cx="8229600" cy="4876800"/>
          </a:xfrm>
        </p:spPr>
        <p:txBody>
          <a:bodyPr>
            <a:normAutofit/>
          </a:bodyPr>
          <a:lstStyle/>
          <a:p>
            <a:pPr>
              <a:buNone/>
            </a:pPr>
            <a:r>
              <a:rPr lang="en-US" b="1" dirty="0"/>
              <a:t>Problem</a:t>
            </a:r>
          </a:p>
          <a:p>
            <a:r>
              <a:rPr lang="en-US" dirty="0"/>
              <a:t>Write SQL statements to create the corresponding relations to the ER diagram you designed for Exercise 2.8. If your translation cannot capture any constraints in the ER diagram, explain why.</a:t>
            </a:r>
            <a:endParaRPr lang="en-US" b="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3.18</a:t>
            </a:r>
          </a:p>
        </p:txBody>
      </p:sp>
      <p:sp>
        <p:nvSpPr>
          <p:cNvPr id="3" name="Content Placeholder 2"/>
          <p:cNvSpPr>
            <a:spLocks noGrp="1"/>
          </p:cNvSpPr>
          <p:nvPr>
            <p:ph sz="quarter" idx="1"/>
          </p:nvPr>
        </p:nvSpPr>
        <p:spPr>
          <a:xfrm>
            <a:off x="457200" y="1371600"/>
            <a:ext cx="8229600" cy="5105400"/>
          </a:xfrm>
        </p:spPr>
        <p:txBody>
          <a:bodyPr>
            <a:normAutofit/>
          </a:bodyPr>
          <a:lstStyle/>
          <a:p>
            <a:pPr>
              <a:buNone/>
            </a:pPr>
            <a:r>
              <a:rPr lang="en-US" b="1" dirty="0"/>
              <a:t>ER Diagram from Exercise 2.8 </a:t>
            </a:r>
          </a:p>
          <a:p>
            <a:pPr>
              <a:buNone/>
            </a:pPr>
            <a:endParaRPr lang="en-US" b="1" dirty="0"/>
          </a:p>
        </p:txBody>
      </p:sp>
      <p:cxnSp>
        <p:nvCxnSpPr>
          <p:cNvPr id="35" name="Straight Arrow Connector 34"/>
          <p:cNvCxnSpPr>
            <a:stCxn id="65" idx="2"/>
            <a:endCxn id="72" idx="0"/>
          </p:cNvCxnSpPr>
          <p:nvPr/>
        </p:nvCxnSpPr>
        <p:spPr>
          <a:xfrm rot="5400000">
            <a:off x="7162800" y="3733800"/>
            <a:ext cx="457200" cy="1588"/>
          </a:xfrm>
          <a:prstGeom prst="straightConnector1">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5" name="Rectangle 64"/>
          <p:cNvSpPr/>
          <p:nvPr/>
        </p:nvSpPr>
        <p:spPr>
          <a:xfrm>
            <a:off x="6705600" y="3048000"/>
            <a:ext cx="13716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Artwork</a:t>
            </a:r>
          </a:p>
        </p:txBody>
      </p:sp>
      <p:sp>
        <p:nvSpPr>
          <p:cNvPr id="66" name="Rectangle 65"/>
          <p:cNvSpPr/>
          <p:nvPr/>
        </p:nvSpPr>
        <p:spPr>
          <a:xfrm>
            <a:off x="2971800" y="3048000"/>
            <a:ext cx="13716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Group</a:t>
            </a:r>
          </a:p>
        </p:txBody>
      </p:sp>
      <p:sp>
        <p:nvSpPr>
          <p:cNvPr id="67" name="Rectangle 66"/>
          <p:cNvSpPr/>
          <p:nvPr/>
        </p:nvSpPr>
        <p:spPr>
          <a:xfrm>
            <a:off x="914400" y="4191000"/>
            <a:ext cx="13716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Customer</a:t>
            </a:r>
          </a:p>
        </p:txBody>
      </p:sp>
      <p:sp>
        <p:nvSpPr>
          <p:cNvPr id="68" name="Rectangle 67"/>
          <p:cNvSpPr/>
          <p:nvPr/>
        </p:nvSpPr>
        <p:spPr>
          <a:xfrm>
            <a:off x="4724400" y="4191000"/>
            <a:ext cx="13716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Artist</a:t>
            </a:r>
          </a:p>
        </p:txBody>
      </p:sp>
      <p:sp>
        <p:nvSpPr>
          <p:cNvPr id="69" name="Diamond 68"/>
          <p:cNvSpPr/>
          <p:nvPr/>
        </p:nvSpPr>
        <p:spPr>
          <a:xfrm>
            <a:off x="914400" y="28194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err="1">
                <a:solidFill>
                  <a:schemeClr val="tx1"/>
                </a:solidFill>
              </a:rPr>
              <a:t>Like_Group</a:t>
            </a:r>
            <a:endParaRPr lang="en-US" sz="1600" dirty="0">
              <a:solidFill>
                <a:schemeClr val="tx1"/>
              </a:solidFill>
            </a:endParaRPr>
          </a:p>
        </p:txBody>
      </p:sp>
      <p:sp>
        <p:nvSpPr>
          <p:cNvPr id="70" name="Diamond 69"/>
          <p:cNvSpPr/>
          <p:nvPr/>
        </p:nvSpPr>
        <p:spPr>
          <a:xfrm>
            <a:off x="4724400" y="28194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a:solidFill>
                  <a:schemeClr val="tx1"/>
                </a:solidFill>
              </a:rPr>
              <a:t>Classify</a:t>
            </a:r>
          </a:p>
        </p:txBody>
      </p:sp>
      <p:sp>
        <p:nvSpPr>
          <p:cNvPr id="72" name="Diamond 71"/>
          <p:cNvSpPr/>
          <p:nvPr/>
        </p:nvSpPr>
        <p:spPr>
          <a:xfrm>
            <a:off x="6705600" y="39624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a:solidFill>
                  <a:schemeClr val="tx1"/>
                </a:solidFill>
              </a:rPr>
              <a:t>Paints</a:t>
            </a:r>
          </a:p>
        </p:txBody>
      </p:sp>
      <p:sp>
        <p:nvSpPr>
          <p:cNvPr id="73" name="Diamond 72"/>
          <p:cNvSpPr/>
          <p:nvPr/>
        </p:nvSpPr>
        <p:spPr>
          <a:xfrm>
            <a:off x="2971800" y="39624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err="1">
                <a:solidFill>
                  <a:schemeClr val="tx1"/>
                </a:solidFill>
              </a:rPr>
              <a:t>Like_Artist</a:t>
            </a:r>
            <a:endParaRPr lang="en-US" sz="1600" dirty="0">
              <a:solidFill>
                <a:schemeClr val="tx1"/>
              </a:solidFill>
            </a:endParaRPr>
          </a:p>
        </p:txBody>
      </p:sp>
      <p:cxnSp>
        <p:nvCxnSpPr>
          <p:cNvPr id="75" name="Straight Connector 74"/>
          <p:cNvCxnSpPr>
            <a:stCxn id="67" idx="0"/>
            <a:endCxn id="69" idx="2"/>
          </p:cNvCxnSpPr>
          <p:nvPr/>
        </p:nvCxnSpPr>
        <p:spPr>
          <a:xfrm rot="5400000" flipH="1" flipV="1">
            <a:off x="1371600" y="3962400"/>
            <a:ext cx="457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66" idx="1"/>
            <a:endCxn id="69" idx="3"/>
          </p:cNvCxnSpPr>
          <p:nvPr/>
        </p:nvCxnSpPr>
        <p:spPr>
          <a:xfrm rot="10800000">
            <a:off x="2286000" y="3276600"/>
            <a:ext cx="685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a:stCxn id="70" idx="1"/>
            <a:endCxn id="66" idx="3"/>
          </p:cNvCxnSpPr>
          <p:nvPr/>
        </p:nvCxnSpPr>
        <p:spPr>
          <a:xfrm rot="10800000">
            <a:off x="4343400" y="3276600"/>
            <a:ext cx="381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65" idx="1"/>
            <a:endCxn id="70" idx="3"/>
          </p:cNvCxnSpPr>
          <p:nvPr/>
        </p:nvCxnSpPr>
        <p:spPr>
          <a:xfrm rot="10800000">
            <a:off x="6096000" y="3276600"/>
            <a:ext cx="60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68" idx="3"/>
            <a:endCxn id="72" idx="1"/>
          </p:cNvCxnSpPr>
          <p:nvPr/>
        </p:nvCxnSpPr>
        <p:spPr>
          <a:xfrm>
            <a:off x="6096000" y="4419600"/>
            <a:ext cx="60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68" idx="1"/>
            <a:endCxn id="73" idx="3"/>
          </p:cNvCxnSpPr>
          <p:nvPr/>
        </p:nvCxnSpPr>
        <p:spPr>
          <a:xfrm rot="10800000">
            <a:off x="4343400" y="4419600"/>
            <a:ext cx="381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a:stCxn id="67" idx="3"/>
            <a:endCxn id="73" idx="1"/>
          </p:cNvCxnSpPr>
          <p:nvPr/>
        </p:nvCxnSpPr>
        <p:spPr>
          <a:xfrm>
            <a:off x="2286000" y="4419600"/>
            <a:ext cx="685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Oval 110"/>
          <p:cNvSpPr/>
          <p:nvPr/>
        </p:nvSpPr>
        <p:spPr>
          <a:xfrm>
            <a:off x="3048000" y="20574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a:solidFill>
                  <a:schemeClr val="tx1"/>
                </a:solidFill>
              </a:rPr>
              <a:t>name</a:t>
            </a:r>
          </a:p>
        </p:txBody>
      </p:sp>
      <p:sp>
        <p:nvSpPr>
          <p:cNvPr id="112" name="Oval 111"/>
          <p:cNvSpPr/>
          <p:nvPr/>
        </p:nvSpPr>
        <p:spPr>
          <a:xfrm>
            <a:off x="6553200" y="2133600"/>
            <a:ext cx="9144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a:solidFill>
                  <a:schemeClr val="tx1"/>
                </a:solidFill>
              </a:rPr>
              <a:t>title</a:t>
            </a:r>
          </a:p>
        </p:txBody>
      </p:sp>
      <p:sp>
        <p:nvSpPr>
          <p:cNvPr id="113" name="Oval 112"/>
          <p:cNvSpPr/>
          <p:nvPr/>
        </p:nvSpPr>
        <p:spPr>
          <a:xfrm>
            <a:off x="7315200" y="1752600"/>
            <a:ext cx="10668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type</a:t>
            </a:r>
          </a:p>
        </p:txBody>
      </p:sp>
      <p:sp>
        <p:nvSpPr>
          <p:cNvPr id="114" name="Oval 113"/>
          <p:cNvSpPr/>
          <p:nvPr/>
        </p:nvSpPr>
        <p:spPr>
          <a:xfrm>
            <a:off x="7696200" y="2362200"/>
            <a:ext cx="9906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price</a:t>
            </a:r>
          </a:p>
        </p:txBody>
      </p:sp>
      <p:sp>
        <p:nvSpPr>
          <p:cNvPr id="115" name="Oval 114"/>
          <p:cNvSpPr/>
          <p:nvPr/>
        </p:nvSpPr>
        <p:spPr>
          <a:xfrm>
            <a:off x="5486400" y="1828800"/>
            <a:ext cx="10668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year</a:t>
            </a:r>
          </a:p>
        </p:txBody>
      </p:sp>
      <p:cxnSp>
        <p:nvCxnSpPr>
          <p:cNvPr id="116" name="Straight Connector 115"/>
          <p:cNvCxnSpPr>
            <a:stCxn id="114" idx="4"/>
            <a:endCxn id="65" idx="0"/>
          </p:cNvCxnSpPr>
          <p:nvPr/>
        </p:nvCxnSpPr>
        <p:spPr>
          <a:xfrm rot="5400000">
            <a:off x="7715250" y="2571750"/>
            <a:ext cx="152400" cy="8001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a:endCxn id="65" idx="0"/>
          </p:cNvCxnSpPr>
          <p:nvPr/>
        </p:nvCxnSpPr>
        <p:spPr>
          <a:xfrm rot="5400000">
            <a:off x="7162800" y="2514600"/>
            <a:ext cx="762000" cy="3048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a:stCxn id="112" idx="5"/>
            <a:endCxn id="65" idx="0"/>
          </p:cNvCxnSpPr>
          <p:nvPr/>
        </p:nvCxnSpPr>
        <p:spPr>
          <a:xfrm rot="16200000" flipH="1">
            <a:off x="7132987" y="2789586"/>
            <a:ext cx="459115" cy="577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a:stCxn id="65" idx="0"/>
            <a:endCxn id="115" idx="4"/>
          </p:cNvCxnSpPr>
          <p:nvPr/>
        </p:nvCxnSpPr>
        <p:spPr>
          <a:xfrm rot="16200000" flipV="1">
            <a:off x="6362700" y="2019300"/>
            <a:ext cx="685800" cy="1371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a:stCxn id="111" idx="4"/>
            <a:endCxn id="66" idx="0"/>
          </p:cNvCxnSpPr>
          <p:nvPr/>
        </p:nvCxnSpPr>
        <p:spPr>
          <a:xfrm rot="16200000" flipH="1">
            <a:off x="3409950" y="2800350"/>
            <a:ext cx="457200" cy="381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7" name="Oval 156"/>
          <p:cNvSpPr/>
          <p:nvPr/>
        </p:nvSpPr>
        <p:spPr>
          <a:xfrm>
            <a:off x="4876800" y="54102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600" dirty="0">
                <a:solidFill>
                  <a:schemeClr val="tx1"/>
                </a:solidFill>
              </a:rPr>
              <a:t>birthplace</a:t>
            </a:r>
          </a:p>
        </p:txBody>
      </p:sp>
      <p:sp>
        <p:nvSpPr>
          <p:cNvPr id="158" name="Oval 157"/>
          <p:cNvSpPr/>
          <p:nvPr/>
        </p:nvSpPr>
        <p:spPr>
          <a:xfrm>
            <a:off x="6019800" y="47244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style</a:t>
            </a:r>
          </a:p>
        </p:txBody>
      </p:sp>
      <p:sp>
        <p:nvSpPr>
          <p:cNvPr id="159" name="Oval 158"/>
          <p:cNvSpPr/>
          <p:nvPr/>
        </p:nvSpPr>
        <p:spPr>
          <a:xfrm>
            <a:off x="6172200" y="54102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age</a:t>
            </a:r>
          </a:p>
        </p:txBody>
      </p:sp>
      <p:sp>
        <p:nvSpPr>
          <p:cNvPr id="160" name="Oval 159"/>
          <p:cNvSpPr/>
          <p:nvPr/>
        </p:nvSpPr>
        <p:spPr>
          <a:xfrm>
            <a:off x="4114800" y="48768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a:solidFill>
                  <a:schemeClr val="tx1"/>
                </a:solidFill>
              </a:rPr>
              <a:t>name</a:t>
            </a:r>
          </a:p>
        </p:txBody>
      </p:sp>
      <p:sp>
        <p:nvSpPr>
          <p:cNvPr id="161" name="Oval 160"/>
          <p:cNvSpPr/>
          <p:nvPr/>
        </p:nvSpPr>
        <p:spPr>
          <a:xfrm>
            <a:off x="1447800" y="56388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name</a:t>
            </a:r>
          </a:p>
        </p:txBody>
      </p:sp>
      <p:sp>
        <p:nvSpPr>
          <p:cNvPr id="162" name="Oval 161"/>
          <p:cNvSpPr/>
          <p:nvPr/>
        </p:nvSpPr>
        <p:spPr>
          <a:xfrm>
            <a:off x="2286000" y="48006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address</a:t>
            </a:r>
          </a:p>
        </p:txBody>
      </p:sp>
      <p:sp>
        <p:nvSpPr>
          <p:cNvPr id="163" name="Oval 162"/>
          <p:cNvSpPr/>
          <p:nvPr/>
        </p:nvSpPr>
        <p:spPr>
          <a:xfrm>
            <a:off x="2819400" y="54864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amount</a:t>
            </a:r>
          </a:p>
        </p:txBody>
      </p:sp>
      <p:sp>
        <p:nvSpPr>
          <p:cNvPr id="164" name="Oval 163"/>
          <p:cNvSpPr/>
          <p:nvPr/>
        </p:nvSpPr>
        <p:spPr>
          <a:xfrm>
            <a:off x="457200" y="49530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err="1">
                <a:solidFill>
                  <a:schemeClr val="tx1"/>
                </a:solidFill>
              </a:rPr>
              <a:t>cust_id</a:t>
            </a:r>
            <a:endParaRPr lang="en-US" sz="1600" u="sng" dirty="0">
              <a:solidFill>
                <a:schemeClr val="tx1"/>
              </a:solidFill>
            </a:endParaRPr>
          </a:p>
        </p:txBody>
      </p:sp>
      <p:cxnSp>
        <p:nvCxnSpPr>
          <p:cNvPr id="178" name="Straight Connector 177"/>
          <p:cNvCxnSpPr>
            <a:stCxn id="67" idx="2"/>
            <a:endCxn id="164" idx="7"/>
          </p:cNvCxnSpPr>
          <p:nvPr/>
        </p:nvCxnSpPr>
        <p:spPr>
          <a:xfrm rot="5400000">
            <a:off x="1357569" y="4788483"/>
            <a:ext cx="382915" cy="1023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a:stCxn id="67" idx="2"/>
            <a:endCxn id="161" idx="0"/>
          </p:cNvCxnSpPr>
          <p:nvPr/>
        </p:nvCxnSpPr>
        <p:spPr>
          <a:xfrm rot="16200000" flipH="1">
            <a:off x="1333500" y="4914900"/>
            <a:ext cx="990600"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a:stCxn id="163" idx="2"/>
            <a:endCxn id="67" idx="2"/>
          </p:cNvCxnSpPr>
          <p:nvPr/>
        </p:nvCxnSpPr>
        <p:spPr>
          <a:xfrm rot="10800000">
            <a:off x="1600200" y="4648200"/>
            <a:ext cx="1219200" cy="11049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a:stCxn id="162" idx="1"/>
            <a:endCxn id="67" idx="2"/>
          </p:cNvCxnSpPr>
          <p:nvPr/>
        </p:nvCxnSpPr>
        <p:spPr>
          <a:xfrm rot="16200000" flipV="1">
            <a:off x="1917117" y="4331284"/>
            <a:ext cx="230515" cy="8643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a:stCxn id="68" idx="2"/>
            <a:endCxn id="158" idx="1"/>
          </p:cNvCxnSpPr>
          <p:nvPr/>
        </p:nvCxnSpPr>
        <p:spPr>
          <a:xfrm rot="16200000" flipH="1">
            <a:off x="5727117" y="4331283"/>
            <a:ext cx="154315" cy="7881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a:stCxn id="68" idx="2"/>
            <a:endCxn id="159" idx="1"/>
          </p:cNvCxnSpPr>
          <p:nvPr/>
        </p:nvCxnSpPr>
        <p:spPr>
          <a:xfrm rot="16200000" flipH="1">
            <a:off x="5460417" y="4597983"/>
            <a:ext cx="840115" cy="9405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a:stCxn id="68" idx="2"/>
            <a:endCxn id="157" idx="0"/>
          </p:cNvCxnSpPr>
          <p:nvPr/>
        </p:nvCxnSpPr>
        <p:spPr>
          <a:xfrm rot="16200000" flipH="1">
            <a:off x="5067300" y="4991100"/>
            <a:ext cx="762000" cy="76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p:cNvCxnSpPr>
            <a:stCxn id="68" idx="2"/>
            <a:endCxn id="160" idx="7"/>
          </p:cNvCxnSpPr>
          <p:nvPr/>
        </p:nvCxnSpPr>
        <p:spPr>
          <a:xfrm rot="5400000">
            <a:off x="5129469" y="4674183"/>
            <a:ext cx="306715" cy="254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3.18</a:t>
            </a:r>
          </a:p>
        </p:txBody>
      </p:sp>
      <p:sp>
        <p:nvSpPr>
          <p:cNvPr id="3" name="Content Placeholder 2"/>
          <p:cNvSpPr>
            <a:spLocks noGrp="1"/>
          </p:cNvSpPr>
          <p:nvPr>
            <p:ph sz="quarter" idx="1"/>
          </p:nvPr>
        </p:nvSpPr>
        <p:spPr>
          <a:xfrm>
            <a:off x="457200" y="1371600"/>
            <a:ext cx="8229600" cy="4876800"/>
          </a:xfrm>
        </p:spPr>
        <p:txBody>
          <a:bodyPr>
            <a:normAutofit/>
          </a:bodyPr>
          <a:lstStyle/>
          <a:p>
            <a:pPr>
              <a:buNone/>
            </a:pPr>
            <a:r>
              <a:rPr lang="en-US" b="1" dirty="0"/>
              <a:t>Solution</a:t>
            </a:r>
          </a:p>
          <a:p>
            <a:r>
              <a:rPr lang="en-US" dirty="0"/>
              <a:t>The entities are translated similarly to Exercise 3.4. Since these are fairly simple, we shall skip them.</a:t>
            </a:r>
          </a:p>
          <a:p>
            <a:r>
              <a:rPr lang="en-US" dirty="0"/>
              <a:t>Now, we shall translate the relationships.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3.18</a:t>
            </a:r>
          </a:p>
        </p:txBody>
      </p:sp>
      <p:sp>
        <p:nvSpPr>
          <p:cNvPr id="3" name="Content Placeholder 2"/>
          <p:cNvSpPr>
            <a:spLocks noGrp="1"/>
          </p:cNvSpPr>
          <p:nvPr>
            <p:ph sz="quarter" idx="1"/>
          </p:nvPr>
        </p:nvSpPr>
        <p:spPr>
          <a:xfrm>
            <a:off x="457200" y="1371600"/>
            <a:ext cx="8229600" cy="5105400"/>
          </a:xfrm>
        </p:spPr>
        <p:txBody>
          <a:bodyPr>
            <a:normAutofit/>
          </a:bodyPr>
          <a:lstStyle/>
          <a:p>
            <a:pPr>
              <a:buNone/>
            </a:pPr>
            <a:r>
              <a:rPr lang="en-US" b="1" dirty="0"/>
              <a:t>Solution</a:t>
            </a:r>
          </a:p>
        </p:txBody>
      </p:sp>
      <p:sp>
        <p:nvSpPr>
          <p:cNvPr id="66" name="Rectangle 65"/>
          <p:cNvSpPr/>
          <p:nvPr/>
        </p:nvSpPr>
        <p:spPr>
          <a:xfrm>
            <a:off x="2971800" y="3048000"/>
            <a:ext cx="13716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Group</a:t>
            </a:r>
          </a:p>
        </p:txBody>
      </p:sp>
      <p:sp>
        <p:nvSpPr>
          <p:cNvPr id="67" name="Rectangle 66"/>
          <p:cNvSpPr/>
          <p:nvPr/>
        </p:nvSpPr>
        <p:spPr>
          <a:xfrm>
            <a:off x="914400" y="4191000"/>
            <a:ext cx="13716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Customer</a:t>
            </a:r>
          </a:p>
        </p:txBody>
      </p:sp>
      <p:sp>
        <p:nvSpPr>
          <p:cNvPr id="69" name="Diamond 68"/>
          <p:cNvSpPr/>
          <p:nvPr/>
        </p:nvSpPr>
        <p:spPr>
          <a:xfrm>
            <a:off x="914400" y="28194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err="1">
                <a:solidFill>
                  <a:schemeClr val="tx1"/>
                </a:solidFill>
              </a:rPr>
              <a:t>Like_Group</a:t>
            </a:r>
            <a:endParaRPr lang="en-US" sz="1600" dirty="0">
              <a:solidFill>
                <a:schemeClr val="tx1"/>
              </a:solidFill>
            </a:endParaRPr>
          </a:p>
        </p:txBody>
      </p:sp>
      <p:cxnSp>
        <p:nvCxnSpPr>
          <p:cNvPr id="75" name="Straight Connector 74"/>
          <p:cNvCxnSpPr>
            <a:stCxn id="67" idx="0"/>
            <a:endCxn id="69" idx="2"/>
          </p:cNvCxnSpPr>
          <p:nvPr/>
        </p:nvCxnSpPr>
        <p:spPr>
          <a:xfrm rot="5400000" flipH="1" flipV="1">
            <a:off x="1371600" y="3962400"/>
            <a:ext cx="457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66" idx="1"/>
            <a:endCxn id="69" idx="3"/>
          </p:cNvCxnSpPr>
          <p:nvPr/>
        </p:nvCxnSpPr>
        <p:spPr>
          <a:xfrm rot="10800000">
            <a:off x="2286000" y="3276600"/>
            <a:ext cx="685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Oval 110"/>
          <p:cNvSpPr/>
          <p:nvPr/>
        </p:nvSpPr>
        <p:spPr>
          <a:xfrm>
            <a:off x="3048000" y="20574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a:solidFill>
                  <a:schemeClr val="tx1"/>
                </a:solidFill>
              </a:rPr>
              <a:t>name</a:t>
            </a:r>
          </a:p>
        </p:txBody>
      </p:sp>
      <p:cxnSp>
        <p:nvCxnSpPr>
          <p:cNvPr id="150" name="Straight Connector 149"/>
          <p:cNvCxnSpPr>
            <a:stCxn id="111" idx="4"/>
            <a:endCxn id="66" idx="0"/>
          </p:cNvCxnSpPr>
          <p:nvPr/>
        </p:nvCxnSpPr>
        <p:spPr>
          <a:xfrm rot="16200000" flipH="1">
            <a:off x="3409950" y="2800350"/>
            <a:ext cx="457200" cy="381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1" name="Oval 160"/>
          <p:cNvSpPr/>
          <p:nvPr/>
        </p:nvSpPr>
        <p:spPr>
          <a:xfrm>
            <a:off x="1447800" y="56388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name</a:t>
            </a:r>
          </a:p>
        </p:txBody>
      </p:sp>
      <p:sp>
        <p:nvSpPr>
          <p:cNvPr id="162" name="Oval 161"/>
          <p:cNvSpPr/>
          <p:nvPr/>
        </p:nvSpPr>
        <p:spPr>
          <a:xfrm>
            <a:off x="2286000" y="48006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address</a:t>
            </a:r>
          </a:p>
        </p:txBody>
      </p:sp>
      <p:sp>
        <p:nvSpPr>
          <p:cNvPr id="163" name="Oval 162"/>
          <p:cNvSpPr/>
          <p:nvPr/>
        </p:nvSpPr>
        <p:spPr>
          <a:xfrm>
            <a:off x="2819400" y="54864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amount</a:t>
            </a:r>
          </a:p>
        </p:txBody>
      </p:sp>
      <p:sp>
        <p:nvSpPr>
          <p:cNvPr id="164" name="Oval 163"/>
          <p:cNvSpPr/>
          <p:nvPr/>
        </p:nvSpPr>
        <p:spPr>
          <a:xfrm>
            <a:off x="457200" y="49530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err="1">
                <a:solidFill>
                  <a:schemeClr val="tx1"/>
                </a:solidFill>
              </a:rPr>
              <a:t>cust_id</a:t>
            </a:r>
            <a:endParaRPr lang="en-US" sz="1600" u="sng" dirty="0">
              <a:solidFill>
                <a:schemeClr val="tx1"/>
              </a:solidFill>
            </a:endParaRPr>
          </a:p>
        </p:txBody>
      </p:sp>
      <p:cxnSp>
        <p:nvCxnSpPr>
          <p:cNvPr id="178" name="Straight Connector 177"/>
          <p:cNvCxnSpPr>
            <a:stCxn id="67" idx="2"/>
            <a:endCxn id="164" idx="7"/>
          </p:cNvCxnSpPr>
          <p:nvPr/>
        </p:nvCxnSpPr>
        <p:spPr>
          <a:xfrm rot="5400000">
            <a:off x="1357569" y="4788483"/>
            <a:ext cx="382915" cy="1023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a:stCxn id="67" idx="2"/>
            <a:endCxn id="161" idx="0"/>
          </p:cNvCxnSpPr>
          <p:nvPr/>
        </p:nvCxnSpPr>
        <p:spPr>
          <a:xfrm rot="16200000" flipH="1">
            <a:off x="1333500" y="4914900"/>
            <a:ext cx="990600"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a:stCxn id="163" idx="2"/>
            <a:endCxn id="67" idx="2"/>
          </p:cNvCxnSpPr>
          <p:nvPr/>
        </p:nvCxnSpPr>
        <p:spPr>
          <a:xfrm rot="10800000">
            <a:off x="1600200" y="4648200"/>
            <a:ext cx="1219200" cy="11049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a:stCxn id="162" idx="1"/>
            <a:endCxn id="67" idx="2"/>
          </p:cNvCxnSpPr>
          <p:nvPr/>
        </p:nvCxnSpPr>
        <p:spPr>
          <a:xfrm rot="16200000" flipV="1">
            <a:off x="1917117" y="4331284"/>
            <a:ext cx="230515" cy="8643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4495800" y="2971800"/>
            <a:ext cx="4267200" cy="2308324"/>
          </a:xfrm>
          <a:prstGeom prst="rect">
            <a:avLst/>
          </a:prstGeom>
          <a:noFill/>
        </p:spPr>
        <p:txBody>
          <a:bodyPr wrap="square" rtlCol="0">
            <a:spAutoFit/>
          </a:bodyPr>
          <a:lstStyle/>
          <a:p>
            <a:r>
              <a:rPr lang="en-US" dirty="0"/>
              <a:t>CREATE TABLE Like Group (</a:t>
            </a:r>
          </a:p>
          <a:p>
            <a:r>
              <a:rPr lang="en-US" dirty="0"/>
              <a:t>	name CHAR(20),</a:t>
            </a:r>
          </a:p>
          <a:p>
            <a:pPr lvl="2"/>
            <a:r>
              <a:rPr lang="en-US" dirty="0" err="1"/>
              <a:t>cust</a:t>
            </a:r>
            <a:r>
              <a:rPr lang="en-US" dirty="0"/>
              <a:t> name CHAR(20),</a:t>
            </a:r>
          </a:p>
          <a:p>
            <a:pPr lvl="2"/>
            <a:r>
              <a:rPr lang="en-US" dirty="0"/>
              <a:t>PRIMARY KEY (name, </a:t>
            </a:r>
            <a:r>
              <a:rPr lang="en-US" dirty="0" err="1"/>
              <a:t>cust_name</a:t>
            </a:r>
            <a:r>
              <a:rPr lang="en-US" dirty="0"/>
              <a:t>),</a:t>
            </a:r>
          </a:p>
          <a:p>
            <a:pPr lvl="2"/>
            <a:r>
              <a:rPr lang="en-US" dirty="0"/>
              <a:t>FOREIGN KEY (name)    	REFERENCES Group,</a:t>
            </a:r>
          </a:p>
          <a:p>
            <a:pPr lvl="2"/>
            <a:r>
              <a:rPr lang="en-US" dirty="0"/>
              <a:t>FOREIGN KEY (</a:t>
            </a:r>
            <a:r>
              <a:rPr lang="en-US" dirty="0" err="1"/>
              <a:t>cust</a:t>
            </a:r>
            <a:r>
              <a:rPr lang="en-US" dirty="0"/>
              <a:t> name) 	REFERENCES Customer)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3.18</a:t>
            </a:r>
          </a:p>
        </p:txBody>
      </p:sp>
      <p:sp>
        <p:nvSpPr>
          <p:cNvPr id="3" name="Content Placeholder 2"/>
          <p:cNvSpPr>
            <a:spLocks noGrp="1"/>
          </p:cNvSpPr>
          <p:nvPr>
            <p:ph sz="quarter" idx="1"/>
          </p:nvPr>
        </p:nvSpPr>
        <p:spPr>
          <a:xfrm>
            <a:off x="457200" y="1371600"/>
            <a:ext cx="8229600" cy="5105400"/>
          </a:xfrm>
        </p:spPr>
        <p:txBody>
          <a:bodyPr>
            <a:normAutofit/>
          </a:bodyPr>
          <a:lstStyle/>
          <a:p>
            <a:pPr>
              <a:buNone/>
            </a:pPr>
            <a:r>
              <a:rPr lang="en-US" b="1" dirty="0"/>
              <a:t>Solution</a:t>
            </a:r>
          </a:p>
        </p:txBody>
      </p:sp>
      <p:sp>
        <p:nvSpPr>
          <p:cNvPr id="67" name="Rectangle 66"/>
          <p:cNvSpPr/>
          <p:nvPr/>
        </p:nvSpPr>
        <p:spPr>
          <a:xfrm>
            <a:off x="1524000" y="2209800"/>
            <a:ext cx="13716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Customer</a:t>
            </a:r>
          </a:p>
        </p:txBody>
      </p:sp>
      <p:sp>
        <p:nvSpPr>
          <p:cNvPr id="68" name="Rectangle 67"/>
          <p:cNvSpPr/>
          <p:nvPr/>
        </p:nvSpPr>
        <p:spPr>
          <a:xfrm>
            <a:off x="5334000" y="2209800"/>
            <a:ext cx="13716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Artist</a:t>
            </a:r>
          </a:p>
        </p:txBody>
      </p:sp>
      <p:sp>
        <p:nvSpPr>
          <p:cNvPr id="73" name="Diamond 72"/>
          <p:cNvSpPr/>
          <p:nvPr/>
        </p:nvSpPr>
        <p:spPr>
          <a:xfrm>
            <a:off x="3581400" y="19812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err="1">
                <a:solidFill>
                  <a:schemeClr val="tx1"/>
                </a:solidFill>
              </a:rPr>
              <a:t>Like_Artist</a:t>
            </a:r>
            <a:endParaRPr lang="en-US" sz="1600" dirty="0">
              <a:solidFill>
                <a:schemeClr val="tx1"/>
              </a:solidFill>
            </a:endParaRPr>
          </a:p>
        </p:txBody>
      </p:sp>
      <p:cxnSp>
        <p:nvCxnSpPr>
          <p:cNvPr id="101" name="Straight Connector 100"/>
          <p:cNvCxnSpPr>
            <a:stCxn id="68" idx="1"/>
            <a:endCxn id="73" idx="3"/>
          </p:cNvCxnSpPr>
          <p:nvPr/>
        </p:nvCxnSpPr>
        <p:spPr>
          <a:xfrm rot="10800000">
            <a:off x="4953000" y="2438400"/>
            <a:ext cx="381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a:stCxn id="67" idx="3"/>
            <a:endCxn id="73" idx="1"/>
          </p:cNvCxnSpPr>
          <p:nvPr/>
        </p:nvCxnSpPr>
        <p:spPr>
          <a:xfrm>
            <a:off x="2895600" y="2438400"/>
            <a:ext cx="685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7" name="Oval 156"/>
          <p:cNvSpPr/>
          <p:nvPr/>
        </p:nvSpPr>
        <p:spPr>
          <a:xfrm>
            <a:off x="5486400" y="34290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600" dirty="0">
                <a:solidFill>
                  <a:schemeClr val="tx1"/>
                </a:solidFill>
              </a:rPr>
              <a:t>birthplace</a:t>
            </a:r>
          </a:p>
        </p:txBody>
      </p:sp>
      <p:sp>
        <p:nvSpPr>
          <p:cNvPr id="158" name="Oval 157"/>
          <p:cNvSpPr/>
          <p:nvPr/>
        </p:nvSpPr>
        <p:spPr>
          <a:xfrm>
            <a:off x="6629400" y="27432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style</a:t>
            </a:r>
          </a:p>
        </p:txBody>
      </p:sp>
      <p:sp>
        <p:nvSpPr>
          <p:cNvPr id="159" name="Oval 158"/>
          <p:cNvSpPr/>
          <p:nvPr/>
        </p:nvSpPr>
        <p:spPr>
          <a:xfrm>
            <a:off x="6781800" y="34290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age</a:t>
            </a:r>
          </a:p>
        </p:txBody>
      </p:sp>
      <p:sp>
        <p:nvSpPr>
          <p:cNvPr id="160" name="Oval 159"/>
          <p:cNvSpPr/>
          <p:nvPr/>
        </p:nvSpPr>
        <p:spPr>
          <a:xfrm>
            <a:off x="4724400" y="28956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a:solidFill>
                  <a:schemeClr val="tx1"/>
                </a:solidFill>
              </a:rPr>
              <a:t>name</a:t>
            </a:r>
          </a:p>
        </p:txBody>
      </p:sp>
      <p:sp>
        <p:nvSpPr>
          <p:cNvPr id="161" name="Oval 160"/>
          <p:cNvSpPr/>
          <p:nvPr/>
        </p:nvSpPr>
        <p:spPr>
          <a:xfrm>
            <a:off x="2057400" y="36576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name</a:t>
            </a:r>
          </a:p>
        </p:txBody>
      </p:sp>
      <p:sp>
        <p:nvSpPr>
          <p:cNvPr id="162" name="Oval 161"/>
          <p:cNvSpPr/>
          <p:nvPr/>
        </p:nvSpPr>
        <p:spPr>
          <a:xfrm>
            <a:off x="2895600" y="28194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address</a:t>
            </a:r>
          </a:p>
        </p:txBody>
      </p:sp>
      <p:sp>
        <p:nvSpPr>
          <p:cNvPr id="163" name="Oval 162"/>
          <p:cNvSpPr/>
          <p:nvPr/>
        </p:nvSpPr>
        <p:spPr>
          <a:xfrm>
            <a:off x="3429000" y="35052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amount</a:t>
            </a:r>
          </a:p>
        </p:txBody>
      </p:sp>
      <p:sp>
        <p:nvSpPr>
          <p:cNvPr id="164" name="Oval 163"/>
          <p:cNvSpPr/>
          <p:nvPr/>
        </p:nvSpPr>
        <p:spPr>
          <a:xfrm>
            <a:off x="1066800" y="29718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err="1">
                <a:solidFill>
                  <a:schemeClr val="tx1"/>
                </a:solidFill>
              </a:rPr>
              <a:t>cust_id</a:t>
            </a:r>
            <a:endParaRPr lang="en-US" sz="1600" u="sng" dirty="0">
              <a:solidFill>
                <a:schemeClr val="tx1"/>
              </a:solidFill>
            </a:endParaRPr>
          </a:p>
        </p:txBody>
      </p:sp>
      <p:cxnSp>
        <p:nvCxnSpPr>
          <p:cNvPr id="178" name="Straight Connector 177"/>
          <p:cNvCxnSpPr>
            <a:stCxn id="67" idx="2"/>
            <a:endCxn id="164" idx="7"/>
          </p:cNvCxnSpPr>
          <p:nvPr/>
        </p:nvCxnSpPr>
        <p:spPr>
          <a:xfrm rot="5400000">
            <a:off x="1967169" y="2807283"/>
            <a:ext cx="382915" cy="1023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a:stCxn id="67" idx="2"/>
            <a:endCxn id="161" idx="0"/>
          </p:cNvCxnSpPr>
          <p:nvPr/>
        </p:nvCxnSpPr>
        <p:spPr>
          <a:xfrm rot="16200000" flipH="1">
            <a:off x="1943100" y="2933700"/>
            <a:ext cx="990600"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a:stCxn id="163" idx="2"/>
            <a:endCxn id="67" idx="2"/>
          </p:cNvCxnSpPr>
          <p:nvPr/>
        </p:nvCxnSpPr>
        <p:spPr>
          <a:xfrm rot="10800000">
            <a:off x="2209800" y="2667000"/>
            <a:ext cx="1219200" cy="11049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a:stCxn id="162" idx="1"/>
            <a:endCxn id="67" idx="2"/>
          </p:cNvCxnSpPr>
          <p:nvPr/>
        </p:nvCxnSpPr>
        <p:spPr>
          <a:xfrm rot="16200000" flipV="1">
            <a:off x="2526717" y="2350084"/>
            <a:ext cx="230515" cy="8643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a:stCxn id="68" idx="2"/>
            <a:endCxn id="158" idx="1"/>
          </p:cNvCxnSpPr>
          <p:nvPr/>
        </p:nvCxnSpPr>
        <p:spPr>
          <a:xfrm rot="16200000" flipH="1">
            <a:off x="6336717" y="2350083"/>
            <a:ext cx="154315" cy="7881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a:stCxn id="68" idx="2"/>
            <a:endCxn id="159" idx="1"/>
          </p:cNvCxnSpPr>
          <p:nvPr/>
        </p:nvCxnSpPr>
        <p:spPr>
          <a:xfrm rot="16200000" flipH="1">
            <a:off x="6070017" y="2616783"/>
            <a:ext cx="840115" cy="9405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a:stCxn id="68" idx="2"/>
            <a:endCxn id="157" idx="0"/>
          </p:cNvCxnSpPr>
          <p:nvPr/>
        </p:nvCxnSpPr>
        <p:spPr>
          <a:xfrm rot="16200000" flipH="1">
            <a:off x="5676900" y="3009900"/>
            <a:ext cx="762000" cy="76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p:cNvCxnSpPr>
            <a:stCxn id="68" idx="2"/>
            <a:endCxn id="160" idx="7"/>
          </p:cNvCxnSpPr>
          <p:nvPr/>
        </p:nvCxnSpPr>
        <p:spPr>
          <a:xfrm rot="5400000">
            <a:off x="5739069" y="2692983"/>
            <a:ext cx="306715" cy="254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1905000" y="4572000"/>
            <a:ext cx="5334000" cy="1754326"/>
          </a:xfrm>
          <a:prstGeom prst="rect">
            <a:avLst/>
          </a:prstGeom>
          <a:noFill/>
        </p:spPr>
        <p:txBody>
          <a:bodyPr wrap="square" rtlCol="0">
            <a:spAutoFit/>
          </a:bodyPr>
          <a:lstStyle/>
          <a:p>
            <a:r>
              <a:rPr lang="en-US" dirty="0"/>
              <a:t>CREATE TABLE Like Artist (</a:t>
            </a:r>
          </a:p>
          <a:p>
            <a:pPr lvl="1"/>
            <a:r>
              <a:rPr lang="en-US" dirty="0"/>
              <a:t>name CHAR(20),</a:t>
            </a:r>
          </a:p>
          <a:p>
            <a:pPr lvl="1"/>
            <a:r>
              <a:rPr lang="en-US" dirty="0" err="1"/>
              <a:t>cust</a:t>
            </a:r>
            <a:r>
              <a:rPr lang="en-US" dirty="0"/>
              <a:t> name CHAR(20),</a:t>
            </a:r>
          </a:p>
          <a:p>
            <a:pPr lvl="1"/>
            <a:r>
              <a:rPr lang="en-US" dirty="0"/>
              <a:t>PRIMARY KEY (name, </a:t>
            </a:r>
            <a:r>
              <a:rPr lang="en-US" dirty="0" err="1"/>
              <a:t>cust</a:t>
            </a:r>
            <a:r>
              <a:rPr lang="en-US" dirty="0"/>
              <a:t> name),</a:t>
            </a:r>
          </a:p>
          <a:p>
            <a:pPr lvl="1"/>
            <a:r>
              <a:rPr lang="en-US" dirty="0"/>
              <a:t>FOREIGN KEY (name) REFERENCES Artist,</a:t>
            </a:r>
          </a:p>
          <a:p>
            <a:pPr lvl="1"/>
            <a:r>
              <a:rPr lang="en-US" dirty="0"/>
              <a:t>FOREIGN KEY (</a:t>
            </a:r>
            <a:r>
              <a:rPr lang="en-US" dirty="0" err="1"/>
              <a:t>cust</a:t>
            </a:r>
            <a:r>
              <a:rPr lang="en-US" dirty="0"/>
              <a:t> name) REFERENCES Customer)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3.18</a:t>
            </a:r>
          </a:p>
        </p:txBody>
      </p:sp>
      <p:sp>
        <p:nvSpPr>
          <p:cNvPr id="3" name="Content Placeholder 2"/>
          <p:cNvSpPr>
            <a:spLocks noGrp="1"/>
          </p:cNvSpPr>
          <p:nvPr>
            <p:ph sz="quarter" idx="1"/>
          </p:nvPr>
        </p:nvSpPr>
        <p:spPr>
          <a:xfrm>
            <a:off x="457200" y="1371600"/>
            <a:ext cx="8229600" cy="5105400"/>
          </a:xfrm>
        </p:spPr>
        <p:txBody>
          <a:bodyPr>
            <a:normAutofit/>
          </a:bodyPr>
          <a:lstStyle/>
          <a:p>
            <a:pPr>
              <a:buNone/>
            </a:pPr>
            <a:r>
              <a:rPr lang="en-US" b="1" dirty="0"/>
              <a:t>Solution</a:t>
            </a:r>
          </a:p>
        </p:txBody>
      </p:sp>
      <p:cxnSp>
        <p:nvCxnSpPr>
          <p:cNvPr id="35" name="Straight Arrow Connector 34"/>
          <p:cNvCxnSpPr>
            <a:stCxn id="65" idx="2"/>
            <a:endCxn id="72" idx="0"/>
          </p:cNvCxnSpPr>
          <p:nvPr/>
        </p:nvCxnSpPr>
        <p:spPr>
          <a:xfrm rot="5400000">
            <a:off x="3581400" y="3962400"/>
            <a:ext cx="457200" cy="1588"/>
          </a:xfrm>
          <a:prstGeom prst="straightConnector1">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5" name="Rectangle 64"/>
          <p:cNvSpPr/>
          <p:nvPr/>
        </p:nvSpPr>
        <p:spPr>
          <a:xfrm>
            <a:off x="3124200" y="3276600"/>
            <a:ext cx="13716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Artwork</a:t>
            </a:r>
          </a:p>
        </p:txBody>
      </p:sp>
      <p:sp>
        <p:nvSpPr>
          <p:cNvPr id="68" name="Rectangle 67"/>
          <p:cNvSpPr/>
          <p:nvPr/>
        </p:nvSpPr>
        <p:spPr>
          <a:xfrm>
            <a:off x="1143000" y="4419600"/>
            <a:ext cx="13716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Artist</a:t>
            </a:r>
          </a:p>
        </p:txBody>
      </p:sp>
      <p:sp>
        <p:nvSpPr>
          <p:cNvPr id="72" name="Diamond 71"/>
          <p:cNvSpPr/>
          <p:nvPr/>
        </p:nvSpPr>
        <p:spPr>
          <a:xfrm>
            <a:off x="3124200" y="41910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a:solidFill>
                  <a:schemeClr val="tx1"/>
                </a:solidFill>
              </a:rPr>
              <a:t>Paints</a:t>
            </a:r>
          </a:p>
        </p:txBody>
      </p:sp>
      <p:cxnSp>
        <p:nvCxnSpPr>
          <p:cNvPr id="97" name="Straight Connector 96"/>
          <p:cNvCxnSpPr>
            <a:stCxn id="68" idx="3"/>
            <a:endCxn id="72" idx="1"/>
          </p:cNvCxnSpPr>
          <p:nvPr/>
        </p:nvCxnSpPr>
        <p:spPr>
          <a:xfrm>
            <a:off x="2514600" y="4648200"/>
            <a:ext cx="60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2" name="Oval 111"/>
          <p:cNvSpPr/>
          <p:nvPr/>
        </p:nvSpPr>
        <p:spPr>
          <a:xfrm>
            <a:off x="2971800" y="2362200"/>
            <a:ext cx="9144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a:solidFill>
                  <a:schemeClr val="tx1"/>
                </a:solidFill>
              </a:rPr>
              <a:t>title</a:t>
            </a:r>
          </a:p>
        </p:txBody>
      </p:sp>
      <p:sp>
        <p:nvSpPr>
          <p:cNvPr id="113" name="Oval 112"/>
          <p:cNvSpPr/>
          <p:nvPr/>
        </p:nvSpPr>
        <p:spPr>
          <a:xfrm>
            <a:off x="3733800" y="1981200"/>
            <a:ext cx="10668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type</a:t>
            </a:r>
          </a:p>
        </p:txBody>
      </p:sp>
      <p:sp>
        <p:nvSpPr>
          <p:cNvPr id="114" name="Oval 113"/>
          <p:cNvSpPr/>
          <p:nvPr/>
        </p:nvSpPr>
        <p:spPr>
          <a:xfrm>
            <a:off x="4114800" y="2590800"/>
            <a:ext cx="9906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price</a:t>
            </a:r>
          </a:p>
        </p:txBody>
      </p:sp>
      <p:sp>
        <p:nvSpPr>
          <p:cNvPr id="115" name="Oval 114"/>
          <p:cNvSpPr/>
          <p:nvPr/>
        </p:nvSpPr>
        <p:spPr>
          <a:xfrm>
            <a:off x="1905000" y="2057400"/>
            <a:ext cx="10668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year</a:t>
            </a:r>
          </a:p>
        </p:txBody>
      </p:sp>
      <p:cxnSp>
        <p:nvCxnSpPr>
          <p:cNvPr id="116" name="Straight Connector 115"/>
          <p:cNvCxnSpPr>
            <a:stCxn id="114" idx="4"/>
            <a:endCxn id="65" idx="0"/>
          </p:cNvCxnSpPr>
          <p:nvPr/>
        </p:nvCxnSpPr>
        <p:spPr>
          <a:xfrm rot="5400000">
            <a:off x="4133850" y="2800350"/>
            <a:ext cx="152400" cy="8001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a:endCxn id="65" idx="0"/>
          </p:cNvCxnSpPr>
          <p:nvPr/>
        </p:nvCxnSpPr>
        <p:spPr>
          <a:xfrm rot="5400000">
            <a:off x="3581400" y="2743200"/>
            <a:ext cx="762000" cy="3048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a:stCxn id="112" idx="5"/>
            <a:endCxn id="65" idx="0"/>
          </p:cNvCxnSpPr>
          <p:nvPr/>
        </p:nvCxnSpPr>
        <p:spPr>
          <a:xfrm rot="16200000" flipH="1">
            <a:off x="3551587" y="3018186"/>
            <a:ext cx="459115" cy="577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a:stCxn id="65" idx="0"/>
            <a:endCxn id="115" idx="4"/>
          </p:cNvCxnSpPr>
          <p:nvPr/>
        </p:nvCxnSpPr>
        <p:spPr>
          <a:xfrm rot="16200000" flipV="1">
            <a:off x="2781300" y="2247900"/>
            <a:ext cx="685800" cy="1371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7" name="Oval 156"/>
          <p:cNvSpPr/>
          <p:nvPr/>
        </p:nvSpPr>
        <p:spPr>
          <a:xfrm>
            <a:off x="1295400" y="56388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600" dirty="0">
                <a:solidFill>
                  <a:schemeClr val="tx1"/>
                </a:solidFill>
              </a:rPr>
              <a:t>birthplace</a:t>
            </a:r>
          </a:p>
        </p:txBody>
      </p:sp>
      <p:sp>
        <p:nvSpPr>
          <p:cNvPr id="158" name="Oval 157"/>
          <p:cNvSpPr/>
          <p:nvPr/>
        </p:nvSpPr>
        <p:spPr>
          <a:xfrm>
            <a:off x="2438400" y="49530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style</a:t>
            </a:r>
          </a:p>
        </p:txBody>
      </p:sp>
      <p:sp>
        <p:nvSpPr>
          <p:cNvPr id="159" name="Oval 158"/>
          <p:cNvSpPr/>
          <p:nvPr/>
        </p:nvSpPr>
        <p:spPr>
          <a:xfrm>
            <a:off x="2590800" y="56388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age</a:t>
            </a:r>
          </a:p>
        </p:txBody>
      </p:sp>
      <p:sp>
        <p:nvSpPr>
          <p:cNvPr id="160" name="Oval 159"/>
          <p:cNvSpPr/>
          <p:nvPr/>
        </p:nvSpPr>
        <p:spPr>
          <a:xfrm>
            <a:off x="533400" y="5105400"/>
            <a:ext cx="12192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a:solidFill>
                  <a:schemeClr val="tx1"/>
                </a:solidFill>
              </a:rPr>
              <a:t>name</a:t>
            </a:r>
          </a:p>
        </p:txBody>
      </p:sp>
      <p:cxnSp>
        <p:nvCxnSpPr>
          <p:cNvPr id="198" name="Straight Connector 197"/>
          <p:cNvCxnSpPr>
            <a:stCxn id="68" idx="2"/>
            <a:endCxn id="158" idx="1"/>
          </p:cNvCxnSpPr>
          <p:nvPr/>
        </p:nvCxnSpPr>
        <p:spPr>
          <a:xfrm rot="16200000" flipH="1">
            <a:off x="2145717" y="4559883"/>
            <a:ext cx="154315" cy="7881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a:stCxn id="68" idx="2"/>
            <a:endCxn id="159" idx="1"/>
          </p:cNvCxnSpPr>
          <p:nvPr/>
        </p:nvCxnSpPr>
        <p:spPr>
          <a:xfrm rot="16200000" flipH="1">
            <a:off x="1879017" y="4826583"/>
            <a:ext cx="840115" cy="9405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a:stCxn id="68" idx="2"/>
            <a:endCxn id="157" idx="0"/>
          </p:cNvCxnSpPr>
          <p:nvPr/>
        </p:nvCxnSpPr>
        <p:spPr>
          <a:xfrm rot="16200000" flipH="1">
            <a:off x="1485900" y="5219700"/>
            <a:ext cx="762000" cy="76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p:cNvCxnSpPr>
            <a:stCxn id="68" idx="2"/>
            <a:endCxn id="160" idx="7"/>
          </p:cNvCxnSpPr>
          <p:nvPr/>
        </p:nvCxnSpPr>
        <p:spPr>
          <a:xfrm rot="5400000">
            <a:off x="1548069" y="4902783"/>
            <a:ext cx="306715" cy="254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4953000" y="3276600"/>
            <a:ext cx="3200400" cy="2585323"/>
          </a:xfrm>
          <a:prstGeom prst="rect">
            <a:avLst/>
          </a:prstGeom>
          <a:noFill/>
        </p:spPr>
        <p:txBody>
          <a:bodyPr wrap="square" rtlCol="0">
            <a:spAutoFit/>
          </a:bodyPr>
          <a:lstStyle/>
          <a:p>
            <a:r>
              <a:rPr lang="en-US" dirty="0"/>
              <a:t>CREATE TABLE Artwork Paints(</a:t>
            </a:r>
          </a:p>
          <a:p>
            <a:pPr lvl="1"/>
            <a:r>
              <a:rPr lang="en-US" dirty="0"/>
              <a:t>title CHAR(20),</a:t>
            </a:r>
          </a:p>
          <a:p>
            <a:pPr lvl="1"/>
            <a:r>
              <a:rPr lang="en-US" dirty="0"/>
              <a:t>artist name CHAR(20),</a:t>
            </a:r>
          </a:p>
          <a:p>
            <a:pPr lvl="1"/>
            <a:r>
              <a:rPr lang="en-US" dirty="0"/>
              <a:t>type CHAR(20),</a:t>
            </a:r>
          </a:p>
          <a:p>
            <a:pPr lvl="1"/>
            <a:r>
              <a:rPr lang="en-US" dirty="0"/>
              <a:t>price INTEGER,</a:t>
            </a:r>
          </a:p>
          <a:p>
            <a:pPr lvl="1"/>
            <a:r>
              <a:rPr lang="en-US" dirty="0"/>
              <a:t>year INTEGER,</a:t>
            </a:r>
          </a:p>
          <a:p>
            <a:pPr lvl="1"/>
            <a:r>
              <a:rPr lang="en-US" dirty="0"/>
              <a:t>PRIMARY KEY (title),</a:t>
            </a:r>
          </a:p>
          <a:p>
            <a:pPr lvl="1"/>
            <a:r>
              <a:rPr lang="en-US" dirty="0"/>
              <a:t>FOREIGN KEY (artist name)</a:t>
            </a:r>
          </a:p>
          <a:p>
            <a:pPr lvl="1"/>
            <a:r>
              <a:rPr lang="en-US" dirty="0"/>
              <a:t>	REFERENCES Artist)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3.18</a:t>
            </a:r>
          </a:p>
        </p:txBody>
      </p:sp>
      <p:sp>
        <p:nvSpPr>
          <p:cNvPr id="3" name="Content Placeholder 2"/>
          <p:cNvSpPr>
            <a:spLocks noGrp="1"/>
          </p:cNvSpPr>
          <p:nvPr>
            <p:ph sz="quarter" idx="1"/>
          </p:nvPr>
        </p:nvSpPr>
        <p:spPr>
          <a:xfrm>
            <a:off x="457200" y="1371600"/>
            <a:ext cx="8229600" cy="5105400"/>
          </a:xfrm>
        </p:spPr>
        <p:txBody>
          <a:bodyPr>
            <a:normAutofit/>
          </a:bodyPr>
          <a:lstStyle/>
          <a:p>
            <a:pPr>
              <a:buNone/>
            </a:pPr>
            <a:r>
              <a:rPr lang="en-US" b="1" dirty="0"/>
              <a:t>Solution</a:t>
            </a:r>
          </a:p>
          <a:p>
            <a:pPr>
              <a:buNone/>
            </a:pPr>
            <a:endParaRPr lang="en-US" b="1" dirty="0"/>
          </a:p>
        </p:txBody>
      </p:sp>
      <p:sp>
        <p:nvSpPr>
          <p:cNvPr id="65" name="Rectangle 64"/>
          <p:cNvSpPr/>
          <p:nvPr/>
        </p:nvSpPr>
        <p:spPr>
          <a:xfrm>
            <a:off x="5334000" y="3048000"/>
            <a:ext cx="13716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Artwork</a:t>
            </a:r>
          </a:p>
        </p:txBody>
      </p:sp>
      <p:sp>
        <p:nvSpPr>
          <p:cNvPr id="66" name="Rectangle 65"/>
          <p:cNvSpPr/>
          <p:nvPr/>
        </p:nvSpPr>
        <p:spPr>
          <a:xfrm>
            <a:off x="1600200" y="3048000"/>
            <a:ext cx="1371600" cy="4572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Group</a:t>
            </a:r>
          </a:p>
        </p:txBody>
      </p:sp>
      <p:sp>
        <p:nvSpPr>
          <p:cNvPr id="70" name="Diamond 69"/>
          <p:cNvSpPr/>
          <p:nvPr/>
        </p:nvSpPr>
        <p:spPr>
          <a:xfrm>
            <a:off x="3352800" y="28194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a:solidFill>
                  <a:schemeClr val="tx1"/>
                </a:solidFill>
              </a:rPr>
              <a:t>Classify</a:t>
            </a:r>
          </a:p>
        </p:txBody>
      </p:sp>
      <p:cxnSp>
        <p:nvCxnSpPr>
          <p:cNvPr id="83" name="Straight Connector 82"/>
          <p:cNvCxnSpPr>
            <a:stCxn id="70" idx="1"/>
            <a:endCxn id="66" idx="3"/>
          </p:cNvCxnSpPr>
          <p:nvPr/>
        </p:nvCxnSpPr>
        <p:spPr>
          <a:xfrm rot="10800000">
            <a:off x="2971800" y="3276600"/>
            <a:ext cx="381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65" idx="1"/>
            <a:endCxn id="70" idx="3"/>
          </p:cNvCxnSpPr>
          <p:nvPr/>
        </p:nvCxnSpPr>
        <p:spPr>
          <a:xfrm rot="10800000">
            <a:off x="4724400" y="3276600"/>
            <a:ext cx="60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Oval 110"/>
          <p:cNvSpPr/>
          <p:nvPr/>
        </p:nvSpPr>
        <p:spPr>
          <a:xfrm>
            <a:off x="1676400" y="2057400"/>
            <a:ext cx="11430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a:solidFill>
                  <a:schemeClr val="tx1"/>
                </a:solidFill>
              </a:rPr>
              <a:t>name</a:t>
            </a:r>
          </a:p>
        </p:txBody>
      </p:sp>
      <p:sp>
        <p:nvSpPr>
          <p:cNvPr id="112" name="Oval 111"/>
          <p:cNvSpPr/>
          <p:nvPr/>
        </p:nvSpPr>
        <p:spPr>
          <a:xfrm>
            <a:off x="5181600" y="2133600"/>
            <a:ext cx="9144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a:solidFill>
                  <a:schemeClr val="tx1"/>
                </a:solidFill>
              </a:rPr>
              <a:t>title</a:t>
            </a:r>
          </a:p>
        </p:txBody>
      </p:sp>
      <p:sp>
        <p:nvSpPr>
          <p:cNvPr id="113" name="Oval 112"/>
          <p:cNvSpPr/>
          <p:nvPr/>
        </p:nvSpPr>
        <p:spPr>
          <a:xfrm>
            <a:off x="5943600" y="1752600"/>
            <a:ext cx="10668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type</a:t>
            </a:r>
          </a:p>
        </p:txBody>
      </p:sp>
      <p:sp>
        <p:nvSpPr>
          <p:cNvPr id="114" name="Oval 113"/>
          <p:cNvSpPr/>
          <p:nvPr/>
        </p:nvSpPr>
        <p:spPr>
          <a:xfrm>
            <a:off x="6324600" y="2362200"/>
            <a:ext cx="9906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price</a:t>
            </a:r>
          </a:p>
        </p:txBody>
      </p:sp>
      <p:sp>
        <p:nvSpPr>
          <p:cNvPr id="115" name="Oval 114"/>
          <p:cNvSpPr/>
          <p:nvPr/>
        </p:nvSpPr>
        <p:spPr>
          <a:xfrm>
            <a:off x="4114800" y="1828800"/>
            <a:ext cx="1066800" cy="533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year</a:t>
            </a:r>
          </a:p>
        </p:txBody>
      </p:sp>
      <p:cxnSp>
        <p:nvCxnSpPr>
          <p:cNvPr id="116" name="Straight Connector 115"/>
          <p:cNvCxnSpPr>
            <a:stCxn id="114" idx="4"/>
            <a:endCxn id="65" idx="0"/>
          </p:cNvCxnSpPr>
          <p:nvPr/>
        </p:nvCxnSpPr>
        <p:spPr>
          <a:xfrm rot="5400000">
            <a:off x="6343650" y="2571750"/>
            <a:ext cx="152400" cy="8001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a:endCxn id="65" idx="0"/>
          </p:cNvCxnSpPr>
          <p:nvPr/>
        </p:nvCxnSpPr>
        <p:spPr>
          <a:xfrm rot="5400000">
            <a:off x="5791200" y="2514600"/>
            <a:ext cx="762000" cy="3048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a:stCxn id="112" idx="5"/>
            <a:endCxn id="65" idx="0"/>
          </p:cNvCxnSpPr>
          <p:nvPr/>
        </p:nvCxnSpPr>
        <p:spPr>
          <a:xfrm rot="16200000" flipH="1">
            <a:off x="5761387" y="2789586"/>
            <a:ext cx="459115" cy="577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a:stCxn id="65" idx="0"/>
            <a:endCxn id="115" idx="4"/>
          </p:cNvCxnSpPr>
          <p:nvPr/>
        </p:nvCxnSpPr>
        <p:spPr>
          <a:xfrm rot="16200000" flipV="1">
            <a:off x="4991100" y="2019300"/>
            <a:ext cx="685800" cy="1371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a:stCxn id="111" idx="4"/>
            <a:endCxn id="66" idx="0"/>
          </p:cNvCxnSpPr>
          <p:nvPr/>
        </p:nvCxnSpPr>
        <p:spPr>
          <a:xfrm rot="16200000" flipH="1">
            <a:off x="2038350" y="2800350"/>
            <a:ext cx="457200" cy="381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4" name="TextBox 93"/>
          <p:cNvSpPr txBox="1"/>
          <p:nvPr/>
        </p:nvSpPr>
        <p:spPr>
          <a:xfrm>
            <a:off x="1295400" y="4114800"/>
            <a:ext cx="5715000" cy="1754326"/>
          </a:xfrm>
          <a:prstGeom prst="rect">
            <a:avLst/>
          </a:prstGeom>
          <a:noFill/>
        </p:spPr>
        <p:txBody>
          <a:bodyPr wrap="square" rtlCol="0">
            <a:spAutoFit/>
          </a:bodyPr>
          <a:lstStyle/>
          <a:p>
            <a:r>
              <a:rPr lang="en-US" dirty="0"/>
              <a:t>CREATE TABLE Classify (</a:t>
            </a:r>
          </a:p>
          <a:p>
            <a:r>
              <a:rPr lang="en-US" dirty="0"/>
              <a:t>	 title CHAR(20),</a:t>
            </a:r>
          </a:p>
          <a:p>
            <a:pPr lvl="2"/>
            <a:r>
              <a:rPr lang="en-US" dirty="0"/>
              <a:t>name CHAR(20),</a:t>
            </a:r>
          </a:p>
          <a:p>
            <a:pPr lvl="2"/>
            <a:r>
              <a:rPr lang="en-US" dirty="0"/>
              <a:t>PRIMARY KEY (title, name),</a:t>
            </a:r>
          </a:p>
          <a:p>
            <a:pPr lvl="2"/>
            <a:r>
              <a:rPr lang="en-US" dirty="0"/>
              <a:t>FOREIGN KEY (title) REFERENCES </a:t>
            </a:r>
            <a:r>
              <a:rPr lang="en-US" dirty="0" err="1"/>
              <a:t>Artwork_Paints</a:t>
            </a:r>
            <a:r>
              <a:rPr lang="en-US" dirty="0"/>
              <a:t>,</a:t>
            </a:r>
          </a:p>
          <a:p>
            <a:pPr lvl="2"/>
            <a:r>
              <a:rPr lang="en-US" dirty="0"/>
              <a:t>FOREIGN KEY (name) REFERENCES Group )</a:t>
            </a:r>
          </a:p>
        </p:txBody>
      </p:sp>
      <p:sp>
        <p:nvSpPr>
          <p:cNvPr id="95" name="Diamond 94"/>
          <p:cNvSpPr/>
          <p:nvPr/>
        </p:nvSpPr>
        <p:spPr>
          <a:xfrm>
            <a:off x="5334000" y="3962400"/>
            <a:ext cx="1371600" cy="914400"/>
          </a:xfrm>
          <a:prstGeom prst="diamond">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600" dirty="0">
                <a:solidFill>
                  <a:schemeClr val="tx1"/>
                </a:solidFill>
              </a:rPr>
              <a:t>Paints</a:t>
            </a:r>
          </a:p>
        </p:txBody>
      </p:sp>
      <p:cxnSp>
        <p:nvCxnSpPr>
          <p:cNvPr id="100" name="Straight Arrow Connector 99"/>
          <p:cNvCxnSpPr>
            <a:stCxn id="65" idx="2"/>
            <a:endCxn id="95" idx="0"/>
          </p:cNvCxnSpPr>
          <p:nvPr/>
        </p:nvCxnSpPr>
        <p:spPr>
          <a:xfrm rot="5400000">
            <a:off x="5791200" y="3733800"/>
            <a:ext cx="457200" cy="1588"/>
          </a:xfrm>
          <a:prstGeom prst="straightConnector1">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3.8</a:t>
            </a:r>
          </a:p>
        </p:txBody>
      </p:sp>
      <p:sp>
        <p:nvSpPr>
          <p:cNvPr id="3" name="Content Placeholder 2"/>
          <p:cNvSpPr>
            <a:spLocks noGrp="1"/>
          </p:cNvSpPr>
          <p:nvPr>
            <p:ph sz="quarter" idx="1"/>
          </p:nvPr>
        </p:nvSpPr>
        <p:spPr>
          <a:xfrm>
            <a:off x="457200" y="1371600"/>
            <a:ext cx="8229600" cy="4876800"/>
          </a:xfrm>
        </p:spPr>
        <p:txBody>
          <a:bodyPr>
            <a:normAutofit/>
          </a:bodyPr>
          <a:lstStyle/>
          <a:p>
            <a:pPr>
              <a:buNone/>
            </a:pPr>
            <a:r>
              <a:rPr lang="en-US" b="1" dirty="0"/>
              <a:t>Problem</a:t>
            </a:r>
          </a:p>
          <a:p>
            <a:r>
              <a:rPr lang="en-US" dirty="0"/>
              <a:t>Answer each of the following questions briefly. The questions are based on the following relational schema:</a:t>
            </a:r>
          </a:p>
          <a:p>
            <a:pPr lvl="1"/>
            <a:r>
              <a:rPr lang="en-US" dirty="0" err="1"/>
              <a:t>Emp</a:t>
            </a:r>
            <a:r>
              <a:rPr lang="en-US" dirty="0"/>
              <a:t>(</a:t>
            </a:r>
            <a:r>
              <a:rPr lang="en-US" i="1" dirty="0" err="1"/>
              <a:t>eid</a:t>
            </a:r>
            <a:r>
              <a:rPr lang="en-US" i="1" dirty="0"/>
              <a:t>: integer, </a:t>
            </a:r>
            <a:r>
              <a:rPr lang="en-US" i="1" dirty="0" err="1"/>
              <a:t>ename</a:t>
            </a:r>
            <a:r>
              <a:rPr lang="en-US" i="1" dirty="0"/>
              <a:t>: string, age: integer, salary: real)</a:t>
            </a:r>
          </a:p>
          <a:p>
            <a:pPr lvl="1"/>
            <a:r>
              <a:rPr lang="en-US" dirty="0"/>
              <a:t>Works(</a:t>
            </a:r>
            <a:r>
              <a:rPr lang="en-US" i="1" dirty="0" err="1"/>
              <a:t>eid</a:t>
            </a:r>
            <a:r>
              <a:rPr lang="en-US" i="1" dirty="0"/>
              <a:t>: integer, did: integer, </a:t>
            </a:r>
            <a:r>
              <a:rPr lang="en-US" i="1" dirty="0" err="1"/>
              <a:t>pcttime</a:t>
            </a:r>
            <a:r>
              <a:rPr lang="en-US" i="1" dirty="0"/>
              <a:t>: integer)</a:t>
            </a:r>
          </a:p>
          <a:p>
            <a:pPr lvl="1"/>
            <a:r>
              <a:rPr lang="en-US" dirty="0"/>
              <a:t>Dept(</a:t>
            </a:r>
            <a:r>
              <a:rPr lang="en-US" i="1" dirty="0"/>
              <a:t>did: integer, </a:t>
            </a:r>
            <a:r>
              <a:rPr lang="en-US" i="1" dirty="0" err="1"/>
              <a:t>dname</a:t>
            </a:r>
            <a:r>
              <a:rPr lang="en-US" i="1" dirty="0"/>
              <a:t>: string, budget: real, </a:t>
            </a:r>
            <a:r>
              <a:rPr lang="en-US" i="1" dirty="0" err="1"/>
              <a:t>managerid</a:t>
            </a:r>
            <a:r>
              <a:rPr lang="en-US" i="1" dirty="0"/>
              <a:t>: integer)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3.8</a:t>
            </a:r>
          </a:p>
        </p:txBody>
      </p:sp>
      <p:sp>
        <p:nvSpPr>
          <p:cNvPr id="3" name="Content Placeholder 2"/>
          <p:cNvSpPr>
            <a:spLocks noGrp="1"/>
          </p:cNvSpPr>
          <p:nvPr>
            <p:ph sz="quarter" idx="1"/>
          </p:nvPr>
        </p:nvSpPr>
        <p:spPr>
          <a:xfrm>
            <a:off x="457200" y="1371600"/>
            <a:ext cx="8229600" cy="4876800"/>
          </a:xfrm>
        </p:spPr>
        <p:txBody>
          <a:bodyPr>
            <a:normAutofit/>
          </a:bodyPr>
          <a:lstStyle/>
          <a:p>
            <a:pPr>
              <a:buNone/>
            </a:pPr>
            <a:r>
              <a:rPr lang="en-US" b="1" dirty="0"/>
              <a:t>Problem</a:t>
            </a:r>
          </a:p>
          <a:p>
            <a:pPr lvl="1">
              <a:buNone/>
            </a:pPr>
            <a:r>
              <a:rPr lang="en-US" sz="2200" dirty="0" err="1"/>
              <a:t>Emp</a:t>
            </a:r>
            <a:r>
              <a:rPr lang="en-US" sz="2200" dirty="0"/>
              <a:t>(</a:t>
            </a:r>
            <a:r>
              <a:rPr lang="en-US" sz="2200" i="1" u="sng" dirty="0" err="1"/>
              <a:t>eid</a:t>
            </a:r>
            <a:r>
              <a:rPr lang="en-US" sz="2200" i="1" u="sng" dirty="0"/>
              <a:t>: integer</a:t>
            </a:r>
            <a:r>
              <a:rPr lang="en-US" sz="2200" i="1" dirty="0"/>
              <a:t>, </a:t>
            </a:r>
            <a:r>
              <a:rPr lang="en-US" sz="2200" i="1" dirty="0" err="1"/>
              <a:t>ename</a:t>
            </a:r>
            <a:r>
              <a:rPr lang="en-US" sz="2200" i="1" dirty="0"/>
              <a:t>: string, age: integer, salary: real)</a:t>
            </a:r>
          </a:p>
          <a:p>
            <a:pPr lvl="1">
              <a:buNone/>
            </a:pPr>
            <a:r>
              <a:rPr lang="en-US" sz="2200" dirty="0"/>
              <a:t>Works(</a:t>
            </a:r>
            <a:r>
              <a:rPr lang="en-US" sz="2200" i="1" u="sng" dirty="0" err="1"/>
              <a:t>eid</a:t>
            </a:r>
            <a:r>
              <a:rPr lang="en-US" sz="2200" i="1" u="sng" dirty="0"/>
              <a:t>: integer, did: integer</a:t>
            </a:r>
            <a:r>
              <a:rPr lang="en-US" sz="2200" i="1" dirty="0"/>
              <a:t>, </a:t>
            </a:r>
            <a:r>
              <a:rPr lang="en-US" sz="2200" i="1" dirty="0" err="1"/>
              <a:t>pcttime</a:t>
            </a:r>
            <a:r>
              <a:rPr lang="en-US" sz="2200" i="1" dirty="0"/>
              <a:t>: integer)</a:t>
            </a:r>
          </a:p>
          <a:p>
            <a:pPr lvl="1">
              <a:buNone/>
            </a:pPr>
            <a:r>
              <a:rPr lang="en-US" sz="2200" dirty="0"/>
              <a:t>Dept(</a:t>
            </a:r>
            <a:r>
              <a:rPr lang="en-US" sz="2200" i="1" u="sng" dirty="0"/>
              <a:t>did: integer</a:t>
            </a:r>
            <a:r>
              <a:rPr lang="en-US" sz="2200" i="1" dirty="0"/>
              <a:t>, </a:t>
            </a:r>
            <a:r>
              <a:rPr lang="en-US" sz="2200" i="1" dirty="0" err="1"/>
              <a:t>dname</a:t>
            </a:r>
            <a:r>
              <a:rPr lang="en-US" sz="2200" i="1" dirty="0"/>
              <a:t>: string, budget: real, </a:t>
            </a:r>
            <a:r>
              <a:rPr lang="en-US" sz="2200" i="1" dirty="0" err="1"/>
              <a:t>managerid</a:t>
            </a:r>
            <a:r>
              <a:rPr lang="en-US" sz="2200" i="1" dirty="0"/>
              <a:t>: integer</a:t>
            </a:r>
            <a:endParaRPr lang="en-US" sz="2200" b="1" dirty="0"/>
          </a:p>
          <a:p>
            <a:pPr marL="514350" indent="-514350">
              <a:buFont typeface="+mj-lt"/>
              <a:buAutoNum type="arabicPeriod"/>
            </a:pPr>
            <a:r>
              <a:rPr lang="en-US" dirty="0"/>
              <a:t>Give an example of a foreign key constraint that involves the Dept relation. What are the options for enforcing this constraint when a user attempts to delete a Dept </a:t>
            </a:r>
            <a:r>
              <a:rPr lang="en-US" dirty="0" err="1"/>
              <a:t>tuple</a:t>
            </a:r>
            <a:r>
              <a:rPr lang="en-US" dirty="0"/>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3.8</a:t>
            </a:r>
          </a:p>
        </p:txBody>
      </p:sp>
      <p:sp>
        <p:nvSpPr>
          <p:cNvPr id="3" name="Content Placeholder 2"/>
          <p:cNvSpPr>
            <a:spLocks noGrp="1"/>
          </p:cNvSpPr>
          <p:nvPr>
            <p:ph sz="quarter" idx="1"/>
          </p:nvPr>
        </p:nvSpPr>
        <p:spPr>
          <a:xfrm>
            <a:off x="457200" y="1371600"/>
            <a:ext cx="8229600" cy="1524000"/>
          </a:xfrm>
        </p:spPr>
        <p:txBody>
          <a:bodyPr>
            <a:normAutofit/>
          </a:bodyPr>
          <a:lstStyle/>
          <a:p>
            <a:pPr>
              <a:buNone/>
            </a:pPr>
            <a:r>
              <a:rPr lang="en-US" b="1" dirty="0"/>
              <a:t>Solution for (1)</a:t>
            </a:r>
          </a:p>
          <a:p>
            <a:pPr>
              <a:buNone/>
            </a:pPr>
            <a:r>
              <a:rPr lang="en-US" dirty="0"/>
              <a:t>	An example of a foreign constraint that involves Dept is:</a:t>
            </a:r>
          </a:p>
        </p:txBody>
      </p:sp>
      <p:sp>
        <p:nvSpPr>
          <p:cNvPr id="4" name="Rectangle 3"/>
          <p:cNvSpPr/>
          <p:nvPr/>
        </p:nvSpPr>
        <p:spPr>
          <a:xfrm>
            <a:off x="533400" y="3200400"/>
            <a:ext cx="8001000" cy="615553"/>
          </a:xfrm>
          <a:prstGeom prst="rect">
            <a:avLst/>
          </a:prstGeom>
        </p:spPr>
        <p:txBody>
          <a:bodyPr wrap="square">
            <a:spAutoFit/>
          </a:bodyPr>
          <a:lstStyle/>
          <a:p>
            <a:pPr>
              <a:buNone/>
            </a:pPr>
            <a:endParaRPr lang="en-US" sz="3400" dirty="0"/>
          </a:p>
        </p:txBody>
      </p:sp>
      <p:sp>
        <p:nvSpPr>
          <p:cNvPr id="5" name="Rectangle 4"/>
          <p:cNvSpPr/>
          <p:nvPr/>
        </p:nvSpPr>
        <p:spPr>
          <a:xfrm>
            <a:off x="914400" y="2819400"/>
            <a:ext cx="4724400" cy="2246769"/>
          </a:xfrm>
          <a:prstGeom prst="rect">
            <a:avLst/>
          </a:prstGeom>
        </p:spPr>
        <p:txBody>
          <a:bodyPr wrap="square">
            <a:spAutoFit/>
          </a:bodyPr>
          <a:lstStyle/>
          <a:p>
            <a:pPr>
              <a:buNone/>
            </a:pPr>
            <a:r>
              <a:rPr lang="en-US" sz="2000" dirty="0"/>
              <a:t>CREATE TABLE Works (</a:t>
            </a:r>
          </a:p>
          <a:p>
            <a:pPr lvl="1">
              <a:buNone/>
            </a:pPr>
            <a:r>
              <a:rPr lang="en-US" sz="2000" dirty="0" err="1"/>
              <a:t>eid</a:t>
            </a:r>
            <a:r>
              <a:rPr lang="en-US" sz="2000" dirty="0"/>
              <a:t> INTEGER NOT NULL ,</a:t>
            </a:r>
          </a:p>
          <a:p>
            <a:pPr lvl="1">
              <a:buNone/>
            </a:pPr>
            <a:r>
              <a:rPr lang="en-US" sz="2000" dirty="0"/>
              <a:t>did INTEGER NOT NULL ,</a:t>
            </a:r>
          </a:p>
          <a:p>
            <a:pPr lvl="1">
              <a:buNone/>
            </a:pPr>
            <a:r>
              <a:rPr lang="en-US" sz="2000" dirty="0" err="1"/>
              <a:t>pcttime</a:t>
            </a:r>
            <a:r>
              <a:rPr lang="en-US" sz="2000" dirty="0"/>
              <a:t> INTEGER,</a:t>
            </a:r>
          </a:p>
          <a:p>
            <a:pPr lvl="1">
              <a:buNone/>
            </a:pPr>
            <a:r>
              <a:rPr lang="en-US" sz="2000" dirty="0"/>
              <a:t>PRIMARY KEY (</a:t>
            </a:r>
            <a:r>
              <a:rPr lang="en-US" sz="2000" dirty="0" err="1"/>
              <a:t>eid</a:t>
            </a:r>
            <a:r>
              <a:rPr lang="en-US" sz="2000" dirty="0"/>
              <a:t>, did),</a:t>
            </a:r>
          </a:p>
          <a:p>
            <a:pPr lvl="1">
              <a:buNone/>
            </a:pPr>
            <a:r>
              <a:rPr lang="en-US" sz="2000" dirty="0"/>
              <a:t>UNIQUE (</a:t>
            </a:r>
            <a:r>
              <a:rPr lang="en-US" sz="2000" dirty="0" err="1"/>
              <a:t>eid</a:t>
            </a:r>
            <a:r>
              <a:rPr lang="en-US" sz="2000" dirty="0"/>
              <a:t>),</a:t>
            </a:r>
          </a:p>
          <a:p>
            <a:pPr lvl="1">
              <a:buNone/>
            </a:pPr>
            <a:r>
              <a:rPr lang="en-US" sz="2000" b="1" i="1" dirty="0"/>
              <a:t>FOREIGN KEY (did) REFERENCES Dept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3.8</a:t>
            </a:r>
          </a:p>
        </p:txBody>
      </p:sp>
      <p:sp>
        <p:nvSpPr>
          <p:cNvPr id="3" name="Content Placeholder 2"/>
          <p:cNvSpPr>
            <a:spLocks noGrp="1"/>
          </p:cNvSpPr>
          <p:nvPr>
            <p:ph sz="quarter" idx="1"/>
          </p:nvPr>
        </p:nvSpPr>
        <p:spPr>
          <a:xfrm>
            <a:off x="457200" y="1371600"/>
            <a:ext cx="8229600" cy="4953000"/>
          </a:xfrm>
        </p:spPr>
        <p:txBody>
          <a:bodyPr>
            <a:normAutofit/>
          </a:bodyPr>
          <a:lstStyle/>
          <a:p>
            <a:pPr>
              <a:buNone/>
            </a:pPr>
            <a:r>
              <a:rPr lang="en-US" b="1" dirty="0"/>
              <a:t>Solution for (1)</a:t>
            </a:r>
          </a:p>
          <a:p>
            <a:pPr>
              <a:buNone/>
            </a:pPr>
            <a:r>
              <a:rPr lang="en-US" dirty="0"/>
              <a:t>	Furthermore, when a user attempts to delete a </a:t>
            </a:r>
            <a:r>
              <a:rPr lang="en-US" dirty="0" err="1"/>
              <a:t>tuple</a:t>
            </a:r>
            <a:r>
              <a:rPr lang="en-US" dirty="0"/>
              <a:t> from Dept, we can</a:t>
            </a:r>
          </a:p>
          <a:p>
            <a:pPr lvl="1"/>
            <a:r>
              <a:rPr lang="en-US" dirty="0"/>
              <a:t>also delete all Works </a:t>
            </a:r>
            <a:r>
              <a:rPr lang="en-US" dirty="0" err="1"/>
              <a:t>tuples</a:t>
            </a:r>
            <a:r>
              <a:rPr lang="en-US" dirty="0"/>
              <a:t> that refer to it.</a:t>
            </a:r>
          </a:p>
          <a:p>
            <a:pPr lvl="1"/>
            <a:r>
              <a:rPr lang="en-US" dirty="0"/>
              <a:t>disallow the deletion of the Dept </a:t>
            </a:r>
            <a:r>
              <a:rPr lang="en-US" dirty="0" err="1"/>
              <a:t>tuple</a:t>
            </a:r>
            <a:r>
              <a:rPr lang="en-US" dirty="0"/>
              <a:t> if some Works </a:t>
            </a:r>
            <a:r>
              <a:rPr lang="en-US" dirty="0" err="1"/>
              <a:t>tuple</a:t>
            </a:r>
            <a:r>
              <a:rPr lang="en-US" dirty="0"/>
              <a:t> refers to it.</a:t>
            </a:r>
          </a:p>
          <a:p>
            <a:pPr lvl="1"/>
            <a:r>
              <a:rPr lang="en-US" dirty="0"/>
              <a:t>for every Works </a:t>
            </a:r>
            <a:r>
              <a:rPr lang="en-US" dirty="0" err="1"/>
              <a:t>tuple</a:t>
            </a:r>
            <a:r>
              <a:rPr lang="en-US" dirty="0"/>
              <a:t> that refers to it, set the </a:t>
            </a:r>
            <a:r>
              <a:rPr lang="en-US" i="1" dirty="0"/>
              <a:t>did field to the did of some </a:t>
            </a:r>
            <a:r>
              <a:rPr lang="en-US" dirty="0"/>
              <a:t>(existing) ’default’ department.</a:t>
            </a:r>
          </a:p>
          <a:p>
            <a:pPr lvl="1"/>
            <a:r>
              <a:rPr lang="en-US" dirty="0"/>
              <a:t>for every Works </a:t>
            </a:r>
            <a:r>
              <a:rPr lang="en-US" dirty="0" err="1"/>
              <a:t>tuple</a:t>
            </a:r>
            <a:r>
              <a:rPr lang="en-US" dirty="0"/>
              <a:t> that refers to it, set the </a:t>
            </a:r>
            <a:r>
              <a:rPr lang="en-US" i="1" dirty="0"/>
              <a:t>did field to null.</a:t>
            </a:r>
            <a:endParaRPr lang="en-US" dirty="0"/>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3.8</a:t>
            </a:r>
          </a:p>
        </p:txBody>
      </p:sp>
      <p:sp>
        <p:nvSpPr>
          <p:cNvPr id="3" name="Content Placeholder 2"/>
          <p:cNvSpPr>
            <a:spLocks noGrp="1"/>
          </p:cNvSpPr>
          <p:nvPr>
            <p:ph sz="quarter" idx="1"/>
          </p:nvPr>
        </p:nvSpPr>
        <p:spPr>
          <a:xfrm>
            <a:off x="457200" y="1371600"/>
            <a:ext cx="8229600" cy="4876800"/>
          </a:xfrm>
        </p:spPr>
        <p:txBody>
          <a:bodyPr>
            <a:normAutofit/>
          </a:bodyPr>
          <a:lstStyle/>
          <a:p>
            <a:pPr>
              <a:buNone/>
            </a:pPr>
            <a:r>
              <a:rPr lang="en-US" b="1" dirty="0"/>
              <a:t>Problem</a:t>
            </a:r>
          </a:p>
          <a:p>
            <a:pPr lvl="1">
              <a:buNone/>
            </a:pPr>
            <a:r>
              <a:rPr lang="en-US" sz="2200" dirty="0" err="1"/>
              <a:t>Emp</a:t>
            </a:r>
            <a:r>
              <a:rPr lang="en-US" sz="2200" dirty="0"/>
              <a:t>(</a:t>
            </a:r>
            <a:r>
              <a:rPr lang="en-US" sz="2200" i="1" u="sng" dirty="0" err="1"/>
              <a:t>eid</a:t>
            </a:r>
            <a:r>
              <a:rPr lang="en-US" sz="2200" i="1" u="sng" dirty="0"/>
              <a:t>: integer</a:t>
            </a:r>
            <a:r>
              <a:rPr lang="en-US" sz="2200" i="1" dirty="0"/>
              <a:t>, </a:t>
            </a:r>
            <a:r>
              <a:rPr lang="en-US" sz="2200" i="1" dirty="0" err="1"/>
              <a:t>ename</a:t>
            </a:r>
            <a:r>
              <a:rPr lang="en-US" sz="2200" i="1" dirty="0"/>
              <a:t>: string, age: integer, salary: real)</a:t>
            </a:r>
          </a:p>
          <a:p>
            <a:pPr lvl="1">
              <a:buNone/>
            </a:pPr>
            <a:r>
              <a:rPr lang="en-US" sz="2200" dirty="0"/>
              <a:t>Works(</a:t>
            </a:r>
            <a:r>
              <a:rPr lang="en-US" sz="2200" i="1" u="sng" dirty="0" err="1"/>
              <a:t>eid</a:t>
            </a:r>
            <a:r>
              <a:rPr lang="en-US" sz="2200" i="1" u="sng" dirty="0"/>
              <a:t>: integer, did: integer</a:t>
            </a:r>
            <a:r>
              <a:rPr lang="en-US" sz="2200" i="1" dirty="0"/>
              <a:t>, </a:t>
            </a:r>
            <a:r>
              <a:rPr lang="en-US" sz="2200" i="1" dirty="0" err="1"/>
              <a:t>pcttime</a:t>
            </a:r>
            <a:r>
              <a:rPr lang="en-US" sz="2200" i="1" dirty="0"/>
              <a:t>: integer)</a:t>
            </a:r>
          </a:p>
          <a:p>
            <a:pPr lvl="1">
              <a:buNone/>
            </a:pPr>
            <a:r>
              <a:rPr lang="en-US" sz="2200" dirty="0"/>
              <a:t>Dept(</a:t>
            </a:r>
            <a:r>
              <a:rPr lang="en-US" sz="2200" i="1" u="sng" dirty="0"/>
              <a:t>did: integer</a:t>
            </a:r>
            <a:r>
              <a:rPr lang="en-US" sz="2200" i="1" dirty="0"/>
              <a:t>, </a:t>
            </a:r>
            <a:r>
              <a:rPr lang="en-US" sz="2200" i="1" dirty="0" err="1"/>
              <a:t>dname</a:t>
            </a:r>
            <a:r>
              <a:rPr lang="en-US" sz="2200" i="1" dirty="0"/>
              <a:t>: string, budget: real, </a:t>
            </a:r>
            <a:r>
              <a:rPr lang="en-US" sz="2200" i="1" dirty="0" err="1"/>
              <a:t>managerid</a:t>
            </a:r>
            <a:r>
              <a:rPr lang="en-US" sz="2200" i="1" dirty="0"/>
              <a:t>: integer</a:t>
            </a:r>
            <a:endParaRPr lang="en-US" sz="2200" b="1" dirty="0"/>
          </a:p>
          <a:p>
            <a:pPr marL="514350" indent="-514350">
              <a:buFont typeface="+mj-lt"/>
              <a:buAutoNum type="arabicPeriod" startAt="2"/>
            </a:pPr>
            <a:r>
              <a:rPr lang="en-US" dirty="0"/>
              <a:t>Write the SQL statements required to create the preceding relations, including appropriate versions of all primary and foreign key integrity constraints.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3.8</a:t>
            </a:r>
          </a:p>
        </p:txBody>
      </p:sp>
      <p:sp>
        <p:nvSpPr>
          <p:cNvPr id="3" name="Content Placeholder 2"/>
          <p:cNvSpPr>
            <a:spLocks noGrp="1"/>
          </p:cNvSpPr>
          <p:nvPr>
            <p:ph sz="quarter" idx="1"/>
          </p:nvPr>
        </p:nvSpPr>
        <p:spPr>
          <a:xfrm>
            <a:off x="457200" y="1371600"/>
            <a:ext cx="8229600" cy="1981200"/>
          </a:xfrm>
        </p:spPr>
        <p:txBody>
          <a:bodyPr>
            <a:normAutofit/>
          </a:bodyPr>
          <a:lstStyle/>
          <a:p>
            <a:pPr>
              <a:buNone/>
            </a:pPr>
            <a:r>
              <a:rPr lang="en-US" b="1" dirty="0"/>
              <a:t>Solution for (2)</a:t>
            </a:r>
          </a:p>
          <a:p>
            <a:pPr lvl="1">
              <a:buNone/>
            </a:pPr>
            <a:endParaRPr lang="en-US" sz="2200" dirty="0"/>
          </a:p>
          <a:p>
            <a:pPr lvl="1">
              <a:buNone/>
            </a:pPr>
            <a:r>
              <a:rPr lang="en-US" sz="2200" dirty="0" err="1"/>
              <a:t>Emp</a:t>
            </a:r>
            <a:r>
              <a:rPr lang="en-US" sz="2200" dirty="0"/>
              <a:t>(</a:t>
            </a:r>
            <a:r>
              <a:rPr lang="en-US" sz="2200" i="1" u="sng" dirty="0" err="1"/>
              <a:t>eid</a:t>
            </a:r>
            <a:r>
              <a:rPr lang="en-US" sz="2200" i="1" u="sng" dirty="0"/>
              <a:t>: integer</a:t>
            </a:r>
            <a:r>
              <a:rPr lang="en-US" sz="2200" i="1" dirty="0"/>
              <a:t>, </a:t>
            </a:r>
            <a:r>
              <a:rPr lang="en-US" sz="2200" i="1" dirty="0" err="1"/>
              <a:t>ename</a:t>
            </a:r>
            <a:r>
              <a:rPr lang="en-US" sz="2200" i="1" dirty="0"/>
              <a:t>: string, age: integer, salary: real)</a:t>
            </a:r>
          </a:p>
          <a:p>
            <a:pPr lvl="1">
              <a:buNone/>
            </a:pPr>
            <a:r>
              <a:rPr lang="en-US" sz="2200" dirty="0"/>
              <a:t>Works(</a:t>
            </a:r>
            <a:r>
              <a:rPr lang="en-US" sz="2200" i="1" u="sng" dirty="0" err="1"/>
              <a:t>eid</a:t>
            </a:r>
            <a:r>
              <a:rPr lang="en-US" sz="2200" i="1" u="sng" dirty="0"/>
              <a:t>: integer, did: integer</a:t>
            </a:r>
            <a:r>
              <a:rPr lang="en-US" sz="2200" i="1" dirty="0"/>
              <a:t>, </a:t>
            </a:r>
            <a:r>
              <a:rPr lang="en-US" sz="2200" i="1" dirty="0" err="1"/>
              <a:t>pcttime</a:t>
            </a:r>
            <a:r>
              <a:rPr lang="en-US" sz="2200" i="1" dirty="0"/>
              <a:t>: integer)</a:t>
            </a:r>
          </a:p>
        </p:txBody>
      </p:sp>
      <p:sp>
        <p:nvSpPr>
          <p:cNvPr id="4" name="TextBox 3"/>
          <p:cNvSpPr txBox="1"/>
          <p:nvPr/>
        </p:nvSpPr>
        <p:spPr>
          <a:xfrm>
            <a:off x="914400" y="3581400"/>
            <a:ext cx="2971800" cy="1938992"/>
          </a:xfrm>
          <a:prstGeom prst="rect">
            <a:avLst/>
          </a:prstGeom>
          <a:noFill/>
        </p:spPr>
        <p:txBody>
          <a:bodyPr wrap="square" rtlCol="0">
            <a:spAutoFit/>
          </a:bodyPr>
          <a:lstStyle/>
          <a:p>
            <a:r>
              <a:rPr lang="en-US" sz="2000" dirty="0"/>
              <a:t>CREATE TABLE </a:t>
            </a:r>
            <a:r>
              <a:rPr lang="en-US" sz="2000" dirty="0" err="1"/>
              <a:t>Emp</a:t>
            </a:r>
            <a:r>
              <a:rPr lang="en-US" sz="2000" dirty="0"/>
              <a:t> (</a:t>
            </a:r>
          </a:p>
          <a:p>
            <a:pPr lvl="1"/>
            <a:r>
              <a:rPr lang="en-US" sz="2000" dirty="0" err="1"/>
              <a:t>eid</a:t>
            </a:r>
            <a:r>
              <a:rPr lang="en-US" sz="2000" dirty="0"/>
              <a:t> INTEGER,</a:t>
            </a:r>
          </a:p>
          <a:p>
            <a:pPr lvl="1"/>
            <a:r>
              <a:rPr lang="en-US" sz="2000" dirty="0" err="1"/>
              <a:t>ename</a:t>
            </a:r>
            <a:r>
              <a:rPr lang="en-US" sz="2000" dirty="0"/>
              <a:t> CHAR(10),</a:t>
            </a:r>
          </a:p>
          <a:p>
            <a:pPr lvl="1"/>
            <a:r>
              <a:rPr lang="en-US" sz="2000" dirty="0"/>
              <a:t>age INTEGER,</a:t>
            </a:r>
          </a:p>
          <a:p>
            <a:pPr lvl="1"/>
            <a:r>
              <a:rPr lang="en-US" sz="2000" dirty="0"/>
              <a:t>salary REAL,</a:t>
            </a:r>
          </a:p>
          <a:p>
            <a:pPr lvl="1"/>
            <a:r>
              <a:rPr lang="en-US" sz="2000" dirty="0"/>
              <a:t>PRIMARY KEY (</a:t>
            </a:r>
            <a:r>
              <a:rPr lang="en-US" sz="2000" dirty="0" err="1"/>
              <a:t>eid</a:t>
            </a:r>
            <a:r>
              <a:rPr lang="en-US" sz="2000" dirty="0"/>
              <a:t>) )</a:t>
            </a:r>
          </a:p>
        </p:txBody>
      </p:sp>
      <p:sp>
        <p:nvSpPr>
          <p:cNvPr id="5" name="TextBox 4"/>
          <p:cNvSpPr txBox="1"/>
          <p:nvPr/>
        </p:nvSpPr>
        <p:spPr>
          <a:xfrm>
            <a:off x="3886200" y="3581400"/>
            <a:ext cx="4648200" cy="2554545"/>
          </a:xfrm>
          <a:prstGeom prst="rect">
            <a:avLst/>
          </a:prstGeom>
          <a:noFill/>
        </p:spPr>
        <p:txBody>
          <a:bodyPr wrap="square" rtlCol="0">
            <a:spAutoFit/>
          </a:bodyPr>
          <a:lstStyle/>
          <a:p>
            <a:r>
              <a:rPr lang="en-US" sz="2000" dirty="0"/>
              <a:t>CREATE TABLE Works (</a:t>
            </a:r>
          </a:p>
          <a:p>
            <a:pPr lvl="1"/>
            <a:r>
              <a:rPr lang="en-US" sz="2000" dirty="0" err="1"/>
              <a:t>eid</a:t>
            </a:r>
            <a:r>
              <a:rPr lang="en-US" sz="2000" dirty="0"/>
              <a:t> INTEGER,</a:t>
            </a:r>
          </a:p>
          <a:p>
            <a:pPr lvl="1"/>
            <a:r>
              <a:rPr lang="en-US" sz="2000" dirty="0"/>
              <a:t>did INTEGER,</a:t>
            </a:r>
          </a:p>
          <a:p>
            <a:pPr lvl="1"/>
            <a:r>
              <a:rPr lang="en-US" sz="2000" dirty="0" err="1"/>
              <a:t>pcttime</a:t>
            </a:r>
            <a:r>
              <a:rPr lang="en-US" sz="2000" dirty="0"/>
              <a:t> INTEGER,</a:t>
            </a:r>
          </a:p>
          <a:p>
            <a:pPr lvl="1"/>
            <a:r>
              <a:rPr lang="en-US" sz="2000" dirty="0"/>
              <a:t>PRIMARY KEY (</a:t>
            </a:r>
            <a:r>
              <a:rPr lang="en-US" sz="2000" dirty="0" err="1"/>
              <a:t>eid</a:t>
            </a:r>
            <a:r>
              <a:rPr lang="en-US" sz="2000" dirty="0"/>
              <a:t>, did),</a:t>
            </a:r>
          </a:p>
          <a:p>
            <a:pPr lvl="1"/>
            <a:r>
              <a:rPr lang="en-US" sz="2000" dirty="0"/>
              <a:t>FOREIGN KEY (did) REFERENCES Dept,</a:t>
            </a:r>
          </a:p>
          <a:p>
            <a:pPr lvl="1"/>
            <a:r>
              <a:rPr lang="en-US" sz="2000" dirty="0"/>
              <a:t>FOREIGN KEY (</a:t>
            </a:r>
            <a:r>
              <a:rPr lang="en-US" sz="2000" dirty="0" err="1"/>
              <a:t>eid</a:t>
            </a:r>
            <a:r>
              <a:rPr lang="en-US" sz="2000" dirty="0"/>
              <a:t>) REFERENCES </a:t>
            </a:r>
            <a:r>
              <a:rPr lang="en-US" sz="2000" dirty="0" err="1"/>
              <a:t>Emp</a:t>
            </a:r>
            <a:r>
              <a:rPr lang="en-US" sz="2000" dirty="0"/>
              <a:t>,</a:t>
            </a:r>
          </a:p>
          <a:p>
            <a:pPr lvl="1"/>
            <a:r>
              <a:rPr lang="en-US" sz="2000" dirty="0"/>
              <a:t>	ON DELETE CASCADE)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3.8</a:t>
            </a:r>
          </a:p>
        </p:txBody>
      </p:sp>
      <p:sp>
        <p:nvSpPr>
          <p:cNvPr id="3" name="Content Placeholder 2"/>
          <p:cNvSpPr>
            <a:spLocks noGrp="1"/>
          </p:cNvSpPr>
          <p:nvPr>
            <p:ph sz="quarter" idx="1"/>
          </p:nvPr>
        </p:nvSpPr>
        <p:spPr>
          <a:xfrm>
            <a:off x="457200" y="1371600"/>
            <a:ext cx="8229600" cy="1447800"/>
          </a:xfrm>
        </p:spPr>
        <p:txBody>
          <a:bodyPr>
            <a:normAutofit/>
          </a:bodyPr>
          <a:lstStyle/>
          <a:p>
            <a:pPr>
              <a:buNone/>
            </a:pPr>
            <a:r>
              <a:rPr lang="en-US" b="1" dirty="0"/>
              <a:t>Solution for (2)</a:t>
            </a:r>
          </a:p>
          <a:p>
            <a:pPr lvl="1">
              <a:buNone/>
            </a:pPr>
            <a:endParaRPr lang="en-US" sz="2200" dirty="0"/>
          </a:p>
          <a:p>
            <a:pPr lvl="1">
              <a:buNone/>
            </a:pPr>
            <a:r>
              <a:rPr lang="en-US" sz="2200" dirty="0"/>
              <a:t>Dept(</a:t>
            </a:r>
            <a:r>
              <a:rPr lang="en-US" sz="2200" i="1" u="sng" dirty="0"/>
              <a:t>did: integer</a:t>
            </a:r>
            <a:r>
              <a:rPr lang="en-US" sz="2200" i="1" dirty="0"/>
              <a:t>, </a:t>
            </a:r>
            <a:r>
              <a:rPr lang="en-US" sz="2200" i="1" dirty="0" err="1"/>
              <a:t>dname</a:t>
            </a:r>
            <a:r>
              <a:rPr lang="en-US" sz="2200" i="1" dirty="0"/>
              <a:t>: string, budget: real, </a:t>
            </a:r>
            <a:r>
              <a:rPr lang="en-US" sz="2200" i="1" dirty="0" err="1"/>
              <a:t>managerid</a:t>
            </a:r>
            <a:r>
              <a:rPr lang="en-US" sz="2200" i="1" dirty="0"/>
              <a:t>: integer</a:t>
            </a:r>
            <a:endParaRPr lang="en-US" sz="2200" b="1" dirty="0"/>
          </a:p>
        </p:txBody>
      </p:sp>
      <p:sp>
        <p:nvSpPr>
          <p:cNvPr id="4" name="TextBox 3"/>
          <p:cNvSpPr txBox="1"/>
          <p:nvPr/>
        </p:nvSpPr>
        <p:spPr>
          <a:xfrm>
            <a:off x="914400" y="2895600"/>
            <a:ext cx="5334000" cy="2246769"/>
          </a:xfrm>
          <a:prstGeom prst="rect">
            <a:avLst/>
          </a:prstGeom>
          <a:noFill/>
        </p:spPr>
        <p:txBody>
          <a:bodyPr wrap="square" rtlCol="0">
            <a:spAutoFit/>
          </a:bodyPr>
          <a:lstStyle/>
          <a:p>
            <a:r>
              <a:rPr lang="en-US" sz="2000" dirty="0"/>
              <a:t>CREATE TABLE Dept (</a:t>
            </a:r>
          </a:p>
          <a:p>
            <a:pPr lvl="1"/>
            <a:r>
              <a:rPr lang="en-US" sz="2000" dirty="0"/>
              <a:t>did INTEGER,</a:t>
            </a:r>
          </a:p>
          <a:p>
            <a:pPr lvl="1"/>
            <a:r>
              <a:rPr lang="en-US" sz="2000" dirty="0"/>
              <a:t>budget REAL,</a:t>
            </a:r>
          </a:p>
          <a:p>
            <a:pPr lvl="1"/>
            <a:r>
              <a:rPr lang="en-US" sz="2000" dirty="0" err="1"/>
              <a:t>managerid</a:t>
            </a:r>
            <a:r>
              <a:rPr lang="en-US" sz="2000" dirty="0"/>
              <a:t> INTEGER ,</a:t>
            </a:r>
          </a:p>
          <a:p>
            <a:pPr lvl="1"/>
            <a:r>
              <a:rPr lang="en-US" sz="2000" dirty="0"/>
              <a:t>PRIMARY KEY (did),</a:t>
            </a:r>
          </a:p>
          <a:p>
            <a:pPr lvl="1"/>
            <a:r>
              <a:rPr lang="en-US" sz="2000" dirty="0"/>
              <a:t>FOREIGN KEY (</a:t>
            </a:r>
            <a:r>
              <a:rPr lang="en-US" sz="2000" dirty="0" err="1"/>
              <a:t>managerid</a:t>
            </a:r>
            <a:r>
              <a:rPr lang="en-US" sz="2000" dirty="0"/>
              <a:t>) REFERENCES </a:t>
            </a:r>
            <a:r>
              <a:rPr lang="en-US" sz="2000" dirty="0" err="1"/>
              <a:t>Emp</a:t>
            </a:r>
            <a:r>
              <a:rPr lang="en-US" sz="2000" dirty="0"/>
              <a:t>,</a:t>
            </a:r>
          </a:p>
          <a:p>
            <a:pPr lvl="1"/>
            <a:r>
              <a:rPr lang="en-US" sz="2000" dirty="0"/>
              <a:t>	ON DELETE SET NULL)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3.8</a:t>
            </a:r>
          </a:p>
        </p:txBody>
      </p:sp>
      <p:sp>
        <p:nvSpPr>
          <p:cNvPr id="3" name="Content Placeholder 2"/>
          <p:cNvSpPr>
            <a:spLocks noGrp="1"/>
          </p:cNvSpPr>
          <p:nvPr>
            <p:ph sz="quarter" idx="1"/>
          </p:nvPr>
        </p:nvSpPr>
        <p:spPr>
          <a:xfrm>
            <a:off x="457200" y="1371600"/>
            <a:ext cx="8229600" cy="2819400"/>
          </a:xfrm>
        </p:spPr>
        <p:txBody>
          <a:bodyPr>
            <a:normAutofit/>
          </a:bodyPr>
          <a:lstStyle/>
          <a:p>
            <a:pPr>
              <a:buNone/>
            </a:pPr>
            <a:r>
              <a:rPr lang="en-US" b="1" dirty="0"/>
              <a:t>Problem</a:t>
            </a:r>
          </a:p>
          <a:p>
            <a:pPr lvl="1">
              <a:buNone/>
            </a:pPr>
            <a:r>
              <a:rPr lang="en-US" sz="2200" dirty="0" err="1"/>
              <a:t>Emp</a:t>
            </a:r>
            <a:r>
              <a:rPr lang="en-US" sz="2200" dirty="0"/>
              <a:t>(</a:t>
            </a:r>
            <a:r>
              <a:rPr lang="en-US" sz="2200" i="1" u="sng" dirty="0" err="1"/>
              <a:t>eid</a:t>
            </a:r>
            <a:r>
              <a:rPr lang="en-US" sz="2200" i="1" u="sng" dirty="0"/>
              <a:t>: integer</a:t>
            </a:r>
            <a:r>
              <a:rPr lang="en-US" sz="2200" i="1" dirty="0"/>
              <a:t>, </a:t>
            </a:r>
            <a:r>
              <a:rPr lang="en-US" sz="2200" i="1" dirty="0" err="1"/>
              <a:t>ename</a:t>
            </a:r>
            <a:r>
              <a:rPr lang="en-US" sz="2200" i="1" dirty="0"/>
              <a:t>: string, age: integer, salary: real)</a:t>
            </a:r>
          </a:p>
          <a:p>
            <a:pPr lvl="1">
              <a:buNone/>
            </a:pPr>
            <a:r>
              <a:rPr lang="en-US" sz="2200" dirty="0"/>
              <a:t>Works(</a:t>
            </a:r>
            <a:r>
              <a:rPr lang="en-US" sz="2200" i="1" u="sng" dirty="0" err="1"/>
              <a:t>eid</a:t>
            </a:r>
            <a:r>
              <a:rPr lang="en-US" sz="2200" i="1" u="sng" dirty="0"/>
              <a:t>: integer, did: integer</a:t>
            </a:r>
            <a:r>
              <a:rPr lang="en-US" sz="2200" i="1" dirty="0"/>
              <a:t>, </a:t>
            </a:r>
            <a:r>
              <a:rPr lang="en-US" sz="2200" i="1" dirty="0" err="1"/>
              <a:t>pcttime</a:t>
            </a:r>
            <a:r>
              <a:rPr lang="en-US" sz="2200" i="1" dirty="0"/>
              <a:t>: integer)</a:t>
            </a:r>
          </a:p>
          <a:p>
            <a:pPr lvl="1">
              <a:buNone/>
            </a:pPr>
            <a:r>
              <a:rPr lang="en-US" sz="2200" dirty="0"/>
              <a:t>Dept(</a:t>
            </a:r>
            <a:r>
              <a:rPr lang="en-US" sz="2200" i="1" u="sng" dirty="0"/>
              <a:t>did: integer</a:t>
            </a:r>
            <a:r>
              <a:rPr lang="en-US" sz="2200" i="1" dirty="0"/>
              <a:t>, </a:t>
            </a:r>
            <a:r>
              <a:rPr lang="en-US" sz="2200" i="1" dirty="0" err="1"/>
              <a:t>dname</a:t>
            </a:r>
            <a:r>
              <a:rPr lang="en-US" sz="2200" i="1" dirty="0"/>
              <a:t>: string, budget: real, </a:t>
            </a:r>
            <a:r>
              <a:rPr lang="en-US" sz="2200" i="1" dirty="0" err="1"/>
              <a:t>managerid</a:t>
            </a:r>
            <a:r>
              <a:rPr lang="en-US" sz="2200" i="1" dirty="0"/>
              <a:t>: integer</a:t>
            </a:r>
            <a:endParaRPr lang="en-US" sz="2200" b="1" dirty="0"/>
          </a:p>
          <a:p>
            <a:pPr marL="514350" indent="-514350">
              <a:buFont typeface="+mj-lt"/>
              <a:buAutoNum type="arabicPeriod" startAt="3"/>
            </a:pPr>
            <a:r>
              <a:rPr lang="en-US" dirty="0"/>
              <a:t>Define the Dept relation in SQL so that every department is guaranteed to have a manager.</a:t>
            </a:r>
          </a:p>
        </p:txBody>
      </p:sp>
      <p:sp>
        <p:nvSpPr>
          <p:cNvPr id="4" name="TextBox 3"/>
          <p:cNvSpPr txBox="1"/>
          <p:nvPr/>
        </p:nvSpPr>
        <p:spPr>
          <a:xfrm>
            <a:off x="1066800" y="4572000"/>
            <a:ext cx="5867400" cy="1938992"/>
          </a:xfrm>
          <a:prstGeom prst="rect">
            <a:avLst/>
          </a:prstGeom>
          <a:noFill/>
        </p:spPr>
        <p:txBody>
          <a:bodyPr wrap="square" rtlCol="0">
            <a:spAutoFit/>
          </a:bodyPr>
          <a:lstStyle/>
          <a:p>
            <a:r>
              <a:rPr lang="en-US" sz="2000" dirty="0"/>
              <a:t>CREATE TABLE Dept ( </a:t>
            </a:r>
          </a:p>
          <a:p>
            <a:pPr lvl="1"/>
            <a:r>
              <a:rPr lang="en-US" sz="2000" dirty="0"/>
              <a:t>did INTEGER,</a:t>
            </a:r>
          </a:p>
          <a:p>
            <a:pPr lvl="1"/>
            <a:r>
              <a:rPr lang="en-US" sz="2000" dirty="0"/>
              <a:t>budget REAL,</a:t>
            </a:r>
          </a:p>
          <a:p>
            <a:pPr lvl="1"/>
            <a:r>
              <a:rPr lang="en-US" sz="2000" dirty="0" err="1"/>
              <a:t>managerid</a:t>
            </a:r>
            <a:r>
              <a:rPr lang="en-US" sz="2000" dirty="0"/>
              <a:t> INTEGER NOT NULL ,</a:t>
            </a:r>
          </a:p>
          <a:p>
            <a:pPr lvl="1"/>
            <a:r>
              <a:rPr lang="en-US" sz="2000" dirty="0"/>
              <a:t>PRIMARY KEY (did),</a:t>
            </a:r>
          </a:p>
          <a:p>
            <a:pPr lvl="1"/>
            <a:r>
              <a:rPr lang="en-US" sz="2000" dirty="0"/>
              <a:t>FOREIGN KEY (</a:t>
            </a:r>
            <a:r>
              <a:rPr lang="en-US" sz="2000" dirty="0" err="1"/>
              <a:t>managerid</a:t>
            </a:r>
            <a:r>
              <a:rPr lang="en-US" sz="2000" dirty="0"/>
              <a:t>) REFERENCES </a:t>
            </a:r>
            <a:r>
              <a:rPr lang="en-US" sz="2000" dirty="0" err="1"/>
              <a:t>Emp</a:t>
            </a:r>
            <a:r>
              <a:rPr lang="en-US" sz="2000" dirty="0"/>
              <a:t>)</a:t>
            </a:r>
          </a:p>
        </p:txBody>
      </p:sp>
      <p:sp>
        <p:nvSpPr>
          <p:cNvPr id="5" name="Content Placeholder 2"/>
          <p:cNvSpPr txBox="1">
            <a:spLocks/>
          </p:cNvSpPr>
          <p:nvPr/>
        </p:nvSpPr>
        <p:spPr>
          <a:xfrm>
            <a:off x="533400" y="4038600"/>
            <a:ext cx="5029200" cy="609600"/>
          </a:xfrm>
          <a:prstGeom prst="rect">
            <a:avLst/>
          </a:prstGeom>
        </p:spPr>
        <p:txBody>
          <a:bodyPr vert="horz" lIns="91440" tIns="45720" rIns="91440" bIns="45720" rtlCol="0">
            <a:normAutofit fontScale="925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1" i="0" u="none" strike="noStrike" kern="1200" cap="none" spc="0" normalizeH="0" baseline="0" noProof="0" dirty="0">
                <a:ln>
                  <a:noFill/>
                </a:ln>
                <a:solidFill>
                  <a:schemeClr val="tx1"/>
                </a:solidFill>
                <a:effectLst/>
                <a:uLnTx/>
                <a:uFillTx/>
                <a:latin typeface="+mn-lt"/>
                <a:ea typeface="+mn-ea"/>
                <a:cs typeface="+mn-cs"/>
              </a:rPr>
              <a:t>Example of a Solution for (3)</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1"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3.8</a:t>
            </a:r>
          </a:p>
        </p:txBody>
      </p:sp>
      <p:sp>
        <p:nvSpPr>
          <p:cNvPr id="3" name="Content Placeholder 2"/>
          <p:cNvSpPr>
            <a:spLocks noGrp="1"/>
          </p:cNvSpPr>
          <p:nvPr>
            <p:ph sz="quarter" idx="1"/>
          </p:nvPr>
        </p:nvSpPr>
        <p:spPr>
          <a:xfrm>
            <a:off x="457200" y="1447800"/>
            <a:ext cx="8229600" cy="3352800"/>
          </a:xfrm>
        </p:spPr>
        <p:txBody>
          <a:bodyPr>
            <a:normAutofit/>
          </a:bodyPr>
          <a:lstStyle/>
          <a:p>
            <a:pPr>
              <a:buNone/>
            </a:pPr>
            <a:r>
              <a:rPr lang="en-US" b="1" dirty="0"/>
              <a:t>Problem</a:t>
            </a:r>
          </a:p>
          <a:p>
            <a:pPr lvl="1">
              <a:buNone/>
            </a:pPr>
            <a:r>
              <a:rPr lang="en-US" sz="2200" dirty="0" err="1"/>
              <a:t>Emp</a:t>
            </a:r>
            <a:r>
              <a:rPr lang="en-US" sz="2200" dirty="0"/>
              <a:t>(</a:t>
            </a:r>
            <a:r>
              <a:rPr lang="en-US" sz="2200" i="1" u="sng" dirty="0" err="1"/>
              <a:t>eid</a:t>
            </a:r>
            <a:r>
              <a:rPr lang="en-US" sz="2200" i="1" u="sng" dirty="0"/>
              <a:t>: integer</a:t>
            </a:r>
            <a:r>
              <a:rPr lang="en-US" sz="2200" i="1" dirty="0"/>
              <a:t>, </a:t>
            </a:r>
            <a:r>
              <a:rPr lang="en-US" sz="2200" i="1" dirty="0" err="1"/>
              <a:t>ename</a:t>
            </a:r>
            <a:r>
              <a:rPr lang="en-US" sz="2200" i="1" dirty="0"/>
              <a:t>: string, age: integer, salary: real)</a:t>
            </a:r>
          </a:p>
          <a:p>
            <a:pPr lvl="1">
              <a:buNone/>
            </a:pPr>
            <a:r>
              <a:rPr lang="en-US" sz="2200" dirty="0"/>
              <a:t>Works(</a:t>
            </a:r>
            <a:r>
              <a:rPr lang="en-US" sz="2200" i="1" u="sng" dirty="0" err="1"/>
              <a:t>eid</a:t>
            </a:r>
            <a:r>
              <a:rPr lang="en-US" sz="2200" i="1" u="sng" dirty="0"/>
              <a:t>: integer, did: integer</a:t>
            </a:r>
            <a:r>
              <a:rPr lang="en-US" sz="2200" i="1" dirty="0"/>
              <a:t>, </a:t>
            </a:r>
            <a:r>
              <a:rPr lang="en-US" sz="2200" i="1" dirty="0" err="1"/>
              <a:t>pcttime</a:t>
            </a:r>
            <a:r>
              <a:rPr lang="en-US" sz="2200" i="1" dirty="0"/>
              <a:t>: integer)</a:t>
            </a:r>
          </a:p>
          <a:p>
            <a:pPr lvl="1">
              <a:buNone/>
            </a:pPr>
            <a:r>
              <a:rPr lang="en-US" sz="2200" dirty="0"/>
              <a:t>Dept(</a:t>
            </a:r>
            <a:r>
              <a:rPr lang="en-US" sz="2200" i="1" u="sng" dirty="0"/>
              <a:t>did: integer</a:t>
            </a:r>
            <a:r>
              <a:rPr lang="en-US" sz="2200" i="1" dirty="0"/>
              <a:t>, </a:t>
            </a:r>
            <a:r>
              <a:rPr lang="en-US" sz="2200" i="1" dirty="0" err="1"/>
              <a:t>dname</a:t>
            </a:r>
            <a:r>
              <a:rPr lang="en-US" sz="2200" i="1" dirty="0"/>
              <a:t>: string, budget: real, </a:t>
            </a:r>
            <a:r>
              <a:rPr lang="en-US" sz="2200" i="1" dirty="0" err="1"/>
              <a:t>managerid</a:t>
            </a:r>
            <a:r>
              <a:rPr lang="en-US" sz="2200" i="1" dirty="0"/>
              <a:t>: integer</a:t>
            </a:r>
            <a:endParaRPr lang="en-US" sz="2200" b="1" dirty="0"/>
          </a:p>
          <a:p>
            <a:pPr marL="514350" indent="-514350">
              <a:buFont typeface="+mj-lt"/>
              <a:buAutoNum type="arabicPeriod" startAt="4"/>
            </a:pPr>
            <a:r>
              <a:rPr lang="en-US" dirty="0"/>
              <a:t>Write an SQL statement to add John Doe as an employee with </a:t>
            </a:r>
            <a:r>
              <a:rPr lang="en-US" i="1" dirty="0" err="1"/>
              <a:t>eid</a:t>
            </a:r>
            <a:r>
              <a:rPr lang="en-US" i="1" dirty="0"/>
              <a:t> = 101, age = 32 </a:t>
            </a:r>
            <a:r>
              <a:rPr lang="en-US" dirty="0"/>
              <a:t>and </a:t>
            </a:r>
            <a:r>
              <a:rPr lang="en-US" i="1" dirty="0"/>
              <a:t>salary = 15, 000.</a:t>
            </a:r>
            <a:endParaRPr lang="en-US" dirty="0"/>
          </a:p>
        </p:txBody>
      </p:sp>
      <p:sp>
        <p:nvSpPr>
          <p:cNvPr id="4" name="TextBox 3"/>
          <p:cNvSpPr txBox="1"/>
          <p:nvPr/>
        </p:nvSpPr>
        <p:spPr>
          <a:xfrm>
            <a:off x="1066800" y="5029200"/>
            <a:ext cx="3962400" cy="1015663"/>
          </a:xfrm>
          <a:prstGeom prst="rect">
            <a:avLst/>
          </a:prstGeom>
          <a:noFill/>
        </p:spPr>
        <p:txBody>
          <a:bodyPr wrap="square" rtlCol="0">
            <a:spAutoFit/>
          </a:bodyPr>
          <a:lstStyle/>
          <a:p>
            <a:r>
              <a:rPr lang="en-US" sz="2000" dirty="0"/>
              <a:t>INSERT</a:t>
            </a:r>
          </a:p>
          <a:p>
            <a:r>
              <a:rPr lang="en-US" sz="2000" dirty="0"/>
              <a:t>INTO </a:t>
            </a:r>
            <a:r>
              <a:rPr lang="en-US" sz="2000" dirty="0" err="1"/>
              <a:t>Emp</a:t>
            </a:r>
            <a:r>
              <a:rPr lang="en-US" sz="2000" dirty="0"/>
              <a:t> (</a:t>
            </a:r>
            <a:r>
              <a:rPr lang="en-US" sz="2000" dirty="0" err="1"/>
              <a:t>eid</a:t>
            </a:r>
            <a:r>
              <a:rPr lang="en-US" sz="2000" dirty="0"/>
              <a:t>, </a:t>
            </a:r>
            <a:r>
              <a:rPr lang="en-US" sz="2000" dirty="0" err="1"/>
              <a:t>ename</a:t>
            </a:r>
            <a:r>
              <a:rPr lang="en-US" sz="2000" dirty="0"/>
              <a:t>, age, salary)</a:t>
            </a:r>
          </a:p>
          <a:p>
            <a:r>
              <a:rPr lang="en-US" sz="2000" dirty="0"/>
              <a:t>VALUES (101, ’John Doe’, 32, 15000)</a:t>
            </a:r>
          </a:p>
        </p:txBody>
      </p:sp>
      <p:sp>
        <p:nvSpPr>
          <p:cNvPr id="5" name="Content Placeholder 2"/>
          <p:cNvSpPr txBox="1">
            <a:spLocks/>
          </p:cNvSpPr>
          <p:nvPr/>
        </p:nvSpPr>
        <p:spPr>
          <a:xfrm>
            <a:off x="533400" y="4572000"/>
            <a:ext cx="3200400" cy="533400"/>
          </a:xfrm>
          <a:prstGeom prst="rect">
            <a:avLst/>
          </a:prstGeom>
        </p:spPr>
        <p:txBody>
          <a:bodyPr vert="horz" lIns="91440" tIns="45720" rIns="91440" bIns="45720" rtlCol="0">
            <a:normAutofit fontScale="92500"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1" i="0" u="none" strike="noStrike" kern="1200" cap="none" spc="0" normalizeH="0" baseline="0" noProof="0" dirty="0">
                <a:ln>
                  <a:noFill/>
                </a:ln>
                <a:solidFill>
                  <a:schemeClr val="tx1"/>
                </a:solidFill>
                <a:effectLst/>
                <a:uLnTx/>
                <a:uFillTx/>
                <a:latin typeface="+mn-lt"/>
                <a:ea typeface="+mn-ea"/>
                <a:cs typeface="+mn-cs"/>
              </a:rPr>
              <a:t>Solution for (4)</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1"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3.8</a:t>
            </a:r>
          </a:p>
        </p:txBody>
      </p:sp>
      <p:sp>
        <p:nvSpPr>
          <p:cNvPr id="3" name="Content Placeholder 2"/>
          <p:cNvSpPr>
            <a:spLocks noGrp="1"/>
          </p:cNvSpPr>
          <p:nvPr>
            <p:ph sz="quarter" idx="1"/>
          </p:nvPr>
        </p:nvSpPr>
        <p:spPr>
          <a:xfrm>
            <a:off x="457200" y="1447800"/>
            <a:ext cx="8229600" cy="2971800"/>
          </a:xfrm>
        </p:spPr>
        <p:txBody>
          <a:bodyPr>
            <a:normAutofit/>
          </a:bodyPr>
          <a:lstStyle/>
          <a:p>
            <a:pPr>
              <a:buNone/>
            </a:pPr>
            <a:r>
              <a:rPr lang="en-US" b="1" dirty="0"/>
              <a:t>Problem</a:t>
            </a:r>
          </a:p>
          <a:p>
            <a:pPr lvl="1">
              <a:buNone/>
            </a:pPr>
            <a:r>
              <a:rPr lang="en-US" sz="2200" dirty="0" err="1"/>
              <a:t>Emp</a:t>
            </a:r>
            <a:r>
              <a:rPr lang="en-US" sz="2200" dirty="0"/>
              <a:t>(</a:t>
            </a:r>
            <a:r>
              <a:rPr lang="en-US" sz="2200" i="1" u="sng" dirty="0" err="1"/>
              <a:t>eid</a:t>
            </a:r>
            <a:r>
              <a:rPr lang="en-US" sz="2200" i="1" u="sng" dirty="0"/>
              <a:t>: integer</a:t>
            </a:r>
            <a:r>
              <a:rPr lang="en-US" sz="2200" i="1" dirty="0"/>
              <a:t>, </a:t>
            </a:r>
            <a:r>
              <a:rPr lang="en-US" sz="2200" i="1" dirty="0" err="1"/>
              <a:t>ename</a:t>
            </a:r>
            <a:r>
              <a:rPr lang="en-US" sz="2200" i="1" dirty="0"/>
              <a:t>: string, age: integer, salary: real)</a:t>
            </a:r>
          </a:p>
          <a:p>
            <a:pPr lvl="1">
              <a:buNone/>
            </a:pPr>
            <a:r>
              <a:rPr lang="en-US" sz="2200" dirty="0"/>
              <a:t>Works(</a:t>
            </a:r>
            <a:r>
              <a:rPr lang="en-US" sz="2200" i="1" u="sng" dirty="0" err="1"/>
              <a:t>eid</a:t>
            </a:r>
            <a:r>
              <a:rPr lang="en-US" sz="2200" i="1" u="sng" dirty="0"/>
              <a:t>: integer, did: integer</a:t>
            </a:r>
            <a:r>
              <a:rPr lang="en-US" sz="2200" i="1" dirty="0"/>
              <a:t>, </a:t>
            </a:r>
            <a:r>
              <a:rPr lang="en-US" sz="2200" i="1" dirty="0" err="1"/>
              <a:t>pcttime</a:t>
            </a:r>
            <a:r>
              <a:rPr lang="en-US" sz="2200" i="1" dirty="0"/>
              <a:t>: integer)</a:t>
            </a:r>
          </a:p>
          <a:p>
            <a:pPr lvl="1">
              <a:buNone/>
            </a:pPr>
            <a:r>
              <a:rPr lang="en-US" sz="2200" dirty="0"/>
              <a:t>Dept(</a:t>
            </a:r>
            <a:r>
              <a:rPr lang="en-US" sz="2200" i="1" u="sng" dirty="0"/>
              <a:t>did: integer</a:t>
            </a:r>
            <a:r>
              <a:rPr lang="en-US" sz="2200" i="1" dirty="0"/>
              <a:t>, </a:t>
            </a:r>
            <a:r>
              <a:rPr lang="en-US" sz="2200" i="1" dirty="0" err="1"/>
              <a:t>dname</a:t>
            </a:r>
            <a:r>
              <a:rPr lang="en-US" sz="2200" i="1" dirty="0"/>
              <a:t>: string, budget: real, </a:t>
            </a:r>
            <a:r>
              <a:rPr lang="en-US" sz="2200" i="1" dirty="0" err="1"/>
              <a:t>managerid</a:t>
            </a:r>
            <a:r>
              <a:rPr lang="en-US" sz="2200" i="1" dirty="0"/>
              <a:t>: integer</a:t>
            </a:r>
            <a:endParaRPr lang="en-US" sz="2200" b="1" dirty="0"/>
          </a:p>
          <a:p>
            <a:pPr marL="514350" indent="-514350">
              <a:buFont typeface="+mj-lt"/>
              <a:buAutoNum type="arabicPeriod" startAt="5"/>
            </a:pPr>
            <a:r>
              <a:rPr lang="en-US" dirty="0"/>
              <a:t>Write an SQL statement to give every employee a 10 percent raise.</a:t>
            </a:r>
          </a:p>
        </p:txBody>
      </p:sp>
      <p:sp>
        <p:nvSpPr>
          <p:cNvPr id="4" name="TextBox 3"/>
          <p:cNvSpPr txBox="1"/>
          <p:nvPr/>
        </p:nvSpPr>
        <p:spPr>
          <a:xfrm>
            <a:off x="1066800" y="5029200"/>
            <a:ext cx="3962400" cy="707886"/>
          </a:xfrm>
          <a:prstGeom prst="rect">
            <a:avLst/>
          </a:prstGeom>
          <a:noFill/>
        </p:spPr>
        <p:txBody>
          <a:bodyPr wrap="square" rtlCol="0">
            <a:spAutoFit/>
          </a:bodyPr>
          <a:lstStyle/>
          <a:p>
            <a:r>
              <a:rPr lang="en-US" sz="2000" dirty="0"/>
              <a:t>UPDATE </a:t>
            </a:r>
            <a:r>
              <a:rPr lang="en-US" sz="2000" dirty="0" err="1"/>
              <a:t>Emp</a:t>
            </a:r>
            <a:r>
              <a:rPr lang="en-US" sz="2000" dirty="0"/>
              <a:t> E</a:t>
            </a:r>
          </a:p>
          <a:p>
            <a:r>
              <a:rPr lang="en-US" sz="2000" dirty="0"/>
              <a:t>SET </a:t>
            </a:r>
            <a:r>
              <a:rPr lang="en-US" sz="2000" dirty="0" err="1"/>
              <a:t>E.salary</a:t>
            </a:r>
            <a:r>
              <a:rPr lang="en-US" sz="2000" dirty="0"/>
              <a:t> = </a:t>
            </a:r>
            <a:r>
              <a:rPr lang="en-US" sz="2000" dirty="0" err="1"/>
              <a:t>E.salary</a:t>
            </a:r>
            <a:r>
              <a:rPr lang="en-US" sz="2000" dirty="0"/>
              <a:t> * 1.10</a:t>
            </a:r>
          </a:p>
        </p:txBody>
      </p:sp>
      <p:sp>
        <p:nvSpPr>
          <p:cNvPr id="5" name="Content Placeholder 2"/>
          <p:cNvSpPr txBox="1">
            <a:spLocks/>
          </p:cNvSpPr>
          <p:nvPr/>
        </p:nvSpPr>
        <p:spPr>
          <a:xfrm>
            <a:off x="533400" y="4572000"/>
            <a:ext cx="3200400" cy="533400"/>
          </a:xfrm>
          <a:prstGeom prst="rect">
            <a:avLst/>
          </a:prstGeom>
        </p:spPr>
        <p:txBody>
          <a:bodyPr vert="horz" lIns="91440" tIns="45720" rIns="91440" bIns="45720" rtlCol="0">
            <a:normAutofit fontScale="92500"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1" i="0" u="none" strike="noStrike" kern="1200" cap="none" spc="0" normalizeH="0" baseline="0" noProof="0" dirty="0">
                <a:ln>
                  <a:noFill/>
                </a:ln>
                <a:solidFill>
                  <a:schemeClr val="tx1"/>
                </a:solidFill>
                <a:effectLst/>
                <a:uLnTx/>
                <a:uFillTx/>
                <a:latin typeface="+mn-lt"/>
                <a:ea typeface="+mn-ea"/>
                <a:cs typeface="+mn-cs"/>
              </a:rPr>
              <a:t>Solution for (5)</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200" b="1"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3.8</a:t>
            </a:r>
          </a:p>
        </p:txBody>
      </p:sp>
      <p:sp>
        <p:nvSpPr>
          <p:cNvPr id="3" name="Content Placeholder 2"/>
          <p:cNvSpPr>
            <a:spLocks noGrp="1"/>
          </p:cNvSpPr>
          <p:nvPr>
            <p:ph sz="quarter" idx="1"/>
          </p:nvPr>
        </p:nvSpPr>
        <p:spPr>
          <a:xfrm>
            <a:off x="457200" y="1371600"/>
            <a:ext cx="8229600" cy="4876800"/>
          </a:xfrm>
        </p:spPr>
        <p:txBody>
          <a:bodyPr>
            <a:normAutofit/>
          </a:bodyPr>
          <a:lstStyle/>
          <a:p>
            <a:pPr>
              <a:buNone/>
            </a:pPr>
            <a:r>
              <a:rPr lang="en-US" b="1" dirty="0"/>
              <a:t>Problem</a:t>
            </a:r>
          </a:p>
          <a:p>
            <a:pPr lvl="1">
              <a:buNone/>
            </a:pPr>
            <a:r>
              <a:rPr lang="en-US" sz="2200" dirty="0" err="1"/>
              <a:t>Emp</a:t>
            </a:r>
            <a:r>
              <a:rPr lang="en-US" sz="2200" dirty="0"/>
              <a:t>(</a:t>
            </a:r>
            <a:r>
              <a:rPr lang="en-US" sz="2200" i="1" u="sng" dirty="0" err="1"/>
              <a:t>eid</a:t>
            </a:r>
            <a:r>
              <a:rPr lang="en-US" sz="2200" i="1" u="sng" dirty="0"/>
              <a:t>: integer</a:t>
            </a:r>
            <a:r>
              <a:rPr lang="en-US" sz="2200" i="1" dirty="0"/>
              <a:t>, </a:t>
            </a:r>
            <a:r>
              <a:rPr lang="en-US" sz="2200" i="1" dirty="0" err="1"/>
              <a:t>ename</a:t>
            </a:r>
            <a:r>
              <a:rPr lang="en-US" sz="2200" i="1" dirty="0"/>
              <a:t>: string, age: integer, salary: real)</a:t>
            </a:r>
          </a:p>
          <a:p>
            <a:pPr lvl="1">
              <a:buNone/>
            </a:pPr>
            <a:r>
              <a:rPr lang="en-US" sz="2200" dirty="0"/>
              <a:t>Works(</a:t>
            </a:r>
            <a:r>
              <a:rPr lang="en-US" sz="2200" i="1" u="sng" dirty="0" err="1"/>
              <a:t>eid</a:t>
            </a:r>
            <a:r>
              <a:rPr lang="en-US" sz="2200" i="1" u="sng" dirty="0"/>
              <a:t>: integer, did: integer</a:t>
            </a:r>
            <a:r>
              <a:rPr lang="en-US" sz="2200" i="1" dirty="0"/>
              <a:t>, </a:t>
            </a:r>
            <a:r>
              <a:rPr lang="en-US" sz="2200" i="1" dirty="0" err="1"/>
              <a:t>pcttime</a:t>
            </a:r>
            <a:r>
              <a:rPr lang="en-US" sz="2200" i="1" dirty="0"/>
              <a:t>: integer)</a:t>
            </a:r>
          </a:p>
          <a:p>
            <a:pPr lvl="1">
              <a:buNone/>
            </a:pPr>
            <a:r>
              <a:rPr lang="en-US" sz="2200" dirty="0"/>
              <a:t>Dept(</a:t>
            </a:r>
            <a:r>
              <a:rPr lang="en-US" sz="2200" i="1" u="sng" dirty="0"/>
              <a:t>did: integer</a:t>
            </a:r>
            <a:r>
              <a:rPr lang="en-US" sz="2200" i="1" dirty="0"/>
              <a:t>, </a:t>
            </a:r>
            <a:r>
              <a:rPr lang="en-US" sz="2200" i="1" dirty="0" err="1"/>
              <a:t>dname</a:t>
            </a:r>
            <a:r>
              <a:rPr lang="en-US" sz="2200" i="1" dirty="0"/>
              <a:t>: string, budget: real, </a:t>
            </a:r>
            <a:r>
              <a:rPr lang="en-US" sz="2200" i="1" dirty="0" err="1"/>
              <a:t>managerid</a:t>
            </a:r>
            <a:r>
              <a:rPr lang="en-US" sz="2200" i="1" dirty="0"/>
              <a:t>: integer</a:t>
            </a:r>
            <a:endParaRPr lang="en-US" sz="2200" b="1" dirty="0"/>
          </a:p>
          <a:p>
            <a:pPr marL="514350" indent="-514350">
              <a:buFont typeface="+mj-lt"/>
              <a:buAutoNum type="arabicPeriod" startAt="6"/>
            </a:pPr>
            <a:r>
              <a:rPr lang="en-US" dirty="0"/>
              <a:t>Write an Write an SQL statement to delete the Toy department. Given the referential integrity constraints you chose for this schema, explain what happens when this statement is executed.</a:t>
            </a:r>
            <a:endParaRPr lang="en-US" i="1"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96962"/>
          </a:xfrm>
        </p:spPr>
        <p:txBody>
          <a:bodyPr/>
          <a:lstStyle/>
          <a:p>
            <a:pPr algn="l"/>
            <a:r>
              <a:rPr lang="en-US" dirty="0"/>
              <a:t>Exercise 3.8</a:t>
            </a:r>
          </a:p>
        </p:txBody>
      </p:sp>
      <p:sp>
        <p:nvSpPr>
          <p:cNvPr id="3" name="Content Placeholder 2"/>
          <p:cNvSpPr>
            <a:spLocks noGrp="1"/>
          </p:cNvSpPr>
          <p:nvPr>
            <p:ph sz="quarter" idx="1"/>
          </p:nvPr>
        </p:nvSpPr>
        <p:spPr>
          <a:xfrm>
            <a:off x="457200" y="1371600"/>
            <a:ext cx="3657600" cy="685800"/>
          </a:xfrm>
        </p:spPr>
        <p:txBody>
          <a:bodyPr>
            <a:normAutofit/>
          </a:bodyPr>
          <a:lstStyle/>
          <a:p>
            <a:pPr>
              <a:buNone/>
            </a:pPr>
            <a:r>
              <a:rPr lang="en-US" b="1" dirty="0"/>
              <a:t>Solution for (6)</a:t>
            </a:r>
            <a:endParaRPr lang="en-US" sz="2200" b="1" dirty="0"/>
          </a:p>
        </p:txBody>
      </p:sp>
      <p:sp>
        <p:nvSpPr>
          <p:cNvPr id="7" name="TextBox 6"/>
          <p:cNvSpPr txBox="1"/>
          <p:nvPr/>
        </p:nvSpPr>
        <p:spPr>
          <a:xfrm>
            <a:off x="990600" y="1752600"/>
            <a:ext cx="3200400" cy="1015663"/>
          </a:xfrm>
          <a:prstGeom prst="rect">
            <a:avLst/>
          </a:prstGeom>
          <a:noFill/>
        </p:spPr>
        <p:txBody>
          <a:bodyPr wrap="square" rtlCol="0">
            <a:spAutoFit/>
          </a:bodyPr>
          <a:lstStyle/>
          <a:p>
            <a:r>
              <a:rPr lang="en-US" sz="2000" dirty="0"/>
              <a:t>DELETE</a:t>
            </a:r>
          </a:p>
          <a:p>
            <a:r>
              <a:rPr lang="en-US" sz="2000" dirty="0"/>
              <a:t>FROM Dept D</a:t>
            </a:r>
          </a:p>
          <a:p>
            <a:r>
              <a:rPr lang="en-US" sz="2000" dirty="0"/>
              <a:t>WHERE </a:t>
            </a:r>
            <a:r>
              <a:rPr lang="en-US" sz="2000" dirty="0" err="1"/>
              <a:t>D.dname</a:t>
            </a:r>
            <a:r>
              <a:rPr lang="en-US" sz="2000" dirty="0"/>
              <a:t> = ’Toy’</a:t>
            </a:r>
          </a:p>
        </p:txBody>
      </p:sp>
      <p:sp>
        <p:nvSpPr>
          <p:cNvPr id="8" name="TextBox 7"/>
          <p:cNvSpPr txBox="1"/>
          <p:nvPr/>
        </p:nvSpPr>
        <p:spPr>
          <a:xfrm>
            <a:off x="762000" y="4953000"/>
            <a:ext cx="7620000" cy="1384995"/>
          </a:xfrm>
          <a:prstGeom prst="rect">
            <a:avLst/>
          </a:prstGeom>
          <a:noFill/>
        </p:spPr>
        <p:txBody>
          <a:bodyPr wrap="square" rtlCol="0">
            <a:spAutoFit/>
          </a:bodyPr>
          <a:lstStyle/>
          <a:p>
            <a:r>
              <a:rPr lang="en-US" sz="2800" dirty="0"/>
              <a:t>Since the action to take on deletion was not specified, the database takes no action by default That is, it rejects the deletion.</a:t>
            </a:r>
          </a:p>
        </p:txBody>
      </p:sp>
      <p:sp>
        <p:nvSpPr>
          <p:cNvPr id="9" name="TextBox 8"/>
          <p:cNvSpPr txBox="1"/>
          <p:nvPr/>
        </p:nvSpPr>
        <p:spPr>
          <a:xfrm>
            <a:off x="990600" y="3657600"/>
            <a:ext cx="5943600" cy="1323439"/>
          </a:xfrm>
          <a:prstGeom prst="rect">
            <a:avLst/>
          </a:prstGeom>
          <a:noFill/>
        </p:spPr>
        <p:txBody>
          <a:bodyPr wrap="square" rtlCol="0">
            <a:spAutoFit/>
          </a:bodyPr>
          <a:lstStyle/>
          <a:p>
            <a:r>
              <a:rPr lang="en-US" sz="2000" dirty="0"/>
              <a:t>CREATE TABLE Works (</a:t>
            </a:r>
          </a:p>
          <a:p>
            <a:pPr lvl="1"/>
            <a:r>
              <a:rPr lang="en-US" sz="2000" dirty="0"/>
              <a:t>…</a:t>
            </a:r>
          </a:p>
          <a:p>
            <a:pPr lvl="1"/>
            <a:r>
              <a:rPr lang="en-US" sz="2000" dirty="0"/>
              <a:t>FOREIGN KEY (did) REFERENCES Dept,</a:t>
            </a:r>
          </a:p>
          <a:p>
            <a:pPr lvl="1"/>
            <a:r>
              <a:rPr lang="en-US" sz="2000" dirty="0"/>
              <a:t>…)</a:t>
            </a:r>
          </a:p>
        </p:txBody>
      </p:sp>
      <p:sp>
        <p:nvSpPr>
          <p:cNvPr id="10" name="TextBox 9"/>
          <p:cNvSpPr txBox="1"/>
          <p:nvPr/>
        </p:nvSpPr>
        <p:spPr>
          <a:xfrm>
            <a:off x="762000" y="2743200"/>
            <a:ext cx="7620000" cy="954107"/>
          </a:xfrm>
          <a:prstGeom prst="rect">
            <a:avLst/>
          </a:prstGeom>
          <a:noFill/>
        </p:spPr>
        <p:txBody>
          <a:bodyPr wrap="square" rtlCol="0">
            <a:spAutoFit/>
          </a:bodyPr>
          <a:lstStyle/>
          <a:p>
            <a:r>
              <a:rPr lang="en-US" sz="2800" dirty="0"/>
              <a:t>These are the example integrity constraints that affect Dept.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Exercise 3.8</a:t>
            </a:r>
          </a:p>
        </p:txBody>
      </p:sp>
      <p:sp>
        <p:nvSpPr>
          <p:cNvPr id="3" name="Content Placeholder 2"/>
          <p:cNvSpPr>
            <a:spLocks noGrp="1"/>
          </p:cNvSpPr>
          <p:nvPr>
            <p:ph sz="quarter" idx="1"/>
          </p:nvPr>
        </p:nvSpPr>
        <p:spPr>
          <a:xfrm>
            <a:off x="457200" y="1371600"/>
            <a:ext cx="8229600" cy="5029200"/>
          </a:xfrm>
        </p:spPr>
        <p:txBody>
          <a:bodyPr>
            <a:normAutofit/>
          </a:bodyPr>
          <a:lstStyle/>
          <a:p>
            <a:pPr>
              <a:buNone/>
            </a:pPr>
            <a:r>
              <a:rPr lang="en-US" b="1" dirty="0"/>
              <a:t>Solution for (6)</a:t>
            </a:r>
            <a:endParaRPr lang="en-US" sz="2200" b="1" dirty="0"/>
          </a:p>
          <a:p>
            <a:pPr lvl="0"/>
            <a:r>
              <a:rPr lang="en-US" dirty="0"/>
              <a:t>What other actions can the system take on deleting a Dept </a:t>
            </a:r>
            <a:r>
              <a:rPr lang="en-US" dirty="0" err="1"/>
              <a:t>tuple</a:t>
            </a:r>
            <a:r>
              <a:rPr lang="en-US" dirty="0"/>
              <a:t>? What are the pros and cons of each action?</a:t>
            </a:r>
          </a:p>
          <a:p>
            <a:pPr lvl="1"/>
            <a:r>
              <a:rPr lang="en-US" dirty="0"/>
              <a:t>On delete set null</a:t>
            </a:r>
          </a:p>
          <a:p>
            <a:pPr lvl="1"/>
            <a:r>
              <a:rPr lang="en-US" dirty="0"/>
              <a:t>On delete set default</a:t>
            </a:r>
          </a:p>
          <a:p>
            <a:pPr lvl="1"/>
            <a:r>
              <a:rPr lang="en-US" dirty="0"/>
              <a:t>On delete cascade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p:cNvSpPr txBox="1">
            <a:spLocks/>
          </p:cNvSpPr>
          <p:nvPr/>
        </p:nvSpPr>
        <p:spPr>
          <a:xfrm>
            <a:off x="457200" y="1524000"/>
            <a:ext cx="8229600" cy="3962400"/>
          </a:xfrm>
          <a:prstGeom prst="rect">
            <a:avLst/>
          </a:prstGeom>
        </p:spPr>
        <p:txBody>
          <a:bodyPr vert="horz" lIns="91440" tIns="45720" rIns="91440" bIns="45720" rtlCol="0" anchor="ctr" anchorCtr="1">
            <a:normAutofit/>
          </a:bodyPr>
          <a:lstStyle/>
          <a:p>
            <a:pPr marL="514350" marR="0" lvl="0" indent="-514350" algn="l" defTabSz="914400" rtl="0" eaLnBrk="1" fontAlgn="auto" latinLnBrk="0" hangingPunct="1">
              <a:lnSpc>
                <a:spcPct val="100000"/>
              </a:lnSpc>
              <a:spcBef>
                <a:spcPct val="20000"/>
              </a:spcBef>
              <a:spcAft>
                <a:spcPts val="0"/>
              </a:spcAft>
              <a:buClrTx/>
              <a:buSzTx/>
              <a:tabLst/>
              <a:defRPr/>
            </a:pPr>
            <a:r>
              <a:rPr lang="en-US" sz="3200" noProof="0" dirty="0"/>
              <a:t>This is the end of the lecture!</a:t>
            </a:r>
          </a:p>
          <a:p>
            <a:pPr marL="514350" marR="0" lvl="0" indent="-514350" algn="l" defTabSz="914400" rtl="0" eaLnBrk="1" fontAlgn="auto" latinLnBrk="0" hangingPunct="1">
              <a:lnSpc>
                <a:spcPct val="100000"/>
              </a:lnSpc>
              <a:spcBef>
                <a:spcPct val="20000"/>
              </a:spcBef>
              <a:spcAft>
                <a:spcPts val="0"/>
              </a:spcAft>
              <a:buClrTx/>
              <a:buSzTx/>
              <a:tabLst/>
              <a:defRPr/>
            </a:pPr>
            <a:r>
              <a:rPr kumimoji="0" lang="en-US" sz="3200" b="0" u="none" strike="noStrike" kern="1200" cap="none" spc="0" normalizeH="0" baseline="0" dirty="0">
                <a:ln>
                  <a:noFill/>
                </a:ln>
                <a:solidFill>
                  <a:schemeClr val="tx1"/>
                </a:solidFill>
                <a:effectLst/>
                <a:uLnTx/>
                <a:uFillTx/>
                <a:latin typeface="+mn-lt"/>
                <a:ea typeface="+mn-ea"/>
                <a:cs typeface="+mn-cs"/>
              </a:rPr>
              <a:t>I</a:t>
            </a:r>
            <a:r>
              <a:rPr kumimoji="0" lang="en-US" sz="3200" b="0" u="none" strike="noStrike" kern="1200" cap="none" spc="0" normalizeH="0" dirty="0">
                <a:ln>
                  <a:noFill/>
                </a:ln>
                <a:solidFill>
                  <a:schemeClr val="tx1"/>
                </a:solidFill>
                <a:effectLst/>
                <a:uLnTx/>
                <a:uFillTx/>
                <a:latin typeface="+mn-lt"/>
                <a:ea typeface="+mn-ea"/>
                <a:cs typeface="+mn-cs"/>
              </a:rPr>
              <a:t> hope you enjoyed it.</a:t>
            </a:r>
            <a:endParaRPr kumimoji="0" lang="en-US" sz="3200" b="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1256</TotalTime>
  <Words>2719</Words>
  <Application>Microsoft Office PowerPoint</Application>
  <PresentationFormat>On-screen Show (4:3)</PresentationFormat>
  <Paragraphs>495</Paragraphs>
  <Slides>47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Arial</vt:lpstr>
      <vt:lpstr>Tw Cen MT</vt:lpstr>
      <vt:lpstr>Wingdings</vt:lpstr>
      <vt:lpstr>Wingdings 2</vt:lpstr>
      <vt:lpstr>Median</vt:lpstr>
      <vt:lpstr>COP-5725 Practice Exercises</vt:lpstr>
      <vt:lpstr>Exercise 2.4</vt:lpstr>
      <vt:lpstr>Exercise 2.4</vt:lpstr>
      <vt:lpstr>Exercise 2.4</vt:lpstr>
      <vt:lpstr>Exercise 2.4</vt:lpstr>
      <vt:lpstr>Exercise 2.4</vt:lpstr>
      <vt:lpstr>Exercise 2.4</vt:lpstr>
      <vt:lpstr>Exercise 2.8</vt:lpstr>
      <vt:lpstr>Exercise 2.8</vt:lpstr>
      <vt:lpstr>Exercise 2.8</vt:lpstr>
      <vt:lpstr>Exercise 2.8</vt:lpstr>
      <vt:lpstr>Exercise 2.8</vt:lpstr>
      <vt:lpstr>Exercise 2.8</vt:lpstr>
      <vt:lpstr>Exercise 2.8</vt:lpstr>
      <vt:lpstr>Exercise 2.8</vt:lpstr>
      <vt:lpstr>Exercise 2.8</vt:lpstr>
      <vt:lpstr>Exercise 2.8</vt:lpstr>
      <vt:lpstr>Exercise 3.14</vt:lpstr>
      <vt:lpstr>Exercise 3.14</vt:lpstr>
      <vt:lpstr>Exercise 3.14</vt:lpstr>
      <vt:lpstr>Exercise 3.14</vt:lpstr>
      <vt:lpstr>Exercise 3.14</vt:lpstr>
      <vt:lpstr>Exercise 3.14</vt:lpstr>
      <vt:lpstr>Exercise 3.14</vt:lpstr>
      <vt:lpstr>Exercise 3.14</vt:lpstr>
      <vt:lpstr>Exercise 3.14</vt:lpstr>
      <vt:lpstr>Exercise 3.18</vt:lpstr>
      <vt:lpstr>Exercise 3.18</vt:lpstr>
      <vt:lpstr>Exercise 3.18</vt:lpstr>
      <vt:lpstr>Exercise 3.18</vt:lpstr>
      <vt:lpstr>Exercise 3.18</vt:lpstr>
      <vt:lpstr>Exercise 3.18</vt:lpstr>
      <vt:lpstr>Exercise 3.18</vt:lpstr>
      <vt:lpstr>Exercise 3.8</vt:lpstr>
      <vt:lpstr>Exercise 3.8</vt:lpstr>
      <vt:lpstr>Exercise 3.8</vt:lpstr>
      <vt:lpstr>Exercise 3.8</vt:lpstr>
      <vt:lpstr>Exercise 3.8</vt:lpstr>
      <vt:lpstr>Exercise 3.8</vt:lpstr>
      <vt:lpstr>Exercise 3.8</vt:lpstr>
      <vt:lpstr>Exercise 3.8</vt:lpstr>
      <vt:lpstr>Exercise 3.8</vt:lpstr>
      <vt:lpstr>Exercise 3.8</vt:lpstr>
      <vt:lpstr>Exercise 3.8</vt:lpstr>
      <vt:lpstr>Exercise 3.8</vt:lpstr>
      <vt:lpstr>Exercise 3.8</vt:lpstr>
      <vt:lpstr>PowerPoint Presentation</vt:lpstr>
    </vt:vector>
  </TitlesOfParts>
  <Company>Kitties, Puppies and Ducklings Oh 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Practice Exercises</dc:title>
  <dc:creator>MAC</dc:creator>
  <cp:lastModifiedBy>Ravi Khadka</cp:lastModifiedBy>
  <cp:revision>32</cp:revision>
  <dcterms:created xsi:type="dcterms:W3CDTF">2010-09-15T18:07:00Z</dcterms:created>
  <dcterms:modified xsi:type="dcterms:W3CDTF">2020-10-03T14:29:41Z</dcterms:modified>
</cp:coreProperties>
</file>