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2" r:id="rId1"/>
  </p:sldMasterIdLst>
  <p:sldIdLst>
    <p:sldId id="270" r:id="rId2"/>
    <p:sldId id="257" r:id="rId3"/>
    <p:sldId id="271" r:id="rId4"/>
    <p:sldId id="272" r:id="rId5"/>
    <p:sldId id="258" r:id="rId6"/>
    <p:sldId id="261" r:id="rId7"/>
    <p:sldId id="259" r:id="rId8"/>
    <p:sldId id="275" r:id="rId9"/>
    <p:sldId id="260" r:id="rId10"/>
    <p:sldId id="273" r:id="rId11"/>
    <p:sldId id="262" r:id="rId12"/>
    <p:sldId id="263" r:id="rId13"/>
    <p:sldId id="274" r:id="rId14"/>
    <p:sldId id="264" r:id="rId15"/>
    <p:sldId id="266" r:id="rId16"/>
    <p:sldId id="267" r:id="rId17"/>
    <p:sldId id="269" r:id="rId18"/>
    <p:sldId id="268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8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84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75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36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6508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41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659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6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58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45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9088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74626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9845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3161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288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994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4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808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6AEA-1778-4B54-A509-B0CAA15BD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256" y="460876"/>
            <a:ext cx="6943344" cy="810320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tx1"/>
                </a:solidFill>
                <a:latin typeface="Algerian" panose="04020705040A02060702" pitchFamily="82" charset="0"/>
              </a:rPr>
              <a:t>Operational Amplifier,</a:t>
            </a:r>
            <a:br>
              <a:rPr lang="en-US" sz="2000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chemeClr val="tx1"/>
                </a:solidFill>
                <a:latin typeface="Algerian" panose="04020705040A02060702" pitchFamily="82" charset="0"/>
              </a:rPr>
              <a:t> Its types </a:t>
            </a:r>
            <a:br>
              <a:rPr lang="en-US" sz="2000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chemeClr val="tx1"/>
                </a:solidFill>
                <a:latin typeface="Algerian" panose="04020705040A02060702" pitchFamily="82" charset="0"/>
              </a:rPr>
              <a:t>and Instrumentation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97EB0-5DBB-437E-940F-29657FF28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41" y="2653552"/>
            <a:ext cx="2913530" cy="25011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b="1" i="1" dirty="0">
                <a:solidFill>
                  <a:srgbClr val="FFFF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C G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Prabin Chaudhary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Prajwal Chaudhary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Sagar Chaudhary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Sandesh Chaudhary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NAST, Dhangadhi</a:t>
            </a:r>
          </a:p>
        </p:txBody>
      </p:sp>
    </p:spTree>
    <p:extLst>
      <p:ext uri="{BB962C8B-B14F-4D97-AF65-F5344CB8AC3E}">
        <p14:creationId xmlns:p14="http://schemas.microsoft.com/office/powerpoint/2010/main" val="145262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7C1B-1E1E-4E43-A102-E8460D3A3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454" y="469021"/>
            <a:ext cx="6881786" cy="44538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B8291-FACF-4F2C-9C46-9FDC942B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453" y="1310640"/>
            <a:ext cx="6881786" cy="3808207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Introduction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Inverting Operational Amplifier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Non Inverting Operational Amplifier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Types of Operational Amplifier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1.4.1 Adder / Summer Operational Amplifier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1.4.2 Subtractor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1.4.3 Differentiator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1.4.4 Integrator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 Instrumentational Amplifier </a:t>
            </a:r>
          </a:p>
        </p:txBody>
      </p:sp>
    </p:spTree>
    <p:extLst>
      <p:ext uri="{BB962C8B-B14F-4D97-AF65-F5344CB8AC3E}">
        <p14:creationId xmlns:p14="http://schemas.microsoft.com/office/powerpoint/2010/main" val="1896278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C915-0174-4D8F-B140-E75B6529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42125"/>
            <a:ext cx="7729728" cy="360516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Introduction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6E86-8A61-4FA3-B28B-D97B82A9F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127760"/>
            <a:ext cx="7729728" cy="50596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Amplifier, also called as an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Op-Amp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is an integrated circuit, which can be used to perform various linear, non-linear, and mathematical operations.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three terminals: two high-impedance inputs and a low-impedance output port. A minus sign denotes the inverting input (-), while the non-inverting input is denoted by a positive sign (+).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8.1: Introduction to Operational Amplifiers (Op-amps) - Workforce LibreTexts">
            <a:extLst>
              <a:ext uri="{FF2B5EF4-FFF2-40B4-BE49-F238E27FC236}">
                <a16:creationId xmlns:a16="http://schemas.microsoft.com/office/drawing/2014/main" id="{647ACF8C-91D2-4F02-A2BA-6A584EE9F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840" y="3429000"/>
            <a:ext cx="3576320" cy="2225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041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C220-3180-46E5-822B-797223EA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87918"/>
            <a:ext cx="7729728" cy="50776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Types Of Operational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981FE-9347-4C1A-8EE8-1881F2E20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239521"/>
            <a:ext cx="7729728" cy="322071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upon the input terminal, the operational amplifier is classified on two types: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Inverting Operational Amplifier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 Inverting Operational Amplifier</a:t>
            </a:r>
          </a:p>
        </p:txBody>
      </p:sp>
    </p:spTree>
    <p:extLst>
      <p:ext uri="{BB962C8B-B14F-4D97-AF65-F5344CB8AC3E}">
        <p14:creationId xmlns:p14="http://schemas.microsoft.com/office/powerpoint/2010/main" val="1864306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6B43-287C-43D3-8035-64DDF6BC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688" y="430472"/>
            <a:ext cx="7532624" cy="555047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inverting operational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57D12-32F8-4FBC-B800-2EC99183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361440"/>
            <a:ext cx="7532624" cy="4511041"/>
          </a:xfrm>
        </p:spPr>
        <p:txBody>
          <a:bodyPr/>
          <a:lstStyle/>
          <a:p>
            <a:pPr algn="just"/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provided only at the inverting terminal (-), keeping the non-inverting terminal (+) grounded. This type of Op-Amp is known as Inverting Operational Amplifier.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nverting-Amplifier">
            <a:extLst>
              <a:ext uri="{FF2B5EF4-FFF2-40B4-BE49-F238E27FC236}">
                <a16:creationId xmlns:a16="http://schemas.microsoft.com/office/drawing/2014/main" id="{BF3B6B49-7910-424B-88A7-C49F0EE69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383" y="2588258"/>
            <a:ext cx="3840130" cy="244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31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17B428-DAEB-4250-95E6-DE40B7DEE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5293" y="294640"/>
            <a:ext cx="7154953" cy="6084867"/>
          </a:xfrm>
        </p:spPr>
      </p:pic>
    </p:spTree>
    <p:extLst>
      <p:ext uri="{BB962C8B-B14F-4D97-AF65-F5344CB8AC3E}">
        <p14:creationId xmlns:p14="http://schemas.microsoft.com/office/powerpoint/2010/main" val="320703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758B-9023-442B-A70E-5F64A7D6B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945"/>
            <a:ext cx="7729728" cy="55893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Non inverting operational amplifier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93776-3958-4E8A-AB88-0D1C82ABC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270000"/>
            <a:ext cx="7729728" cy="4470027"/>
          </a:xfrm>
        </p:spPr>
        <p:txBody>
          <a:bodyPr>
            <a:normAutofit/>
          </a:bodyPr>
          <a:lstStyle/>
          <a:p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provided only at the non-inverting terminal (+), keeping the inverting terminal (-) grounded. This type of Op-Amp is known as Non- Inverting Operational Amplifier.</a:t>
            </a:r>
          </a:p>
          <a:p>
            <a:endParaRPr lang="en-US" sz="16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4CFE8B-2DE0-45A8-877A-25F4AB612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80" y="2362973"/>
            <a:ext cx="4561840" cy="251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0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36A97E-ADF2-4EE3-B594-AF540686F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7260" y="701675"/>
            <a:ext cx="6417480" cy="5191125"/>
          </a:xfrm>
        </p:spPr>
      </p:pic>
    </p:spTree>
    <p:extLst>
      <p:ext uri="{BB962C8B-B14F-4D97-AF65-F5344CB8AC3E}">
        <p14:creationId xmlns:p14="http://schemas.microsoft.com/office/powerpoint/2010/main" val="1919716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DAFFD-B7F9-4D5F-BCC5-8D4645E6B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00095"/>
            <a:ext cx="7729728" cy="59994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lgerian" panose="04020705040A02060702" pitchFamily="82" charset="0"/>
                <a:cs typeface="Times New Roman" panose="02020603050405020304" pitchFamily="18" charset="0"/>
              </a:rPr>
              <a:t> Types of Operational Amplifier1</a:t>
            </a:r>
            <a:endParaRPr lang="en-US" sz="2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ACD5-36E2-484B-99B2-81744B227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7" y="1326776"/>
            <a:ext cx="7729727" cy="292010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upon the operation, the operational amplifier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are classified as: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Adder / Summer Operational Amplifier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Subtractor Operational Amplifier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Differential Amplifier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Integrator Amplifier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90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AD57-325B-4300-B753-A6C2D69B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056" y="406400"/>
            <a:ext cx="7729728" cy="772160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Algerian" panose="04020705040A02060702" pitchFamily="82" charset="0"/>
                <a:cs typeface="Times New Roman" panose="02020603050405020304" pitchFamily="18" charset="0"/>
              </a:rPr>
              <a:t>Adder / Summer Operational Amplifier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B741DC-B71F-472B-BA20-DEE841C39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056" y="1463040"/>
            <a:ext cx="7729728" cy="4075589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function of adder / summer amplifier is to provide an output which is proportional to the algebraic sum of two or more input voltages each multiplied by a constant gain factor.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Adder/ Summer Op-Amp</a:t>
            </a: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dder Circuit - an overview | ScienceDirect Topics">
            <a:extLst>
              <a:ext uri="{FF2B5EF4-FFF2-40B4-BE49-F238E27FC236}">
                <a16:creationId xmlns:a16="http://schemas.microsoft.com/office/drawing/2014/main" id="{448AAC80-81C5-4AA4-B0EA-288456FC3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631440"/>
            <a:ext cx="4084320" cy="199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388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17DC0E-3761-4A9C-9838-424D44336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000" y="264288"/>
            <a:ext cx="6396616" cy="6045072"/>
          </a:xfrm>
        </p:spPr>
      </p:pic>
    </p:spTree>
    <p:extLst>
      <p:ext uri="{BB962C8B-B14F-4D97-AF65-F5344CB8AC3E}">
        <p14:creationId xmlns:p14="http://schemas.microsoft.com/office/powerpoint/2010/main" val="21020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959C6-B317-472F-8A7A-770BF8B0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536" y="291999"/>
            <a:ext cx="7729728" cy="612242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Subtractor/Difference Operational Amplifier</a:t>
            </a:r>
            <a:endParaRPr lang="en-US" sz="2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06604-A0B3-48F0-A7A2-3E28D55AA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536" y="1097280"/>
            <a:ext cx="7729728" cy="4642747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function of subtractor amplifier is to provide an output which is proportional to the difference of two input signals.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Arithmetic Circuits">
            <a:extLst>
              <a:ext uri="{FF2B5EF4-FFF2-40B4-BE49-F238E27FC236}">
                <a16:creationId xmlns:a16="http://schemas.microsoft.com/office/drawing/2014/main" id="{73E3B064-E754-429D-BA42-3AFFC6D6A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930" y="2029933"/>
            <a:ext cx="4009390" cy="318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096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3F05E6-69AA-49D7-8AC4-88F216C38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3280" y="782637"/>
            <a:ext cx="4988560" cy="5292725"/>
          </a:xfrm>
        </p:spPr>
      </p:pic>
    </p:spTree>
    <p:extLst>
      <p:ext uri="{BB962C8B-B14F-4D97-AF65-F5344CB8AC3E}">
        <p14:creationId xmlns:p14="http://schemas.microsoft.com/office/powerpoint/2010/main" val="1634421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0F4B-AC64-4D90-830E-035EB095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5280"/>
            <a:ext cx="7105904" cy="54864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Differentiator Operational Amplifier</a:t>
            </a: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B41C38-9217-4805-894A-1CBDFE29AE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1318155"/>
            <a:ext cx="7177024" cy="4221689"/>
          </a:xfrm>
        </p:spPr>
      </p:pic>
    </p:spTree>
    <p:extLst>
      <p:ext uri="{BB962C8B-B14F-4D97-AF65-F5344CB8AC3E}">
        <p14:creationId xmlns:p14="http://schemas.microsoft.com/office/powerpoint/2010/main" val="1336541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97678C-2DC4-45DB-A3B6-6D7981561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9130" y="766146"/>
            <a:ext cx="7132186" cy="5240207"/>
          </a:xfrm>
        </p:spPr>
      </p:pic>
    </p:spTree>
    <p:extLst>
      <p:ext uri="{BB962C8B-B14F-4D97-AF65-F5344CB8AC3E}">
        <p14:creationId xmlns:p14="http://schemas.microsoft.com/office/powerpoint/2010/main" val="1863099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E76A-DEA3-4295-B1EB-2AF2B32D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735" y="294640"/>
            <a:ext cx="7737617" cy="49784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Integrator Operational Amplifier</a:t>
            </a:r>
            <a:endParaRPr lang="en-US" sz="2000" dirty="0">
              <a:latin typeface="Algerian" panose="04020705040A02060702" pitchFamily="82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A66BD27-28C5-4E44-8CD2-94FDF992F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8735" y="1351281"/>
            <a:ext cx="7737617" cy="4798508"/>
          </a:xfrm>
        </p:spPr>
      </p:pic>
    </p:spTree>
    <p:extLst>
      <p:ext uri="{BB962C8B-B14F-4D97-AF65-F5344CB8AC3E}">
        <p14:creationId xmlns:p14="http://schemas.microsoft.com/office/powerpoint/2010/main" val="300581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7F0FD5-44FE-42C6-83CE-0385E7678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4880" y="589281"/>
            <a:ext cx="5470861" cy="5516879"/>
          </a:xfrm>
        </p:spPr>
      </p:pic>
    </p:spTree>
    <p:extLst>
      <p:ext uri="{BB962C8B-B14F-4D97-AF65-F5344CB8AC3E}">
        <p14:creationId xmlns:p14="http://schemas.microsoft.com/office/powerpoint/2010/main" val="1868319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3E48E-4F9F-4082-9021-32839FC7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5077"/>
            <a:ext cx="7729728" cy="447175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Instrumentation Amplifier </a:t>
            </a:r>
            <a:endParaRPr lang="en-US" sz="2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C8BE0-D75A-457B-9091-6FF827D97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934720"/>
            <a:ext cx="7729728" cy="5364615"/>
          </a:xfrm>
        </p:spPr>
        <p:txBody>
          <a:bodyPr>
            <a:normAutofit/>
          </a:bodyPr>
          <a:lstStyle/>
          <a:p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Instrumentation amplifier is a type of amplifier that is used to amplify the difference between two input signals while rejecting any common-mode signals.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has a high gain, high common-mode rejection ratio (CMRR), low noise, and high input impedance.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used in a wide variety of applications, such as biomedical instrumentation, industrial instrumentation, test and measurement equipment, data acquisition systems, and analog signal processing.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9F479-A33F-4A65-B0B0-28CA0CE80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218" y="3046493"/>
            <a:ext cx="4453861" cy="287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02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FF0B7C-6913-4628-AB46-219C584B8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6910" y="833121"/>
            <a:ext cx="7158181" cy="5212080"/>
          </a:xfrm>
        </p:spPr>
      </p:pic>
    </p:spTree>
    <p:extLst>
      <p:ext uri="{BB962C8B-B14F-4D97-AF65-F5344CB8AC3E}">
        <p14:creationId xmlns:p14="http://schemas.microsoft.com/office/powerpoint/2010/main" val="2189116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5909BA-A437-43AB-887D-F9DCF1772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5041" y="1102519"/>
            <a:ext cx="7361917" cy="4652962"/>
          </a:xfrm>
        </p:spPr>
      </p:pic>
    </p:spTree>
    <p:extLst>
      <p:ext uri="{BB962C8B-B14F-4D97-AF65-F5344CB8AC3E}">
        <p14:creationId xmlns:p14="http://schemas.microsoft.com/office/powerpoint/2010/main" val="1337971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8F4C2C-0BEA-42BE-954E-43B56C3BD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0960" y="1057275"/>
            <a:ext cx="6593840" cy="4683125"/>
          </a:xfrm>
        </p:spPr>
      </p:pic>
    </p:spTree>
    <p:extLst>
      <p:ext uri="{BB962C8B-B14F-4D97-AF65-F5344CB8AC3E}">
        <p14:creationId xmlns:p14="http://schemas.microsoft.com/office/powerpoint/2010/main" val="1523587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074901-CC0B-45F7-BE93-078FD0351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039" y="1148080"/>
            <a:ext cx="7421562" cy="4104639"/>
          </a:xfrm>
        </p:spPr>
      </p:pic>
    </p:spTree>
    <p:extLst>
      <p:ext uri="{BB962C8B-B14F-4D97-AF65-F5344CB8AC3E}">
        <p14:creationId xmlns:p14="http://schemas.microsoft.com/office/powerpoint/2010/main" val="3942776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Thank You Any Queries Images for PPT | Ppt">
            <a:extLst>
              <a:ext uri="{FF2B5EF4-FFF2-40B4-BE49-F238E27FC236}">
                <a16:creationId xmlns:a16="http://schemas.microsoft.com/office/drawing/2014/main" id="{C7B5642D-998C-4422-953C-C6538074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360" y="1188720"/>
            <a:ext cx="7467600" cy="448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965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399</TotalTime>
  <Words>409</Words>
  <Application>Microsoft Office PowerPoint</Application>
  <PresentationFormat>Widescreen</PresentationFormat>
  <Paragraphs>60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Algerian</vt:lpstr>
      <vt:lpstr>Arial</vt:lpstr>
      <vt:lpstr>Century Gothic</vt:lpstr>
      <vt:lpstr>Times New Roman</vt:lpstr>
      <vt:lpstr>Wingdings</vt:lpstr>
      <vt:lpstr>Wingdings 3</vt:lpstr>
      <vt:lpstr>Ion</vt:lpstr>
      <vt:lpstr>Operational Amplifier,  Its types  and Instrumentation Amplifier</vt:lpstr>
      <vt:lpstr>Outlines</vt:lpstr>
      <vt:lpstr>Introduction</vt:lpstr>
      <vt:lpstr>Types Of Operational Amplifier</vt:lpstr>
      <vt:lpstr>inverting operational amplifier</vt:lpstr>
      <vt:lpstr>PowerPoint Presentation</vt:lpstr>
      <vt:lpstr>Non inverting operational amplifier</vt:lpstr>
      <vt:lpstr>PowerPoint Presentation</vt:lpstr>
      <vt:lpstr> Types of Operational Amplifier1</vt:lpstr>
      <vt:lpstr>Adder / Summer Operational Amplifier</vt:lpstr>
      <vt:lpstr>PowerPoint Presentation</vt:lpstr>
      <vt:lpstr>Subtractor/Difference Operational Amplifier</vt:lpstr>
      <vt:lpstr>PowerPoint Presentation</vt:lpstr>
      <vt:lpstr>Differentiator Operational Amplifier</vt:lpstr>
      <vt:lpstr>PowerPoint Presentation</vt:lpstr>
      <vt:lpstr>Integrator Operational Amplifier</vt:lpstr>
      <vt:lpstr>PowerPoint Presentation</vt:lpstr>
      <vt:lpstr>Instrumentation Amplifier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Op-Amplifier its types &amp; instrumentation op- amplifier</dc:title>
  <dc:creator>prajwal chaudhary</dc:creator>
  <cp:lastModifiedBy>Prabin Chaudhary</cp:lastModifiedBy>
  <cp:revision>28</cp:revision>
  <dcterms:created xsi:type="dcterms:W3CDTF">2023-07-14T04:31:17Z</dcterms:created>
  <dcterms:modified xsi:type="dcterms:W3CDTF">2023-07-15T14:08:23Z</dcterms:modified>
</cp:coreProperties>
</file>